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  <Relationship Id="rId3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 veri madenciliği dersinin altıncı bölümü olan "Model Değerlendirme, Çapraz Doğrulama ve Metrikler" konusunu ele alıyor. Önceki bölümde sınıflandırma modellerini nasıl eğittiğimizi gördük; bu bölümde ise o modellerin gerçekten iyi olup olmadığına nasıl karar vereceğimizi öğreneceğiz. Kapak sayfasındaki "06" numarası, dersin genel akışındaki yerini gösteriyor: önce modelleri kurmayı öğrendik, şimdi onları doğru şekilde yargılamayı öğreneceğiz. Bu bölümün özellikle önemli olmasının nedeni, birçok yeni başlayan veri bilimcinin tek bir sayıya (accuracy) bakarak karar verip ciddi iş hatalarına yol açmasıdır; bu bölüm boyunca bu tuzağı somut örneklerle göreceğiz.</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sayfadaki beş soru, bölümün iskeletini oluşturuyor ve öğrencilerin zihninde bir çerçeve kurmalarına yardımcı oluyor. İlk soru, bölümün ana motivasyonunu özetliyor: yüksek accuracy'nin her zaman iyi bir model anlamına gelmediğini birazdan somut bir senaryoyla göreceğiz. İkinci soru karmaşıklık matrisinin dört hücresine, üçüncü soru kesinlik ve duyarlılık arasındaki iş bağlamına dayalı seçime, dördüncü soru ROC-AUC ile PR-AUC arasındaki farka, beşinci soru ise K-Fold çapraz doğrulamanın neden tek bir bölünmeden daha güvenilir olduğuna işaret ediyor. Alttaki bölüm hedefi kutusu, bu beş sorunun aslında birbirine bağlı tek bir hikâyenin parçaları olduğunu vurguluyor: doğru metriği seçmek, genellenebilirliği test etmek ve karar eşiğini iş hedefine göre ayarlamak. Öğrencilere, bu soruları bölüm boyunca akıllarında tutmalarını, her yeni kavramı bu sorulardan birine bağlamalarını önerebilirsiniz.</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sayfadaki beş öğrenme hedefi, roadmap sayfasındaki sorularla doğrudan örtüşüyor ama daha somut, ölçülebilir becerilere dönüştürülmüş durumda. İlk hedef, karmaşıklık matrisinin dört hücresinden metrik hesaplamayı; ikinci hedef, DummyClassifier gibi bir taban çizgiyle karşılaştırma yapmayı; üçüncü hedef, iş maliyetine göre doğru metriği seçmeyi; dördüncü hedef, ROC-AUC ve PR-AUC eğrilerini yorumlamayı; beşinci hedef ise StratifiedKFold ile çapraz doğrulama yapıp eşik optimizasyonu uygulamayı kapsıyor. Alttaki başarı ölçütü kutusu, bu beş hedefin ayrı ayrı değil bir bütün olarak değerlendirilmesi gerektiğini vurguluyor: bir öğrenci yalnızca formülleri ezbere bilmek değil, bu ölçütleri bir arada okuyup gerekçeli bir karar eşiği önerebilmelidir. Bu sayfa, dersin sonunda öğrencilerin kendilerini nasıl değerlendirebileceklerine dair bir kontrol listesi gibi de kullanılabilir.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Kavram haritası, bölümün altı ana yapı taşını ve bunların birbirine bağlanma mantığını gösteriyor. Merkezdeki "Model Değerlendirme Çerçevesi" kutusu, tüm bu araçların aslında tek bir amaca hizmet ettiğini simgeliyor: bir modelin gerçek dünyada ne kadar işe yarayacağını doğru şekilde tahmin etmek. Katı oklar, çerçeveden türeyen altı değerlendirme aracını gösterirken, sağ taraftaki kesikli oklar bu kavramların birbirini takip eden pedagojik bir sıra izlediğini vurguluyor: önce karmaşıklık matrisini anlıyoruz, sonra bunun accuracy paradoksuna nasıl yol açtığını görüyoruz, ardından kesinlik ve duyarlılığı, bunların dengesini özetleyen F1-skorunu, tüm eşik aralığını değerlendiren ROC-AUC ve PR-AUC eğrilerini, ve son olarak bu bilgiyi genellenebilirlik (K-Fold) ve karar eşiği seçimiyle birleştiriyoruz. Bu haritayı, bölüm boyunca "şu an haritanın neresindeyiz" diye geri dönüp gösterebileceğiniz bir referans noktası olarak kullanabilirsiniz.</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Yasemin'in hikâyesi, bu bölümün en önemli motivasyon anıdır ve accuracy paradoksunu soyut bir formül olarak değil, somut bir iş hatası olarak tanıtır. Yasemin bir telekom şirketinde churn tahmin modeli geliştirir ve modelin doğruluğu yüzde 94 çıkar; ekip bununla gurur duyar çünkü sezgisel olarak yüzde 94 çok yüksek bir başarı gibi görünür. Ancak veri setindeki müşterilerin yalnızca yüzde 6'sı gerçekten ayrılmaktadır — bu, sınıfların ciddi şekilde dengesiz olduğu anlamına gelir. Model, ayrılacak müşterilerin neredeyse hiçbirini doğru tahmin edemese bile, hepsini "kalacak" diye etiketleyerek yüzde 94 doğruluğa kolayca ulaşabilir; bu tam olarak "en sık sınıfı tahmin eden tembel bir model" davranışıdır. Sağdaki kart, bu ironiyi sayısal olarak gösteriyor: genel doğruluk yüzde 94 iken, churn sınıfındaki duyarlılık (recall) sadece yüzde 6'dır — yani model, gerçekte ayrılacak müşterilerin neredeyse tamamını kaçırmaktadır. Bu sahne, öğrencilere "bir sayıya bakıp karar vermenin" ne kadar tehlikeli olabileceğini gösterdiği için, bölüm boyunca defalarca geri dönülecek bir referans örnektir.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Karmaşıklık matrisi, bir sınıflandırma modelinin tahminlerini dört olası sonuca ayıran temel araçtır ve bölümdeki tüm diğer metriklerin (accuracy, precision, recall, F1) matematiksel temelini oluşturur. TP (doğru pozitif), model "pozitif" dediğinde gerçekten pozitif olan durumdur — doğru bir alarmdır. TN (doğru negatif), model "negatif" dediğinde gerçekten negatif olan durumdur. FN (yanlış negatif), model "negatif" dediği halde aslında pozitif olan, yani kaçırılan bir vakadır; Yasemin'in hikâyesinde gördüğümüz asıl sorun budur. FP (yanlış pozitif) ise model "pozitif" dediği halde aslında negatif olan, yani gereksiz bir yanlış alarmdır. Sağdaki 2x2 matris, bu dört hücrenin birbirine göre konumunu görsel olarak gösteriyor; tahmin sütunlarda, gerçek durum satırlarda yer alıyor. Kavramın kökeni İkinci Dünya Savaşı'na kadar uzanır: radar operatörleri, gerçek düşman sinyalini yanlış alarmdan ayırt etmek zorundaydı ve bu ihtiyaç, sinyal tespit teorisinin (signal detection theory) doğmasına yol açtı — bugün kullandığımız TP/FP/TN/FN terminolojisinin kökeni budur.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önceki sayfadaki soyut tanımları somut bir sayısal örneğe bağlıyor. 2000 satırlık bir veri setinde, yüzde 12 churn oranıyla eğitilen bir LogisticRegression modelinin test sonuçları görülüyor: TN=424, FP=14, FN=24, TP=38. Toplam 500 test örneğinden 462'si doğru sınıflandırılmış (TP+TN), bu da yüzde 92,4'lük bir accuracy'ye karşılık geliyor — kulağa yüksek geliyor ama churn sınıfının küçük olduğunu unutmamak gerekiyor. Daha önemli olan iki sayı: 24 gerçek churn müşterisi kaçırılmış (FN) — bu, iş açısından muhtemelen en maliyetli hatadır çünkü şirket bu müşterileri elde tutmak için hiçbir aksiyon almayacaktır; ve 14 sadık müşteri yanlışlıkla "churn" olarak işaretlenmiş (FP), bu da gereksiz pazarlama harcamasına yol açabilir. Kod tarafında sık yapılan iki hataya dikkat çekmek gerekiyor: confusion_matrix fonksiyonuna y_true ve y_pred argümanlarını yanlış sırada vermek matrisi tamamen tersine çevirir; train_test_split'te stratify=y kullanılmazsa, test setindeki churn oranı orijinal veri setinden sapabilir ve sonuçlar yanıltıcı olabilir.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Yasemin'in hikâyesindeki sezgisel anlatıyı somut bir deneyle destekliyor. 3000 satırlık ve yüzde 8 churn oranına sahip bir veri setinde iki model karşılaştırılıyor: DummyClassifier, her zaman en sık görülen sınıfı (yani "kalacak") tahmin eden, hiçbir öğrenme yapmayan saf bir taban çizgisi modelidir; buna rağmen yüzde 91,6 accuracy elde ediyor çünkü veri zaten dengesiz. Gerçek bir LogisticRegression modeli ise yüzde 93,9 accuracy'ye ulaşıyor — sadece 2,3 puanlık bir artış, kulağa çok etkileyici gelmiyor. Ama churn sınıfındaki duyarlılığa (recall) bakınca tablo tamamen değişiyor: DummyClassifier yüzde 0 recall veriyor çünkü tek bir gerçek churn müşterisini bile yakalayamıyor, LogisticRegression ise yüzde 39,5 recall ile gerçek churn müşterilerinin üçte birinden fazlasını doğru tahmin ediyor. Bu karşılaştırmanın asıl mesajı şudur: bir modelin gerçekten "öğrendiğini" kanıtlamak için, onu her zaman DummyClassifier gibi saf bir taban çizgisiyle karşılaştırmak gerekir; accuracy'deki küçük bir artış, aslında recall'daki devasa bir iyileşmeyi gizliyor olabilir.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Kesinlik (precision) ve duyarlılık (recall), karmaşıklık matrisinin dört hücresinden türetilen ve accuracy'nin göremediği ayrıntıları ortaya çıkaran iki temel metriktir. Kesinlik, TP bölü (TP+FP) formülüyle hesaplanır ve "pozitif dediklerimin yüzde kaçı gerçekten pozitifti?" sorusuna cevap verir — yani modelin verdiği alarmların ne kadar güvenilir olduğunu ölçer. Duyarlılık ise TP bölü (TP+FN) formülüyle hesaplanır ve "gerçek pozitiflerin yüzde kaçını yakalayabildim?" sorusuna cevap verir — yani modelin gerçek vakaları ne kadar iyi tespit ettiğini ölçer. Bu iki metriği ayırt etmenin en kolay yolu yangın alarmı analojisidir: kesinlik düşükse alarm çok sık yanlışlıkla çalar ve zamanla insanlar onu ciddiye almamaya başlar; duyarlılık düşükse ise gerçek bir yangın fark edilmeyebilir, ki bu çok daha tehlikeli bir durumdur. Bu iki metriğin kökeni 1950'lerin bilgi erişimi (information retrieval) araştırmalarına dayanır; o dönemde arama motorlarının ilk atalarının ne kadar "isabetli" (precision) ve ne kadar "kapsamlı" (recall) olduğunu ölçmek için geliştirilmişlerdir.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kesinlik ve duyarlılık arasındaki ödünleşimi somut bir örnekle gösteriyor. 2500 satırlık ve yüzde 15 churn oranına sahip bir veri setinde, class_weight="balanced" parametresiyle eğitilen bir model, yüzde 68,3 kesinlik ve yüzde 89,6 duyarlılık elde ediyor. Bu parametre, modele azınlık sınıfa (churn) daha fazla önem vermesini söylüyor; bunun sonucu olarak model çok daha fazla churn müşterisini yakalıyor (yüksek recall) ama bunu yaparken daha fazla yanlış alarm da üretiyor (düşük precision). Alttaki ölçek görseli, bu dengeyi bir yelpaze gibi gösteriyor: bir uca doğru kaymak kesinliği artırırken diğer uca kaymak duyarlılığı artırır, ikisini aynı anda maksimize etmek mümkün değildir. Hangi ucun tercih edileceği tamamen iş bağlamına bağlıdır — kanser taramasında kaçırılan bir vaka (düşük recall) çok daha maliyetliyken, spam filtrelemede önemli bir e-postayı yanlışlıkla spam'e atmak (düşük precision) daha maliyetli olabilir. Sık yapılan hatalardan biri pos_label parametresini karıştırmaktır; bu, hangi sınıfın "pozitif" sayılacağını belirler ve yanlış ayarlanırsa tüm metrikler tersine dönebilir.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F1-skor, kesinlik ve duyarlılığı tek bir sayıda özetlemek için kullanılan, ama bunu basit bir ortalama yerine harmonik ortalama ile yapan bir metriktir. Formülü, 2 çarpı kesinlik çarpı duyarlılık, bölü kesinlik artı duyarlılıktır. Harmonik ortalamanın neden tercih edildiğini anlamak için uç bir örneğe bakalım: kesinlik 1,00 ve duyarlılık 0,00 olsun. Aritmetik ortalama bu durumda 0,50 gibi "orta" bir sonuç verir, oysa gerçekte bu model işe yaramaz durumdadır çünkü hiçbir gerçek pozitifi yakalamıyor. F1-skor ise bu durumda 0,00 çıkar — harmonik ortalama, iki değerden biri çok düşükse sonucu da düşük tutarak dengesizliği aritmetik ortalamadan çok daha sert şekilde cezalandırır. Bu özellik, F1-skorun neden precision ve recall arasındaki gerçek dengeyi yansıtan tek bir sayı olarak tercih edildiğini açıklıyor. Metriğin kökeni, C.J. van Rijsbergen'in 1970'lerde bilgi erişimi alanı için tanımladığı daha genel F-beta ölçüt ailesine dayanır; F1, bu ailenin kesinlik ve duyarlılığa eşit ağırlık veren özel bir halidir.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F1-skorun pratikte nasıl kullanıldığını üç farklı model üzerinden gösteriyor: LojistikRegresyon, KararAgaci ve RastgeleOrman. Tablodaki değerler, her modelin kesinlik ve duyarlılık dengesinin farklı olduğunu gösteriyor; RastgeleOrman hem kesinlikte (0,74) hem duyarlılıkta (0,81) en dengeli performansı gösterdiği için F1-skoru da en yüksek (0,77) çıkıyor. LojistikRegresyon orta seviyede bir denge kurarken (F1=0,70), KararAgaci en düşük F1-skoruna sahip (0,67) — bu, karar ağaçlarının genellikle aşırı öğrenmeye (overfitting) daha yatkın olmasıyla açıklanabilir. Alttaki çubuk grafik, bu üç modeli F1-skoruna göre hızlıca sıralamayı görselleştiriyor. Bu sayfanın asıl öğretici noktası şu: birden fazla modeli karşılaştırırken, yalnızca accuracy'ye değil, F1-skor gibi dengeyi yansıtan bir metriğe bakmak, hangi modelin gerçekten daha iyi genelleme yaptığını daha güvenilir şekilde ortaya koyar.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akış şeması, bölümde öğrenilen tüm kavramları tek bir döngüsel sürece bağlıyor ve bu bölümün kavramsal omurgasını oluşturuyor. Süreç, modelin olasılık tahminleri üretmesiyle başlıyor — burada predict() değil predict_proba() kullanılması kritik, çünkü sadece olasılıklar eşik ayarlamasına izin veriyor. Bu olasılıklar, seçilen bir eşik değerine göre karmaşıklık matrisine dönüştürülüyor; matristen kesinlik ve duyarlılık hesaplanıp iş maliyeti bağlamında yorumlanıyor. Buradaki kritik karar noktası, sonucun iş hedefine uygun olup olmadığının değerlendirilmesidir: eğer uygun değilse, döngü eşiği ayarlayarak karmaşıklık matrisi adımına geri dönüyor — bu, bölümün ilerleyen sayfalarında göreceğimiz eşik tarama sürecinin ta kendisidir. Eğer sonuç yeterliyse, süreç nihai model ve karar eşiğiyle sonlanıyor. Bu diyagramın öğrencilere vermesi gereken mesaj, model değerlendirmenin tek seferlik bir hesaplama değil, iteratif bir karar süreci olduğudur.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ROC-AUC ve PR-AUC, tek bir eşik değerindeki performansı değil, modelin tüm olası eşik değerlerindeki genel ayırt etme gücünü ölçen iki eğri tabanlı metriktir. ROC eğrisi, gerçek pozitif oranı (TPR, yani duyarlılık) ile yanlış pozitif oranı (FPR) arasındaki dengeyi gösterir; eğri sol-üst köşeye ne kadar yakınsa model o kadar iyi ayırt ediyor demektir, kesikli çapraz çizgi ise rastgele tahmin eden bir modelin performansını temsil eder. PR eğrisi ise kesinlik ile duyarlılık arasındaki dengeyi gösterir. Her iki eğrinin altındaki alan (Area Under Curve, AUC) tek bir sayıya sıkıştırılır; 1,0'a yakın bir AUC, modelin sınıfları tüm eşik değerlerinde iyi ayırt ettiğini gösterir. Bu iki eğri arasındaki en önemli fark, dengesiz veri setlerinde ortaya çıkıyor: ROC eğrisi çoğunluk sınıfının etkisiyle yanıltıcı derecede iyimser görünebilirken, PR eğrisi azınlık sınıfın (genellikle asıl ilgilendiğimiz sınıfın) gerçek zorluğunu çok daha dürüst şekilde yansıtır — bu farkı bir sonraki sayfada somut bir örnekle göreceğiz.</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ROC-AUC ve PR-AUC arasındaki farkın neden sadece teorik değil pratik açıdan da kritik olduğunu somut bir örnekle gösteriyor. 3000 satırlık ve yüzde 7 churn oranına sahip bir veri setinde, aynı modelin ROC-AUC değeri 0,907 iken PR-AUC değeri sadece 0,475'tir — aralarında devasa bir fark var. ROC-AUC yüksek çıkıyor çünkü çoğunluk sınıfı (churn olmayanlar) modelin performansını domine ediyor ve yanlış pozitif oranını küçük gösteriyor; ama PR-AUC, azınlık sınıfa (churn) odaklandığı için modelin bu az sayıdaki ama iş açısından kritik olan sınıfta aslında ne kadar zorlandığını açığa çıkarıyor. Sınav notu kutusunda vurgulanan mesaj şudur: dengesiz veri setlerinde PR-AUC, ROC-AUC'tan çok daha güvenilir bir göstergedir ve sınavlarda ya da gerçek projelerde bu ayrımı bilmek önemlidir. İki yaygın hataya dikkat çekmek gerekiyor: ROC veya PR eğrisi çizerken predict() yerine mutlaka predict_proba() kullanılmalıdır çünkü predict() sabit yüzde 50 eşikle çalışır ve eğri çizmeye izin vermez; ayrıca yalnızca ROC-AUC'a güvenip PR-AUC'u göz ardı etmek, dengesiz veride ciddi bir değerlendirme hatasına yol açabilir.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bölümün ikinci büyük temasına, çapraz doğrulamaya giriş yapıyor. Buraya kadar gördüğümüz tüm metrikler tek bir train/test bölünmesi üzerinden hesaplandı, ama bu bölünme şans eseri iyi ya da kötü çıkabilir — hangi satırların teste düştüğüne bağlı olarak sonuçlar önemli ölçüde değişebilir. K-Fold çapraz doğrulama bu sorunu çözer: veriyi k eşit parçaya böler, her seferinde bir parçayı test için kalanını eğitim için kullanır ve k sonucun ortalamasını raporlar. Sağdaki sınav ortalaması analojisi bu fikri güzel özetliyor: bir öğrencinin gerçek seviyesini tek bir sınavla değil, birden fazla sınavın ortalamasıyla ölçmek çok daha güvenilirdir; her fold aslında bir "sınav" gibidir ve foldlar arasındaki standart sapma, bu sınavların ne kadar tutarlı olduğunu gösterir — düşük std sapma, modelin güvenilir ve tutarlı bir performans sergilediği anlamına gelir. K-Fold'un kökeni, 1970'lerde istatistikte geliştirilen jackknife ve leave-one-out yeniden örnekleme yöntemlerine dayanır; bu yöntemlerin ortak amacı hep aynıydı: sınırlı veriyle genellenebilirliği olabildiğince güvenilir şekilde ölçmek.</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Üstteki görsel, 5-fold çapraz doğrulamanın nasıl çalıştığını adım adım gösteriyor: her turda veri setinin farklı bir dilimi test için ayrılırken kalan dört dilim eğitim için kullanılıyor; bu süreç beş kez tekrarlanarak her satırın tam olarak bir kez test setinde yer alması sağlanıyor. Alttaki tablo ise üç farklı değerlendirme yaklaşımını karşılaştırıyor: tek bir train/test bölünmesi 0,863 F1 verirken, StratifiedKFold ortalama 0,880 F1 ve düşük bir standart sapma (0,029) ile daha güvenilir bir sonuç veriyor; sıradan KFold ise 0,872 ortalama F1 ile daha yüksek bir standart sapmaya (0,041) sahip — bu, sıradan KFold'un dengesiz veride bazı katmanlarda azınlık sınıfını yeterince temsil edemediğini gösteriyor. StratifiedKFold'un buradaki üstünlüğü, her katmanda sınıf oranlarını orijinal veri setiyle aynı tutmasından kaynaklanıyor. İki kritik hataya dikkat çekmek gerekiyor: dengesiz veride sıradan KFold kullanmak, bazı katmanların azınlık sınıfı hiç içermemesine yol açabilir; ayrıca ön işleme adımlarını (ölçekleme, örnekleme gibi) çapraz doğrulama döngüsünün dışında yapmak, veri sızıntısına (data leakage) neden olur çünkü bu durumda test verisi dolaylı olarak eğitim sürecini etkilemiş olur.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bölümün son büyük temasına, karar eşiğine giriş yapıyor. predict_proba() bir olasılık üretir, predict() ise bu olasılığı sabit yüzde 50 eşiğiyle 0 veya 1 kararına çevirir — ama bu yüzde 50 aslında keyfi bir varsayılan değerdir, değiştirilebilir bir karardır. Sağdaki görsel, bu fikri olasılık ekseni üzerinde noktalarla gösteriyor: her nokta bir müşterinin churn olasılığını temsil ediyor, kesikli dikey çizgi ise seçilen eşiği gösteriyor; eşiği sola kaydırmak daha fazla churn müşterisini yakalar (recall artar) ama aynı zamanda daha fazla sadık müşteriyi yanlışlıkla churn olarak işaretler (precision düşer). Karar teorisi çerçevesinde bu seçim tamamen iş maliyetine bağlıdır: hangi hatanın (kaçırılan vaka mı, yanlış alarm mı) daha pahalıya mal olduğu, doğru eşiği belirler. MLOps notu önemli bir pratik uyarı içeriyor: karar eşiği, model sürümü gibi versiyonlanıp izlenmelidir; üretim ortamında sessizce değiştirilmesi, modelin davranışını fark edilmeden değiştirebilir ve ciddi operasyonel sorunlara yol açabilir.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eşik seçiminin pratikte nasıl sistematik olarak yapıldığını gösteriyor. 2500 satırlık ve yüzde 13 churn oranına sahip bir veri setinde, eşik değeri 0,10'dan 0,90'a kadar sistematik olarak taranıyor ve her eşik için F1-skoru hesaplanıyor. Grafik, F1-skorunun düşük eşiklerde düşük başladığını, orta noktalarda yükseldiğini ve en yüksek noktaya 0,65 eşik değerinde (F1=0,765) ulaştığını, ardından tekrar düştüğünü gösteriyor — bu, tipik bir eşik tarama eğrisinin şeklidir. Sık yanlış anlama kutusundaki uyarı, bu bölümün en kritik metodolojik noktalarından biridir: eğer bu eşik değeri aynı test setinde seçilip raporlanırsa, bu iyimser bir sızıntıya (optimistic bias) yol açar çünkü test seti artık gerçekten "görülmemiş" veri olmaktan çıkmıştır; doğru yaklaşım, eşiği ayrı bir doğrulama (validation) setinde belirleyip, nihai performansı tamamen farklı bir test setinde raporlamaktır. Son olarak, predict()'in sabit yüzde 50 eşiğini, predict_proba() ile ayarlanabilen esnek eşikle karıştırmamak gerekiyor; bu iki fonksiyon farklı amaçlara hizmet eder.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bölümün ortasında öğrenilen formülleri küçük ve elle takip edilebilir bir sayısal örnekle pekiştiriyor. Model altı tahmin üretmiş: üç doğru pozitif (TP), bir kaçırılan vaka (FN) ve iki yanlış alarm (FP). Bu sayılardan kesinlik, TP bölü (TP+FP), yani 3 bölü 5 eşittir 0,60 olarak hesaplanıyor — altı tahminden üçü gerçekten pozitifti. Duyarlılık ise TP bölü (TP+FN), yani 3 bölü 4 eşittir 0,75 olarak hesaplanıyor — dört gerçek pozitiften üçü yakalandı. Bu küçük örnek üzerinden sorulması gereken kritik soru şu: bir kaçırılan vaka (FN) mı yoksa iki yanlış alarm (FP) mı daha maliyetli? Cevap tamamen bağlama bağlı — tıbbi teşhiste kaçırılan bir vaka çok daha ciddi sonuçlar doğurabilirken, düşük riskli bir pazarlama kampanyasında yanlış alarmların maliyeti daha az önemli olabilir. Alttaki sık hata kutusu önemli bir kavramsal düzeltme sunuyor: yüksek duyarlılık otomatik olarak "en iyi model" anlamına gelmez; bir model her şeyi "pozitif" diyerek de yüzde 100 duyarlılığa ulaşabilir, bu yüzden kesinlik her zaman duyarlılıkla birlikte değerlendirilmelidir.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bölümde öğrenilen tüm kavramları tek bir yeniden kullanılabilir Python sınıfında, ChurnModelDegerlendirici'de birleştiren uçtan uca bir uygulamayı gösteriyor. Sınıfın metotları, bölümdeki her bir kavrama karşılık geliyor: karmasiklikMatrisi() dört hücreyi hesaplıyor, precisionRecallF1() eşik 0,5'te temel metrikleri veriyor, rocPrAuc() iki eğrinin altındaki alanları hesaplıyor, enIyiEsikBul() sistematik eşik taraması yapıyor, caprazDogrula() StratifiedKFold ile genellenebilirliği test ediyor ve raporYazdir() tüm bu sonuçları okunabilir bir raporda topluyor. Sağdaki gösterge paneli, örnek bir çalıştırmanın sonuçlarını gösteriyor: eşik 0,50'de kesinlik 0,701 ve duyarlılık 0,906 ile F1-skoru 0,790 elde ediliyor; ROC-AUC 0,978 ve PR-AUC 0,918 ile model tüm eşik aralığında güçlü bir ayırt etme kapasitesi gösteriyor; eşik taraması en iyi değerin 0,75 olduğunu ve bu noktada F1-skorunun 0,848'e yükseldiğini ortaya koyuyor; K-Fold çapraz doğrulama ise 0,775 ortalama F1 ve düşük bir standart sapma (0,021) ile bu performansın tutarlı olduğunu doğruluyor. Bu sınıf, öğrencilere gerçek bir projede bu metotları nasıl bir araya getirip tekrar tekrar kullanabileceklerine dair somut bir şablon sunuyor.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bölümde öğrenilen tüm doğru pratiklerin aksine, altı yaygın kodlama hatasını bir arada gösteren kurgusal ama gerçekçi bir modelDegerlendir() fonksiyonunu ele alıyor. İlk hata, confusion_matrix fonksiyonuna argümanların ters sırada (y_pred, y_true) verilmesidir; bu basit görünen hata, tüm matrisi tersine çevirerek raporun tamamen yanlış yorumlanmasına yol açar. İkinci hata, ROC-AUC hesaplanırken predict() kullanılmasıdır; bu, sabit yüzde 50 eşikle çalıştığı için eğri hesaplamasını anlamsız kılar, predict_proba()'nın olasılık çıktısı gereklidir. Üçüncü hata, dengesiz veride sıradan KFold kullanılmasıdır — bölümde daha önce gördüğümüz gibi bu, bazı katmanların azınlık sınıfını yeterince temsil etmemesine yol açabilir. Dördüncü hata, scoring parametresinin belirtilmemesi ve varsayılan olarak accuracy'nin kullanılmasıdır; bu, tüm bölümün ana mesajına doğrudan aykırıdır. Beşinci hata, fonksiyonun yalnızca accuracy döndürüp diğer hesaplanan metrikleri atmasıdır — bilgi kaybı burada gerçekleşiyor. Altıncı hata ise katSkorlari değişkeninin hesaplanmasına rağmen hiç raporlanmamasıdır. Bu altı hatanın birlikte etkisi, bir modelin gerçek performansını tamamen gizleyebilir; öğrencilere bu kodu okurken her hatayı tek tek tespit etmelerini önerebilirsiniz.</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tablo, bölüm boyunca değinilen en kritik üç yanlış inanışı ve bunların arkasındaki teknik gerçeği bir araya getiriyor. İlk yanılgı, "yüksek accuracy her zaman iyi model demektir" düşüncesidir; teknik gerçek ise dengesiz veride DummyClassifier gibi hiçbir şey öğrenmeyen bir modelin bile yüzde 90'ın üzerinde accuracy verebilmesidir — doğru yaklaşım, karmaşıklık matrisi, kesinlik/duyarlılık ve PR-AUC'u birlikte incelemektir. İkinci yanılgı, "ROC-AUC her zaman güvenilir bir ölçüttür" inancıdır; teknik gerçek, dengesiz sınıflarda çoğunluk sınıfının ROC-AUC değerini yapay olarak şişirebilmesidir — doğru yaklaşım, azınlık sınıf önemli olduğunda PR-AUC'u tercih etmektir. Üçüncü yanılgı, "tek bir train/test bölünmesi yeterlidir" düşüncesidir; teknik gerçek, sonucun hangi satırların teste düştüğüne bağlı olarak şans eseri değişebilmesidir — doğru yaklaşım, StratifiedKFold ile ortalama ve standart sapmayı birlikte raporlamaktır. Bu üç yanılgı, aslında bölümün beş roadmap sorusunun özünü oluşturuyor ve sınav hazırlığı için iyi bir tekrar noktasıdır.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özet sayfası, bölümdeki altı ana kavramı kısa kartlar halinde bir araya getiriyor: karmaşıklık matrisi, her tahmin hatasını TP/TN/FP/FN olarak ayrıştıran temel araçtır; accuracy paradoksu, dengesiz veride yüksek doğruluğun yanıltıcı olabileceğini ve her zaman bir taban çizgisiyle karşılaştırma yapılması gerektiğini hatırlatır; kesinlik, duyarlılık ve F1-skoru, hangisinin öncelikli olacağının iş maliyetine bağlı olduğunu ve F1'in bu ikisini tek bir sayıda dengelediğini gösterir; ROC-AUC ve PR-AUC, tüm eşik aralığındaki gücü ölçer ve dengesiz veride PR-AUC'un daha güvenilir olduğunu vurgular; K-Fold çapraz doğrulama, tek bir bölünmenin şans etkisini azaltıp gerçek genellenebilirliği ortaya çıkarır; eşik seçimi ise karar eşiğinin iş hedefine göre ayrı bir doğrulama setinde optimize edilmesi gerektiğini hatırlatır. Alttaki tinted takeaway bandı, bölümün tek cümlelik özetini veriyor: tek bir metriğe güvenmeyin, karar karmaşıklık matrisi, kesinlik/duyarlılık/F1, ROC-AUC/PR-AUC ve K-Fold varyansının birlikte okunmasıyla verilmelidir. Bu sayfayı, öğrencilerin sınav öncesi hızlı bir tekrar aracı olarak kullanmalarını önerebilirsiniz.</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son sayfa, bölümün kazanımlarını bir sonraki bölüme bağlıyor. Üstteki iddia cümlesi, bölümün nihai öğrenme çıktısını özetliyor: artık bir modelin gerçekten iyi olup olmadığına, tek bir sayıya değil doğru kanıt bütününe bakarak karar verilebilir. Sol taraftaki dört yetkinlik, bölüm boyunca kazanılan somut becerileri listeliyor: karmaşıklık matrisini okuyup yorumlamak, accuracy paradoksunu tanıyıp doğru taban çizgisiyle karşılaştırmak, kesinlik/duyarlılık/F1/ROC-AUC/PR-AUC arasında iş bağlamına göre seçim yapmak ve StratifiedKFold ile çapraz doğrulama yapıp eşik optimizasyonu uygulamak. Sağdaki navy kart, bir sonraki bölümün konusunu tanıtıyor: Optuna ile hiperparametre optimizasyonu. Burada kurulan bağlantı önemli — bu bölümde öğrenilen F1 ve PR-AUC gibi metrikler, bir sonraki bölümde Optuna'nın otomatik olarak optimize edeceği hedef fonksiyonlar (objective functions) olacak; yani bu bölüm, bir sonraki bölümün ölçüm altyapısını kuruyor. Alttaki ipucu kutusu pratik bir öneri sunuyor: sonraki bölüme geçmeden önce, kullanılan değerlendirme protokolünü (metrik seçimi, K-Fold stratejisi ve eşik seçimi dahil) yazılı hale getirmek, hem tutarlılığı sağlar hem de gelecekteki projelerde tekrar kullanılabilir bir referans oluşturur.</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ch06_model_degerlendirme_metrikler-20260916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ch06_model_degerlendirme_metrikler-20260916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cover-panel"/>
          <p:cNvSpPr/>
          <p:nvPr/>
        </p:nvSpPr>
        <p:spPr>
          <a:xfrm>
            <a:off x="0" y="0"/>
            <a:ext cx="4191000" cy="6858000"/>
          </a:xfrm>
          <a:prstGeom prst="rect">
            <a:avLst/>
          </a:prstGeom>
          <a:solidFill>
            <a:srgbClr val="12355B"/>
          </a:solidFill>
          <a:ln>
            <a:noFill/>
          </a:ln>
        </p:spPr>
      </p:sp>
      <p:sp>
        <p:nvSpPr>
          <p:cNvPr id="3" name="Line 3"/>
          <p:cNvSpPr/>
          <p:nvPr/>
        </p:nvSpPr>
        <p:spPr>
          <a:xfrm>
            <a:off x="685800" y="5905500"/>
            <a:ext cx="10553700" cy="1"/>
          </a:xfrm>
          <a:prstGeom prst="line">
            <a:avLst/>
          </a:prstGeom>
          <a:noFill/>
          <a:ln w="19050">
            <a:solidFill>
              <a:srgbClr val="00A6A6"/>
            </a:solidFill>
            <a:tailEnd type="arrow" w="lg" len="lg"/>
          </a:ln>
        </p:spPr>
      </p:sp>
      <p:grpSp>
        <p:nvGrpSpPr>
          <p:cNvPr id="6" name="cover-chapter"/>
          <p:cNvGrpSpPr/>
          <p:nvPr/>
        </p:nvGrpSpPr>
        <p:grpSpPr>
          <a:xfrm>
            <a:off x="666750" y="2251710"/>
            <a:ext cx="1787319" cy="2410777"/>
            <a:chOff x="666750" y="2251710"/>
            <a:chExt cx="1787319" cy="2410777"/>
          </a:xfrm>
        </p:grpSpPr>
        <p:sp>
          <p:nvSpPr>
            <p:cNvPr id="4" name="TextBox 4"/>
            <p:cNvSpPr txBox="1"/>
            <p:nvPr/>
          </p:nvSpPr>
          <p:spPr>
            <a:xfrm>
              <a:off x="679704" y="2251710"/>
              <a:ext cx="668914" cy="234696"/>
            </a:xfrm>
            <a:prstGeom prst="rect">
              <a:avLst/>
            </a:prstGeom>
            <a:noFill/>
            <a:ln>
              <a:noFill/>
            </a:ln>
          </p:spPr>
          <p:txBody>
            <a:bodyPr wrap="none" lIns="0" tIns="0" rIns="0" bIns="0" anchor="t" anchorCtr="0">
              <a:spAutoFit/>
            </a:bodyPr>
            <a:lstStyle/>
            <a:p>
              <a:pPr algn="l"/>
              <a:r>
                <a:rPr lang="tr-TR" sz="1200" b="1" spc="225" dirty="0">
                  <a:solidFill>
                    <a:srgbClr val="EAF4F6"/>
                  </a:solidFill>
                  <a:latin typeface="+mn-lt"/>
                  <a:ea typeface="+mn-ea"/>
                  <a:cs typeface="+mn-cs"/>
                </a:rPr>
                <a:t>BÖLÜM</a:t>
              </a:r>
            </a:p>
          </p:txBody>
        </p:sp>
        <p:sp>
          <p:nvSpPr>
            <p:cNvPr id="5" name="TextBox 5"/>
            <p:cNvSpPr txBox="1"/>
            <p:nvPr/>
          </p:nvSpPr>
          <p:spPr>
            <a:xfrm>
              <a:off x="666750" y="2500312"/>
              <a:ext cx="1787319" cy="2162175"/>
            </a:xfrm>
            <a:prstGeom prst="rect">
              <a:avLst/>
            </a:prstGeom>
            <a:noFill/>
            <a:ln>
              <a:noFill/>
            </a:ln>
          </p:spPr>
          <p:txBody>
            <a:bodyPr wrap="none" lIns="0" tIns="0" rIns="0" bIns="0" anchor="t" anchorCtr="0">
              <a:spAutoFit/>
            </a:bodyPr>
            <a:lstStyle/>
            <a:p>
              <a:pPr algn="l"/>
              <a:r>
                <a:rPr lang="tr-TR" sz="11250" b="1" dirty="0">
                  <a:solidFill>
                    <a:srgbClr val="00A6A6"/>
                  </a:solidFill>
                  <a:latin typeface="+mj-lt"/>
                  <a:ea typeface="+mj-ea"/>
                  <a:cs typeface="+mj-cs"/>
                </a:rPr>
                <a:t>06</a:t>
              </a:r>
            </a:p>
          </p:txBody>
        </p:sp>
      </p:grpSp>
      <p:grpSp>
        <p:nvGrpSpPr>
          <p:cNvPr id="8" name="cover-title"/>
          <p:cNvGrpSpPr/>
          <p:nvPr/>
        </p:nvGrpSpPr>
        <p:grpSpPr>
          <a:xfrm>
            <a:off x="4933950" y="1674495"/>
            <a:ext cx="4458652" cy="2590800"/>
            <a:chOff x="4933950" y="1674495"/>
            <a:chExt cx="4458652" cy="2590800"/>
          </a:xfrm>
        </p:grpSpPr>
        <p:sp>
          <p:nvSpPr>
            <p:cNvPr id="7" name="TextBox 7"/>
            <p:cNvSpPr txBox="1"/>
            <p:nvPr/>
          </p:nvSpPr>
          <p:spPr>
            <a:xfrm>
              <a:off x="4933950" y="1674495"/>
              <a:ext cx="4458652" cy="2590800"/>
            </a:xfrm>
            <a:prstGeom prst="rect">
              <a:avLst/>
            </a:prstGeom>
            <a:noFill/>
            <a:ln>
              <a:noFill/>
            </a:ln>
          </p:spPr>
          <p:txBody>
            <a:bodyPr wrap="none" lIns="0" tIns="0" rIns="0" bIns="0" anchor="t" anchorCtr="0">
              <a:spAutoFit/>
            </a:bodyPr>
            <a:lstStyle/>
            <a:p>
              <a:pPr algn="l">
                <a:lnSpc>
                  <a:spcPts val="4800"/>
                </a:lnSpc>
              </a:pPr>
              <a:r>
                <a:rPr lang="tr-TR" sz="3900" b="1" dirty="0">
                  <a:solidFill>
                    <a:srgbClr val="12355B"/>
                  </a:solidFill>
                  <a:latin typeface="+mj-lt"/>
                  <a:ea typeface="+mj-ea"/>
                  <a:cs typeface="+mj-cs"/>
                </a:rPr>
                <a:t>Model</a:t>
              </a:r>
              <a:br/>
              <a:r>
                <a:rPr lang="tr-TR" sz="3900" b="1" dirty="0">
                  <a:solidFill>
                    <a:srgbClr val="12355B"/>
                  </a:solidFill>
                  <a:latin typeface="+mj-lt"/>
                  <a:ea typeface="+mj-ea"/>
                  <a:cs typeface="+mj-cs"/>
                </a:rPr>
                <a:t>Değerlendirme,</a:t>
              </a:r>
              <a:br/>
              <a:r>
                <a:rPr lang="tr-TR" sz="3900" b="1" dirty="0">
                  <a:solidFill>
                    <a:srgbClr val="12355B"/>
                  </a:solidFill>
                  <a:latin typeface="+mj-lt"/>
                  <a:ea typeface="+mj-ea"/>
                  <a:cs typeface="+mj-cs"/>
                </a:rPr>
                <a:t>Çapraz Doğrulama</a:t>
              </a:r>
              <a:br/>
              <a:r>
                <a:rPr lang="tr-TR" sz="3900" b="1" dirty="0">
                  <a:solidFill>
                    <a:srgbClr val="12355B"/>
                  </a:solidFill>
                  <a:latin typeface="+mj-lt"/>
                  <a:ea typeface="+mj-ea"/>
                  <a:cs typeface="+mj-cs"/>
                </a:rPr>
                <a:t>ve Metrikler</a:t>
              </a:r>
            </a:p>
          </p:txBody>
        </p:sp>
      </p:grpSp>
      <p:grpSp>
        <p:nvGrpSpPr>
          <p:cNvPr id="12" name="cover-subtitle"/>
          <p:cNvGrpSpPr/>
          <p:nvPr/>
        </p:nvGrpSpPr>
        <p:grpSpPr>
          <a:xfrm>
            <a:off x="4943094" y="4343400"/>
            <a:ext cx="3976056" cy="842868"/>
            <a:chOff x="4943094" y="4343400"/>
            <a:chExt cx="3976056" cy="842868"/>
          </a:xfrm>
        </p:grpSpPr>
        <p:sp>
          <p:nvSpPr>
            <p:cNvPr id="9" name="Rectangle 9"/>
            <p:cNvSpPr/>
            <p:nvPr/>
          </p:nvSpPr>
          <p:spPr>
            <a:xfrm>
              <a:off x="4953000" y="4343400"/>
              <a:ext cx="1143000" cy="38100"/>
            </a:xfrm>
            <a:prstGeom prst="rect">
              <a:avLst/>
            </a:prstGeom>
            <a:solidFill>
              <a:srgbClr val="00A6A6"/>
            </a:solidFill>
            <a:ln>
              <a:noFill/>
            </a:ln>
          </p:spPr>
        </p:sp>
        <p:sp>
          <p:nvSpPr>
            <p:cNvPr id="10" name="TextBox 10"/>
            <p:cNvSpPr txBox="1"/>
            <p:nvPr/>
          </p:nvSpPr>
          <p:spPr>
            <a:xfrm>
              <a:off x="4943094" y="4475798"/>
              <a:ext cx="3976056"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Modern Veri Madenciliğine Giriş</a:t>
              </a:r>
            </a:p>
          </p:txBody>
        </p:sp>
        <p:sp>
          <p:nvSpPr>
            <p:cNvPr id="11" name="TextBox 11"/>
            <p:cNvSpPr txBox="1"/>
            <p:nvPr/>
          </p:nvSpPr>
          <p:spPr>
            <a:xfrm>
              <a:off x="4944999" y="4878229"/>
              <a:ext cx="249846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a:t>
              </a:r>
            </a:p>
          </p:txBody>
        </p:sp>
      </p:grpSp>
      <p:grpSp>
        <p:nvGrpSpPr>
          <p:cNvPr id="14" name="cover-meta"/>
          <p:cNvGrpSpPr/>
          <p:nvPr/>
        </p:nvGrpSpPr>
        <p:grpSpPr>
          <a:xfrm>
            <a:off x="4946904" y="6233160"/>
            <a:ext cx="4973434" cy="234696"/>
            <a:chOff x="4946904" y="6233160"/>
            <a:chExt cx="4973434" cy="234696"/>
          </a:xfrm>
        </p:grpSpPr>
        <p:sp>
          <p:nvSpPr>
            <p:cNvPr id="13" name="TextBox 13"/>
            <p:cNvSpPr txBox="1"/>
            <p:nvPr/>
          </p:nvSpPr>
          <p:spPr>
            <a:xfrm>
              <a:off x="4946904" y="6233160"/>
              <a:ext cx="497343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Mehmet Akif Ersoy Üniversitesi · Bilgisayar Mühendisliği · 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3606794" cy="557403"/>
            <a:chOff x="595122" y="282892"/>
            <a:chExt cx="3606794" cy="557403"/>
          </a:xfrm>
        </p:grpSpPr>
        <p:sp>
          <p:nvSpPr>
            <p:cNvPr id="4" name="TextBox 4"/>
            <p:cNvSpPr txBox="1"/>
            <p:nvPr/>
          </p:nvSpPr>
          <p:spPr>
            <a:xfrm>
              <a:off x="595122" y="282892"/>
              <a:ext cx="360679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yol haritası</a:t>
              </a:r>
            </a:p>
          </p:txBody>
        </p:sp>
      </p:grpSp>
      <p:grpSp>
        <p:nvGrpSpPr>
          <p:cNvPr id="7" name="lead-in"/>
          <p:cNvGrpSpPr/>
          <p:nvPr/>
        </p:nvGrpSpPr>
        <p:grpSpPr>
          <a:xfrm>
            <a:off x="601599" y="1163479"/>
            <a:ext cx="4968445" cy="308039"/>
            <a:chOff x="601599" y="1163479"/>
            <a:chExt cx="4968445" cy="308039"/>
          </a:xfrm>
        </p:grpSpPr>
        <p:sp>
          <p:nvSpPr>
            <p:cNvPr id="6" name="TextBox 6"/>
            <p:cNvSpPr txBox="1"/>
            <p:nvPr/>
          </p:nvSpPr>
          <p:spPr>
            <a:xfrm>
              <a:off x="601599" y="1163479"/>
              <a:ext cx="4968445"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Bu bölümü okurken şu soruları aklınızda tutun:</a:t>
              </a:r>
            </a:p>
          </p:txBody>
        </p:sp>
      </p:grpSp>
      <p:grpSp>
        <p:nvGrpSpPr>
          <p:cNvPr id="11" name="question-1"/>
          <p:cNvGrpSpPr/>
          <p:nvPr/>
        </p:nvGrpSpPr>
        <p:grpSpPr>
          <a:xfrm>
            <a:off x="666750" y="1543050"/>
            <a:ext cx="8129055" cy="385668"/>
            <a:chOff x="666750" y="1543050"/>
            <a:chExt cx="8129055" cy="385668"/>
          </a:xfrm>
        </p:grpSpPr>
        <p:sp>
          <p:nvSpPr>
            <p:cNvPr id="8" name="Ellipse 8"/>
            <p:cNvSpPr/>
            <p:nvPr/>
          </p:nvSpPr>
          <p:spPr>
            <a:xfrm>
              <a:off x="666750" y="1543050"/>
              <a:ext cx="342900" cy="342900"/>
            </a:xfrm>
            <a:prstGeom prst="ellipse">
              <a:avLst/>
            </a:prstGeom>
            <a:solidFill>
              <a:srgbClr val="12355B"/>
            </a:solidFill>
            <a:ln>
              <a:noFill/>
            </a:ln>
          </p:spPr>
        </p:sp>
        <p:sp>
          <p:nvSpPr>
            <p:cNvPr id="9" name="TextBox 9"/>
            <p:cNvSpPr txBox="1"/>
            <p:nvPr/>
          </p:nvSpPr>
          <p:spPr>
            <a:xfrm>
              <a:off x="778865" y="163544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1</a:t>
              </a:r>
            </a:p>
          </p:txBody>
        </p:sp>
        <p:sp>
          <p:nvSpPr>
            <p:cNvPr id="10" name="TextBox 10"/>
            <p:cNvSpPr txBox="1"/>
            <p:nvPr/>
          </p:nvSpPr>
          <p:spPr>
            <a:xfrm>
              <a:off x="1211199" y="1620679"/>
              <a:ext cx="758460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Doğruluk (accuracy) yüksek çıktığı halde model neden hâlâ kötü olabilir?</a:t>
              </a:r>
            </a:p>
          </p:txBody>
        </p:sp>
      </p:grpSp>
      <p:grpSp>
        <p:nvGrpSpPr>
          <p:cNvPr id="15" name="question-2"/>
          <p:cNvGrpSpPr/>
          <p:nvPr/>
        </p:nvGrpSpPr>
        <p:grpSpPr>
          <a:xfrm>
            <a:off x="666750" y="2211229"/>
            <a:ext cx="7112000" cy="574738"/>
            <a:chOff x="666750" y="2211229"/>
            <a:chExt cx="7112000" cy="574738"/>
          </a:xfrm>
        </p:grpSpPr>
        <p:sp>
          <p:nvSpPr>
            <p:cNvPr id="12" name="Ellipse 12"/>
            <p:cNvSpPr/>
            <p:nvPr/>
          </p:nvSpPr>
          <p:spPr>
            <a:xfrm>
              <a:off x="666750" y="2228850"/>
              <a:ext cx="342900" cy="342900"/>
            </a:xfrm>
            <a:prstGeom prst="ellipse">
              <a:avLst/>
            </a:prstGeom>
            <a:solidFill>
              <a:srgbClr val="12355B"/>
            </a:solidFill>
            <a:ln>
              <a:noFill/>
            </a:ln>
          </p:spPr>
        </p:sp>
        <p:sp>
          <p:nvSpPr>
            <p:cNvPr id="13" name="TextBox 13"/>
            <p:cNvSpPr txBox="1"/>
            <p:nvPr/>
          </p:nvSpPr>
          <p:spPr>
            <a:xfrm>
              <a:off x="778865" y="232124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2</a:t>
              </a:r>
            </a:p>
          </p:txBody>
        </p:sp>
        <p:sp>
          <p:nvSpPr>
            <p:cNvPr id="14" name="TextBox 14"/>
            <p:cNvSpPr txBox="1"/>
            <p:nvPr/>
          </p:nvSpPr>
          <p:spPr>
            <a:xfrm>
              <a:off x="1211199" y="2211229"/>
              <a:ext cx="6567551"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Karmaşıklık matrisindeki dört hücre, bir modelin hangi tür hatalar</a:t>
              </a:r>
              <a:br/>
              <a:r>
                <a:rPr lang="tr-TR" sz="1580" dirty="0">
                  <a:solidFill>
                    <a:srgbClr val="172B3A"/>
                  </a:solidFill>
                  <a:latin typeface="+mn-lt"/>
                  <a:ea typeface="+mn-ea"/>
                  <a:cs typeface="+mn-cs"/>
                </a:rPr>
                <a:t>yaptığını nasıl açığa çıkarır?</a:t>
              </a:r>
            </a:p>
          </p:txBody>
        </p:sp>
      </p:grpSp>
      <p:grpSp>
        <p:nvGrpSpPr>
          <p:cNvPr id="19" name="question-3"/>
          <p:cNvGrpSpPr/>
          <p:nvPr/>
        </p:nvGrpSpPr>
        <p:grpSpPr>
          <a:xfrm>
            <a:off x="666750" y="3200400"/>
            <a:ext cx="7650260" cy="385668"/>
            <a:chOff x="666750" y="3200400"/>
            <a:chExt cx="7650260" cy="385668"/>
          </a:xfrm>
        </p:grpSpPr>
        <p:sp>
          <p:nvSpPr>
            <p:cNvPr id="16" name="Ellipse 16"/>
            <p:cNvSpPr/>
            <p:nvPr/>
          </p:nvSpPr>
          <p:spPr>
            <a:xfrm>
              <a:off x="666750" y="3200400"/>
              <a:ext cx="342900" cy="342900"/>
            </a:xfrm>
            <a:prstGeom prst="ellipse">
              <a:avLst/>
            </a:prstGeom>
            <a:solidFill>
              <a:srgbClr val="12355B"/>
            </a:solidFill>
            <a:ln>
              <a:noFill/>
            </a:ln>
          </p:spPr>
        </p:sp>
        <p:sp>
          <p:nvSpPr>
            <p:cNvPr id="17" name="TextBox 17"/>
            <p:cNvSpPr txBox="1"/>
            <p:nvPr/>
          </p:nvSpPr>
          <p:spPr>
            <a:xfrm>
              <a:off x="778865" y="329279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3</a:t>
              </a:r>
            </a:p>
          </p:txBody>
        </p:sp>
        <p:sp>
          <p:nvSpPr>
            <p:cNvPr id="18" name="TextBox 18"/>
            <p:cNvSpPr txBox="1"/>
            <p:nvPr/>
          </p:nvSpPr>
          <p:spPr>
            <a:xfrm>
              <a:off x="1211199" y="3278029"/>
              <a:ext cx="710581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Kesinlik mi duyarlılık mı önemli — bu seçimi hangi iş bağlamı belirler?</a:t>
              </a:r>
            </a:p>
          </p:txBody>
        </p:sp>
      </p:grpSp>
      <p:grpSp>
        <p:nvGrpSpPr>
          <p:cNvPr id="23" name="question-4"/>
          <p:cNvGrpSpPr/>
          <p:nvPr/>
        </p:nvGrpSpPr>
        <p:grpSpPr>
          <a:xfrm>
            <a:off x="666750" y="3867150"/>
            <a:ext cx="8189645" cy="385668"/>
            <a:chOff x="666750" y="3867150"/>
            <a:chExt cx="8189645" cy="385668"/>
          </a:xfrm>
        </p:grpSpPr>
        <p:sp>
          <p:nvSpPr>
            <p:cNvPr id="20" name="Ellipse 20"/>
            <p:cNvSpPr/>
            <p:nvPr/>
          </p:nvSpPr>
          <p:spPr>
            <a:xfrm>
              <a:off x="666750" y="3867150"/>
              <a:ext cx="342900" cy="342900"/>
            </a:xfrm>
            <a:prstGeom prst="ellipse">
              <a:avLst/>
            </a:prstGeom>
            <a:solidFill>
              <a:srgbClr val="12355B"/>
            </a:solidFill>
            <a:ln>
              <a:noFill/>
            </a:ln>
          </p:spPr>
        </p:sp>
        <p:sp>
          <p:nvSpPr>
            <p:cNvPr id="21" name="TextBox 21"/>
            <p:cNvSpPr txBox="1"/>
            <p:nvPr/>
          </p:nvSpPr>
          <p:spPr>
            <a:xfrm>
              <a:off x="778865" y="395954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4</a:t>
              </a:r>
            </a:p>
          </p:txBody>
        </p:sp>
        <p:sp>
          <p:nvSpPr>
            <p:cNvPr id="22" name="TextBox 22"/>
            <p:cNvSpPr txBox="1"/>
            <p:nvPr/>
          </p:nvSpPr>
          <p:spPr>
            <a:xfrm>
              <a:off x="1211199" y="3944779"/>
              <a:ext cx="764519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ROC-AUC ve PR-AUC eğrileri hangi durumda birbirinden farklı sonuç verir?</a:t>
              </a:r>
            </a:p>
          </p:txBody>
        </p:sp>
      </p:grpSp>
      <p:grpSp>
        <p:nvGrpSpPr>
          <p:cNvPr id="27" name="question-5"/>
          <p:cNvGrpSpPr/>
          <p:nvPr/>
        </p:nvGrpSpPr>
        <p:grpSpPr>
          <a:xfrm>
            <a:off x="666750" y="4516279"/>
            <a:ext cx="7724013" cy="574738"/>
            <a:chOff x="666750" y="4516279"/>
            <a:chExt cx="7724013" cy="574738"/>
          </a:xfrm>
        </p:grpSpPr>
        <p:sp>
          <p:nvSpPr>
            <p:cNvPr id="24" name="Ellipse 24"/>
            <p:cNvSpPr/>
            <p:nvPr/>
          </p:nvSpPr>
          <p:spPr>
            <a:xfrm>
              <a:off x="666750" y="4533900"/>
              <a:ext cx="342900" cy="342900"/>
            </a:xfrm>
            <a:prstGeom prst="ellipse">
              <a:avLst/>
            </a:prstGeom>
            <a:solidFill>
              <a:srgbClr val="12355B"/>
            </a:solidFill>
            <a:ln>
              <a:noFill/>
            </a:ln>
          </p:spPr>
        </p:sp>
        <p:sp>
          <p:nvSpPr>
            <p:cNvPr id="25" name="TextBox 25"/>
            <p:cNvSpPr txBox="1"/>
            <p:nvPr/>
          </p:nvSpPr>
          <p:spPr>
            <a:xfrm>
              <a:off x="778865" y="462629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5</a:t>
              </a:r>
            </a:p>
          </p:txBody>
        </p:sp>
        <p:sp>
          <p:nvSpPr>
            <p:cNvPr id="26" name="TextBox 26"/>
            <p:cNvSpPr txBox="1"/>
            <p:nvPr/>
          </p:nvSpPr>
          <p:spPr>
            <a:xfrm>
              <a:off x="1211199" y="4516279"/>
              <a:ext cx="7179564"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K-Fold çapraz doğrulama, tek seferlik train/test bölünmesine göre neden</a:t>
              </a:r>
              <a:br/>
              <a:r>
                <a:rPr lang="tr-TR" sz="1580" dirty="0">
                  <a:solidFill>
                    <a:srgbClr val="172B3A"/>
                  </a:solidFill>
                  <a:latin typeface="+mn-lt"/>
                  <a:ea typeface="+mn-ea"/>
                  <a:cs typeface="+mn-cs"/>
                </a:rPr>
                <a:t>daha güvenilir bir genellenebilirlik ölçütüdür?</a:t>
              </a:r>
            </a:p>
          </p:txBody>
        </p:sp>
      </p:grpSp>
      <p:grpSp>
        <p:nvGrpSpPr>
          <p:cNvPr id="31" name="chapter-goal"/>
          <p:cNvGrpSpPr/>
          <p:nvPr/>
        </p:nvGrpSpPr>
        <p:grpSpPr>
          <a:xfrm>
            <a:off x="609600" y="5448300"/>
            <a:ext cx="10972800" cy="838200"/>
            <a:chOff x="609600" y="5448300"/>
            <a:chExt cx="10972800" cy="838200"/>
          </a:xfrm>
        </p:grpSpPr>
        <p:sp>
          <p:nvSpPr>
            <p:cNvPr id="28" name="Rectangle 28"/>
            <p:cNvSpPr/>
            <p:nvPr/>
          </p:nvSpPr>
          <p:spPr>
            <a:xfrm>
              <a:off x="609600" y="5448300"/>
              <a:ext cx="10972800" cy="838200"/>
            </a:xfrm>
            <a:prstGeom prst="roundRect">
              <a:avLst>
                <a:gd name="adj" fmla="val 9091"/>
              </a:avLst>
            </a:prstGeom>
            <a:solidFill>
              <a:srgbClr val="EAF4F6"/>
            </a:solidFill>
            <a:ln>
              <a:noFill/>
            </a:ln>
          </p:spPr>
        </p:sp>
        <p:sp>
          <p:nvSpPr>
            <p:cNvPr id="29" name="TextBox 29"/>
            <p:cNvSpPr txBox="1"/>
            <p:nvPr/>
          </p:nvSpPr>
          <p:spPr>
            <a:xfrm>
              <a:off x="906399" y="5602129"/>
              <a:ext cx="785963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Bölüm Hedefi: Dengesiz veri setlerinde doğru metriği seçip, K-Fold ile</a:t>
              </a:r>
            </a:p>
          </p:txBody>
        </p:sp>
        <p:sp>
          <p:nvSpPr>
            <p:cNvPr id="30" name="TextBox 30"/>
            <p:cNvSpPr txBox="1"/>
            <p:nvPr/>
          </p:nvSpPr>
          <p:spPr>
            <a:xfrm>
              <a:off x="906399" y="5868829"/>
              <a:ext cx="838573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genellenebilirliği test ederek karar eşiğini iş hedefine göre optimize edeceksiniz.</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 / 25</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8104135" cy="668845"/>
            <a:chOff x="609600" y="171450"/>
            <a:chExt cx="8104135"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741376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hedefleri ve başarı ölçütleri</a:t>
              </a:r>
            </a:p>
          </p:txBody>
        </p:sp>
      </p:grpSp>
      <p:grpSp>
        <p:nvGrpSpPr>
          <p:cNvPr id="11" name="objective-1"/>
          <p:cNvGrpSpPr/>
          <p:nvPr/>
        </p:nvGrpSpPr>
        <p:grpSpPr>
          <a:xfrm>
            <a:off x="685800" y="1390650"/>
            <a:ext cx="8344186" cy="620839"/>
            <a:chOff x="685800" y="1390650"/>
            <a:chExt cx="8344186" cy="620839"/>
          </a:xfrm>
        </p:grpSpPr>
        <p:sp>
          <p:nvSpPr>
            <p:cNvPr id="9" name="Rectangle 9"/>
            <p:cNvSpPr/>
            <p:nvPr/>
          </p:nvSpPr>
          <p:spPr>
            <a:xfrm>
              <a:off x="685800" y="1390650"/>
              <a:ext cx="57150" cy="533400"/>
            </a:xfrm>
            <a:prstGeom prst="rect">
              <a:avLst/>
            </a:prstGeom>
            <a:solidFill>
              <a:srgbClr val="00A6A6"/>
            </a:solidFill>
            <a:ln>
              <a:noFill/>
            </a:ln>
          </p:spPr>
        </p:sp>
        <p:sp>
          <p:nvSpPr>
            <p:cNvPr id="10" name="TextBox 10"/>
            <p:cNvSpPr txBox="1"/>
            <p:nvPr/>
          </p:nvSpPr>
          <p:spPr>
            <a:xfrm>
              <a:off x="982218" y="1422082"/>
              <a:ext cx="8047768" cy="589407"/>
            </a:xfrm>
            <a:prstGeom prst="rect">
              <a:avLst/>
            </a:prstGeom>
            <a:noFill/>
            <a:ln>
              <a:noFill/>
            </a:ln>
          </p:spPr>
          <p:txBody>
            <a:bodyPr wrap="none" lIns="0" tIns="0" rIns="0" bIns="0" anchor="t" anchorCtr="0">
              <a:spAutoFit/>
            </a:bodyPr>
            <a:lstStyle/>
            <a:p>
              <a:pPr algn="l">
                <a:lnSpc>
                  <a:spcPts val="2100"/>
                </a:lnSpc>
              </a:pPr>
              <a:r>
                <a:rPr lang="tr-TR" sz="1650" b="1" dirty="0">
                  <a:solidFill>
                    <a:srgbClr val="12355B"/>
                  </a:solidFill>
                  <a:latin typeface="+mn-lt"/>
                  <a:ea typeface="+mn-ea"/>
                  <a:cs typeface="+mn-cs"/>
                </a:rPr>
                <a:t>Karmaşıklık matrisinin dört hücresinden (TP/TN/FP/FN) accuracy, kesinlik</a:t>
              </a:r>
              <a:br/>
              <a:r>
                <a:rPr lang="tr-TR" sz="1650" b="1" dirty="0">
                  <a:solidFill>
                    <a:srgbClr val="12355B"/>
                  </a:solidFill>
                  <a:latin typeface="+mn-lt"/>
                  <a:ea typeface="+mn-ea"/>
                  <a:cs typeface="+mn-cs"/>
                </a:rPr>
                <a:t>ve duyarlılık değerlerini hesaplayıp yorumlamak.</a:t>
              </a:r>
            </a:p>
          </p:txBody>
        </p:sp>
      </p:grpSp>
      <p:grpSp>
        <p:nvGrpSpPr>
          <p:cNvPr id="14" name="objective-2"/>
          <p:cNvGrpSpPr/>
          <p:nvPr/>
        </p:nvGrpSpPr>
        <p:grpSpPr>
          <a:xfrm>
            <a:off x="685800" y="2133600"/>
            <a:ext cx="8036147" cy="620839"/>
            <a:chOff x="685800" y="2133600"/>
            <a:chExt cx="8036147" cy="620839"/>
          </a:xfrm>
        </p:grpSpPr>
        <p:sp>
          <p:nvSpPr>
            <p:cNvPr id="12" name="Rectangle 12"/>
            <p:cNvSpPr/>
            <p:nvPr/>
          </p:nvSpPr>
          <p:spPr>
            <a:xfrm>
              <a:off x="685800" y="2133600"/>
              <a:ext cx="57150" cy="533400"/>
            </a:xfrm>
            <a:prstGeom prst="rect">
              <a:avLst/>
            </a:prstGeom>
            <a:solidFill>
              <a:srgbClr val="00A6A6"/>
            </a:solidFill>
            <a:ln>
              <a:noFill/>
            </a:ln>
          </p:spPr>
        </p:sp>
        <p:sp>
          <p:nvSpPr>
            <p:cNvPr id="13" name="TextBox 13"/>
            <p:cNvSpPr txBox="1"/>
            <p:nvPr/>
          </p:nvSpPr>
          <p:spPr>
            <a:xfrm>
              <a:off x="982218" y="2165032"/>
              <a:ext cx="7739729" cy="589407"/>
            </a:xfrm>
            <a:prstGeom prst="rect">
              <a:avLst/>
            </a:prstGeom>
            <a:noFill/>
            <a:ln>
              <a:noFill/>
            </a:ln>
          </p:spPr>
          <p:txBody>
            <a:bodyPr wrap="none" lIns="0" tIns="0" rIns="0" bIns="0" anchor="t" anchorCtr="0">
              <a:spAutoFit/>
            </a:bodyPr>
            <a:lstStyle/>
            <a:p>
              <a:pPr algn="l">
                <a:lnSpc>
                  <a:spcPts val="2100"/>
                </a:lnSpc>
              </a:pPr>
              <a:r>
                <a:rPr lang="tr-TR" sz="1650" b="1" dirty="0">
                  <a:solidFill>
                    <a:srgbClr val="12355B"/>
                  </a:solidFill>
                  <a:latin typeface="+mn-lt"/>
                  <a:ea typeface="+mn-ea"/>
                  <a:cs typeface="+mn-cs"/>
                </a:rPr>
                <a:t>Dengesiz veri setlerinde accuracy paradoksunu tanıyıp DummyClassifier</a:t>
              </a:r>
              <a:br/>
              <a:r>
                <a:rPr lang="tr-TR" sz="1650" b="1" dirty="0">
                  <a:solidFill>
                    <a:srgbClr val="12355B"/>
                  </a:solidFill>
                  <a:latin typeface="+mn-lt"/>
                  <a:ea typeface="+mn-ea"/>
                  <a:cs typeface="+mn-cs"/>
                </a:rPr>
                <a:t>gibi bir taban çizgiyle karşılaştırma yapmak.</a:t>
              </a:r>
            </a:p>
          </p:txBody>
        </p:sp>
      </p:grpSp>
      <p:grpSp>
        <p:nvGrpSpPr>
          <p:cNvPr id="17" name="objective-3"/>
          <p:cNvGrpSpPr/>
          <p:nvPr/>
        </p:nvGrpSpPr>
        <p:grpSpPr>
          <a:xfrm>
            <a:off x="685800" y="2876550"/>
            <a:ext cx="7167039" cy="620839"/>
            <a:chOff x="685800" y="2876550"/>
            <a:chExt cx="7167039" cy="620839"/>
          </a:xfrm>
        </p:grpSpPr>
        <p:sp>
          <p:nvSpPr>
            <p:cNvPr id="15" name="Rectangle 15"/>
            <p:cNvSpPr/>
            <p:nvPr/>
          </p:nvSpPr>
          <p:spPr>
            <a:xfrm>
              <a:off x="685800" y="2876550"/>
              <a:ext cx="57150" cy="533400"/>
            </a:xfrm>
            <a:prstGeom prst="rect">
              <a:avLst/>
            </a:prstGeom>
            <a:solidFill>
              <a:srgbClr val="00A6A6"/>
            </a:solidFill>
            <a:ln>
              <a:noFill/>
            </a:ln>
          </p:spPr>
        </p:sp>
        <p:sp>
          <p:nvSpPr>
            <p:cNvPr id="16" name="TextBox 16"/>
            <p:cNvSpPr txBox="1"/>
            <p:nvPr/>
          </p:nvSpPr>
          <p:spPr>
            <a:xfrm>
              <a:off x="982218" y="2907982"/>
              <a:ext cx="6870621" cy="589407"/>
            </a:xfrm>
            <a:prstGeom prst="rect">
              <a:avLst/>
            </a:prstGeom>
            <a:noFill/>
            <a:ln>
              <a:noFill/>
            </a:ln>
          </p:spPr>
          <p:txBody>
            <a:bodyPr wrap="none" lIns="0" tIns="0" rIns="0" bIns="0" anchor="t" anchorCtr="0">
              <a:spAutoFit/>
            </a:bodyPr>
            <a:lstStyle/>
            <a:p>
              <a:pPr algn="l">
                <a:lnSpc>
                  <a:spcPts val="2100"/>
                </a:lnSpc>
              </a:pPr>
              <a:r>
                <a:rPr lang="tr-TR" sz="1650" b="1" dirty="0">
                  <a:solidFill>
                    <a:srgbClr val="12355B"/>
                  </a:solidFill>
                  <a:latin typeface="+mn-lt"/>
                  <a:ea typeface="+mn-ea"/>
                  <a:cs typeface="+mn-cs"/>
                </a:rPr>
                <a:t>Kesinlik, duyarlılık ve F1-skor arasındaki ödünleşimi iş maliyeti</a:t>
              </a:r>
              <a:br/>
              <a:r>
                <a:rPr lang="tr-TR" sz="1650" b="1" dirty="0">
                  <a:solidFill>
                    <a:srgbClr val="12355B"/>
                  </a:solidFill>
                  <a:latin typeface="+mn-lt"/>
                  <a:ea typeface="+mn-ea"/>
                  <a:cs typeface="+mn-cs"/>
                </a:rPr>
                <a:t>bağlamında değerlendirip doğru metriği seçmek.</a:t>
              </a:r>
            </a:p>
          </p:txBody>
        </p:sp>
      </p:grpSp>
      <p:grpSp>
        <p:nvGrpSpPr>
          <p:cNvPr id="20" name="objective-4"/>
          <p:cNvGrpSpPr/>
          <p:nvPr/>
        </p:nvGrpSpPr>
        <p:grpSpPr>
          <a:xfrm>
            <a:off x="685800" y="3619500"/>
            <a:ext cx="7618095" cy="620839"/>
            <a:chOff x="685800" y="3619500"/>
            <a:chExt cx="7618095" cy="620839"/>
          </a:xfrm>
        </p:grpSpPr>
        <p:sp>
          <p:nvSpPr>
            <p:cNvPr id="18" name="Rectangle 18"/>
            <p:cNvSpPr/>
            <p:nvPr/>
          </p:nvSpPr>
          <p:spPr>
            <a:xfrm>
              <a:off x="685800" y="3619500"/>
              <a:ext cx="57150" cy="533400"/>
            </a:xfrm>
            <a:prstGeom prst="rect">
              <a:avLst/>
            </a:prstGeom>
            <a:solidFill>
              <a:srgbClr val="00A6A6"/>
            </a:solidFill>
            <a:ln>
              <a:noFill/>
            </a:ln>
          </p:spPr>
        </p:sp>
        <p:sp>
          <p:nvSpPr>
            <p:cNvPr id="19" name="TextBox 19"/>
            <p:cNvSpPr txBox="1"/>
            <p:nvPr/>
          </p:nvSpPr>
          <p:spPr>
            <a:xfrm>
              <a:off x="982218" y="3650932"/>
              <a:ext cx="7321677" cy="589407"/>
            </a:xfrm>
            <a:prstGeom prst="rect">
              <a:avLst/>
            </a:prstGeom>
            <a:noFill/>
            <a:ln>
              <a:noFill/>
            </a:ln>
          </p:spPr>
          <p:txBody>
            <a:bodyPr wrap="none" lIns="0" tIns="0" rIns="0" bIns="0" anchor="t" anchorCtr="0">
              <a:spAutoFit/>
            </a:bodyPr>
            <a:lstStyle/>
            <a:p>
              <a:pPr algn="l">
                <a:lnSpc>
                  <a:spcPts val="2100"/>
                </a:lnSpc>
              </a:pPr>
              <a:r>
                <a:rPr lang="tr-TR" sz="1650" b="1" dirty="0">
                  <a:solidFill>
                    <a:srgbClr val="12355B"/>
                  </a:solidFill>
                  <a:latin typeface="+mn-lt"/>
                  <a:ea typeface="+mn-ea"/>
                  <a:cs typeface="+mn-cs"/>
                </a:rPr>
                <a:t>ROC-AUC ve PR-AUC eğrilerini çizip yorumlayarak hangi durumda hangi</a:t>
              </a:r>
              <a:br/>
              <a:r>
                <a:rPr lang="tr-TR" sz="1650" b="1" dirty="0">
                  <a:solidFill>
                    <a:srgbClr val="12355B"/>
                  </a:solidFill>
                  <a:latin typeface="+mn-lt"/>
                  <a:ea typeface="+mn-ea"/>
                  <a:cs typeface="+mn-cs"/>
                </a:rPr>
                <a:t>eğrinin daha güvenilir olduğuna karar vermek.</a:t>
              </a:r>
            </a:p>
          </p:txBody>
        </p:sp>
      </p:grpSp>
      <p:grpSp>
        <p:nvGrpSpPr>
          <p:cNvPr id="23" name="objective-5"/>
          <p:cNvGrpSpPr/>
          <p:nvPr/>
        </p:nvGrpSpPr>
        <p:grpSpPr>
          <a:xfrm>
            <a:off x="685800" y="4362450"/>
            <a:ext cx="7849124" cy="620839"/>
            <a:chOff x="685800" y="4362450"/>
            <a:chExt cx="7849124" cy="620839"/>
          </a:xfrm>
        </p:grpSpPr>
        <p:sp>
          <p:nvSpPr>
            <p:cNvPr id="21" name="Rectangle 21"/>
            <p:cNvSpPr/>
            <p:nvPr/>
          </p:nvSpPr>
          <p:spPr>
            <a:xfrm>
              <a:off x="685800" y="4362450"/>
              <a:ext cx="57150" cy="533400"/>
            </a:xfrm>
            <a:prstGeom prst="rect">
              <a:avLst/>
            </a:prstGeom>
            <a:solidFill>
              <a:srgbClr val="00A6A6"/>
            </a:solidFill>
            <a:ln>
              <a:noFill/>
            </a:ln>
          </p:spPr>
        </p:sp>
        <p:sp>
          <p:nvSpPr>
            <p:cNvPr id="22" name="TextBox 22"/>
            <p:cNvSpPr txBox="1"/>
            <p:nvPr/>
          </p:nvSpPr>
          <p:spPr>
            <a:xfrm>
              <a:off x="982218" y="4393882"/>
              <a:ext cx="7552706" cy="589407"/>
            </a:xfrm>
            <a:prstGeom prst="rect">
              <a:avLst/>
            </a:prstGeom>
            <a:noFill/>
            <a:ln>
              <a:noFill/>
            </a:ln>
          </p:spPr>
          <p:txBody>
            <a:bodyPr wrap="none" lIns="0" tIns="0" rIns="0" bIns="0" anchor="t" anchorCtr="0">
              <a:spAutoFit/>
            </a:bodyPr>
            <a:lstStyle/>
            <a:p>
              <a:pPr algn="l">
                <a:lnSpc>
                  <a:spcPts val="2100"/>
                </a:lnSpc>
              </a:pPr>
              <a:r>
                <a:rPr lang="tr-TR" sz="1650" b="1" dirty="0">
                  <a:solidFill>
                    <a:srgbClr val="12355B"/>
                  </a:solidFill>
                  <a:latin typeface="+mn-lt"/>
                  <a:ea typeface="+mn-ea"/>
                  <a:cs typeface="+mn-cs"/>
                </a:rPr>
                <a:t>StratifiedKFold ile k-katlı çapraz doğrulama uygulayıp karar eşiğini iş</a:t>
              </a:r>
              <a:br/>
              <a:r>
                <a:rPr lang="tr-TR" sz="1650" b="1" dirty="0">
                  <a:solidFill>
                    <a:srgbClr val="12355B"/>
                  </a:solidFill>
                  <a:latin typeface="+mn-lt"/>
                  <a:ea typeface="+mn-ea"/>
                  <a:cs typeface="+mn-cs"/>
                </a:rPr>
                <a:t>hedefine göre optimize etmek.</a:t>
              </a:r>
            </a:p>
          </p:txBody>
        </p:sp>
      </p:grpSp>
      <p:grpSp>
        <p:nvGrpSpPr>
          <p:cNvPr id="26" name="success-criterion"/>
          <p:cNvGrpSpPr/>
          <p:nvPr/>
        </p:nvGrpSpPr>
        <p:grpSpPr>
          <a:xfrm>
            <a:off x="609600" y="5143500"/>
            <a:ext cx="10972800" cy="1047750"/>
            <a:chOff x="609600" y="5143500"/>
            <a:chExt cx="10972800" cy="1047750"/>
          </a:xfrm>
        </p:grpSpPr>
        <p:sp>
          <p:nvSpPr>
            <p:cNvPr id="24" name="Rectangle 24"/>
            <p:cNvSpPr/>
            <p:nvPr/>
          </p:nvSpPr>
          <p:spPr>
            <a:xfrm>
              <a:off x="609600" y="5143500"/>
              <a:ext cx="10972800" cy="1047750"/>
            </a:xfrm>
            <a:prstGeom prst="roundRect">
              <a:avLst>
                <a:gd name="adj" fmla="val 7273"/>
              </a:avLst>
            </a:prstGeom>
            <a:solidFill>
              <a:srgbClr val="EAF4F6"/>
            </a:solidFill>
            <a:ln>
              <a:noFill/>
            </a:ln>
          </p:spPr>
        </p:sp>
        <p:sp>
          <p:nvSpPr>
            <p:cNvPr id="25" name="TextBox 25"/>
            <p:cNvSpPr txBox="1"/>
            <p:nvPr/>
          </p:nvSpPr>
          <p:spPr>
            <a:xfrm>
              <a:off x="906399" y="5259229"/>
              <a:ext cx="8172831" cy="841438"/>
            </a:xfrm>
            <a:prstGeom prst="rect">
              <a:avLst/>
            </a:prstGeom>
            <a:noFill/>
            <a:ln>
              <a:noFill/>
            </a:ln>
          </p:spPr>
          <p:txBody>
            <a:bodyPr wrap="none" lIns="0" tIns="0" rIns="0" bIns="0" anchor="t" anchorCtr="0">
              <a:spAutoFit/>
            </a:bodyPr>
            <a:lstStyle/>
            <a:p>
              <a:pPr algn="l">
                <a:lnSpc>
                  <a:spcPts val="2100"/>
                </a:lnSpc>
              </a:pPr>
              <a:r>
                <a:rPr lang="tr-TR" sz="1580" b="1" dirty="0">
                  <a:solidFill>
                    <a:srgbClr val="12355B"/>
                  </a:solidFill>
                  <a:latin typeface="+mn-lt"/>
                  <a:ea typeface="+mn-ea"/>
                  <a:cs typeface="+mn-cs"/>
                </a:rPr>
                <a:t>Başarı ölçütü:</a:t>
              </a:r>
              <a:r>
                <a:rPr lang="tr-TR" sz="1580" dirty="0">
                  <a:solidFill>
                    <a:srgbClr val="172B3A"/>
                  </a:solidFill>
                  <a:latin typeface="+mn-lt"/>
                  <a:ea typeface="+mn-ea"/>
                  <a:cs typeface="+mn-cs"/>
                </a:rPr>
                <a:t xml:space="preserve"> Performans yalnızca accuracy ile değil; karmaşıklık matrisi,</a:t>
              </a:r>
              <a:br/>
              <a:r>
                <a:rPr lang="tr-TR" sz="1580" dirty="0">
                  <a:solidFill>
                    <a:srgbClr val="172B3A"/>
                  </a:solidFill>
                  <a:latin typeface="+mn-lt"/>
                  <a:ea typeface="+mn-ea"/>
                  <a:cs typeface="+mn-cs"/>
                </a:rPr>
                <a:t>kesinlik/duyarlılık/F1, ROC-AUC/PR-AUC ve K-Fold sonuçlarıyla birlikte raporlanıp</a:t>
              </a:r>
              <a:br/>
              <a:r>
                <a:rPr lang="tr-TR" sz="1580" dirty="0">
                  <a:solidFill>
                    <a:srgbClr val="172B3A"/>
                  </a:solidFill>
                  <a:latin typeface="+mn-lt"/>
                  <a:ea typeface="+mn-ea"/>
                  <a:cs typeface="+mn-cs"/>
                </a:rPr>
                <a:t>iş maliyetine göre gerekçeli bir karar eşiği önerilebiliyorsa hedeflere ulaşılmıştır.</a:t>
              </a:r>
            </a:p>
          </p:txBody>
        </p:sp>
      </p:grpSp>
      <p:sp>
        <p:nvSpPr>
          <p:cNvPr id="27" name="TextBox 2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 / 25</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7803151" cy="668845"/>
            <a:chOff x="609600" y="171450"/>
            <a:chExt cx="7803151"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771334" y="412909"/>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7" name="Freeform 7"/>
                <p:cNvSpPr/>
                <p:nvPr/>
              </p:nvSpPr>
              <p:spPr>
                <a:xfrm>
                  <a:off x="771334" y="501491"/>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8" name="Freeform 8"/>
                <p:cNvSpPr/>
                <p:nvPr/>
              </p:nvSpPr>
              <p:spPr>
                <a:xfrm>
                  <a:off x="837224" y="324326"/>
                  <a:ext cx="50744" cy="265748"/>
                </a:xfrm>
                <a:custGeom>
                  <a:avLst/>
                  <a:gdLst/>
                  <a:ahLst/>
                  <a:cxnLst/>
                  <a:rect l="l" t="t" r="r" b="b"/>
                  <a:pathLst>
                    <a:path w="50744" h="265748">
                      <a:moveTo>
                        <a:pt x="50744" y="0"/>
                      </a:moveTo>
                      <a:cubicBezTo>
                        <a:pt x="0" y="81315"/>
                        <a:pt x="0" y="184432"/>
                        <a:pt x="50744" y="265748"/>
                      </a:cubicBezTo>
                    </a:path>
                  </a:pathLst>
                </a:custGeom>
                <a:noFill/>
                <a:ln w="24759" cap="rnd">
                  <a:solidFill>
                    <a:srgbClr val="FFFFFF"/>
                  </a:solidFill>
                  <a:round/>
                </a:ln>
              </p:spPr>
            </p:sp>
            <p:sp>
              <p:nvSpPr>
                <p:cNvPr id="9" name="Freeform 9"/>
                <p:cNvSpPr/>
                <p:nvPr/>
              </p:nvSpPr>
              <p:spPr>
                <a:xfrm>
                  <a:off x="902732" y="324326"/>
                  <a:ext cx="50744" cy="265748"/>
                </a:xfrm>
                <a:custGeom>
                  <a:avLst/>
                  <a:gdLst/>
                  <a:ahLst/>
                  <a:cxnLst/>
                  <a:rect l="l" t="t" r="r" b="b"/>
                  <a:pathLst>
                    <a:path w="50744" h="265748">
                      <a:moveTo>
                        <a:pt x="0" y="0"/>
                      </a:moveTo>
                      <a:cubicBezTo>
                        <a:pt x="50744" y="81315"/>
                        <a:pt x="50744" y="184432"/>
                        <a:pt x="0" y="265748"/>
                      </a:cubicBezTo>
                    </a:path>
                  </a:pathLst>
                </a:custGeom>
                <a:noFill/>
                <a:ln w="24759" cap="rnd">
                  <a:solidFill>
                    <a:srgbClr val="FFFFFF"/>
                  </a:solidFill>
                  <a:round/>
                </a:ln>
              </p:spPr>
            </p:sp>
          </p:grpSp>
        </p:grpSp>
        <p:sp>
          <p:nvSpPr>
            <p:cNvPr id="12" name="TextBox 12"/>
            <p:cNvSpPr txBox="1"/>
            <p:nvPr/>
          </p:nvSpPr>
          <p:spPr>
            <a:xfrm>
              <a:off x="1299972" y="282892"/>
              <a:ext cx="711277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 altı temel kavram</a:t>
              </a:r>
            </a:p>
          </p:txBody>
        </p:sp>
      </p:grpSp>
      <p:grpSp>
        <p:nvGrpSpPr>
          <p:cNvPr id="58" name="concept-map"/>
          <p:cNvGrpSpPr/>
          <p:nvPr/>
        </p:nvGrpSpPr>
        <p:grpSpPr>
          <a:xfrm>
            <a:off x="685800" y="1219200"/>
            <a:ext cx="10896600" cy="4613434"/>
            <a:chOff x="685800" y="1219200"/>
            <a:chExt cx="10896600" cy="4613434"/>
          </a:xfrm>
        </p:grpSpPr>
        <p:grpSp>
          <p:nvGrpSpPr>
            <p:cNvPr id="25" name="Group 25"/>
            <p:cNvGrpSpPr/>
            <p:nvPr/>
          </p:nvGrpSpPr>
          <p:grpSpPr>
            <a:xfrm>
              <a:off x="3067050" y="1562100"/>
              <a:ext cx="7410451" cy="3905250"/>
              <a:chOff x="3067050" y="1562100"/>
              <a:chExt cx="7410451" cy="3905250"/>
            </a:xfrm>
          </p:grpSpPr>
          <p:sp>
            <p:nvSpPr>
              <p:cNvPr id="14" name="Line 14"/>
              <p:cNvSpPr/>
              <p:nvPr/>
            </p:nvSpPr>
            <p:spPr>
              <a:xfrm flipV="1">
                <a:off x="3067050" y="1562100"/>
                <a:ext cx="1428750" cy="1952625"/>
              </a:xfrm>
              <a:prstGeom prst="line">
                <a:avLst/>
              </a:prstGeom>
              <a:noFill/>
              <a:ln w="23812">
                <a:solidFill>
                  <a:srgbClr val="00A6A6"/>
                </a:solidFill>
                <a:tailEnd type="arrow" w="lg" len="lg"/>
              </a:ln>
            </p:spPr>
          </p:sp>
          <p:sp>
            <p:nvSpPr>
              <p:cNvPr id="15" name="Line 15"/>
              <p:cNvSpPr/>
              <p:nvPr/>
            </p:nvSpPr>
            <p:spPr>
              <a:xfrm flipV="1">
                <a:off x="3067050" y="2343150"/>
                <a:ext cx="1428750" cy="1171575"/>
              </a:xfrm>
              <a:prstGeom prst="line">
                <a:avLst/>
              </a:prstGeom>
              <a:noFill/>
              <a:ln w="23812">
                <a:solidFill>
                  <a:srgbClr val="00A6A6"/>
                </a:solidFill>
                <a:tailEnd type="arrow" w="lg" len="lg"/>
              </a:ln>
            </p:spPr>
          </p:sp>
          <p:sp>
            <p:nvSpPr>
              <p:cNvPr id="16" name="Line 16"/>
              <p:cNvSpPr/>
              <p:nvPr/>
            </p:nvSpPr>
            <p:spPr>
              <a:xfrm flipV="1">
                <a:off x="3067050" y="3124200"/>
                <a:ext cx="1428750" cy="390525"/>
              </a:xfrm>
              <a:prstGeom prst="line">
                <a:avLst/>
              </a:prstGeom>
              <a:noFill/>
              <a:ln w="23812">
                <a:solidFill>
                  <a:srgbClr val="00A6A6"/>
                </a:solidFill>
                <a:tailEnd type="arrow" w="lg" len="lg"/>
              </a:ln>
            </p:spPr>
          </p:sp>
          <p:sp>
            <p:nvSpPr>
              <p:cNvPr id="17" name="Line 17"/>
              <p:cNvSpPr/>
              <p:nvPr/>
            </p:nvSpPr>
            <p:spPr>
              <a:xfrm>
                <a:off x="3067050" y="3514725"/>
                <a:ext cx="1428750" cy="390525"/>
              </a:xfrm>
              <a:prstGeom prst="line">
                <a:avLst/>
              </a:prstGeom>
              <a:noFill/>
              <a:ln w="23812">
                <a:solidFill>
                  <a:srgbClr val="00A6A6"/>
                </a:solidFill>
                <a:tailEnd type="arrow" w="lg" len="lg"/>
              </a:ln>
            </p:spPr>
          </p:sp>
          <p:sp>
            <p:nvSpPr>
              <p:cNvPr id="18" name="Line 18"/>
              <p:cNvSpPr/>
              <p:nvPr/>
            </p:nvSpPr>
            <p:spPr>
              <a:xfrm>
                <a:off x="3067050" y="3514725"/>
                <a:ext cx="1428750" cy="1171575"/>
              </a:xfrm>
              <a:prstGeom prst="line">
                <a:avLst/>
              </a:prstGeom>
              <a:noFill/>
              <a:ln w="23812">
                <a:solidFill>
                  <a:srgbClr val="00A6A6"/>
                </a:solidFill>
                <a:tailEnd type="arrow" w="lg" len="lg"/>
              </a:ln>
            </p:spPr>
          </p:sp>
          <p:sp>
            <p:nvSpPr>
              <p:cNvPr id="19" name="Line 19"/>
              <p:cNvSpPr/>
              <p:nvPr/>
            </p:nvSpPr>
            <p:spPr>
              <a:xfrm>
                <a:off x="3067050" y="3514725"/>
                <a:ext cx="1428750" cy="1952625"/>
              </a:xfrm>
              <a:prstGeom prst="line">
                <a:avLst/>
              </a:prstGeom>
              <a:noFill/>
              <a:ln w="23812">
                <a:solidFill>
                  <a:srgbClr val="00A6A6"/>
                </a:solidFill>
                <a:tailEnd type="arrow" w="lg" len="lg"/>
              </a:ln>
            </p:spPr>
          </p:sp>
          <p:sp>
            <p:nvSpPr>
              <p:cNvPr id="20" name="Line 20"/>
              <p:cNvSpPr/>
              <p:nvPr/>
            </p:nvSpPr>
            <p:spPr>
              <a:xfrm>
                <a:off x="10477500" y="1905000"/>
                <a:ext cx="1" cy="95250"/>
              </a:xfrm>
              <a:prstGeom prst="line">
                <a:avLst/>
              </a:prstGeom>
              <a:noFill/>
              <a:ln w="19050">
                <a:solidFill>
                  <a:srgbClr val="52616B"/>
                </a:solidFill>
                <a:custDash>
                  <a:ds d="300000" sp="200000"/>
                </a:custDash>
                <a:tailEnd type="arrow" w="lg" len="lg"/>
              </a:ln>
            </p:spPr>
          </p:sp>
          <p:sp>
            <p:nvSpPr>
              <p:cNvPr id="21" name="Line 21"/>
              <p:cNvSpPr/>
              <p:nvPr/>
            </p:nvSpPr>
            <p:spPr>
              <a:xfrm>
                <a:off x="10477500" y="2686050"/>
                <a:ext cx="1" cy="95250"/>
              </a:xfrm>
              <a:prstGeom prst="line">
                <a:avLst/>
              </a:prstGeom>
              <a:noFill/>
              <a:ln w="19050">
                <a:solidFill>
                  <a:srgbClr val="52616B"/>
                </a:solidFill>
                <a:custDash>
                  <a:ds d="300000" sp="200000"/>
                </a:custDash>
                <a:tailEnd type="arrow" w="lg" len="lg"/>
              </a:ln>
            </p:spPr>
          </p:sp>
          <p:sp>
            <p:nvSpPr>
              <p:cNvPr id="22" name="Line 22"/>
              <p:cNvSpPr/>
              <p:nvPr/>
            </p:nvSpPr>
            <p:spPr>
              <a:xfrm>
                <a:off x="10477500" y="3467100"/>
                <a:ext cx="1" cy="95250"/>
              </a:xfrm>
              <a:prstGeom prst="line">
                <a:avLst/>
              </a:prstGeom>
              <a:noFill/>
              <a:ln w="19050">
                <a:solidFill>
                  <a:srgbClr val="52616B"/>
                </a:solidFill>
                <a:custDash>
                  <a:ds d="300000" sp="200000"/>
                </a:custDash>
                <a:tailEnd type="arrow" w="lg" len="lg"/>
              </a:ln>
            </p:spPr>
          </p:sp>
          <p:sp>
            <p:nvSpPr>
              <p:cNvPr id="23" name="Line 23"/>
              <p:cNvSpPr/>
              <p:nvPr/>
            </p:nvSpPr>
            <p:spPr>
              <a:xfrm>
                <a:off x="10477500" y="4248150"/>
                <a:ext cx="1" cy="95250"/>
              </a:xfrm>
              <a:prstGeom prst="line">
                <a:avLst/>
              </a:prstGeom>
              <a:noFill/>
              <a:ln w="19050">
                <a:solidFill>
                  <a:srgbClr val="52616B"/>
                </a:solidFill>
                <a:custDash>
                  <a:ds d="300000" sp="200000"/>
                </a:custDash>
                <a:tailEnd type="arrow" w="lg" len="lg"/>
              </a:ln>
            </p:spPr>
          </p:sp>
          <p:sp>
            <p:nvSpPr>
              <p:cNvPr id="24" name="Line 24"/>
              <p:cNvSpPr/>
              <p:nvPr/>
            </p:nvSpPr>
            <p:spPr>
              <a:xfrm>
                <a:off x="10477500" y="5029200"/>
                <a:ext cx="1" cy="95250"/>
              </a:xfrm>
              <a:prstGeom prst="line">
                <a:avLst/>
              </a:prstGeom>
              <a:noFill/>
              <a:ln w="19050">
                <a:solidFill>
                  <a:srgbClr val="52616B"/>
                </a:solidFill>
                <a:custDash>
                  <a:ds d="300000" sp="200000"/>
                </a:custDash>
                <a:tailEnd type="arrow" w="lg" len="lg"/>
              </a:ln>
            </p:spPr>
          </p:sp>
        </p:grpSp>
        <p:grpSp>
          <p:nvGrpSpPr>
            <p:cNvPr id="28" name="map-hub"/>
            <p:cNvGrpSpPr/>
            <p:nvPr/>
          </p:nvGrpSpPr>
          <p:grpSpPr>
            <a:xfrm>
              <a:off x="685800" y="2085975"/>
              <a:ext cx="2381250" cy="2857500"/>
              <a:chOff x="685800" y="2085975"/>
              <a:chExt cx="2381250" cy="2857500"/>
            </a:xfrm>
          </p:grpSpPr>
          <p:sp>
            <p:nvSpPr>
              <p:cNvPr id="26" name="Rectangle 26"/>
              <p:cNvSpPr/>
              <p:nvPr/>
            </p:nvSpPr>
            <p:spPr>
              <a:xfrm>
                <a:off x="685800" y="2085975"/>
                <a:ext cx="2381250" cy="2857500"/>
              </a:xfrm>
              <a:prstGeom prst="roundRect">
                <a:avLst>
                  <a:gd name="adj" fmla="val 4000"/>
                </a:avLst>
              </a:prstGeom>
              <a:solidFill>
                <a:srgbClr val="12355B"/>
              </a:solidFill>
              <a:ln>
                <a:noFill/>
              </a:ln>
            </p:spPr>
          </p:sp>
          <p:sp>
            <p:nvSpPr>
              <p:cNvPr id="27" name="TextBox 27"/>
              <p:cNvSpPr txBox="1"/>
              <p:nvPr/>
            </p:nvSpPr>
            <p:spPr>
              <a:xfrm>
                <a:off x="942213" y="3067526"/>
                <a:ext cx="1865738" cy="1081850"/>
              </a:xfrm>
              <a:prstGeom prst="rect">
                <a:avLst/>
              </a:prstGeom>
              <a:noFill/>
              <a:ln>
                <a:noFill/>
              </a:ln>
            </p:spPr>
            <p:txBody>
              <a:bodyPr wrap="none" lIns="0" tIns="0" rIns="0" bIns="0" anchor="t" anchorCtr="0">
                <a:spAutoFit/>
              </a:bodyPr>
              <a:lstStyle/>
              <a:p>
                <a:pPr algn="l">
                  <a:lnSpc>
                    <a:spcPts val="2700"/>
                  </a:lnSpc>
                </a:pPr>
                <a:r>
                  <a:rPr lang="tr-TR" sz="2020" b="1" dirty="0">
                    <a:solidFill>
                      <a:srgbClr val="FFFFFF"/>
                    </a:solidFill>
                    <a:latin typeface="+mn-lt"/>
                    <a:ea typeface="+mn-ea"/>
                    <a:cs typeface="+mn-cs"/>
                  </a:rPr>
                  <a:t>Model</a:t>
                </a:r>
                <a:br/>
                <a:r>
                  <a:rPr lang="tr-TR" sz="2020" b="1" dirty="0">
                    <a:solidFill>
                      <a:srgbClr val="FFFFFF"/>
                    </a:solidFill>
                    <a:latin typeface="+mn-lt"/>
                    <a:ea typeface="+mn-ea"/>
                    <a:cs typeface="+mn-cs"/>
                  </a:rPr>
                  <a:t>Değerlendirme</a:t>
                </a:r>
                <a:br/>
                <a:r>
                  <a:rPr lang="tr-TR" sz="2020" b="1" dirty="0">
                    <a:solidFill>
                      <a:srgbClr val="FFFFFF"/>
                    </a:solidFill>
                    <a:latin typeface="+mn-lt"/>
                    <a:ea typeface="+mn-ea"/>
                    <a:cs typeface="+mn-cs"/>
                  </a:rPr>
                  <a:t>Çerçevesi</a:t>
                </a:r>
              </a:p>
            </p:txBody>
          </p:sp>
        </p:grpSp>
        <p:grpSp>
          <p:nvGrpSpPr>
            <p:cNvPr id="32" name="map-node-confusion"/>
            <p:cNvGrpSpPr/>
            <p:nvPr/>
          </p:nvGrpSpPr>
          <p:grpSpPr>
            <a:xfrm>
              <a:off x="4572000" y="1219200"/>
              <a:ext cx="7010400" cy="685800"/>
              <a:chOff x="4572000" y="1219200"/>
              <a:chExt cx="7010400" cy="685800"/>
            </a:xfrm>
          </p:grpSpPr>
          <p:sp>
            <p:nvSpPr>
              <p:cNvPr id="29" name="Rectangle 29"/>
              <p:cNvSpPr/>
              <p:nvPr/>
            </p:nvSpPr>
            <p:spPr>
              <a:xfrm>
                <a:off x="4572000" y="1219200"/>
                <a:ext cx="7010400" cy="685800"/>
              </a:xfrm>
              <a:prstGeom prst="roundRect">
                <a:avLst>
                  <a:gd name="adj" fmla="val 13889"/>
                </a:avLst>
              </a:prstGeom>
              <a:solidFill>
                <a:srgbClr val="FFFFFF"/>
              </a:solidFill>
              <a:ln w="14288">
                <a:solidFill>
                  <a:srgbClr val="2E86AB"/>
                </a:solidFill>
              </a:ln>
            </p:spPr>
          </p:sp>
          <p:sp>
            <p:nvSpPr>
              <p:cNvPr id="30" name="TextBox 30"/>
              <p:cNvSpPr txBox="1"/>
              <p:nvPr/>
            </p:nvSpPr>
            <p:spPr>
              <a:xfrm>
                <a:off x="4792218" y="1326832"/>
                <a:ext cx="2321295"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Karmaşıklık matrisi</a:t>
                </a:r>
              </a:p>
            </p:txBody>
          </p:sp>
          <p:sp>
            <p:nvSpPr>
              <p:cNvPr id="31" name="TextBox 31"/>
              <p:cNvSpPr txBox="1"/>
              <p:nvPr/>
            </p:nvSpPr>
            <p:spPr>
              <a:xfrm>
                <a:off x="4793742" y="1587818"/>
                <a:ext cx="4614291"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TP / TN / FP / FN sayım tablosu — hataların köküdür</a:t>
                </a:r>
              </a:p>
            </p:txBody>
          </p:sp>
        </p:grpSp>
        <p:grpSp>
          <p:nvGrpSpPr>
            <p:cNvPr id="36" name="map-node-paradox"/>
            <p:cNvGrpSpPr/>
            <p:nvPr/>
          </p:nvGrpSpPr>
          <p:grpSpPr>
            <a:xfrm>
              <a:off x="4572000" y="2000250"/>
              <a:ext cx="7010400" cy="685800"/>
              <a:chOff x="4572000" y="2000250"/>
              <a:chExt cx="7010400" cy="685800"/>
            </a:xfrm>
          </p:grpSpPr>
          <p:sp>
            <p:nvSpPr>
              <p:cNvPr id="33" name="Rectangle 33"/>
              <p:cNvSpPr/>
              <p:nvPr/>
            </p:nvSpPr>
            <p:spPr>
              <a:xfrm>
                <a:off x="4572000" y="2000250"/>
                <a:ext cx="7010400" cy="685800"/>
              </a:xfrm>
              <a:prstGeom prst="roundRect">
                <a:avLst>
                  <a:gd name="adj" fmla="val 13889"/>
                </a:avLst>
              </a:prstGeom>
              <a:solidFill>
                <a:srgbClr val="FFFFFF"/>
              </a:solidFill>
              <a:ln w="14288">
                <a:solidFill>
                  <a:srgbClr val="2E86AB"/>
                </a:solidFill>
              </a:ln>
            </p:spPr>
          </p:sp>
          <p:sp>
            <p:nvSpPr>
              <p:cNvPr id="34" name="TextBox 34"/>
              <p:cNvSpPr txBox="1"/>
              <p:nvPr/>
            </p:nvSpPr>
            <p:spPr>
              <a:xfrm>
                <a:off x="4792218" y="2107882"/>
                <a:ext cx="2274919"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Accuracy paradoksu</a:t>
                </a:r>
              </a:p>
            </p:txBody>
          </p:sp>
          <p:sp>
            <p:nvSpPr>
              <p:cNvPr id="35" name="TextBox 35"/>
              <p:cNvSpPr txBox="1"/>
              <p:nvPr/>
            </p:nvSpPr>
            <p:spPr>
              <a:xfrm>
                <a:off x="4793742" y="2368868"/>
                <a:ext cx="4426382"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Dengesiz veride yüksek doğruluk yanıltıcı olabilir</a:t>
                </a:r>
              </a:p>
            </p:txBody>
          </p:sp>
        </p:grpSp>
        <p:grpSp>
          <p:nvGrpSpPr>
            <p:cNvPr id="40" name="map-node-precision-recall"/>
            <p:cNvGrpSpPr/>
            <p:nvPr/>
          </p:nvGrpSpPr>
          <p:grpSpPr>
            <a:xfrm>
              <a:off x="4572000" y="2781300"/>
              <a:ext cx="7010400" cy="685800"/>
              <a:chOff x="4572000" y="2781300"/>
              <a:chExt cx="7010400" cy="685800"/>
            </a:xfrm>
          </p:grpSpPr>
          <p:sp>
            <p:nvSpPr>
              <p:cNvPr id="37" name="Rectangle 37"/>
              <p:cNvSpPr/>
              <p:nvPr/>
            </p:nvSpPr>
            <p:spPr>
              <a:xfrm>
                <a:off x="4572000" y="2781300"/>
                <a:ext cx="7010400" cy="685800"/>
              </a:xfrm>
              <a:prstGeom prst="roundRect">
                <a:avLst>
                  <a:gd name="adj" fmla="val 13889"/>
                </a:avLst>
              </a:prstGeom>
              <a:solidFill>
                <a:srgbClr val="FFFFFF"/>
              </a:solidFill>
              <a:ln w="14288">
                <a:solidFill>
                  <a:srgbClr val="2E86AB"/>
                </a:solidFill>
              </a:ln>
            </p:spPr>
          </p:sp>
          <p:sp>
            <p:nvSpPr>
              <p:cNvPr id="38" name="TextBox 38"/>
              <p:cNvSpPr txBox="1"/>
              <p:nvPr/>
            </p:nvSpPr>
            <p:spPr>
              <a:xfrm>
                <a:off x="4792218" y="2888932"/>
                <a:ext cx="2437518"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Kesinlik ve duyarlılık</a:t>
                </a:r>
              </a:p>
            </p:txBody>
          </p:sp>
          <p:sp>
            <p:nvSpPr>
              <p:cNvPr id="39" name="TextBox 39"/>
              <p:cNvSpPr txBox="1"/>
              <p:nvPr/>
            </p:nvSpPr>
            <p:spPr>
              <a:xfrm>
                <a:off x="4793742" y="3149918"/>
                <a:ext cx="3691919"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İki hata türünü (FP / FN) ayrı ayrı ölçer</a:t>
                </a:r>
              </a:p>
            </p:txBody>
          </p:sp>
        </p:grpSp>
        <p:grpSp>
          <p:nvGrpSpPr>
            <p:cNvPr id="44" name="map-node-f1"/>
            <p:cNvGrpSpPr/>
            <p:nvPr/>
          </p:nvGrpSpPr>
          <p:grpSpPr>
            <a:xfrm>
              <a:off x="4572000" y="3562350"/>
              <a:ext cx="7010400" cy="685800"/>
              <a:chOff x="4572000" y="3562350"/>
              <a:chExt cx="7010400" cy="685800"/>
            </a:xfrm>
          </p:grpSpPr>
          <p:sp>
            <p:nvSpPr>
              <p:cNvPr id="41" name="Rectangle 41"/>
              <p:cNvSpPr/>
              <p:nvPr/>
            </p:nvSpPr>
            <p:spPr>
              <a:xfrm>
                <a:off x="4572000" y="3562350"/>
                <a:ext cx="7010400" cy="685800"/>
              </a:xfrm>
              <a:prstGeom prst="roundRect">
                <a:avLst>
                  <a:gd name="adj" fmla="val 13889"/>
                </a:avLst>
              </a:prstGeom>
              <a:solidFill>
                <a:srgbClr val="FFFFFF"/>
              </a:solidFill>
              <a:ln w="14288">
                <a:solidFill>
                  <a:srgbClr val="2E86AB"/>
                </a:solidFill>
              </a:ln>
            </p:spPr>
          </p:sp>
          <p:sp>
            <p:nvSpPr>
              <p:cNvPr id="42" name="TextBox 42"/>
              <p:cNvSpPr txBox="1"/>
              <p:nvPr/>
            </p:nvSpPr>
            <p:spPr>
              <a:xfrm>
                <a:off x="4792218" y="3669982"/>
                <a:ext cx="924861"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F1-skor</a:t>
                </a:r>
              </a:p>
            </p:txBody>
          </p:sp>
          <p:sp>
            <p:nvSpPr>
              <p:cNvPr id="43" name="TextBox 43"/>
              <p:cNvSpPr txBox="1"/>
              <p:nvPr/>
            </p:nvSpPr>
            <p:spPr>
              <a:xfrm>
                <a:off x="4793742" y="3930968"/>
                <a:ext cx="3990289"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Kesinlik ve duyarlılığın harmonik ortalaması</a:t>
                </a:r>
              </a:p>
            </p:txBody>
          </p:sp>
        </p:grpSp>
        <p:grpSp>
          <p:nvGrpSpPr>
            <p:cNvPr id="48" name="map-node-auc"/>
            <p:cNvGrpSpPr/>
            <p:nvPr/>
          </p:nvGrpSpPr>
          <p:grpSpPr>
            <a:xfrm>
              <a:off x="4572000" y="4343400"/>
              <a:ext cx="7010400" cy="685800"/>
              <a:chOff x="4572000" y="4343400"/>
              <a:chExt cx="7010400" cy="685800"/>
            </a:xfrm>
          </p:grpSpPr>
          <p:sp>
            <p:nvSpPr>
              <p:cNvPr id="45" name="Rectangle 45"/>
              <p:cNvSpPr/>
              <p:nvPr/>
            </p:nvSpPr>
            <p:spPr>
              <a:xfrm>
                <a:off x="4572000" y="4343400"/>
                <a:ext cx="7010400" cy="685800"/>
              </a:xfrm>
              <a:prstGeom prst="roundRect">
                <a:avLst>
                  <a:gd name="adj" fmla="val 13889"/>
                </a:avLst>
              </a:prstGeom>
              <a:solidFill>
                <a:srgbClr val="FFFFFF"/>
              </a:solidFill>
              <a:ln w="14288">
                <a:solidFill>
                  <a:srgbClr val="2E86AB"/>
                </a:solidFill>
              </a:ln>
            </p:spPr>
          </p:sp>
          <p:sp>
            <p:nvSpPr>
              <p:cNvPr id="46" name="TextBox 46"/>
              <p:cNvSpPr txBox="1"/>
              <p:nvPr/>
            </p:nvSpPr>
            <p:spPr>
              <a:xfrm>
                <a:off x="4792218" y="4451032"/>
                <a:ext cx="2228582"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ROC-AUC ve PR-AUC</a:t>
                </a:r>
              </a:p>
            </p:txBody>
          </p:sp>
          <p:sp>
            <p:nvSpPr>
              <p:cNvPr id="47" name="TextBox 47"/>
              <p:cNvSpPr txBox="1"/>
              <p:nvPr/>
            </p:nvSpPr>
            <p:spPr>
              <a:xfrm>
                <a:off x="4793742" y="4712018"/>
                <a:ext cx="3936140"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Tüm eşik aralığındaki genel ayırt etme gücü</a:t>
                </a:r>
              </a:p>
            </p:txBody>
          </p:sp>
        </p:grpSp>
        <p:grpSp>
          <p:nvGrpSpPr>
            <p:cNvPr id="52" name="map-node-kfold-threshold"/>
            <p:cNvGrpSpPr/>
            <p:nvPr/>
          </p:nvGrpSpPr>
          <p:grpSpPr>
            <a:xfrm>
              <a:off x="4572000" y="5124450"/>
              <a:ext cx="7010400" cy="685800"/>
              <a:chOff x="4572000" y="5124450"/>
              <a:chExt cx="7010400" cy="685800"/>
            </a:xfrm>
          </p:grpSpPr>
          <p:sp>
            <p:nvSpPr>
              <p:cNvPr id="49" name="Rectangle 49"/>
              <p:cNvSpPr/>
              <p:nvPr/>
            </p:nvSpPr>
            <p:spPr>
              <a:xfrm>
                <a:off x="4572000" y="5124450"/>
                <a:ext cx="7010400" cy="685800"/>
              </a:xfrm>
              <a:prstGeom prst="roundRect">
                <a:avLst>
                  <a:gd name="adj" fmla="val 13889"/>
                </a:avLst>
              </a:prstGeom>
              <a:solidFill>
                <a:srgbClr val="EAF4F6"/>
              </a:solidFill>
              <a:ln w="14288">
                <a:solidFill>
                  <a:srgbClr val="00A6A6"/>
                </a:solidFill>
              </a:ln>
            </p:spPr>
          </p:sp>
          <p:sp>
            <p:nvSpPr>
              <p:cNvPr id="50" name="TextBox 50"/>
              <p:cNvSpPr txBox="1"/>
              <p:nvPr/>
            </p:nvSpPr>
            <p:spPr>
              <a:xfrm>
                <a:off x="4792218" y="5232082"/>
                <a:ext cx="2364587"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K-Fold ve eşik seçimi</a:t>
                </a:r>
              </a:p>
            </p:txBody>
          </p:sp>
          <p:sp>
            <p:nvSpPr>
              <p:cNvPr id="51" name="TextBox 51"/>
              <p:cNvSpPr txBox="1"/>
              <p:nvPr/>
            </p:nvSpPr>
            <p:spPr>
              <a:xfrm>
                <a:off x="4793742" y="5493068"/>
                <a:ext cx="4507913"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Genellenebilirliği test edip eşiği iş hedefine uyarlar</a:t>
                </a:r>
              </a:p>
            </p:txBody>
          </p:sp>
        </p:grpSp>
        <p:grpSp>
          <p:nvGrpSpPr>
            <p:cNvPr id="57" name="map-legend"/>
            <p:cNvGrpSpPr/>
            <p:nvPr/>
          </p:nvGrpSpPr>
          <p:grpSpPr>
            <a:xfrm>
              <a:off x="685800" y="5288756"/>
              <a:ext cx="3403477" cy="543878"/>
              <a:chOff x="685800" y="5288756"/>
              <a:chExt cx="3403477" cy="543878"/>
            </a:xfrm>
          </p:grpSpPr>
          <p:sp>
            <p:nvSpPr>
              <p:cNvPr id="53" name="Line 53"/>
              <p:cNvSpPr/>
              <p:nvPr/>
            </p:nvSpPr>
            <p:spPr>
              <a:xfrm>
                <a:off x="685800" y="5353050"/>
                <a:ext cx="304800" cy="1"/>
              </a:xfrm>
              <a:prstGeom prst="line">
                <a:avLst/>
              </a:prstGeom>
              <a:noFill/>
              <a:ln w="23812">
                <a:solidFill>
                  <a:srgbClr val="00A6A6"/>
                </a:solidFill>
                <a:tailEnd type="arrow" w="lg" len="lg"/>
              </a:ln>
            </p:spPr>
          </p:sp>
          <p:sp>
            <p:nvSpPr>
              <p:cNvPr id="54" name="TextBox 54"/>
              <p:cNvSpPr txBox="1"/>
              <p:nvPr/>
            </p:nvSpPr>
            <p:spPr>
              <a:xfrm>
                <a:off x="1080135" y="5288756"/>
                <a:ext cx="3009142"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Çerçeveden türeyen değerlendirme aracı</a:t>
                </a:r>
              </a:p>
            </p:txBody>
          </p:sp>
          <p:sp>
            <p:nvSpPr>
              <p:cNvPr id="55" name="Line 55"/>
              <p:cNvSpPr/>
              <p:nvPr/>
            </p:nvSpPr>
            <p:spPr>
              <a:xfrm>
                <a:off x="685800" y="5676900"/>
                <a:ext cx="304800" cy="1"/>
              </a:xfrm>
              <a:prstGeom prst="line">
                <a:avLst/>
              </a:prstGeom>
              <a:noFill/>
              <a:ln w="19050">
                <a:solidFill>
                  <a:srgbClr val="52616B"/>
                </a:solidFill>
                <a:custDash>
                  <a:ds d="300000" sp="200000"/>
                </a:custDash>
                <a:tailEnd type="arrow" w="lg" len="lg"/>
              </a:ln>
            </p:spPr>
          </p:sp>
          <p:sp>
            <p:nvSpPr>
              <p:cNvPr id="56" name="TextBox 56"/>
              <p:cNvSpPr txBox="1"/>
              <p:nvPr/>
            </p:nvSpPr>
            <p:spPr>
              <a:xfrm>
                <a:off x="1080135" y="5612606"/>
                <a:ext cx="2571878"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Kolaydan zora doğru pedagojik akış</a:t>
                </a:r>
              </a:p>
            </p:txBody>
          </p:sp>
        </p:grpSp>
      </p:grpSp>
      <p:sp>
        <p:nvSpPr>
          <p:cNvPr id="59" name="TextBox 5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 / 25</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629336" cy="557403"/>
            <a:chOff x="595122" y="282892"/>
            <a:chExt cx="7629336" cy="557403"/>
          </a:xfrm>
        </p:grpSpPr>
        <p:sp>
          <p:nvSpPr>
            <p:cNvPr id="4" name="TextBox 4"/>
            <p:cNvSpPr txBox="1"/>
            <p:nvPr/>
          </p:nvSpPr>
          <p:spPr>
            <a:xfrm>
              <a:off x="595122" y="282892"/>
              <a:ext cx="762933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Açılış senaryosu: Accuracy paradoksu</a:t>
              </a:r>
            </a:p>
          </p:txBody>
        </p:sp>
      </p:grpSp>
      <p:grpSp>
        <p:nvGrpSpPr>
          <p:cNvPr id="7" name="story-text"/>
          <p:cNvGrpSpPr/>
          <p:nvPr/>
        </p:nvGrpSpPr>
        <p:grpSpPr>
          <a:xfrm>
            <a:off x="600456" y="1367790"/>
            <a:ext cx="4441698" cy="3895344"/>
            <a:chOff x="600456" y="1367790"/>
            <a:chExt cx="4441698" cy="3895344"/>
          </a:xfrm>
        </p:grpSpPr>
        <p:sp>
          <p:nvSpPr>
            <p:cNvPr id="6" name="TextBox 6"/>
            <p:cNvSpPr txBox="1"/>
            <p:nvPr/>
          </p:nvSpPr>
          <p:spPr>
            <a:xfrm>
              <a:off x="600456" y="1367790"/>
              <a:ext cx="4441698" cy="3895344"/>
            </a:xfrm>
            <a:prstGeom prst="rect">
              <a:avLst/>
            </a:prstGeom>
            <a:noFill/>
            <a:ln>
              <a:noFill/>
            </a:ln>
          </p:spPr>
          <p:txBody>
            <a:bodyPr wrap="none" lIns="0" tIns="0" rIns="0" bIns="0" anchor="t" anchorCtr="0">
              <a:spAutoFit/>
            </a:bodyPr>
            <a:lstStyle/>
            <a:p>
              <a:pPr algn="l">
                <a:lnSpc>
                  <a:spcPts val="2550"/>
                </a:lnSpc>
              </a:pPr>
              <a:r>
                <a:rPr lang="tr-TR" sz="1800" dirty="0">
                  <a:solidFill>
                    <a:srgbClr val="172B3A"/>
                  </a:solidFill>
                  <a:latin typeface="+mn-lt"/>
                  <a:ea typeface="+mn-ea"/>
                  <a:cs typeface="+mn-cs"/>
                </a:rPr>
                <a:t>Yasemin, bir telekom şirketinde churn</a:t>
              </a:r>
              <a:br/>
              <a:r>
                <a:rPr lang="tr-TR" sz="1800" dirty="0">
                  <a:solidFill>
                    <a:srgbClr val="172B3A"/>
                  </a:solidFill>
                  <a:latin typeface="+mn-lt"/>
                  <a:ea typeface="+mn-ea"/>
                  <a:cs typeface="+mn-cs"/>
                </a:rPr>
                <a:t>tahmin modeli geliştirir. Modelin</a:t>
              </a:r>
              <a:br/>
              <a:r>
                <a:rPr lang="tr-TR" sz="1800" dirty="0">
                  <a:solidFill>
                    <a:srgbClr val="172B3A"/>
                  </a:solidFill>
                  <a:latin typeface="+mn-lt"/>
                  <a:ea typeface="+mn-ea"/>
                  <a:cs typeface="+mn-cs"/>
                </a:rPr>
                <a:t>doğruluğu (accuracy) %94'tür ve ekip</a:t>
              </a:r>
              <a:br/>
              <a:r>
                <a:rPr lang="tr-TR" sz="1800" dirty="0">
                  <a:solidFill>
                    <a:srgbClr val="172B3A"/>
                  </a:solidFill>
                  <a:latin typeface="+mn-lt"/>
                  <a:ea typeface="+mn-ea"/>
                  <a:cs typeface="+mn-cs"/>
                </a:rPr>
                <a:t>bu sonuçla gurur duyar.</a:t>
              </a:r>
            </a:p>
            <a:p>
              <a:pPr algn="l">
                <a:lnSpc>
                  <a:spcPts val="2550"/>
                </a:lnSpc>
                <a:spcBef>
                  <a:spcPts val="1200"/>
                </a:spcBef>
              </a:pPr>
              <a:r>
                <a:rPr lang="tr-TR" sz="1800" dirty="0">
                  <a:solidFill>
                    <a:srgbClr val="172B3A"/>
                  </a:solidFill>
                  <a:latin typeface="+mn-lt"/>
                  <a:ea typeface="+mn-ea"/>
                  <a:cs typeface="+mn-cs"/>
                </a:rPr>
                <a:t>Oysa veri setindeki müşterilerin</a:t>
              </a:r>
              <a:br/>
              <a:r>
                <a:rPr lang="tr-TR" sz="1800" dirty="0">
                  <a:solidFill>
                    <a:srgbClr val="172B3A"/>
                  </a:solidFill>
                  <a:latin typeface="+mn-lt"/>
                  <a:ea typeface="+mn-ea"/>
                  <a:cs typeface="+mn-cs"/>
                </a:rPr>
                <a:t>yalnızca %6'sı gerçekten ayrılıyor.</a:t>
              </a:r>
              <a:br/>
              <a:r>
                <a:rPr lang="tr-TR" sz="1800" dirty="0">
                  <a:solidFill>
                    <a:srgbClr val="172B3A"/>
                  </a:solidFill>
                  <a:latin typeface="+mn-lt"/>
                  <a:ea typeface="+mn-ea"/>
                  <a:cs typeface="+mn-cs"/>
                </a:rPr>
                <a:t>Model, ayrılacak müşterileri hiç</a:t>
              </a:r>
              <a:br/>
              <a:r>
                <a:rPr lang="tr-TR" sz="1800" dirty="0">
                  <a:solidFill>
                    <a:srgbClr val="172B3A"/>
                  </a:solidFill>
                  <a:latin typeface="+mn-lt"/>
                  <a:ea typeface="+mn-ea"/>
                  <a:cs typeface="+mn-cs"/>
                </a:rPr>
                <a:t>yakalayamasa bile hepsini "kalacak"</a:t>
              </a:r>
              <a:br/>
              <a:r>
                <a:rPr lang="tr-TR" sz="1800" dirty="0">
                  <a:solidFill>
                    <a:srgbClr val="172B3A"/>
                  </a:solidFill>
                  <a:latin typeface="+mn-lt"/>
                  <a:ea typeface="+mn-ea"/>
                  <a:cs typeface="+mn-cs"/>
                </a:rPr>
                <a:t>diyerek %94 doğruluğa ulaşabilir.</a:t>
              </a:r>
            </a:p>
            <a:p>
              <a:pPr algn="l">
                <a:lnSpc>
                  <a:spcPts val="2550"/>
                </a:lnSpc>
                <a:spcBef>
                  <a:spcPts val="1200"/>
                </a:spcBef>
              </a:pPr>
              <a:r>
                <a:rPr lang="tr-TR" sz="1800" dirty="0">
                  <a:solidFill>
                    <a:srgbClr val="172B3A"/>
                  </a:solidFill>
                  <a:latin typeface="+mn-lt"/>
                  <a:ea typeface="+mn-ea"/>
                  <a:cs typeface="+mn-cs"/>
                </a:rPr>
                <a:t>Yasemin, churn sınıfındaki duyarlılığı</a:t>
              </a:r>
              <a:br/>
              <a:r>
                <a:rPr lang="tr-TR" sz="1800" dirty="0">
                  <a:solidFill>
                    <a:srgbClr val="172B3A"/>
                  </a:solidFill>
                  <a:latin typeface="+mn-lt"/>
                  <a:ea typeface="+mn-ea"/>
                  <a:cs typeface="+mn-cs"/>
                </a:rPr>
                <a:t>(recall) hiç kontrol etmemiştir.</a:t>
              </a:r>
            </a:p>
          </p:txBody>
        </p:sp>
      </p:grpSp>
      <p:grpSp>
        <p:nvGrpSpPr>
          <p:cNvPr id="17" name="model-card"/>
          <p:cNvGrpSpPr/>
          <p:nvPr/>
        </p:nvGrpSpPr>
        <p:grpSpPr>
          <a:xfrm>
            <a:off x="6858000" y="1333500"/>
            <a:ext cx="4724400" cy="4095750"/>
            <a:chOff x="6858000" y="1333500"/>
            <a:chExt cx="4724400" cy="4095750"/>
          </a:xfrm>
        </p:grpSpPr>
        <p:sp>
          <p:nvSpPr>
            <p:cNvPr id="8" name="Rectangle 8"/>
            <p:cNvSpPr/>
            <p:nvPr/>
          </p:nvSpPr>
          <p:spPr>
            <a:xfrm>
              <a:off x="6858000" y="1333500"/>
              <a:ext cx="4724400" cy="4095750"/>
            </a:xfrm>
            <a:prstGeom prst="roundRect">
              <a:avLst>
                <a:gd name="adj" fmla="val 2326"/>
              </a:avLst>
            </a:prstGeom>
            <a:solidFill>
              <a:srgbClr val="FFFFFF"/>
            </a:solidFill>
            <a:ln w="14288">
              <a:solidFill>
                <a:srgbClr val="B8CBD3"/>
              </a:solidFill>
            </a:ln>
          </p:spPr>
        </p:sp>
        <p:sp>
          <p:nvSpPr>
            <p:cNvPr id="9" name="TextBox 9"/>
            <p:cNvSpPr txBox="1"/>
            <p:nvPr/>
          </p:nvSpPr>
          <p:spPr>
            <a:xfrm>
              <a:off x="7153656" y="1520190"/>
              <a:ext cx="355014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Yasemin'in modelinin iki yüzü</a:t>
              </a:r>
            </a:p>
          </p:txBody>
        </p:sp>
        <p:sp>
          <p:nvSpPr>
            <p:cNvPr id="10" name="TextBox 10"/>
            <p:cNvSpPr txBox="1"/>
            <p:nvPr/>
          </p:nvSpPr>
          <p:spPr>
            <a:xfrm>
              <a:off x="7154799" y="1925479"/>
              <a:ext cx="218056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Genel doğruluk: %94</a:t>
              </a:r>
            </a:p>
          </p:txBody>
        </p:sp>
        <p:sp>
          <p:nvSpPr>
            <p:cNvPr id="11" name="Rectangle 11"/>
            <p:cNvSpPr/>
            <p:nvPr/>
          </p:nvSpPr>
          <p:spPr>
            <a:xfrm>
              <a:off x="7162800" y="2209800"/>
              <a:ext cx="3810000" cy="304800"/>
            </a:xfrm>
            <a:prstGeom prst="roundRect">
              <a:avLst>
                <a:gd name="adj" fmla="val 12500"/>
              </a:avLst>
            </a:prstGeom>
            <a:solidFill>
              <a:srgbClr val="EAF4F6"/>
            </a:solidFill>
            <a:ln>
              <a:noFill/>
            </a:ln>
          </p:spPr>
        </p:sp>
        <p:sp>
          <p:nvSpPr>
            <p:cNvPr id="12" name="Rectangle 12"/>
            <p:cNvSpPr/>
            <p:nvPr/>
          </p:nvSpPr>
          <p:spPr>
            <a:xfrm>
              <a:off x="7162800" y="2209800"/>
              <a:ext cx="3581400" cy="304800"/>
            </a:xfrm>
            <a:prstGeom prst="roundRect">
              <a:avLst>
                <a:gd name="adj" fmla="val 12500"/>
              </a:avLst>
            </a:prstGeom>
            <a:solidFill>
              <a:srgbClr val="00A6A6"/>
            </a:solidFill>
            <a:ln>
              <a:noFill/>
            </a:ln>
          </p:spPr>
        </p:sp>
        <p:sp>
          <p:nvSpPr>
            <p:cNvPr id="13" name="TextBox 13"/>
            <p:cNvSpPr txBox="1"/>
            <p:nvPr/>
          </p:nvSpPr>
          <p:spPr>
            <a:xfrm>
              <a:off x="7154799" y="2801779"/>
              <a:ext cx="2818219" cy="55568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Churn sınıfında duyarlılık</a:t>
              </a:r>
              <a:br/>
              <a:r>
                <a:rPr lang="tr-TR" sz="1580" b="1" dirty="0">
                  <a:solidFill>
                    <a:srgbClr val="12355B"/>
                  </a:solidFill>
                  <a:latin typeface="+mn-lt"/>
                  <a:ea typeface="+mn-ea"/>
                  <a:cs typeface="+mn-cs"/>
                </a:rPr>
                <a:t>(recall): %6</a:t>
              </a:r>
            </a:p>
          </p:txBody>
        </p:sp>
        <p:sp>
          <p:nvSpPr>
            <p:cNvPr id="14" name="Rectangle 14"/>
            <p:cNvSpPr/>
            <p:nvPr/>
          </p:nvSpPr>
          <p:spPr>
            <a:xfrm>
              <a:off x="7162800" y="3352800"/>
              <a:ext cx="3810000" cy="304800"/>
            </a:xfrm>
            <a:prstGeom prst="roundRect">
              <a:avLst>
                <a:gd name="adj" fmla="val 12500"/>
              </a:avLst>
            </a:prstGeom>
            <a:solidFill>
              <a:srgbClr val="EAF4F6"/>
            </a:solidFill>
            <a:ln>
              <a:noFill/>
            </a:ln>
          </p:spPr>
        </p:sp>
        <p:sp>
          <p:nvSpPr>
            <p:cNvPr id="15" name="Rectangle 15"/>
            <p:cNvSpPr/>
            <p:nvPr/>
          </p:nvSpPr>
          <p:spPr>
            <a:xfrm>
              <a:off x="7162800" y="3352800"/>
              <a:ext cx="228600" cy="304800"/>
            </a:xfrm>
            <a:prstGeom prst="roundRect">
              <a:avLst>
                <a:gd name="adj" fmla="val 16667"/>
              </a:avLst>
            </a:prstGeom>
            <a:solidFill>
              <a:srgbClr val="52616B"/>
            </a:solidFill>
            <a:ln>
              <a:noFill/>
            </a:ln>
          </p:spPr>
        </p:sp>
        <p:sp>
          <p:nvSpPr>
            <p:cNvPr id="16" name="TextBox 16"/>
            <p:cNvSpPr txBox="1"/>
            <p:nvPr/>
          </p:nvSpPr>
          <p:spPr>
            <a:xfrm>
              <a:off x="7155942" y="3854768"/>
              <a:ext cx="2731198" cy="492633"/>
            </a:xfrm>
            <a:prstGeom prst="rect">
              <a:avLst/>
            </a:prstGeom>
            <a:noFill/>
            <a:ln>
              <a:noFill/>
            </a:ln>
          </p:spPr>
          <p:txBody>
            <a:bodyPr wrap="none" lIns="0" tIns="0" rIns="0" bIns="0" anchor="t" anchorCtr="0">
              <a:spAutoFit/>
            </a:bodyPr>
            <a:lstStyle/>
            <a:p>
              <a:pPr algn="l">
                <a:lnSpc>
                  <a:spcPts val="1800"/>
                </a:lnSpc>
              </a:pPr>
              <a:r>
                <a:rPr lang="tr-TR" sz="1350" dirty="0">
                  <a:solidFill>
                    <a:srgbClr val="52616B"/>
                  </a:solidFill>
                  <a:latin typeface="+mn-lt"/>
                  <a:ea typeface="+mn-ea"/>
                  <a:cs typeface="+mn-cs"/>
                </a:rPr>
                <a:t>Model, ayrılacak müşterilerin</a:t>
              </a:r>
              <a:br/>
              <a:r>
                <a:rPr lang="tr-TR" sz="1350" dirty="0">
                  <a:solidFill>
                    <a:srgbClr val="52616B"/>
                  </a:solidFill>
                  <a:latin typeface="+mn-lt"/>
                  <a:ea typeface="+mn-ea"/>
                  <a:cs typeface="+mn-cs"/>
                </a:rPr>
                <a:t>neredeyse tamamını kaçırıyor.</a:t>
              </a:r>
            </a:p>
          </p:txBody>
        </p:sp>
      </p:grpSp>
      <p:grpSp>
        <p:nvGrpSpPr>
          <p:cNvPr id="21" name="warning-callout"/>
          <p:cNvGrpSpPr/>
          <p:nvPr/>
        </p:nvGrpSpPr>
        <p:grpSpPr>
          <a:xfrm>
            <a:off x="609600" y="5619750"/>
            <a:ext cx="10972800" cy="781050"/>
            <a:chOff x="609600" y="5619750"/>
            <a:chExt cx="10972800" cy="781050"/>
          </a:xfrm>
        </p:grpSpPr>
        <p:sp>
          <p:nvSpPr>
            <p:cNvPr id="18" name="Rectangle 18"/>
            <p:cNvSpPr/>
            <p:nvPr/>
          </p:nvSpPr>
          <p:spPr>
            <a:xfrm>
              <a:off x="609600" y="5619750"/>
              <a:ext cx="10972800" cy="781050"/>
            </a:xfrm>
            <a:prstGeom prst="roundRect">
              <a:avLst>
                <a:gd name="adj" fmla="val 9756"/>
              </a:avLst>
            </a:prstGeom>
            <a:solidFill>
              <a:srgbClr val="EAF4F6"/>
            </a:solidFill>
            <a:ln>
              <a:noFill/>
            </a:ln>
          </p:spPr>
        </p:sp>
        <p:sp>
          <p:nvSpPr>
            <p:cNvPr id="19" name="TextBox 19"/>
            <p:cNvSpPr txBox="1"/>
            <p:nvPr/>
          </p:nvSpPr>
          <p:spPr>
            <a:xfrm>
              <a:off x="906399" y="5754529"/>
              <a:ext cx="779820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Sık Yanlış Anlama: Tek bir metriğe (accuracy) bakarak model kararı</a:t>
              </a:r>
            </a:p>
          </p:txBody>
        </p:sp>
        <p:sp>
          <p:nvSpPr>
            <p:cNvPr id="20" name="TextBox 20"/>
            <p:cNvSpPr txBox="1"/>
            <p:nvPr/>
          </p:nvSpPr>
          <p:spPr>
            <a:xfrm>
              <a:off x="906399" y="6021229"/>
              <a:ext cx="693937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vermek, dengesiz veri setlerinde en kolay ve en tehlikeli tuzaktır.</a:t>
              </a:r>
            </a:p>
          </p:txBody>
        </p:sp>
      </p:grpSp>
      <p:sp>
        <p:nvSpPr>
          <p:cNvPr id="22" name="TextBox 2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 / 25</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7158262" cy="668845"/>
            <a:chOff x="609600" y="171450"/>
            <a:chExt cx="7158262"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646789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Karmaşıklık matrisi: dört hücre</a:t>
              </a:r>
            </a:p>
          </p:txBody>
        </p:sp>
      </p:grpSp>
      <p:grpSp>
        <p:nvGrpSpPr>
          <p:cNvPr id="10" name="intro-line"/>
          <p:cNvGrpSpPr/>
          <p:nvPr/>
        </p:nvGrpSpPr>
        <p:grpSpPr>
          <a:xfrm>
            <a:off x="601599" y="1201579"/>
            <a:ext cx="4681249" cy="308039"/>
            <a:chOff x="601599" y="1201579"/>
            <a:chExt cx="4681249" cy="308039"/>
          </a:xfrm>
        </p:grpSpPr>
        <p:sp>
          <p:nvSpPr>
            <p:cNvPr id="9" name="TextBox 9"/>
            <p:cNvSpPr txBox="1"/>
            <p:nvPr/>
          </p:nvSpPr>
          <p:spPr>
            <a:xfrm>
              <a:off x="601599" y="1201579"/>
              <a:ext cx="4681249"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Her tahmin dört olası sonuçtan birine düşer:</a:t>
              </a:r>
            </a:p>
          </p:txBody>
        </p:sp>
      </p:grpSp>
      <p:grpSp>
        <p:nvGrpSpPr>
          <p:cNvPr id="13" name="def-tp"/>
          <p:cNvGrpSpPr/>
          <p:nvPr/>
        </p:nvGrpSpPr>
        <p:grpSpPr>
          <a:xfrm>
            <a:off x="628650" y="1715929"/>
            <a:ext cx="4635532" cy="555688"/>
            <a:chOff x="628650" y="1715929"/>
            <a:chExt cx="4635532" cy="555688"/>
          </a:xfrm>
        </p:grpSpPr>
        <p:sp>
          <p:nvSpPr>
            <p:cNvPr id="11" name="Ellipse 11"/>
            <p:cNvSpPr/>
            <p:nvPr/>
          </p:nvSpPr>
          <p:spPr>
            <a:xfrm>
              <a:off x="628650" y="1771650"/>
              <a:ext cx="114300" cy="114300"/>
            </a:xfrm>
            <a:prstGeom prst="ellipse">
              <a:avLst/>
            </a:prstGeom>
            <a:solidFill>
              <a:srgbClr val="00A6A6"/>
            </a:solidFill>
            <a:ln>
              <a:noFill/>
            </a:ln>
          </p:spPr>
        </p:sp>
        <p:sp>
          <p:nvSpPr>
            <p:cNvPr id="12" name="TextBox 12"/>
            <p:cNvSpPr txBox="1"/>
            <p:nvPr/>
          </p:nvSpPr>
          <p:spPr>
            <a:xfrm>
              <a:off x="906399" y="1715929"/>
              <a:ext cx="4357783" cy="55568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TP — Gerçek Pozitif:</a:t>
              </a:r>
              <a:r>
                <a:rPr lang="tr-TR" sz="1580" dirty="0">
                  <a:solidFill>
                    <a:srgbClr val="172B3A"/>
                  </a:solidFill>
                  <a:latin typeface="+mn-lt"/>
                  <a:ea typeface="+mn-ea"/>
                  <a:cs typeface="+mn-cs"/>
                </a:rPr>
                <a:t xml:space="preserve"> Model 'pozitif' dedi ve</a:t>
              </a:r>
              <a:br/>
              <a:r>
                <a:rPr lang="tr-TR" sz="1580" dirty="0">
                  <a:solidFill>
                    <a:srgbClr val="172B3A"/>
                  </a:solidFill>
                  <a:latin typeface="+mn-lt"/>
                  <a:ea typeface="+mn-ea"/>
                  <a:cs typeface="+mn-cs"/>
                </a:rPr>
                <a:t>gerçekten pozitifti (doğru alarm).</a:t>
              </a:r>
            </a:p>
          </p:txBody>
        </p:sp>
      </p:grpSp>
      <p:grpSp>
        <p:nvGrpSpPr>
          <p:cNvPr id="16" name="def-fn"/>
          <p:cNvGrpSpPr/>
          <p:nvPr/>
        </p:nvGrpSpPr>
        <p:grpSpPr>
          <a:xfrm>
            <a:off x="628650" y="2363629"/>
            <a:ext cx="4836192" cy="555688"/>
            <a:chOff x="628650" y="2363629"/>
            <a:chExt cx="4836192" cy="555688"/>
          </a:xfrm>
        </p:grpSpPr>
        <p:sp>
          <p:nvSpPr>
            <p:cNvPr id="14" name="Ellipse 14"/>
            <p:cNvSpPr/>
            <p:nvPr/>
          </p:nvSpPr>
          <p:spPr>
            <a:xfrm>
              <a:off x="628650" y="2419350"/>
              <a:ext cx="114300" cy="114300"/>
            </a:xfrm>
            <a:prstGeom prst="ellipse">
              <a:avLst/>
            </a:prstGeom>
            <a:solidFill>
              <a:srgbClr val="52616B"/>
            </a:solidFill>
            <a:ln>
              <a:noFill/>
            </a:ln>
          </p:spPr>
        </p:sp>
        <p:sp>
          <p:nvSpPr>
            <p:cNvPr id="15" name="TextBox 15"/>
            <p:cNvSpPr txBox="1"/>
            <p:nvPr/>
          </p:nvSpPr>
          <p:spPr>
            <a:xfrm>
              <a:off x="906399" y="2363629"/>
              <a:ext cx="4558443" cy="55568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FN — Yanlış Negatif:</a:t>
              </a:r>
              <a:r>
                <a:rPr lang="tr-TR" sz="1580" dirty="0">
                  <a:solidFill>
                    <a:srgbClr val="172B3A"/>
                  </a:solidFill>
                  <a:latin typeface="+mn-lt"/>
                  <a:ea typeface="+mn-ea"/>
                  <a:cs typeface="+mn-cs"/>
                </a:rPr>
                <a:t xml:space="preserve"> Model 'negatif' dedi ama</a:t>
              </a:r>
              <a:br/>
              <a:r>
                <a:rPr lang="tr-TR" sz="1580" dirty="0">
                  <a:solidFill>
                    <a:srgbClr val="172B3A"/>
                  </a:solidFill>
                  <a:latin typeface="+mn-lt"/>
                  <a:ea typeface="+mn-ea"/>
                  <a:cs typeface="+mn-cs"/>
                </a:rPr>
                <a:t>aslında pozitifti (kaçırılan sinyal).</a:t>
              </a:r>
            </a:p>
          </p:txBody>
        </p:sp>
      </p:grpSp>
      <p:grpSp>
        <p:nvGrpSpPr>
          <p:cNvPr id="19" name="def-fp"/>
          <p:cNvGrpSpPr/>
          <p:nvPr/>
        </p:nvGrpSpPr>
        <p:grpSpPr>
          <a:xfrm>
            <a:off x="628650" y="3011329"/>
            <a:ext cx="4733353" cy="555688"/>
            <a:chOff x="628650" y="3011329"/>
            <a:chExt cx="4733353" cy="555688"/>
          </a:xfrm>
        </p:grpSpPr>
        <p:sp>
          <p:nvSpPr>
            <p:cNvPr id="17" name="Ellipse 17"/>
            <p:cNvSpPr/>
            <p:nvPr/>
          </p:nvSpPr>
          <p:spPr>
            <a:xfrm>
              <a:off x="628650" y="3067050"/>
              <a:ext cx="114300" cy="114300"/>
            </a:xfrm>
            <a:prstGeom prst="ellipse">
              <a:avLst/>
            </a:prstGeom>
            <a:solidFill>
              <a:srgbClr val="52616B"/>
            </a:solidFill>
            <a:ln>
              <a:noFill/>
            </a:ln>
          </p:spPr>
        </p:sp>
        <p:sp>
          <p:nvSpPr>
            <p:cNvPr id="18" name="TextBox 18"/>
            <p:cNvSpPr txBox="1"/>
            <p:nvPr/>
          </p:nvSpPr>
          <p:spPr>
            <a:xfrm>
              <a:off x="906399" y="3011329"/>
              <a:ext cx="4455604" cy="55568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FP — Yanlış Pozitif:</a:t>
              </a:r>
              <a:r>
                <a:rPr lang="tr-TR" sz="1580" dirty="0">
                  <a:solidFill>
                    <a:srgbClr val="172B3A"/>
                  </a:solidFill>
                  <a:latin typeface="+mn-lt"/>
                  <a:ea typeface="+mn-ea"/>
                  <a:cs typeface="+mn-cs"/>
                </a:rPr>
                <a:t xml:space="preserve"> Model 'pozitif' dedi ama</a:t>
              </a:r>
              <a:br/>
              <a:r>
                <a:rPr lang="tr-TR" sz="1580" dirty="0">
                  <a:solidFill>
                    <a:srgbClr val="172B3A"/>
                  </a:solidFill>
                  <a:latin typeface="+mn-lt"/>
                  <a:ea typeface="+mn-ea"/>
                  <a:cs typeface="+mn-cs"/>
                </a:rPr>
                <a:t>aslında negatifti (yanlış alarm).</a:t>
              </a:r>
            </a:p>
          </p:txBody>
        </p:sp>
      </p:grpSp>
      <p:grpSp>
        <p:nvGrpSpPr>
          <p:cNvPr id="22" name="def-tn"/>
          <p:cNvGrpSpPr/>
          <p:nvPr/>
        </p:nvGrpSpPr>
        <p:grpSpPr>
          <a:xfrm>
            <a:off x="628650" y="3659029"/>
            <a:ext cx="4738370" cy="555688"/>
            <a:chOff x="628650" y="3659029"/>
            <a:chExt cx="4738370" cy="555688"/>
          </a:xfrm>
        </p:grpSpPr>
        <p:sp>
          <p:nvSpPr>
            <p:cNvPr id="20" name="Ellipse 20"/>
            <p:cNvSpPr/>
            <p:nvPr/>
          </p:nvSpPr>
          <p:spPr>
            <a:xfrm>
              <a:off x="628650" y="3714750"/>
              <a:ext cx="114300" cy="114300"/>
            </a:xfrm>
            <a:prstGeom prst="ellipse">
              <a:avLst/>
            </a:prstGeom>
            <a:solidFill>
              <a:srgbClr val="00A6A6"/>
            </a:solidFill>
            <a:ln>
              <a:noFill/>
            </a:ln>
          </p:spPr>
        </p:sp>
        <p:sp>
          <p:nvSpPr>
            <p:cNvPr id="21" name="TextBox 21"/>
            <p:cNvSpPr txBox="1"/>
            <p:nvPr/>
          </p:nvSpPr>
          <p:spPr>
            <a:xfrm>
              <a:off x="906399" y="3659029"/>
              <a:ext cx="4460621" cy="55568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TN — Gerçek Negatif:</a:t>
              </a:r>
              <a:r>
                <a:rPr lang="tr-TR" sz="1580" dirty="0">
                  <a:solidFill>
                    <a:srgbClr val="172B3A"/>
                  </a:solidFill>
                  <a:latin typeface="+mn-lt"/>
                  <a:ea typeface="+mn-ea"/>
                  <a:cs typeface="+mn-cs"/>
                </a:rPr>
                <a:t xml:space="preserve"> Model 'negatif' dedi ve</a:t>
              </a:r>
              <a:br/>
              <a:r>
                <a:rPr lang="tr-TR" sz="1580" dirty="0">
                  <a:solidFill>
                    <a:srgbClr val="172B3A"/>
                  </a:solidFill>
                  <a:latin typeface="+mn-lt"/>
                  <a:ea typeface="+mn-ea"/>
                  <a:cs typeface="+mn-cs"/>
                </a:rPr>
                <a:t>gerçekten negatifti.</a:t>
              </a:r>
            </a:p>
          </p:txBody>
        </p:sp>
      </p:grpSp>
      <p:grpSp>
        <p:nvGrpSpPr>
          <p:cNvPr id="25" name="history-note"/>
          <p:cNvGrpSpPr/>
          <p:nvPr/>
        </p:nvGrpSpPr>
        <p:grpSpPr>
          <a:xfrm>
            <a:off x="609600" y="4381500"/>
            <a:ext cx="5905500" cy="861251"/>
            <a:chOff x="609600" y="4381500"/>
            <a:chExt cx="5905500" cy="861251"/>
          </a:xfrm>
        </p:grpSpPr>
        <p:sp>
          <p:nvSpPr>
            <p:cNvPr id="23" name="Rectangle 23"/>
            <p:cNvSpPr/>
            <p:nvPr/>
          </p:nvSpPr>
          <p:spPr>
            <a:xfrm>
              <a:off x="609600" y="4381500"/>
              <a:ext cx="5905500" cy="857250"/>
            </a:xfrm>
            <a:prstGeom prst="roundRect">
              <a:avLst>
                <a:gd name="adj" fmla="val 8889"/>
              </a:avLst>
            </a:prstGeom>
            <a:solidFill>
              <a:srgbClr val="EAF4F6"/>
            </a:solidFill>
            <a:ln>
              <a:noFill/>
            </a:ln>
          </p:spPr>
        </p:sp>
        <p:sp>
          <p:nvSpPr>
            <p:cNvPr id="24" name="TextBox 24"/>
            <p:cNvSpPr txBox="1"/>
            <p:nvPr/>
          </p:nvSpPr>
          <p:spPr>
            <a:xfrm>
              <a:off x="831342" y="4521518"/>
              <a:ext cx="4077081" cy="7212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Köken: İkinci Dünya Savaşı radar sinyal tespiti —</a:t>
              </a:r>
              <a:br/>
              <a:r>
                <a:rPr lang="tr-TR" sz="1350" dirty="0">
                  <a:solidFill>
                    <a:srgbClr val="172B3A"/>
                  </a:solidFill>
                  <a:latin typeface="+mn-lt"/>
                  <a:ea typeface="+mn-ea"/>
                  <a:cs typeface="+mn-cs"/>
                </a:rPr>
                <a:t>'gerçek sinyal' ile 'yanlış alarmı' ayırt etme</a:t>
              </a:r>
              <a:br/>
              <a:r>
                <a:rPr lang="tr-TR" sz="1350" dirty="0">
                  <a:solidFill>
                    <a:srgbClr val="172B3A"/>
                  </a:solidFill>
                  <a:latin typeface="+mn-lt"/>
                  <a:ea typeface="+mn-ea"/>
                  <a:cs typeface="+mn-cs"/>
                </a:rPr>
                <a:t>ihtiyacından doğdu.</a:t>
              </a:r>
            </a:p>
          </p:txBody>
        </p:sp>
      </p:grpSp>
      <p:grpSp>
        <p:nvGrpSpPr>
          <p:cNvPr id="42" name="matrix-diagram"/>
          <p:cNvGrpSpPr/>
          <p:nvPr/>
        </p:nvGrpSpPr>
        <p:grpSpPr>
          <a:xfrm>
            <a:off x="6520434" y="1775460"/>
            <a:ext cx="4147566" cy="3272790"/>
            <a:chOff x="6520434" y="1775460"/>
            <a:chExt cx="4147566" cy="3272790"/>
          </a:xfrm>
        </p:grpSpPr>
        <p:sp>
          <p:nvSpPr>
            <p:cNvPr id="26" name="TextBox 26"/>
            <p:cNvSpPr txBox="1"/>
            <p:nvPr/>
          </p:nvSpPr>
          <p:spPr>
            <a:xfrm>
              <a:off x="7340287" y="1775460"/>
              <a:ext cx="1226175"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Tahmin: Pozitif</a:t>
              </a:r>
            </a:p>
          </p:txBody>
        </p:sp>
        <p:sp>
          <p:nvSpPr>
            <p:cNvPr id="27" name="TextBox 27"/>
            <p:cNvSpPr txBox="1"/>
            <p:nvPr/>
          </p:nvSpPr>
          <p:spPr>
            <a:xfrm>
              <a:off x="9129669" y="1775460"/>
              <a:ext cx="1266913"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Tahmin: Negatif</a:t>
              </a:r>
            </a:p>
          </p:txBody>
        </p:sp>
        <p:sp>
          <p:nvSpPr>
            <p:cNvPr id="28" name="TextBox 28"/>
            <p:cNvSpPr txBox="1"/>
            <p:nvPr/>
          </p:nvSpPr>
          <p:spPr>
            <a:xfrm>
              <a:off x="6520434" y="2727960"/>
              <a:ext cx="598932" cy="425196"/>
            </a:xfrm>
            <a:prstGeom prst="rect">
              <a:avLst/>
            </a:prstGeom>
            <a:noFill/>
            <a:ln>
              <a:noFill/>
            </a:ln>
          </p:spPr>
          <p:txBody>
            <a:bodyPr wrap="none" lIns="0" tIns="0" rIns="0" bIns="0" anchor="t" anchorCtr="0">
              <a:spAutoFit/>
            </a:bodyPr>
            <a:lstStyle/>
            <a:p>
              <a:pPr algn="ctr">
                <a:lnSpc>
                  <a:spcPts val="1500"/>
                </a:lnSpc>
              </a:pPr>
              <a:r>
                <a:rPr lang="tr-TR" sz="1200" dirty="0">
                  <a:solidFill>
                    <a:srgbClr val="52616B"/>
                  </a:solidFill>
                  <a:latin typeface="+mn-lt"/>
                  <a:ea typeface="+mn-ea"/>
                  <a:cs typeface="+mn-cs"/>
                </a:rPr>
                <a:t>Gerçek:</a:t>
              </a:r>
              <a:br/>
              <a:r>
                <a:rPr lang="tr-TR" sz="1200" dirty="0">
                  <a:solidFill>
                    <a:srgbClr val="52616B"/>
                  </a:solidFill>
                  <a:latin typeface="+mn-lt"/>
                  <a:ea typeface="+mn-ea"/>
                  <a:cs typeface="+mn-cs"/>
                </a:rPr>
                <a:t>Pozitif</a:t>
              </a:r>
            </a:p>
          </p:txBody>
        </p:sp>
        <p:sp>
          <p:nvSpPr>
            <p:cNvPr id="29" name="TextBox 29"/>
            <p:cNvSpPr txBox="1"/>
            <p:nvPr/>
          </p:nvSpPr>
          <p:spPr>
            <a:xfrm>
              <a:off x="6520434" y="4156710"/>
              <a:ext cx="598932" cy="425196"/>
            </a:xfrm>
            <a:prstGeom prst="rect">
              <a:avLst/>
            </a:prstGeom>
            <a:noFill/>
            <a:ln>
              <a:noFill/>
            </a:ln>
          </p:spPr>
          <p:txBody>
            <a:bodyPr wrap="none" lIns="0" tIns="0" rIns="0" bIns="0" anchor="t" anchorCtr="0">
              <a:spAutoFit/>
            </a:bodyPr>
            <a:lstStyle/>
            <a:p>
              <a:pPr algn="ctr">
                <a:lnSpc>
                  <a:spcPts val="1500"/>
                </a:lnSpc>
              </a:pPr>
              <a:r>
                <a:rPr lang="tr-TR" sz="1200" dirty="0">
                  <a:solidFill>
                    <a:srgbClr val="52616B"/>
                  </a:solidFill>
                  <a:latin typeface="+mn-lt"/>
                  <a:ea typeface="+mn-ea"/>
                  <a:cs typeface="+mn-cs"/>
                </a:rPr>
                <a:t>Gerçek:</a:t>
              </a:r>
              <a:br/>
              <a:r>
                <a:rPr lang="tr-TR" sz="1200" dirty="0">
                  <a:solidFill>
                    <a:srgbClr val="52616B"/>
                  </a:solidFill>
                  <a:latin typeface="+mn-lt"/>
                  <a:ea typeface="+mn-ea"/>
                  <a:cs typeface="+mn-cs"/>
                </a:rPr>
                <a:t>Negatif</a:t>
              </a:r>
            </a:p>
          </p:txBody>
        </p:sp>
        <p:sp>
          <p:nvSpPr>
            <p:cNvPr id="30" name="Rectangle 30"/>
            <p:cNvSpPr/>
            <p:nvPr/>
          </p:nvSpPr>
          <p:spPr>
            <a:xfrm>
              <a:off x="7048500" y="2190750"/>
              <a:ext cx="1809750" cy="1428750"/>
            </a:xfrm>
            <a:prstGeom prst="rect">
              <a:avLst/>
            </a:prstGeom>
            <a:solidFill>
              <a:srgbClr val="EAF4F6"/>
            </a:solidFill>
            <a:ln w="14288">
              <a:solidFill>
                <a:srgbClr val="00A6A6"/>
              </a:solidFill>
            </a:ln>
          </p:spPr>
        </p:sp>
        <p:sp>
          <p:nvSpPr>
            <p:cNvPr id="31" name="TextBox 31"/>
            <p:cNvSpPr txBox="1"/>
            <p:nvPr/>
          </p:nvSpPr>
          <p:spPr>
            <a:xfrm>
              <a:off x="7730955" y="2582228"/>
              <a:ext cx="444840" cy="498729"/>
            </a:xfrm>
            <a:prstGeom prst="rect">
              <a:avLst/>
            </a:prstGeom>
            <a:noFill/>
            <a:ln>
              <a:noFill/>
            </a:ln>
          </p:spPr>
          <p:txBody>
            <a:bodyPr wrap="none" lIns="0" tIns="0" rIns="0" bIns="0" anchor="t" anchorCtr="0">
              <a:spAutoFit/>
            </a:bodyPr>
            <a:lstStyle/>
            <a:p>
              <a:pPr algn="ctr"/>
              <a:r>
                <a:rPr lang="tr-TR" sz="2550" b="1" dirty="0">
                  <a:solidFill>
                    <a:srgbClr val="12355B"/>
                  </a:solidFill>
                  <a:latin typeface="+mn-lt"/>
                  <a:ea typeface="+mn-ea"/>
                  <a:cs typeface="+mn-cs"/>
                </a:rPr>
                <a:t>TP</a:t>
              </a:r>
            </a:p>
          </p:txBody>
        </p:sp>
        <p:sp>
          <p:nvSpPr>
            <p:cNvPr id="32" name="TextBox 32"/>
            <p:cNvSpPr txBox="1"/>
            <p:nvPr/>
          </p:nvSpPr>
          <p:spPr>
            <a:xfrm>
              <a:off x="7462906" y="2983706"/>
              <a:ext cx="980938"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Doğru pozitif</a:t>
              </a:r>
            </a:p>
          </p:txBody>
        </p:sp>
        <p:sp>
          <p:nvSpPr>
            <p:cNvPr id="33" name="Rectangle 33"/>
            <p:cNvSpPr/>
            <p:nvPr/>
          </p:nvSpPr>
          <p:spPr>
            <a:xfrm>
              <a:off x="8858250" y="2190750"/>
              <a:ext cx="1809750" cy="1428750"/>
            </a:xfrm>
            <a:prstGeom prst="rect">
              <a:avLst/>
            </a:prstGeom>
            <a:solidFill>
              <a:srgbClr val="FFFFFF"/>
            </a:solidFill>
            <a:ln w="14288">
              <a:solidFill>
                <a:srgbClr val="B8CBD3"/>
              </a:solidFill>
            </a:ln>
          </p:spPr>
        </p:sp>
        <p:sp>
          <p:nvSpPr>
            <p:cNvPr id="34" name="TextBox 34"/>
            <p:cNvSpPr txBox="1"/>
            <p:nvPr/>
          </p:nvSpPr>
          <p:spPr>
            <a:xfrm>
              <a:off x="9540705" y="2582228"/>
              <a:ext cx="444840" cy="498729"/>
            </a:xfrm>
            <a:prstGeom prst="rect">
              <a:avLst/>
            </a:prstGeom>
            <a:noFill/>
            <a:ln>
              <a:noFill/>
            </a:ln>
          </p:spPr>
          <p:txBody>
            <a:bodyPr wrap="none" lIns="0" tIns="0" rIns="0" bIns="0" anchor="t" anchorCtr="0">
              <a:spAutoFit/>
            </a:bodyPr>
            <a:lstStyle/>
            <a:p>
              <a:pPr algn="ctr"/>
              <a:r>
                <a:rPr lang="tr-TR" sz="2550" b="1" dirty="0">
                  <a:solidFill>
                    <a:srgbClr val="12355B"/>
                  </a:solidFill>
                  <a:latin typeface="+mn-lt"/>
                  <a:ea typeface="+mn-ea"/>
                  <a:cs typeface="+mn-cs"/>
                </a:rPr>
                <a:t>FN</a:t>
              </a:r>
            </a:p>
          </p:txBody>
        </p:sp>
        <p:sp>
          <p:nvSpPr>
            <p:cNvPr id="35" name="TextBox 35"/>
            <p:cNvSpPr txBox="1"/>
            <p:nvPr/>
          </p:nvSpPr>
          <p:spPr>
            <a:xfrm>
              <a:off x="9125700" y="2983706"/>
              <a:ext cx="1274850"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Kaçırılan pozitif</a:t>
              </a:r>
            </a:p>
          </p:txBody>
        </p:sp>
        <p:sp>
          <p:nvSpPr>
            <p:cNvPr id="36" name="Rectangle 36"/>
            <p:cNvSpPr/>
            <p:nvPr/>
          </p:nvSpPr>
          <p:spPr>
            <a:xfrm>
              <a:off x="7048500" y="3619500"/>
              <a:ext cx="1809750" cy="1428750"/>
            </a:xfrm>
            <a:prstGeom prst="rect">
              <a:avLst/>
            </a:prstGeom>
            <a:solidFill>
              <a:srgbClr val="FFFFFF"/>
            </a:solidFill>
            <a:ln w="14288">
              <a:solidFill>
                <a:srgbClr val="B8CBD3"/>
              </a:solidFill>
            </a:ln>
          </p:spPr>
        </p:sp>
        <p:sp>
          <p:nvSpPr>
            <p:cNvPr id="37" name="TextBox 37"/>
            <p:cNvSpPr txBox="1"/>
            <p:nvPr/>
          </p:nvSpPr>
          <p:spPr>
            <a:xfrm>
              <a:off x="7730955" y="4010978"/>
              <a:ext cx="444840" cy="498729"/>
            </a:xfrm>
            <a:prstGeom prst="rect">
              <a:avLst/>
            </a:prstGeom>
            <a:noFill/>
            <a:ln>
              <a:noFill/>
            </a:ln>
          </p:spPr>
          <p:txBody>
            <a:bodyPr wrap="none" lIns="0" tIns="0" rIns="0" bIns="0" anchor="t" anchorCtr="0">
              <a:spAutoFit/>
            </a:bodyPr>
            <a:lstStyle/>
            <a:p>
              <a:pPr algn="ctr"/>
              <a:r>
                <a:rPr lang="tr-TR" sz="2550" b="1" dirty="0">
                  <a:solidFill>
                    <a:srgbClr val="12355B"/>
                  </a:solidFill>
                  <a:latin typeface="+mn-lt"/>
                  <a:ea typeface="+mn-ea"/>
                  <a:cs typeface="+mn-cs"/>
                </a:rPr>
                <a:t>FP</a:t>
              </a:r>
            </a:p>
          </p:txBody>
        </p:sp>
        <p:sp>
          <p:nvSpPr>
            <p:cNvPr id="38" name="TextBox 38"/>
            <p:cNvSpPr txBox="1"/>
            <p:nvPr/>
          </p:nvSpPr>
          <p:spPr>
            <a:xfrm>
              <a:off x="7489220" y="4412456"/>
              <a:ext cx="928309"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Yanlış alarm</a:t>
              </a:r>
            </a:p>
          </p:txBody>
        </p:sp>
        <p:sp>
          <p:nvSpPr>
            <p:cNvPr id="39" name="Rectangle 39"/>
            <p:cNvSpPr/>
            <p:nvPr/>
          </p:nvSpPr>
          <p:spPr>
            <a:xfrm>
              <a:off x="8858250" y="3619500"/>
              <a:ext cx="1809750" cy="1428750"/>
            </a:xfrm>
            <a:prstGeom prst="rect">
              <a:avLst/>
            </a:prstGeom>
            <a:solidFill>
              <a:srgbClr val="EAF4F6"/>
            </a:solidFill>
            <a:ln w="14288">
              <a:solidFill>
                <a:srgbClr val="00A6A6"/>
              </a:solidFill>
            </a:ln>
          </p:spPr>
        </p:sp>
        <p:sp>
          <p:nvSpPr>
            <p:cNvPr id="40" name="TextBox 40"/>
            <p:cNvSpPr txBox="1"/>
            <p:nvPr/>
          </p:nvSpPr>
          <p:spPr>
            <a:xfrm>
              <a:off x="9540705" y="4010978"/>
              <a:ext cx="444840" cy="498729"/>
            </a:xfrm>
            <a:prstGeom prst="rect">
              <a:avLst/>
            </a:prstGeom>
            <a:noFill/>
            <a:ln>
              <a:noFill/>
            </a:ln>
          </p:spPr>
          <p:txBody>
            <a:bodyPr wrap="none" lIns="0" tIns="0" rIns="0" bIns="0" anchor="t" anchorCtr="0">
              <a:spAutoFit/>
            </a:bodyPr>
            <a:lstStyle/>
            <a:p>
              <a:pPr algn="ctr"/>
              <a:r>
                <a:rPr lang="tr-TR" sz="2550" b="1" dirty="0">
                  <a:solidFill>
                    <a:srgbClr val="12355B"/>
                  </a:solidFill>
                  <a:latin typeface="+mn-lt"/>
                  <a:ea typeface="+mn-ea"/>
                  <a:cs typeface="+mn-cs"/>
                </a:rPr>
                <a:t>TN</a:t>
              </a:r>
            </a:p>
          </p:txBody>
        </p:sp>
        <p:sp>
          <p:nvSpPr>
            <p:cNvPr id="41" name="TextBox 41"/>
            <p:cNvSpPr txBox="1"/>
            <p:nvPr/>
          </p:nvSpPr>
          <p:spPr>
            <a:xfrm>
              <a:off x="9253720" y="4412456"/>
              <a:ext cx="1018809"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Doğru negatif</a:t>
              </a:r>
            </a:p>
          </p:txBody>
        </p:sp>
      </p:grpSp>
      <p:sp>
        <p:nvSpPr>
          <p:cNvPr id="43" name="TextBox 4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 / 25</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8024677" cy="668845"/>
            <a:chOff x="609600" y="171450"/>
            <a:chExt cx="8024677"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733430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Karmaşıklık matrisi: örnek ve yorum</a:t>
              </a:r>
            </a:p>
          </p:txBody>
        </p:sp>
      </p:grpSp>
      <p:grpSp>
        <p:nvGrpSpPr>
          <p:cNvPr id="10" name="setup-note"/>
          <p:cNvGrpSpPr/>
          <p:nvPr/>
        </p:nvGrpSpPr>
        <p:grpSpPr>
          <a:xfrm>
            <a:off x="602361" y="1217771"/>
            <a:ext cx="5448839" cy="278702"/>
            <a:chOff x="602361" y="1217771"/>
            <a:chExt cx="5448839" cy="278702"/>
          </a:xfrm>
        </p:grpSpPr>
        <p:sp>
          <p:nvSpPr>
            <p:cNvPr id="9" name="TextBox 9"/>
            <p:cNvSpPr txBox="1"/>
            <p:nvPr/>
          </p:nvSpPr>
          <p:spPr>
            <a:xfrm>
              <a:off x="602361" y="1217771"/>
              <a:ext cx="5448839" cy="278702"/>
            </a:xfrm>
            <a:prstGeom prst="rect">
              <a:avLst/>
            </a:prstGeom>
            <a:noFill/>
            <a:ln>
              <a:noFill/>
            </a:ln>
          </p:spPr>
          <p:txBody>
            <a:bodyPr wrap="none" lIns="0" tIns="0" rIns="0" bIns="0" anchor="t" anchorCtr="0">
              <a:spAutoFit/>
            </a:bodyPr>
            <a:lstStyle/>
            <a:p>
              <a:pPr algn="l"/>
              <a:r>
                <a:rPr lang="tr-TR" sz="1420" dirty="0">
                  <a:solidFill>
                    <a:srgbClr val="52616B"/>
                  </a:solidFill>
                  <a:latin typeface="+mn-lt"/>
                  <a:ea typeface="+mn-ea"/>
                  <a:cs typeface="+mn-cs"/>
                </a:rPr>
                <a:t>2000 satır, %12 churn, LogisticRegression ile test edildi.</a:t>
              </a:r>
            </a:p>
          </p:txBody>
        </p:sp>
      </p:grpSp>
      <p:grpSp>
        <p:nvGrpSpPr>
          <p:cNvPr id="13" name="interp-1"/>
          <p:cNvGrpSpPr/>
          <p:nvPr/>
        </p:nvGrpSpPr>
        <p:grpSpPr>
          <a:xfrm>
            <a:off x="628650" y="1811179"/>
            <a:ext cx="3524377" cy="555688"/>
            <a:chOff x="628650" y="1811179"/>
            <a:chExt cx="3524377" cy="555688"/>
          </a:xfrm>
        </p:grpSpPr>
        <p:sp>
          <p:nvSpPr>
            <p:cNvPr id="11" name="Ellipse 11"/>
            <p:cNvSpPr/>
            <p:nvPr/>
          </p:nvSpPr>
          <p:spPr>
            <a:xfrm>
              <a:off x="628650" y="1866900"/>
              <a:ext cx="114300" cy="114300"/>
            </a:xfrm>
            <a:prstGeom prst="ellipse">
              <a:avLst/>
            </a:prstGeom>
            <a:solidFill>
              <a:srgbClr val="00A6A6"/>
            </a:solidFill>
            <a:ln>
              <a:noFill/>
            </a:ln>
          </p:spPr>
        </p:sp>
        <p:sp>
          <p:nvSpPr>
            <p:cNvPr id="12" name="TextBox 12"/>
            <p:cNvSpPr txBox="1"/>
            <p:nvPr/>
          </p:nvSpPr>
          <p:spPr>
            <a:xfrm>
              <a:off x="906399" y="1811179"/>
              <a:ext cx="3246628"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500 test örneğinden 462'si doğru</a:t>
              </a:r>
              <a:br/>
              <a:r>
                <a:rPr lang="tr-TR" sz="1580" dirty="0">
                  <a:solidFill>
                    <a:srgbClr val="172B3A"/>
                  </a:solidFill>
                  <a:latin typeface="+mn-lt"/>
                  <a:ea typeface="+mn-ea"/>
                  <a:cs typeface="+mn-cs"/>
                </a:rPr>
                <a:t>sınıflandı (TP + TN = 462).</a:t>
              </a:r>
            </a:p>
          </p:txBody>
        </p:sp>
      </p:grpSp>
      <p:grpSp>
        <p:nvGrpSpPr>
          <p:cNvPr id="16" name="interp-2"/>
          <p:cNvGrpSpPr/>
          <p:nvPr/>
        </p:nvGrpSpPr>
        <p:grpSpPr>
          <a:xfrm>
            <a:off x="628650" y="2496979"/>
            <a:ext cx="4347083" cy="555688"/>
            <a:chOff x="628650" y="2496979"/>
            <a:chExt cx="4347083" cy="555688"/>
          </a:xfrm>
        </p:grpSpPr>
        <p:sp>
          <p:nvSpPr>
            <p:cNvPr id="14" name="Ellipse 14"/>
            <p:cNvSpPr/>
            <p:nvPr/>
          </p:nvSpPr>
          <p:spPr>
            <a:xfrm>
              <a:off x="628650" y="2552700"/>
              <a:ext cx="114300" cy="114300"/>
            </a:xfrm>
            <a:prstGeom prst="ellipse">
              <a:avLst/>
            </a:prstGeom>
            <a:solidFill>
              <a:srgbClr val="52616B"/>
            </a:solidFill>
            <a:ln>
              <a:noFill/>
            </a:ln>
          </p:spPr>
        </p:sp>
        <p:sp>
          <p:nvSpPr>
            <p:cNvPr id="15" name="TextBox 15"/>
            <p:cNvSpPr txBox="1"/>
            <p:nvPr/>
          </p:nvSpPr>
          <p:spPr>
            <a:xfrm>
              <a:off x="906399" y="2496979"/>
              <a:ext cx="4069334"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24 gerçek churn müşterisi kaçırıldı (FN)</a:t>
              </a:r>
            </a:p>
            <a:p>
              <a:pPr algn="l">
                <a:lnSpc>
                  <a:spcPts val="1950"/>
                </a:lnSpc>
              </a:pPr>
              <a:r>
                <a:rPr lang="tr-TR" sz="1580" dirty="0">
                  <a:solidFill>
                    <a:srgbClr val="172B3A"/>
                  </a:solidFill>
                  <a:latin typeface="+mn-lt"/>
                  <a:ea typeface="+mn-ea"/>
                  <a:cs typeface="+mn-cs"/>
                </a:rPr>
                <a:t>— iş açısından en maliyetli hata.</a:t>
              </a:r>
            </a:p>
          </p:txBody>
        </p:sp>
      </p:grpSp>
      <p:grpSp>
        <p:nvGrpSpPr>
          <p:cNvPr id="19" name="interp-3"/>
          <p:cNvGrpSpPr/>
          <p:nvPr/>
        </p:nvGrpSpPr>
        <p:grpSpPr>
          <a:xfrm>
            <a:off x="628650" y="3182779"/>
            <a:ext cx="3905631" cy="555688"/>
            <a:chOff x="628650" y="3182779"/>
            <a:chExt cx="3905631" cy="555688"/>
          </a:xfrm>
        </p:grpSpPr>
        <p:sp>
          <p:nvSpPr>
            <p:cNvPr id="17" name="Ellipse 17"/>
            <p:cNvSpPr/>
            <p:nvPr/>
          </p:nvSpPr>
          <p:spPr>
            <a:xfrm>
              <a:off x="628650" y="3238500"/>
              <a:ext cx="114300" cy="114300"/>
            </a:xfrm>
            <a:prstGeom prst="ellipse">
              <a:avLst/>
            </a:prstGeom>
            <a:solidFill>
              <a:srgbClr val="52616B"/>
            </a:solidFill>
            <a:ln>
              <a:noFill/>
            </a:ln>
          </p:spPr>
        </p:sp>
        <p:sp>
          <p:nvSpPr>
            <p:cNvPr id="18" name="TextBox 18"/>
            <p:cNvSpPr txBox="1"/>
            <p:nvPr/>
          </p:nvSpPr>
          <p:spPr>
            <a:xfrm>
              <a:off x="906399" y="3182779"/>
              <a:ext cx="3627882"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14 sadık müşteri yanlışlıkla 'churn'</a:t>
              </a:r>
              <a:br/>
              <a:r>
                <a:rPr lang="tr-TR" sz="1580" dirty="0">
                  <a:solidFill>
                    <a:srgbClr val="172B3A"/>
                  </a:solidFill>
                  <a:latin typeface="+mn-lt"/>
                  <a:ea typeface="+mn-ea"/>
                  <a:cs typeface="+mn-cs"/>
                </a:rPr>
                <a:t>işaretlendi (FP).</a:t>
              </a:r>
            </a:p>
          </p:txBody>
        </p:sp>
      </p:grpSp>
      <p:grpSp>
        <p:nvGrpSpPr>
          <p:cNvPr id="23" name="interp-4"/>
          <p:cNvGrpSpPr/>
          <p:nvPr/>
        </p:nvGrpSpPr>
        <p:grpSpPr>
          <a:xfrm>
            <a:off x="609600" y="3829050"/>
            <a:ext cx="5334000" cy="880301"/>
            <a:chOff x="609600" y="3829050"/>
            <a:chExt cx="5334000" cy="880301"/>
          </a:xfrm>
        </p:grpSpPr>
        <p:sp>
          <p:nvSpPr>
            <p:cNvPr id="20" name="Rectangle 20"/>
            <p:cNvSpPr/>
            <p:nvPr/>
          </p:nvSpPr>
          <p:spPr>
            <a:xfrm>
              <a:off x="609600" y="3829050"/>
              <a:ext cx="5334000" cy="838200"/>
            </a:xfrm>
            <a:prstGeom prst="roundRect">
              <a:avLst>
                <a:gd name="adj" fmla="val 9091"/>
              </a:avLst>
            </a:prstGeom>
            <a:solidFill>
              <a:srgbClr val="EAF4F6"/>
            </a:solidFill>
            <a:ln>
              <a:noFill/>
            </a:ln>
          </p:spPr>
        </p:sp>
        <p:sp>
          <p:nvSpPr>
            <p:cNvPr id="21" name="TextBox 21"/>
            <p:cNvSpPr txBox="1"/>
            <p:nvPr/>
          </p:nvSpPr>
          <p:spPr>
            <a:xfrm>
              <a:off x="830580" y="3952875"/>
              <a:ext cx="3485049"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Accuracy = (424+38)/500 = %92,4</a:t>
              </a:r>
            </a:p>
          </p:txBody>
        </p:sp>
        <p:sp>
          <p:nvSpPr>
            <p:cNvPr id="22" name="TextBox 22"/>
            <p:cNvSpPr txBox="1"/>
            <p:nvPr/>
          </p:nvSpPr>
          <p:spPr>
            <a:xfrm>
              <a:off x="831342" y="4235768"/>
              <a:ext cx="3477006" cy="473583"/>
            </a:xfrm>
            <a:prstGeom prst="rect">
              <a:avLst/>
            </a:prstGeom>
            <a:noFill/>
            <a:ln>
              <a:noFill/>
            </a:ln>
          </p:spPr>
          <p:txBody>
            <a:bodyPr wrap="none" lIns="0" tIns="0" rIns="0" bIns="0" anchor="t" anchorCtr="0">
              <a:spAutoFit/>
            </a:bodyPr>
            <a:lstStyle/>
            <a:p>
              <a:pPr algn="l">
                <a:lnSpc>
                  <a:spcPts val="1650"/>
                </a:lnSpc>
              </a:pPr>
              <a:r>
                <a:rPr lang="tr-TR" sz="1350" dirty="0">
                  <a:solidFill>
                    <a:srgbClr val="172B3A"/>
                  </a:solidFill>
                  <a:latin typeface="+mn-lt"/>
                  <a:ea typeface="+mn-ea"/>
                  <a:cs typeface="+mn-cs"/>
                </a:rPr>
                <a:t>Yüksek görünse de churn sınıfının küçük</a:t>
              </a:r>
              <a:br/>
              <a:r>
                <a:rPr lang="tr-TR" sz="1350" dirty="0">
                  <a:solidFill>
                    <a:srgbClr val="172B3A"/>
                  </a:solidFill>
                  <a:latin typeface="+mn-lt"/>
                  <a:ea typeface="+mn-ea"/>
                  <a:cs typeface="+mn-cs"/>
                </a:rPr>
                <a:t>olduğunu unutmayın.</a:t>
              </a:r>
            </a:p>
          </p:txBody>
        </p:sp>
      </p:grpSp>
      <p:grpSp>
        <p:nvGrpSpPr>
          <p:cNvPr id="27" name="common-errors"/>
          <p:cNvGrpSpPr/>
          <p:nvPr/>
        </p:nvGrpSpPr>
        <p:grpSpPr>
          <a:xfrm>
            <a:off x="601980" y="4886325"/>
            <a:ext cx="3957828" cy="1232726"/>
            <a:chOff x="601980" y="4886325"/>
            <a:chExt cx="3957828" cy="1232726"/>
          </a:xfrm>
        </p:grpSpPr>
        <p:sp>
          <p:nvSpPr>
            <p:cNvPr id="24" name="TextBox 24"/>
            <p:cNvSpPr txBox="1"/>
            <p:nvPr/>
          </p:nvSpPr>
          <p:spPr>
            <a:xfrm>
              <a:off x="601980" y="4886325"/>
              <a:ext cx="1548478"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Yaygın hatalar</a:t>
              </a:r>
            </a:p>
          </p:txBody>
        </p:sp>
        <p:sp>
          <p:nvSpPr>
            <p:cNvPr id="25" name="TextBox 25"/>
            <p:cNvSpPr txBox="1"/>
            <p:nvPr/>
          </p:nvSpPr>
          <p:spPr>
            <a:xfrm>
              <a:off x="602742" y="5169218"/>
              <a:ext cx="3888486" cy="473583"/>
            </a:xfrm>
            <a:prstGeom prst="rect">
              <a:avLst/>
            </a:prstGeom>
            <a:noFill/>
            <a:ln>
              <a:noFill/>
            </a:ln>
          </p:spPr>
          <p:txBody>
            <a:bodyPr wrap="none" lIns="0" tIns="0" rIns="0" bIns="0" anchor="t" anchorCtr="0">
              <a:spAutoFit/>
            </a:bodyPr>
            <a:lstStyle/>
            <a:p>
              <a:pPr algn="l" marL="145732" indent="-145732">
                <a:lnSpc>
                  <a:spcPts val="1650"/>
                </a:lnSpc>
                <a:buClr>
                  <a:srgbClr val="172B3A"/>
                </a:buClr>
                <a:buSzTx/>
                <a:buFontTx/>
                <a:buChar char="•"/>
              </a:pPr>
              <a:r>
                <a:rPr lang="tr-TR" sz="1350" dirty="0">
                  <a:solidFill>
                    <a:srgbClr val="172B3A"/>
                  </a:solidFill>
                  <a:latin typeface="+mn-lt"/>
                  <a:ea typeface="+mn-ea"/>
                  <a:cs typeface="+mn-cs"/>
                </a:rPr>
                <a:t>confusion_matrix(y_pred, y_true) sırasını</a:t>
              </a:r>
              <a:br/>
              <a:r>
                <a:rPr lang="tr-TR" sz="1350" dirty="0">
                  <a:solidFill>
                    <a:srgbClr val="172B3A"/>
                  </a:solidFill>
                  <a:latin typeface="+mn-lt"/>
                  <a:ea typeface="+mn-ea"/>
                  <a:cs typeface="+mn-cs"/>
                </a:rPr>
                <a:t>karıştırmak sonucu tersine çevirir.</a:t>
              </a:r>
            </a:p>
          </p:txBody>
        </p:sp>
        <p:sp>
          <p:nvSpPr>
            <p:cNvPr id="26" name="TextBox 26"/>
            <p:cNvSpPr txBox="1"/>
            <p:nvPr/>
          </p:nvSpPr>
          <p:spPr>
            <a:xfrm>
              <a:off x="602742" y="5645468"/>
              <a:ext cx="3957066" cy="473583"/>
            </a:xfrm>
            <a:prstGeom prst="rect">
              <a:avLst/>
            </a:prstGeom>
            <a:noFill/>
            <a:ln>
              <a:noFill/>
            </a:ln>
          </p:spPr>
          <p:txBody>
            <a:bodyPr wrap="none" lIns="0" tIns="0" rIns="0" bIns="0" anchor="t" anchorCtr="0">
              <a:spAutoFit/>
            </a:bodyPr>
            <a:lstStyle/>
            <a:p>
              <a:pPr algn="l" marL="145732" indent="-145732">
                <a:lnSpc>
                  <a:spcPts val="1650"/>
                </a:lnSpc>
                <a:buClr>
                  <a:srgbClr val="172B3A"/>
                </a:buClr>
                <a:buSzTx/>
                <a:buFontTx/>
                <a:buChar char="•"/>
              </a:pPr>
              <a:r>
                <a:rPr lang="tr-TR" sz="1350" dirty="0">
                  <a:solidFill>
                    <a:srgbClr val="172B3A"/>
                  </a:solidFill>
                  <a:latin typeface="+mn-lt"/>
                  <a:ea typeface="+mn-ea"/>
                  <a:cs typeface="+mn-cs"/>
                </a:rPr>
                <a:t>train_test_split'te stratify=y kullanılmazsa</a:t>
              </a:r>
              <a:br/>
              <a:r>
                <a:rPr lang="tr-TR" sz="1350" dirty="0">
                  <a:solidFill>
                    <a:srgbClr val="172B3A"/>
                  </a:solidFill>
                  <a:latin typeface="+mn-lt"/>
                  <a:ea typeface="+mn-ea"/>
                  <a:cs typeface="+mn-cs"/>
                </a:rPr>
                <a:t>churn oranı test setinde bozulabilir.</a:t>
              </a:r>
            </a:p>
          </p:txBody>
        </p:sp>
      </p:grpSp>
      <p:grpSp>
        <p:nvGrpSpPr>
          <p:cNvPr id="44" name="matrix-example"/>
          <p:cNvGrpSpPr/>
          <p:nvPr/>
        </p:nvGrpSpPr>
        <p:grpSpPr>
          <a:xfrm>
            <a:off x="6710934" y="1775460"/>
            <a:ext cx="3957066" cy="3272790"/>
            <a:chOff x="6710934" y="1775460"/>
            <a:chExt cx="3957066" cy="3272790"/>
          </a:xfrm>
        </p:grpSpPr>
        <p:sp>
          <p:nvSpPr>
            <p:cNvPr id="28" name="TextBox 28"/>
            <p:cNvSpPr txBox="1"/>
            <p:nvPr/>
          </p:nvSpPr>
          <p:spPr>
            <a:xfrm>
              <a:off x="7340287" y="1775460"/>
              <a:ext cx="1226175"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Tahmin: Pozitif</a:t>
              </a:r>
            </a:p>
          </p:txBody>
        </p:sp>
        <p:sp>
          <p:nvSpPr>
            <p:cNvPr id="29" name="TextBox 29"/>
            <p:cNvSpPr txBox="1"/>
            <p:nvPr/>
          </p:nvSpPr>
          <p:spPr>
            <a:xfrm>
              <a:off x="9129669" y="1775460"/>
              <a:ext cx="1266913"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Tahmin: Negatif</a:t>
              </a:r>
            </a:p>
          </p:txBody>
        </p:sp>
        <p:sp>
          <p:nvSpPr>
            <p:cNvPr id="30" name="TextBox 30"/>
            <p:cNvSpPr txBox="1"/>
            <p:nvPr/>
          </p:nvSpPr>
          <p:spPr>
            <a:xfrm>
              <a:off x="6710934" y="2727960"/>
              <a:ext cx="598932" cy="425196"/>
            </a:xfrm>
            <a:prstGeom prst="rect">
              <a:avLst/>
            </a:prstGeom>
            <a:noFill/>
            <a:ln>
              <a:noFill/>
            </a:ln>
          </p:spPr>
          <p:txBody>
            <a:bodyPr wrap="none" lIns="0" tIns="0" rIns="0" bIns="0" anchor="t" anchorCtr="0">
              <a:spAutoFit/>
            </a:bodyPr>
            <a:lstStyle/>
            <a:p>
              <a:pPr algn="ctr">
                <a:lnSpc>
                  <a:spcPts val="1500"/>
                </a:lnSpc>
              </a:pPr>
              <a:r>
                <a:rPr lang="tr-TR" sz="1200" dirty="0">
                  <a:solidFill>
                    <a:srgbClr val="52616B"/>
                  </a:solidFill>
                  <a:latin typeface="+mn-lt"/>
                  <a:ea typeface="+mn-ea"/>
                  <a:cs typeface="+mn-cs"/>
                </a:rPr>
                <a:t>Gerçek:</a:t>
              </a:r>
              <a:br/>
              <a:r>
                <a:rPr lang="tr-TR" sz="1200" dirty="0">
                  <a:solidFill>
                    <a:srgbClr val="52616B"/>
                  </a:solidFill>
                  <a:latin typeface="+mn-lt"/>
                  <a:ea typeface="+mn-ea"/>
                  <a:cs typeface="+mn-cs"/>
                </a:rPr>
                <a:t>Pozitif</a:t>
              </a:r>
            </a:p>
          </p:txBody>
        </p:sp>
        <p:sp>
          <p:nvSpPr>
            <p:cNvPr id="31" name="TextBox 31"/>
            <p:cNvSpPr txBox="1"/>
            <p:nvPr/>
          </p:nvSpPr>
          <p:spPr>
            <a:xfrm>
              <a:off x="6710934" y="4156710"/>
              <a:ext cx="598932" cy="425196"/>
            </a:xfrm>
            <a:prstGeom prst="rect">
              <a:avLst/>
            </a:prstGeom>
            <a:noFill/>
            <a:ln>
              <a:noFill/>
            </a:ln>
          </p:spPr>
          <p:txBody>
            <a:bodyPr wrap="none" lIns="0" tIns="0" rIns="0" bIns="0" anchor="t" anchorCtr="0">
              <a:spAutoFit/>
            </a:bodyPr>
            <a:lstStyle/>
            <a:p>
              <a:pPr algn="ctr">
                <a:lnSpc>
                  <a:spcPts val="1500"/>
                </a:lnSpc>
              </a:pPr>
              <a:r>
                <a:rPr lang="tr-TR" sz="1200" dirty="0">
                  <a:solidFill>
                    <a:srgbClr val="52616B"/>
                  </a:solidFill>
                  <a:latin typeface="+mn-lt"/>
                  <a:ea typeface="+mn-ea"/>
                  <a:cs typeface="+mn-cs"/>
                </a:rPr>
                <a:t>Gerçek:</a:t>
              </a:r>
              <a:br/>
              <a:r>
                <a:rPr lang="tr-TR" sz="1200" dirty="0">
                  <a:solidFill>
                    <a:srgbClr val="52616B"/>
                  </a:solidFill>
                  <a:latin typeface="+mn-lt"/>
                  <a:ea typeface="+mn-ea"/>
                  <a:cs typeface="+mn-cs"/>
                </a:rPr>
                <a:t>Negatif</a:t>
              </a:r>
            </a:p>
          </p:txBody>
        </p:sp>
        <p:sp>
          <p:nvSpPr>
            <p:cNvPr id="32" name="Rectangle 32"/>
            <p:cNvSpPr/>
            <p:nvPr/>
          </p:nvSpPr>
          <p:spPr>
            <a:xfrm>
              <a:off x="7048500" y="2190750"/>
              <a:ext cx="1809750" cy="1428750"/>
            </a:xfrm>
            <a:prstGeom prst="rect">
              <a:avLst/>
            </a:prstGeom>
            <a:solidFill>
              <a:srgbClr val="EAF4F6"/>
            </a:solidFill>
            <a:ln w="14288">
              <a:solidFill>
                <a:srgbClr val="00A6A6"/>
              </a:solidFill>
            </a:ln>
          </p:spPr>
        </p:sp>
        <p:sp>
          <p:nvSpPr>
            <p:cNvPr id="33" name="TextBox 33"/>
            <p:cNvSpPr txBox="1"/>
            <p:nvPr/>
          </p:nvSpPr>
          <p:spPr>
            <a:xfrm>
              <a:off x="7704906" y="2609850"/>
              <a:ext cx="496938" cy="586740"/>
            </a:xfrm>
            <a:prstGeom prst="rect">
              <a:avLst/>
            </a:prstGeom>
            <a:noFill/>
            <a:ln>
              <a:noFill/>
            </a:ln>
          </p:spPr>
          <p:txBody>
            <a:bodyPr wrap="none" lIns="0" tIns="0" rIns="0" bIns="0" anchor="t" anchorCtr="0">
              <a:spAutoFit/>
            </a:bodyPr>
            <a:lstStyle/>
            <a:p>
              <a:pPr algn="ctr"/>
              <a:r>
                <a:rPr lang="tr-TR" sz="3000" b="1" dirty="0">
                  <a:solidFill>
                    <a:srgbClr val="12355B"/>
                  </a:solidFill>
                  <a:latin typeface="+mn-lt"/>
                  <a:ea typeface="+mn-ea"/>
                  <a:cs typeface="+mn-cs"/>
                </a:rPr>
                <a:t>38</a:t>
              </a:r>
            </a:p>
          </p:txBody>
        </p:sp>
        <p:sp>
          <p:nvSpPr>
            <p:cNvPr id="34" name="TextBox 34"/>
            <p:cNvSpPr txBox="1"/>
            <p:nvPr/>
          </p:nvSpPr>
          <p:spPr>
            <a:xfrm>
              <a:off x="7860040" y="3059906"/>
              <a:ext cx="186670"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TP</a:t>
              </a:r>
            </a:p>
          </p:txBody>
        </p:sp>
        <p:sp>
          <p:nvSpPr>
            <p:cNvPr id="35" name="Rectangle 35"/>
            <p:cNvSpPr/>
            <p:nvPr/>
          </p:nvSpPr>
          <p:spPr>
            <a:xfrm>
              <a:off x="8858250" y="2190750"/>
              <a:ext cx="1809750" cy="1428750"/>
            </a:xfrm>
            <a:prstGeom prst="rect">
              <a:avLst/>
            </a:prstGeom>
            <a:solidFill>
              <a:srgbClr val="FFFFFF"/>
            </a:solidFill>
            <a:ln w="14288">
              <a:solidFill>
                <a:srgbClr val="B8CBD3"/>
              </a:solidFill>
            </a:ln>
          </p:spPr>
        </p:sp>
        <p:sp>
          <p:nvSpPr>
            <p:cNvPr id="36" name="TextBox 36"/>
            <p:cNvSpPr txBox="1"/>
            <p:nvPr/>
          </p:nvSpPr>
          <p:spPr>
            <a:xfrm>
              <a:off x="9514656" y="2609850"/>
              <a:ext cx="496938" cy="586740"/>
            </a:xfrm>
            <a:prstGeom prst="rect">
              <a:avLst/>
            </a:prstGeom>
            <a:noFill/>
            <a:ln>
              <a:noFill/>
            </a:ln>
          </p:spPr>
          <p:txBody>
            <a:bodyPr wrap="none" lIns="0" tIns="0" rIns="0" bIns="0" anchor="t" anchorCtr="0">
              <a:spAutoFit/>
            </a:bodyPr>
            <a:lstStyle/>
            <a:p>
              <a:pPr algn="ctr"/>
              <a:r>
                <a:rPr lang="tr-TR" sz="3000" b="1" dirty="0">
                  <a:solidFill>
                    <a:srgbClr val="12355B"/>
                  </a:solidFill>
                  <a:latin typeface="+mn-lt"/>
                  <a:ea typeface="+mn-ea"/>
                  <a:cs typeface="+mn-cs"/>
                </a:rPr>
                <a:t>24</a:t>
              </a:r>
            </a:p>
          </p:txBody>
        </p:sp>
        <p:sp>
          <p:nvSpPr>
            <p:cNvPr id="37" name="TextBox 37"/>
            <p:cNvSpPr txBox="1"/>
            <p:nvPr/>
          </p:nvSpPr>
          <p:spPr>
            <a:xfrm>
              <a:off x="9669790" y="3059906"/>
              <a:ext cx="186670"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FN</a:t>
              </a:r>
            </a:p>
          </p:txBody>
        </p:sp>
        <p:sp>
          <p:nvSpPr>
            <p:cNvPr id="38" name="Rectangle 38"/>
            <p:cNvSpPr/>
            <p:nvPr/>
          </p:nvSpPr>
          <p:spPr>
            <a:xfrm>
              <a:off x="7048500" y="3619500"/>
              <a:ext cx="1809750" cy="1428750"/>
            </a:xfrm>
            <a:prstGeom prst="rect">
              <a:avLst/>
            </a:prstGeom>
            <a:solidFill>
              <a:srgbClr val="FFFFFF"/>
            </a:solidFill>
            <a:ln w="14288">
              <a:solidFill>
                <a:srgbClr val="B8CBD3"/>
              </a:solidFill>
            </a:ln>
          </p:spPr>
        </p:sp>
        <p:sp>
          <p:nvSpPr>
            <p:cNvPr id="39" name="TextBox 39"/>
            <p:cNvSpPr txBox="1"/>
            <p:nvPr/>
          </p:nvSpPr>
          <p:spPr>
            <a:xfrm>
              <a:off x="7704906" y="4038600"/>
              <a:ext cx="496938" cy="586740"/>
            </a:xfrm>
            <a:prstGeom prst="rect">
              <a:avLst/>
            </a:prstGeom>
            <a:noFill/>
            <a:ln>
              <a:noFill/>
            </a:ln>
          </p:spPr>
          <p:txBody>
            <a:bodyPr wrap="none" lIns="0" tIns="0" rIns="0" bIns="0" anchor="t" anchorCtr="0">
              <a:spAutoFit/>
            </a:bodyPr>
            <a:lstStyle/>
            <a:p>
              <a:pPr algn="ctr"/>
              <a:r>
                <a:rPr lang="tr-TR" sz="3000" b="1" dirty="0">
                  <a:solidFill>
                    <a:srgbClr val="12355B"/>
                  </a:solidFill>
                  <a:latin typeface="+mn-lt"/>
                  <a:ea typeface="+mn-ea"/>
                  <a:cs typeface="+mn-cs"/>
                </a:rPr>
                <a:t>14</a:t>
              </a:r>
            </a:p>
          </p:txBody>
        </p:sp>
        <p:sp>
          <p:nvSpPr>
            <p:cNvPr id="40" name="TextBox 40"/>
            <p:cNvSpPr txBox="1"/>
            <p:nvPr/>
          </p:nvSpPr>
          <p:spPr>
            <a:xfrm>
              <a:off x="7860040" y="4488656"/>
              <a:ext cx="186670"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FP</a:t>
              </a:r>
            </a:p>
          </p:txBody>
        </p:sp>
        <p:sp>
          <p:nvSpPr>
            <p:cNvPr id="41" name="Rectangle 41"/>
            <p:cNvSpPr/>
            <p:nvPr/>
          </p:nvSpPr>
          <p:spPr>
            <a:xfrm>
              <a:off x="8858250" y="3619500"/>
              <a:ext cx="1809750" cy="1428750"/>
            </a:xfrm>
            <a:prstGeom prst="rect">
              <a:avLst/>
            </a:prstGeom>
            <a:solidFill>
              <a:srgbClr val="EAF4F6"/>
            </a:solidFill>
            <a:ln w="14288">
              <a:solidFill>
                <a:srgbClr val="00A6A6"/>
              </a:solidFill>
            </a:ln>
          </p:spPr>
        </p:sp>
        <p:sp>
          <p:nvSpPr>
            <p:cNvPr id="42" name="TextBox 42"/>
            <p:cNvSpPr txBox="1"/>
            <p:nvPr/>
          </p:nvSpPr>
          <p:spPr>
            <a:xfrm>
              <a:off x="9398041" y="4038600"/>
              <a:ext cx="730167" cy="586740"/>
            </a:xfrm>
            <a:prstGeom prst="rect">
              <a:avLst/>
            </a:prstGeom>
            <a:noFill/>
            <a:ln>
              <a:noFill/>
            </a:ln>
          </p:spPr>
          <p:txBody>
            <a:bodyPr wrap="none" lIns="0" tIns="0" rIns="0" bIns="0" anchor="t" anchorCtr="0">
              <a:spAutoFit/>
            </a:bodyPr>
            <a:lstStyle/>
            <a:p>
              <a:pPr algn="ctr"/>
              <a:r>
                <a:rPr lang="tr-TR" sz="3000" b="1" dirty="0">
                  <a:solidFill>
                    <a:srgbClr val="12355B"/>
                  </a:solidFill>
                  <a:latin typeface="+mn-lt"/>
                  <a:ea typeface="+mn-ea"/>
                  <a:cs typeface="+mn-cs"/>
                </a:rPr>
                <a:t>424</a:t>
              </a:r>
            </a:p>
          </p:txBody>
        </p:sp>
        <p:sp>
          <p:nvSpPr>
            <p:cNvPr id="43" name="TextBox 43"/>
            <p:cNvSpPr txBox="1"/>
            <p:nvPr/>
          </p:nvSpPr>
          <p:spPr>
            <a:xfrm>
              <a:off x="9669790" y="4488656"/>
              <a:ext cx="186670"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TN</a:t>
              </a:r>
            </a:p>
          </p:txBody>
        </p:sp>
      </p:grpSp>
      <p:sp>
        <p:nvSpPr>
          <p:cNvPr id="45" name="TextBox 4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 / 25</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10173676" cy="557403"/>
            <a:chOff x="595122" y="282892"/>
            <a:chExt cx="10173676" cy="557403"/>
          </a:xfrm>
        </p:grpSpPr>
        <p:sp>
          <p:nvSpPr>
            <p:cNvPr id="4" name="TextBox 4"/>
            <p:cNvSpPr txBox="1"/>
            <p:nvPr/>
          </p:nvSpPr>
          <p:spPr>
            <a:xfrm>
              <a:off x="595122" y="282892"/>
              <a:ext cx="1017367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Accuracy paradoksu: taban çizgisi karşılaştırması</a:t>
              </a:r>
            </a:p>
          </p:txBody>
        </p:sp>
      </p:grpSp>
      <p:grpSp>
        <p:nvGrpSpPr>
          <p:cNvPr id="7" name="setup-note"/>
          <p:cNvGrpSpPr/>
          <p:nvPr/>
        </p:nvGrpSpPr>
        <p:grpSpPr>
          <a:xfrm>
            <a:off x="601599" y="1163479"/>
            <a:ext cx="6120481" cy="308039"/>
            <a:chOff x="601599" y="1163479"/>
            <a:chExt cx="6120481" cy="308039"/>
          </a:xfrm>
        </p:grpSpPr>
        <p:sp>
          <p:nvSpPr>
            <p:cNvPr id="6" name="TextBox 6"/>
            <p:cNvSpPr txBox="1"/>
            <p:nvPr/>
          </p:nvSpPr>
          <p:spPr>
            <a:xfrm>
              <a:off x="601599" y="1163479"/>
              <a:ext cx="612048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3000 satır, %8 churn oranı — iki modelin karşılaştırması:</a:t>
              </a:r>
            </a:p>
          </p:txBody>
        </p:sp>
      </p:grpSp>
      <p:grpSp>
        <p:nvGrpSpPr>
          <p:cNvPr id="17" name="card-dummy"/>
          <p:cNvGrpSpPr/>
          <p:nvPr/>
        </p:nvGrpSpPr>
        <p:grpSpPr>
          <a:xfrm>
            <a:off x="609600" y="1562100"/>
            <a:ext cx="5143500" cy="3619500"/>
            <a:chOff x="609600" y="1562100"/>
            <a:chExt cx="5143500" cy="3619500"/>
          </a:xfrm>
        </p:grpSpPr>
        <p:sp>
          <p:nvSpPr>
            <p:cNvPr id="8" name="Rectangle 8"/>
            <p:cNvSpPr/>
            <p:nvPr/>
          </p:nvSpPr>
          <p:spPr>
            <a:xfrm>
              <a:off x="609600" y="1562100"/>
              <a:ext cx="5143500" cy="3619500"/>
            </a:xfrm>
            <a:prstGeom prst="roundRect">
              <a:avLst>
                <a:gd name="adj" fmla="val 2632"/>
              </a:avLst>
            </a:prstGeom>
            <a:solidFill>
              <a:srgbClr val="FFFFFF"/>
            </a:solidFill>
            <a:ln w="14288">
              <a:solidFill>
                <a:srgbClr val="B8CBD3"/>
              </a:solidFill>
            </a:ln>
          </p:spPr>
        </p:sp>
        <p:sp>
          <p:nvSpPr>
            <p:cNvPr id="9" name="TextBox 9"/>
            <p:cNvSpPr txBox="1"/>
            <p:nvPr/>
          </p:nvSpPr>
          <p:spPr>
            <a:xfrm>
              <a:off x="905256" y="1748790"/>
              <a:ext cx="204346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DummyClassifier</a:t>
              </a:r>
            </a:p>
          </p:txBody>
        </p:sp>
        <p:sp>
          <p:nvSpPr>
            <p:cNvPr id="10" name="TextBox 10"/>
            <p:cNvSpPr txBox="1"/>
            <p:nvPr/>
          </p:nvSpPr>
          <p:spPr>
            <a:xfrm>
              <a:off x="908304" y="2061210"/>
              <a:ext cx="349909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Strateji: her zaman en sık sınıfı tahmin et</a:t>
              </a:r>
            </a:p>
          </p:txBody>
        </p:sp>
        <p:sp>
          <p:nvSpPr>
            <p:cNvPr id="11" name="TextBox 11"/>
            <p:cNvSpPr txBox="1"/>
            <p:nvPr/>
          </p:nvSpPr>
          <p:spPr>
            <a:xfrm>
              <a:off x="906780" y="2486025"/>
              <a:ext cx="1682782"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Accuracy: %91,6</a:t>
              </a:r>
            </a:p>
          </p:txBody>
        </p:sp>
        <p:sp>
          <p:nvSpPr>
            <p:cNvPr id="12" name="Rectangle 12"/>
            <p:cNvSpPr/>
            <p:nvPr/>
          </p:nvSpPr>
          <p:spPr>
            <a:xfrm>
              <a:off x="914400" y="2743200"/>
              <a:ext cx="4381500" cy="266700"/>
            </a:xfrm>
            <a:prstGeom prst="roundRect">
              <a:avLst>
                <a:gd name="adj" fmla="val 14286"/>
              </a:avLst>
            </a:prstGeom>
            <a:solidFill>
              <a:srgbClr val="EAF4F6"/>
            </a:solidFill>
            <a:ln>
              <a:noFill/>
            </a:ln>
          </p:spPr>
        </p:sp>
        <p:sp>
          <p:nvSpPr>
            <p:cNvPr id="13" name="Rectangle 13"/>
            <p:cNvSpPr/>
            <p:nvPr/>
          </p:nvSpPr>
          <p:spPr>
            <a:xfrm>
              <a:off x="914400" y="2743200"/>
              <a:ext cx="4010025" cy="266700"/>
            </a:xfrm>
            <a:prstGeom prst="roundRect">
              <a:avLst>
                <a:gd name="adj" fmla="val 14286"/>
              </a:avLst>
            </a:prstGeom>
            <a:solidFill>
              <a:srgbClr val="2E86AB"/>
            </a:solidFill>
            <a:ln>
              <a:noFill/>
            </a:ln>
          </p:spPr>
        </p:sp>
        <p:sp>
          <p:nvSpPr>
            <p:cNvPr id="14" name="TextBox 14"/>
            <p:cNvSpPr txBox="1"/>
            <p:nvPr/>
          </p:nvSpPr>
          <p:spPr>
            <a:xfrm>
              <a:off x="906780" y="3267075"/>
              <a:ext cx="2698385"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Churn sınıfında recall: %0</a:t>
              </a:r>
            </a:p>
          </p:txBody>
        </p:sp>
        <p:sp>
          <p:nvSpPr>
            <p:cNvPr id="15" name="Rectangle 15"/>
            <p:cNvSpPr/>
            <p:nvPr/>
          </p:nvSpPr>
          <p:spPr>
            <a:xfrm>
              <a:off x="914400" y="3524250"/>
              <a:ext cx="4381500" cy="266700"/>
            </a:xfrm>
            <a:prstGeom prst="roundRect">
              <a:avLst>
                <a:gd name="adj" fmla="val 14286"/>
              </a:avLst>
            </a:prstGeom>
            <a:solidFill>
              <a:srgbClr val="EAF4F6"/>
            </a:solidFill>
            <a:ln>
              <a:noFill/>
            </a:ln>
          </p:spPr>
        </p:sp>
        <p:sp>
          <p:nvSpPr>
            <p:cNvPr id="16" name="TextBox 16"/>
            <p:cNvSpPr txBox="1"/>
            <p:nvPr/>
          </p:nvSpPr>
          <p:spPr>
            <a:xfrm>
              <a:off x="907923" y="4053364"/>
              <a:ext cx="2906522" cy="458914"/>
            </a:xfrm>
            <a:prstGeom prst="rect">
              <a:avLst/>
            </a:prstGeom>
            <a:noFill/>
            <a:ln>
              <a:noFill/>
            </a:ln>
          </p:spPr>
          <p:txBody>
            <a:bodyPr wrap="none" lIns="0" tIns="0" rIns="0" bIns="0" anchor="t" anchorCtr="0">
              <a:spAutoFit/>
            </a:bodyPr>
            <a:lstStyle/>
            <a:p>
              <a:pPr algn="l">
                <a:lnSpc>
                  <a:spcPts val="1650"/>
                </a:lnSpc>
              </a:pPr>
              <a:r>
                <a:rPr lang="tr-TR" sz="1280" dirty="0">
                  <a:solidFill>
                    <a:srgbClr val="52616B"/>
                  </a:solidFill>
                  <a:latin typeface="+mn-lt"/>
                  <a:ea typeface="+mn-ea"/>
                  <a:cs typeface="+mn-cs"/>
                </a:rPr>
                <a:t>Tek bir gerçek churn müşterisini bile</a:t>
              </a:r>
              <a:br/>
              <a:r>
                <a:rPr lang="tr-TR" sz="1280" dirty="0">
                  <a:solidFill>
                    <a:srgbClr val="52616B"/>
                  </a:solidFill>
                  <a:latin typeface="+mn-lt"/>
                  <a:ea typeface="+mn-ea"/>
                  <a:cs typeface="+mn-cs"/>
                </a:rPr>
                <a:t>yakalayamaz.</a:t>
              </a:r>
            </a:p>
          </p:txBody>
        </p:sp>
      </p:grpSp>
      <p:grpSp>
        <p:nvGrpSpPr>
          <p:cNvPr id="28" name="card-lr"/>
          <p:cNvGrpSpPr/>
          <p:nvPr/>
        </p:nvGrpSpPr>
        <p:grpSpPr>
          <a:xfrm>
            <a:off x="6438900" y="1562100"/>
            <a:ext cx="5143500" cy="3619500"/>
            <a:chOff x="6438900" y="1562100"/>
            <a:chExt cx="5143500" cy="3619500"/>
          </a:xfrm>
        </p:grpSpPr>
        <p:sp>
          <p:nvSpPr>
            <p:cNvPr id="18" name="Rectangle 18"/>
            <p:cNvSpPr/>
            <p:nvPr/>
          </p:nvSpPr>
          <p:spPr>
            <a:xfrm>
              <a:off x="6438900" y="1562100"/>
              <a:ext cx="5143500" cy="3619500"/>
            </a:xfrm>
            <a:prstGeom prst="roundRect">
              <a:avLst>
                <a:gd name="adj" fmla="val 2632"/>
              </a:avLst>
            </a:prstGeom>
            <a:solidFill>
              <a:srgbClr val="FFFFFF"/>
            </a:solidFill>
            <a:ln w="14288">
              <a:solidFill>
                <a:srgbClr val="00A6A6"/>
              </a:solidFill>
            </a:ln>
          </p:spPr>
        </p:sp>
        <p:sp>
          <p:nvSpPr>
            <p:cNvPr id="19" name="TextBox 19"/>
            <p:cNvSpPr txBox="1"/>
            <p:nvPr/>
          </p:nvSpPr>
          <p:spPr>
            <a:xfrm>
              <a:off x="6734556" y="1748790"/>
              <a:ext cx="236098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LogisticRegression</a:t>
              </a:r>
            </a:p>
          </p:txBody>
        </p:sp>
        <p:sp>
          <p:nvSpPr>
            <p:cNvPr id="20" name="TextBox 20"/>
            <p:cNvSpPr txBox="1"/>
            <p:nvPr/>
          </p:nvSpPr>
          <p:spPr>
            <a:xfrm>
              <a:off x="6737604" y="2061210"/>
              <a:ext cx="396702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Strateji: churn olasılığını öğrenip sınıflandırır</a:t>
              </a:r>
            </a:p>
          </p:txBody>
        </p:sp>
        <p:sp>
          <p:nvSpPr>
            <p:cNvPr id="21" name="TextBox 21"/>
            <p:cNvSpPr txBox="1"/>
            <p:nvPr/>
          </p:nvSpPr>
          <p:spPr>
            <a:xfrm>
              <a:off x="6736080" y="2486025"/>
              <a:ext cx="1682782"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Accuracy: %93,9</a:t>
              </a:r>
            </a:p>
          </p:txBody>
        </p:sp>
        <p:sp>
          <p:nvSpPr>
            <p:cNvPr id="22" name="Rectangle 22"/>
            <p:cNvSpPr/>
            <p:nvPr/>
          </p:nvSpPr>
          <p:spPr>
            <a:xfrm>
              <a:off x="6743700" y="2743200"/>
              <a:ext cx="4381500" cy="266700"/>
            </a:xfrm>
            <a:prstGeom prst="roundRect">
              <a:avLst>
                <a:gd name="adj" fmla="val 14286"/>
              </a:avLst>
            </a:prstGeom>
            <a:solidFill>
              <a:srgbClr val="EAF4F6"/>
            </a:solidFill>
            <a:ln>
              <a:noFill/>
            </a:ln>
          </p:spPr>
        </p:sp>
        <p:sp>
          <p:nvSpPr>
            <p:cNvPr id="23" name="Rectangle 23"/>
            <p:cNvSpPr/>
            <p:nvPr/>
          </p:nvSpPr>
          <p:spPr>
            <a:xfrm>
              <a:off x="6743700" y="2743200"/>
              <a:ext cx="4114800" cy="266700"/>
            </a:xfrm>
            <a:prstGeom prst="roundRect">
              <a:avLst>
                <a:gd name="adj" fmla="val 14286"/>
              </a:avLst>
            </a:prstGeom>
            <a:solidFill>
              <a:srgbClr val="00A6A6"/>
            </a:solidFill>
            <a:ln>
              <a:noFill/>
            </a:ln>
          </p:spPr>
        </p:sp>
        <p:sp>
          <p:nvSpPr>
            <p:cNvPr id="24" name="TextBox 24"/>
            <p:cNvSpPr txBox="1"/>
            <p:nvPr/>
          </p:nvSpPr>
          <p:spPr>
            <a:xfrm>
              <a:off x="6736080" y="3267075"/>
              <a:ext cx="3032512"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Churn sınıfında recall: %39,5</a:t>
              </a:r>
            </a:p>
          </p:txBody>
        </p:sp>
        <p:sp>
          <p:nvSpPr>
            <p:cNvPr id="25" name="Rectangle 25"/>
            <p:cNvSpPr/>
            <p:nvPr/>
          </p:nvSpPr>
          <p:spPr>
            <a:xfrm>
              <a:off x="6743700" y="3524250"/>
              <a:ext cx="4381500" cy="266700"/>
            </a:xfrm>
            <a:prstGeom prst="roundRect">
              <a:avLst>
                <a:gd name="adj" fmla="val 14286"/>
              </a:avLst>
            </a:prstGeom>
            <a:solidFill>
              <a:srgbClr val="EAF4F6"/>
            </a:solidFill>
            <a:ln>
              <a:noFill/>
            </a:ln>
          </p:spPr>
        </p:sp>
        <p:sp>
          <p:nvSpPr>
            <p:cNvPr id="26" name="Rectangle 26"/>
            <p:cNvSpPr/>
            <p:nvPr/>
          </p:nvSpPr>
          <p:spPr>
            <a:xfrm>
              <a:off x="6743700" y="3524250"/>
              <a:ext cx="1733550" cy="266700"/>
            </a:xfrm>
            <a:prstGeom prst="roundRect">
              <a:avLst>
                <a:gd name="adj" fmla="val 14286"/>
              </a:avLst>
            </a:prstGeom>
            <a:solidFill>
              <a:srgbClr val="00A6A6"/>
            </a:solidFill>
            <a:ln>
              <a:noFill/>
            </a:ln>
          </p:spPr>
        </p:sp>
        <p:sp>
          <p:nvSpPr>
            <p:cNvPr id="27" name="TextBox 27"/>
            <p:cNvSpPr txBox="1"/>
            <p:nvPr/>
          </p:nvSpPr>
          <p:spPr>
            <a:xfrm>
              <a:off x="6737223" y="4053364"/>
              <a:ext cx="2622042" cy="458914"/>
            </a:xfrm>
            <a:prstGeom prst="rect">
              <a:avLst/>
            </a:prstGeom>
            <a:noFill/>
            <a:ln>
              <a:noFill/>
            </a:ln>
          </p:spPr>
          <p:txBody>
            <a:bodyPr wrap="none" lIns="0" tIns="0" rIns="0" bIns="0" anchor="t" anchorCtr="0">
              <a:spAutoFit/>
            </a:bodyPr>
            <a:lstStyle/>
            <a:p>
              <a:pPr algn="l">
                <a:lnSpc>
                  <a:spcPts val="1650"/>
                </a:lnSpc>
              </a:pPr>
              <a:r>
                <a:rPr lang="tr-TR" sz="1280" dirty="0">
                  <a:solidFill>
                    <a:srgbClr val="52616B"/>
                  </a:solidFill>
                  <a:latin typeface="+mn-lt"/>
                  <a:ea typeface="+mn-ea"/>
                  <a:cs typeface="+mn-cs"/>
                </a:rPr>
                <a:t>Gerçek churn müşterilerinin üçte</a:t>
              </a:r>
              <a:br/>
              <a:r>
                <a:rPr lang="tr-TR" sz="1280" dirty="0">
                  <a:solidFill>
                    <a:srgbClr val="52616B"/>
                  </a:solidFill>
                  <a:latin typeface="+mn-lt"/>
                  <a:ea typeface="+mn-ea"/>
                  <a:cs typeface="+mn-cs"/>
                </a:rPr>
                <a:t>birinden fazlasını yakalar.</a:t>
              </a:r>
            </a:p>
          </p:txBody>
        </p:sp>
      </p:grpSp>
      <p:grpSp>
        <p:nvGrpSpPr>
          <p:cNvPr id="32" name="takeaway"/>
          <p:cNvGrpSpPr/>
          <p:nvPr/>
        </p:nvGrpSpPr>
        <p:grpSpPr>
          <a:xfrm>
            <a:off x="609600" y="5391150"/>
            <a:ext cx="10972800" cy="857250"/>
            <a:chOff x="609600" y="5391150"/>
            <a:chExt cx="10972800" cy="857250"/>
          </a:xfrm>
        </p:grpSpPr>
        <p:sp>
          <p:nvSpPr>
            <p:cNvPr id="29" name="Rectangle 29"/>
            <p:cNvSpPr/>
            <p:nvPr/>
          </p:nvSpPr>
          <p:spPr>
            <a:xfrm>
              <a:off x="609600" y="5391150"/>
              <a:ext cx="10972800" cy="857250"/>
            </a:xfrm>
            <a:prstGeom prst="roundRect">
              <a:avLst>
                <a:gd name="adj" fmla="val 8889"/>
              </a:avLst>
            </a:prstGeom>
            <a:solidFill>
              <a:srgbClr val="EAF4F6"/>
            </a:solidFill>
            <a:ln>
              <a:noFill/>
            </a:ln>
          </p:spPr>
        </p:sp>
        <p:sp>
          <p:nvSpPr>
            <p:cNvPr id="30" name="TextBox 30"/>
            <p:cNvSpPr txBox="1"/>
            <p:nvPr/>
          </p:nvSpPr>
          <p:spPr>
            <a:xfrm>
              <a:off x="906399" y="5525929"/>
              <a:ext cx="715045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Accuracy yalnızca %91,6'dan %93,9'a çıktı — ama gerçek kazanç</a:t>
              </a:r>
            </a:p>
          </p:txBody>
        </p:sp>
        <p:sp>
          <p:nvSpPr>
            <p:cNvPr id="31" name="TextBox 31"/>
            <p:cNvSpPr txBox="1"/>
            <p:nvPr/>
          </p:nvSpPr>
          <p:spPr>
            <a:xfrm>
              <a:off x="906399" y="5792629"/>
              <a:ext cx="684221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recall'da: %0'dan %39,5'e. Accuracy tek başına bu farkı gizler.</a:t>
              </a:r>
            </a:p>
          </p:txBody>
        </p:sp>
      </p:grpSp>
      <p:sp>
        <p:nvSpPr>
          <p:cNvPr id="33" name="TextBox 3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 / 25</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300373" cy="557403"/>
            <a:chOff x="595122" y="282892"/>
            <a:chExt cx="8300373" cy="557403"/>
          </a:xfrm>
        </p:grpSpPr>
        <p:sp>
          <p:nvSpPr>
            <p:cNvPr id="4" name="TextBox 4"/>
            <p:cNvSpPr txBox="1"/>
            <p:nvPr/>
          </p:nvSpPr>
          <p:spPr>
            <a:xfrm>
              <a:off x="595122" y="282892"/>
              <a:ext cx="830037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Kesinlik ve duyarlılık: tanım ve formüller</a:t>
              </a:r>
            </a:p>
          </p:txBody>
        </p:sp>
      </p:grpSp>
      <p:grpSp>
        <p:nvGrpSpPr>
          <p:cNvPr id="14" name="card-precision"/>
          <p:cNvGrpSpPr/>
          <p:nvPr/>
        </p:nvGrpSpPr>
        <p:grpSpPr>
          <a:xfrm>
            <a:off x="609600" y="1238250"/>
            <a:ext cx="5143500" cy="3810000"/>
            <a:chOff x="609600" y="1238250"/>
            <a:chExt cx="5143500" cy="3810000"/>
          </a:xfrm>
        </p:grpSpPr>
        <p:sp>
          <p:nvSpPr>
            <p:cNvPr id="6" name="Rectangle 6"/>
            <p:cNvSpPr/>
            <p:nvPr/>
          </p:nvSpPr>
          <p:spPr>
            <a:xfrm>
              <a:off x="609600" y="1238250"/>
              <a:ext cx="5143500" cy="3810000"/>
            </a:xfrm>
            <a:prstGeom prst="roundRect">
              <a:avLst>
                <a:gd name="adj" fmla="val 2500"/>
              </a:avLst>
            </a:prstGeom>
            <a:solidFill>
              <a:srgbClr val="FFFFFF"/>
            </a:solidFill>
            <a:ln w="14288">
              <a:solidFill>
                <a:srgbClr val="2E86AB"/>
              </a:solidFill>
            </a:ln>
          </p:spPr>
        </p:sp>
        <p:sp>
          <p:nvSpPr>
            <p:cNvPr id="7" name="TextBox 7"/>
            <p:cNvSpPr txBox="1"/>
            <p:nvPr/>
          </p:nvSpPr>
          <p:spPr>
            <a:xfrm>
              <a:off x="905256" y="1424940"/>
              <a:ext cx="245148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Kesinlik (Precision)</a:t>
              </a:r>
            </a:p>
          </p:txBody>
        </p:sp>
        <p:sp>
          <p:nvSpPr>
            <p:cNvPr id="8" name="TextBox 8"/>
            <p:cNvSpPr txBox="1"/>
            <p:nvPr/>
          </p:nvSpPr>
          <p:spPr>
            <a:xfrm>
              <a:off x="2998180" y="1887855"/>
              <a:ext cx="366339" cy="410718"/>
            </a:xfrm>
            <a:prstGeom prst="rect">
              <a:avLst/>
            </a:prstGeom>
            <a:noFill/>
            <a:ln>
              <a:noFill/>
            </a:ln>
          </p:spPr>
          <p:txBody>
            <a:bodyPr wrap="none" lIns="0" tIns="0" rIns="0" bIns="0" anchor="t" anchorCtr="0">
              <a:spAutoFit/>
            </a:bodyPr>
            <a:lstStyle/>
            <a:p>
              <a:pPr algn="ctr"/>
              <a:r>
                <a:rPr lang="tr-TR" sz="2100" b="1" dirty="0">
                  <a:solidFill>
                    <a:srgbClr val="12355B"/>
                  </a:solidFill>
                  <a:latin typeface="+mn-lt"/>
                  <a:ea typeface="+mn-ea"/>
                  <a:cs typeface="+mn-cs"/>
                </a:rPr>
                <a:t>TP</a:t>
              </a:r>
            </a:p>
          </p:txBody>
        </p:sp>
        <p:sp>
          <p:nvSpPr>
            <p:cNvPr id="9" name="Line 9"/>
            <p:cNvSpPr/>
            <p:nvPr/>
          </p:nvSpPr>
          <p:spPr>
            <a:xfrm>
              <a:off x="2514600" y="2228850"/>
              <a:ext cx="1333500" cy="9525"/>
            </a:xfrm>
            <a:custGeom>
              <a:avLst/>
              <a:gdLst/>
              <a:ahLst/>
              <a:cxnLst/>
              <a:rect l="l" t="t" r="r" b="b"/>
              <a:pathLst>
                <a:path w="1333500" h="9525">
                  <a:moveTo>
                    <a:pt x="0" y="0"/>
                  </a:moveTo>
                  <a:lnTo>
                    <a:pt x="1333500" y="0"/>
                  </a:lnTo>
                </a:path>
              </a:pathLst>
            </a:custGeom>
            <a:noFill/>
            <a:ln w="19050">
              <a:solidFill>
                <a:srgbClr val="12355B"/>
              </a:solidFill>
            </a:ln>
          </p:spPr>
        </p:sp>
        <p:sp>
          <p:nvSpPr>
            <p:cNvPr id="10" name="TextBox 10"/>
            <p:cNvSpPr txBox="1"/>
            <p:nvPr/>
          </p:nvSpPr>
          <p:spPr>
            <a:xfrm>
              <a:off x="2743352" y="2320290"/>
              <a:ext cx="875995" cy="352044"/>
            </a:xfrm>
            <a:prstGeom prst="rect">
              <a:avLst/>
            </a:prstGeom>
            <a:noFill/>
            <a:ln>
              <a:noFill/>
            </a:ln>
          </p:spPr>
          <p:txBody>
            <a:bodyPr wrap="none" lIns="0" tIns="0" rIns="0" bIns="0" anchor="t" anchorCtr="0">
              <a:spAutoFit/>
            </a:bodyPr>
            <a:lstStyle/>
            <a:p>
              <a:pPr algn="ctr"/>
              <a:r>
                <a:rPr lang="tr-TR" sz="1800" dirty="0">
                  <a:solidFill>
                    <a:srgbClr val="12355B"/>
                  </a:solidFill>
                  <a:latin typeface="+mn-lt"/>
                  <a:ea typeface="+mn-ea"/>
                  <a:cs typeface="+mn-cs"/>
                </a:rPr>
                <a:t>TP + FP</a:t>
              </a:r>
            </a:p>
          </p:txBody>
        </p:sp>
        <p:sp>
          <p:nvSpPr>
            <p:cNvPr id="11" name="TextBox 11"/>
            <p:cNvSpPr txBox="1"/>
            <p:nvPr/>
          </p:nvSpPr>
          <p:spPr>
            <a:xfrm>
              <a:off x="906399" y="2839879"/>
              <a:ext cx="3025902"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Pozitif dediklerimin yüzde kaçı</a:t>
              </a:r>
              <a:br/>
              <a:r>
                <a:rPr lang="tr-TR" sz="1580" dirty="0">
                  <a:solidFill>
                    <a:srgbClr val="172B3A"/>
                  </a:solidFill>
                  <a:latin typeface="+mn-lt"/>
                  <a:ea typeface="+mn-ea"/>
                  <a:cs typeface="+mn-cs"/>
                </a:rPr>
                <a:t>gerçekten pozitifti?</a:t>
              </a:r>
            </a:p>
          </p:txBody>
        </p:sp>
        <p:sp>
          <p:nvSpPr>
            <p:cNvPr id="12" name="Rectangle 12"/>
            <p:cNvSpPr/>
            <p:nvPr/>
          </p:nvSpPr>
          <p:spPr>
            <a:xfrm>
              <a:off x="914400" y="3638550"/>
              <a:ext cx="4533900" cy="1143000"/>
            </a:xfrm>
            <a:prstGeom prst="roundRect">
              <a:avLst>
                <a:gd name="adj" fmla="val 6667"/>
              </a:avLst>
            </a:prstGeom>
            <a:solidFill>
              <a:srgbClr val="EAF4F6"/>
            </a:solidFill>
            <a:ln>
              <a:noFill/>
            </a:ln>
          </p:spPr>
        </p:sp>
        <p:sp>
          <p:nvSpPr>
            <p:cNvPr id="13" name="TextBox 13"/>
            <p:cNvSpPr txBox="1"/>
            <p:nvPr/>
          </p:nvSpPr>
          <p:spPr>
            <a:xfrm>
              <a:off x="1136523" y="3767614"/>
              <a:ext cx="3134106" cy="744665"/>
            </a:xfrm>
            <a:prstGeom prst="rect">
              <a:avLst/>
            </a:prstGeom>
            <a:noFill/>
            <a:ln>
              <a:noFill/>
            </a:ln>
          </p:spPr>
          <p:txBody>
            <a:bodyPr wrap="none" lIns="0" tIns="0" rIns="0" bIns="0" anchor="t" anchorCtr="0">
              <a:spAutoFit/>
            </a:bodyPr>
            <a:lstStyle/>
            <a:p>
              <a:pPr algn="l">
                <a:lnSpc>
                  <a:spcPts val="1650"/>
                </a:lnSpc>
              </a:pPr>
              <a:r>
                <a:rPr lang="tr-TR" sz="1280" dirty="0">
                  <a:solidFill>
                    <a:srgbClr val="172B3A"/>
                  </a:solidFill>
                  <a:latin typeface="+mn-lt"/>
                  <a:ea typeface="+mn-ea"/>
                  <a:cs typeface="+mn-cs"/>
                </a:rPr>
                <a:t>Örnek: 100 spam tahmininden 80'i</a:t>
              </a:r>
              <a:br/>
              <a:r>
                <a:rPr lang="tr-TR" sz="1280" dirty="0">
                  <a:solidFill>
                    <a:srgbClr val="172B3A"/>
                  </a:solidFill>
                  <a:latin typeface="+mn-lt"/>
                  <a:ea typeface="+mn-ea"/>
                  <a:cs typeface="+mn-cs"/>
                </a:rPr>
                <a:t>gerçekten spam ise kesinlik %80'dir.</a:t>
              </a:r>
            </a:p>
            <a:p>
              <a:pPr algn="l">
                <a:lnSpc>
                  <a:spcPts val="1650"/>
                </a:lnSpc>
                <a:spcBef>
                  <a:spcPts val="600"/>
                </a:spcBef>
              </a:pPr>
              <a:r>
                <a:rPr lang="tr-TR" sz="1280" dirty="0">
                  <a:solidFill>
                    <a:srgbClr val="172B3A"/>
                  </a:solidFill>
                  <a:latin typeface="+mn-lt"/>
                  <a:ea typeface="+mn-ea"/>
                  <a:cs typeface="+mn-cs"/>
                </a:rPr>
                <a:t>Düşük kesinlik = çok fazla yanlış alarm.</a:t>
              </a:r>
            </a:p>
          </p:txBody>
        </p:sp>
      </p:grpSp>
      <p:grpSp>
        <p:nvGrpSpPr>
          <p:cNvPr id="23" name="card-recall"/>
          <p:cNvGrpSpPr/>
          <p:nvPr/>
        </p:nvGrpSpPr>
        <p:grpSpPr>
          <a:xfrm>
            <a:off x="6438900" y="1238250"/>
            <a:ext cx="5143500" cy="3810000"/>
            <a:chOff x="6438900" y="1238250"/>
            <a:chExt cx="5143500" cy="3810000"/>
          </a:xfrm>
        </p:grpSpPr>
        <p:sp>
          <p:nvSpPr>
            <p:cNvPr id="15" name="Rectangle 15"/>
            <p:cNvSpPr/>
            <p:nvPr/>
          </p:nvSpPr>
          <p:spPr>
            <a:xfrm>
              <a:off x="6438900" y="1238250"/>
              <a:ext cx="5143500" cy="3810000"/>
            </a:xfrm>
            <a:prstGeom prst="roundRect">
              <a:avLst>
                <a:gd name="adj" fmla="val 2500"/>
              </a:avLst>
            </a:prstGeom>
            <a:solidFill>
              <a:srgbClr val="FFFFFF"/>
            </a:solidFill>
            <a:ln w="14288">
              <a:solidFill>
                <a:srgbClr val="2E86AB"/>
              </a:solidFill>
            </a:ln>
          </p:spPr>
        </p:sp>
        <p:sp>
          <p:nvSpPr>
            <p:cNvPr id="16" name="TextBox 16"/>
            <p:cNvSpPr txBox="1"/>
            <p:nvPr/>
          </p:nvSpPr>
          <p:spPr>
            <a:xfrm>
              <a:off x="6734556" y="1424940"/>
              <a:ext cx="237562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Duyarlılık (Recall)</a:t>
              </a:r>
            </a:p>
          </p:txBody>
        </p:sp>
        <p:sp>
          <p:nvSpPr>
            <p:cNvPr id="17" name="TextBox 17"/>
            <p:cNvSpPr txBox="1"/>
            <p:nvPr/>
          </p:nvSpPr>
          <p:spPr>
            <a:xfrm>
              <a:off x="8827480" y="1887855"/>
              <a:ext cx="366339" cy="410718"/>
            </a:xfrm>
            <a:prstGeom prst="rect">
              <a:avLst/>
            </a:prstGeom>
            <a:noFill/>
            <a:ln>
              <a:noFill/>
            </a:ln>
          </p:spPr>
          <p:txBody>
            <a:bodyPr wrap="none" lIns="0" tIns="0" rIns="0" bIns="0" anchor="t" anchorCtr="0">
              <a:spAutoFit/>
            </a:bodyPr>
            <a:lstStyle/>
            <a:p>
              <a:pPr algn="ctr"/>
              <a:r>
                <a:rPr lang="tr-TR" sz="2100" b="1" dirty="0">
                  <a:solidFill>
                    <a:srgbClr val="12355B"/>
                  </a:solidFill>
                  <a:latin typeface="+mn-lt"/>
                  <a:ea typeface="+mn-ea"/>
                  <a:cs typeface="+mn-cs"/>
                </a:rPr>
                <a:t>TP</a:t>
              </a:r>
            </a:p>
          </p:txBody>
        </p:sp>
        <p:sp>
          <p:nvSpPr>
            <p:cNvPr id="18" name="Line 18"/>
            <p:cNvSpPr/>
            <p:nvPr/>
          </p:nvSpPr>
          <p:spPr>
            <a:xfrm>
              <a:off x="8343900" y="2228850"/>
              <a:ext cx="1333500" cy="9525"/>
            </a:xfrm>
            <a:custGeom>
              <a:avLst/>
              <a:gdLst/>
              <a:ahLst/>
              <a:cxnLst/>
              <a:rect l="l" t="t" r="r" b="b"/>
              <a:pathLst>
                <a:path w="1333500" h="9525">
                  <a:moveTo>
                    <a:pt x="0" y="0"/>
                  </a:moveTo>
                  <a:lnTo>
                    <a:pt x="1333500" y="0"/>
                  </a:lnTo>
                </a:path>
              </a:pathLst>
            </a:custGeom>
            <a:noFill/>
            <a:ln w="19050">
              <a:solidFill>
                <a:srgbClr val="12355B"/>
              </a:solidFill>
            </a:ln>
          </p:spPr>
        </p:sp>
        <p:sp>
          <p:nvSpPr>
            <p:cNvPr id="19" name="TextBox 19"/>
            <p:cNvSpPr txBox="1"/>
            <p:nvPr/>
          </p:nvSpPr>
          <p:spPr>
            <a:xfrm>
              <a:off x="8572652" y="2320290"/>
              <a:ext cx="875995" cy="352044"/>
            </a:xfrm>
            <a:prstGeom prst="rect">
              <a:avLst/>
            </a:prstGeom>
            <a:noFill/>
            <a:ln>
              <a:noFill/>
            </a:ln>
          </p:spPr>
          <p:txBody>
            <a:bodyPr wrap="none" lIns="0" tIns="0" rIns="0" bIns="0" anchor="t" anchorCtr="0">
              <a:spAutoFit/>
            </a:bodyPr>
            <a:lstStyle/>
            <a:p>
              <a:pPr algn="ctr"/>
              <a:r>
                <a:rPr lang="tr-TR" sz="1800" dirty="0">
                  <a:solidFill>
                    <a:srgbClr val="12355B"/>
                  </a:solidFill>
                  <a:latin typeface="+mn-lt"/>
                  <a:ea typeface="+mn-ea"/>
                  <a:cs typeface="+mn-cs"/>
                </a:rPr>
                <a:t>TP + FN</a:t>
              </a:r>
            </a:p>
          </p:txBody>
        </p:sp>
        <p:sp>
          <p:nvSpPr>
            <p:cNvPr id="20" name="TextBox 20"/>
            <p:cNvSpPr txBox="1"/>
            <p:nvPr/>
          </p:nvSpPr>
          <p:spPr>
            <a:xfrm>
              <a:off x="6735699" y="2839879"/>
              <a:ext cx="3196463"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Gerçek pozitiflerin yüzde kaçını</a:t>
              </a:r>
              <a:br/>
              <a:r>
                <a:rPr lang="tr-TR" sz="1580" dirty="0">
                  <a:solidFill>
                    <a:srgbClr val="172B3A"/>
                  </a:solidFill>
                  <a:latin typeface="+mn-lt"/>
                  <a:ea typeface="+mn-ea"/>
                  <a:cs typeface="+mn-cs"/>
                </a:rPr>
                <a:t>yakalayabildim?</a:t>
              </a:r>
            </a:p>
          </p:txBody>
        </p:sp>
        <p:sp>
          <p:nvSpPr>
            <p:cNvPr id="21" name="Rectangle 21"/>
            <p:cNvSpPr/>
            <p:nvPr/>
          </p:nvSpPr>
          <p:spPr>
            <a:xfrm>
              <a:off x="6743700" y="3638550"/>
              <a:ext cx="4533900" cy="1143000"/>
            </a:xfrm>
            <a:prstGeom prst="roundRect">
              <a:avLst>
                <a:gd name="adj" fmla="val 6667"/>
              </a:avLst>
            </a:prstGeom>
            <a:solidFill>
              <a:srgbClr val="EAF4F6"/>
            </a:solidFill>
            <a:ln>
              <a:noFill/>
            </a:ln>
          </p:spPr>
        </p:sp>
        <p:sp>
          <p:nvSpPr>
            <p:cNvPr id="22" name="TextBox 22"/>
            <p:cNvSpPr txBox="1"/>
            <p:nvPr/>
          </p:nvSpPr>
          <p:spPr>
            <a:xfrm>
              <a:off x="6965823" y="3767614"/>
              <a:ext cx="3028442" cy="744665"/>
            </a:xfrm>
            <a:prstGeom prst="rect">
              <a:avLst/>
            </a:prstGeom>
            <a:noFill/>
            <a:ln>
              <a:noFill/>
            </a:ln>
          </p:spPr>
          <p:txBody>
            <a:bodyPr wrap="none" lIns="0" tIns="0" rIns="0" bIns="0" anchor="t" anchorCtr="0">
              <a:spAutoFit/>
            </a:bodyPr>
            <a:lstStyle/>
            <a:p>
              <a:pPr algn="l">
                <a:lnSpc>
                  <a:spcPts val="1650"/>
                </a:lnSpc>
              </a:pPr>
              <a:r>
                <a:rPr lang="tr-TR" sz="1280" dirty="0">
                  <a:solidFill>
                    <a:srgbClr val="172B3A"/>
                  </a:solidFill>
                  <a:latin typeface="+mn-lt"/>
                  <a:ea typeface="+mn-ea"/>
                  <a:cs typeface="+mn-cs"/>
                </a:rPr>
                <a:t>Örnek: 100 gerçek spam e-postadan</a:t>
              </a:r>
              <a:br/>
              <a:r>
                <a:rPr lang="tr-TR" sz="1280" dirty="0">
                  <a:solidFill>
                    <a:srgbClr val="172B3A"/>
                  </a:solidFill>
                  <a:latin typeface="+mn-lt"/>
                  <a:ea typeface="+mn-ea"/>
                  <a:cs typeface="+mn-cs"/>
                </a:rPr>
                <a:t>80'i yakalandıysa duyarlılık %80'dir.</a:t>
              </a:r>
            </a:p>
            <a:p>
              <a:pPr algn="l">
                <a:lnSpc>
                  <a:spcPts val="1650"/>
                </a:lnSpc>
                <a:spcBef>
                  <a:spcPts val="600"/>
                </a:spcBef>
              </a:pPr>
              <a:r>
                <a:rPr lang="tr-TR" sz="1280" dirty="0">
                  <a:solidFill>
                    <a:srgbClr val="172B3A"/>
                  </a:solidFill>
                  <a:latin typeface="+mn-lt"/>
                  <a:ea typeface="+mn-ea"/>
                  <a:cs typeface="+mn-cs"/>
                </a:rPr>
                <a:t>Düşük duyarlılık = kaçırılan vakalar.</a:t>
              </a:r>
            </a:p>
          </p:txBody>
        </p:sp>
      </p:grpSp>
      <p:grpSp>
        <p:nvGrpSpPr>
          <p:cNvPr id="27" name="fire-alarm-analogy"/>
          <p:cNvGrpSpPr/>
          <p:nvPr/>
        </p:nvGrpSpPr>
        <p:grpSpPr>
          <a:xfrm>
            <a:off x="609600" y="5257800"/>
            <a:ext cx="10972800" cy="952500"/>
            <a:chOff x="609600" y="5257800"/>
            <a:chExt cx="10972800" cy="952500"/>
          </a:xfrm>
        </p:grpSpPr>
        <p:sp>
          <p:nvSpPr>
            <p:cNvPr id="24" name="Rectangle 24"/>
            <p:cNvSpPr/>
            <p:nvPr/>
          </p:nvSpPr>
          <p:spPr>
            <a:xfrm>
              <a:off x="609600" y="5257800"/>
              <a:ext cx="10972800" cy="952500"/>
            </a:xfrm>
            <a:prstGeom prst="roundRect">
              <a:avLst>
                <a:gd name="adj" fmla="val 8000"/>
              </a:avLst>
            </a:prstGeom>
            <a:solidFill>
              <a:srgbClr val="EAF4F6"/>
            </a:solidFill>
            <a:ln>
              <a:noFill/>
            </a:ln>
          </p:spPr>
        </p:sp>
        <p:sp>
          <p:nvSpPr>
            <p:cNvPr id="25" name="TextBox 25"/>
            <p:cNvSpPr txBox="1"/>
            <p:nvPr/>
          </p:nvSpPr>
          <p:spPr>
            <a:xfrm>
              <a:off x="906780" y="5400675"/>
              <a:ext cx="7019315"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Yangın alarmı analojisi (1950'lerin bilgi erişimi araştırmalarından)</a:t>
              </a:r>
            </a:p>
          </p:txBody>
        </p:sp>
        <p:sp>
          <p:nvSpPr>
            <p:cNvPr id="26" name="TextBox 26"/>
            <p:cNvSpPr txBox="1"/>
            <p:nvPr/>
          </p:nvSpPr>
          <p:spPr>
            <a:xfrm>
              <a:off x="907161" y="5675471"/>
              <a:ext cx="6632956" cy="507302"/>
            </a:xfrm>
            <a:prstGeom prst="rect">
              <a:avLst/>
            </a:prstGeom>
            <a:noFill/>
            <a:ln>
              <a:noFill/>
            </a:ln>
          </p:spPr>
          <p:txBody>
            <a:bodyPr wrap="none" lIns="0" tIns="0" rIns="0" bIns="0" anchor="t" anchorCtr="0">
              <a:spAutoFit/>
            </a:bodyPr>
            <a:lstStyle/>
            <a:p>
              <a:pPr algn="l">
                <a:lnSpc>
                  <a:spcPts val="1800"/>
                </a:lnSpc>
              </a:pPr>
              <a:r>
                <a:rPr lang="tr-TR" sz="1420" dirty="0">
                  <a:solidFill>
                    <a:srgbClr val="172B3A"/>
                  </a:solidFill>
                  <a:latin typeface="+mn-lt"/>
                  <a:ea typeface="+mn-ea"/>
                  <a:cs typeface="+mn-cs"/>
                </a:rPr>
                <a:t>Kesinlik düşükse alarm çok sık yanlışlıkla çalar; duyarlılık düşükse gerçek</a:t>
              </a:r>
              <a:br/>
              <a:r>
                <a:rPr lang="tr-TR" sz="1420" dirty="0">
                  <a:solidFill>
                    <a:srgbClr val="172B3A"/>
                  </a:solidFill>
                  <a:latin typeface="+mn-lt"/>
                  <a:ea typeface="+mn-ea"/>
                  <a:cs typeface="+mn-cs"/>
                </a:rPr>
                <a:t>bir yangın fark edilmeyebilir. İkisi de ayrı ayrı önemlidir.</a:t>
              </a:r>
            </a:p>
          </p:txBody>
        </p:sp>
      </p:grpSp>
      <p:sp>
        <p:nvSpPr>
          <p:cNvPr id="28" name="TextBox 2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 / 25</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138636" cy="557403"/>
            <a:chOff x="595122" y="282892"/>
            <a:chExt cx="8138636" cy="557403"/>
          </a:xfrm>
        </p:grpSpPr>
        <p:sp>
          <p:nvSpPr>
            <p:cNvPr id="4" name="TextBox 4"/>
            <p:cNvSpPr txBox="1"/>
            <p:nvPr/>
          </p:nvSpPr>
          <p:spPr>
            <a:xfrm>
              <a:off x="595122" y="282892"/>
              <a:ext cx="813863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Kesinlik ve duyarlılık: iş maliyeti dengesi</a:t>
              </a:r>
            </a:p>
          </p:txBody>
        </p:sp>
      </p:grpSp>
      <p:grpSp>
        <p:nvGrpSpPr>
          <p:cNvPr id="7" name="setup-note"/>
          <p:cNvGrpSpPr/>
          <p:nvPr/>
        </p:nvGrpSpPr>
        <p:grpSpPr>
          <a:xfrm>
            <a:off x="602361" y="1160621"/>
            <a:ext cx="6303655" cy="278702"/>
            <a:chOff x="602361" y="1160621"/>
            <a:chExt cx="6303655" cy="278702"/>
          </a:xfrm>
        </p:grpSpPr>
        <p:sp>
          <p:nvSpPr>
            <p:cNvPr id="6" name="TextBox 6"/>
            <p:cNvSpPr txBox="1"/>
            <p:nvPr/>
          </p:nvSpPr>
          <p:spPr>
            <a:xfrm>
              <a:off x="602361" y="1160621"/>
              <a:ext cx="6303655" cy="278702"/>
            </a:xfrm>
            <a:prstGeom prst="rect">
              <a:avLst/>
            </a:prstGeom>
            <a:noFill/>
            <a:ln>
              <a:noFill/>
            </a:ln>
          </p:spPr>
          <p:txBody>
            <a:bodyPr wrap="none" lIns="0" tIns="0" rIns="0" bIns="0" anchor="t" anchorCtr="0">
              <a:spAutoFit/>
            </a:bodyPr>
            <a:lstStyle/>
            <a:p>
              <a:pPr algn="l"/>
              <a:r>
                <a:rPr lang="tr-TR" sz="1420" dirty="0">
                  <a:solidFill>
                    <a:srgbClr val="52616B"/>
                  </a:solidFill>
                  <a:latin typeface="+mn-lt"/>
                  <a:ea typeface="+mn-ea"/>
                  <a:cs typeface="+mn-cs"/>
                </a:rPr>
                <a:t>2500 satır, %15 churn, class_weight="balanced" ile eğitilen model:</a:t>
              </a:r>
            </a:p>
          </p:txBody>
        </p:sp>
      </p:grpSp>
      <p:grpSp>
        <p:nvGrpSpPr>
          <p:cNvPr id="11" name="stat-precision"/>
          <p:cNvGrpSpPr/>
          <p:nvPr/>
        </p:nvGrpSpPr>
        <p:grpSpPr>
          <a:xfrm>
            <a:off x="609600" y="1504950"/>
            <a:ext cx="5143500" cy="1428750"/>
            <a:chOff x="609600" y="1504950"/>
            <a:chExt cx="5143500" cy="1428750"/>
          </a:xfrm>
        </p:grpSpPr>
        <p:sp>
          <p:nvSpPr>
            <p:cNvPr id="8" name="Rectangle 8"/>
            <p:cNvSpPr/>
            <p:nvPr/>
          </p:nvSpPr>
          <p:spPr>
            <a:xfrm>
              <a:off x="609600" y="1504950"/>
              <a:ext cx="5143500" cy="1428750"/>
            </a:xfrm>
            <a:prstGeom prst="roundRect">
              <a:avLst>
                <a:gd name="adj" fmla="val 6667"/>
              </a:avLst>
            </a:prstGeom>
            <a:solidFill>
              <a:srgbClr val="FFFFFF"/>
            </a:solidFill>
            <a:ln w="14288">
              <a:solidFill>
                <a:srgbClr val="2E86AB"/>
              </a:solidFill>
            </a:ln>
          </p:spPr>
        </p:sp>
        <p:sp>
          <p:nvSpPr>
            <p:cNvPr id="9" name="TextBox 9"/>
            <p:cNvSpPr txBox="1"/>
            <p:nvPr/>
          </p:nvSpPr>
          <p:spPr>
            <a:xfrm>
              <a:off x="906780" y="1724025"/>
              <a:ext cx="1946350" cy="293370"/>
            </a:xfrm>
            <a:prstGeom prst="rect">
              <a:avLst/>
            </a:prstGeom>
            <a:noFill/>
            <a:ln>
              <a:noFill/>
            </a:ln>
          </p:spPr>
          <p:txBody>
            <a:bodyPr wrap="none" lIns="0" tIns="0" rIns="0" bIns="0" anchor="t" anchorCtr="0">
              <a:spAutoFit/>
            </a:bodyPr>
            <a:lstStyle/>
            <a:p>
              <a:pPr algn="l"/>
              <a:r>
                <a:rPr lang="tr-TR" sz="1500" dirty="0">
                  <a:solidFill>
                    <a:srgbClr val="52616B"/>
                  </a:solidFill>
                  <a:latin typeface="+mn-lt"/>
                  <a:ea typeface="+mn-ea"/>
                  <a:cs typeface="+mn-cs"/>
                </a:rPr>
                <a:t>Kesinlik (Precision)</a:t>
              </a:r>
            </a:p>
          </p:txBody>
        </p:sp>
        <p:sp>
          <p:nvSpPr>
            <p:cNvPr id="10" name="TextBox 10"/>
            <p:cNvSpPr txBox="1"/>
            <p:nvPr/>
          </p:nvSpPr>
          <p:spPr>
            <a:xfrm>
              <a:off x="895350" y="2150745"/>
              <a:ext cx="1554089" cy="762000"/>
            </a:xfrm>
            <a:prstGeom prst="rect">
              <a:avLst/>
            </a:prstGeom>
            <a:noFill/>
            <a:ln>
              <a:noFill/>
            </a:ln>
          </p:spPr>
          <p:txBody>
            <a:bodyPr wrap="none" lIns="0" tIns="0" rIns="0" bIns="0" anchor="t" anchorCtr="0">
              <a:spAutoFit/>
            </a:bodyPr>
            <a:lstStyle/>
            <a:p>
              <a:pPr algn="l"/>
              <a:r>
                <a:rPr lang="tr-TR" sz="3900" b="1" dirty="0">
                  <a:solidFill>
                    <a:srgbClr val="12355B"/>
                  </a:solidFill>
                  <a:latin typeface="+mn-lt"/>
                  <a:ea typeface="+mn-ea"/>
                  <a:cs typeface="+mn-cs"/>
                </a:rPr>
                <a:t>0,683</a:t>
              </a:r>
            </a:p>
          </p:txBody>
        </p:sp>
      </p:grpSp>
      <p:grpSp>
        <p:nvGrpSpPr>
          <p:cNvPr id="15" name="stat-recall"/>
          <p:cNvGrpSpPr/>
          <p:nvPr/>
        </p:nvGrpSpPr>
        <p:grpSpPr>
          <a:xfrm>
            <a:off x="6438900" y="1504950"/>
            <a:ext cx="5143500" cy="1428750"/>
            <a:chOff x="6438900" y="1504950"/>
            <a:chExt cx="5143500" cy="1428750"/>
          </a:xfrm>
        </p:grpSpPr>
        <p:sp>
          <p:nvSpPr>
            <p:cNvPr id="12" name="Rectangle 12"/>
            <p:cNvSpPr/>
            <p:nvPr/>
          </p:nvSpPr>
          <p:spPr>
            <a:xfrm>
              <a:off x="6438900" y="1504950"/>
              <a:ext cx="5143500" cy="1428750"/>
            </a:xfrm>
            <a:prstGeom prst="roundRect">
              <a:avLst>
                <a:gd name="adj" fmla="val 6667"/>
              </a:avLst>
            </a:prstGeom>
            <a:solidFill>
              <a:srgbClr val="FFFFFF"/>
            </a:solidFill>
            <a:ln w="14288">
              <a:solidFill>
                <a:srgbClr val="00A6A6"/>
              </a:solidFill>
            </a:ln>
          </p:spPr>
        </p:sp>
        <p:sp>
          <p:nvSpPr>
            <p:cNvPr id="13" name="TextBox 13"/>
            <p:cNvSpPr txBox="1"/>
            <p:nvPr/>
          </p:nvSpPr>
          <p:spPr>
            <a:xfrm>
              <a:off x="6736080" y="1724025"/>
              <a:ext cx="1886140" cy="293370"/>
            </a:xfrm>
            <a:prstGeom prst="rect">
              <a:avLst/>
            </a:prstGeom>
            <a:noFill/>
            <a:ln>
              <a:noFill/>
            </a:ln>
          </p:spPr>
          <p:txBody>
            <a:bodyPr wrap="none" lIns="0" tIns="0" rIns="0" bIns="0" anchor="t" anchorCtr="0">
              <a:spAutoFit/>
            </a:bodyPr>
            <a:lstStyle/>
            <a:p>
              <a:pPr algn="l"/>
              <a:r>
                <a:rPr lang="tr-TR" sz="1500" dirty="0">
                  <a:solidFill>
                    <a:srgbClr val="52616B"/>
                  </a:solidFill>
                  <a:latin typeface="+mn-lt"/>
                  <a:ea typeface="+mn-ea"/>
                  <a:cs typeface="+mn-cs"/>
                </a:rPr>
                <a:t>Duyarlılık (Recall)</a:t>
              </a:r>
            </a:p>
          </p:txBody>
        </p:sp>
        <p:sp>
          <p:nvSpPr>
            <p:cNvPr id="14" name="TextBox 14"/>
            <p:cNvSpPr txBox="1"/>
            <p:nvPr/>
          </p:nvSpPr>
          <p:spPr>
            <a:xfrm>
              <a:off x="6724650" y="2150745"/>
              <a:ext cx="1554089" cy="762000"/>
            </a:xfrm>
            <a:prstGeom prst="rect">
              <a:avLst/>
            </a:prstGeom>
            <a:noFill/>
            <a:ln>
              <a:noFill/>
            </a:ln>
          </p:spPr>
          <p:txBody>
            <a:bodyPr wrap="none" lIns="0" tIns="0" rIns="0" bIns="0" anchor="t" anchorCtr="0">
              <a:spAutoFit/>
            </a:bodyPr>
            <a:lstStyle/>
            <a:p>
              <a:pPr algn="l"/>
              <a:r>
                <a:rPr lang="tr-TR" sz="3900" b="1" dirty="0">
                  <a:solidFill>
                    <a:srgbClr val="12355B"/>
                  </a:solidFill>
                  <a:latin typeface="+mn-lt"/>
                  <a:ea typeface="+mn-ea"/>
                  <a:cs typeface="+mn-cs"/>
                </a:rPr>
                <a:t>0,896</a:t>
              </a:r>
            </a:p>
          </p:txBody>
        </p:sp>
      </p:grpSp>
      <p:grpSp>
        <p:nvGrpSpPr>
          <p:cNvPr id="22" name="tradeoff-scale"/>
          <p:cNvGrpSpPr/>
          <p:nvPr/>
        </p:nvGrpSpPr>
        <p:grpSpPr>
          <a:xfrm>
            <a:off x="602742" y="3149918"/>
            <a:ext cx="10986516" cy="924210"/>
            <a:chOff x="602742" y="3149918"/>
            <a:chExt cx="10986516" cy="924210"/>
          </a:xfrm>
        </p:grpSpPr>
        <p:sp>
          <p:nvSpPr>
            <p:cNvPr id="16" name="TextBox 16"/>
            <p:cNvSpPr txBox="1"/>
            <p:nvPr/>
          </p:nvSpPr>
          <p:spPr>
            <a:xfrm>
              <a:off x="602742" y="3149918"/>
              <a:ext cx="2900286"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Kesinlik odaklı (az yanlış alarm)</a:t>
              </a:r>
            </a:p>
          </p:txBody>
        </p:sp>
        <p:sp>
          <p:nvSpPr>
            <p:cNvPr id="17" name="TextBox 17"/>
            <p:cNvSpPr txBox="1"/>
            <p:nvPr/>
          </p:nvSpPr>
          <p:spPr>
            <a:xfrm>
              <a:off x="8234579" y="3149918"/>
              <a:ext cx="3354679" cy="264033"/>
            </a:xfrm>
            <a:prstGeom prst="rect">
              <a:avLst/>
            </a:prstGeom>
            <a:noFill/>
            <a:ln>
              <a:noFill/>
            </a:ln>
          </p:spPr>
          <p:txBody>
            <a:bodyPr wrap="none" lIns="0" tIns="0" rIns="0" bIns="0" anchor="t" anchorCtr="0">
              <a:spAutoFit/>
            </a:bodyPr>
            <a:lstStyle/>
            <a:p>
              <a:pPr algn="r"/>
              <a:r>
                <a:rPr lang="tr-TR" sz="1350" dirty="0">
                  <a:solidFill>
                    <a:srgbClr val="52616B"/>
                  </a:solidFill>
                  <a:latin typeface="+mn-lt"/>
                  <a:ea typeface="+mn-ea"/>
                  <a:cs typeface="+mn-cs"/>
                </a:rPr>
                <a:t>Duyarlılık odaklı (az kaçırılan vaka)</a:t>
              </a:r>
            </a:p>
          </p:txBody>
        </p:sp>
        <p:sp>
          <p:nvSpPr>
            <p:cNvPr id="18" name="Line 18"/>
            <p:cNvSpPr/>
            <p:nvPr/>
          </p:nvSpPr>
          <p:spPr>
            <a:xfrm>
              <a:off x="609600" y="3619500"/>
              <a:ext cx="10972800" cy="9525"/>
            </a:xfrm>
            <a:custGeom>
              <a:avLst/>
              <a:gdLst/>
              <a:ahLst/>
              <a:cxnLst/>
              <a:rect l="l" t="t" r="r" b="b"/>
              <a:pathLst>
                <a:path w="10972800" h="9525">
                  <a:moveTo>
                    <a:pt x="0" y="0"/>
                  </a:moveTo>
                  <a:lnTo>
                    <a:pt x="10972800" y="0"/>
                  </a:lnTo>
                </a:path>
              </a:pathLst>
            </a:custGeom>
            <a:noFill/>
            <a:ln w="38100">
              <a:solidFill>
                <a:srgbClr val="B8CBD3"/>
              </a:solidFill>
            </a:ln>
          </p:spPr>
        </p:sp>
        <p:sp>
          <p:nvSpPr>
            <p:cNvPr id="19" name="Line 19"/>
            <p:cNvSpPr/>
            <p:nvPr/>
          </p:nvSpPr>
          <p:spPr>
            <a:xfrm>
              <a:off x="609600" y="3619500"/>
              <a:ext cx="7620000" cy="1"/>
            </a:xfrm>
            <a:prstGeom prst="line">
              <a:avLst/>
            </a:prstGeom>
            <a:noFill/>
            <a:ln w="38100">
              <a:solidFill>
                <a:srgbClr val="00A6A6"/>
              </a:solidFill>
              <a:tailEnd type="arrow" w="lg" len="lg"/>
            </a:ln>
          </p:spPr>
        </p:sp>
        <p:sp>
          <p:nvSpPr>
            <p:cNvPr id="20" name="Ellipse 20"/>
            <p:cNvSpPr/>
            <p:nvPr/>
          </p:nvSpPr>
          <p:spPr>
            <a:xfrm>
              <a:off x="8134350" y="3524250"/>
              <a:ext cx="190500" cy="190500"/>
            </a:xfrm>
            <a:prstGeom prst="ellipse">
              <a:avLst/>
            </a:prstGeom>
            <a:solidFill>
              <a:srgbClr val="12355B"/>
            </a:solidFill>
            <a:ln>
              <a:noFill/>
            </a:ln>
          </p:spPr>
        </p:sp>
        <p:sp>
          <p:nvSpPr>
            <p:cNvPr id="21" name="TextBox 21"/>
            <p:cNvSpPr txBox="1"/>
            <p:nvPr/>
          </p:nvSpPr>
          <p:spPr>
            <a:xfrm>
              <a:off x="6181207" y="3824764"/>
              <a:ext cx="4096786" cy="249364"/>
            </a:xfrm>
            <a:prstGeom prst="rect">
              <a:avLst/>
            </a:prstGeom>
            <a:noFill/>
            <a:ln>
              <a:noFill/>
            </a:ln>
          </p:spPr>
          <p:txBody>
            <a:bodyPr wrap="none" lIns="0" tIns="0" rIns="0" bIns="0" anchor="t" anchorCtr="0">
              <a:spAutoFit/>
            </a:bodyPr>
            <a:lstStyle/>
            <a:p>
              <a:pPr algn="ctr"/>
              <a:r>
                <a:rPr lang="tr-TR" sz="1280" dirty="0">
                  <a:solidFill>
                    <a:srgbClr val="172B3A"/>
                  </a:solidFill>
                  <a:latin typeface="+mn-lt"/>
                  <a:ea typeface="+mn-ea"/>
                  <a:cs typeface="+mn-cs"/>
                </a:rPr>
                <a:t>class_weight="balanced" modeli buraya kaydırır</a:t>
              </a:r>
            </a:p>
          </p:txBody>
        </p:sp>
      </p:grpSp>
      <p:grpSp>
        <p:nvGrpSpPr>
          <p:cNvPr id="24" name="context-line"/>
          <p:cNvGrpSpPr/>
          <p:nvPr/>
        </p:nvGrpSpPr>
        <p:grpSpPr>
          <a:xfrm>
            <a:off x="602361" y="4341971"/>
            <a:ext cx="8928856" cy="278702"/>
            <a:chOff x="602361" y="4341971"/>
            <a:chExt cx="8928856" cy="278702"/>
          </a:xfrm>
        </p:grpSpPr>
        <p:sp>
          <p:nvSpPr>
            <p:cNvPr id="23" name="TextBox 23"/>
            <p:cNvSpPr txBox="1"/>
            <p:nvPr/>
          </p:nvSpPr>
          <p:spPr>
            <a:xfrm>
              <a:off x="602361" y="4341971"/>
              <a:ext cx="8928856"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Öncelik iş maliyetine göre belirlenir: yanlış alarmın mı, kaçırılan vakanın mı bedeli daha ağır?</a:t>
              </a:r>
            </a:p>
          </p:txBody>
        </p:sp>
      </p:grpSp>
      <p:grpSp>
        <p:nvGrpSpPr>
          <p:cNvPr id="29" name="common-errors"/>
          <p:cNvGrpSpPr/>
          <p:nvPr/>
        </p:nvGrpSpPr>
        <p:grpSpPr>
          <a:xfrm>
            <a:off x="609600" y="4800600"/>
            <a:ext cx="10972800" cy="1390650"/>
            <a:chOff x="609600" y="4800600"/>
            <a:chExt cx="10972800" cy="1390650"/>
          </a:xfrm>
        </p:grpSpPr>
        <p:sp>
          <p:nvSpPr>
            <p:cNvPr id="25" name="Rectangle 25"/>
            <p:cNvSpPr/>
            <p:nvPr/>
          </p:nvSpPr>
          <p:spPr>
            <a:xfrm>
              <a:off x="609600" y="4800600"/>
              <a:ext cx="10972800" cy="1390650"/>
            </a:xfrm>
            <a:prstGeom prst="roundRect">
              <a:avLst>
                <a:gd name="adj" fmla="val 5479"/>
              </a:avLst>
            </a:prstGeom>
            <a:solidFill>
              <a:srgbClr val="EAF4F6"/>
            </a:solidFill>
            <a:ln>
              <a:noFill/>
            </a:ln>
          </p:spPr>
        </p:sp>
        <p:sp>
          <p:nvSpPr>
            <p:cNvPr id="26" name="TextBox 26"/>
            <p:cNvSpPr txBox="1"/>
            <p:nvPr/>
          </p:nvSpPr>
          <p:spPr>
            <a:xfrm>
              <a:off x="906780" y="4924425"/>
              <a:ext cx="1548478"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Yaygın hatalar</a:t>
              </a:r>
            </a:p>
          </p:txBody>
        </p:sp>
        <p:sp>
          <p:nvSpPr>
            <p:cNvPr id="27" name="TextBox 27"/>
            <p:cNvSpPr txBox="1"/>
            <p:nvPr/>
          </p:nvSpPr>
          <p:spPr>
            <a:xfrm>
              <a:off x="907542" y="5207318"/>
              <a:ext cx="6083046" cy="473583"/>
            </a:xfrm>
            <a:prstGeom prst="rect">
              <a:avLst/>
            </a:prstGeom>
            <a:noFill/>
            <a:ln>
              <a:noFill/>
            </a:ln>
          </p:spPr>
          <p:txBody>
            <a:bodyPr wrap="none" lIns="0" tIns="0" rIns="0" bIns="0" anchor="t" anchorCtr="0">
              <a:spAutoFit/>
            </a:bodyPr>
            <a:lstStyle/>
            <a:p>
              <a:pPr algn="l" marL="145732" indent="-145732">
                <a:lnSpc>
                  <a:spcPts val="1650"/>
                </a:lnSpc>
                <a:buClr>
                  <a:srgbClr val="172B3A"/>
                </a:buClr>
                <a:buSzTx/>
                <a:buFontTx/>
                <a:buChar char="•"/>
              </a:pPr>
              <a:r>
                <a:rPr lang="tr-TR" sz="1350" dirty="0">
                  <a:solidFill>
                    <a:srgbClr val="172B3A"/>
                  </a:solidFill>
                  <a:latin typeface="+mn-lt"/>
                  <a:ea typeface="+mn-ea"/>
                  <a:cs typeface="+mn-cs"/>
                </a:rPr>
                <a:t>pos_label parametresini karıştırmak, yanlış sınıfı "pozitif" sayarak</a:t>
              </a:r>
              <a:br/>
              <a:r>
                <a:rPr lang="tr-TR" sz="1350" dirty="0">
                  <a:solidFill>
                    <a:srgbClr val="172B3A"/>
                  </a:solidFill>
                  <a:latin typeface="+mn-lt"/>
                  <a:ea typeface="+mn-ea"/>
                  <a:cs typeface="+mn-cs"/>
                </a:rPr>
                <a:t>metrikleri tersine çevirebilir.</a:t>
              </a:r>
            </a:p>
          </p:txBody>
        </p:sp>
        <p:sp>
          <p:nvSpPr>
            <p:cNvPr id="28" name="TextBox 28"/>
            <p:cNvSpPr txBox="1"/>
            <p:nvPr/>
          </p:nvSpPr>
          <p:spPr>
            <a:xfrm>
              <a:off x="907542" y="5683568"/>
              <a:ext cx="5714429" cy="473583"/>
            </a:xfrm>
            <a:prstGeom prst="rect">
              <a:avLst/>
            </a:prstGeom>
            <a:noFill/>
            <a:ln>
              <a:noFill/>
            </a:ln>
          </p:spPr>
          <p:txBody>
            <a:bodyPr wrap="none" lIns="0" tIns="0" rIns="0" bIns="0" anchor="t" anchorCtr="0">
              <a:spAutoFit/>
            </a:bodyPr>
            <a:lstStyle/>
            <a:p>
              <a:pPr algn="l" marL="145732" indent="-145732">
                <a:lnSpc>
                  <a:spcPts val="1650"/>
                </a:lnSpc>
                <a:buClr>
                  <a:srgbClr val="172B3A"/>
                </a:buClr>
                <a:buSzTx/>
                <a:buFontTx/>
                <a:buChar char="•"/>
              </a:pPr>
              <a:r>
                <a:rPr lang="tr-TR" sz="1350" dirty="0">
                  <a:solidFill>
                    <a:srgbClr val="172B3A"/>
                  </a:solidFill>
                  <a:latin typeface="+mn-lt"/>
                  <a:ea typeface="+mn-ea"/>
                  <a:cs typeface="+mn-cs"/>
                </a:rPr>
                <a:t>Kesinlik ile duyarlılığı birbirine karıştırmak — ikisi de farklı hata</a:t>
              </a:r>
              <a:br/>
              <a:r>
                <a:rPr lang="tr-TR" sz="1350" dirty="0">
                  <a:solidFill>
                    <a:srgbClr val="172B3A"/>
                  </a:solidFill>
                  <a:latin typeface="+mn-lt"/>
                  <a:ea typeface="+mn-ea"/>
                  <a:cs typeface="+mn-cs"/>
                </a:rPr>
                <a:t>türlerini (FP ve FN) ölçer.</a:t>
              </a:r>
            </a:p>
          </p:txBody>
        </p:sp>
      </p:grpSp>
      <p:sp>
        <p:nvSpPr>
          <p:cNvPr id="30" name="TextBox 3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 / 25</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6253254" cy="668845"/>
            <a:chOff x="609600" y="171450"/>
            <a:chExt cx="6253254"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556288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F1-skor: harmonik ortalama</a:t>
              </a:r>
            </a:p>
          </p:txBody>
        </p:sp>
      </p:grpSp>
      <p:grpSp>
        <p:nvGrpSpPr>
          <p:cNvPr id="17" name="card-formula"/>
          <p:cNvGrpSpPr/>
          <p:nvPr/>
        </p:nvGrpSpPr>
        <p:grpSpPr>
          <a:xfrm>
            <a:off x="609600" y="1238250"/>
            <a:ext cx="5143500" cy="4000500"/>
            <a:chOff x="609600" y="1238250"/>
            <a:chExt cx="5143500" cy="4000500"/>
          </a:xfrm>
        </p:grpSpPr>
        <p:sp>
          <p:nvSpPr>
            <p:cNvPr id="9" name="Rectangle 9"/>
            <p:cNvSpPr/>
            <p:nvPr/>
          </p:nvSpPr>
          <p:spPr>
            <a:xfrm>
              <a:off x="609600" y="1238250"/>
              <a:ext cx="5143500" cy="4000500"/>
            </a:xfrm>
            <a:prstGeom prst="roundRect">
              <a:avLst>
                <a:gd name="adj" fmla="val 2381"/>
              </a:avLst>
            </a:prstGeom>
            <a:solidFill>
              <a:srgbClr val="FFFFFF"/>
            </a:solidFill>
            <a:ln w="14288">
              <a:solidFill>
                <a:srgbClr val="2E86AB"/>
              </a:solidFill>
            </a:ln>
          </p:spPr>
        </p:sp>
        <p:sp>
          <p:nvSpPr>
            <p:cNvPr id="10" name="TextBox 10"/>
            <p:cNvSpPr txBox="1"/>
            <p:nvPr/>
          </p:nvSpPr>
          <p:spPr>
            <a:xfrm>
              <a:off x="905256" y="1424940"/>
              <a:ext cx="102002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F1-Skor</a:t>
              </a:r>
            </a:p>
          </p:txBody>
        </p:sp>
        <p:sp>
          <p:nvSpPr>
            <p:cNvPr id="11" name="TextBox 11"/>
            <p:cNvSpPr txBox="1"/>
            <p:nvPr/>
          </p:nvSpPr>
          <p:spPr>
            <a:xfrm>
              <a:off x="1576578" y="1980248"/>
              <a:ext cx="3209544" cy="381381"/>
            </a:xfrm>
            <a:prstGeom prst="rect">
              <a:avLst/>
            </a:prstGeom>
            <a:noFill/>
            <a:ln>
              <a:noFill/>
            </a:ln>
          </p:spPr>
          <p:txBody>
            <a:bodyPr wrap="none" lIns="0" tIns="0" rIns="0" bIns="0" anchor="t" anchorCtr="0">
              <a:spAutoFit/>
            </a:bodyPr>
            <a:lstStyle/>
            <a:p>
              <a:pPr algn="ctr"/>
              <a:r>
                <a:rPr lang="tr-TR" sz="1950" b="1" dirty="0">
                  <a:solidFill>
                    <a:srgbClr val="12355B"/>
                  </a:solidFill>
                  <a:latin typeface="+mn-lt"/>
                  <a:ea typeface="+mn-ea"/>
                  <a:cs typeface="+mn-cs"/>
                </a:rPr>
                <a:t>2 × Kesinlik × Duyarlılık</a:t>
              </a:r>
            </a:p>
          </p:txBody>
        </p:sp>
        <p:sp>
          <p:nvSpPr>
            <p:cNvPr id="12" name="Line 12"/>
            <p:cNvSpPr/>
            <p:nvPr/>
          </p:nvSpPr>
          <p:spPr>
            <a:xfrm>
              <a:off x="1714500" y="2324100"/>
              <a:ext cx="2933700" cy="9525"/>
            </a:xfrm>
            <a:custGeom>
              <a:avLst/>
              <a:gdLst/>
              <a:ahLst/>
              <a:cxnLst/>
              <a:rect l="l" t="t" r="r" b="b"/>
              <a:pathLst>
                <a:path w="2933700" h="9525">
                  <a:moveTo>
                    <a:pt x="0" y="0"/>
                  </a:moveTo>
                  <a:lnTo>
                    <a:pt x="2933700" y="0"/>
                  </a:lnTo>
                </a:path>
              </a:pathLst>
            </a:custGeom>
            <a:noFill/>
            <a:ln w="19050">
              <a:solidFill>
                <a:srgbClr val="12355B"/>
              </a:solidFill>
            </a:ln>
          </p:spPr>
        </p:sp>
        <p:sp>
          <p:nvSpPr>
            <p:cNvPr id="13" name="TextBox 13"/>
            <p:cNvSpPr txBox="1"/>
            <p:nvPr/>
          </p:nvSpPr>
          <p:spPr>
            <a:xfrm>
              <a:off x="1877060" y="2418398"/>
              <a:ext cx="2608580" cy="381381"/>
            </a:xfrm>
            <a:prstGeom prst="rect">
              <a:avLst/>
            </a:prstGeom>
            <a:noFill/>
            <a:ln>
              <a:noFill/>
            </a:ln>
          </p:spPr>
          <p:txBody>
            <a:bodyPr wrap="none" lIns="0" tIns="0" rIns="0" bIns="0" anchor="t" anchorCtr="0">
              <a:spAutoFit/>
            </a:bodyPr>
            <a:lstStyle/>
            <a:p>
              <a:pPr algn="ctr"/>
              <a:r>
                <a:rPr lang="tr-TR" sz="1950" dirty="0">
                  <a:solidFill>
                    <a:srgbClr val="12355B"/>
                  </a:solidFill>
                  <a:latin typeface="+mn-lt"/>
                  <a:ea typeface="+mn-ea"/>
                  <a:cs typeface="+mn-cs"/>
                </a:rPr>
                <a:t>Kesinlik + Duyarlılık</a:t>
              </a:r>
            </a:p>
          </p:txBody>
        </p:sp>
        <p:sp>
          <p:nvSpPr>
            <p:cNvPr id="14" name="TextBox 14"/>
            <p:cNvSpPr txBox="1"/>
            <p:nvPr/>
          </p:nvSpPr>
          <p:spPr>
            <a:xfrm>
              <a:off x="906780" y="2981325"/>
              <a:ext cx="3082290" cy="788670"/>
            </a:xfrm>
            <a:prstGeom prst="rect">
              <a:avLst/>
            </a:prstGeom>
            <a:noFill/>
            <a:ln>
              <a:noFill/>
            </a:ln>
          </p:spPr>
          <p:txBody>
            <a:bodyPr wrap="none" lIns="0" tIns="0" rIns="0" bIns="0" anchor="t" anchorCtr="0">
              <a:spAutoFit/>
            </a:bodyPr>
            <a:lstStyle/>
            <a:p>
              <a:pPr algn="l">
                <a:lnSpc>
                  <a:spcPts val="1950"/>
                </a:lnSpc>
              </a:pPr>
              <a:r>
                <a:rPr lang="tr-TR" sz="1500" dirty="0">
                  <a:solidFill>
                    <a:srgbClr val="172B3A"/>
                  </a:solidFill>
                  <a:latin typeface="+mn-lt"/>
                  <a:ea typeface="+mn-ea"/>
                  <a:cs typeface="+mn-cs"/>
                </a:rPr>
                <a:t>Kesinlik ve duyarlılığın harmonik</a:t>
              </a:r>
              <a:br/>
              <a:r>
                <a:rPr lang="tr-TR" sz="1500" dirty="0">
                  <a:solidFill>
                    <a:srgbClr val="172B3A"/>
                  </a:solidFill>
                  <a:latin typeface="+mn-lt"/>
                  <a:ea typeface="+mn-ea"/>
                  <a:cs typeface="+mn-cs"/>
                </a:rPr>
                <a:t>ortalamasıdır — ikisi de yüksek</a:t>
              </a:r>
              <a:br/>
              <a:r>
                <a:rPr lang="tr-TR" sz="1500" dirty="0">
                  <a:solidFill>
                    <a:srgbClr val="172B3A"/>
                  </a:solidFill>
                  <a:latin typeface="+mn-lt"/>
                  <a:ea typeface="+mn-ea"/>
                  <a:cs typeface="+mn-cs"/>
                </a:rPr>
                <a:t>olmadıkça F1 yükselmez.</a:t>
              </a:r>
            </a:p>
          </p:txBody>
        </p:sp>
        <p:sp>
          <p:nvSpPr>
            <p:cNvPr id="15" name="Rectangle 15"/>
            <p:cNvSpPr/>
            <p:nvPr/>
          </p:nvSpPr>
          <p:spPr>
            <a:xfrm>
              <a:off x="914400" y="3848100"/>
              <a:ext cx="4533900" cy="1123950"/>
            </a:xfrm>
            <a:prstGeom prst="roundRect">
              <a:avLst>
                <a:gd name="adj" fmla="val 6780"/>
              </a:avLst>
            </a:prstGeom>
            <a:solidFill>
              <a:srgbClr val="EAF4F6"/>
            </a:solidFill>
            <a:ln>
              <a:noFill/>
            </a:ln>
          </p:spPr>
        </p:sp>
        <p:sp>
          <p:nvSpPr>
            <p:cNvPr id="16" name="TextBox 16"/>
            <p:cNvSpPr txBox="1"/>
            <p:nvPr/>
          </p:nvSpPr>
          <p:spPr>
            <a:xfrm>
              <a:off x="1136523" y="3977164"/>
              <a:ext cx="3264154" cy="668465"/>
            </a:xfrm>
            <a:prstGeom prst="rect">
              <a:avLst/>
            </a:prstGeom>
            <a:noFill/>
            <a:ln>
              <a:noFill/>
            </a:ln>
          </p:spPr>
          <p:txBody>
            <a:bodyPr wrap="none" lIns="0" tIns="0" rIns="0" bIns="0" anchor="t" anchorCtr="0">
              <a:spAutoFit/>
            </a:bodyPr>
            <a:lstStyle/>
            <a:p>
              <a:pPr algn="l">
                <a:lnSpc>
                  <a:spcPts val="1650"/>
                </a:lnSpc>
              </a:pPr>
              <a:r>
                <a:rPr lang="tr-TR" sz="1280" dirty="0">
                  <a:solidFill>
                    <a:srgbClr val="172B3A"/>
                  </a:solidFill>
                  <a:latin typeface="+mn-lt"/>
                  <a:ea typeface="+mn-ea"/>
                  <a:cs typeface="+mn-cs"/>
                </a:rPr>
                <a:t>Köken: C.J. van Rijsbergen'in 1970'lerde</a:t>
              </a:r>
              <a:br/>
              <a:r>
                <a:rPr lang="tr-TR" sz="1280" dirty="0">
                  <a:solidFill>
                    <a:srgbClr val="172B3A"/>
                  </a:solidFill>
                  <a:latin typeface="+mn-lt"/>
                  <a:ea typeface="+mn-ea"/>
                  <a:cs typeface="+mn-cs"/>
                </a:rPr>
                <a:t>bilgi erişimi için tanımladığı F-beta</a:t>
              </a:r>
              <a:br/>
              <a:r>
                <a:rPr lang="tr-TR" sz="1280" dirty="0">
                  <a:solidFill>
                    <a:srgbClr val="172B3A"/>
                  </a:solidFill>
                  <a:latin typeface="+mn-lt"/>
                  <a:ea typeface="+mn-ea"/>
                  <a:cs typeface="+mn-cs"/>
                </a:rPr>
                <a:t>ölçüt ailesinin özel bir durumudur.</a:t>
              </a:r>
            </a:p>
          </p:txBody>
        </p:sp>
      </p:grpSp>
      <p:grpSp>
        <p:nvGrpSpPr>
          <p:cNvPr id="27" name="card-why"/>
          <p:cNvGrpSpPr/>
          <p:nvPr/>
        </p:nvGrpSpPr>
        <p:grpSpPr>
          <a:xfrm>
            <a:off x="6438900" y="1238250"/>
            <a:ext cx="5143500" cy="4000500"/>
            <a:chOff x="6438900" y="1238250"/>
            <a:chExt cx="5143500" cy="4000500"/>
          </a:xfrm>
        </p:grpSpPr>
        <p:sp>
          <p:nvSpPr>
            <p:cNvPr id="18" name="Rectangle 18"/>
            <p:cNvSpPr/>
            <p:nvPr/>
          </p:nvSpPr>
          <p:spPr>
            <a:xfrm>
              <a:off x="6438900" y="1238250"/>
              <a:ext cx="5143500" cy="4000500"/>
            </a:xfrm>
            <a:prstGeom prst="roundRect">
              <a:avLst>
                <a:gd name="adj" fmla="val 2381"/>
              </a:avLst>
            </a:prstGeom>
            <a:solidFill>
              <a:srgbClr val="FFFFFF"/>
            </a:solidFill>
            <a:ln w="14288">
              <a:solidFill>
                <a:srgbClr val="2E86AB"/>
              </a:solidFill>
            </a:ln>
          </p:spPr>
        </p:sp>
        <p:sp>
          <p:nvSpPr>
            <p:cNvPr id="19" name="TextBox 19"/>
            <p:cNvSpPr txBox="1"/>
            <p:nvPr/>
          </p:nvSpPr>
          <p:spPr>
            <a:xfrm>
              <a:off x="6734556" y="1424940"/>
              <a:ext cx="323277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Neden harmonik ortalama?</a:t>
              </a:r>
            </a:p>
          </p:txBody>
        </p:sp>
        <p:sp>
          <p:nvSpPr>
            <p:cNvPr id="20" name="TextBox 20"/>
            <p:cNvSpPr txBox="1"/>
            <p:nvPr/>
          </p:nvSpPr>
          <p:spPr>
            <a:xfrm>
              <a:off x="6736842" y="1797368"/>
              <a:ext cx="3984196"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Uç durum: Kesinlik = 1,00 · Duyarlılık = 0,00</a:t>
              </a:r>
            </a:p>
          </p:txBody>
        </p:sp>
        <p:sp>
          <p:nvSpPr>
            <p:cNvPr id="21" name="Rectangle 21"/>
            <p:cNvSpPr/>
            <p:nvPr/>
          </p:nvSpPr>
          <p:spPr>
            <a:xfrm>
              <a:off x="6743700" y="2171700"/>
              <a:ext cx="4533900" cy="762000"/>
            </a:xfrm>
            <a:prstGeom prst="roundRect">
              <a:avLst>
                <a:gd name="adj" fmla="val 10000"/>
              </a:avLst>
            </a:prstGeom>
            <a:solidFill>
              <a:srgbClr val="F7FAFC"/>
            </a:solidFill>
            <a:ln w="9525">
              <a:solidFill>
                <a:srgbClr val="B8CBD3"/>
              </a:solidFill>
            </a:ln>
          </p:spPr>
        </p:sp>
        <p:sp>
          <p:nvSpPr>
            <p:cNvPr id="22" name="TextBox 22"/>
            <p:cNvSpPr txBox="1"/>
            <p:nvPr/>
          </p:nvSpPr>
          <p:spPr>
            <a:xfrm>
              <a:off x="6965061" y="2284571"/>
              <a:ext cx="4205240"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Aritmetik ortalama: (1,00 + 0,00) / 2 = 0,50</a:t>
              </a:r>
            </a:p>
          </p:txBody>
        </p:sp>
        <p:sp>
          <p:nvSpPr>
            <p:cNvPr id="23" name="TextBox 23"/>
            <p:cNvSpPr txBox="1"/>
            <p:nvPr/>
          </p:nvSpPr>
          <p:spPr>
            <a:xfrm>
              <a:off x="6965061" y="2570321"/>
              <a:ext cx="2944655"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F1 (harmonik ortalama): 0,00</a:t>
              </a:r>
            </a:p>
          </p:txBody>
        </p:sp>
        <p:sp>
          <p:nvSpPr>
            <p:cNvPr id="24" name="TextBox 24"/>
            <p:cNvSpPr txBox="1"/>
            <p:nvPr/>
          </p:nvSpPr>
          <p:spPr>
            <a:xfrm>
              <a:off x="6736080" y="3095625"/>
              <a:ext cx="3291840" cy="1036320"/>
            </a:xfrm>
            <a:prstGeom prst="rect">
              <a:avLst/>
            </a:prstGeom>
            <a:noFill/>
            <a:ln>
              <a:noFill/>
            </a:ln>
          </p:spPr>
          <p:txBody>
            <a:bodyPr wrap="none" lIns="0" tIns="0" rIns="0" bIns="0" anchor="t" anchorCtr="0">
              <a:spAutoFit/>
            </a:bodyPr>
            <a:lstStyle/>
            <a:p>
              <a:pPr algn="l">
                <a:lnSpc>
                  <a:spcPts val="1950"/>
                </a:lnSpc>
              </a:pPr>
              <a:r>
                <a:rPr lang="tr-TR" sz="1500" dirty="0">
                  <a:solidFill>
                    <a:srgbClr val="172B3A"/>
                  </a:solidFill>
                  <a:latin typeface="+mn-lt"/>
                  <a:ea typeface="+mn-ea"/>
                  <a:cs typeface="+mn-cs"/>
                </a:rPr>
                <a:t>F1, dengesiz durumları aritmetik</a:t>
              </a:r>
              <a:br/>
              <a:r>
                <a:rPr lang="tr-TR" sz="1500" dirty="0">
                  <a:solidFill>
                    <a:srgbClr val="172B3A"/>
                  </a:solidFill>
                  <a:latin typeface="+mn-lt"/>
                  <a:ea typeface="+mn-ea"/>
                  <a:cs typeface="+mn-cs"/>
                </a:rPr>
                <a:t>ortalamadan çok daha sert</a:t>
              </a:r>
              <a:br/>
              <a:r>
                <a:rPr lang="tr-TR" sz="1500" dirty="0">
                  <a:solidFill>
                    <a:srgbClr val="172B3A"/>
                  </a:solidFill>
                  <a:latin typeface="+mn-lt"/>
                  <a:ea typeface="+mn-ea"/>
                  <a:cs typeface="+mn-cs"/>
                </a:rPr>
                <a:t>cezalandırır: bir taraf çökerse F1</a:t>
              </a:r>
              <a:br/>
              <a:r>
                <a:rPr lang="tr-TR" sz="1500" dirty="0">
                  <a:solidFill>
                    <a:srgbClr val="172B3A"/>
                  </a:solidFill>
                  <a:latin typeface="+mn-lt"/>
                  <a:ea typeface="+mn-ea"/>
                  <a:cs typeface="+mn-cs"/>
                </a:rPr>
                <a:t>de çöker.</a:t>
              </a:r>
            </a:p>
          </p:txBody>
        </p:sp>
        <p:sp>
          <p:nvSpPr>
            <p:cNvPr id="25" name="Rectangle 25"/>
            <p:cNvSpPr/>
            <p:nvPr/>
          </p:nvSpPr>
          <p:spPr>
            <a:xfrm>
              <a:off x="6743700" y="4381500"/>
              <a:ext cx="4533900" cy="590550"/>
            </a:xfrm>
            <a:prstGeom prst="roundRect">
              <a:avLst>
                <a:gd name="adj" fmla="val 12903"/>
              </a:avLst>
            </a:prstGeom>
            <a:solidFill>
              <a:srgbClr val="EAF4F6"/>
            </a:solidFill>
            <a:ln>
              <a:noFill/>
            </a:ln>
          </p:spPr>
        </p:sp>
        <p:sp>
          <p:nvSpPr>
            <p:cNvPr id="26" name="TextBox 26"/>
            <p:cNvSpPr txBox="1"/>
            <p:nvPr/>
          </p:nvSpPr>
          <p:spPr>
            <a:xfrm>
              <a:off x="6965442" y="4502468"/>
              <a:ext cx="4077081" cy="473583"/>
            </a:xfrm>
            <a:prstGeom prst="rect">
              <a:avLst/>
            </a:prstGeom>
            <a:noFill/>
            <a:ln>
              <a:noFill/>
            </a:ln>
          </p:spPr>
          <p:txBody>
            <a:bodyPr wrap="none" lIns="0" tIns="0" rIns="0" bIns="0" anchor="t" anchorCtr="0">
              <a:spAutoFit/>
            </a:bodyPr>
            <a:lstStyle/>
            <a:p>
              <a:pPr algn="l">
                <a:lnSpc>
                  <a:spcPts val="1650"/>
                </a:lnSpc>
              </a:pPr>
              <a:r>
                <a:rPr lang="tr-TR" sz="1350" dirty="0">
                  <a:solidFill>
                    <a:srgbClr val="172B3A"/>
                  </a:solidFill>
                  <a:latin typeface="+mn-lt"/>
                  <a:ea typeface="+mn-ea"/>
                  <a:cs typeface="+mn-cs"/>
                </a:rPr>
                <a:t>Bu yüzden F1, tek bir sayıyla kesinlik/</a:t>
              </a:r>
              <a:br/>
              <a:r>
                <a:rPr lang="tr-TR" sz="1350" dirty="0">
                  <a:solidFill>
                    <a:srgbClr val="172B3A"/>
                  </a:solidFill>
                  <a:latin typeface="+mn-lt"/>
                  <a:ea typeface="+mn-ea"/>
                  <a:cs typeface="+mn-cs"/>
                </a:rPr>
                <a:t>duyarlılık dengesini özetlemek için tercih edilir.</a:t>
              </a:r>
            </a:p>
          </p:txBody>
        </p:sp>
      </p:grpSp>
      <p:sp>
        <p:nvSpPr>
          <p:cNvPr id="28" name="TextBox 2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 / 25</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7703250" cy="668845"/>
            <a:chOff x="609600" y="171450"/>
            <a:chExt cx="7703250"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701287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F1-skor: üç model karşılaştırması</a:t>
              </a:r>
            </a:p>
          </p:txBody>
        </p:sp>
      </p:grpSp>
      <p:grpSp>
        <p:nvGrpSpPr>
          <p:cNvPr id="31" name="comparison-table"/>
          <p:cNvGrpSpPr/>
          <p:nvPr/>
        </p:nvGrpSpPr>
        <p:grpSpPr>
          <a:xfrm>
            <a:off x="609600" y="1219200"/>
            <a:ext cx="10972800" cy="2476500"/>
            <a:chOff x="609600" y="1219200"/>
            <a:chExt cx="10972800" cy="2476500"/>
          </a:xfrm>
        </p:grpSpPr>
        <p:sp>
          <p:nvSpPr>
            <p:cNvPr id="9" name="Rectangle 9"/>
            <p:cNvSpPr/>
            <p:nvPr/>
          </p:nvSpPr>
          <p:spPr>
            <a:xfrm>
              <a:off x="609600" y="1219200"/>
              <a:ext cx="10972800" cy="476250"/>
            </a:xfrm>
            <a:prstGeom prst="rect">
              <a:avLst/>
            </a:prstGeom>
            <a:solidFill>
              <a:srgbClr val="12355B"/>
            </a:solidFill>
            <a:ln>
              <a:noFill/>
            </a:ln>
          </p:spPr>
        </p:sp>
        <p:sp>
          <p:nvSpPr>
            <p:cNvPr id="10" name="TextBox 10"/>
            <p:cNvSpPr txBox="1"/>
            <p:nvPr/>
          </p:nvSpPr>
          <p:spPr>
            <a:xfrm>
              <a:off x="907542" y="1378268"/>
              <a:ext cx="648835"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MODEL</a:t>
              </a:r>
            </a:p>
          </p:txBody>
        </p:sp>
        <p:sp>
          <p:nvSpPr>
            <p:cNvPr id="11" name="TextBox 11"/>
            <p:cNvSpPr txBox="1"/>
            <p:nvPr/>
          </p:nvSpPr>
          <p:spPr>
            <a:xfrm>
              <a:off x="5098542" y="1378268"/>
              <a:ext cx="900867"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KESİNLİK</a:t>
              </a:r>
            </a:p>
          </p:txBody>
        </p:sp>
        <p:sp>
          <p:nvSpPr>
            <p:cNvPr id="12" name="TextBox 12"/>
            <p:cNvSpPr txBox="1"/>
            <p:nvPr/>
          </p:nvSpPr>
          <p:spPr>
            <a:xfrm>
              <a:off x="7384542" y="1378268"/>
              <a:ext cx="1021842"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DUYARLILIK</a:t>
              </a:r>
            </a:p>
          </p:txBody>
        </p:sp>
        <p:sp>
          <p:nvSpPr>
            <p:cNvPr id="13" name="TextBox 13"/>
            <p:cNvSpPr txBox="1"/>
            <p:nvPr/>
          </p:nvSpPr>
          <p:spPr>
            <a:xfrm>
              <a:off x="10127742" y="1378268"/>
              <a:ext cx="235504"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F1</a:t>
              </a:r>
            </a:p>
          </p:txBody>
        </p:sp>
        <p:sp>
          <p:nvSpPr>
            <p:cNvPr id="14" name="Rectangle 14"/>
            <p:cNvSpPr/>
            <p:nvPr/>
          </p:nvSpPr>
          <p:spPr>
            <a:xfrm>
              <a:off x="609600" y="1695450"/>
              <a:ext cx="10972800" cy="666750"/>
            </a:xfrm>
            <a:prstGeom prst="rect">
              <a:avLst/>
            </a:prstGeom>
            <a:solidFill>
              <a:srgbClr val="EAF4F6"/>
            </a:solidFill>
            <a:ln>
              <a:noFill/>
            </a:ln>
          </p:spPr>
        </p:sp>
        <p:sp>
          <p:nvSpPr>
            <p:cNvPr id="15" name="TextBox 15"/>
            <p:cNvSpPr txBox="1"/>
            <p:nvPr/>
          </p:nvSpPr>
          <p:spPr>
            <a:xfrm>
              <a:off x="906399" y="1925479"/>
              <a:ext cx="166054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RastgeleOrman</a:t>
              </a:r>
            </a:p>
          </p:txBody>
        </p:sp>
        <p:sp>
          <p:nvSpPr>
            <p:cNvPr id="16" name="TextBox 16"/>
            <p:cNvSpPr txBox="1"/>
            <p:nvPr/>
          </p:nvSpPr>
          <p:spPr>
            <a:xfrm>
              <a:off x="5097399" y="1925479"/>
              <a:ext cx="48394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0,74</a:t>
              </a:r>
            </a:p>
          </p:txBody>
        </p:sp>
        <p:sp>
          <p:nvSpPr>
            <p:cNvPr id="17" name="TextBox 17"/>
            <p:cNvSpPr txBox="1"/>
            <p:nvPr/>
          </p:nvSpPr>
          <p:spPr>
            <a:xfrm>
              <a:off x="7383399" y="1925479"/>
              <a:ext cx="48394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0,81</a:t>
              </a:r>
            </a:p>
          </p:txBody>
        </p:sp>
        <p:sp>
          <p:nvSpPr>
            <p:cNvPr id="18" name="TextBox 18"/>
            <p:cNvSpPr txBox="1"/>
            <p:nvPr/>
          </p:nvSpPr>
          <p:spPr>
            <a:xfrm>
              <a:off x="10126599" y="1925479"/>
              <a:ext cx="50733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0,77</a:t>
              </a:r>
            </a:p>
          </p:txBody>
        </p:sp>
        <p:sp>
          <p:nvSpPr>
            <p:cNvPr id="19" name="Rectangle 19"/>
            <p:cNvSpPr/>
            <p:nvPr/>
          </p:nvSpPr>
          <p:spPr>
            <a:xfrm>
              <a:off x="609600" y="2362200"/>
              <a:ext cx="10972800" cy="666750"/>
            </a:xfrm>
            <a:prstGeom prst="rect">
              <a:avLst/>
            </a:prstGeom>
            <a:solidFill>
              <a:srgbClr val="FFFFFF"/>
            </a:solidFill>
            <a:ln>
              <a:noFill/>
            </a:ln>
          </p:spPr>
        </p:sp>
        <p:sp>
          <p:nvSpPr>
            <p:cNvPr id="20" name="TextBox 20"/>
            <p:cNvSpPr txBox="1"/>
            <p:nvPr/>
          </p:nvSpPr>
          <p:spPr>
            <a:xfrm>
              <a:off x="906399" y="2592229"/>
              <a:ext cx="1857400"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LojistikRegresyon</a:t>
              </a:r>
            </a:p>
          </p:txBody>
        </p:sp>
        <p:sp>
          <p:nvSpPr>
            <p:cNvPr id="21" name="TextBox 21"/>
            <p:cNvSpPr txBox="1"/>
            <p:nvPr/>
          </p:nvSpPr>
          <p:spPr>
            <a:xfrm>
              <a:off x="5097399" y="2592229"/>
              <a:ext cx="48394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0,68</a:t>
              </a:r>
            </a:p>
          </p:txBody>
        </p:sp>
        <p:sp>
          <p:nvSpPr>
            <p:cNvPr id="22" name="TextBox 22"/>
            <p:cNvSpPr txBox="1"/>
            <p:nvPr/>
          </p:nvSpPr>
          <p:spPr>
            <a:xfrm>
              <a:off x="7383399" y="2592229"/>
              <a:ext cx="48394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0,72</a:t>
              </a:r>
            </a:p>
          </p:txBody>
        </p:sp>
        <p:sp>
          <p:nvSpPr>
            <p:cNvPr id="23" name="TextBox 23"/>
            <p:cNvSpPr txBox="1"/>
            <p:nvPr/>
          </p:nvSpPr>
          <p:spPr>
            <a:xfrm>
              <a:off x="10126599" y="2592229"/>
              <a:ext cx="48394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0,70</a:t>
              </a:r>
            </a:p>
          </p:txBody>
        </p:sp>
        <p:sp>
          <p:nvSpPr>
            <p:cNvPr id="24" name="Rectangle 24"/>
            <p:cNvSpPr/>
            <p:nvPr/>
          </p:nvSpPr>
          <p:spPr>
            <a:xfrm>
              <a:off x="609600" y="3028950"/>
              <a:ext cx="10972800" cy="666750"/>
            </a:xfrm>
            <a:prstGeom prst="rect">
              <a:avLst/>
            </a:prstGeom>
            <a:solidFill>
              <a:srgbClr val="EAF4F6"/>
            </a:solidFill>
            <a:ln>
              <a:noFill/>
            </a:ln>
          </p:spPr>
        </p:sp>
        <p:sp>
          <p:nvSpPr>
            <p:cNvPr id="25" name="TextBox 25"/>
            <p:cNvSpPr txBox="1"/>
            <p:nvPr/>
          </p:nvSpPr>
          <p:spPr>
            <a:xfrm>
              <a:off x="906399" y="3258979"/>
              <a:ext cx="114531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KararAgaci</a:t>
              </a:r>
            </a:p>
          </p:txBody>
        </p:sp>
        <p:sp>
          <p:nvSpPr>
            <p:cNvPr id="26" name="TextBox 26"/>
            <p:cNvSpPr txBox="1"/>
            <p:nvPr/>
          </p:nvSpPr>
          <p:spPr>
            <a:xfrm>
              <a:off x="5097399" y="3258979"/>
              <a:ext cx="48394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0,65</a:t>
              </a:r>
            </a:p>
          </p:txBody>
        </p:sp>
        <p:sp>
          <p:nvSpPr>
            <p:cNvPr id="27" name="TextBox 27"/>
            <p:cNvSpPr txBox="1"/>
            <p:nvPr/>
          </p:nvSpPr>
          <p:spPr>
            <a:xfrm>
              <a:off x="7383399" y="3258979"/>
              <a:ext cx="48394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0,69</a:t>
              </a:r>
            </a:p>
          </p:txBody>
        </p:sp>
        <p:sp>
          <p:nvSpPr>
            <p:cNvPr id="28" name="TextBox 28"/>
            <p:cNvSpPr txBox="1"/>
            <p:nvPr/>
          </p:nvSpPr>
          <p:spPr>
            <a:xfrm>
              <a:off x="10126599" y="3258979"/>
              <a:ext cx="48394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0,67</a:t>
              </a:r>
            </a:p>
          </p:txBody>
        </p:sp>
        <p:sp>
          <p:nvSpPr>
            <p:cNvPr id="29" name="Line 29"/>
            <p:cNvSpPr/>
            <p:nvPr/>
          </p:nvSpPr>
          <p:spPr>
            <a:xfrm>
              <a:off x="609600" y="23622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30" name="Line 30"/>
            <p:cNvSpPr/>
            <p:nvPr/>
          </p:nvSpPr>
          <p:spPr>
            <a:xfrm>
              <a:off x="609600" y="30289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2" name="f1-bars"/>
          <p:cNvGrpSpPr/>
          <p:nvPr/>
        </p:nvGrpSpPr>
        <p:grpSpPr>
          <a:xfrm>
            <a:off x="602361" y="3999071"/>
            <a:ext cx="8732139" cy="1396080"/>
            <a:chOff x="602361" y="3999071"/>
            <a:chExt cx="8732139" cy="1396080"/>
          </a:xfrm>
        </p:grpSpPr>
        <p:sp>
          <p:nvSpPr>
            <p:cNvPr id="32" name="TextBox 32"/>
            <p:cNvSpPr txBox="1"/>
            <p:nvPr/>
          </p:nvSpPr>
          <p:spPr>
            <a:xfrm>
              <a:off x="602361" y="3999071"/>
              <a:ext cx="4446998" cy="278702"/>
            </a:xfrm>
            <a:prstGeom prst="rect">
              <a:avLst/>
            </a:prstGeom>
            <a:noFill/>
            <a:ln>
              <a:noFill/>
            </a:ln>
          </p:spPr>
          <p:txBody>
            <a:bodyPr wrap="none" lIns="0" tIns="0" rIns="0" bIns="0" anchor="t" anchorCtr="0">
              <a:spAutoFit/>
            </a:bodyPr>
            <a:lstStyle/>
            <a:p>
              <a:pPr algn="l"/>
              <a:r>
                <a:rPr lang="tr-TR" sz="1420" dirty="0">
                  <a:solidFill>
                    <a:srgbClr val="52616B"/>
                  </a:solidFill>
                  <a:latin typeface="+mn-lt"/>
                  <a:ea typeface="+mn-ea"/>
                  <a:cs typeface="+mn-cs"/>
                </a:rPr>
                <a:t>F1-skoruna göre sıralama (yüksekten düşüğe):</a:t>
              </a:r>
            </a:p>
          </p:txBody>
        </p:sp>
        <p:sp>
          <p:nvSpPr>
            <p:cNvPr id="33" name="TextBox 33"/>
            <p:cNvSpPr txBox="1"/>
            <p:nvPr/>
          </p:nvSpPr>
          <p:spPr>
            <a:xfrm>
              <a:off x="602742" y="4331018"/>
              <a:ext cx="1351949"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RastgeleOrman</a:t>
              </a:r>
            </a:p>
          </p:txBody>
        </p:sp>
        <p:sp>
          <p:nvSpPr>
            <p:cNvPr id="34" name="Rectangle 34"/>
            <p:cNvSpPr/>
            <p:nvPr/>
          </p:nvSpPr>
          <p:spPr>
            <a:xfrm>
              <a:off x="2667000" y="4305300"/>
              <a:ext cx="6667500" cy="247650"/>
            </a:xfrm>
            <a:prstGeom prst="roundRect">
              <a:avLst>
                <a:gd name="adj" fmla="val 15385"/>
              </a:avLst>
            </a:prstGeom>
            <a:solidFill>
              <a:srgbClr val="EAF4F6"/>
            </a:solidFill>
            <a:ln>
              <a:noFill/>
            </a:ln>
          </p:spPr>
        </p:sp>
        <p:sp>
          <p:nvSpPr>
            <p:cNvPr id="35" name="Rectangle 35"/>
            <p:cNvSpPr/>
            <p:nvPr/>
          </p:nvSpPr>
          <p:spPr>
            <a:xfrm>
              <a:off x="2667000" y="4305300"/>
              <a:ext cx="5133975" cy="247650"/>
            </a:xfrm>
            <a:prstGeom prst="roundRect">
              <a:avLst>
                <a:gd name="adj" fmla="val 15385"/>
              </a:avLst>
            </a:prstGeom>
            <a:solidFill>
              <a:srgbClr val="00A6A6"/>
            </a:solidFill>
            <a:ln>
              <a:noFill/>
            </a:ln>
          </p:spPr>
        </p:sp>
        <p:sp>
          <p:nvSpPr>
            <p:cNvPr id="36" name="TextBox 36"/>
            <p:cNvSpPr txBox="1"/>
            <p:nvPr/>
          </p:nvSpPr>
          <p:spPr>
            <a:xfrm>
              <a:off x="602742" y="4731068"/>
              <a:ext cx="158706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LojistikRegresyon</a:t>
              </a:r>
            </a:p>
          </p:txBody>
        </p:sp>
        <p:sp>
          <p:nvSpPr>
            <p:cNvPr id="37" name="Rectangle 37"/>
            <p:cNvSpPr/>
            <p:nvPr/>
          </p:nvSpPr>
          <p:spPr>
            <a:xfrm>
              <a:off x="2667000" y="4705350"/>
              <a:ext cx="6667500" cy="247650"/>
            </a:xfrm>
            <a:prstGeom prst="roundRect">
              <a:avLst>
                <a:gd name="adj" fmla="val 15385"/>
              </a:avLst>
            </a:prstGeom>
            <a:solidFill>
              <a:srgbClr val="EAF4F6"/>
            </a:solidFill>
            <a:ln>
              <a:noFill/>
            </a:ln>
          </p:spPr>
        </p:sp>
        <p:sp>
          <p:nvSpPr>
            <p:cNvPr id="38" name="Rectangle 38"/>
            <p:cNvSpPr/>
            <p:nvPr/>
          </p:nvSpPr>
          <p:spPr>
            <a:xfrm>
              <a:off x="2667000" y="4705350"/>
              <a:ext cx="4667250" cy="247650"/>
            </a:xfrm>
            <a:prstGeom prst="roundRect">
              <a:avLst>
                <a:gd name="adj" fmla="val 15385"/>
              </a:avLst>
            </a:prstGeom>
            <a:solidFill>
              <a:srgbClr val="2E86AB"/>
            </a:solidFill>
            <a:ln>
              <a:noFill/>
            </a:ln>
          </p:spPr>
        </p:sp>
        <p:sp>
          <p:nvSpPr>
            <p:cNvPr id="39" name="TextBox 39"/>
            <p:cNvSpPr txBox="1"/>
            <p:nvPr/>
          </p:nvSpPr>
          <p:spPr>
            <a:xfrm>
              <a:off x="602742" y="5131118"/>
              <a:ext cx="97863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KararAgaci</a:t>
              </a:r>
            </a:p>
          </p:txBody>
        </p:sp>
        <p:sp>
          <p:nvSpPr>
            <p:cNvPr id="40" name="Rectangle 40"/>
            <p:cNvSpPr/>
            <p:nvPr/>
          </p:nvSpPr>
          <p:spPr>
            <a:xfrm>
              <a:off x="2667000" y="5105400"/>
              <a:ext cx="6667500" cy="247650"/>
            </a:xfrm>
            <a:prstGeom prst="roundRect">
              <a:avLst>
                <a:gd name="adj" fmla="val 15385"/>
              </a:avLst>
            </a:prstGeom>
            <a:solidFill>
              <a:srgbClr val="EAF4F6"/>
            </a:solidFill>
            <a:ln>
              <a:noFill/>
            </a:ln>
          </p:spPr>
        </p:sp>
        <p:sp>
          <p:nvSpPr>
            <p:cNvPr id="41" name="Rectangle 41"/>
            <p:cNvSpPr/>
            <p:nvPr/>
          </p:nvSpPr>
          <p:spPr>
            <a:xfrm>
              <a:off x="2667000" y="5105400"/>
              <a:ext cx="4467225" cy="247650"/>
            </a:xfrm>
            <a:prstGeom prst="roundRect">
              <a:avLst>
                <a:gd name="adj" fmla="val 15385"/>
              </a:avLst>
            </a:prstGeom>
            <a:solidFill>
              <a:srgbClr val="52616B"/>
            </a:solidFill>
            <a:ln>
              <a:noFill/>
            </a:ln>
          </p:spPr>
        </p:sp>
      </p:grpSp>
      <p:grpSp>
        <p:nvGrpSpPr>
          <p:cNvPr id="45" name="takeaway"/>
          <p:cNvGrpSpPr/>
          <p:nvPr/>
        </p:nvGrpSpPr>
        <p:grpSpPr>
          <a:xfrm>
            <a:off x="609600" y="5657850"/>
            <a:ext cx="10972800" cy="590550"/>
            <a:chOff x="609600" y="5657850"/>
            <a:chExt cx="10972800" cy="590550"/>
          </a:xfrm>
        </p:grpSpPr>
        <p:sp>
          <p:nvSpPr>
            <p:cNvPr id="43" name="Rectangle 43"/>
            <p:cNvSpPr/>
            <p:nvPr/>
          </p:nvSpPr>
          <p:spPr>
            <a:xfrm>
              <a:off x="609600" y="5657850"/>
              <a:ext cx="10972800" cy="590550"/>
            </a:xfrm>
            <a:prstGeom prst="roundRect">
              <a:avLst>
                <a:gd name="adj" fmla="val 12903"/>
              </a:avLst>
            </a:prstGeom>
            <a:solidFill>
              <a:srgbClr val="EAF4F6"/>
            </a:solidFill>
            <a:ln>
              <a:noFill/>
            </a:ln>
          </p:spPr>
        </p:sp>
        <p:sp>
          <p:nvSpPr>
            <p:cNvPr id="44" name="TextBox 44"/>
            <p:cNvSpPr txBox="1"/>
            <p:nvPr/>
          </p:nvSpPr>
          <p:spPr>
            <a:xfrm>
              <a:off x="906780" y="5857875"/>
              <a:ext cx="8943906"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Tek bir F1 sayısı, üç modeli kesinlik/duyarlılık dengesine göre hızlıca sıralamayı sağlar.</a:t>
              </a:r>
            </a:p>
          </p:txBody>
        </p:sp>
      </p:grpSp>
      <p:sp>
        <p:nvSpPr>
          <p:cNvPr id="46" name="TextBox 4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 / 25</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7480712" cy="668845"/>
            <a:chOff x="609600" y="171450"/>
            <a:chExt cx="7480712"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679034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Metrikten karara: kavramsal akış</a:t>
              </a:r>
            </a:p>
          </p:txBody>
        </p:sp>
      </p:grpSp>
      <p:grpSp>
        <p:nvGrpSpPr>
          <p:cNvPr id="30" name="flow-diagram"/>
          <p:cNvGrpSpPr/>
          <p:nvPr/>
        </p:nvGrpSpPr>
        <p:grpSpPr>
          <a:xfrm>
            <a:off x="4095750" y="1428750"/>
            <a:ext cx="5143500" cy="4267200"/>
            <a:chOff x="4095750" y="1428750"/>
            <a:chExt cx="5143500" cy="4267200"/>
          </a:xfrm>
        </p:grpSpPr>
        <p:sp>
          <p:nvSpPr>
            <p:cNvPr id="9" name="Line 9"/>
            <p:cNvSpPr/>
            <p:nvPr/>
          </p:nvSpPr>
          <p:spPr>
            <a:xfrm>
              <a:off x="6096000" y="2038350"/>
              <a:ext cx="1" cy="304800"/>
            </a:xfrm>
            <a:prstGeom prst="line">
              <a:avLst/>
            </a:prstGeom>
            <a:noFill/>
            <a:ln w="19050">
              <a:solidFill>
                <a:srgbClr val="00A6A6"/>
              </a:solidFill>
              <a:tailEnd type="arrow" w="lg" len="lg"/>
            </a:ln>
          </p:spPr>
        </p:sp>
        <p:sp>
          <p:nvSpPr>
            <p:cNvPr id="10" name="Line 10"/>
            <p:cNvSpPr/>
            <p:nvPr/>
          </p:nvSpPr>
          <p:spPr>
            <a:xfrm>
              <a:off x="6096000" y="2952750"/>
              <a:ext cx="1" cy="304800"/>
            </a:xfrm>
            <a:prstGeom prst="line">
              <a:avLst/>
            </a:prstGeom>
            <a:noFill/>
            <a:ln w="19050">
              <a:solidFill>
                <a:srgbClr val="00A6A6"/>
              </a:solidFill>
              <a:tailEnd type="arrow" w="lg" len="lg"/>
            </a:ln>
          </p:spPr>
        </p:sp>
        <p:sp>
          <p:nvSpPr>
            <p:cNvPr id="11" name="Line 11"/>
            <p:cNvSpPr/>
            <p:nvPr/>
          </p:nvSpPr>
          <p:spPr>
            <a:xfrm>
              <a:off x="6096000" y="3867150"/>
              <a:ext cx="1" cy="304800"/>
            </a:xfrm>
            <a:prstGeom prst="line">
              <a:avLst/>
            </a:prstGeom>
            <a:noFill/>
            <a:ln w="19050">
              <a:solidFill>
                <a:srgbClr val="00A6A6"/>
              </a:solidFill>
              <a:tailEnd type="arrow" w="lg" len="lg"/>
            </a:ln>
          </p:spPr>
        </p:sp>
        <p:sp>
          <p:nvSpPr>
            <p:cNvPr id="12" name="Line 12"/>
            <p:cNvSpPr/>
            <p:nvPr/>
          </p:nvSpPr>
          <p:spPr>
            <a:xfrm>
              <a:off x="6096000" y="4781550"/>
              <a:ext cx="1" cy="304800"/>
            </a:xfrm>
            <a:prstGeom prst="line">
              <a:avLst/>
            </a:prstGeom>
            <a:noFill/>
            <a:ln w="19050">
              <a:solidFill>
                <a:srgbClr val="00A6A6"/>
              </a:solidFill>
              <a:tailEnd type="arrow" w="lg" len="lg"/>
            </a:ln>
          </p:spPr>
        </p:sp>
        <p:sp>
          <p:nvSpPr>
            <p:cNvPr id="13" name="TextBox 13"/>
            <p:cNvSpPr txBox="1"/>
            <p:nvPr/>
          </p:nvSpPr>
          <p:spPr>
            <a:xfrm>
              <a:off x="6280404" y="4861560"/>
              <a:ext cx="154418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Evet: sonuç yeterli</a:t>
              </a:r>
            </a:p>
          </p:txBody>
        </p:sp>
        <p:sp>
          <p:nvSpPr>
            <p:cNvPr id="14" name="Freeform 14"/>
            <p:cNvSpPr/>
            <p:nvPr/>
          </p:nvSpPr>
          <p:spPr>
            <a:xfrm>
              <a:off x="8096250" y="2647950"/>
              <a:ext cx="1143000" cy="1828800"/>
            </a:xfrm>
            <a:custGeom>
              <a:avLst/>
              <a:gdLst/>
              <a:ahLst/>
              <a:cxnLst/>
              <a:rect l="l" t="t" r="r" b="b"/>
              <a:pathLst>
                <a:path w="1143000" h="1828800">
                  <a:moveTo>
                    <a:pt x="0" y="1828800"/>
                  </a:moveTo>
                  <a:cubicBezTo>
                    <a:pt x="1143000" y="1828800"/>
                    <a:pt x="1143000" y="0"/>
                    <a:pt x="0" y="0"/>
                  </a:cubicBezTo>
                </a:path>
              </a:pathLst>
            </a:custGeom>
            <a:noFill/>
            <a:ln w="19050">
              <a:solidFill>
                <a:srgbClr val="52616B"/>
              </a:solidFill>
              <a:custDash>
                <a:ds d="300000" sp="200000"/>
              </a:custDash>
              <a:tailEnd type="arrow" w="lg" len="lg"/>
            </a:ln>
          </p:spPr>
        </p:sp>
        <p:sp>
          <p:nvSpPr>
            <p:cNvPr id="15" name="TextBox 15"/>
            <p:cNvSpPr txBox="1"/>
            <p:nvPr/>
          </p:nvSpPr>
          <p:spPr>
            <a:xfrm>
              <a:off x="8566404" y="3299460"/>
              <a:ext cx="5151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Hayır:</a:t>
              </a:r>
              <a:br/>
              <a:r>
                <a:rPr lang="tr-TR" sz="1200" dirty="0">
                  <a:solidFill>
                    <a:srgbClr val="52616B"/>
                  </a:solidFill>
                  <a:latin typeface="+mn-lt"/>
                  <a:ea typeface="+mn-ea"/>
                  <a:cs typeface="+mn-cs"/>
                </a:rPr>
                <a:t>eşiği</a:t>
              </a:r>
              <a:br/>
              <a:r>
                <a:rPr lang="tr-TR" sz="1200" dirty="0">
                  <a:solidFill>
                    <a:srgbClr val="52616B"/>
                  </a:solidFill>
                  <a:latin typeface="+mn-lt"/>
                  <a:ea typeface="+mn-ea"/>
                  <a:cs typeface="+mn-cs"/>
                </a:rPr>
                <a:t>ayarla</a:t>
              </a:r>
            </a:p>
          </p:txBody>
        </p:sp>
        <p:sp>
          <p:nvSpPr>
            <p:cNvPr id="16" name="Rectangle 16"/>
            <p:cNvSpPr/>
            <p:nvPr/>
          </p:nvSpPr>
          <p:spPr>
            <a:xfrm>
              <a:off x="4095750" y="1428750"/>
              <a:ext cx="4000500" cy="609600"/>
            </a:xfrm>
            <a:prstGeom prst="roundRect">
              <a:avLst>
                <a:gd name="adj" fmla="val 15625"/>
              </a:avLst>
            </a:prstGeom>
            <a:solidFill>
              <a:srgbClr val="12355B"/>
            </a:solidFill>
            <a:ln>
              <a:noFill/>
            </a:ln>
          </p:spPr>
        </p:sp>
        <p:sp>
          <p:nvSpPr>
            <p:cNvPr id="17" name="TextBox 17"/>
            <p:cNvSpPr txBox="1"/>
            <p:nvPr/>
          </p:nvSpPr>
          <p:spPr>
            <a:xfrm>
              <a:off x="4823576" y="1514475"/>
              <a:ext cx="2544847" cy="293370"/>
            </a:xfrm>
            <a:prstGeom prst="rect">
              <a:avLst/>
            </a:prstGeom>
            <a:noFill/>
            <a:ln>
              <a:noFill/>
            </a:ln>
          </p:spPr>
          <p:txBody>
            <a:bodyPr wrap="none" lIns="0" tIns="0" rIns="0" bIns="0" anchor="t" anchorCtr="0">
              <a:spAutoFit/>
            </a:bodyPr>
            <a:lstStyle/>
            <a:p>
              <a:pPr algn="ctr"/>
              <a:r>
                <a:rPr lang="tr-TR" sz="1500" b="1" dirty="0">
                  <a:solidFill>
                    <a:srgbClr val="FFFFFF"/>
                  </a:solidFill>
                  <a:latin typeface="+mn-lt"/>
                  <a:ea typeface="+mn-ea"/>
                  <a:cs typeface="+mn-cs"/>
                </a:rPr>
                <a:t>Tahmin olasılıkları üret</a:t>
              </a:r>
            </a:p>
          </p:txBody>
        </p:sp>
        <p:sp>
          <p:nvSpPr>
            <p:cNvPr id="18" name="TextBox 18"/>
            <p:cNvSpPr txBox="1"/>
            <p:nvPr/>
          </p:nvSpPr>
          <p:spPr>
            <a:xfrm>
              <a:off x="5487187" y="1783556"/>
              <a:ext cx="1217625" cy="220028"/>
            </a:xfrm>
            <a:prstGeom prst="rect">
              <a:avLst/>
            </a:prstGeom>
            <a:noFill/>
            <a:ln>
              <a:noFill/>
            </a:ln>
          </p:spPr>
          <p:txBody>
            <a:bodyPr wrap="none" lIns="0" tIns="0" rIns="0" bIns="0" anchor="t" anchorCtr="0">
              <a:spAutoFit/>
            </a:bodyPr>
            <a:lstStyle/>
            <a:p>
              <a:pPr algn="ctr"/>
              <a:r>
                <a:rPr lang="tr-TR" sz="1120" dirty="0">
                  <a:solidFill>
                    <a:srgbClr val="EAF4F6"/>
                  </a:solidFill>
                  <a:latin typeface="+mn-lt"/>
                  <a:ea typeface="+mn-ea"/>
                  <a:cs typeface="+mn-cs"/>
                </a:rPr>
                <a:t>(predict_proba)</a:t>
              </a:r>
            </a:p>
          </p:txBody>
        </p:sp>
        <p:sp>
          <p:nvSpPr>
            <p:cNvPr id="19" name="Rectangle 19"/>
            <p:cNvSpPr/>
            <p:nvPr/>
          </p:nvSpPr>
          <p:spPr>
            <a:xfrm>
              <a:off x="4095750" y="2343150"/>
              <a:ext cx="4000500" cy="609600"/>
            </a:xfrm>
            <a:prstGeom prst="roundRect">
              <a:avLst>
                <a:gd name="adj" fmla="val 15625"/>
              </a:avLst>
            </a:prstGeom>
            <a:solidFill>
              <a:srgbClr val="FFFFFF"/>
            </a:solidFill>
            <a:ln w="14288">
              <a:solidFill>
                <a:srgbClr val="2E86AB"/>
              </a:solidFill>
            </a:ln>
          </p:spPr>
        </p:sp>
        <p:sp>
          <p:nvSpPr>
            <p:cNvPr id="20" name="TextBox 20"/>
            <p:cNvSpPr txBox="1"/>
            <p:nvPr/>
          </p:nvSpPr>
          <p:spPr>
            <a:xfrm>
              <a:off x="4627397" y="2428875"/>
              <a:ext cx="2937205" cy="293370"/>
            </a:xfrm>
            <a:prstGeom prst="rect">
              <a:avLst/>
            </a:prstGeom>
            <a:noFill/>
            <a:ln>
              <a:noFill/>
            </a:ln>
          </p:spPr>
          <p:txBody>
            <a:bodyPr wrap="none" lIns="0" tIns="0" rIns="0" bIns="0" anchor="t" anchorCtr="0">
              <a:spAutoFit/>
            </a:bodyPr>
            <a:lstStyle/>
            <a:p>
              <a:pPr algn="ctr"/>
              <a:r>
                <a:rPr lang="tr-TR" sz="1500" b="1" dirty="0">
                  <a:solidFill>
                    <a:srgbClr val="12355B"/>
                  </a:solidFill>
                  <a:latin typeface="+mn-lt"/>
                  <a:ea typeface="+mn-ea"/>
                  <a:cs typeface="+mn-cs"/>
                </a:rPr>
                <a:t>Karmaşıklık matrisi oluştur</a:t>
              </a:r>
            </a:p>
          </p:txBody>
        </p:sp>
        <p:sp>
          <p:nvSpPr>
            <p:cNvPr id="21" name="TextBox 21"/>
            <p:cNvSpPr txBox="1"/>
            <p:nvPr/>
          </p:nvSpPr>
          <p:spPr>
            <a:xfrm>
              <a:off x="5144176" y="2697956"/>
              <a:ext cx="1903649"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seçilen eşik değerine göre</a:t>
              </a:r>
            </a:p>
          </p:txBody>
        </p:sp>
        <p:sp>
          <p:nvSpPr>
            <p:cNvPr id="22" name="Rectangle 22"/>
            <p:cNvSpPr/>
            <p:nvPr/>
          </p:nvSpPr>
          <p:spPr>
            <a:xfrm>
              <a:off x="4095750" y="3257550"/>
              <a:ext cx="4000500" cy="609600"/>
            </a:xfrm>
            <a:prstGeom prst="roundRect">
              <a:avLst>
                <a:gd name="adj" fmla="val 15625"/>
              </a:avLst>
            </a:prstGeom>
            <a:solidFill>
              <a:srgbClr val="FFFFFF"/>
            </a:solidFill>
            <a:ln w="14288">
              <a:solidFill>
                <a:srgbClr val="2E86AB"/>
              </a:solidFill>
            </a:ln>
          </p:spPr>
        </p:sp>
        <p:sp>
          <p:nvSpPr>
            <p:cNvPr id="23" name="TextBox 23"/>
            <p:cNvSpPr txBox="1"/>
            <p:nvPr/>
          </p:nvSpPr>
          <p:spPr>
            <a:xfrm>
              <a:off x="4632710" y="3343275"/>
              <a:ext cx="2926580" cy="293370"/>
            </a:xfrm>
            <a:prstGeom prst="rect">
              <a:avLst/>
            </a:prstGeom>
            <a:noFill/>
            <a:ln>
              <a:noFill/>
            </a:ln>
          </p:spPr>
          <p:txBody>
            <a:bodyPr wrap="none" lIns="0" tIns="0" rIns="0" bIns="0" anchor="t" anchorCtr="0">
              <a:spAutoFit/>
            </a:bodyPr>
            <a:lstStyle/>
            <a:p>
              <a:pPr algn="ctr"/>
              <a:r>
                <a:rPr lang="tr-TR" sz="1500" b="1" dirty="0">
                  <a:solidFill>
                    <a:srgbClr val="12355B"/>
                  </a:solidFill>
                  <a:latin typeface="+mn-lt"/>
                  <a:ea typeface="+mn-ea"/>
                  <a:cs typeface="+mn-cs"/>
                </a:rPr>
                <a:t>Kesinlik / duyarlılık hesapla</a:t>
              </a:r>
            </a:p>
          </p:txBody>
        </p:sp>
        <p:sp>
          <p:nvSpPr>
            <p:cNvPr id="24" name="TextBox 24"/>
            <p:cNvSpPr txBox="1"/>
            <p:nvPr/>
          </p:nvSpPr>
          <p:spPr>
            <a:xfrm>
              <a:off x="4970785" y="3612356"/>
              <a:ext cx="2250430"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iş maliyeti bağlamında yorumla</a:t>
              </a:r>
            </a:p>
          </p:txBody>
        </p:sp>
        <p:sp>
          <p:nvSpPr>
            <p:cNvPr id="25" name="Rectangle 25"/>
            <p:cNvSpPr/>
            <p:nvPr/>
          </p:nvSpPr>
          <p:spPr>
            <a:xfrm>
              <a:off x="4095750" y="4171950"/>
              <a:ext cx="4000500" cy="609600"/>
            </a:xfrm>
            <a:prstGeom prst="roundRect">
              <a:avLst>
                <a:gd name="adj" fmla="val 15625"/>
              </a:avLst>
            </a:prstGeom>
            <a:solidFill>
              <a:srgbClr val="FFFFFF"/>
            </a:solidFill>
            <a:ln w="14288">
              <a:solidFill>
                <a:srgbClr val="2E86AB"/>
              </a:solidFill>
            </a:ln>
          </p:spPr>
        </p:sp>
        <p:sp>
          <p:nvSpPr>
            <p:cNvPr id="26" name="TextBox 26"/>
            <p:cNvSpPr txBox="1"/>
            <p:nvPr/>
          </p:nvSpPr>
          <p:spPr>
            <a:xfrm>
              <a:off x="4648205" y="4257675"/>
              <a:ext cx="2895591" cy="293370"/>
            </a:xfrm>
            <a:prstGeom prst="rect">
              <a:avLst/>
            </a:prstGeom>
            <a:noFill/>
            <a:ln>
              <a:noFill/>
            </a:ln>
          </p:spPr>
          <p:txBody>
            <a:bodyPr wrap="none" lIns="0" tIns="0" rIns="0" bIns="0" anchor="t" anchorCtr="0">
              <a:spAutoFit/>
            </a:bodyPr>
            <a:lstStyle/>
            <a:p>
              <a:pPr algn="ctr"/>
              <a:r>
                <a:rPr lang="tr-TR" sz="1500" b="1" dirty="0">
                  <a:solidFill>
                    <a:srgbClr val="12355B"/>
                  </a:solidFill>
                  <a:latin typeface="+mn-lt"/>
                  <a:ea typeface="+mn-ea"/>
                  <a:cs typeface="+mn-cs"/>
                </a:rPr>
                <a:t>Sonuç iş hedefine uygun mu?</a:t>
              </a:r>
            </a:p>
          </p:txBody>
        </p:sp>
        <p:sp>
          <p:nvSpPr>
            <p:cNvPr id="27" name="TextBox 27"/>
            <p:cNvSpPr txBox="1"/>
            <p:nvPr/>
          </p:nvSpPr>
          <p:spPr>
            <a:xfrm>
              <a:off x="5185639" y="4526756"/>
              <a:ext cx="1820723"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eşik değerini değerlendir</a:t>
              </a:r>
            </a:p>
          </p:txBody>
        </p:sp>
        <p:sp>
          <p:nvSpPr>
            <p:cNvPr id="28" name="Rectangle 28"/>
            <p:cNvSpPr/>
            <p:nvPr/>
          </p:nvSpPr>
          <p:spPr>
            <a:xfrm>
              <a:off x="4095750" y="5086350"/>
              <a:ext cx="4000500" cy="609600"/>
            </a:xfrm>
            <a:prstGeom prst="roundRect">
              <a:avLst>
                <a:gd name="adj" fmla="val 15625"/>
              </a:avLst>
            </a:prstGeom>
            <a:solidFill>
              <a:srgbClr val="EAF4F6"/>
            </a:solidFill>
            <a:ln w="14288">
              <a:solidFill>
                <a:srgbClr val="00A6A6"/>
              </a:solidFill>
            </a:ln>
          </p:spPr>
        </p:sp>
        <p:sp>
          <p:nvSpPr>
            <p:cNvPr id="29" name="TextBox 29"/>
            <p:cNvSpPr txBox="1"/>
            <p:nvPr/>
          </p:nvSpPr>
          <p:spPr>
            <a:xfrm>
              <a:off x="4786376" y="5286375"/>
              <a:ext cx="2619247" cy="293370"/>
            </a:xfrm>
            <a:prstGeom prst="rect">
              <a:avLst/>
            </a:prstGeom>
            <a:noFill/>
            <a:ln>
              <a:noFill/>
            </a:ln>
          </p:spPr>
          <p:txBody>
            <a:bodyPr wrap="none" lIns="0" tIns="0" rIns="0" bIns="0" anchor="t" anchorCtr="0">
              <a:spAutoFit/>
            </a:bodyPr>
            <a:lstStyle/>
            <a:p>
              <a:pPr algn="ctr"/>
              <a:r>
                <a:rPr lang="tr-TR" sz="1500" b="1" dirty="0">
                  <a:solidFill>
                    <a:srgbClr val="12355B"/>
                  </a:solidFill>
                  <a:latin typeface="+mn-lt"/>
                  <a:ea typeface="+mn-ea"/>
                  <a:cs typeface="+mn-cs"/>
                </a:rPr>
                <a:t>Nihai model ve karar eşiği</a:t>
              </a:r>
            </a:p>
          </p:txBody>
        </p:sp>
      </p:grpSp>
      <p:sp>
        <p:nvSpPr>
          <p:cNvPr id="31" name="TextBox 3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 / 25</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5384649" cy="557403"/>
            <a:chOff x="595122" y="282892"/>
            <a:chExt cx="5384649" cy="557403"/>
          </a:xfrm>
        </p:grpSpPr>
        <p:sp>
          <p:nvSpPr>
            <p:cNvPr id="4" name="TextBox 4"/>
            <p:cNvSpPr txBox="1"/>
            <p:nvPr/>
          </p:nvSpPr>
          <p:spPr>
            <a:xfrm>
              <a:off x="595122" y="282892"/>
              <a:ext cx="538464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ROC-AUC ve PR-AUC: tanım</a:t>
              </a:r>
            </a:p>
          </p:txBody>
        </p:sp>
      </p:grpSp>
      <p:grpSp>
        <p:nvGrpSpPr>
          <p:cNvPr id="17" name="roc-chart"/>
          <p:cNvGrpSpPr/>
          <p:nvPr/>
        </p:nvGrpSpPr>
        <p:grpSpPr>
          <a:xfrm>
            <a:off x="609600" y="1238250"/>
            <a:ext cx="5143500" cy="4000500"/>
            <a:chOff x="609600" y="1238250"/>
            <a:chExt cx="5143500" cy="4000500"/>
          </a:xfrm>
        </p:grpSpPr>
        <p:sp>
          <p:nvSpPr>
            <p:cNvPr id="6" name="Rectangle 6"/>
            <p:cNvSpPr/>
            <p:nvPr/>
          </p:nvSpPr>
          <p:spPr>
            <a:xfrm>
              <a:off x="609600" y="1238250"/>
              <a:ext cx="5143500" cy="4000500"/>
            </a:xfrm>
            <a:prstGeom prst="roundRect">
              <a:avLst>
                <a:gd name="adj" fmla="val 2381"/>
              </a:avLst>
            </a:prstGeom>
            <a:solidFill>
              <a:srgbClr val="FFFFFF"/>
            </a:solidFill>
            <a:ln w="14288">
              <a:solidFill>
                <a:srgbClr val="2E86AB"/>
              </a:solidFill>
            </a:ln>
          </p:spPr>
        </p:sp>
        <p:sp>
          <p:nvSpPr>
            <p:cNvPr id="7" name="TextBox 7"/>
            <p:cNvSpPr txBox="1"/>
            <p:nvPr/>
          </p:nvSpPr>
          <p:spPr>
            <a:xfrm>
              <a:off x="906018" y="1422082"/>
              <a:ext cx="1200292"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ROC Eğrisi</a:t>
              </a:r>
            </a:p>
          </p:txBody>
        </p:sp>
        <p:sp>
          <p:nvSpPr>
            <p:cNvPr id="8" name="Line 8"/>
            <p:cNvSpPr/>
            <p:nvPr/>
          </p:nvSpPr>
          <p:spPr>
            <a:xfrm flipV="1">
              <a:off x="1428750" y="1905000"/>
              <a:ext cx="1" cy="2286000"/>
            </a:xfrm>
            <a:prstGeom prst="line">
              <a:avLst/>
            </a:prstGeom>
            <a:noFill/>
            <a:ln w="14288">
              <a:solidFill>
                <a:srgbClr val="52616B"/>
              </a:solidFill>
              <a:tailEnd type="arrow" w="lg" len="lg"/>
            </a:ln>
          </p:spPr>
        </p:sp>
        <p:sp>
          <p:nvSpPr>
            <p:cNvPr id="9" name="Line 9"/>
            <p:cNvSpPr/>
            <p:nvPr/>
          </p:nvSpPr>
          <p:spPr>
            <a:xfrm>
              <a:off x="1428750" y="4191000"/>
              <a:ext cx="3619500" cy="1"/>
            </a:xfrm>
            <a:prstGeom prst="line">
              <a:avLst/>
            </a:prstGeom>
            <a:noFill/>
            <a:ln w="14288">
              <a:solidFill>
                <a:srgbClr val="52616B"/>
              </a:solidFill>
              <a:tailEnd type="arrow" w="lg" len="lg"/>
            </a:ln>
          </p:spPr>
        </p:sp>
        <p:sp>
          <p:nvSpPr>
            <p:cNvPr id="10" name="TextBox 10"/>
            <p:cNvSpPr txBox="1"/>
            <p:nvPr/>
          </p:nvSpPr>
          <p:spPr>
            <a:xfrm>
              <a:off x="851916" y="1791652"/>
              <a:ext cx="257099"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TPR</a:t>
              </a:r>
            </a:p>
          </p:txBody>
        </p:sp>
        <p:sp>
          <p:nvSpPr>
            <p:cNvPr id="11" name="TextBox 11"/>
            <p:cNvSpPr txBox="1"/>
            <p:nvPr/>
          </p:nvSpPr>
          <p:spPr>
            <a:xfrm>
              <a:off x="4566666" y="4287202"/>
              <a:ext cx="257099"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FPR</a:t>
              </a:r>
            </a:p>
          </p:txBody>
        </p:sp>
        <p:sp>
          <p:nvSpPr>
            <p:cNvPr id="12" name="Line 12"/>
            <p:cNvSpPr/>
            <p:nvPr/>
          </p:nvSpPr>
          <p:spPr>
            <a:xfrm>
              <a:off x="1428750" y="1905000"/>
              <a:ext cx="3619500" cy="2286000"/>
            </a:xfrm>
            <a:custGeom>
              <a:avLst/>
              <a:gdLst/>
              <a:ahLst/>
              <a:cxnLst/>
              <a:rect l="l" t="t" r="r" b="b"/>
              <a:pathLst>
                <a:path w="3619500" h="2286000">
                  <a:moveTo>
                    <a:pt x="0" y="2286000"/>
                  </a:moveTo>
                  <a:lnTo>
                    <a:pt x="3619500" y="0"/>
                  </a:lnTo>
                </a:path>
              </a:pathLst>
            </a:custGeom>
            <a:noFill/>
            <a:ln w="14288">
              <a:solidFill>
                <a:srgbClr val="B8CBD3"/>
              </a:solidFill>
              <a:custDash>
                <a:ds d="333333" sp="266667"/>
              </a:custDash>
            </a:ln>
          </p:spPr>
        </p:sp>
        <p:sp>
          <p:nvSpPr>
            <p:cNvPr id="13" name="Freeform 13"/>
            <p:cNvSpPr/>
            <p:nvPr/>
          </p:nvSpPr>
          <p:spPr>
            <a:xfrm>
              <a:off x="1428750" y="1905000"/>
              <a:ext cx="3619500" cy="2286000"/>
            </a:xfrm>
            <a:custGeom>
              <a:avLst/>
              <a:gdLst/>
              <a:ahLst/>
              <a:cxnLst/>
              <a:rect l="l" t="t" r="r" b="b"/>
              <a:pathLst>
                <a:path w="3619500" h="2286000">
                  <a:moveTo>
                    <a:pt x="0" y="2286000"/>
                  </a:moveTo>
                  <a:cubicBezTo>
                    <a:pt x="666750" y="571500"/>
                    <a:pt x="1428750" y="95250"/>
                    <a:pt x="3619500" y="0"/>
                  </a:cubicBezTo>
                </a:path>
              </a:pathLst>
            </a:custGeom>
            <a:noFill/>
            <a:ln w="28575">
              <a:solidFill>
                <a:srgbClr val="00A6A6"/>
              </a:solidFill>
            </a:ln>
          </p:spPr>
        </p:sp>
        <p:sp>
          <p:nvSpPr>
            <p:cNvPr id="14" name="TextBox 14"/>
            <p:cNvSpPr txBox="1"/>
            <p:nvPr/>
          </p:nvSpPr>
          <p:spPr>
            <a:xfrm>
              <a:off x="908304" y="3775710"/>
              <a:ext cx="250393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Eğri sol-üst köşeye ne kadar</a:t>
              </a:r>
              <a:br/>
              <a:r>
                <a:rPr lang="tr-TR" sz="1200" dirty="0">
                  <a:solidFill>
                    <a:srgbClr val="52616B"/>
                  </a:solidFill>
                  <a:latin typeface="+mn-lt"/>
                  <a:ea typeface="+mn-ea"/>
                  <a:cs typeface="+mn-cs"/>
                </a:rPr>
                <a:t>yakınsa model o kadar iyi ayırır.</a:t>
              </a:r>
            </a:p>
          </p:txBody>
        </p:sp>
        <p:sp>
          <p:nvSpPr>
            <p:cNvPr id="15" name="Rectangle 15"/>
            <p:cNvSpPr/>
            <p:nvPr/>
          </p:nvSpPr>
          <p:spPr>
            <a:xfrm>
              <a:off x="914400" y="4667250"/>
              <a:ext cx="4533900" cy="400050"/>
            </a:xfrm>
            <a:prstGeom prst="roundRect">
              <a:avLst>
                <a:gd name="adj" fmla="val 14286"/>
              </a:avLst>
            </a:prstGeom>
            <a:solidFill>
              <a:srgbClr val="EAF4F6"/>
            </a:solidFill>
            <a:ln>
              <a:noFill/>
            </a:ln>
          </p:spPr>
        </p:sp>
        <p:sp>
          <p:nvSpPr>
            <p:cNvPr id="16" name="TextBox 16"/>
            <p:cNvSpPr txBox="1"/>
            <p:nvPr/>
          </p:nvSpPr>
          <p:spPr>
            <a:xfrm>
              <a:off x="1060704" y="4785360"/>
              <a:ext cx="328350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TPR (duyarlılık) ile FPR arasındaki denge</a:t>
              </a:r>
            </a:p>
          </p:txBody>
        </p:sp>
      </p:grpSp>
      <p:grpSp>
        <p:nvGrpSpPr>
          <p:cNvPr id="28" name="pr-chart"/>
          <p:cNvGrpSpPr/>
          <p:nvPr/>
        </p:nvGrpSpPr>
        <p:grpSpPr>
          <a:xfrm>
            <a:off x="6438900" y="1238250"/>
            <a:ext cx="5143500" cy="4000500"/>
            <a:chOff x="6438900" y="1238250"/>
            <a:chExt cx="5143500" cy="4000500"/>
          </a:xfrm>
        </p:grpSpPr>
        <p:sp>
          <p:nvSpPr>
            <p:cNvPr id="18" name="Rectangle 18"/>
            <p:cNvSpPr/>
            <p:nvPr/>
          </p:nvSpPr>
          <p:spPr>
            <a:xfrm>
              <a:off x="6438900" y="1238250"/>
              <a:ext cx="5143500" cy="4000500"/>
            </a:xfrm>
            <a:prstGeom prst="roundRect">
              <a:avLst>
                <a:gd name="adj" fmla="val 2381"/>
              </a:avLst>
            </a:prstGeom>
            <a:solidFill>
              <a:srgbClr val="FFFFFF"/>
            </a:solidFill>
            <a:ln w="14288">
              <a:solidFill>
                <a:srgbClr val="2E86AB"/>
              </a:solidFill>
            </a:ln>
          </p:spPr>
        </p:sp>
        <p:sp>
          <p:nvSpPr>
            <p:cNvPr id="19" name="TextBox 19"/>
            <p:cNvSpPr txBox="1"/>
            <p:nvPr/>
          </p:nvSpPr>
          <p:spPr>
            <a:xfrm>
              <a:off x="6735318" y="1422082"/>
              <a:ext cx="1017119"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PR Eğrisi</a:t>
              </a:r>
            </a:p>
          </p:txBody>
        </p:sp>
        <p:sp>
          <p:nvSpPr>
            <p:cNvPr id="20" name="Line 20"/>
            <p:cNvSpPr/>
            <p:nvPr/>
          </p:nvSpPr>
          <p:spPr>
            <a:xfrm flipV="1">
              <a:off x="7258050" y="1905000"/>
              <a:ext cx="1" cy="2286000"/>
            </a:xfrm>
            <a:prstGeom prst="line">
              <a:avLst/>
            </a:prstGeom>
            <a:noFill/>
            <a:ln w="14288">
              <a:solidFill>
                <a:srgbClr val="52616B"/>
              </a:solidFill>
              <a:tailEnd type="arrow" w="lg" len="lg"/>
            </a:ln>
          </p:spPr>
        </p:sp>
        <p:sp>
          <p:nvSpPr>
            <p:cNvPr id="21" name="Line 21"/>
            <p:cNvSpPr/>
            <p:nvPr/>
          </p:nvSpPr>
          <p:spPr>
            <a:xfrm>
              <a:off x="7258050" y="4191000"/>
              <a:ext cx="3619500" cy="1"/>
            </a:xfrm>
            <a:prstGeom prst="line">
              <a:avLst/>
            </a:prstGeom>
            <a:noFill/>
            <a:ln w="14288">
              <a:solidFill>
                <a:srgbClr val="52616B"/>
              </a:solidFill>
              <a:tailEnd type="arrow" w="lg" len="lg"/>
            </a:ln>
          </p:spPr>
        </p:sp>
        <p:sp>
          <p:nvSpPr>
            <p:cNvPr id="22" name="TextBox 22"/>
            <p:cNvSpPr txBox="1"/>
            <p:nvPr/>
          </p:nvSpPr>
          <p:spPr>
            <a:xfrm>
              <a:off x="6681216" y="1791652"/>
              <a:ext cx="530250"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Kesinlik</a:t>
              </a:r>
            </a:p>
          </p:txBody>
        </p:sp>
        <p:sp>
          <p:nvSpPr>
            <p:cNvPr id="23" name="TextBox 23"/>
            <p:cNvSpPr txBox="1"/>
            <p:nvPr/>
          </p:nvSpPr>
          <p:spPr>
            <a:xfrm>
              <a:off x="10091166" y="4287202"/>
              <a:ext cx="721424"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Duyarlılık</a:t>
              </a:r>
            </a:p>
          </p:txBody>
        </p:sp>
        <p:sp>
          <p:nvSpPr>
            <p:cNvPr id="24" name="Freeform 24"/>
            <p:cNvSpPr/>
            <p:nvPr/>
          </p:nvSpPr>
          <p:spPr>
            <a:xfrm>
              <a:off x="7258050" y="2000250"/>
              <a:ext cx="3619500" cy="2000250"/>
            </a:xfrm>
            <a:custGeom>
              <a:avLst/>
              <a:gdLst/>
              <a:ahLst/>
              <a:cxnLst/>
              <a:rect l="l" t="t" r="r" b="b"/>
              <a:pathLst>
                <a:path w="3619500" h="2000250">
                  <a:moveTo>
                    <a:pt x="0" y="0"/>
                  </a:moveTo>
                  <a:cubicBezTo>
                    <a:pt x="1314450" y="190500"/>
                    <a:pt x="2266950" y="1047750"/>
                    <a:pt x="3619500" y="2000250"/>
                  </a:cubicBezTo>
                </a:path>
              </a:pathLst>
            </a:custGeom>
            <a:noFill/>
            <a:ln w="28575">
              <a:solidFill>
                <a:srgbClr val="00A6A6"/>
              </a:solidFill>
            </a:ln>
          </p:spPr>
        </p:sp>
        <p:sp>
          <p:nvSpPr>
            <p:cNvPr id="25" name="TextBox 25"/>
            <p:cNvSpPr txBox="1"/>
            <p:nvPr/>
          </p:nvSpPr>
          <p:spPr>
            <a:xfrm>
              <a:off x="6737604" y="3775710"/>
              <a:ext cx="232105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Dengesiz veride bilgi verici olan</a:t>
              </a:r>
              <a:br/>
              <a:r>
                <a:rPr lang="tr-TR" sz="1200" dirty="0">
                  <a:solidFill>
                    <a:srgbClr val="52616B"/>
                  </a:solidFill>
                  <a:latin typeface="+mn-lt"/>
                  <a:ea typeface="+mn-ea"/>
                  <a:cs typeface="+mn-cs"/>
                </a:rPr>
                <a:t>eğri budur, ROC değil.</a:t>
              </a:r>
            </a:p>
          </p:txBody>
        </p:sp>
        <p:sp>
          <p:nvSpPr>
            <p:cNvPr id="26" name="Rectangle 26"/>
            <p:cNvSpPr/>
            <p:nvPr/>
          </p:nvSpPr>
          <p:spPr>
            <a:xfrm>
              <a:off x="6743700" y="4667250"/>
              <a:ext cx="4533900" cy="400050"/>
            </a:xfrm>
            <a:prstGeom prst="roundRect">
              <a:avLst>
                <a:gd name="adj" fmla="val 14286"/>
              </a:avLst>
            </a:prstGeom>
            <a:solidFill>
              <a:srgbClr val="EAF4F6"/>
            </a:solidFill>
            <a:ln>
              <a:noFill/>
            </a:ln>
          </p:spPr>
        </p:sp>
        <p:sp>
          <p:nvSpPr>
            <p:cNvPr id="27" name="TextBox 27"/>
            <p:cNvSpPr txBox="1"/>
            <p:nvPr/>
          </p:nvSpPr>
          <p:spPr>
            <a:xfrm>
              <a:off x="6890004" y="4785360"/>
              <a:ext cx="308635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Kesinlik ile duyarlılık arasındaki denge</a:t>
              </a:r>
            </a:p>
          </p:txBody>
        </p:sp>
      </p:grpSp>
      <p:grpSp>
        <p:nvGrpSpPr>
          <p:cNvPr id="32" name="auc-note"/>
          <p:cNvGrpSpPr/>
          <p:nvPr/>
        </p:nvGrpSpPr>
        <p:grpSpPr>
          <a:xfrm>
            <a:off x="609600" y="5429250"/>
            <a:ext cx="10972800" cy="819150"/>
            <a:chOff x="609600" y="5429250"/>
            <a:chExt cx="10972800" cy="819150"/>
          </a:xfrm>
        </p:grpSpPr>
        <p:sp>
          <p:nvSpPr>
            <p:cNvPr id="29" name="Rectangle 29"/>
            <p:cNvSpPr/>
            <p:nvPr/>
          </p:nvSpPr>
          <p:spPr>
            <a:xfrm>
              <a:off x="609600" y="5429250"/>
              <a:ext cx="10972800" cy="819150"/>
            </a:xfrm>
            <a:prstGeom prst="roundRect">
              <a:avLst>
                <a:gd name="adj" fmla="val 9302"/>
              </a:avLst>
            </a:prstGeom>
            <a:solidFill>
              <a:srgbClr val="EAF4F6"/>
            </a:solidFill>
            <a:ln>
              <a:noFill/>
            </a:ln>
          </p:spPr>
        </p:sp>
        <p:sp>
          <p:nvSpPr>
            <p:cNvPr id="30" name="TextBox 30"/>
            <p:cNvSpPr txBox="1"/>
            <p:nvPr/>
          </p:nvSpPr>
          <p:spPr>
            <a:xfrm>
              <a:off x="906780" y="5572125"/>
              <a:ext cx="4840324"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AUC (Area Under Curve): eğrinin altındaki alan</a:t>
              </a:r>
            </a:p>
          </p:txBody>
        </p:sp>
        <p:sp>
          <p:nvSpPr>
            <p:cNvPr id="31" name="TextBox 31"/>
            <p:cNvSpPr txBox="1"/>
            <p:nvPr/>
          </p:nvSpPr>
          <p:spPr>
            <a:xfrm>
              <a:off x="907161" y="5846921"/>
              <a:ext cx="7948282"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1,0'a yakın AUC, modelin sınıfları tüm eşik değerlerinde iyi ayırt ettiğini gösterir.</a:t>
              </a:r>
            </a:p>
          </p:txBody>
        </p:sp>
      </p:grpSp>
      <p:sp>
        <p:nvSpPr>
          <p:cNvPr id="33" name="TextBox 3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 / 25</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10095300" cy="668845"/>
            <a:chOff x="609600" y="171450"/>
            <a:chExt cx="10095300"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940492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ROC vs PR-AUC: dengesiz veride farklı sonuçlar</a:t>
              </a:r>
            </a:p>
          </p:txBody>
        </p:sp>
      </p:grpSp>
      <p:grpSp>
        <p:nvGrpSpPr>
          <p:cNvPr id="13" name="setup-note"/>
          <p:cNvGrpSpPr/>
          <p:nvPr/>
        </p:nvGrpSpPr>
        <p:grpSpPr>
          <a:xfrm>
            <a:off x="602361" y="1160621"/>
            <a:ext cx="5390888" cy="278702"/>
            <a:chOff x="602361" y="1160621"/>
            <a:chExt cx="5390888" cy="278702"/>
          </a:xfrm>
        </p:grpSpPr>
        <p:sp>
          <p:nvSpPr>
            <p:cNvPr id="12" name="TextBox 12"/>
            <p:cNvSpPr txBox="1"/>
            <p:nvPr/>
          </p:nvSpPr>
          <p:spPr>
            <a:xfrm>
              <a:off x="602361" y="1160621"/>
              <a:ext cx="5390888" cy="278702"/>
            </a:xfrm>
            <a:prstGeom prst="rect">
              <a:avLst/>
            </a:prstGeom>
            <a:noFill/>
            <a:ln>
              <a:noFill/>
            </a:ln>
          </p:spPr>
          <p:txBody>
            <a:bodyPr wrap="none" lIns="0" tIns="0" rIns="0" bIns="0" anchor="t" anchorCtr="0">
              <a:spAutoFit/>
            </a:bodyPr>
            <a:lstStyle/>
            <a:p>
              <a:pPr algn="l"/>
              <a:r>
                <a:rPr lang="tr-TR" sz="1420" dirty="0">
                  <a:solidFill>
                    <a:srgbClr val="52616B"/>
                  </a:solidFill>
                  <a:latin typeface="+mn-lt"/>
                  <a:ea typeface="+mn-ea"/>
                  <a:cs typeface="+mn-cs"/>
                </a:rPr>
                <a:t>3000 satır, %7 churn oranı — aynı modelin iki AUC değeri:</a:t>
              </a:r>
            </a:p>
          </p:txBody>
        </p:sp>
      </p:grpSp>
      <p:grpSp>
        <p:nvGrpSpPr>
          <p:cNvPr id="18" name="stat-roc"/>
          <p:cNvGrpSpPr/>
          <p:nvPr/>
        </p:nvGrpSpPr>
        <p:grpSpPr>
          <a:xfrm>
            <a:off x="609600" y="1504950"/>
            <a:ext cx="5143500" cy="1619250"/>
            <a:chOff x="609600" y="1504950"/>
            <a:chExt cx="5143500" cy="1619250"/>
          </a:xfrm>
        </p:grpSpPr>
        <p:sp>
          <p:nvSpPr>
            <p:cNvPr id="14" name="Rectangle 14"/>
            <p:cNvSpPr/>
            <p:nvPr/>
          </p:nvSpPr>
          <p:spPr>
            <a:xfrm>
              <a:off x="609600" y="1504950"/>
              <a:ext cx="5143500" cy="1619250"/>
            </a:xfrm>
            <a:prstGeom prst="roundRect">
              <a:avLst>
                <a:gd name="adj" fmla="val 5882"/>
              </a:avLst>
            </a:prstGeom>
            <a:solidFill>
              <a:srgbClr val="FFFFFF"/>
            </a:solidFill>
            <a:ln w="14288">
              <a:solidFill>
                <a:srgbClr val="2E86AB"/>
              </a:solidFill>
            </a:ln>
          </p:spPr>
        </p:sp>
        <p:sp>
          <p:nvSpPr>
            <p:cNvPr id="15" name="TextBox 15"/>
            <p:cNvSpPr txBox="1"/>
            <p:nvPr/>
          </p:nvSpPr>
          <p:spPr>
            <a:xfrm>
              <a:off x="906780" y="1724025"/>
              <a:ext cx="879348" cy="293370"/>
            </a:xfrm>
            <a:prstGeom prst="rect">
              <a:avLst/>
            </a:prstGeom>
            <a:noFill/>
            <a:ln>
              <a:noFill/>
            </a:ln>
          </p:spPr>
          <p:txBody>
            <a:bodyPr wrap="none" lIns="0" tIns="0" rIns="0" bIns="0" anchor="t" anchorCtr="0">
              <a:spAutoFit/>
            </a:bodyPr>
            <a:lstStyle/>
            <a:p>
              <a:pPr algn="l"/>
              <a:r>
                <a:rPr lang="tr-TR" sz="1500" dirty="0">
                  <a:solidFill>
                    <a:srgbClr val="52616B"/>
                  </a:solidFill>
                  <a:latin typeface="+mn-lt"/>
                  <a:ea typeface="+mn-ea"/>
                  <a:cs typeface="+mn-cs"/>
                </a:rPr>
                <a:t>ROC-AUC</a:t>
              </a:r>
            </a:p>
          </p:txBody>
        </p:sp>
        <p:sp>
          <p:nvSpPr>
            <p:cNvPr id="16" name="TextBox 16"/>
            <p:cNvSpPr txBox="1"/>
            <p:nvPr/>
          </p:nvSpPr>
          <p:spPr>
            <a:xfrm>
              <a:off x="895350" y="2169795"/>
              <a:ext cx="1554089" cy="762000"/>
            </a:xfrm>
            <a:prstGeom prst="rect">
              <a:avLst/>
            </a:prstGeom>
            <a:noFill/>
            <a:ln>
              <a:noFill/>
            </a:ln>
          </p:spPr>
          <p:txBody>
            <a:bodyPr wrap="none" lIns="0" tIns="0" rIns="0" bIns="0" anchor="t" anchorCtr="0">
              <a:spAutoFit/>
            </a:bodyPr>
            <a:lstStyle/>
            <a:p>
              <a:pPr algn="l"/>
              <a:r>
                <a:rPr lang="tr-TR" sz="3900" b="1" dirty="0">
                  <a:solidFill>
                    <a:srgbClr val="12355B"/>
                  </a:solidFill>
                  <a:latin typeface="+mn-lt"/>
                  <a:ea typeface="+mn-ea"/>
                  <a:cs typeface="+mn-cs"/>
                </a:rPr>
                <a:t>0,907</a:t>
              </a:r>
            </a:p>
          </p:txBody>
        </p:sp>
        <p:sp>
          <p:nvSpPr>
            <p:cNvPr id="17" name="TextBox 17"/>
            <p:cNvSpPr txBox="1"/>
            <p:nvPr/>
          </p:nvSpPr>
          <p:spPr>
            <a:xfrm>
              <a:off x="908304" y="2804160"/>
              <a:ext cx="353129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İyimser görünüyor — çoğunluk sınıfı egemen</a:t>
              </a:r>
            </a:p>
          </p:txBody>
        </p:sp>
      </p:grpSp>
      <p:grpSp>
        <p:nvGrpSpPr>
          <p:cNvPr id="23" name="stat-pr"/>
          <p:cNvGrpSpPr/>
          <p:nvPr/>
        </p:nvGrpSpPr>
        <p:grpSpPr>
          <a:xfrm>
            <a:off x="6438900" y="1504950"/>
            <a:ext cx="5143500" cy="1619250"/>
            <a:chOff x="6438900" y="1504950"/>
            <a:chExt cx="5143500" cy="1619250"/>
          </a:xfrm>
        </p:grpSpPr>
        <p:sp>
          <p:nvSpPr>
            <p:cNvPr id="19" name="Rectangle 19"/>
            <p:cNvSpPr/>
            <p:nvPr/>
          </p:nvSpPr>
          <p:spPr>
            <a:xfrm>
              <a:off x="6438900" y="1504950"/>
              <a:ext cx="5143500" cy="1619250"/>
            </a:xfrm>
            <a:prstGeom prst="roundRect">
              <a:avLst>
                <a:gd name="adj" fmla="val 5882"/>
              </a:avLst>
            </a:prstGeom>
            <a:solidFill>
              <a:srgbClr val="FFFFFF"/>
            </a:solidFill>
            <a:ln w="14288">
              <a:solidFill>
                <a:srgbClr val="00A6A6"/>
              </a:solidFill>
            </a:ln>
          </p:spPr>
        </p:sp>
        <p:sp>
          <p:nvSpPr>
            <p:cNvPr id="20" name="TextBox 20"/>
            <p:cNvSpPr txBox="1"/>
            <p:nvPr/>
          </p:nvSpPr>
          <p:spPr>
            <a:xfrm>
              <a:off x="6736080" y="1724025"/>
              <a:ext cx="719328" cy="293370"/>
            </a:xfrm>
            <a:prstGeom prst="rect">
              <a:avLst/>
            </a:prstGeom>
            <a:noFill/>
            <a:ln>
              <a:noFill/>
            </a:ln>
          </p:spPr>
          <p:txBody>
            <a:bodyPr wrap="none" lIns="0" tIns="0" rIns="0" bIns="0" anchor="t" anchorCtr="0">
              <a:spAutoFit/>
            </a:bodyPr>
            <a:lstStyle/>
            <a:p>
              <a:pPr algn="l"/>
              <a:r>
                <a:rPr lang="tr-TR" sz="1500" dirty="0">
                  <a:solidFill>
                    <a:srgbClr val="52616B"/>
                  </a:solidFill>
                  <a:latin typeface="+mn-lt"/>
                  <a:ea typeface="+mn-ea"/>
                  <a:cs typeface="+mn-cs"/>
                </a:rPr>
                <a:t>PR-AUC</a:t>
              </a:r>
            </a:p>
          </p:txBody>
        </p:sp>
        <p:sp>
          <p:nvSpPr>
            <p:cNvPr id="21" name="TextBox 21"/>
            <p:cNvSpPr txBox="1"/>
            <p:nvPr/>
          </p:nvSpPr>
          <p:spPr>
            <a:xfrm>
              <a:off x="6724650" y="2169795"/>
              <a:ext cx="1554089" cy="762000"/>
            </a:xfrm>
            <a:prstGeom prst="rect">
              <a:avLst/>
            </a:prstGeom>
            <a:noFill/>
            <a:ln>
              <a:noFill/>
            </a:ln>
          </p:spPr>
          <p:txBody>
            <a:bodyPr wrap="none" lIns="0" tIns="0" rIns="0" bIns="0" anchor="t" anchorCtr="0">
              <a:spAutoFit/>
            </a:bodyPr>
            <a:lstStyle/>
            <a:p>
              <a:pPr algn="l"/>
              <a:r>
                <a:rPr lang="tr-TR" sz="3900" b="1" dirty="0">
                  <a:solidFill>
                    <a:srgbClr val="12355B"/>
                  </a:solidFill>
                  <a:latin typeface="+mn-lt"/>
                  <a:ea typeface="+mn-ea"/>
                  <a:cs typeface="+mn-cs"/>
                </a:rPr>
                <a:t>0,475</a:t>
              </a:r>
            </a:p>
          </p:txBody>
        </p:sp>
        <p:sp>
          <p:nvSpPr>
            <p:cNvPr id="22" name="TextBox 22"/>
            <p:cNvSpPr txBox="1"/>
            <p:nvPr/>
          </p:nvSpPr>
          <p:spPr>
            <a:xfrm>
              <a:off x="6737604" y="2804160"/>
              <a:ext cx="328906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Gerçek zorluğu ortaya koyuyor — churn az</a:t>
              </a:r>
            </a:p>
          </p:txBody>
        </p:sp>
      </p:grpSp>
      <p:grpSp>
        <p:nvGrpSpPr>
          <p:cNvPr id="27" name="exam-note"/>
          <p:cNvGrpSpPr/>
          <p:nvPr/>
        </p:nvGrpSpPr>
        <p:grpSpPr>
          <a:xfrm>
            <a:off x="609600" y="3333750"/>
            <a:ext cx="10972800" cy="924973"/>
            <a:chOff x="609600" y="3333750"/>
            <a:chExt cx="10972800" cy="924973"/>
          </a:xfrm>
        </p:grpSpPr>
        <p:sp>
          <p:nvSpPr>
            <p:cNvPr id="24" name="Rectangle 24"/>
            <p:cNvSpPr/>
            <p:nvPr/>
          </p:nvSpPr>
          <p:spPr>
            <a:xfrm>
              <a:off x="609600" y="3333750"/>
              <a:ext cx="10972800" cy="914400"/>
            </a:xfrm>
            <a:prstGeom prst="roundRect">
              <a:avLst>
                <a:gd name="adj" fmla="val 8333"/>
              </a:avLst>
            </a:prstGeom>
            <a:solidFill>
              <a:srgbClr val="EAF4F6"/>
            </a:solidFill>
            <a:ln>
              <a:noFill/>
            </a:ln>
          </p:spPr>
        </p:sp>
        <p:sp>
          <p:nvSpPr>
            <p:cNvPr id="25" name="TextBox 25"/>
            <p:cNvSpPr txBox="1"/>
            <p:nvPr/>
          </p:nvSpPr>
          <p:spPr>
            <a:xfrm>
              <a:off x="906780" y="3476625"/>
              <a:ext cx="1421482"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 Sınav Notu</a:t>
              </a:r>
            </a:p>
          </p:txBody>
        </p:sp>
        <p:sp>
          <p:nvSpPr>
            <p:cNvPr id="26" name="TextBox 26"/>
            <p:cNvSpPr txBox="1"/>
            <p:nvPr/>
          </p:nvSpPr>
          <p:spPr>
            <a:xfrm>
              <a:off x="907161" y="3751421"/>
              <a:ext cx="6849364" cy="507302"/>
            </a:xfrm>
            <a:prstGeom prst="rect">
              <a:avLst/>
            </a:prstGeom>
            <a:noFill/>
            <a:ln>
              <a:noFill/>
            </a:ln>
          </p:spPr>
          <p:txBody>
            <a:bodyPr wrap="none" lIns="0" tIns="0" rIns="0" bIns="0" anchor="t" anchorCtr="0">
              <a:spAutoFit/>
            </a:bodyPr>
            <a:lstStyle/>
            <a:p>
              <a:pPr algn="l">
                <a:lnSpc>
                  <a:spcPts val="1800"/>
                </a:lnSpc>
              </a:pPr>
              <a:r>
                <a:rPr lang="tr-TR" sz="1420" dirty="0">
                  <a:solidFill>
                    <a:srgbClr val="172B3A"/>
                  </a:solidFill>
                  <a:latin typeface="+mn-lt"/>
                  <a:ea typeface="+mn-ea"/>
                  <a:cs typeface="+mn-cs"/>
                </a:rPr>
                <a:t>Dengesiz veride PR-AUC, ROC-AUC'tan daha güvenilir bir göstergedir; ROC-AUC</a:t>
              </a:r>
              <a:br/>
              <a:r>
                <a:rPr lang="tr-TR" sz="1420" dirty="0">
                  <a:solidFill>
                    <a:srgbClr val="172B3A"/>
                  </a:solidFill>
                  <a:latin typeface="+mn-lt"/>
                  <a:ea typeface="+mn-ea"/>
                  <a:cs typeface="+mn-cs"/>
                </a:rPr>
                <a:t>çoğunluk sınıfının etkisiyle yanıltıcı derecede yüksek çıkabilir.</a:t>
              </a:r>
            </a:p>
          </p:txBody>
        </p:sp>
      </p:grpSp>
      <p:grpSp>
        <p:nvGrpSpPr>
          <p:cNvPr id="32" name="common-errors"/>
          <p:cNvGrpSpPr/>
          <p:nvPr/>
        </p:nvGrpSpPr>
        <p:grpSpPr>
          <a:xfrm>
            <a:off x="609600" y="4476750"/>
            <a:ext cx="10972800" cy="1390650"/>
            <a:chOff x="609600" y="4476750"/>
            <a:chExt cx="10972800" cy="1390650"/>
          </a:xfrm>
        </p:grpSpPr>
        <p:sp>
          <p:nvSpPr>
            <p:cNvPr id="28" name="Rectangle 28"/>
            <p:cNvSpPr/>
            <p:nvPr/>
          </p:nvSpPr>
          <p:spPr>
            <a:xfrm>
              <a:off x="609600" y="4476750"/>
              <a:ext cx="10972800" cy="1390650"/>
            </a:xfrm>
            <a:prstGeom prst="roundRect">
              <a:avLst>
                <a:gd name="adj" fmla="val 5479"/>
              </a:avLst>
            </a:prstGeom>
            <a:solidFill>
              <a:srgbClr val="FFFFFF"/>
            </a:solidFill>
            <a:ln w="14288">
              <a:solidFill>
                <a:srgbClr val="B8CBD3"/>
              </a:solidFill>
            </a:ln>
          </p:spPr>
        </p:sp>
        <p:sp>
          <p:nvSpPr>
            <p:cNvPr id="29" name="TextBox 29"/>
            <p:cNvSpPr txBox="1"/>
            <p:nvPr/>
          </p:nvSpPr>
          <p:spPr>
            <a:xfrm>
              <a:off x="906780" y="4600575"/>
              <a:ext cx="1548478"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Yaygın hatalar</a:t>
              </a:r>
            </a:p>
          </p:txBody>
        </p:sp>
        <p:sp>
          <p:nvSpPr>
            <p:cNvPr id="30" name="TextBox 30"/>
            <p:cNvSpPr txBox="1"/>
            <p:nvPr/>
          </p:nvSpPr>
          <p:spPr>
            <a:xfrm>
              <a:off x="907542" y="4883468"/>
              <a:ext cx="5877306" cy="473583"/>
            </a:xfrm>
            <a:prstGeom prst="rect">
              <a:avLst/>
            </a:prstGeom>
            <a:noFill/>
            <a:ln>
              <a:noFill/>
            </a:ln>
          </p:spPr>
          <p:txBody>
            <a:bodyPr wrap="none" lIns="0" tIns="0" rIns="0" bIns="0" anchor="t" anchorCtr="0">
              <a:spAutoFit/>
            </a:bodyPr>
            <a:lstStyle/>
            <a:p>
              <a:pPr algn="l" marL="145732" indent="-145732">
                <a:lnSpc>
                  <a:spcPts val="1650"/>
                </a:lnSpc>
                <a:buClr>
                  <a:srgbClr val="172B3A"/>
                </a:buClr>
                <a:buSzTx/>
                <a:buFontTx/>
                <a:buChar char="•"/>
              </a:pPr>
              <a:r>
                <a:rPr lang="tr-TR" sz="1350" dirty="0">
                  <a:solidFill>
                    <a:srgbClr val="172B3A"/>
                  </a:solidFill>
                  <a:latin typeface="+mn-lt"/>
                  <a:ea typeface="+mn-ea"/>
                  <a:cs typeface="+mn-cs"/>
                </a:rPr>
                <a:t>ROC/PR eğrisi için predict() (sabit 0,5 eşik) yerine predict_proba()</a:t>
              </a:r>
              <a:br/>
              <a:r>
                <a:rPr lang="tr-TR" sz="1350" dirty="0">
                  <a:solidFill>
                    <a:srgbClr val="172B3A"/>
                  </a:solidFill>
                  <a:latin typeface="+mn-lt"/>
                  <a:ea typeface="+mn-ea"/>
                  <a:cs typeface="+mn-cs"/>
                </a:rPr>
                <a:t>kullanılmalıdır.</a:t>
              </a:r>
            </a:p>
          </p:txBody>
        </p:sp>
        <p:sp>
          <p:nvSpPr>
            <p:cNvPr id="31" name="TextBox 31"/>
            <p:cNvSpPr txBox="1"/>
            <p:nvPr/>
          </p:nvSpPr>
          <p:spPr>
            <a:xfrm>
              <a:off x="907542" y="5359718"/>
              <a:ext cx="6462236" cy="264033"/>
            </a:xfrm>
            <a:prstGeom prst="rect">
              <a:avLst/>
            </a:prstGeom>
            <a:noFill/>
            <a:ln>
              <a:noFill/>
            </a:ln>
          </p:spPr>
          <p:txBody>
            <a:bodyPr wrap="none" lIns="0" tIns="0" rIns="0" bIns="0" anchor="t" anchorCtr="0">
              <a:spAutoFit/>
            </a:bodyPr>
            <a:lstStyle/>
            <a:p>
              <a:pPr algn="l" marL="145732" indent="-145732">
                <a:buClr>
                  <a:srgbClr val="172B3A"/>
                </a:buClr>
                <a:buSzTx/>
                <a:buFontTx/>
                <a:buChar char="•"/>
              </a:pPr>
              <a:r>
                <a:rPr lang="tr-TR" sz="1350" dirty="0">
                  <a:solidFill>
                    <a:srgbClr val="172B3A"/>
                  </a:solidFill>
                  <a:latin typeface="+mn-lt"/>
                  <a:ea typeface="+mn-ea"/>
                  <a:cs typeface="+mn-cs"/>
                </a:rPr>
                <a:t>Yalnızca ROC-AUC'a güvenip dengesiz veride PR-AUC'u göz ardı etmek.</a:t>
              </a:r>
            </a:p>
          </p:txBody>
        </p:sp>
      </p:grpSp>
      <p:sp>
        <p:nvSpPr>
          <p:cNvPr id="33" name="TextBox 3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 / 25</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8845266" cy="668845"/>
            <a:chOff x="609600" y="171450"/>
            <a:chExt cx="8845266"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815489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K-Fold çapraz doğrulama: tanım ve neden</a:t>
              </a:r>
            </a:p>
          </p:txBody>
        </p:sp>
      </p:grpSp>
      <p:grpSp>
        <p:nvGrpSpPr>
          <p:cNvPr id="16" name="why-text"/>
          <p:cNvGrpSpPr/>
          <p:nvPr/>
        </p:nvGrpSpPr>
        <p:grpSpPr>
          <a:xfrm>
            <a:off x="601218" y="1345882"/>
            <a:ext cx="5151882" cy="3892868"/>
            <a:chOff x="601218" y="1345882"/>
            <a:chExt cx="5151882" cy="3892868"/>
          </a:xfrm>
        </p:grpSpPr>
        <p:sp>
          <p:nvSpPr>
            <p:cNvPr id="9" name="TextBox 9"/>
            <p:cNvSpPr txBox="1"/>
            <p:nvPr/>
          </p:nvSpPr>
          <p:spPr>
            <a:xfrm>
              <a:off x="601218" y="1345882"/>
              <a:ext cx="3488385"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Neden tek bir bölünme yetmez?</a:t>
              </a:r>
            </a:p>
          </p:txBody>
        </p:sp>
        <p:sp>
          <p:nvSpPr>
            <p:cNvPr id="10" name="TextBox 10"/>
            <p:cNvSpPr txBox="1"/>
            <p:nvPr/>
          </p:nvSpPr>
          <p:spPr>
            <a:xfrm>
              <a:off x="601980" y="1704975"/>
              <a:ext cx="3768090" cy="788670"/>
            </a:xfrm>
            <a:prstGeom prst="rect">
              <a:avLst/>
            </a:prstGeom>
            <a:noFill/>
            <a:ln>
              <a:noFill/>
            </a:ln>
          </p:spPr>
          <p:txBody>
            <a:bodyPr wrap="none" lIns="0" tIns="0" rIns="0" bIns="0" anchor="t" anchorCtr="0">
              <a:spAutoFit/>
            </a:bodyPr>
            <a:lstStyle/>
            <a:p>
              <a:pPr algn="l">
                <a:lnSpc>
                  <a:spcPts val="1950"/>
                </a:lnSpc>
              </a:pPr>
              <a:r>
                <a:rPr lang="tr-TR" sz="1500" dirty="0">
                  <a:solidFill>
                    <a:srgbClr val="172B3A"/>
                  </a:solidFill>
                  <a:latin typeface="+mn-lt"/>
                  <a:ea typeface="+mn-ea"/>
                  <a:cs typeface="+mn-cs"/>
                </a:rPr>
                <a:t>Tek bir train/test bölünmesi, hangi</a:t>
              </a:r>
              <a:br/>
              <a:r>
                <a:rPr lang="tr-TR" sz="1500" dirty="0">
                  <a:solidFill>
                    <a:srgbClr val="172B3A"/>
                  </a:solidFill>
                  <a:latin typeface="+mn-lt"/>
                  <a:ea typeface="+mn-ea"/>
                  <a:cs typeface="+mn-cs"/>
                </a:rPr>
                <a:t>satırların teste düştüğüne bağlı olarak</a:t>
              </a:r>
              <a:br/>
              <a:r>
                <a:rPr lang="tr-TR" sz="1500" dirty="0">
                  <a:solidFill>
                    <a:srgbClr val="172B3A"/>
                  </a:solidFill>
                  <a:latin typeface="+mn-lt"/>
                  <a:ea typeface="+mn-ea"/>
                  <a:cs typeface="+mn-cs"/>
                </a:rPr>
                <a:t>şans eseri iyi ya da kötü çıkabilir.</a:t>
              </a:r>
            </a:p>
          </p:txBody>
        </p:sp>
        <p:sp>
          <p:nvSpPr>
            <p:cNvPr id="11" name="Rectangle 11"/>
            <p:cNvSpPr/>
            <p:nvPr/>
          </p:nvSpPr>
          <p:spPr>
            <a:xfrm>
              <a:off x="609600" y="2762250"/>
              <a:ext cx="5143500" cy="1238250"/>
            </a:xfrm>
            <a:prstGeom prst="roundRect">
              <a:avLst>
                <a:gd name="adj" fmla="val 6154"/>
              </a:avLst>
            </a:prstGeom>
            <a:solidFill>
              <a:srgbClr val="EAF4F6"/>
            </a:solidFill>
            <a:ln>
              <a:noFill/>
            </a:ln>
          </p:spPr>
        </p:sp>
        <p:sp>
          <p:nvSpPr>
            <p:cNvPr id="12" name="TextBox 12"/>
            <p:cNvSpPr txBox="1"/>
            <p:nvPr/>
          </p:nvSpPr>
          <p:spPr>
            <a:xfrm>
              <a:off x="830580" y="2886075"/>
              <a:ext cx="2541976"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K-Fold çapraz doğrulama</a:t>
              </a:r>
            </a:p>
          </p:txBody>
        </p:sp>
        <p:sp>
          <p:nvSpPr>
            <p:cNvPr id="13" name="TextBox 13"/>
            <p:cNvSpPr txBox="1"/>
            <p:nvPr/>
          </p:nvSpPr>
          <p:spPr>
            <a:xfrm>
              <a:off x="831342" y="3168968"/>
              <a:ext cx="3879913" cy="7212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Veriyi k eşit parçaya böler; her seferinde</a:t>
              </a:r>
              <a:br/>
              <a:r>
                <a:rPr lang="tr-TR" sz="1350" dirty="0">
                  <a:solidFill>
                    <a:srgbClr val="172B3A"/>
                  </a:solidFill>
                  <a:latin typeface="+mn-lt"/>
                  <a:ea typeface="+mn-ea"/>
                  <a:cs typeface="+mn-cs"/>
                </a:rPr>
                <a:t>bir parçayı test, kalanını eğitim için kullanır</a:t>
              </a:r>
              <a:br/>
              <a:r>
                <a:rPr lang="tr-TR" sz="1350" dirty="0">
                  <a:solidFill>
                    <a:srgbClr val="172B3A"/>
                  </a:solidFill>
                  <a:latin typeface="+mn-lt"/>
                  <a:ea typeface="+mn-ea"/>
                  <a:cs typeface="+mn-cs"/>
                </a:rPr>
                <a:t>ve k sonucun ortalamasını raporlar.</a:t>
              </a:r>
            </a:p>
          </p:txBody>
        </p:sp>
        <p:sp>
          <p:nvSpPr>
            <p:cNvPr id="14" name="Rectangle 14"/>
            <p:cNvSpPr/>
            <p:nvPr/>
          </p:nvSpPr>
          <p:spPr>
            <a:xfrm>
              <a:off x="609600" y="4191000"/>
              <a:ext cx="5143500" cy="1047750"/>
            </a:xfrm>
            <a:prstGeom prst="roundRect">
              <a:avLst>
                <a:gd name="adj" fmla="val 7273"/>
              </a:avLst>
            </a:prstGeom>
            <a:solidFill>
              <a:srgbClr val="FFFFFF"/>
            </a:solidFill>
            <a:ln w="14288">
              <a:solidFill>
                <a:srgbClr val="B8CBD3"/>
              </a:solidFill>
            </a:ln>
          </p:spPr>
        </p:sp>
        <p:sp>
          <p:nvSpPr>
            <p:cNvPr id="15" name="TextBox 15"/>
            <p:cNvSpPr txBox="1"/>
            <p:nvPr/>
          </p:nvSpPr>
          <p:spPr>
            <a:xfrm>
              <a:off x="831342" y="4331018"/>
              <a:ext cx="3819906" cy="7212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Köken: 1970'lerde jackknife ve leave-one-out</a:t>
              </a:r>
              <a:br/>
              <a:r>
                <a:rPr lang="tr-TR" sz="1350" dirty="0">
                  <a:solidFill>
                    <a:srgbClr val="172B3A"/>
                  </a:solidFill>
                  <a:latin typeface="+mn-lt"/>
                  <a:ea typeface="+mn-ea"/>
                  <a:cs typeface="+mn-cs"/>
                </a:rPr>
                <a:t>yeniden örnekleme yöntemlerinden gelişti;</a:t>
              </a:r>
              <a:br/>
              <a:r>
                <a:rPr lang="tr-TR" sz="1350" dirty="0">
                  <a:solidFill>
                    <a:srgbClr val="172B3A"/>
                  </a:solidFill>
                  <a:latin typeface="+mn-lt"/>
                  <a:ea typeface="+mn-ea"/>
                  <a:cs typeface="+mn-cs"/>
                </a:rPr>
                <a:t>amaç hep aynı: genellenebilirliği ölçmek.</a:t>
              </a:r>
            </a:p>
          </p:txBody>
        </p:sp>
      </p:grpSp>
      <p:grpSp>
        <p:nvGrpSpPr>
          <p:cNvPr id="35" name="exam-analogy"/>
          <p:cNvGrpSpPr/>
          <p:nvPr/>
        </p:nvGrpSpPr>
        <p:grpSpPr>
          <a:xfrm>
            <a:off x="6438900" y="1238250"/>
            <a:ext cx="5143500" cy="4000500"/>
            <a:chOff x="6438900" y="1238250"/>
            <a:chExt cx="5143500" cy="4000500"/>
          </a:xfrm>
        </p:grpSpPr>
        <p:sp>
          <p:nvSpPr>
            <p:cNvPr id="17" name="Rectangle 17"/>
            <p:cNvSpPr/>
            <p:nvPr/>
          </p:nvSpPr>
          <p:spPr>
            <a:xfrm>
              <a:off x="6438900" y="1238250"/>
              <a:ext cx="5143500" cy="4000500"/>
            </a:xfrm>
            <a:prstGeom prst="roundRect">
              <a:avLst>
                <a:gd name="adj" fmla="val 2381"/>
              </a:avLst>
            </a:prstGeom>
            <a:solidFill>
              <a:srgbClr val="FFFFFF"/>
            </a:solidFill>
            <a:ln w="14288">
              <a:solidFill>
                <a:srgbClr val="2E86AB"/>
              </a:solidFill>
            </a:ln>
          </p:spPr>
        </p:sp>
        <p:sp>
          <p:nvSpPr>
            <p:cNvPr id="18" name="TextBox 18"/>
            <p:cNvSpPr txBox="1"/>
            <p:nvPr/>
          </p:nvSpPr>
          <p:spPr>
            <a:xfrm>
              <a:off x="6735318" y="1441132"/>
              <a:ext cx="2997449"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Sınav ortalaması analojisi</a:t>
              </a:r>
            </a:p>
          </p:txBody>
        </p:sp>
        <p:sp>
          <p:nvSpPr>
            <p:cNvPr id="19" name="TextBox 19"/>
            <p:cNvSpPr txBox="1"/>
            <p:nvPr/>
          </p:nvSpPr>
          <p:spPr>
            <a:xfrm>
              <a:off x="6737223" y="1748314"/>
              <a:ext cx="3727450" cy="458914"/>
            </a:xfrm>
            <a:prstGeom prst="rect">
              <a:avLst/>
            </a:prstGeom>
            <a:noFill/>
            <a:ln>
              <a:noFill/>
            </a:ln>
          </p:spPr>
          <p:txBody>
            <a:bodyPr wrap="none" lIns="0" tIns="0" rIns="0" bIns="0" anchor="t" anchorCtr="0">
              <a:spAutoFit/>
            </a:bodyPr>
            <a:lstStyle/>
            <a:p>
              <a:pPr algn="l">
                <a:lnSpc>
                  <a:spcPts val="1650"/>
                </a:lnSpc>
              </a:pPr>
              <a:r>
                <a:rPr lang="tr-TR" sz="1280" dirty="0">
                  <a:solidFill>
                    <a:srgbClr val="52616B"/>
                  </a:solidFill>
                  <a:latin typeface="+mn-lt"/>
                  <a:ea typeface="+mn-ea"/>
                  <a:cs typeface="+mn-cs"/>
                </a:rPr>
                <a:t>Tek bir sınav yerine 5 sınavın ortalaması</a:t>
              </a:r>
              <a:br/>
              <a:r>
                <a:rPr lang="tr-TR" sz="1280" dirty="0">
                  <a:solidFill>
                    <a:srgbClr val="52616B"/>
                  </a:solidFill>
                  <a:latin typeface="+mn-lt"/>
                  <a:ea typeface="+mn-ea"/>
                  <a:cs typeface="+mn-cs"/>
                </a:rPr>
                <a:t>öğrencinin gerçek seviyesini daha iyi yansıtır.</a:t>
              </a:r>
            </a:p>
          </p:txBody>
        </p:sp>
        <p:sp>
          <p:nvSpPr>
            <p:cNvPr id="20" name="Rectangle 20"/>
            <p:cNvSpPr/>
            <p:nvPr/>
          </p:nvSpPr>
          <p:spPr>
            <a:xfrm>
              <a:off x="6743700" y="2381250"/>
              <a:ext cx="571500" cy="1333500"/>
            </a:xfrm>
            <a:prstGeom prst="rect">
              <a:avLst/>
            </a:prstGeom>
            <a:solidFill>
              <a:srgbClr val="2E86AB"/>
            </a:solidFill>
            <a:ln>
              <a:noFill/>
            </a:ln>
          </p:spPr>
        </p:sp>
        <p:sp>
          <p:nvSpPr>
            <p:cNvPr id="21" name="TextBox 21"/>
            <p:cNvSpPr txBox="1"/>
            <p:nvPr/>
          </p:nvSpPr>
          <p:spPr>
            <a:xfrm>
              <a:off x="6985244" y="3734752"/>
              <a:ext cx="88411"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1</a:t>
              </a:r>
            </a:p>
          </p:txBody>
        </p:sp>
        <p:sp>
          <p:nvSpPr>
            <p:cNvPr id="22" name="Rectangle 22"/>
            <p:cNvSpPr/>
            <p:nvPr/>
          </p:nvSpPr>
          <p:spPr>
            <a:xfrm>
              <a:off x="7467600" y="2762250"/>
              <a:ext cx="571500" cy="952500"/>
            </a:xfrm>
            <a:prstGeom prst="rect">
              <a:avLst/>
            </a:prstGeom>
            <a:solidFill>
              <a:srgbClr val="2E86AB"/>
            </a:solidFill>
            <a:ln>
              <a:noFill/>
            </a:ln>
          </p:spPr>
        </p:sp>
        <p:sp>
          <p:nvSpPr>
            <p:cNvPr id="23" name="TextBox 23"/>
            <p:cNvSpPr txBox="1"/>
            <p:nvPr/>
          </p:nvSpPr>
          <p:spPr>
            <a:xfrm>
              <a:off x="7709144" y="3734752"/>
              <a:ext cx="88411"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2</a:t>
              </a:r>
            </a:p>
          </p:txBody>
        </p:sp>
        <p:sp>
          <p:nvSpPr>
            <p:cNvPr id="24" name="Rectangle 24"/>
            <p:cNvSpPr/>
            <p:nvPr/>
          </p:nvSpPr>
          <p:spPr>
            <a:xfrm>
              <a:off x="8191500" y="2190750"/>
              <a:ext cx="571500" cy="1524000"/>
            </a:xfrm>
            <a:prstGeom prst="rect">
              <a:avLst/>
            </a:prstGeom>
            <a:solidFill>
              <a:srgbClr val="2E86AB"/>
            </a:solidFill>
            <a:ln>
              <a:noFill/>
            </a:ln>
          </p:spPr>
        </p:sp>
        <p:sp>
          <p:nvSpPr>
            <p:cNvPr id="25" name="TextBox 25"/>
            <p:cNvSpPr txBox="1"/>
            <p:nvPr/>
          </p:nvSpPr>
          <p:spPr>
            <a:xfrm>
              <a:off x="8433044" y="3734752"/>
              <a:ext cx="88411"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3</a:t>
              </a:r>
            </a:p>
          </p:txBody>
        </p:sp>
        <p:sp>
          <p:nvSpPr>
            <p:cNvPr id="26" name="Rectangle 26"/>
            <p:cNvSpPr/>
            <p:nvPr/>
          </p:nvSpPr>
          <p:spPr>
            <a:xfrm>
              <a:off x="8915400" y="2571750"/>
              <a:ext cx="571500" cy="1143000"/>
            </a:xfrm>
            <a:prstGeom prst="rect">
              <a:avLst/>
            </a:prstGeom>
            <a:solidFill>
              <a:srgbClr val="2E86AB"/>
            </a:solidFill>
            <a:ln>
              <a:noFill/>
            </a:ln>
          </p:spPr>
        </p:sp>
        <p:sp>
          <p:nvSpPr>
            <p:cNvPr id="27" name="TextBox 27"/>
            <p:cNvSpPr txBox="1"/>
            <p:nvPr/>
          </p:nvSpPr>
          <p:spPr>
            <a:xfrm>
              <a:off x="9156944" y="3734752"/>
              <a:ext cx="88411"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4</a:t>
              </a:r>
            </a:p>
          </p:txBody>
        </p:sp>
        <p:sp>
          <p:nvSpPr>
            <p:cNvPr id="28" name="Rectangle 28"/>
            <p:cNvSpPr/>
            <p:nvPr/>
          </p:nvSpPr>
          <p:spPr>
            <a:xfrm>
              <a:off x="9639300" y="2952750"/>
              <a:ext cx="571500" cy="762000"/>
            </a:xfrm>
            <a:prstGeom prst="rect">
              <a:avLst/>
            </a:prstGeom>
            <a:solidFill>
              <a:srgbClr val="2E86AB"/>
            </a:solidFill>
            <a:ln>
              <a:noFill/>
            </a:ln>
          </p:spPr>
        </p:sp>
        <p:sp>
          <p:nvSpPr>
            <p:cNvPr id="29" name="TextBox 29"/>
            <p:cNvSpPr txBox="1"/>
            <p:nvPr/>
          </p:nvSpPr>
          <p:spPr>
            <a:xfrm>
              <a:off x="9880844" y="3734752"/>
              <a:ext cx="88411"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5</a:t>
              </a:r>
            </a:p>
          </p:txBody>
        </p:sp>
        <p:sp>
          <p:nvSpPr>
            <p:cNvPr id="30" name="Line 30"/>
            <p:cNvSpPr/>
            <p:nvPr/>
          </p:nvSpPr>
          <p:spPr>
            <a:xfrm>
              <a:off x="6667500" y="2838450"/>
              <a:ext cx="3619500" cy="9525"/>
            </a:xfrm>
            <a:custGeom>
              <a:avLst/>
              <a:gdLst/>
              <a:ahLst/>
              <a:cxnLst/>
              <a:rect l="l" t="t" r="r" b="b"/>
              <a:pathLst>
                <a:path w="3619500" h="9525">
                  <a:moveTo>
                    <a:pt x="0" y="0"/>
                  </a:moveTo>
                  <a:lnTo>
                    <a:pt x="3619500" y="0"/>
                  </a:lnTo>
                </a:path>
              </a:pathLst>
            </a:custGeom>
            <a:noFill/>
            <a:ln w="23812">
              <a:solidFill>
                <a:srgbClr val="00A6A6"/>
              </a:solidFill>
              <a:custDash>
                <a:ds d="240000" sp="160000"/>
              </a:custDash>
            </a:ln>
          </p:spPr>
        </p:sp>
        <p:sp>
          <p:nvSpPr>
            <p:cNvPr id="31" name="TextBox 31"/>
            <p:cNvSpPr txBox="1"/>
            <p:nvPr/>
          </p:nvSpPr>
          <p:spPr>
            <a:xfrm>
              <a:off x="10357485" y="2764631"/>
              <a:ext cx="702307"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mn-lt"/>
                  <a:ea typeface="+mn-ea"/>
                  <a:cs typeface="+mn-cs"/>
                </a:rPr>
                <a:t>Ortalama</a:t>
              </a:r>
            </a:p>
          </p:txBody>
        </p:sp>
        <p:sp>
          <p:nvSpPr>
            <p:cNvPr id="32" name="TextBox 32"/>
            <p:cNvSpPr txBox="1"/>
            <p:nvPr/>
          </p:nvSpPr>
          <p:spPr>
            <a:xfrm>
              <a:off x="6737223" y="4053364"/>
              <a:ext cx="3434842" cy="458914"/>
            </a:xfrm>
            <a:prstGeom prst="rect">
              <a:avLst/>
            </a:prstGeom>
            <a:noFill/>
            <a:ln>
              <a:noFill/>
            </a:ln>
          </p:spPr>
          <p:txBody>
            <a:bodyPr wrap="none" lIns="0" tIns="0" rIns="0" bIns="0" anchor="t" anchorCtr="0">
              <a:spAutoFit/>
            </a:bodyPr>
            <a:lstStyle/>
            <a:p>
              <a:pPr algn="l">
                <a:lnSpc>
                  <a:spcPts val="1650"/>
                </a:lnSpc>
              </a:pPr>
              <a:r>
                <a:rPr lang="tr-TR" sz="1280" dirty="0">
                  <a:solidFill>
                    <a:srgbClr val="172B3A"/>
                  </a:solidFill>
                  <a:latin typeface="+mn-lt"/>
                  <a:ea typeface="+mn-ea"/>
                  <a:cs typeface="+mn-cs"/>
                </a:rPr>
                <a:t>Her fold, bir 'sınav'; std sapma, sınavlar</a:t>
              </a:r>
              <a:br/>
              <a:r>
                <a:rPr lang="tr-TR" sz="1280" dirty="0">
                  <a:solidFill>
                    <a:srgbClr val="172B3A"/>
                  </a:solidFill>
                  <a:latin typeface="+mn-lt"/>
                  <a:ea typeface="+mn-ea"/>
                  <a:cs typeface="+mn-cs"/>
                </a:rPr>
                <a:t>arasındaki tutarlılığı gösterir.</a:t>
              </a:r>
            </a:p>
          </p:txBody>
        </p:sp>
        <p:sp>
          <p:nvSpPr>
            <p:cNvPr id="33" name="Rectangle 33"/>
            <p:cNvSpPr/>
            <p:nvPr/>
          </p:nvSpPr>
          <p:spPr>
            <a:xfrm>
              <a:off x="6743700" y="4629150"/>
              <a:ext cx="4533900" cy="400050"/>
            </a:xfrm>
            <a:prstGeom prst="roundRect">
              <a:avLst>
                <a:gd name="adj" fmla="val 14286"/>
              </a:avLst>
            </a:prstGeom>
            <a:solidFill>
              <a:srgbClr val="EAF4F6"/>
            </a:solidFill>
            <a:ln>
              <a:noFill/>
            </a:ln>
          </p:spPr>
        </p:sp>
        <p:sp>
          <p:nvSpPr>
            <p:cNvPr id="34" name="TextBox 34"/>
            <p:cNvSpPr txBox="1"/>
            <p:nvPr/>
          </p:nvSpPr>
          <p:spPr>
            <a:xfrm>
              <a:off x="6890004" y="4747260"/>
              <a:ext cx="332935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Düşük std = tutarlı, güvenilir performans</a:t>
              </a:r>
            </a:p>
          </p:txBody>
        </p:sp>
      </p:grpSp>
      <p:sp>
        <p:nvSpPr>
          <p:cNvPr id="36" name="TextBox 3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 / 25</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153209" cy="557403"/>
            <a:chOff x="595122" y="282892"/>
            <a:chExt cx="8153209" cy="557403"/>
          </a:xfrm>
        </p:grpSpPr>
        <p:sp>
          <p:nvSpPr>
            <p:cNvPr id="4" name="TextBox 4"/>
            <p:cNvSpPr txBox="1"/>
            <p:nvPr/>
          </p:nvSpPr>
          <p:spPr>
            <a:xfrm>
              <a:off x="595122" y="282892"/>
              <a:ext cx="815320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K-Fold süreci ve yöntem karşılaştırması</a:t>
              </a:r>
            </a:p>
          </p:txBody>
        </p:sp>
      </p:grpSp>
      <p:grpSp>
        <p:nvGrpSpPr>
          <p:cNvPr id="33" name="fold-diagram"/>
          <p:cNvGrpSpPr/>
          <p:nvPr/>
        </p:nvGrpSpPr>
        <p:grpSpPr>
          <a:xfrm>
            <a:off x="602742" y="1111568"/>
            <a:ext cx="10985373" cy="1936432"/>
            <a:chOff x="602742" y="1111568"/>
            <a:chExt cx="10985373" cy="1936432"/>
          </a:xfrm>
        </p:grpSpPr>
        <p:sp>
          <p:nvSpPr>
            <p:cNvPr id="6" name="TextBox 6"/>
            <p:cNvSpPr txBox="1"/>
            <p:nvPr/>
          </p:nvSpPr>
          <p:spPr>
            <a:xfrm>
              <a:off x="602742" y="1111568"/>
              <a:ext cx="5090285"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5-Fold süreci: her turda farklı bir dilim test için ayrılır</a:t>
              </a:r>
            </a:p>
          </p:txBody>
        </p:sp>
        <p:sp>
          <p:nvSpPr>
            <p:cNvPr id="7" name="Rectangle 7"/>
            <p:cNvSpPr/>
            <p:nvPr/>
          </p:nvSpPr>
          <p:spPr>
            <a:xfrm>
              <a:off x="609600" y="1390650"/>
              <a:ext cx="2133600" cy="285750"/>
            </a:xfrm>
            <a:prstGeom prst="rect">
              <a:avLst/>
            </a:prstGeom>
            <a:solidFill>
              <a:srgbClr val="00A6A6"/>
            </a:solidFill>
            <a:ln>
              <a:noFill/>
            </a:ln>
          </p:spPr>
        </p:sp>
        <p:sp>
          <p:nvSpPr>
            <p:cNvPr id="8" name="Rectangle 8"/>
            <p:cNvSpPr/>
            <p:nvPr/>
          </p:nvSpPr>
          <p:spPr>
            <a:xfrm>
              <a:off x="2743200" y="1390650"/>
              <a:ext cx="2133600" cy="285750"/>
            </a:xfrm>
            <a:prstGeom prst="rect">
              <a:avLst/>
            </a:prstGeom>
            <a:solidFill>
              <a:srgbClr val="EAF4F6"/>
            </a:solidFill>
            <a:ln>
              <a:noFill/>
            </a:ln>
          </p:spPr>
        </p:sp>
        <p:sp>
          <p:nvSpPr>
            <p:cNvPr id="9" name="Rectangle 9"/>
            <p:cNvSpPr/>
            <p:nvPr/>
          </p:nvSpPr>
          <p:spPr>
            <a:xfrm>
              <a:off x="4876800" y="1390650"/>
              <a:ext cx="2133600" cy="285750"/>
            </a:xfrm>
            <a:prstGeom prst="rect">
              <a:avLst/>
            </a:prstGeom>
            <a:solidFill>
              <a:srgbClr val="EAF4F6"/>
            </a:solidFill>
            <a:ln>
              <a:noFill/>
            </a:ln>
          </p:spPr>
        </p:sp>
        <p:sp>
          <p:nvSpPr>
            <p:cNvPr id="10" name="Rectangle 10"/>
            <p:cNvSpPr/>
            <p:nvPr/>
          </p:nvSpPr>
          <p:spPr>
            <a:xfrm>
              <a:off x="7010400" y="1390650"/>
              <a:ext cx="2133600" cy="285750"/>
            </a:xfrm>
            <a:prstGeom prst="rect">
              <a:avLst/>
            </a:prstGeom>
            <a:solidFill>
              <a:srgbClr val="EAF4F6"/>
            </a:solidFill>
            <a:ln>
              <a:noFill/>
            </a:ln>
          </p:spPr>
        </p:sp>
        <p:sp>
          <p:nvSpPr>
            <p:cNvPr id="11" name="Rectangle 11"/>
            <p:cNvSpPr/>
            <p:nvPr/>
          </p:nvSpPr>
          <p:spPr>
            <a:xfrm>
              <a:off x="9144000" y="1390650"/>
              <a:ext cx="2133600" cy="285750"/>
            </a:xfrm>
            <a:prstGeom prst="rect">
              <a:avLst/>
            </a:prstGeom>
            <a:solidFill>
              <a:srgbClr val="EAF4F6"/>
            </a:solidFill>
            <a:ln>
              <a:noFill/>
            </a:ln>
          </p:spPr>
        </p:sp>
        <p:sp>
          <p:nvSpPr>
            <p:cNvPr id="12" name="Rectangle 12"/>
            <p:cNvSpPr/>
            <p:nvPr/>
          </p:nvSpPr>
          <p:spPr>
            <a:xfrm>
              <a:off x="609600" y="1733550"/>
              <a:ext cx="2133600" cy="285750"/>
            </a:xfrm>
            <a:prstGeom prst="rect">
              <a:avLst/>
            </a:prstGeom>
            <a:solidFill>
              <a:srgbClr val="EAF4F6"/>
            </a:solidFill>
            <a:ln>
              <a:noFill/>
            </a:ln>
          </p:spPr>
        </p:sp>
        <p:sp>
          <p:nvSpPr>
            <p:cNvPr id="13" name="Rectangle 13"/>
            <p:cNvSpPr/>
            <p:nvPr/>
          </p:nvSpPr>
          <p:spPr>
            <a:xfrm>
              <a:off x="2743200" y="1733550"/>
              <a:ext cx="2133600" cy="285750"/>
            </a:xfrm>
            <a:prstGeom prst="rect">
              <a:avLst/>
            </a:prstGeom>
            <a:solidFill>
              <a:srgbClr val="00A6A6"/>
            </a:solidFill>
            <a:ln>
              <a:noFill/>
            </a:ln>
          </p:spPr>
        </p:sp>
        <p:sp>
          <p:nvSpPr>
            <p:cNvPr id="14" name="Rectangle 14"/>
            <p:cNvSpPr/>
            <p:nvPr/>
          </p:nvSpPr>
          <p:spPr>
            <a:xfrm>
              <a:off x="4876800" y="1733550"/>
              <a:ext cx="2133600" cy="285750"/>
            </a:xfrm>
            <a:prstGeom prst="rect">
              <a:avLst/>
            </a:prstGeom>
            <a:solidFill>
              <a:srgbClr val="EAF4F6"/>
            </a:solidFill>
            <a:ln>
              <a:noFill/>
            </a:ln>
          </p:spPr>
        </p:sp>
        <p:sp>
          <p:nvSpPr>
            <p:cNvPr id="15" name="Rectangle 15"/>
            <p:cNvSpPr/>
            <p:nvPr/>
          </p:nvSpPr>
          <p:spPr>
            <a:xfrm>
              <a:off x="7010400" y="1733550"/>
              <a:ext cx="2133600" cy="285750"/>
            </a:xfrm>
            <a:prstGeom prst="rect">
              <a:avLst/>
            </a:prstGeom>
            <a:solidFill>
              <a:srgbClr val="EAF4F6"/>
            </a:solidFill>
            <a:ln>
              <a:noFill/>
            </a:ln>
          </p:spPr>
        </p:sp>
        <p:sp>
          <p:nvSpPr>
            <p:cNvPr id="16" name="Rectangle 16"/>
            <p:cNvSpPr/>
            <p:nvPr/>
          </p:nvSpPr>
          <p:spPr>
            <a:xfrm>
              <a:off x="9144000" y="1733550"/>
              <a:ext cx="2133600" cy="285750"/>
            </a:xfrm>
            <a:prstGeom prst="rect">
              <a:avLst/>
            </a:prstGeom>
            <a:solidFill>
              <a:srgbClr val="EAF4F6"/>
            </a:solidFill>
            <a:ln>
              <a:noFill/>
            </a:ln>
          </p:spPr>
        </p:sp>
        <p:sp>
          <p:nvSpPr>
            <p:cNvPr id="17" name="Rectangle 17"/>
            <p:cNvSpPr/>
            <p:nvPr/>
          </p:nvSpPr>
          <p:spPr>
            <a:xfrm>
              <a:off x="609600" y="2076450"/>
              <a:ext cx="2133600" cy="285750"/>
            </a:xfrm>
            <a:prstGeom prst="rect">
              <a:avLst/>
            </a:prstGeom>
            <a:solidFill>
              <a:srgbClr val="EAF4F6"/>
            </a:solidFill>
            <a:ln>
              <a:noFill/>
            </a:ln>
          </p:spPr>
        </p:sp>
        <p:sp>
          <p:nvSpPr>
            <p:cNvPr id="18" name="Rectangle 18"/>
            <p:cNvSpPr/>
            <p:nvPr/>
          </p:nvSpPr>
          <p:spPr>
            <a:xfrm>
              <a:off x="2743200" y="2076450"/>
              <a:ext cx="2133600" cy="285750"/>
            </a:xfrm>
            <a:prstGeom prst="rect">
              <a:avLst/>
            </a:prstGeom>
            <a:solidFill>
              <a:srgbClr val="EAF4F6"/>
            </a:solidFill>
            <a:ln>
              <a:noFill/>
            </a:ln>
          </p:spPr>
        </p:sp>
        <p:sp>
          <p:nvSpPr>
            <p:cNvPr id="19" name="Rectangle 19"/>
            <p:cNvSpPr/>
            <p:nvPr/>
          </p:nvSpPr>
          <p:spPr>
            <a:xfrm>
              <a:off x="4876800" y="2076450"/>
              <a:ext cx="2133600" cy="285750"/>
            </a:xfrm>
            <a:prstGeom prst="rect">
              <a:avLst/>
            </a:prstGeom>
            <a:solidFill>
              <a:srgbClr val="00A6A6"/>
            </a:solidFill>
            <a:ln>
              <a:noFill/>
            </a:ln>
          </p:spPr>
        </p:sp>
        <p:sp>
          <p:nvSpPr>
            <p:cNvPr id="20" name="Rectangle 20"/>
            <p:cNvSpPr/>
            <p:nvPr/>
          </p:nvSpPr>
          <p:spPr>
            <a:xfrm>
              <a:off x="7010400" y="2076450"/>
              <a:ext cx="2133600" cy="285750"/>
            </a:xfrm>
            <a:prstGeom prst="rect">
              <a:avLst/>
            </a:prstGeom>
            <a:solidFill>
              <a:srgbClr val="EAF4F6"/>
            </a:solidFill>
            <a:ln>
              <a:noFill/>
            </a:ln>
          </p:spPr>
        </p:sp>
        <p:sp>
          <p:nvSpPr>
            <p:cNvPr id="21" name="Rectangle 21"/>
            <p:cNvSpPr/>
            <p:nvPr/>
          </p:nvSpPr>
          <p:spPr>
            <a:xfrm>
              <a:off x="9144000" y="2076450"/>
              <a:ext cx="2133600" cy="285750"/>
            </a:xfrm>
            <a:prstGeom prst="rect">
              <a:avLst/>
            </a:prstGeom>
            <a:solidFill>
              <a:srgbClr val="EAF4F6"/>
            </a:solidFill>
            <a:ln>
              <a:noFill/>
            </a:ln>
          </p:spPr>
        </p:sp>
        <p:sp>
          <p:nvSpPr>
            <p:cNvPr id="22" name="Rectangle 22"/>
            <p:cNvSpPr/>
            <p:nvPr/>
          </p:nvSpPr>
          <p:spPr>
            <a:xfrm>
              <a:off x="609600" y="2419350"/>
              <a:ext cx="2133600" cy="285750"/>
            </a:xfrm>
            <a:prstGeom prst="rect">
              <a:avLst/>
            </a:prstGeom>
            <a:solidFill>
              <a:srgbClr val="EAF4F6"/>
            </a:solidFill>
            <a:ln>
              <a:noFill/>
            </a:ln>
          </p:spPr>
        </p:sp>
        <p:sp>
          <p:nvSpPr>
            <p:cNvPr id="23" name="Rectangle 23"/>
            <p:cNvSpPr/>
            <p:nvPr/>
          </p:nvSpPr>
          <p:spPr>
            <a:xfrm>
              <a:off x="2743200" y="2419350"/>
              <a:ext cx="2133600" cy="285750"/>
            </a:xfrm>
            <a:prstGeom prst="rect">
              <a:avLst/>
            </a:prstGeom>
            <a:solidFill>
              <a:srgbClr val="EAF4F6"/>
            </a:solidFill>
            <a:ln>
              <a:noFill/>
            </a:ln>
          </p:spPr>
        </p:sp>
        <p:sp>
          <p:nvSpPr>
            <p:cNvPr id="24" name="Rectangle 24"/>
            <p:cNvSpPr/>
            <p:nvPr/>
          </p:nvSpPr>
          <p:spPr>
            <a:xfrm>
              <a:off x="4876800" y="2419350"/>
              <a:ext cx="2133600" cy="285750"/>
            </a:xfrm>
            <a:prstGeom prst="rect">
              <a:avLst/>
            </a:prstGeom>
            <a:solidFill>
              <a:srgbClr val="EAF4F6"/>
            </a:solidFill>
            <a:ln>
              <a:noFill/>
            </a:ln>
          </p:spPr>
        </p:sp>
        <p:sp>
          <p:nvSpPr>
            <p:cNvPr id="25" name="Rectangle 25"/>
            <p:cNvSpPr/>
            <p:nvPr/>
          </p:nvSpPr>
          <p:spPr>
            <a:xfrm>
              <a:off x="7010400" y="2419350"/>
              <a:ext cx="2133600" cy="285750"/>
            </a:xfrm>
            <a:prstGeom prst="rect">
              <a:avLst/>
            </a:prstGeom>
            <a:solidFill>
              <a:srgbClr val="00A6A6"/>
            </a:solidFill>
            <a:ln>
              <a:noFill/>
            </a:ln>
          </p:spPr>
        </p:sp>
        <p:sp>
          <p:nvSpPr>
            <p:cNvPr id="26" name="Rectangle 26"/>
            <p:cNvSpPr/>
            <p:nvPr/>
          </p:nvSpPr>
          <p:spPr>
            <a:xfrm>
              <a:off x="9144000" y="2419350"/>
              <a:ext cx="2133600" cy="285750"/>
            </a:xfrm>
            <a:prstGeom prst="rect">
              <a:avLst/>
            </a:prstGeom>
            <a:solidFill>
              <a:srgbClr val="EAF4F6"/>
            </a:solidFill>
            <a:ln>
              <a:noFill/>
            </a:ln>
          </p:spPr>
        </p:sp>
        <p:sp>
          <p:nvSpPr>
            <p:cNvPr id="27" name="Rectangle 27"/>
            <p:cNvSpPr/>
            <p:nvPr/>
          </p:nvSpPr>
          <p:spPr>
            <a:xfrm>
              <a:off x="609600" y="2762250"/>
              <a:ext cx="2133600" cy="285750"/>
            </a:xfrm>
            <a:prstGeom prst="rect">
              <a:avLst/>
            </a:prstGeom>
            <a:solidFill>
              <a:srgbClr val="EAF4F6"/>
            </a:solidFill>
            <a:ln>
              <a:noFill/>
            </a:ln>
          </p:spPr>
        </p:sp>
        <p:sp>
          <p:nvSpPr>
            <p:cNvPr id="28" name="Rectangle 28"/>
            <p:cNvSpPr/>
            <p:nvPr/>
          </p:nvSpPr>
          <p:spPr>
            <a:xfrm>
              <a:off x="2743200" y="2762250"/>
              <a:ext cx="2133600" cy="285750"/>
            </a:xfrm>
            <a:prstGeom prst="rect">
              <a:avLst/>
            </a:prstGeom>
            <a:solidFill>
              <a:srgbClr val="EAF4F6"/>
            </a:solidFill>
            <a:ln>
              <a:noFill/>
            </a:ln>
          </p:spPr>
        </p:sp>
        <p:sp>
          <p:nvSpPr>
            <p:cNvPr id="29" name="Rectangle 29"/>
            <p:cNvSpPr/>
            <p:nvPr/>
          </p:nvSpPr>
          <p:spPr>
            <a:xfrm>
              <a:off x="4876800" y="2762250"/>
              <a:ext cx="2133600" cy="285750"/>
            </a:xfrm>
            <a:prstGeom prst="rect">
              <a:avLst/>
            </a:prstGeom>
            <a:solidFill>
              <a:srgbClr val="EAF4F6"/>
            </a:solidFill>
            <a:ln>
              <a:noFill/>
            </a:ln>
          </p:spPr>
        </p:sp>
        <p:sp>
          <p:nvSpPr>
            <p:cNvPr id="30" name="Rectangle 30"/>
            <p:cNvSpPr/>
            <p:nvPr/>
          </p:nvSpPr>
          <p:spPr>
            <a:xfrm>
              <a:off x="7010400" y="2762250"/>
              <a:ext cx="2133600" cy="285750"/>
            </a:xfrm>
            <a:prstGeom prst="rect">
              <a:avLst/>
            </a:prstGeom>
            <a:solidFill>
              <a:srgbClr val="EAF4F6"/>
            </a:solidFill>
            <a:ln>
              <a:noFill/>
            </a:ln>
          </p:spPr>
        </p:sp>
        <p:sp>
          <p:nvSpPr>
            <p:cNvPr id="31" name="Rectangle 31"/>
            <p:cNvSpPr/>
            <p:nvPr/>
          </p:nvSpPr>
          <p:spPr>
            <a:xfrm>
              <a:off x="9144000" y="2762250"/>
              <a:ext cx="2133600" cy="285750"/>
            </a:xfrm>
            <a:prstGeom prst="rect">
              <a:avLst/>
            </a:prstGeom>
            <a:solidFill>
              <a:srgbClr val="00A6A6"/>
            </a:solidFill>
            <a:ln>
              <a:noFill/>
            </a:ln>
          </p:spPr>
        </p:sp>
        <p:sp>
          <p:nvSpPr>
            <p:cNvPr id="32" name="TextBox 32"/>
            <p:cNvSpPr txBox="1"/>
            <p:nvPr/>
          </p:nvSpPr>
          <p:spPr>
            <a:xfrm>
              <a:off x="9644755" y="2412206"/>
              <a:ext cx="1943360" cy="220028"/>
            </a:xfrm>
            <a:prstGeom prst="rect">
              <a:avLst/>
            </a:prstGeom>
            <a:noFill/>
            <a:ln>
              <a:noFill/>
            </a:ln>
          </p:spPr>
          <p:txBody>
            <a:bodyPr wrap="none" lIns="0" tIns="0" rIns="0" bIns="0" anchor="t" anchorCtr="0">
              <a:spAutoFit/>
            </a:bodyPr>
            <a:lstStyle/>
            <a:p>
              <a:pPr algn="r" marL="120904" indent="-120904">
                <a:buClr>
                  <a:srgbClr val="52616B"/>
                </a:buClr>
                <a:buSzTx/>
                <a:buFontTx/>
                <a:buChar char="■"/>
              </a:pPr>
              <a:r>
                <a:rPr lang="tr-TR" sz="1120" dirty="0">
                  <a:solidFill>
                    <a:srgbClr val="52616B"/>
                  </a:solidFill>
                  <a:latin typeface="+mn-lt"/>
                  <a:ea typeface="+mn-ea"/>
                  <a:cs typeface="+mn-cs"/>
                </a:rPr>
                <a:t>Test dilimi ▢ Eğitim dilimi</a:t>
              </a:r>
            </a:p>
          </p:txBody>
        </p:sp>
      </p:grpSp>
      <p:grpSp>
        <p:nvGrpSpPr>
          <p:cNvPr id="50" name="comparison-table"/>
          <p:cNvGrpSpPr/>
          <p:nvPr/>
        </p:nvGrpSpPr>
        <p:grpSpPr>
          <a:xfrm>
            <a:off x="609600" y="3067050"/>
            <a:ext cx="10972800" cy="1676400"/>
            <a:chOff x="609600" y="3067050"/>
            <a:chExt cx="10972800" cy="1676400"/>
          </a:xfrm>
        </p:grpSpPr>
        <p:sp>
          <p:nvSpPr>
            <p:cNvPr id="34" name="Rectangle 34"/>
            <p:cNvSpPr/>
            <p:nvPr/>
          </p:nvSpPr>
          <p:spPr>
            <a:xfrm>
              <a:off x="609600" y="3067050"/>
              <a:ext cx="10972800" cy="419100"/>
            </a:xfrm>
            <a:prstGeom prst="rect">
              <a:avLst/>
            </a:prstGeom>
            <a:solidFill>
              <a:srgbClr val="12355B"/>
            </a:solidFill>
            <a:ln>
              <a:noFill/>
            </a:ln>
          </p:spPr>
        </p:sp>
        <p:sp>
          <p:nvSpPr>
            <p:cNvPr id="35" name="TextBox 35"/>
            <p:cNvSpPr txBox="1"/>
            <p:nvPr/>
          </p:nvSpPr>
          <p:spPr>
            <a:xfrm>
              <a:off x="907923" y="3196114"/>
              <a:ext cx="682051" cy="249364"/>
            </a:xfrm>
            <a:prstGeom prst="rect">
              <a:avLst/>
            </a:prstGeom>
            <a:noFill/>
            <a:ln>
              <a:noFill/>
            </a:ln>
          </p:spPr>
          <p:txBody>
            <a:bodyPr wrap="none" lIns="0" tIns="0" rIns="0" bIns="0" anchor="t" anchorCtr="0">
              <a:spAutoFit/>
            </a:bodyPr>
            <a:lstStyle/>
            <a:p>
              <a:pPr algn="l"/>
              <a:r>
                <a:rPr lang="tr-TR" sz="1280" b="1" dirty="0">
                  <a:solidFill>
                    <a:srgbClr val="FFFFFF"/>
                  </a:solidFill>
                  <a:latin typeface="+mn-lt"/>
                  <a:ea typeface="+mn-ea"/>
                  <a:cs typeface="+mn-cs"/>
                </a:rPr>
                <a:t>YÖNTEM</a:t>
              </a:r>
            </a:p>
          </p:txBody>
        </p:sp>
        <p:sp>
          <p:nvSpPr>
            <p:cNvPr id="36" name="TextBox 36"/>
            <p:cNvSpPr txBox="1"/>
            <p:nvPr/>
          </p:nvSpPr>
          <p:spPr>
            <a:xfrm>
              <a:off x="5860923" y="3196114"/>
              <a:ext cx="1198211" cy="249364"/>
            </a:xfrm>
            <a:prstGeom prst="rect">
              <a:avLst/>
            </a:prstGeom>
            <a:noFill/>
            <a:ln>
              <a:noFill/>
            </a:ln>
          </p:spPr>
          <p:txBody>
            <a:bodyPr wrap="none" lIns="0" tIns="0" rIns="0" bIns="0" anchor="t" anchorCtr="0">
              <a:spAutoFit/>
            </a:bodyPr>
            <a:lstStyle/>
            <a:p>
              <a:pPr algn="l"/>
              <a:r>
                <a:rPr lang="tr-TR" sz="1280" b="1" dirty="0">
                  <a:solidFill>
                    <a:srgbClr val="FFFFFF"/>
                  </a:solidFill>
                  <a:latin typeface="+mn-lt"/>
                  <a:ea typeface="+mn-ea"/>
                  <a:cs typeface="+mn-cs"/>
                </a:rPr>
                <a:t>ORTALAMA F1</a:t>
              </a:r>
            </a:p>
          </p:txBody>
        </p:sp>
        <p:sp>
          <p:nvSpPr>
            <p:cNvPr id="37" name="TextBox 37"/>
            <p:cNvSpPr txBox="1"/>
            <p:nvPr/>
          </p:nvSpPr>
          <p:spPr>
            <a:xfrm>
              <a:off x="8908923" y="3196114"/>
              <a:ext cx="949690" cy="249364"/>
            </a:xfrm>
            <a:prstGeom prst="rect">
              <a:avLst/>
            </a:prstGeom>
            <a:noFill/>
            <a:ln>
              <a:noFill/>
            </a:ln>
          </p:spPr>
          <p:txBody>
            <a:bodyPr wrap="none" lIns="0" tIns="0" rIns="0" bIns="0" anchor="t" anchorCtr="0">
              <a:spAutoFit/>
            </a:bodyPr>
            <a:lstStyle/>
            <a:p>
              <a:pPr algn="l"/>
              <a:r>
                <a:rPr lang="tr-TR" sz="1280" b="1" dirty="0">
                  <a:solidFill>
                    <a:srgbClr val="FFFFFF"/>
                  </a:solidFill>
                  <a:latin typeface="+mn-lt"/>
                  <a:ea typeface="+mn-ea"/>
                  <a:cs typeface="+mn-cs"/>
                </a:rPr>
                <a:t>STD SAPMA</a:t>
              </a:r>
            </a:p>
          </p:txBody>
        </p:sp>
        <p:sp>
          <p:nvSpPr>
            <p:cNvPr id="38" name="Rectangle 38"/>
            <p:cNvSpPr/>
            <p:nvPr/>
          </p:nvSpPr>
          <p:spPr>
            <a:xfrm>
              <a:off x="609600" y="3486150"/>
              <a:ext cx="10972800" cy="419100"/>
            </a:xfrm>
            <a:prstGeom prst="rect">
              <a:avLst/>
            </a:prstGeom>
            <a:solidFill>
              <a:srgbClr val="EAF4F6"/>
            </a:solidFill>
            <a:ln>
              <a:noFill/>
            </a:ln>
          </p:spPr>
        </p:sp>
        <p:sp>
          <p:nvSpPr>
            <p:cNvPr id="39" name="TextBox 39"/>
            <p:cNvSpPr txBox="1"/>
            <p:nvPr/>
          </p:nvSpPr>
          <p:spPr>
            <a:xfrm>
              <a:off x="907161" y="3599021"/>
              <a:ext cx="2391929"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Tek bölünme (train/test)</a:t>
              </a:r>
            </a:p>
          </p:txBody>
        </p:sp>
        <p:sp>
          <p:nvSpPr>
            <p:cNvPr id="40" name="TextBox 40"/>
            <p:cNvSpPr txBox="1"/>
            <p:nvPr/>
          </p:nvSpPr>
          <p:spPr>
            <a:xfrm>
              <a:off x="5860161" y="3599021"/>
              <a:ext cx="540169"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0,863</a:t>
              </a:r>
            </a:p>
          </p:txBody>
        </p:sp>
        <p:sp>
          <p:nvSpPr>
            <p:cNvPr id="41" name="TextBox 41"/>
            <p:cNvSpPr txBox="1"/>
            <p:nvPr/>
          </p:nvSpPr>
          <p:spPr>
            <a:xfrm>
              <a:off x="8908161" y="3599021"/>
              <a:ext cx="119616"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a:t>
              </a:r>
            </a:p>
          </p:txBody>
        </p:sp>
        <p:sp>
          <p:nvSpPr>
            <p:cNvPr id="42" name="Rectangle 42"/>
            <p:cNvSpPr/>
            <p:nvPr/>
          </p:nvSpPr>
          <p:spPr>
            <a:xfrm>
              <a:off x="609600" y="3905250"/>
              <a:ext cx="10972800" cy="419100"/>
            </a:xfrm>
            <a:prstGeom prst="rect">
              <a:avLst/>
            </a:prstGeom>
            <a:solidFill>
              <a:srgbClr val="FFFFFF"/>
            </a:solidFill>
            <a:ln>
              <a:noFill/>
            </a:ln>
          </p:spPr>
        </p:sp>
        <p:sp>
          <p:nvSpPr>
            <p:cNvPr id="43" name="TextBox 43"/>
            <p:cNvSpPr txBox="1"/>
            <p:nvPr/>
          </p:nvSpPr>
          <p:spPr>
            <a:xfrm>
              <a:off x="907161" y="4018121"/>
              <a:ext cx="1536908"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StratifiedKFold</a:t>
              </a:r>
            </a:p>
          </p:txBody>
        </p:sp>
        <p:sp>
          <p:nvSpPr>
            <p:cNvPr id="44" name="TextBox 44"/>
            <p:cNvSpPr txBox="1"/>
            <p:nvPr/>
          </p:nvSpPr>
          <p:spPr>
            <a:xfrm>
              <a:off x="5860161" y="4018121"/>
              <a:ext cx="566454"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0,880</a:t>
              </a:r>
            </a:p>
          </p:txBody>
        </p:sp>
        <p:sp>
          <p:nvSpPr>
            <p:cNvPr id="45" name="TextBox 45"/>
            <p:cNvSpPr txBox="1"/>
            <p:nvPr/>
          </p:nvSpPr>
          <p:spPr>
            <a:xfrm>
              <a:off x="8908161" y="4018121"/>
              <a:ext cx="540169"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0,029</a:t>
              </a:r>
            </a:p>
          </p:txBody>
        </p:sp>
        <p:sp>
          <p:nvSpPr>
            <p:cNvPr id="46" name="Rectangle 46"/>
            <p:cNvSpPr/>
            <p:nvPr/>
          </p:nvSpPr>
          <p:spPr>
            <a:xfrm>
              <a:off x="609600" y="4324350"/>
              <a:ext cx="10972800" cy="419100"/>
            </a:xfrm>
            <a:prstGeom prst="rect">
              <a:avLst/>
            </a:prstGeom>
            <a:solidFill>
              <a:srgbClr val="EAF4F6"/>
            </a:solidFill>
            <a:ln>
              <a:noFill/>
            </a:ln>
          </p:spPr>
        </p:sp>
        <p:sp>
          <p:nvSpPr>
            <p:cNvPr id="47" name="TextBox 47"/>
            <p:cNvSpPr txBox="1"/>
            <p:nvPr/>
          </p:nvSpPr>
          <p:spPr>
            <a:xfrm>
              <a:off x="907161" y="4437221"/>
              <a:ext cx="1303684"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Sıradan KFold</a:t>
              </a:r>
            </a:p>
          </p:txBody>
        </p:sp>
        <p:sp>
          <p:nvSpPr>
            <p:cNvPr id="48" name="TextBox 48"/>
            <p:cNvSpPr txBox="1"/>
            <p:nvPr/>
          </p:nvSpPr>
          <p:spPr>
            <a:xfrm>
              <a:off x="5860161" y="4437221"/>
              <a:ext cx="540169"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0,872</a:t>
              </a:r>
            </a:p>
          </p:txBody>
        </p:sp>
        <p:sp>
          <p:nvSpPr>
            <p:cNvPr id="49" name="TextBox 49"/>
            <p:cNvSpPr txBox="1"/>
            <p:nvPr/>
          </p:nvSpPr>
          <p:spPr>
            <a:xfrm>
              <a:off x="8908161" y="4437221"/>
              <a:ext cx="540169"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0,041</a:t>
              </a:r>
            </a:p>
          </p:txBody>
        </p:sp>
      </p:grpSp>
      <p:grpSp>
        <p:nvGrpSpPr>
          <p:cNvPr id="55" name="common-errors"/>
          <p:cNvGrpSpPr/>
          <p:nvPr/>
        </p:nvGrpSpPr>
        <p:grpSpPr>
          <a:xfrm>
            <a:off x="609600" y="4876800"/>
            <a:ext cx="10972800" cy="1314450"/>
            <a:chOff x="609600" y="4876800"/>
            <a:chExt cx="10972800" cy="1314450"/>
          </a:xfrm>
        </p:grpSpPr>
        <p:sp>
          <p:nvSpPr>
            <p:cNvPr id="51" name="Rectangle 51"/>
            <p:cNvSpPr/>
            <p:nvPr/>
          </p:nvSpPr>
          <p:spPr>
            <a:xfrm>
              <a:off x="609600" y="4876800"/>
              <a:ext cx="10972800" cy="1314450"/>
            </a:xfrm>
            <a:prstGeom prst="roundRect">
              <a:avLst>
                <a:gd name="adj" fmla="val 5797"/>
              </a:avLst>
            </a:prstGeom>
            <a:solidFill>
              <a:srgbClr val="EAF4F6"/>
            </a:solidFill>
            <a:ln>
              <a:noFill/>
            </a:ln>
          </p:spPr>
        </p:sp>
        <p:sp>
          <p:nvSpPr>
            <p:cNvPr id="52" name="TextBox 52"/>
            <p:cNvSpPr txBox="1"/>
            <p:nvPr/>
          </p:nvSpPr>
          <p:spPr>
            <a:xfrm>
              <a:off x="906780" y="5000625"/>
              <a:ext cx="1548478"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Yaygın hatalar</a:t>
              </a:r>
            </a:p>
          </p:txBody>
        </p:sp>
        <p:sp>
          <p:nvSpPr>
            <p:cNvPr id="53" name="TextBox 53"/>
            <p:cNvSpPr txBox="1"/>
            <p:nvPr/>
          </p:nvSpPr>
          <p:spPr>
            <a:xfrm>
              <a:off x="907542" y="5283518"/>
              <a:ext cx="5620131" cy="473583"/>
            </a:xfrm>
            <a:prstGeom prst="rect">
              <a:avLst/>
            </a:prstGeom>
            <a:noFill/>
            <a:ln>
              <a:noFill/>
            </a:ln>
          </p:spPr>
          <p:txBody>
            <a:bodyPr wrap="none" lIns="0" tIns="0" rIns="0" bIns="0" anchor="t" anchorCtr="0">
              <a:spAutoFit/>
            </a:bodyPr>
            <a:lstStyle/>
            <a:p>
              <a:pPr algn="l" marL="145732" indent="-145732">
                <a:lnSpc>
                  <a:spcPts val="1650"/>
                </a:lnSpc>
                <a:buClr>
                  <a:srgbClr val="172B3A"/>
                </a:buClr>
                <a:buSzTx/>
                <a:buFontTx/>
                <a:buChar char="•"/>
              </a:pPr>
              <a:r>
                <a:rPr lang="tr-TR" sz="1350" dirty="0">
                  <a:solidFill>
                    <a:srgbClr val="172B3A"/>
                  </a:solidFill>
                  <a:latin typeface="+mn-lt"/>
                  <a:ea typeface="+mn-ea"/>
                  <a:cs typeface="+mn-cs"/>
                </a:rPr>
                <a:t>Dengesiz veride sıradan KFold kullanmak — bazı katmanlar azınlık</a:t>
              </a:r>
              <a:br/>
              <a:r>
                <a:rPr lang="tr-TR" sz="1350" dirty="0">
                  <a:solidFill>
                    <a:srgbClr val="172B3A"/>
                  </a:solidFill>
                  <a:latin typeface="+mn-lt"/>
                  <a:ea typeface="+mn-ea"/>
                  <a:cs typeface="+mn-cs"/>
                </a:rPr>
                <a:t>sınıfı hiç içermeyebilir.</a:t>
              </a:r>
            </a:p>
          </p:txBody>
        </p:sp>
        <p:sp>
          <p:nvSpPr>
            <p:cNvPr id="54" name="TextBox 54"/>
            <p:cNvSpPr txBox="1"/>
            <p:nvPr/>
          </p:nvSpPr>
          <p:spPr>
            <a:xfrm>
              <a:off x="907542" y="5759768"/>
              <a:ext cx="7348298" cy="264033"/>
            </a:xfrm>
            <a:prstGeom prst="rect">
              <a:avLst/>
            </a:prstGeom>
            <a:noFill/>
            <a:ln>
              <a:noFill/>
            </a:ln>
          </p:spPr>
          <p:txBody>
            <a:bodyPr wrap="none" lIns="0" tIns="0" rIns="0" bIns="0" anchor="t" anchorCtr="0">
              <a:spAutoFit/>
            </a:bodyPr>
            <a:lstStyle/>
            <a:p>
              <a:pPr algn="l" marL="145732" indent="-145732">
                <a:buClr>
                  <a:srgbClr val="172B3A"/>
                </a:buClr>
                <a:buSzTx/>
                <a:buFontTx/>
                <a:buChar char="•"/>
              </a:pPr>
              <a:r>
                <a:rPr lang="tr-TR" sz="1350" dirty="0">
                  <a:solidFill>
                    <a:srgbClr val="172B3A"/>
                  </a:solidFill>
                  <a:latin typeface="+mn-lt"/>
                  <a:ea typeface="+mn-ea"/>
                  <a:cs typeface="+mn-cs"/>
                </a:rPr>
                <a:t>Ön işlemeyi (ölçekleme, örnekleme) CV döngüsü dışında yapmak — veri sızıntısı.</a:t>
              </a:r>
            </a:p>
          </p:txBody>
        </p:sp>
      </p:grpSp>
      <p:sp>
        <p:nvSpPr>
          <p:cNvPr id="56" name="TextBox 5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 / 25</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5481428" cy="557403"/>
            <a:chOff x="595122" y="282892"/>
            <a:chExt cx="5481428" cy="557403"/>
          </a:xfrm>
        </p:grpSpPr>
        <p:sp>
          <p:nvSpPr>
            <p:cNvPr id="4" name="TextBox 4"/>
            <p:cNvSpPr txBox="1"/>
            <p:nvPr/>
          </p:nvSpPr>
          <p:spPr>
            <a:xfrm>
              <a:off x="595122" y="282892"/>
              <a:ext cx="548142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Eşik seçimi: tanım ve neden</a:t>
              </a:r>
            </a:p>
          </p:txBody>
        </p:sp>
      </p:grpSp>
      <p:grpSp>
        <p:nvGrpSpPr>
          <p:cNvPr id="14" name="definition-text"/>
          <p:cNvGrpSpPr/>
          <p:nvPr/>
        </p:nvGrpSpPr>
        <p:grpSpPr>
          <a:xfrm>
            <a:off x="601218" y="1345882"/>
            <a:ext cx="5151882" cy="3892868"/>
            <a:chOff x="601218" y="1345882"/>
            <a:chExt cx="5151882" cy="3892868"/>
          </a:xfrm>
        </p:grpSpPr>
        <p:sp>
          <p:nvSpPr>
            <p:cNvPr id="6" name="TextBox 6"/>
            <p:cNvSpPr txBox="1"/>
            <p:nvPr/>
          </p:nvSpPr>
          <p:spPr>
            <a:xfrm>
              <a:off x="601218" y="1345882"/>
              <a:ext cx="2041809"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Karar eşiği nedir?</a:t>
              </a:r>
            </a:p>
          </p:txBody>
        </p:sp>
        <p:sp>
          <p:nvSpPr>
            <p:cNvPr id="7" name="TextBox 7"/>
            <p:cNvSpPr txBox="1"/>
            <p:nvPr/>
          </p:nvSpPr>
          <p:spPr>
            <a:xfrm>
              <a:off x="601980" y="1704975"/>
              <a:ext cx="3406140" cy="1036320"/>
            </a:xfrm>
            <a:prstGeom prst="rect">
              <a:avLst/>
            </a:prstGeom>
            <a:noFill/>
            <a:ln>
              <a:noFill/>
            </a:ln>
          </p:spPr>
          <p:txBody>
            <a:bodyPr wrap="none" lIns="0" tIns="0" rIns="0" bIns="0" anchor="t" anchorCtr="0">
              <a:spAutoFit/>
            </a:bodyPr>
            <a:lstStyle/>
            <a:p>
              <a:pPr algn="l">
                <a:lnSpc>
                  <a:spcPts val="1950"/>
                </a:lnSpc>
              </a:pPr>
              <a:r>
                <a:rPr lang="tr-TR" sz="1500" dirty="0">
                  <a:solidFill>
                    <a:srgbClr val="172B3A"/>
                  </a:solidFill>
                  <a:latin typeface="+mn-lt"/>
                  <a:ea typeface="+mn-ea"/>
                  <a:cs typeface="+mn-cs"/>
                </a:rPr>
                <a:t>predict_proba() bir olasılık üretir;</a:t>
              </a:r>
              <a:br/>
              <a:r>
                <a:rPr lang="tr-TR" sz="1500" dirty="0">
                  <a:solidFill>
                    <a:srgbClr val="172B3A"/>
                  </a:solidFill>
                  <a:latin typeface="+mn-lt"/>
                  <a:ea typeface="+mn-ea"/>
                  <a:cs typeface="+mn-cs"/>
                </a:rPr>
                <a:t>predict() bunu %50 sabit eşiğiyle</a:t>
              </a:r>
              <a:br/>
              <a:r>
                <a:rPr lang="tr-TR" sz="1500" dirty="0">
                  <a:solidFill>
                    <a:srgbClr val="172B3A"/>
                  </a:solidFill>
                  <a:latin typeface="+mn-lt"/>
                  <a:ea typeface="+mn-ea"/>
                  <a:cs typeface="+mn-cs"/>
                </a:rPr>
                <a:t>0/1 kararına çevirir. Bu eşik</a:t>
              </a:r>
              <a:br/>
              <a:r>
                <a:rPr lang="tr-TR" sz="1500" dirty="0">
                  <a:solidFill>
                    <a:srgbClr val="172B3A"/>
                  </a:solidFill>
                  <a:latin typeface="+mn-lt"/>
                  <a:ea typeface="+mn-ea"/>
                  <a:cs typeface="+mn-cs"/>
                </a:rPr>
                <a:t>değiştirilebilir bir karardır.</a:t>
              </a:r>
            </a:p>
          </p:txBody>
        </p:sp>
        <p:sp>
          <p:nvSpPr>
            <p:cNvPr id="8" name="Rectangle 8"/>
            <p:cNvSpPr/>
            <p:nvPr/>
          </p:nvSpPr>
          <p:spPr>
            <a:xfrm>
              <a:off x="609600" y="2895600"/>
              <a:ext cx="5143500" cy="1143000"/>
            </a:xfrm>
            <a:prstGeom prst="roundRect">
              <a:avLst>
                <a:gd name="adj" fmla="val 6667"/>
              </a:avLst>
            </a:prstGeom>
            <a:solidFill>
              <a:srgbClr val="EAF4F6"/>
            </a:solidFill>
            <a:ln>
              <a:noFill/>
            </a:ln>
          </p:spPr>
        </p:sp>
        <p:sp>
          <p:nvSpPr>
            <p:cNvPr id="9" name="TextBox 9"/>
            <p:cNvSpPr txBox="1"/>
            <p:nvPr/>
          </p:nvSpPr>
          <p:spPr>
            <a:xfrm>
              <a:off x="830580" y="3019425"/>
              <a:ext cx="2438857"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Karar teorisi çerçevesi</a:t>
              </a:r>
            </a:p>
          </p:txBody>
        </p:sp>
        <p:sp>
          <p:nvSpPr>
            <p:cNvPr id="10" name="TextBox 10"/>
            <p:cNvSpPr txBox="1"/>
            <p:nvPr/>
          </p:nvSpPr>
          <p:spPr>
            <a:xfrm>
              <a:off x="831342" y="3302318"/>
              <a:ext cx="3227426"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Eşiği düşürmek recall'ü artırır ama</a:t>
              </a:r>
            </a:p>
          </p:txBody>
        </p:sp>
        <p:sp>
          <p:nvSpPr>
            <p:cNvPr id="11" name="TextBox 11"/>
            <p:cNvSpPr txBox="1"/>
            <p:nvPr/>
          </p:nvSpPr>
          <p:spPr>
            <a:xfrm>
              <a:off x="831342" y="3530918"/>
              <a:ext cx="2259711" cy="4926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kesinliği düşürür — seçim iş</a:t>
              </a:r>
              <a:br/>
              <a:r>
                <a:rPr lang="tr-TR" sz="1350" dirty="0">
                  <a:solidFill>
                    <a:srgbClr val="172B3A"/>
                  </a:solidFill>
                  <a:latin typeface="+mn-lt"/>
                  <a:ea typeface="+mn-ea"/>
                  <a:cs typeface="+mn-cs"/>
                </a:rPr>
                <a:t>maliyetine bağlıdır.</a:t>
              </a:r>
            </a:p>
          </p:txBody>
        </p:sp>
        <p:sp>
          <p:nvSpPr>
            <p:cNvPr id="12" name="Rectangle 12"/>
            <p:cNvSpPr/>
            <p:nvPr/>
          </p:nvSpPr>
          <p:spPr>
            <a:xfrm>
              <a:off x="609600" y="4229100"/>
              <a:ext cx="5143500" cy="1009650"/>
            </a:xfrm>
            <a:prstGeom prst="roundRect">
              <a:avLst>
                <a:gd name="adj" fmla="val 7547"/>
              </a:avLst>
            </a:prstGeom>
            <a:solidFill>
              <a:srgbClr val="FFFFFF"/>
            </a:solidFill>
            <a:ln w="14288">
              <a:solidFill>
                <a:srgbClr val="B8CBD3"/>
              </a:solidFill>
            </a:ln>
          </p:spPr>
        </p:sp>
        <p:sp>
          <p:nvSpPr>
            <p:cNvPr id="13" name="TextBox 13"/>
            <p:cNvSpPr txBox="1"/>
            <p:nvPr/>
          </p:nvSpPr>
          <p:spPr>
            <a:xfrm>
              <a:off x="831342" y="4369118"/>
              <a:ext cx="3005518" cy="7212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MLOps notu: eşik değeri, model</a:t>
              </a:r>
              <a:br/>
              <a:r>
                <a:rPr lang="tr-TR" sz="1350" dirty="0">
                  <a:solidFill>
                    <a:srgbClr val="172B3A"/>
                  </a:solidFill>
                  <a:latin typeface="+mn-lt"/>
                  <a:ea typeface="+mn-ea"/>
                  <a:cs typeface="+mn-cs"/>
                </a:rPr>
                <a:t>sürümü gibi versiyonlanıp izlenmeli;</a:t>
              </a:r>
              <a:br/>
              <a:r>
                <a:rPr lang="tr-TR" sz="1350" dirty="0">
                  <a:solidFill>
                    <a:srgbClr val="172B3A"/>
                  </a:solidFill>
                  <a:latin typeface="+mn-lt"/>
                  <a:ea typeface="+mn-ea"/>
                  <a:cs typeface="+mn-cs"/>
                </a:rPr>
                <a:t>sessizce değişmemelidir.</a:t>
              </a:r>
            </a:p>
          </p:txBody>
        </p:sp>
      </p:grpSp>
      <p:grpSp>
        <p:nvGrpSpPr>
          <p:cNvPr id="36" name="threshold-visual"/>
          <p:cNvGrpSpPr/>
          <p:nvPr/>
        </p:nvGrpSpPr>
        <p:grpSpPr>
          <a:xfrm>
            <a:off x="6438900" y="1238250"/>
            <a:ext cx="5143500" cy="4000500"/>
            <a:chOff x="6438900" y="1238250"/>
            <a:chExt cx="5143500" cy="4000500"/>
          </a:xfrm>
        </p:grpSpPr>
        <p:sp>
          <p:nvSpPr>
            <p:cNvPr id="15" name="Rectangle 15"/>
            <p:cNvSpPr/>
            <p:nvPr/>
          </p:nvSpPr>
          <p:spPr>
            <a:xfrm>
              <a:off x="6438900" y="1238250"/>
              <a:ext cx="5143500" cy="4000500"/>
            </a:xfrm>
            <a:prstGeom prst="roundRect">
              <a:avLst>
                <a:gd name="adj" fmla="val 2381"/>
              </a:avLst>
            </a:prstGeom>
            <a:solidFill>
              <a:srgbClr val="FFFFFF"/>
            </a:solidFill>
            <a:ln w="14288">
              <a:solidFill>
                <a:srgbClr val="2E86AB"/>
              </a:solidFill>
            </a:ln>
          </p:spPr>
        </p:sp>
        <p:sp>
          <p:nvSpPr>
            <p:cNvPr id="16" name="TextBox 16"/>
            <p:cNvSpPr txBox="1"/>
            <p:nvPr/>
          </p:nvSpPr>
          <p:spPr>
            <a:xfrm>
              <a:off x="6735318" y="1441132"/>
              <a:ext cx="2671050"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Olasılık ekseninde eşik</a:t>
              </a:r>
            </a:p>
          </p:txBody>
        </p:sp>
        <p:sp>
          <p:nvSpPr>
            <p:cNvPr id="17" name="Line 17"/>
            <p:cNvSpPr/>
            <p:nvPr/>
          </p:nvSpPr>
          <p:spPr>
            <a:xfrm>
              <a:off x="6858000" y="3048000"/>
              <a:ext cx="4000500" cy="9525"/>
            </a:xfrm>
            <a:custGeom>
              <a:avLst/>
              <a:gdLst/>
              <a:ahLst/>
              <a:cxnLst/>
              <a:rect l="l" t="t" r="r" b="b"/>
              <a:pathLst>
                <a:path w="4000500" h="9525">
                  <a:moveTo>
                    <a:pt x="0" y="0"/>
                  </a:moveTo>
                  <a:lnTo>
                    <a:pt x="4000500" y="0"/>
                  </a:lnTo>
                </a:path>
              </a:pathLst>
            </a:custGeom>
            <a:noFill/>
            <a:ln w="14288">
              <a:solidFill>
                <a:srgbClr val="52616B"/>
              </a:solidFill>
            </a:ln>
          </p:spPr>
        </p:sp>
        <p:sp>
          <p:nvSpPr>
            <p:cNvPr id="18" name="TextBox 18"/>
            <p:cNvSpPr txBox="1"/>
            <p:nvPr/>
          </p:nvSpPr>
          <p:spPr>
            <a:xfrm>
              <a:off x="6776466" y="3182302"/>
              <a:ext cx="243897"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0,0</a:t>
              </a:r>
            </a:p>
          </p:txBody>
        </p:sp>
        <p:sp>
          <p:nvSpPr>
            <p:cNvPr id="19" name="TextBox 19"/>
            <p:cNvSpPr txBox="1"/>
            <p:nvPr/>
          </p:nvSpPr>
          <p:spPr>
            <a:xfrm>
              <a:off x="10776966" y="3182302"/>
              <a:ext cx="243897"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1,0</a:t>
              </a:r>
            </a:p>
          </p:txBody>
        </p:sp>
        <p:sp>
          <p:nvSpPr>
            <p:cNvPr id="20" name="Line 20"/>
            <p:cNvSpPr/>
            <p:nvPr/>
          </p:nvSpPr>
          <p:spPr>
            <a:xfrm>
              <a:off x="8858250" y="2381250"/>
              <a:ext cx="9525" cy="1047750"/>
            </a:xfrm>
            <a:custGeom>
              <a:avLst/>
              <a:gdLst/>
              <a:ahLst/>
              <a:cxnLst/>
              <a:rect l="l" t="t" r="r" b="b"/>
              <a:pathLst>
                <a:path w="9525" h="1047750">
                  <a:moveTo>
                    <a:pt x="0" y="0"/>
                  </a:moveTo>
                  <a:lnTo>
                    <a:pt x="0" y="1047750"/>
                  </a:lnTo>
                </a:path>
              </a:pathLst>
            </a:custGeom>
            <a:noFill/>
            <a:ln w="23812">
              <a:solidFill>
                <a:srgbClr val="12355B"/>
              </a:solidFill>
              <a:custDash>
                <a:ds d="160000" sp="120000"/>
              </a:custDash>
            </a:ln>
          </p:spPr>
        </p:sp>
        <p:sp>
          <p:nvSpPr>
            <p:cNvPr id="21" name="TextBox 21"/>
            <p:cNvSpPr txBox="1"/>
            <p:nvPr/>
          </p:nvSpPr>
          <p:spPr>
            <a:xfrm>
              <a:off x="8427068" y="2164556"/>
              <a:ext cx="862363" cy="220028"/>
            </a:xfrm>
            <a:prstGeom prst="rect">
              <a:avLst/>
            </a:prstGeom>
            <a:noFill/>
            <a:ln>
              <a:noFill/>
            </a:ln>
          </p:spPr>
          <p:txBody>
            <a:bodyPr wrap="none" lIns="0" tIns="0" rIns="0" bIns="0" anchor="t" anchorCtr="0">
              <a:spAutoFit/>
            </a:bodyPr>
            <a:lstStyle/>
            <a:p>
              <a:pPr algn="ctr"/>
              <a:r>
                <a:rPr lang="tr-TR" sz="1120" b="1" dirty="0">
                  <a:solidFill>
                    <a:srgbClr val="12355B"/>
                  </a:solidFill>
                  <a:latin typeface="+mn-lt"/>
                  <a:ea typeface="+mn-ea"/>
                  <a:cs typeface="+mn-cs"/>
                </a:rPr>
                <a:t>Eşik = 0,50</a:t>
              </a:r>
            </a:p>
          </p:txBody>
        </p:sp>
        <p:sp>
          <p:nvSpPr>
            <p:cNvPr id="22" name="Ellipse 22"/>
            <p:cNvSpPr/>
            <p:nvPr/>
          </p:nvSpPr>
          <p:spPr>
            <a:xfrm>
              <a:off x="7172325" y="2790825"/>
              <a:ext cx="133350" cy="133350"/>
            </a:xfrm>
            <a:prstGeom prst="ellipse">
              <a:avLst/>
            </a:prstGeom>
            <a:solidFill>
              <a:srgbClr val="52616B"/>
            </a:solidFill>
            <a:ln>
              <a:noFill/>
            </a:ln>
          </p:spPr>
        </p:sp>
        <p:sp>
          <p:nvSpPr>
            <p:cNvPr id="23" name="Ellipse 23"/>
            <p:cNvSpPr/>
            <p:nvPr/>
          </p:nvSpPr>
          <p:spPr>
            <a:xfrm>
              <a:off x="7553325" y="2886075"/>
              <a:ext cx="133350" cy="133350"/>
            </a:xfrm>
            <a:prstGeom prst="ellipse">
              <a:avLst/>
            </a:prstGeom>
            <a:solidFill>
              <a:srgbClr val="00A6A6"/>
            </a:solidFill>
            <a:ln>
              <a:noFill/>
            </a:ln>
          </p:spPr>
        </p:sp>
        <p:sp>
          <p:nvSpPr>
            <p:cNvPr id="24" name="Ellipse 24"/>
            <p:cNvSpPr/>
            <p:nvPr/>
          </p:nvSpPr>
          <p:spPr>
            <a:xfrm>
              <a:off x="7934325" y="2771775"/>
              <a:ext cx="133350" cy="133350"/>
            </a:xfrm>
            <a:prstGeom prst="ellipse">
              <a:avLst/>
            </a:prstGeom>
            <a:solidFill>
              <a:srgbClr val="52616B"/>
            </a:solidFill>
            <a:ln>
              <a:noFill/>
            </a:ln>
          </p:spPr>
        </p:sp>
        <p:sp>
          <p:nvSpPr>
            <p:cNvPr id="25" name="Ellipse 25"/>
            <p:cNvSpPr/>
            <p:nvPr/>
          </p:nvSpPr>
          <p:spPr>
            <a:xfrm>
              <a:off x="8220075" y="2867025"/>
              <a:ext cx="133350" cy="133350"/>
            </a:xfrm>
            <a:prstGeom prst="ellipse">
              <a:avLst/>
            </a:prstGeom>
            <a:solidFill>
              <a:srgbClr val="00A6A6"/>
            </a:solidFill>
            <a:ln>
              <a:noFill/>
            </a:ln>
          </p:spPr>
        </p:sp>
        <p:sp>
          <p:nvSpPr>
            <p:cNvPr id="26" name="Ellipse 26"/>
            <p:cNvSpPr/>
            <p:nvPr/>
          </p:nvSpPr>
          <p:spPr>
            <a:xfrm>
              <a:off x="8505825" y="2809875"/>
              <a:ext cx="133350" cy="133350"/>
            </a:xfrm>
            <a:prstGeom prst="ellipse">
              <a:avLst/>
            </a:prstGeom>
            <a:solidFill>
              <a:srgbClr val="52616B"/>
            </a:solidFill>
            <a:ln>
              <a:noFill/>
            </a:ln>
          </p:spPr>
        </p:sp>
        <p:sp>
          <p:nvSpPr>
            <p:cNvPr id="27" name="Ellipse 27"/>
            <p:cNvSpPr/>
            <p:nvPr/>
          </p:nvSpPr>
          <p:spPr>
            <a:xfrm>
              <a:off x="9077325" y="2752725"/>
              <a:ext cx="133350" cy="133350"/>
            </a:xfrm>
            <a:prstGeom prst="ellipse">
              <a:avLst/>
            </a:prstGeom>
            <a:solidFill>
              <a:srgbClr val="00A6A6"/>
            </a:solidFill>
            <a:ln>
              <a:noFill/>
            </a:ln>
          </p:spPr>
        </p:sp>
        <p:sp>
          <p:nvSpPr>
            <p:cNvPr id="28" name="Ellipse 28"/>
            <p:cNvSpPr/>
            <p:nvPr/>
          </p:nvSpPr>
          <p:spPr>
            <a:xfrm>
              <a:off x="9363075" y="2847975"/>
              <a:ext cx="133350" cy="133350"/>
            </a:xfrm>
            <a:prstGeom prst="ellipse">
              <a:avLst/>
            </a:prstGeom>
            <a:solidFill>
              <a:srgbClr val="52616B"/>
            </a:solidFill>
            <a:ln>
              <a:noFill/>
            </a:ln>
          </p:spPr>
        </p:sp>
        <p:sp>
          <p:nvSpPr>
            <p:cNvPr id="29" name="Ellipse 29"/>
            <p:cNvSpPr/>
            <p:nvPr/>
          </p:nvSpPr>
          <p:spPr>
            <a:xfrm>
              <a:off x="9648825" y="2790825"/>
              <a:ext cx="133350" cy="133350"/>
            </a:xfrm>
            <a:prstGeom prst="ellipse">
              <a:avLst/>
            </a:prstGeom>
            <a:solidFill>
              <a:srgbClr val="00A6A6"/>
            </a:solidFill>
            <a:ln>
              <a:noFill/>
            </a:ln>
          </p:spPr>
        </p:sp>
        <p:sp>
          <p:nvSpPr>
            <p:cNvPr id="30" name="Ellipse 30"/>
            <p:cNvSpPr/>
            <p:nvPr/>
          </p:nvSpPr>
          <p:spPr>
            <a:xfrm>
              <a:off x="10029825" y="2867025"/>
              <a:ext cx="133350" cy="133350"/>
            </a:xfrm>
            <a:prstGeom prst="ellipse">
              <a:avLst/>
            </a:prstGeom>
            <a:solidFill>
              <a:srgbClr val="00A6A6"/>
            </a:solidFill>
            <a:ln>
              <a:noFill/>
            </a:ln>
          </p:spPr>
        </p:sp>
        <p:sp>
          <p:nvSpPr>
            <p:cNvPr id="31" name="Ellipse 31"/>
            <p:cNvSpPr/>
            <p:nvPr/>
          </p:nvSpPr>
          <p:spPr>
            <a:xfrm>
              <a:off x="10410825" y="2771775"/>
              <a:ext cx="133350" cy="133350"/>
            </a:xfrm>
            <a:prstGeom prst="ellipse">
              <a:avLst/>
            </a:prstGeom>
            <a:solidFill>
              <a:srgbClr val="00A6A6"/>
            </a:solidFill>
            <a:ln>
              <a:noFill/>
            </a:ln>
          </p:spPr>
        </p:sp>
        <p:sp>
          <p:nvSpPr>
            <p:cNvPr id="32" name="TextBox 32"/>
            <p:cNvSpPr txBox="1"/>
            <p:nvPr/>
          </p:nvSpPr>
          <p:spPr>
            <a:xfrm>
              <a:off x="6737604" y="3680460"/>
              <a:ext cx="3052766" cy="234696"/>
            </a:xfrm>
            <a:prstGeom prst="rect">
              <a:avLst/>
            </a:prstGeom>
            <a:noFill/>
            <a:ln>
              <a:noFill/>
            </a:ln>
          </p:spPr>
          <p:txBody>
            <a:bodyPr wrap="none" lIns="0" tIns="0" rIns="0" bIns="0" anchor="t" anchorCtr="0">
              <a:spAutoFit/>
            </a:bodyPr>
            <a:lstStyle/>
            <a:p>
              <a:pPr algn="l" marL="129540" indent="-129540">
                <a:buClr>
                  <a:srgbClr val="52616B"/>
                </a:buClr>
                <a:buSzTx/>
                <a:buFontTx/>
                <a:buChar char="■"/>
              </a:pPr>
              <a:r>
                <a:rPr lang="tr-TR" sz="1200" dirty="0">
                  <a:solidFill>
                    <a:srgbClr val="52616B"/>
                  </a:solidFill>
                  <a:latin typeface="+mn-lt"/>
                  <a:ea typeface="+mn-ea"/>
                  <a:cs typeface="+mn-cs"/>
                </a:rPr>
                <a:t>Gerçek churn ● Gerçek sadık müşteri</a:t>
              </a:r>
            </a:p>
          </p:txBody>
        </p:sp>
        <p:sp>
          <p:nvSpPr>
            <p:cNvPr id="33" name="TextBox 33"/>
            <p:cNvSpPr txBox="1"/>
            <p:nvPr/>
          </p:nvSpPr>
          <p:spPr>
            <a:xfrm>
              <a:off x="6737223" y="4053364"/>
              <a:ext cx="3507994" cy="458914"/>
            </a:xfrm>
            <a:prstGeom prst="rect">
              <a:avLst/>
            </a:prstGeom>
            <a:noFill/>
            <a:ln>
              <a:noFill/>
            </a:ln>
          </p:spPr>
          <p:txBody>
            <a:bodyPr wrap="none" lIns="0" tIns="0" rIns="0" bIns="0" anchor="t" anchorCtr="0">
              <a:spAutoFit/>
            </a:bodyPr>
            <a:lstStyle/>
            <a:p>
              <a:pPr algn="l">
                <a:lnSpc>
                  <a:spcPts val="1650"/>
                </a:lnSpc>
              </a:pPr>
              <a:r>
                <a:rPr lang="tr-TR" sz="1280" dirty="0">
                  <a:solidFill>
                    <a:srgbClr val="172B3A"/>
                  </a:solidFill>
                  <a:latin typeface="+mn-lt"/>
                  <a:ea typeface="+mn-ea"/>
                  <a:cs typeface="+mn-cs"/>
                </a:rPr>
                <a:t>Eşiği sola kaydırmak daha fazla</a:t>
              </a:r>
              <a:br/>
              <a:r>
                <a:rPr lang="tr-TR" sz="1280" dirty="0">
                  <a:solidFill>
                    <a:srgbClr val="172B3A"/>
                  </a:solidFill>
                  <a:latin typeface="+mn-lt"/>
                  <a:ea typeface="+mn-ea"/>
                  <a:cs typeface="+mn-cs"/>
                </a:rPr>
                <a:t>churn'ü yakalar ama yanlış alarmı artırır.</a:t>
              </a:r>
            </a:p>
          </p:txBody>
        </p:sp>
        <p:sp>
          <p:nvSpPr>
            <p:cNvPr id="34" name="Rectangle 34"/>
            <p:cNvSpPr/>
            <p:nvPr/>
          </p:nvSpPr>
          <p:spPr>
            <a:xfrm>
              <a:off x="6743700" y="4629150"/>
              <a:ext cx="4533900" cy="400050"/>
            </a:xfrm>
            <a:prstGeom prst="roundRect">
              <a:avLst>
                <a:gd name="adj" fmla="val 14286"/>
              </a:avLst>
            </a:prstGeom>
            <a:solidFill>
              <a:srgbClr val="EAF4F6"/>
            </a:solidFill>
            <a:ln>
              <a:noFill/>
            </a:ln>
          </p:spPr>
        </p:sp>
        <p:sp>
          <p:nvSpPr>
            <p:cNvPr id="35" name="TextBox 35"/>
            <p:cNvSpPr txBox="1"/>
            <p:nvPr/>
          </p:nvSpPr>
          <p:spPr>
            <a:xfrm>
              <a:off x="6890004" y="4747260"/>
              <a:ext cx="294974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Eşik = son ayar vidasıdır, sabit değil</a:t>
              </a:r>
            </a:p>
          </p:txBody>
        </p:sp>
      </p:grpSp>
      <p:sp>
        <p:nvSpPr>
          <p:cNvPr id="37" name="TextBox 3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 / 25</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6341879" cy="557403"/>
            <a:chOff x="595122" y="282892"/>
            <a:chExt cx="6341879" cy="557403"/>
          </a:xfrm>
        </p:grpSpPr>
        <p:sp>
          <p:nvSpPr>
            <p:cNvPr id="4" name="TextBox 4"/>
            <p:cNvSpPr txBox="1"/>
            <p:nvPr/>
          </p:nvSpPr>
          <p:spPr>
            <a:xfrm>
              <a:off x="595122" y="282892"/>
              <a:ext cx="634187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Eşik tarama: F1 maksimizasyonu</a:t>
              </a:r>
            </a:p>
          </p:txBody>
        </p:sp>
      </p:grpSp>
      <p:grpSp>
        <p:nvGrpSpPr>
          <p:cNvPr id="7" name="setup-note"/>
          <p:cNvGrpSpPr/>
          <p:nvPr/>
        </p:nvGrpSpPr>
        <p:grpSpPr>
          <a:xfrm>
            <a:off x="602361" y="1160621"/>
            <a:ext cx="5405201" cy="278702"/>
            <a:chOff x="602361" y="1160621"/>
            <a:chExt cx="5405201" cy="278702"/>
          </a:xfrm>
        </p:grpSpPr>
        <p:sp>
          <p:nvSpPr>
            <p:cNvPr id="6" name="TextBox 6"/>
            <p:cNvSpPr txBox="1"/>
            <p:nvPr/>
          </p:nvSpPr>
          <p:spPr>
            <a:xfrm>
              <a:off x="602361" y="1160621"/>
              <a:ext cx="5405201" cy="278702"/>
            </a:xfrm>
            <a:prstGeom prst="rect">
              <a:avLst/>
            </a:prstGeom>
            <a:noFill/>
            <a:ln>
              <a:noFill/>
            </a:ln>
          </p:spPr>
          <p:txBody>
            <a:bodyPr wrap="none" lIns="0" tIns="0" rIns="0" bIns="0" anchor="t" anchorCtr="0">
              <a:spAutoFit/>
            </a:bodyPr>
            <a:lstStyle/>
            <a:p>
              <a:pPr algn="l"/>
              <a:r>
                <a:rPr lang="tr-TR" sz="1420" dirty="0">
                  <a:solidFill>
                    <a:srgbClr val="52616B"/>
                  </a:solidFill>
                  <a:latin typeface="+mn-lt"/>
                  <a:ea typeface="+mn-ea"/>
                  <a:cs typeface="+mn-cs"/>
                </a:rPr>
                <a:t>2500 satır, %13 churn — eşik 0,10'dan 0,90'a taranıyor:</a:t>
              </a:r>
            </a:p>
          </p:txBody>
        </p:sp>
      </p:grpSp>
      <p:grpSp>
        <p:nvGrpSpPr>
          <p:cNvPr id="20" name="sweep-chart"/>
          <p:cNvGrpSpPr/>
          <p:nvPr/>
        </p:nvGrpSpPr>
        <p:grpSpPr>
          <a:xfrm>
            <a:off x="609600" y="1466850"/>
            <a:ext cx="10972800" cy="2571750"/>
            <a:chOff x="609600" y="1466850"/>
            <a:chExt cx="10972800" cy="2571750"/>
          </a:xfrm>
        </p:grpSpPr>
        <p:sp>
          <p:nvSpPr>
            <p:cNvPr id="8" name="Rectangle 8"/>
            <p:cNvSpPr/>
            <p:nvPr/>
          </p:nvSpPr>
          <p:spPr>
            <a:xfrm>
              <a:off x="609600" y="1466850"/>
              <a:ext cx="10972800" cy="2571750"/>
            </a:xfrm>
            <a:prstGeom prst="roundRect">
              <a:avLst>
                <a:gd name="adj" fmla="val 3704"/>
              </a:avLst>
            </a:prstGeom>
            <a:solidFill>
              <a:srgbClr val="FFFFFF"/>
            </a:solidFill>
            <a:ln w="14288">
              <a:solidFill>
                <a:srgbClr val="B8CBD3"/>
              </a:solidFill>
            </a:ln>
          </p:spPr>
        </p:sp>
        <p:sp>
          <p:nvSpPr>
            <p:cNvPr id="9" name="Line 9"/>
            <p:cNvSpPr/>
            <p:nvPr/>
          </p:nvSpPr>
          <p:spPr>
            <a:xfrm flipV="1">
              <a:off x="1143000" y="1524000"/>
              <a:ext cx="1" cy="2095500"/>
            </a:xfrm>
            <a:prstGeom prst="line">
              <a:avLst/>
            </a:prstGeom>
            <a:noFill/>
            <a:ln w="14288">
              <a:solidFill>
                <a:srgbClr val="52616B"/>
              </a:solidFill>
              <a:tailEnd type="arrow" w="lg" len="lg"/>
            </a:ln>
          </p:spPr>
        </p:sp>
        <p:sp>
          <p:nvSpPr>
            <p:cNvPr id="10" name="Line 10"/>
            <p:cNvSpPr/>
            <p:nvPr/>
          </p:nvSpPr>
          <p:spPr>
            <a:xfrm>
              <a:off x="1143000" y="3619500"/>
              <a:ext cx="10096500" cy="1"/>
            </a:xfrm>
            <a:prstGeom prst="line">
              <a:avLst/>
            </a:prstGeom>
            <a:noFill/>
            <a:ln w="14288">
              <a:solidFill>
                <a:srgbClr val="52616B"/>
              </a:solidFill>
              <a:tailEnd type="arrow" w="lg" len="lg"/>
            </a:ln>
          </p:spPr>
        </p:sp>
        <p:sp>
          <p:nvSpPr>
            <p:cNvPr id="11" name="TextBox 11"/>
            <p:cNvSpPr txBox="1"/>
            <p:nvPr/>
          </p:nvSpPr>
          <p:spPr>
            <a:xfrm>
              <a:off x="756285" y="1478756"/>
              <a:ext cx="186670"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F1</a:t>
              </a:r>
            </a:p>
          </p:txBody>
        </p:sp>
        <p:sp>
          <p:nvSpPr>
            <p:cNvPr id="12" name="TextBox 12"/>
            <p:cNvSpPr txBox="1"/>
            <p:nvPr/>
          </p:nvSpPr>
          <p:spPr>
            <a:xfrm>
              <a:off x="10852785" y="3726656"/>
              <a:ext cx="309601"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Eşik</a:t>
              </a:r>
            </a:p>
          </p:txBody>
        </p:sp>
        <p:sp>
          <p:nvSpPr>
            <p:cNvPr id="13" name="TextBox 13"/>
            <p:cNvSpPr txBox="1"/>
            <p:nvPr/>
          </p:nvSpPr>
          <p:spPr>
            <a:xfrm>
              <a:off x="867880" y="3734752"/>
              <a:ext cx="321640"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0,10</a:t>
              </a:r>
            </a:p>
          </p:txBody>
        </p:sp>
        <p:sp>
          <p:nvSpPr>
            <p:cNvPr id="14" name="TextBox 14"/>
            <p:cNvSpPr txBox="1"/>
            <p:nvPr/>
          </p:nvSpPr>
          <p:spPr>
            <a:xfrm>
              <a:off x="6030430" y="3734752"/>
              <a:ext cx="321640"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0,50</a:t>
              </a:r>
            </a:p>
          </p:txBody>
        </p:sp>
        <p:sp>
          <p:nvSpPr>
            <p:cNvPr id="15" name="TextBox 15"/>
            <p:cNvSpPr txBox="1"/>
            <p:nvPr/>
          </p:nvSpPr>
          <p:spPr>
            <a:xfrm>
              <a:off x="11078680" y="3734752"/>
              <a:ext cx="321640"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0,90</a:t>
              </a:r>
            </a:p>
          </p:txBody>
        </p:sp>
        <p:sp>
          <p:nvSpPr>
            <p:cNvPr id="16" name="Freeform 16"/>
            <p:cNvSpPr/>
            <p:nvPr/>
          </p:nvSpPr>
          <p:spPr>
            <a:xfrm>
              <a:off x="1143000" y="2019300"/>
              <a:ext cx="10096500" cy="720090"/>
            </a:xfrm>
            <a:custGeom>
              <a:avLst/>
              <a:gdLst/>
              <a:ahLst/>
              <a:cxnLst/>
              <a:rect l="l" t="t" r="r" b="b"/>
              <a:pathLst>
                <a:path w="10096500" h="720090">
                  <a:moveTo>
                    <a:pt x="0" y="720090"/>
                  </a:moveTo>
                  <a:lnTo>
                    <a:pt x="1257300" y="447675"/>
                  </a:lnTo>
                  <a:lnTo>
                    <a:pt x="2524125" y="276225"/>
                  </a:lnTo>
                  <a:lnTo>
                    <a:pt x="3781425" y="152400"/>
                  </a:lnTo>
                  <a:lnTo>
                    <a:pt x="5048250" y="66675"/>
                  </a:lnTo>
                  <a:lnTo>
                    <a:pt x="6943725" y="0"/>
                  </a:lnTo>
                  <a:lnTo>
                    <a:pt x="7572375" y="28575"/>
                  </a:lnTo>
                  <a:lnTo>
                    <a:pt x="8839200" y="171450"/>
                  </a:lnTo>
                  <a:lnTo>
                    <a:pt x="10096500" y="552450"/>
                  </a:lnTo>
                </a:path>
              </a:pathLst>
            </a:custGeom>
            <a:noFill/>
            <a:ln w="28575">
              <a:solidFill>
                <a:srgbClr val="00A6A6"/>
              </a:solidFill>
            </a:ln>
          </p:spPr>
        </p:sp>
        <p:sp>
          <p:nvSpPr>
            <p:cNvPr id="17" name="Line 17"/>
            <p:cNvSpPr/>
            <p:nvPr/>
          </p:nvSpPr>
          <p:spPr>
            <a:xfrm>
              <a:off x="8086725" y="2019300"/>
              <a:ext cx="9525" cy="1600200"/>
            </a:xfrm>
            <a:custGeom>
              <a:avLst/>
              <a:gdLst/>
              <a:ahLst/>
              <a:cxnLst/>
              <a:rect l="l" t="t" r="r" b="b"/>
              <a:pathLst>
                <a:path w="9525" h="1600200">
                  <a:moveTo>
                    <a:pt x="0" y="1600200"/>
                  </a:moveTo>
                  <a:lnTo>
                    <a:pt x="0" y="0"/>
                  </a:lnTo>
                </a:path>
              </a:pathLst>
            </a:custGeom>
            <a:noFill/>
            <a:ln w="19050">
              <a:solidFill>
                <a:srgbClr val="12355B"/>
              </a:solidFill>
              <a:custDash>
                <a:ds d="200000" sp="150000"/>
              </a:custDash>
            </a:ln>
          </p:spPr>
        </p:sp>
        <p:sp>
          <p:nvSpPr>
            <p:cNvPr id="18" name="Ellipse 18"/>
            <p:cNvSpPr/>
            <p:nvPr/>
          </p:nvSpPr>
          <p:spPr>
            <a:xfrm>
              <a:off x="8010525" y="1943100"/>
              <a:ext cx="152400" cy="152400"/>
            </a:xfrm>
            <a:prstGeom prst="ellipse">
              <a:avLst/>
            </a:prstGeom>
            <a:solidFill>
              <a:srgbClr val="12355B"/>
            </a:solidFill>
            <a:ln>
              <a:noFill/>
            </a:ln>
          </p:spPr>
        </p:sp>
        <p:sp>
          <p:nvSpPr>
            <p:cNvPr id="19" name="TextBox 19"/>
            <p:cNvSpPr txBox="1"/>
            <p:nvPr/>
          </p:nvSpPr>
          <p:spPr>
            <a:xfrm>
              <a:off x="6854108" y="1737360"/>
              <a:ext cx="2465235"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En iyi eşik = 0,65 → F1 = 0,765</a:t>
              </a:r>
            </a:p>
          </p:txBody>
        </p:sp>
      </p:grpSp>
      <p:grpSp>
        <p:nvGrpSpPr>
          <p:cNvPr id="25" name="leakage-warning"/>
          <p:cNvGrpSpPr/>
          <p:nvPr/>
        </p:nvGrpSpPr>
        <p:grpSpPr>
          <a:xfrm>
            <a:off x="609600" y="4210050"/>
            <a:ext cx="10972800" cy="905923"/>
            <a:chOff x="609600" y="4210050"/>
            <a:chExt cx="10972800" cy="905923"/>
          </a:xfrm>
        </p:grpSpPr>
        <p:sp>
          <p:nvSpPr>
            <p:cNvPr id="21" name="Rectangle 21"/>
            <p:cNvSpPr/>
            <p:nvPr/>
          </p:nvSpPr>
          <p:spPr>
            <a:xfrm>
              <a:off x="609600" y="4210050"/>
              <a:ext cx="10972800" cy="857250"/>
            </a:xfrm>
            <a:prstGeom prst="roundRect">
              <a:avLst>
                <a:gd name="adj" fmla="val 8889"/>
              </a:avLst>
            </a:prstGeom>
            <a:solidFill>
              <a:srgbClr val="EAF4F6"/>
            </a:solidFill>
            <a:ln>
              <a:noFill/>
            </a:ln>
          </p:spPr>
        </p:sp>
        <p:sp>
          <p:nvSpPr>
            <p:cNvPr id="22" name="TextBox 22"/>
            <p:cNvSpPr txBox="1"/>
            <p:nvPr/>
          </p:nvSpPr>
          <p:spPr>
            <a:xfrm>
              <a:off x="906780" y="4352925"/>
              <a:ext cx="2127344"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 Sık Yanlış Anlama</a:t>
              </a:r>
            </a:p>
          </p:txBody>
        </p:sp>
        <p:sp>
          <p:nvSpPr>
            <p:cNvPr id="23" name="TextBox 23"/>
            <p:cNvSpPr txBox="1"/>
            <p:nvPr/>
          </p:nvSpPr>
          <p:spPr>
            <a:xfrm>
              <a:off x="907161" y="4608671"/>
              <a:ext cx="6864371"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Eşiği aynı test setinde seçip raporlamak, iyimser bir sızıntıya yol açar;</a:t>
              </a:r>
            </a:p>
          </p:txBody>
        </p:sp>
        <p:sp>
          <p:nvSpPr>
            <p:cNvPr id="24" name="TextBox 24"/>
            <p:cNvSpPr txBox="1"/>
            <p:nvPr/>
          </p:nvSpPr>
          <p:spPr>
            <a:xfrm>
              <a:off x="907161" y="4837271"/>
              <a:ext cx="4420725"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eşik ayrı bir doğrulama setinde belirlenmelidir.</a:t>
              </a:r>
            </a:p>
          </p:txBody>
        </p:sp>
      </p:grpSp>
      <p:grpSp>
        <p:nvGrpSpPr>
          <p:cNvPr id="29" name="common-errors"/>
          <p:cNvGrpSpPr/>
          <p:nvPr/>
        </p:nvGrpSpPr>
        <p:grpSpPr>
          <a:xfrm>
            <a:off x="609600" y="5219700"/>
            <a:ext cx="10972800" cy="952500"/>
            <a:chOff x="609600" y="5219700"/>
            <a:chExt cx="10972800" cy="952500"/>
          </a:xfrm>
        </p:grpSpPr>
        <p:sp>
          <p:nvSpPr>
            <p:cNvPr id="26" name="Rectangle 26"/>
            <p:cNvSpPr/>
            <p:nvPr/>
          </p:nvSpPr>
          <p:spPr>
            <a:xfrm>
              <a:off x="609600" y="5219700"/>
              <a:ext cx="10972800" cy="952500"/>
            </a:xfrm>
            <a:prstGeom prst="roundRect">
              <a:avLst>
                <a:gd name="adj" fmla="val 8000"/>
              </a:avLst>
            </a:prstGeom>
            <a:solidFill>
              <a:srgbClr val="FFFFFF"/>
            </a:solidFill>
            <a:ln w="14288">
              <a:solidFill>
                <a:srgbClr val="B8CBD3"/>
              </a:solidFill>
            </a:ln>
          </p:spPr>
        </p:sp>
        <p:sp>
          <p:nvSpPr>
            <p:cNvPr id="27" name="TextBox 27"/>
            <p:cNvSpPr txBox="1"/>
            <p:nvPr/>
          </p:nvSpPr>
          <p:spPr>
            <a:xfrm>
              <a:off x="906780" y="5343525"/>
              <a:ext cx="1548478"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Yaygın hatalar</a:t>
              </a:r>
            </a:p>
          </p:txBody>
        </p:sp>
        <p:sp>
          <p:nvSpPr>
            <p:cNvPr id="28" name="TextBox 28"/>
            <p:cNvSpPr txBox="1"/>
            <p:nvPr/>
          </p:nvSpPr>
          <p:spPr>
            <a:xfrm>
              <a:off x="907542" y="5626418"/>
              <a:ext cx="5551551" cy="473583"/>
            </a:xfrm>
            <a:prstGeom prst="rect">
              <a:avLst/>
            </a:prstGeom>
            <a:noFill/>
            <a:ln>
              <a:noFill/>
            </a:ln>
          </p:spPr>
          <p:txBody>
            <a:bodyPr wrap="none" lIns="0" tIns="0" rIns="0" bIns="0" anchor="t" anchorCtr="0">
              <a:spAutoFit/>
            </a:bodyPr>
            <a:lstStyle/>
            <a:p>
              <a:pPr algn="l" marL="145732" indent="-145732">
                <a:lnSpc>
                  <a:spcPts val="1650"/>
                </a:lnSpc>
                <a:buClr>
                  <a:srgbClr val="172B3A"/>
                </a:buClr>
                <a:buSzTx/>
                <a:buFontTx/>
                <a:buChar char="•"/>
              </a:pPr>
              <a:r>
                <a:rPr lang="tr-TR" sz="1350" dirty="0">
                  <a:solidFill>
                    <a:srgbClr val="172B3A"/>
                  </a:solidFill>
                  <a:latin typeface="+mn-lt"/>
                  <a:ea typeface="+mn-ea"/>
                  <a:cs typeface="+mn-cs"/>
                </a:rPr>
                <a:t>predict()'in sabit %50 eşiğini, predict_proba() ile ayarlanabilen</a:t>
              </a:r>
              <a:br/>
              <a:r>
                <a:rPr lang="tr-TR" sz="1350" dirty="0">
                  <a:solidFill>
                    <a:srgbClr val="172B3A"/>
                  </a:solidFill>
                  <a:latin typeface="+mn-lt"/>
                  <a:ea typeface="+mn-ea"/>
                  <a:cs typeface="+mn-cs"/>
                </a:rPr>
                <a:t>eşikle karıştırmak.</a:t>
              </a:r>
            </a:p>
          </p:txBody>
        </p:sp>
      </p:grpSp>
      <p:sp>
        <p:nvSpPr>
          <p:cNvPr id="30" name="TextBox 3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 / 25</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9931655" cy="557403"/>
            <a:chOff x="595122" y="282892"/>
            <a:chExt cx="9931655" cy="557403"/>
          </a:xfrm>
        </p:grpSpPr>
        <p:sp>
          <p:nvSpPr>
            <p:cNvPr id="4" name="TextBox 4"/>
            <p:cNvSpPr txBox="1"/>
            <p:nvPr/>
          </p:nvSpPr>
          <p:spPr>
            <a:xfrm>
              <a:off x="595122" y="282892"/>
              <a:ext cx="993165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Sayısal örnek: küçük veriyle kesinlik ve duyarlılık</a:t>
              </a:r>
            </a:p>
          </p:txBody>
        </p:sp>
      </p:grpSp>
      <p:grpSp>
        <p:nvGrpSpPr>
          <p:cNvPr id="7" name="setup-note"/>
          <p:cNvGrpSpPr/>
          <p:nvPr/>
        </p:nvGrpSpPr>
        <p:grpSpPr>
          <a:xfrm>
            <a:off x="602361" y="1160621"/>
            <a:ext cx="4780943" cy="278702"/>
            <a:chOff x="602361" y="1160621"/>
            <a:chExt cx="4780943" cy="278702"/>
          </a:xfrm>
        </p:grpSpPr>
        <p:sp>
          <p:nvSpPr>
            <p:cNvPr id="6" name="TextBox 6"/>
            <p:cNvSpPr txBox="1"/>
            <p:nvPr/>
          </p:nvSpPr>
          <p:spPr>
            <a:xfrm>
              <a:off x="602361" y="1160621"/>
              <a:ext cx="4780943" cy="278702"/>
            </a:xfrm>
            <a:prstGeom prst="rect">
              <a:avLst/>
            </a:prstGeom>
            <a:noFill/>
            <a:ln>
              <a:noFill/>
            </a:ln>
          </p:spPr>
          <p:txBody>
            <a:bodyPr wrap="none" lIns="0" tIns="0" rIns="0" bIns="0" anchor="t" anchorCtr="0">
              <a:spAutoFit/>
            </a:bodyPr>
            <a:lstStyle/>
            <a:p>
              <a:pPr algn="l"/>
              <a:r>
                <a:rPr lang="tr-TR" sz="1420" dirty="0">
                  <a:solidFill>
                    <a:srgbClr val="52616B"/>
                  </a:solidFill>
                  <a:latin typeface="+mn-lt"/>
                  <a:ea typeface="+mn-ea"/>
                  <a:cs typeface="+mn-cs"/>
                </a:rPr>
                <a:t>Küçük bir veri kümesinde model şu 6 tahmini üretti:</a:t>
              </a:r>
            </a:p>
          </p:txBody>
        </p:sp>
      </p:grpSp>
      <p:grpSp>
        <p:nvGrpSpPr>
          <p:cNvPr id="26" name="icon-row"/>
          <p:cNvGrpSpPr/>
          <p:nvPr/>
        </p:nvGrpSpPr>
        <p:grpSpPr>
          <a:xfrm>
            <a:off x="609600" y="1485900"/>
            <a:ext cx="6477000" cy="1355884"/>
            <a:chOff x="609600" y="1485900"/>
            <a:chExt cx="6477000" cy="1355884"/>
          </a:xfrm>
        </p:grpSpPr>
        <p:sp>
          <p:nvSpPr>
            <p:cNvPr id="8" name="Rectangle 8"/>
            <p:cNvSpPr/>
            <p:nvPr/>
          </p:nvSpPr>
          <p:spPr>
            <a:xfrm>
              <a:off x="609600" y="1485900"/>
              <a:ext cx="952500" cy="952500"/>
            </a:xfrm>
            <a:prstGeom prst="roundRect">
              <a:avLst>
                <a:gd name="adj" fmla="val 8000"/>
              </a:avLst>
            </a:prstGeom>
            <a:solidFill>
              <a:srgbClr val="EAF4F6"/>
            </a:solidFill>
            <a:ln w="14288">
              <a:solidFill>
                <a:srgbClr val="00A6A6"/>
              </a:solidFill>
            </a:ln>
          </p:spPr>
        </p:sp>
        <p:sp>
          <p:nvSpPr>
            <p:cNvPr id="9" name="TextBox 9"/>
            <p:cNvSpPr txBox="1"/>
            <p:nvPr/>
          </p:nvSpPr>
          <p:spPr>
            <a:xfrm>
              <a:off x="915764" y="1846898"/>
              <a:ext cx="340172" cy="381381"/>
            </a:xfrm>
            <a:prstGeom prst="rect">
              <a:avLst/>
            </a:prstGeom>
            <a:noFill/>
            <a:ln>
              <a:noFill/>
            </a:ln>
          </p:spPr>
          <p:txBody>
            <a:bodyPr wrap="none" lIns="0" tIns="0" rIns="0" bIns="0" anchor="t" anchorCtr="0">
              <a:spAutoFit/>
            </a:bodyPr>
            <a:lstStyle/>
            <a:p>
              <a:pPr algn="ctr"/>
              <a:r>
                <a:rPr lang="tr-TR" sz="1950" b="1" dirty="0">
                  <a:solidFill>
                    <a:srgbClr val="12355B"/>
                  </a:solidFill>
                  <a:latin typeface="+mn-lt"/>
                  <a:ea typeface="+mn-ea"/>
                  <a:cs typeface="+mn-cs"/>
                </a:rPr>
                <a:t>TP</a:t>
              </a:r>
            </a:p>
          </p:txBody>
        </p:sp>
        <p:sp>
          <p:nvSpPr>
            <p:cNvPr id="10" name="TextBox 10"/>
            <p:cNvSpPr txBox="1"/>
            <p:nvPr/>
          </p:nvSpPr>
          <p:spPr>
            <a:xfrm>
              <a:off x="745871" y="2450306"/>
              <a:ext cx="679958" cy="391478"/>
            </a:xfrm>
            <a:prstGeom prst="rect">
              <a:avLst/>
            </a:prstGeom>
            <a:noFill/>
            <a:ln>
              <a:noFill/>
            </a:ln>
          </p:spPr>
          <p:txBody>
            <a:bodyPr wrap="none" lIns="0" tIns="0" rIns="0" bIns="0" anchor="t" anchorCtr="0">
              <a:spAutoFit/>
            </a:bodyPr>
            <a:lstStyle/>
            <a:p>
              <a:pPr algn="ctr">
                <a:lnSpc>
                  <a:spcPts val="1350"/>
                </a:lnSpc>
              </a:pPr>
              <a:r>
                <a:rPr lang="tr-TR" sz="1120" dirty="0">
                  <a:solidFill>
                    <a:srgbClr val="52616B"/>
                  </a:solidFill>
                  <a:latin typeface="+mn-lt"/>
                  <a:ea typeface="+mn-ea"/>
                  <a:cs typeface="+mn-cs"/>
                </a:rPr>
                <a:t>Doğru</a:t>
              </a:r>
              <a:br/>
              <a:r>
                <a:rPr lang="tr-TR" sz="1120" dirty="0">
                  <a:solidFill>
                    <a:srgbClr val="52616B"/>
                  </a:solidFill>
                  <a:latin typeface="+mn-lt"/>
                  <a:ea typeface="+mn-ea"/>
                  <a:cs typeface="+mn-cs"/>
                </a:rPr>
                <a:t>yakalandı</a:t>
              </a:r>
            </a:p>
          </p:txBody>
        </p:sp>
        <p:sp>
          <p:nvSpPr>
            <p:cNvPr id="11" name="Rectangle 11"/>
            <p:cNvSpPr/>
            <p:nvPr/>
          </p:nvSpPr>
          <p:spPr>
            <a:xfrm>
              <a:off x="1714500" y="1485900"/>
              <a:ext cx="952500" cy="952500"/>
            </a:xfrm>
            <a:prstGeom prst="roundRect">
              <a:avLst>
                <a:gd name="adj" fmla="val 8000"/>
              </a:avLst>
            </a:prstGeom>
            <a:solidFill>
              <a:srgbClr val="EAF4F6"/>
            </a:solidFill>
            <a:ln w="14288">
              <a:solidFill>
                <a:srgbClr val="00A6A6"/>
              </a:solidFill>
            </a:ln>
          </p:spPr>
        </p:sp>
        <p:sp>
          <p:nvSpPr>
            <p:cNvPr id="12" name="TextBox 12"/>
            <p:cNvSpPr txBox="1"/>
            <p:nvPr/>
          </p:nvSpPr>
          <p:spPr>
            <a:xfrm>
              <a:off x="2020664" y="1846898"/>
              <a:ext cx="340172" cy="381381"/>
            </a:xfrm>
            <a:prstGeom prst="rect">
              <a:avLst/>
            </a:prstGeom>
            <a:noFill/>
            <a:ln>
              <a:noFill/>
            </a:ln>
          </p:spPr>
          <p:txBody>
            <a:bodyPr wrap="none" lIns="0" tIns="0" rIns="0" bIns="0" anchor="t" anchorCtr="0">
              <a:spAutoFit/>
            </a:bodyPr>
            <a:lstStyle/>
            <a:p>
              <a:pPr algn="ctr"/>
              <a:r>
                <a:rPr lang="tr-TR" sz="1950" b="1" dirty="0">
                  <a:solidFill>
                    <a:srgbClr val="12355B"/>
                  </a:solidFill>
                  <a:latin typeface="+mn-lt"/>
                  <a:ea typeface="+mn-ea"/>
                  <a:cs typeface="+mn-cs"/>
                </a:rPr>
                <a:t>TP</a:t>
              </a:r>
            </a:p>
          </p:txBody>
        </p:sp>
        <p:sp>
          <p:nvSpPr>
            <p:cNvPr id="13" name="TextBox 13"/>
            <p:cNvSpPr txBox="1"/>
            <p:nvPr/>
          </p:nvSpPr>
          <p:spPr>
            <a:xfrm>
              <a:off x="1850771" y="2450306"/>
              <a:ext cx="679958" cy="391478"/>
            </a:xfrm>
            <a:prstGeom prst="rect">
              <a:avLst/>
            </a:prstGeom>
            <a:noFill/>
            <a:ln>
              <a:noFill/>
            </a:ln>
          </p:spPr>
          <p:txBody>
            <a:bodyPr wrap="none" lIns="0" tIns="0" rIns="0" bIns="0" anchor="t" anchorCtr="0">
              <a:spAutoFit/>
            </a:bodyPr>
            <a:lstStyle/>
            <a:p>
              <a:pPr algn="ctr">
                <a:lnSpc>
                  <a:spcPts val="1350"/>
                </a:lnSpc>
              </a:pPr>
              <a:r>
                <a:rPr lang="tr-TR" sz="1120" dirty="0">
                  <a:solidFill>
                    <a:srgbClr val="52616B"/>
                  </a:solidFill>
                  <a:latin typeface="+mn-lt"/>
                  <a:ea typeface="+mn-ea"/>
                  <a:cs typeface="+mn-cs"/>
                </a:rPr>
                <a:t>Doğru</a:t>
              </a:r>
              <a:br/>
              <a:r>
                <a:rPr lang="tr-TR" sz="1120" dirty="0">
                  <a:solidFill>
                    <a:srgbClr val="52616B"/>
                  </a:solidFill>
                  <a:latin typeface="+mn-lt"/>
                  <a:ea typeface="+mn-ea"/>
                  <a:cs typeface="+mn-cs"/>
                </a:rPr>
                <a:t>yakalandı</a:t>
              </a:r>
            </a:p>
          </p:txBody>
        </p:sp>
        <p:sp>
          <p:nvSpPr>
            <p:cNvPr id="14" name="Rectangle 14"/>
            <p:cNvSpPr/>
            <p:nvPr/>
          </p:nvSpPr>
          <p:spPr>
            <a:xfrm>
              <a:off x="2819400" y="1485900"/>
              <a:ext cx="952500" cy="952500"/>
            </a:xfrm>
            <a:prstGeom prst="roundRect">
              <a:avLst>
                <a:gd name="adj" fmla="val 8000"/>
              </a:avLst>
            </a:prstGeom>
            <a:solidFill>
              <a:srgbClr val="EAF4F6"/>
            </a:solidFill>
            <a:ln w="14288">
              <a:solidFill>
                <a:srgbClr val="00A6A6"/>
              </a:solidFill>
            </a:ln>
          </p:spPr>
        </p:sp>
        <p:sp>
          <p:nvSpPr>
            <p:cNvPr id="15" name="TextBox 15"/>
            <p:cNvSpPr txBox="1"/>
            <p:nvPr/>
          </p:nvSpPr>
          <p:spPr>
            <a:xfrm>
              <a:off x="3125564" y="1846898"/>
              <a:ext cx="340172" cy="381381"/>
            </a:xfrm>
            <a:prstGeom prst="rect">
              <a:avLst/>
            </a:prstGeom>
            <a:noFill/>
            <a:ln>
              <a:noFill/>
            </a:ln>
          </p:spPr>
          <p:txBody>
            <a:bodyPr wrap="none" lIns="0" tIns="0" rIns="0" bIns="0" anchor="t" anchorCtr="0">
              <a:spAutoFit/>
            </a:bodyPr>
            <a:lstStyle/>
            <a:p>
              <a:pPr algn="ctr"/>
              <a:r>
                <a:rPr lang="tr-TR" sz="1950" b="1" dirty="0">
                  <a:solidFill>
                    <a:srgbClr val="12355B"/>
                  </a:solidFill>
                  <a:latin typeface="+mn-lt"/>
                  <a:ea typeface="+mn-ea"/>
                  <a:cs typeface="+mn-cs"/>
                </a:rPr>
                <a:t>TP</a:t>
              </a:r>
            </a:p>
          </p:txBody>
        </p:sp>
        <p:sp>
          <p:nvSpPr>
            <p:cNvPr id="16" name="TextBox 16"/>
            <p:cNvSpPr txBox="1"/>
            <p:nvPr/>
          </p:nvSpPr>
          <p:spPr>
            <a:xfrm>
              <a:off x="2955671" y="2450306"/>
              <a:ext cx="679958" cy="391478"/>
            </a:xfrm>
            <a:prstGeom prst="rect">
              <a:avLst/>
            </a:prstGeom>
            <a:noFill/>
            <a:ln>
              <a:noFill/>
            </a:ln>
          </p:spPr>
          <p:txBody>
            <a:bodyPr wrap="none" lIns="0" tIns="0" rIns="0" bIns="0" anchor="t" anchorCtr="0">
              <a:spAutoFit/>
            </a:bodyPr>
            <a:lstStyle/>
            <a:p>
              <a:pPr algn="ctr">
                <a:lnSpc>
                  <a:spcPts val="1350"/>
                </a:lnSpc>
              </a:pPr>
              <a:r>
                <a:rPr lang="tr-TR" sz="1120" dirty="0">
                  <a:solidFill>
                    <a:srgbClr val="52616B"/>
                  </a:solidFill>
                  <a:latin typeface="+mn-lt"/>
                  <a:ea typeface="+mn-ea"/>
                  <a:cs typeface="+mn-cs"/>
                </a:rPr>
                <a:t>Doğru</a:t>
              </a:r>
              <a:br/>
              <a:r>
                <a:rPr lang="tr-TR" sz="1120" dirty="0">
                  <a:solidFill>
                    <a:srgbClr val="52616B"/>
                  </a:solidFill>
                  <a:latin typeface="+mn-lt"/>
                  <a:ea typeface="+mn-ea"/>
                  <a:cs typeface="+mn-cs"/>
                </a:rPr>
                <a:t>yakalandı</a:t>
              </a:r>
            </a:p>
          </p:txBody>
        </p:sp>
        <p:sp>
          <p:nvSpPr>
            <p:cNvPr id="17" name="Rectangle 17"/>
            <p:cNvSpPr/>
            <p:nvPr/>
          </p:nvSpPr>
          <p:spPr>
            <a:xfrm>
              <a:off x="3924300" y="1485900"/>
              <a:ext cx="952500" cy="952500"/>
            </a:xfrm>
            <a:prstGeom prst="roundRect">
              <a:avLst>
                <a:gd name="adj" fmla="val 8000"/>
              </a:avLst>
            </a:prstGeom>
            <a:solidFill>
              <a:srgbClr val="FFFFFF"/>
            </a:solidFill>
            <a:ln w="14288">
              <a:solidFill>
                <a:srgbClr val="B8CBD3"/>
              </a:solidFill>
            </a:ln>
          </p:spPr>
        </p:sp>
        <p:sp>
          <p:nvSpPr>
            <p:cNvPr id="18" name="TextBox 18"/>
            <p:cNvSpPr txBox="1"/>
            <p:nvPr/>
          </p:nvSpPr>
          <p:spPr>
            <a:xfrm>
              <a:off x="4230464" y="1846898"/>
              <a:ext cx="340172" cy="381381"/>
            </a:xfrm>
            <a:prstGeom prst="rect">
              <a:avLst/>
            </a:prstGeom>
            <a:noFill/>
            <a:ln>
              <a:noFill/>
            </a:ln>
          </p:spPr>
          <p:txBody>
            <a:bodyPr wrap="none" lIns="0" tIns="0" rIns="0" bIns="0" anchor="t" anchorCtr="0">
              <a:spAutoFit/>
            </a:bodyPr>
            <a:lstStyle/>
            <a:p>
              <a:pPr algn="ctr"/>
              <a:r>
                <a:rPr lang="tr-TR" sz="1950" b="1" dirty="0">
                  <a:solidFill>
                    <a:srgbClr val="12355B"/>
                  </a:solidFill>
                  <a:latin typeface="+mn-lt"/>
                  <a:ea typeface="+mn-ea"/>
                  <a:cs typeface="+mn-cs"/>
                </a:rPr>
                <a:t>FN</a:t>
              </a:r>
            </a:p>
          </p:txBody>
        </p:sp>
        <p:sp>
          <p:nvSpPr>
            <p:cNvPr id="19" name="TextBox 19"/>
            <p:cNvSpPr txBox="1"/>
            <p:nvPr/>
          </p:nvSpPr>
          <p:spPr>
            <a:xfrm>
              <a:off x="4038287" y="2450306"/>
              <a:ext cx="724527"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Kaçırıldı</a:t>
              </a:r>
            </a:p>
          </p:txBody>
        </p:sp>
        <p:sp>
          <p:nvSpPr>
            <p:cNvPr id="20" name="Rectangle 20"/>
            <p:cNvSpPr/>
            <p:nvPr/>
          </p:nvSpPr>
          <p:spPr>
            <a:xfrm>
              <a:off x="5029200" y="1485900"/>
              <a:ext cx="952500" cy="952500"/>
            </a:xfrm>
            <a:prstGeom prst="roundRect">
              <a:avLst>
                <a:gd name="adj" fmla="val 8000"/>
              </a:avLst>
            </a:prstGeom>
            <a:solidFill>
              <a:srgbClr val="FFFFFF"/>
            </a:solidFill>
            <a:ln w="14288">
              <a:solidFill>
                <a:srgbClr val="B8CBD3"/>
              </a:solidFill>
            </a:ln>
          </p:spPr>
        </p:sp>
        <p:sp>
          <p:nvSpPr>
            <p:cNvPr id="21" name="TextBox 21"/>
            <p:cNvSpPr txBox="1"/>
            <p:nvPr/>
          </p:nvSpPr>
          <p:spPr>
            <a:xfrm>
              <a:off x="5335364" y="1846898"/>
              <a:ext cx="340172" cy="381381"/>
            </a:xfrm>
            <a:prstGeom prst="rect">
              <a:avLst/>
            </a:prstGeom>
            <a:noFill/>
            <a:ln>
              <a:noFill/>
            </a:ln>
          </p:spPr>
          <p:txBody>
            <a:bodyPr wrap="none" lIns="0" tIns="0" rIns="0" bIns="0" anchor="t" anchorCtr="0">
              <a:spAutoFit/>
            </a:bodyPr>
            <a:lstStyle/>
            <a:p>
              <a:pPr algn="ctr"/>
              <a:r>
                <a:rPr lang="tr-TR" sz="1950" b="1" dirty="0">
                  <a:solidFill>
                    <a:srgbClr val="12355B"/>
                  </a:solidFill>
                  <a:latin typeface="+mn-lt"/>
                  <a:ea typeface="+mn-ea"/>
                  <a:cs typeface="+mn-cs"/>
                </a:rPr>
                <a:t>FP</a:t>
              </a:r>
            </a:p>
          </p:txBody>
        </p:sp>
        <p:sp>
          <p:nvSpPr>
            <p:cNvPr id="22" name="TextBox 22"/>
            <p:cNvSpPr txBox="1"/>
            <p:nvPr/>
          </p:nvSpPr>
          <p:spPr>
            <a:xfrm>
              <a:off x="5282819" y="2450306"/>
              <a:ext cx="445262" cy="391478"/>
            </a:xfrm>
            <a:prstGeom prst="rect">
              <a:avLst/>
            </a:prstGeom>
            <a:noFill/>
            <a:ln>
              <a:noFill/>
            </a:ln>
          </p:spPr>
          <p:txBody>
            <a:bodyPr wrap="none" lIns="0" tIns="0" rIns="0" bIns="0" anchor="t" anchorCtr="0">
              <a:spAutoFit/>
            </a:bodyPr>
            <a:lstStyle/>
            <a:p>
              <a:pPr algn="ctr">
                <a:lnSpc>
                  <a:spcPts val="1350"/>
                </a:lnSpc>
              </a:pPr>
              <a:r>
                <a:rPr lang="tr-TR" sz="1120" dirty="0">
                  <a:solidFill>
                    <a:srgbClr val="52616B"/>
                  </a:solidFill>
                  <a:latin typeface="+mn-lt"/>
                  <a:ea typeface="+mn-ea"/>
                  <a:cs typeface="+mn-cs"/>
                </a:rPr>
                <a:t>Yanlış</a:t>
              </a:r>
              <a:br/>
              <a:r>
                <a:rPr lang="tr-TR" sz="1120" dirty="0">
                  <a:solidFill>
                    <a:srgbClr val="52616B"/>
                  </a:solidFill>
                  <a:latin typeface="+mn-lt"/>
                  <a:ea typeface="+mn-ea"/>
                  <a:cs typeface="+mn-cs"/>
                </a:rPr>
                <a:t>alarm</a:t>
              </a:r>
            </a:p>
          </p:txBody>
        </p:sp>
        <p:sp>
          <p:nvSpPr>
            <p:cNvPr id="23" name="Rectangle 23"/>
            <p:cNvSpPr/>
            <p:nvPr/>
          </p:nvSpPr>
          <p:spPr>
            <a:xfrm>
              <a:off x="6134100" y="1485900"/>
              <a:ext cx="952500" cy="952500"/>
            </a:xfrm>
            <a:prstGeom prst="roundRect">
              <a:avLst>
                <a:gd name="adj" fmla="val 8000"/>
              </a:avLst>
            </a:prstGeom>
            <a:solidFill>
              <a:srgbClr val="FFFFFF"/>
            </a:solidFill>
            <a:ln w="14288">
              <a:solidFill>
                <a:srgbClr val="B8CBD3"/>
              </a:solidFill>
            </a:ln>
          </p:spPr>
        </p:sp>
        <p:sp>
          <p:nvSpPr>
            <p:cNvPr id="24" name="TextBox 24"/>
            <p:cNvSpPr txBox="1"/>
            <p:nvPr/>
          </p:nvSpPr>
          <p:spPr>
            <a:xfrm>
              <a:off x="6440264" y="1846898"/>
              <a:ext cx="340172" cy="381381"/>
            </a:xfrm>
            <a:prstGeom prst="rect">
              <a:avLst/>
            </a:prstGeom>
            <a:noFill/>
            <a:ln>
              <a:noFill/>
            </a:ln>
          </p:spPr>
          <p:txBody>
            <a:bodyPr wrap="none" lIns="0" tIns="0" rIns="0" bIns="0" anchor="t" anchorCtr="0">
              <a:spAutoFit/>
            </a:bodyPr>
            <a:lstStyle/>
            <a:p>
              <a:pPr algn="ctr"/>
              <a:r>
                <a:rPr lang="tr-TR" sz="1950" b="1" dirty="0">
                  <a:solidFill>
                    <a:srgbClr val="12355B"/>
                  </a:solidFill>
                  <a:latin typeface="+mn-lt"/>
                  <a:ea typeface="+mn-ea"/>
                  <a:cs typeface="+mn-cs"/>
                </a:rPr>
                <a:t>FP</a:t>
              </a:r>
            </a:p>
          </p:txBody>
        </p:sp>
        <p:sp>
          <p:nvSpPr>
            <p:cNvPr id="25" name="TextBox 25"/>
            <p:cNvSpPr txBox="1"/>
            <p:nvPr/>
          </p:nvSpPr>
          <p:spPr>
            <a:xfrm>
              <a:off x="6387719" y="2450306"/>
              <a:ext cx="445262" cy="391478"/>
            </a:xfrm>
            <a:prstGeom prst="rect">
              <a:avLst/>
            </a:prstGeom>
            <a:noFill/>
            <a:ln>
              <a:noFill/>
            </a:ln>
          </p:spPr>
          <p:txBody>
            <a:bodyPr wrap="none" lIns="0" tIns="0" rIns="0" bIns="0" anchor="t" anchorCtr="0">
              <a:spAutoFit/>
            </a:bodyPr>
            <a:lstStyle/>
            <a:p>
              <a:pPr algn="ctr">
                <a:lnSpc>
                  <a:spcPts val="1350"/>
                </a:lnSpc>
              </a:pPr>
              <a:r>
                <a:rPr lang="tr-TR" sz="1120" dirty="0">
                  <a:solidFill>
                    <a:srgbClr val="52616B"/>
                  </a:solidFill>
                  <a:latin typeface="+mn-lt"/>
                  <a:ea typeface="+mn-ea"/>
                  <a:cs typeface="+mn-cs"/>
                </a:rPr>
                <a:t>Yanlış</a:t>
              </a:r>
              <a:br/>
              <a:r>
                <a:rPr lang="tr-TR" sz="1120" dirty="0">
                  <a:solidFill>
                    <a:srgbClr val="52616B"/>
                  </a:solidFill>
                  <a:latin typeface="+mn-lt"/>
                  <a:ea typeface="+mn-ea"/>
                  <a:cs typeface="+mn-cs"/>
                </a:rPr>
                <a:t>alarm</a:t>
              </a:r>
            </a:p>
          </p:txBody>
        </p:sp>
      </p:grpSp>
      <p:grpSp>
        <p:nvGrpSpPr>
          <p:cNvPr id="31" name="calc-precision"/>
          <p:cNvGrpSpPr/>
          <p:nvPr/>
        </p:nvGrpSpPr>
        <p:grpSpPr>
          <a:xfrm>
            <a:off x="609600" y="2914650"/>
            <a:ext cx="5143500" cy="1028700"/>
            <a:chOff x="609600" y="2914650"/>
            <a:chExt cx="5143500" cy="1028700"/>
          </a:xfrm>
        </p:grpSpPr>
        <p:sp>
          <p:nvSpPr>
            <p:cNvPr id="27" name="Rectangle 27"/>
            <p:cNvSpPr/>
            <p:nvPr/>
          </p:nvSpPr>
          <p:spPr>
            <a:xfrm>
              <a:off x="609600" y="2914650"/>
              <a:ext cx="5143500" cy="1028700"/>
            </a:xfrm>
            <a:prstGeom prst="roundRect">
              <a:avLst>
                <a:gd name="adj" fmla="val 7407"/>
              </a:avLst>
            </a:prstGeom>
            <a:solidFill>
              <a:srgbClr val="EAF4F6"/>
            </a:solidFill>
            <a:ln>
              <a:noFill/>
            </a:ln>
          </p:spPr>
        </p:sp>
        <p:sp>
          <p:nvSpPr>
            <p:cNvPr id="28" name="TextBox 28"/>
            <p:cNvSpPr txBox="1"/>
            <p:nvPr/>
          </p:nvSpPr>
          <p:spPr>
            <a:xfrm>
              <a:off x="830961" y="3046571"/>
              <a:ext cx="2388068"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Kesinlik = TP / (TP + FP)</a:t>
              </a:r>
            </a:p>
          </p:txBody>
        </p:sp>
        <p:sp>
          <p:nvSpPr>
            <p:cNvPr id="29" name="TextBox 29"/>
            <p:cNvSpPr txBox="1"/>
            <p:nvPr/>
          </p:nvSpPr>
          <p:spPr>
            <a:xfrm>
              <a:off x="830961" y="3313271"/>
              <a:ext cx="1782712"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 3 / (3 + 2) = 0,60</a:t>
              </a:r>
            </a:p>
          </p:txBody>
        </p:sp>
        <p:sp>
          <p:nvSpPr>
            <p:cNvPr id="30" name="TextBox 30"/>
            <p:cNvSpPr txBox="1"/>
            <p:nvPr/>
          </p:nvSpPr>
          <p:spPr>
            <a:xfrm>
              <a:off x="832485" y="3612356"/>
              <a:ext cx="2642443"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6 tahminden 3'ü gerçekten pozitifti</a:t>
              </a:r>
            </a:p>
          </p:txBody>
        </p:sp>
      </p:grpSp>
      <p:grpSp>
        <p:nvGrpSpPr>
          <p:cNvPr id="36" name="calc-recall"/>
          <p:cNvGrpSpPr/>
          <p:nvPr/>
        </p:nvGrpSpPr>
        <p:grpSpPr>
          <a:xfrm>
            <a:off x="6438900" y="2914650"/>
            <a:ext cx="5143500" cy="1028700"/>
            <a:chOff x="6438900" y="2914650"/>
            <a:chExt cx="5143500" cy="1028700"/>
          </a:xfrm>
        </p:grpSpPr>
        <p:sp>
          <p:nvSpPr>
            <p:cNvPr id="32" name="Rectangle 32"/>
            <p:cNvSpPr/>
            <p:nvPr/>
          </p:nvSpPr>
          <p:spPr>
            <a:xfrm>
              <a:off x="6438900" y="2914650"/>
              <a:ext cx="5143500" cy="1028700"/>
            </a:xfrm>
            <a:prstGeom prst="roundRect">
              <a:avLst>
                <a:gd name="adj" fmla="val 7407"/>
              </a:avLst>
            </a:prstGeom>
            <a:solidFill>
              <a:srgbClr val="EAF4F6"/>
            </a:solidFill>
            <a:ln>
              <a:noFill/>
            </a:ln>
          </p:spPr>
        </p:sp>
        <p:sp>
          <p:nvSpPr>
            <p:cNvPr id="33" name="TextBox 33"/>
            <p:cNvSpPr txBox="1"/>
            <p:nvPr/>
          </p:nvSpPr>
          <p:spPr>
            <a:xfrm>
              <a:off x="6660261" y="3046571"/>
              <a:ext cx="2657582"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Duyarlılık = TP / (TP + FN)</a:t>
              </a:r>
            </a:p>
          </p:txBody>
        </p:sp>
        <p:sp>
          <p:nvSpPr>
            <p:cNvPr id="34" name="TextBox 34"/>
            <p:cNvSpPr txBox="1"/>
            <p:nvPr/>
          </p:nvSpPr>
          <p:spPr>
            <a:xfrm>
              <a:off x="6660261" y="3313271"/>
              <a:ext cx="1782712"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 3 / (3 + 1) = 0,75</a:t>
              </a:r>
            </a:p>
          </p:txBody>
        </p:sp>
        <p:sp>
          <p:nvSpPr>
            <p:cNvPr id="35" name="TextBox 35"/>
            <p:cNvSpPr txBox="1"/>
            <p:nvPr/>
          </p:nvSpPr>
          <p:spPr>
            <a:xfrm>
              <a:off x="6661785" y="3612356"/>
              <a:ext cx="2484130"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4 gerçek pozitiften 3'ü yakalandı</a:t>
              </a:r>
            </a:p>
          </p:txBody>
        </p:sp>
      </p:grpSp>
      <p:grpSp>
        <p:nvGrpSpPr>
          <p:cNvPr id="40" name="cost-question"/>
          <p:cNvGrpSpPr/>
          <p:nvPr/>
        </p:nvGrpSpPr>
        <p:grpSpPr>
          <a:xfrm>
            <a:off x="609600" y="4133850"/>
            <a:ext cx="10972800" cy="857250"/>
            <a:chOff x="609600" y="4133850"/>
            <a:chExt cx="10972800" cy="857250"/>
          </a:xfrm>
        </p:grpSpPr>
        <p:sp>
          <p:nvSpPr>
            <p:cNvPr id="37" name="Rectangle 37"/>
            <p:cNvSpPr/>
            <p:nvPr/>
          </p:nvSpPr>
          <p:spPr>
            <a:xfrm>
              <a:off x="609600" y="4133850"/>
              <a:ext cx="10972800" cy="857250"/>
            </a:xfrm>
            <a:prstGeom prst="roundRect">
              <a:avLst>
                <a:gd name="adj" fmla="val 8889"/>
              </a:avLst>
            </a:prstGeom>
            <a:solidFill>
              <a:srgbClr val="FFFFFF"/>
            </a:solidFill>
            <a:ln w="14288">
              <a:solidFill>
                <a:srgbClr val="2E86AB"/>
              </a:solidFill>
            </a:ln>
          </p:spPr>
        </p:sp>
        <p:sp>
          <p:nvSpPr>
            <p:cNvPr id="38" name="TextBox 38"/>
            <p:cNvSpPr txBox="1"/>
            <p:nvPr/>
          </p:nvSpPr>
          <p:spPr>
            <a:xfrm>
              <a:off x="906780" y="4257675"/>
              <a:ext cx="2672390"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Hangi hata daha maliyetli?</a:t>
              </a:r>
            </a:p>
          </p:txBody>
        </p:sp>
        <p:sp>
          <p:nvSpPr>
            <p:cNvPr id="39" name="TextBox 39"/>
            <p:cNvSpPr txBox="1"/>
            <p:nvPr/>
          </p:nvSpPr>
          <p:spPr>
            <a:xfrm>
              <a:off x="907161" y="4532471"/>
              <a:ext cx="7872537"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1 kaçırılan vaka (FN) mı, 2 yanlış alarm (FP) mı — cevap iş bağlamına göre değişir.</a:t>
              </a:r>
            </a:p>
          </p:txBody>
        </p:sp>
      </p:grpSp>
      <p:grpSp>
        <p:nvGrpSpPr>
          <p:cNvPr id="45" name="common-mistake"/>
          <p:cNvGrpSpPr/>
          <p:nvPr/>
        </p:nvGrpSpPr>
        <p:grpSpPr>
          <a:xfrm>
            <a:off x="609600" y="5181600"/>
            <a:ext cx="10972800" cy="952500"/>
            <a:chOff x="609600" y="5181600"/>
            <a:chExt cx="10972800" cy="952500"/>
          </a:xfrm>
        </p:grpSpPr>
        <p:sp>
          <p:nvSpPr>
            <p:cNvPr id="41" name="Rectangle 41"/>
            <p:cNvSpPr/>
            <p:nvPr/>
          </p:nvSpPr>
          <p:spPr>
            <a:xfrm>
              <a:off x="609600" y="5181600"/>
              <a:ext cx="10972800" cy="952500"/>
            </a:xfrm>
            <a:prstGeom prst="roundRect">
              <a:avLst>
                <a:gd name="adj" fmla="val 8000"/>
              </a:avLst>
            </a:prstGeom>
            <a:solidFill>
              <a:srgbClr val="EAF4F6"/>
            </a:solidFill>
            <a:ln>
              <a:noFill/>
            </a:ln>
          </p:spPr>
        </p:sp>
        <p:sp>
          <p:nvSpPr>
            <p:cNvPr id="42" name="TextBox 42"/>
            <p:cNvSpPr txBox="1"/>
            <p:nvPr/>
          </p:nvSpPr>
          <p:spPr>
            <a:xfrm>
              <a:off x="906780" y="5324475"/>
              <a:ext cx="909380"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Sık Hata</a:t>
              </a:r>
            </a:p>
          </p:txBody>
        </p:sp>
        <p:sp>
          <p:nvSpPr>
            <p:cNvPr id="43" name="TextBox 43"/>
            <p:cNvSpPr txBox="1"/>
            <p:nvPr/>
          </p:nvSpPr>
          <p:spPr>
            <a:xfrm>
              <a:off x="907161" y="5599271"/>
              <a:ext cx="6195431"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Yüksek duyarlılık otomatik olarak 'en iyi model' anlamına gelmez;</a:t>
              </a:r>
            </a:p>
          </p:txBody>
        </p:sp>
        <p:sp>
          <p:nvSpPr>
            <p:cNvPr id="44" name="TextBox 44"/>
            <p:cNvSpPr txBox="1"/>
            <p:nvPr/>
          </p:nvSpPr>
          <p:spPr>
            <a:xfrm>
              <a:off x="907161" y="5827871"/>
              <a:ext cx="3703874"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kesinlik de birlikte değerlendirilmelidir.</a:t>
              </a:r>
            </a:p>
          </p:txBody>
        </p:sp>
      </p:grpSp>
      <p:sp>
        <p:nvSpPr>
          <p:cNvPr id="46" name="TextBox 4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 / 25</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9969824" cy="557403"/>
            <a:chOff x="595122" y="282892"/>
            <a:chExt cx="9969824" cy="557403"/>
          </a:xfrm>
        </p:grpSpPr>
        <p:sp>
          <p:nvSpPr>
            <p:cNvPr id="4" name="TextBox 4"/>
            <p:cNvSpPr txBox="1"/>
            <p:nvPr/>
          </p:nvSpPr>
          <p:spPr>
            <a:xfrm>
              <a:off x="595122" y="282892"/>
              <a:ext cx="996982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Uçtan uca mini uygulama: ChurnModelDegerlendirici</a:t>
              </a:r>
            </a:p>
          </p:txBody>
        </p:sp>
      </p:grpSp>
      <p:grpSp>
        <p:nvGrpSpPr>
          <p:cNvPr id="17" name="class-card"/>
          <p:cNvGrpSpPr/>
          <p:nvPr/>
        </p:nvGrpSpPr>
        <p:grpSpPr>
          <a:xfrm>
            <a:off x="609600" y="1238250"/>
            <a:ext cx="4000500" cy="4000500"/>
            <a:chOff x="609600" y="1238250"/>
            <a:chExt cx="4000500" cy="4000500"/>
          </a:xfrm>
        </p:grpSpPr>
        <p:sp>
          <p:nvSpPr>
            <p:cNvPr id="6" name="Rectangle 6"/>
            <p:cNvSpPr/>
            <p:nvPr/>
          </p:nvSpPr>
          <p:spPr>
            <a:xfrm>
              <a:off x="609600" y="1238250"/>
              <a:ext cx="4000500" cy="4000500"/>
            </a:xfrm>
            <a:prstGeom prst="roundRect">
              <a:avLst>
                <a:gd name="adj" fmla="val 2381"/>
              </a:avLst>
            </a:prstGeom>
            <a:solidFill>
              <a:srgbClr val="12355B"/>
            </a:solidFill>
            <a:ln>
              <a:noFill/>
            </a:ln>
          </p:spPr>
        </p:sp>
        <p:sp>
          <p:nvSpPr>
            <p:cNvPr id="7" name="TextBox 7"/>
            <p:cNvSpPr txBox="1"/>
            <p:nvPr/>
          </p:nvSpPr>
          <p:spPr>
            <a:xfrm>
              <a:off x="906399" y="1468279"/>
              <a:ext cx="2748717"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ChurnModelDegerlendirici</a:t>
              </a:r>
            </a:p>
          </p:txBody>
        </p:sp>
        <p:sp>
          <p:nvSpPr>
            <p:cNvPr id="8" name="Line 8"/>
            <p:cNvSpPr/>
            <p:nvPr/>
          </p:nvSpPr>
          <p:spPr>
            <a:xfrm>
              <a:off x="914400" y="1828800"/>
              <a:ext cx="3390900" cy="9525"/>
            </a:xfrm>
            <a:custGeom>
              <a:avLst/>
              <a:gdLst/>
              <a:ahLst/>
              <a:cxnLst/>
              <a:rect l="l" t="t" r="r" b="b"/>
              <a:pathLst>
                <a:path w="3390900" h="9525">
                  <a:moveTo>
                    <a:pt x="0" y="0"/>
                  </a:moveTo>
                  <a:lnTo>
                    <a:pt x="3390900" y="0"/>
                  </a:lnTo>
                </a:path>
              </a:pathLst>
            </a:custGeom>
            <a:noFill/>
            <a:ln w="19050">
              <a:solidFill>
                <a:srgbClr val="00A6A6"/>
              </a:solidFill>
            </a:ln>
          </p:spPr>
        </p:sp>
        <p:sp>
          <p:nvSpPr>
            <p:cNvPr id="9" name="TextBox 9"/>
            <p:cNvSpPr txBox="1"/>
            <p:nvPr/>
          </p:nvSpPr>
          <p:spPr>
            <a:xfrm>
              <a:off x="907542" y="2025968"/>
              <a:ext cx="1864147"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karmasiklikMatrisi()</a:t>
              </a:r>
            </a:p>
          </p:txBody>
        </p:sp>
        <p:sp>
          <p:nvSpPr>
            <p:cNvPr id="10" name="TextBox 10"/>
            <p:cNvSpPr txBox="1"/>
            <p:nvPr/>
          </p:nvSpPr>
          <p:spPr>
            <a:xfrm>
              <a:off x="907542" y="2387918"/>
              <a:ext cx="1743282"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precisionRecallF1()</a:t>
              </a:r>
            </a:p>
          </p:txBody>
        </p:sp>
        <p:sp>
          <p:nvSpPr>
            <p:cNvPr id="11" name="TextBox 11"/>
            <p:cNvSpPr txBox="1"/>
            <p:nvPr/>
          </p:nvSpPr>
          <p:spPr>
            <a:xfrm>
              <a:off x="907542" y="2749868"/>
              <a:ext cx="1027414"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rocPrAuc()</a:t>
              </a:r>
            </a:p>
          </p:txBody>
        </p:sp>
        <p:sp>
          <p:nvSpPr>
            <p:cNvPr id="12" name="TextBox 12"/>
            <p:cNvSpPr txBox="1"/>
            <p:nvPr/>
          </p:nvSpPr>
          <p:spPr>
            <a:xfrm>
              <a:off x="907542" y="3111818"/>
              <a:ext cx="1248585"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enIyiEsikBul()</a:t>
              </a:r>
            </a:p>
          </p:txBody>
        </p:sp>
        <p:sp>
          <p:nvSpPr>
            <p:cNvPr id="13" name="TextBox 13"/>
            <p:cNvSpPr txBox="1"/>
            <p:nvPr/>
          </p:nvSpPr>
          <p:spPr>
            <a:xfrm>
              <a:off x="907542" y="3473768"/>
              <a:ext cx="1473942"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caprazDogrula()</a:t>
              </a:r>
            </a:p>
          </p:txBody>
        </p:sp>
        <p:sp>
          <p:nvSpPr>
            <p:cNvPr id="14" name="TextBox 14"/>
            <p:cNvSpPr txBox="1"/>
            <p:nvPr/>
          </p:nvSpPr>
          <p:spPr>
            <a:xfrm>
              <a:off x="907542" y="3835718"/>
              <a:ext cx="1274154"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raporYazdir()</a:t>
              </a:r>
            </a:p>
          </p:txBody>
        </p:sp>
        <p:sp>
          <p:nvSpPr>
            <p:cNvPr id="15" name="Rectangle 15"/>
            <p:cNvSpPr/>
            <p:nvPr/>
          </p:nvSpPr>
          <p:spPr>
            <a:xfrm>
              <a:off x="914400" y="4248150"/>
              <a:ext cx="3390900" cy="762000"/>
            </a:xfrm>
            <a:prstGeom prst="roundRect">
              <a:avLst>
                <a:gd name="adj" fmla="val 7500"/>
              </a:avLst>
            </a:prstGeom>
            <a:solidFill>
              <a:srgbClr val="0E2A47"/>
            </a:solidFill>
            <a:ln>
              <a:noFill/>
            </a:ln>
          </p:spPr>
        </p:sp>
        <p:sp>
          <p:nvSpPr>
            <p:cNvPr id="16" name="TextBox 16"/>
            <p:cNvSpPr txBox="1"/>
            <p:nvPr/>
          </p:nvSpPr>
          <p:spPr>
            <a:xfrm>
              <a:off x="1061085" y="4374356"/>
              <a:ext cx="2081022" cy="639128"/>
            </a:xfrm>
            <a:prstGeom prst="rect">
              <a:avLst/>
            </a:prstGeom>
            <a:noFill/>
            <a:ln>
              <a:noFill/>
            </a:ln>
          </p:spPr>
          <p:txBody>
            <a:bodyPr wrap="none" lIns="0" tIns="0" rIns="0" bIns="0" anchor="t" anchorCtr="0">
              <a:spAutoFit/>
            </a:bodyPr>
            <a:lstStyle/>
            <a:p>
              <a:pPr algn="l">
                <a:lnSpc>
                  <a:spcPts val="1650"/>
                </a:lnSpc>
              </a:pPr>
              <a:r>
                <a:rPr lang="tr-TR" sz="1120" dirty="0">
                  <a:solidFill>
                    <a:srgbClr val="EAF4F6"/>
                  </a:solidFill>
                  <a:latin typeface="+mn-lt"/>
                  <a:ea typeface="+mn-ea"/>
                  <a:cs typeface="+mn-cs"/>
                </a:rPr>
                <a:t>Tüm ölçütleri tek bir sınıfta</a:t>
              </a:r>
              <a:br/>
              <a:r>
                <a:rPr lang="tr-TR" sz="1120" dirty="0">
                  <a:solidFill>
                    <a:srgbClr val="EAF4F6"/>
                  </a:solidFill>
                  <a:latin typeface="+mn-lt"/>
                  <a:ea typeface="+mn-ea"/>
                  <a:cs typeface="+mn-cs"/>
                </a:rPr>
                <a:t>toplayan yeniden kullanılabilir</a:t>
              </a:r>
              <a:br/>
              <a:r>
                <a:rPr lang="tr-TR" sz="1120" dirty="0">
                  <a:solidFill>
                    <a:srgbClr val="EAF4F6"/>
                  </a:solidFill>
                  <a:latin typeface="+mn-lt"/>
                  <a:ea typeface="+mn-ea"/>
                  <a:cs typeface="+mn-cs"/>
                </a:rPr>
                <a:t>bir değerlendirici.</a:t>
              </a:r>
            </a:p>
          </p:txBody>
        </p:sp>
      </p:grpSp>
      <p:grpSp>
        <p:nvGrpSpPr>
          <p:cNvPr id="22" name="dashboard-1"/>
          <p:cNvGrpSpPr/>
          <p:nvPr/>
        </p:nvGrpSpPr>
        <p:grpSpPr>
          <a:xfrm>
            <a:off x="4800600" y="1238250"/>
            <a:ext cx="1590675" cy="1857375"/>
            <a:chOff x="4800600" y="1238250"/>
            <a:chExt cx="1590675" cy="1857375"/>
          </a:xfrm>
        </p:grpSpPr>
        <p:sp>
          <p:nvSpPr>
            <p:cNvPr id="18" name="Rectangle 18"/>
            <p:cNvSpPr/>
            <p:nvPr/>
          </p:nvSpPr>
          <p:spPr>
            <a:xfrm>
              <a:off x="4800600" y="1238250"/>
              <a:ext cx="1590675" cy="1857375"/>
            </a:xfrm>
            <a:prstGeom prst="roundRect">
              <a:avLst>
                <a:gd name="adj" fmla="val 4790"/>
              </a:avLst>
            </a:prstGeom>
            <a:solidFill>
              <a:srgbClr val="FFFFFF"/>
            </a:solidFill>
            <a:ln w="14288">
              <a:solidFill>
                <a:srgbClr val="2E86AB"/>
              </a:solidFill>
            </a:ln>
          </p:spPr>
        </p:sp>
        <p:sp>
          <p:nvSpPr>
            <p:cNvPr id="19" name="TextBox 19"/>
            <p:cNvSpPr txBox="1"/>
            <p:nvPr/>
          </p:nvSpPr>
          <p:spPr>
            <a:xfrm>
              <a:off x="4985385" y="1440656"/>
              <a:ext cx="565650"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Kesinlik</a:t>
              </a:r>
            </a:p>
          </p:txBody>
        </p:sp>
        <p:sp>
          <p:nvSpPr>
            <p:cNvPr id="20" name="TextBox 20"/>
            <p:cNvSpPr txBox="1"/>
            <p:nvPr/>
          </p:nvSpPr>
          <p:spPr>
            <a:xfrm>
              <a:off x="4978146" y="1782128"/>
              <a:ext cx="1017132" cy="498729"/>
            </a:xfrm>
            <a:prstGeom prst="rect">
              <a:avLst/>
            </a:prstGeom>
            <a:noFill/>
            <a:ln>
              <a:noFill/>
            </a:ln>
          </p:spPr>
          <p:txBody>
            <a:bodyPr wrap="none" lIns="0" tIns="0" rIns="0" bIns="0" anchor="t" anchorCtr="0">
              <a:spAutoFit/>
            </a:bodyPr>
            <a:lstStyle/>
            <a:p>
              <a:pPr algn="l"/>
              <a:r>
                <a:rPr lang="tr-TR" sz="2550" b="1" dirty="0">
                  <a:solidFill>
                    <a:srgbClr val="12355B"/>
                  </a:solidFill>
                  <a:latin typeface="+mn-lt"/>
                  <a:ea typeface="+mn-ea"/>
                  <a:cs typeface="+mn-cs"/>
                </a:rPr>
                <a:t>0,701</a:t>
              </a:r>
            </a:p>
          </p:txBody>
        </p:sp>
        <p:sp>
          <p:nvSpPr>
            <p:cNvPr id="21" name="TextBox 21"/>
            <p:cNvSpPr txBox="1"/>
            <p:nvPr/>
          </p:nvSpPr>
          <p:spPr>
            <a:xfrm>
              <a:off x="4985766" y="2744152"/>
              <a:ext cx="1002325"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Eşik = 0,50'de</a:t>
              </a:r>
            </a:p>
          </p:txBody>
        </p:sp>
      </p:grpSp>
      <p:grpSp>
        <p:nvGrpSpPr>
          <p:cNvPr id="27" name="dashboard-2"/>
          <p:cNvGrpSpPr/>
          <p:nvPr/>
        </p:nvGrpSpPr>
        <p:grpSpPr>
          <a:xfrm>
            <a:off x="6524625" y="1238250"/>
            <a:ext cx="1590675" cy="1857375"/>
            <a:chOff x="6524625" y="1238250"/>
            <a:chExt cx="1590675" cy="1857375"/>
          </a:xfrm>
        </p:grpSpPr>
        <p:sp>
          <p:nvSpPr>
            <p:cNvPr id="23" name="Rectangle 23"/>
            <p:cNvSpPr/>
            <p:nvPr/>
          </p:nvSpPr>
          <p:spPr>
            <a:xfrm>
              <a:off x="6524625" y="1238250"/>
              <a:ext cx="1590675" cy="1857375"/>
            </a:xfrm>
            <a:prstGeom prst="roundRect">
              <a:avLst>
                <a:gd name="adj" fmla="val 4790"/>
              </a:avLst>
            </a:prstGeom>
            <a:solidFill>
              <a:srgbClr val="FFFFFF"/>
            </a:solidFill>
            <a:ln w="14288">
              <a:solidFill>
                <a:srgbClr val="2E86AB"/>
              </a:solidFill>
            </a:ln>
          </p:spPr>
        </p:sp>
        <p:sp>
          <p:nvSpPr>
            <p:cNvPr id="24" name="TextBox 24"/>
            <p:cNvSpPr txBox="1"/>
            <p:nvPr/>
          </p:nvSpPr>
          <p:spPr>
            <a:xfrm>
              <a:off x="6709410" y="1440656"/>
              <a:ext cx="769569"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Duyarlılık</a:t>
              </a:r>
            </a:p>
          </p:txBody>
        </p:sp>
        <p:sp>
          <p:nvSpPr>
            <p:cNvPr id="25" name="TextBox 25"/>
            <p:cNvSpPr txBox="1"/>
            <p:nvPr/>
          </p:nvSpPr>
          <p:spPr>
            <a:xfrm>
              <a:off x="6702171" y="1782128"/>
              <a:ext cx="1017132" cy="498729"/>
            </a:xfrm>
            <a:prstGeom prst="rect">
              <a:avLst/>
            </a:prstGeom>
            <a:noFill/>
            <a:ln>
              <a:noFill/>
            </a:ln>
          </p:spPr>
          <p:txBody>
            <a:bodyPr wrap="none" lIns="0" tIns="0" rIns="0" bIns="0" anchor="t" anchorCtr="0">
              <a:spAutoFit/>
            </a:bodyPr>
            <a:lstStyle/>
            <a:p>
              <a:pPr algn="l"/>
              <a:r>
                <a:rPr lang="tr-TR" sz="2550" b="1" dirty="0">
                  <a:solidFill>
                    <a:srgbClr val="12355B"/>
                  </a:solidFill>
                  <a:latin typeface="+mn-lt"/>
                  <a:ea typeface="+mn-ea"/>
                  <a:cs typeface="+mn-cs"/>
                </a:rPr>
                <a:t>0,906</a:t>
              </a:r>
            </a:p>
          </p:txBody>
        </p:sp>
        <p:sp>
          <p:nvSpPr>
            <p:cNvPr id="26" name="TextBox 26"/>
            <p:cNvSpPr txBox="1"/>
            <p:nvPr/>
          </p:nvSpPr>
          <p:spPr>
            <a:xfrm>
              <a:off x="6709791" y="2744152"/>
              <a:ext cx="1002325"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Eşik = 0,50'de</a:t>
              </a:r>
            </a:p>
          </p:txBody>
        </p:sp>
      </p:grpSp>
      <p:grpSp>
        <p:nvGrpSpPr>
          <p:cNvPr id="32" name="dashboard-3"/>
          <p:cNvGrpSpPr/>
          <p:nvPr/>
        </p:nvGrpSpPr>
        <p:grpSpPr>
          <a:xfrm>
            <a:off x="8248650" y="1238250"/>
            <a:ext cx="1590675" cy="1857375"/>
            <a:chOff x="8248650" y="1238250"/>
            <a:chExt cx="1590675" cy="1857375"/>
          </a:xfrm>
        </p:grpSpPr>
        <p:sp>
          <p:nvSpPr>
            <p:cNvPr id="28" name="Rectangle 28"/>
            <p:cNvSpPr/>
            <p:nvPr/>
          </p:nvSpPr>
          <p:spPr>
            <a:xfrm>
              <a:off x="8248650" y="1238250"/>
              <a:ext cx="1590675" cy="1857375"/>
            </a:xfrm>
            <a:prstGeom prst="roundRect">
              <a:avLst>
                <a:gd name="adj" fmla="val 4790"/>
              </a:avLst>
            </a:prstGeom>
            <a:solidFill>
              <a:srgbClr val="EAF4F6"/>
            </a:solidFill>
            <a:ln w="14288">
              <a:solidFill>
                <a:srgbClr val="00A6A6"/>
              </a:solidFill>
            </a:ln>
          </p:spPr>
        </p:sp>
        <p:sp>
          <p:nvSpPr>
            <p:cNvPr id="29" name="TextBox 29"/>
            <p:cNvSpPr txBox="1"/>
            <p:nvPr/>
          </p:nvSpPr>
          <p:spPr>
            <a:xfrm>
              <a:off x="8433435" y="1440656"/>
              <a:ext cx="605054"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F1-Skor</a:t>
              </a:r>
            </a:p>
          </p:txBody>
        </p:sp>
        <p:sp>
          <p:nvSpPr>
            <p:cNvPr id="30" name="TextBox 30"/>
            <p:cNvSpPr txBox="1"/>
            <p:nvPr/>
          </p:nvSpPr>
          <p:spPr>
            <a:xfrm>
              <a:off x="8426196" y="1782128"/>
              <a:ext cx="1017132" cy="498729"/>
            </a:xfrm>
            <a:prstGeom prst="rect">
              <a:avLst/>
            </a:prstGeom>
            <a:noFill/>
            <a:ln>
              <a:noFill/>
            </a:ln>
          </p:spPr>
          <p:txBody>
            <a:bodyPr wrap="none" lIns="0" tIns="0" rIns="0" bIns="0" anchor="t" anchorCtr="0">
              <a:spAutoFit/>
            </a:bodyPr>
            <a:lstStyle/>
            <a:p>
              <a:pPr algn="l"/>
              <a:r>
                <a:rPr lang="tr-TR" sz="2550" b="1" dirty="0">
                  <a:solidFill>
                    <a:srgbClr val="12355B"/>
                  </a:solidFill>
                  <a:latin typeface="+mn-lt"/>
                  <a:ea typeface="+mn-ea"/>
                  <a:cs typeface="+mn-cs"/>
                </a:rPr>
                <a:t>0,790</a:t>
              </a:r>
            </a:p>
          </p:txBody>
        </p:sp>
        <p:sp>
          <p:nvSpPr>
            <p:cNvPr id="31" name="TextBox 31"/>
            <p:cNvSpPr txBox="1"/>
            <p:nvPr/>
          </p:nvSpPr>
          <p:spPr>
            <a:xfrm>
              <a:off x="8433816" y="2744152"/>
              <a:ext cx="1002325"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Eşik = 0,50'de</a:t>
              </a:r>
            </a:p>
          </p:txBody>
        </p:sp>
      </p:grpSp>
      <p:grpSp>
        <p:nvGrpSpPr>
          <p:cNvPr id="36" name="dashboard-4"/>
          <p:cNvGrpSpPr/>
          <p:nvPr/>
        </p:nvGrpSpPr>
        <p:grpSpPr>
          <a:xfrm>
            <a:off x="9972675" y="1238250"/>
            <a:ext cx="1590675" cy="1857375"/>
            <a:chOff x="9972675" y="1238250"/>
            <a:chExt cx="1590675" cy="1857375"/>
          </a:xfrm>
        </p:grpSpPr>
        <p:sp>
          <p:nvSpPr>
            <p:cNvPr id="33" name="Rectangle 33"/>
            <p:cNvSpPr/>
            <p:nvPr/>
          </p:nvSpPr>
          <p:spPr>
            <a:xfrm>
              <a:off x="9972675" y="1238250"/>
              <a:ext cx="1590675" cy="1857375"/>
            </a:xfrm>
            <a:prstGeom prst="roundRect">
              <a:avLst>
                <a:gd name="adj" fmla="val 4790"/>
              </a:avLst>
            </a:prstGeom>
            <a:solidFill>
              <a:srgbClr val="FFFFFF"/>
            </a:solidFill>
            <a:ln w="14288">
              <a:solidFill>
                <a:srgbClr val="2E86AB"/>
              </a:solidFill>
            </a:ln>
          </p:spPr>
        </p:sp>
        <p:sp>
          <p:nvSpPr>
            <p:cNvPr id="34" name="TextBox 34"/>
            <p:cNvSpPr txBox="1"/>
            <p:nvPr/>
          </p:nvSpPr>
          <p:spPr>
            <a:xfrm>
              <a:off x="10157460" y="1440656"/>
              <a:ext cx="656631"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ROC-AUC</a:t>
              </a:r>
            </a:p>
          </p:txBody>
        </p:sp>
        <p:sp>
          <p:nvSpPr>
            <p:cNvPr id="35" name="TextBox 35"/>
            <p:cNvSpPr txBox="1"/>
            <p:nvPr/>
          </p:nvSpPr>
          <p:spPr>
            <a:xfrm>
              <a:off x="10150221" y="1782128"/>
              <a:ext cx="1017132" cy="498729"/>
            </a:xfrm>
            <a:prstGeom prst="rect">
              <a:avLst/>
            </a:prstGeom>
            <a:noFill/>
            <a:ln>
              <a:noFill/>
            </a:ln>
          </p:spPr>
          <p:txBody>
            <a:bodyPr wrap="none" lIns="0" tIns="0" rIns="0" bIns="0" anchor="t" anchorCtr="0">
              <a:spAutoFit/>
            </a:bodyPr>
            <a:lstStyle/>
            <a:p>
              <a:pPr algn="l"/>
              <a:r>
                <a:rPr lang="tr-TR" sz="2550" b="1" dirty="0">
                  <a:solidFill>
                    <a:srgbClr val="12355B"/>
                  </a:solidFill>
                  <a:latin typeface="+mn-lt"/>
                  <a:ea typeface="+mn-ea"/>
                  <a:cs typeface="+mn-cs"/>
                </a:rPr>
                <a:t>0,978</a:t>
              </a:r>
            </a:p>
          </p:txBody>
        </p:sp>
      </p:grpSp>
      <p:grpSp>
        <p:nvGrpSpPr>
          <p:cNvPr id="40" name="dashboard-5"/>
          <p:cNvGrpSpPr/>
          <p:nvPr/>
        </p:nvGrpSpPr>
        <p:grpSpPr>
          <a:xfrm>
            <a:off x="4800600" y="3228975"/>
            <a:ext cx="1590675" cy="1857375"/>
            <a:chOff x="4800600" y="3228975"/>
            <a:chExt cx="1590675" cy="1857375"/>
          </a:xfrm>
        </p:grpSpPr>
        <p:sp>
          <p:nvSpPr>
            <p:cNvPr id="37" name="Rectangle 37"/>
            <p:cNvSpPr/>
            <p:nvPr/>
          </p:nvSpPr>
          <p:spPr>
            <a:xfrm>
              <a:off x="4800600" y="3228975"/>
              <a:ext cx="1590675" cy="1857375"/>
            </a:xfrm>
            <a:prstGeom prst="roundRect">
              <a:avLst>
                <a:gd name="adj" fmla="val 4790"/>
              </a:avLst>
            </a:prstGeom>
            <a:solidFill>
              <a:srgbClr val="FFFFFF"/>
            </a:solidFill>
            <a:ln w="14288">
              <a:solidFill>
                <a:srgbClr val="2E86AB"/>
              </a:solidFill>
            </a:ln>
          </p:spPr>
        </p:sp>
        <p:sp>
          <p:nvSpPr>
            <p:cNvPr id="38" name="TextBox 38"/>
            <p:cNvSpPr txBox="1"/>
            <p:nvPr/>
          </p:nvSpPr>
          <p:spPr>
            <a:xfrm>
              <a:off x="4985385" y="3431381"/>
              <a:ext cx="537149"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PR-AUC</a:t>
              </a:r>
            </a:p>
          </p:txBody>
        </p:sp>
        <p:sp>
          <p:nvSpPr>
            <p:cNvPr id="39" name="TextBox 39"/>
            <p:cNvSpPr txBox="1"/>
            <p:nvPr/>
          </p:nvSpPr>
          <p:spPr>
            <a:xfrm>
              <a:off x="4978146" y="3772852"/>
              <a:ext cx="1017132" cy="498729"/>
            </a:xfrm>
            <a:prstGeom prst="rect">
              <a:avLst/>
            </a:prstGeom>
            <a:noFill/>
            <a:ln>
              <a:noFill/>
            </a:ln>
          </p:spPr>
          <p:txBody>
            <a:bodyPr wrap="none" lIns="0" tIns="0" rIns="0" bIns="0" anchor="t" anchorCtr="0">
              <a:spAutoFit/>
            </a:bodyPr>
            <a:lstStyle/>
            <a:p>
              <a:pPr algn="l"/>
              <a:r>
                <a:rPr lang="tr-TR" sz="2550" b="1" dirty="0">
                  <a:solidFill>
                    <a:srgbClr val="12355B"/>
                  </a:solidFill>
                  <a:latin typeface="+mn-lt"/>
                  <a:ea typeface="+mn-ea"/>
                  <a:cs typeface="+mn-cs"/>
                </a:rPr>
                <a:t>0,918</a:t>
              </a:r>
            </a:p>
          </p:txBody>
        </p:sp>
      </p:grpSp>
      <p:grpSp>
        <p:nvGrpSpPr>
          <p:cNvPr id="45" name="dashboard-6"/>
          <p:cNvGrpSpPr/>
          <p:nvPr/>
        </p:nvGrpSpPr>
        <p:grpSpPr>
          <a:xfrm>
            <a:off x="6524625" y="3228975"/>
            <a:ext cx="1590675" cy="1857375"/>
            <a:chOff x="6524625" y="3228975"/>
            <a:chExt cx="1590675" cy="1857375"/>
          </a:xfrm>
        </p:grpSpPr>
        <p:sp>
          <p:nvSpPr>
            <p:cNvPr id="41" name="Rectangle 41"/>
            <p:cNvSpPr/>
            <p:nvPr/>
          </p:nvSpPr>
          <p:spPr>
            <a:xfrm>
              <a:off x="6524625" y="3228975"/>
              <a:ext cx="1590675" cy="1857375"/>
            </a:xfrm>
            <a:prstGeom prst="roundRect">
              <a:avLst>
                <a:gd name="adj" fmla="val 4790"/>
              </a:avLst>
            </a:prstGeom>
            <a:solidFill>
              <a:srgbClr val="EAF4F6"/>
            </a:solidFill>
            <a:ln w="14288">
              <a:solidFill>
                <a:srgbClr val="00A6A6"/>
              </a:solidFill>
            </a:ln>
          </p:spPr>
        </p:sp>
        <p:sp>
          <p:nvSpPr>
            <p:cNvPr id="42" name="TextBox 42"/>
            <p:cNvSpPr txBox="1"/>
            <p:nvPr/>
          </p:nvSpPr>
          <p:spPr>
            <a:xfrm>
              <a:off x="6709410" y="3431381"/>
              <a:ext cx="739699"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En iyi eşik</a:t>
              </a:r>
            </a:p>
          </p:txBody>
        </p:sp>
        <p:sp>
          <p:nvSpPr>
            <p:cNvPr id="43" name="TextBox 43"/>
            <p:cNvSpPr txBox="1"/>
            <p:nvPr/>
          </p:nvSpPr>
          <p:spPr>
            <a:xfrm>
              <a:off x="6703695" y="3805238"/>
              <a:ext cx="722547" cy="440055"/>
            </a:xfrm>
            <a:prstGeom prst="rect">
              <a:avLst/>
            </a:prstGeom>
            <a:noFill/>
            <a:ln>
              <a:noFill/>
            </a:ln>
          </p:spPr>
          <p:txBody>
            <a:bodyPr wrap="none" lIns="0" tIns="0" rIns="0" bIns="0" anchor="t" anchorCtr="0">
              <a:spAutoFit/>
            </a:bodyPr>
            <a:lstStyle/>
            <a:p>
              <a:pPr algn="l"/>
              <a:r>
                <a:rPr lang="tr-TR" sz="2250" b="1" dirty="0">
                  <a:solidFill>
                    <a:srgbClr val="12355B"/>
                  </a:solidFill>
                  <a:latin typeface="+mn-lt"/>
                  <a:ea typeface="+mn-ea"/>
                  <a:cs typeface="+mn-cs"/>
                </a:rPr>
                <a:t>0,75</a:t>
              </a:r>
            </a:p>
          </p:txBody>
        </p:sp>
        <p:sp>
          <p:nvSpPr>
            <p:cNvPr id="44" name="TextBox 44"/>
            <p:cNvSpPr txBox="1"/>
            <p:nvPr/>
          </p:nvSpPr>
          <p:spPr>
            <a:xfrm>
              <a:off x="6709791" y="4649152"/>
              <a:ext cx="757428"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F1 = 0,848</a:t>
              </a:r>
            </a:p>
          </p:txBody>
        </p:sp>
      </p:grpSp>
      <p:grpSp>
        <p:nvGrpSpPr>
          <p:cNvPr id="50" name="dashboard-7"/>
          <p:cNvGrpSpPr/>
          <p:nvPr/>
        </p:nvGrpSpPr>
        <p:grpSpPr>
          <a:xfrm>
            <a:off x="8248650" y="3228975"/>
            <a:ext cx="1590675" cy="1857375"/>
            <a:chOff x="8248650" y="3228975"/>
            <a:chExt cx="1590675" cy="1857375"/>
          </a:xfrm>
        </p:grpSpPr>
        <p:sp>
          <p:nvSpPr>
            <p:cNvPr id="46" name="Rectangle 46"/>
            <p:cNvSpPr/>
            <p:nvPr/>
          </p:nvSpPr>
          <p:spPr>
            <a:xfrm>
              <a:off x="8248650" y="3228975"/>
              <a:ext cx="1590675" cy="1857375"/>
            </a:xfrm>
            <a:prstGeom prst="roundRect">
              <a:avLst>
                <a:gd name="adj" fmla="val 4790"/>
              </a:avLst>
            </a:prstGeom>
            <a:solidFill>
              <a:srgbClr val="FFFFFF"/>
            </a:solidFill>
            <a:ln w="14288">
              <a:solidFill>
                <a:srgbClr val="2E86AB"/>
              </a:solidFill>
            </a:ln>
          </p:spPr>
        </p:sp>
        <p:sp>
          <p:nvSpPr>
            <p:cNvPr id="47" name="TextBox 47"/>
            <p:cNvSpPr txBox="1"/>
            <p:nvPr/>
          </p:nvSpPr>
          <p:spPr>
            <a:xfrm>
              <a:off x="8433435" y="3431381"/>
              <a:ext cx="701365"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K-Fold F1</a:t>
              </a:r>
            </a:p>
          </p:txBody>
        </p:sp>
        <p:sp>
          <p:nvSpPr>
            <p:cNvPr id="48" name="TextBox 48"/>
            <p:cNvSpPr txBox="1"/>
            <p:nvPr/>
          </p:nvSpPr>
          <p:spPr>
            <a:xfrm>
              <a:off x="8427720" y="3805238"/>
              <a:ext cx="897469" cy="440055"/>
            </a:xfrm>
            <a:prstGeom prst="rect">
              <a:avLst/>
            </a:prstGeom>
            <a:noFill/>
            <a:ln>
              <a:noFill/>
            </a:ln>
          </p:spPr>
          <p:txBody>
            <a:bodyPr wrap="none" lIns="0" tIns="0" rIns="0" bIns="0" anchor="t" anchorCtr="0">
              <a:spAutoFit/>
            </a:bodyPr>
            <a:lstStyle/>
            <a:p>
              <a:pPr algn="l"/>
              <a:r>
                <a:rPr lang="tr-TR" sz="2250" b="1" dirty="0">
                  <a:solidFill>
                    <a:srgbClr val="12355B"/>
                  </a:solidFill>
                  <a:latin typeface="+mn-lt"/>
                  <a:ea typeface="+mn-ea"/>
                  <a:cs typeface="+mn-cs"/>
                </a:rPr>
                <a:t>0,775</a:t>
              </a:r>
            </a:p>
          </p:txBody>
        </p:sp>
        <p:sp>
          <p:nvSpPr>
            <p:cNvPr id="49" name="TextBox 49"/>
            <p:cNvSpPr txBox="1"/>
            <p:nvPr/>
          </p:nvSpPr>
          <p:spPr>
            <a:xfrm>
              <a:off x="8433816" y="4649152"/>
              <a:ext cx="795166"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std = 0,021</a:t>
              </a:r>
            </a:p>
          </p:txBody>
        </p:sp>
      </p:grpSp>
      <p:grpSp>
        <p:nvGrpSpPr>
          <p:cNvPr id="55" name="dashboard-8"/>
          <p:cNvGrpSpPr/>
          <p:nvPr/>
        </p:nvGrpSpPr>
        <p:grpSpPr>
          <a:xfrm>
            <a:off x="9972675" y="3228975"/>
            <a:ext cx="1590675" cy="1857375"/>
            <a:chOff x="9972675" y="3228975"/>
            <a:chExt cx="1590675" cy="1857375"/>
          </a:xfrm>
        </p:grpSpPr>
        <p:sp>
          <p:nvSpPr>
            <p:cNvPr id="51" name="Rectangle 51"/>
            <p:cNvSpPr/>
            <p:nvPr/>
          </p:nvSpPr>
          <p:spPr>
            <a:xfrm>
              <a:off x="9972675" y="3228975"/>
              <a:ext cx="1590675" cy="1857375"/>
            </a:xfrm>
            <a:prstGeom prst="roundRect">
              <a:avLst>
                <a:gd name="adj" fmla="val 4790"/>
              </a:avLst>
            </a:prstGeom>
            <a:solidFill>
              <a:srgbClr val="FFFFFF"/>
            </a:solidFill>
            <a:ln w="14288">
              <a:solidFill>
                <a:srgbClr val="B8CBD3"/>
              </a:solidFill>
            </a:ln>
          </p:spPr>
        </p:sp>
        <p:sp>
          <p:nvSpPr>
            <p:cNvPr id="52" name="TextBox 52"/>
            <p:cNvSpPr txBox="1"/>
            <p:nvPr/>
          </p:nvSpPr>
          <p:spPr>
            <a:xfrm>
              <a:off x="10157460" y="3431381"/>
              <a:ext cx="864870"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52616B"/>
                  </a:solidFill>
                  <a:latin typeface="+mn-lt"/>
                  <a:ea typeface="+mn-ea"/>
                  <a:cs typeface="+mn-cs"/>
                </a:rPr>
                <a:t>Karmaşıklık</a:t>
              </a:r>
              <a:br/>
              <a:r>
                <a:rPr lang="tr-TR" sz="1120" dirty="0">
                  <a:solidFill>
                    <a:srgbClr val="52616B"/>
                  </a:solidFill>
                  <a:latin typeface="+mn-lt"/>
                  <a:ea typeface="+mn-ea"/>
                  <a:cs typeface="+mn-cs"/>
                </a:rPr>
                <a:t>matrisi</a:t>
              </a:r>
            </a:p>
          </p:txBody>
        </p:sp>
        <p:sp>
          <p:nvSpPr>
            <p:cNvPr id="53" name="TextBox 53"/>
            <p:cNvSpPr txBox="1"/>
            <p:nvPr/>
          </p:nvSpPr>
          <p:spPr>
            <a:xfrm>
              <a:off x="10156698" y="3910489"/>
              <a:ext cx="776986" cy="477964"/>
            </a:xfrm>
            <a:prstGeom prst="rect">
              <a:avLst/>
            </a:prstGeom>
            <a:noFill/>
            <a:ln>
              <a:noFill/>
            </a:ln>
          </p:spPr>
          <p:txBody>
            <a:bodyPr wrap="none" lIns="0" tIns="0" rIns="0" bIns="0" anchor="t" anchorCtr="0">
              <a:spAutoFit/>
            </a:bodyPr>
            <a:lstStyle/>
            <a:p>
              <a:pPr algn="l">
                <a:lnSpc>
                  <a:spcPts val="1800"/>
                </a:lnSpc>
              </a:pPr>
              <a:r>
                <a:rPr lang="tr-TR" sz="1280" dirty="0">
                  <a:solidFill>
                    <a:srgbClr val="172B3A"/>
                  </a:solidFill>
                  <a:latin typeface="+mn-lt"/>
                  <a:ea typeface="+mn-ea"/>
                  <a:cs typeface="+mn-cs"/>
                </a:rPr>
                <a:t>[603, 41]</a:t>
              </a:r>
              <a:br/>
              <a:r>
                <a:rPr lang="tr-TR" sz="1280" dirty="0">
                  <a:solidFill>
                    <a:srgbClr val="172B3A"/>
                  </a:solidFill>
                  <a:latin typeface="+mn-lt"/>
                  <a:ea typeface="+mn-ea"/>
                  <a:cs typeface="+mn-cs"/>
                </a:rPr>
                <a:t>[10, 96]</a:t>
              </a:r>
            </a:p>
          </p:txBody>
        </p:sp>
        <p:sp>
          <p:nvSpPr>
            <p:cNvPr id="54" name="TextBox 54"/>
            <p:cNvSpPr txBox="1"/>
            <p:nvPr/>
          </p:nvSpPr>
          <p:spPr>
            <a:xfrm>
              <a:off x="10158412" y="4665345"/>
              <a:ext cx="942442" cy="176212"/>
            </a:xfrm>
            <a:prstGeom prst="rect">
              <a:avLst/>
            </a:prstGeom>
            <a:noFill/>
            <a:ln>
              <a:noFill/>
            </a:ln>
          </p:spPr>
          <p:txBody>
            <a:bodyPr wrap="none" lIns="0" tIns="0" rIns="0" bIns="0" anchor="t" anchorCtr="0">
              <a:spAutoFit/>
            </a:bodyPr>
            <a:lstStyle/>
            <a:p>
              <a:pPr algn="l"/>
              <a:r>
                <a:rPr lang="tr-TR" sz="900" dirty="0">
                  <a:solidFill>
                    <a:srgbClr val="52616B"/>
                  </a:solidFill>
                  <a:latin typeface="+mn-lt"/>
                  <a:ea typeface="+mn-ea"/>
                  <a:cs typeface="+mn-cs"/>
                </a:rPr>
                <a:t>gerçek / tahmin</a:t>
              </a:r>
            </a:p>
          </p:txBody>
        </p:sp>
      </p:grpSp>
      <p:sp>
        <p:nvSpPr>
          <p:cNvPr id="56" name="TextBox 5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 / 25</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10099193" cy="668845"/>
            <a:chOff x="609600" y="171450"/>
            <a:chExt cx="1009919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940882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Gerçek dünya tuzakları: hatalı kod ve düzeltme</a:t>
              </a:r>
            </a:p>
          </p:txBody>
        </p:sp>
      </p:grpSp>
      <p:grpSp>
        <p:nvGrpSpPr>
          <p:cNvPr id="13" name="setup-note"/>
          <p:cNvGrpSpPr/>
          <p:nvPr/>
        </p:nvGrpSpPr>
        <p:grpSpPr>
          <a:xfrm>
            <a:off x="602742" y="1149668"/>
            <a:ext cx="5335792" cy="264033"/>
            <a:chOff x="602742" y="1149668"/>
            <a:chExt cx="5335792" cy="264033"/>
          </a:xfrm>
        </p:grpSpPr>
        <p:sp>
          <p:nvSpPr>
            <p:cNvPr id="12" name="TextBox 12"/>
            <p:cNvSpPr txBox="1"/>
            <p:nvPr/>
          </p:nvSpPr>
          <p:spPr>
            <a:xfrm>
              <a:off x="602742" y="1149668"/>
              <a:ext cx="5335792"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modelDegerlendir() fonksiyonunda bulunan 6 mantık hatası:</a:t>
              </a:r>
            </a:p>
          </p:txBody>
        </p:sp>
      </p:grpSp>
      <p:grpSp>
        <p:nvGrpSpPr>
          <p:cNvPr id="18" name="error-1"/>
          <p:cNvGrpSpPr/>
          <p:nvPr/>
        </p:nvGrpSpPr>
        <p:grpSpPr>
          <a:xfrm>
            <a:off x="666750" y="1466850"/>
            <a:ext cx="5386390" cy="511778"/>
            <a:chOff x="666750" y="1466850"/>
            <a:chExt cx="5386390" cy="511778"/>
          </a:xfrm>
        </p:grpSpPr>
        <p:sp>
          <p:nvSpPr>
            <p:cNvPr id="14" name="Ellipse 14"/>
            <p:cNvSpPr/>
            <p:nvPr/>
          </p:nvSpPr>
          <p:spPr>
            <a:xfrm>
              <a:off x="666750" y="1466850"/>
              <a:ext cx="266700" cy="266700"/>
            </a:xfrm>
            <a:prstGeom prst="ellipse">
              <a:avLst/>
            </a:prstGeom>
            <a:solidFill>
              <a:srgbClr val="12355B"/>
            </a:solidFill>
            <a:ln>
              <a:noFill/>
            </a:ln>
          </p:spPr>
        </p:sp>
        <p:sp>
          <p:nvSpPr>
            <p:cNvPr id="15" name="TextBox 15"/>
            <p:cNvSpPr txBox="1"/>
            <p:nvPr/>
          </p:nvSpPr>
          <p:spPr>
            <a:xfrm>
              <a:off x="753951" y="1534478"/>
              <a:ext cx="92298"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1</a:t>
              </a:r>
            </a:p>
          </p:txBody>
        </p:sp>
        <p:sp>
          <p:nvSpPr>
            <p:cNvPr id="16" name="TextBox 16"/>
            <p:cNvSpPr txBox="1"/>
            <p:nvPr/>
          </p:nvSpPr>
          <p:spPr>
            <a:xfrm>
              <a:off x="1060323" y="1500664"/>
              <a:ext cx="4992817"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confusion_matrix(y_pred, y_true) — argüman sırası ters.</a:t>
              </a:r>
            </a:p>
          </p:txBody>
        </p:sp>
        <p:sp>
          <p:nvSpPr>
            <p:cNvPr id="17" name="TextBox 17"/>
            <p:cNvSpPr txBox="1"/>
            <p:nvPr/>
          </p:nvSpPr>
          <p:spPr>
            <a:xfrm>
              <a:off x="1060323" y="1729264"/>
              <a:ext cx="4109189"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 Doğrusu: confusion_matrix(y_true, y_pred)</a:t>
              </a:r>
            </a:p>
          </p:txBody>
        </p:sp>
      </p:grpSp>
      <p:grpSp>
        <p:nvGrpSpPr>
          <p:cNvPr id="23" name="error-2"/>
          <p:cNvGrpSpPr/>
          <p:nvPr/>
        </p:nvGrpSpPr>
        <p:grpSpPr>
          <a:xfrm>
            <a:off x="666750" y="2190750"/>
            <a:ext cx="4875635" cy="511778"/>
            <a:chOff x="666750" y="2190750"/>
            <a:chExt cx="4875635" cy="511778"/>
          </a:xfrm>
        </p:grpSpPr>
        <p:sp>
          <p:nvSpPr>
            <p:cNvPr id="19" name="Ellipse 19"/>
            <p:cNvSpPr/>
            <p:nvPr/>
          </p:nvSpPr>
          <p:spPr>
            <a:xfrm>
              <a:off x="666750" y="2190750"/>
              <a:ext cx="266700" cy="266700"/>
            </a:xfrm>
            <a:prstGeom prst="ellipse">
              <a:avLst/>
            </a:prstGeom>
            <a:solidFill>
              <a:srgbClr val="12355B"/>
            </a:solidFill>
            <a:ln>
              <a:noFill/>
            </a:ln>
          </p:spPr>
        </p:sp>
        <p:sp>
          <p:nvSpPr>
            <p:cNvPr id="20" name="TextBox 20"/>
            <p:cNvSpPr txBox="1"/>
            <p:nvPr/>
          </p:nvSpPr>
          <p:spPr>
            <a:xfrm>
              <a:off x="753951" y="2258378"/>
              <a:ext cx="92298"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2</a:t>
              </a:r>
            </a:p>
          </p:txBody>
        </p:sp>
        <p:sp>
          <p:nvSpPr>
            <p:cNvPr id="21" name="TextBox 21"/>
            <p:cNvSpPr txBox="1"/>
            <p:nvPr/>
          </p:nvSpPr>
          <p:spPr>
            <a:xfrm>
              <a:off x="1060323" y="2224564"/>
              <a:ext cx="4482062"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ROC-AUC için predict() kullanılmış (sabit %50 eşik).</a:t>
              </a:r>
            </a:p>
          </p:txBody>
        </p:sp>
        <p:sp>
          <p:nvSpPr>
            <p:cNvPr id="22" name="TextBox 22"/>
            <p:cNvSpPr txBox="1"/>
            <p:nvPr/>
          </p:nvSpPr>
          <p:spPr>
            <a:xfrm>
              <a:off x="1060323" y="2453164"/>
              <a:ext cx="4127548"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 Doğrusu: predict_proba()[:, 1] kullanılmalı</a:t>
              </a:r>
            </a:p>
          </p:txBody>
        </p:sp>
      </p:grpSp>
      <p:grpSp>
        <p:nvGrpSpPr>
          <p:cNvPr id="28" name="error-3"/>
          <p:cNvGrpSpPr/>
          <p:nvPr/>
        </p:nvGrpSpPr>
        <p:grpSpPr>
          <a:xfrm>
            <a:off x="666750" y="2914650"/>
            <a:ext cx="5015637" cy="511778"/>
            <a:chOff x="666750" y="2914650"/>
            <a:chExt cx="5015637" cy="511778"/>
          </a:xfrm>
        </p:grpSpPr>
        <p:sp>
          <p:nvSpPr>
            <p:cNvPr id="24" name="Ellipse 24"/>
            <p:cNvSpPr/>
            <p:nvPr/>
          </p:nvSpPr>
          <p:spPr>
            <a:xfrm>
              <a:off x="666750" y="2914650"/>
              <a:ext cx="266700" cy="266700"/>
            </a:xfrm>
            <a:prstGeom prst="ellipse">
              <a:avLst/>
            </a:prstGeom>
            <a:solidFill>
              <a:srgbClr val="12355B"/>
            </a:solidFill>
            <a:ln>
              <a:noFill/>
            </a:ln>
          </p:spPr>
        </p:sp>
        <p:sp>
          <p:nvSpPr>
            <p:cNvPr id="25" name="TextBox 25"/>
            <p:cNvSpPr txBox="1"/>
            <p:nvPr/>
          </p:nvSpPr>
          <p:spPr>
            <a:xfrm>
              <a:off x="753951" y="2982278"/>
              <a:ext cx="92298"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3</a:t>
              </a:r>
            </a:p>
          </p:txBody>
        </p:sp>
        <p:sp>
          <p:nvSpPr>
            <p:cNvPr id="26" name="TextBox 26"/>
            <p:cNvSpPr txBox="1"/>
            <p:nvPr/>
          </p:nvSpPr>
          <p:spPr>
            <a:xfrm>
              <a:off x="1060323" y="2948464"/>
              <a:ext cx="4622064"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Sıradan KFold kullanılmış — dengesiz veride yanıltıcı.</a:t>
              </a:r>
            </a:p>
          </p:txBody>
        </p:sp>
        <p:sp>
          <p:nvSpPr>
            <p:cNvPr id="27" name="TextBox 27"/>
            <p:cNvSpPr txBox="1"/>
            <p:nvPr/>
          </p:nvSpPr>
          <p:spPr>
            <a:xfrm>
              <a:off x="1060323" y="3177064"/>
              <a:ext cx="3500823"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 Doğrusu: StratifiedKFold kullanılmalı</a:t>
              </a:r>
            </a:p>
          </p:txBody>
        </p:sp>
      </p:grpSp>
      <p:grpSp>
        <p:nvGrpSpPr>
          <p:cNvPr id="33" name="error-4"/>
          <p:cNvGrpSpPr/>
          <p:nvPr/>
        </p:nvGrpSpPr>
        <p:grpSpPr>
          <a:xfrm>
            <a:off x="666750" y="3638550"/>
            <a:ext cx="5817174" cy="511778"/>
            <a:chOff x="666750" y="3638550"/>
            <a:chExt cx="5817174" cy="511778"/>
          </a:xfrm>
        </p:grpSpPr>
        <p:sp>
          <p:nvSpPr>
            <p:cNvPr id="29" name="Ellipse 29"/>
            <p:cNvSpPr/>
            <p:nvPr/>
          </p:nvSpPr>
          <p:spPr>
            <a:xfrm>
              <a:off x="666750" y="3638550"/>
              <a:ext cx="266700" cy="266700"/>
            </a:xfrm>
            <a:prstGeom prst="ellipse">
              <a:avLst/>
            </a:prstGeom>
            <a:solidFill>
              <a:srgbClr val="12355B"/>
            </a:solidFill>
            <a:ln>
              <a:noFill/>
            </a:ln>
          </p:spPr>
        </p:sp>
        <p:sp>
          <p:nvSpPr>
            <p:cNvPr id="30" name="TextBox 30"/>
            <p:cNvSpPr txBox="1"/>
            <p:nvPr/>
          </p:nvSpPr>
          <p:spPr>
            <a:xfrm>
              <a:off x="753951" y="3706178"/>
              <a:ext cx="92298"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4</a:t>
              </a:r>
            </a:p>
          </p:txBody>
        </p:sp>
        <p:sp>
          <p:nvSpPr>
            <p:cNvPr id="31" name="TextBox 31"/>
            <p:cNvSpPr txBox="1"/>
            <p:nvPr/>
          </p:nvSpPr>
          <p:spPr>
            <a:xfrm>
              <a:off x="1060323" y="3672364"/>
              <a:ext cx="5423601"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scoring parametresi belirtilmemiş, varsayılan accuracy kalmış.</a:t>
              </a:r>
            </a:p>
          </p:txBody>
        </p:sp>
        <p:sp>
          <p:nvSpPr>
            <p:cNvPr id="32" name="TextBox 32"/>
            <p:cNvSpPr txBox="1"/>
            <p:nvPr/>
          </p:nvSpPr>
          <p:spPr>
            <a:xfrm>
              <a:off x="1060323" y="3900964"/>
              <a:ext cx="5149212"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 Doğrusu: scoring iş hedefine uygun seçilmeli (örn. 'f1')</a:t>
              </a:r>
            </a:p>
          </p:txBody>
        </p:sp>
      </p:grpSp>
      <p:grpSp>
        <p:nvGrpSpPr>
          <p:cNvPr id="38" name="error-5"/>
          <p:cNvGrpSpPr/>
          <p:nvPr/>
        </p:nvGrpSpPr>
        <p:grpSpPr>
          <a:xfrm>
            <a:off x="666750" y="4362450"/>
            <a:ext cx="6089898" cy="511778"/>
            <a:chOff x="666750" y="4362450"/>
            <a:chExt cx="6089898" cy="511778"/>
          </a:xfrm>
        </p:grpSpPr>
        <p:sp>
          <p:nvSpPr>
            <p:cNvPr id="34" name="Ellipse 34"/>
            <p:cNvSpPr/>
            <p:nvPr/>
          </p:nvSpPr>
          <p:spPr>
            <a:xfrm>
              <a:off x="666750" y="4362450"/>
              <a:ext cx="266700" cy="266700"/>
            </a:xfrm>
            <a:prstGeom prst="ellipse">
              <a:avLst/>
            </a:prstGeom>
            <a:solidFill>
              <a:srgbClr val="12355B"/>
            </a:solidFill>
            <a:ln>
              <a:noFill/>
            </a:ln>
          </p:spPr>
        </p:sp>
        <p:sp>
          <p:nvSpPr>
            <p:cNvPr id="35" name="TextBox 35"/>
            <p:cNvSpPr txBox="1"/>
            <p:nvPr/>
          </p:nvSpPr>
          <p:spPr>
            <a:xfrm>
              <a:off x="753951" y="4430078"/>
              <a:ext cx="92298"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5</a:t>
              </a:r>
            </a:p>
          </p:txBody>
        </p:sp>
        <p:sp>
          <p:nvSpPr>
            <p:cNvPr id="36" name="TextBox 36"/>
            <p:cNvSpPr txBox="1"/>
            <p:nvPr/>
          </p:nvSpPr>
          <p:spPr>
            <a:xfrm>
              <a:off x="1060323" y="4396264"/>
              <a:ext cx="5696325"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Fonksiyon yalnızca accuracy döndürüyor, diğer metrikler atılıyor.</a:t>
              </a:r>
            </a:p>
          </p:txBody>
        </p:sp>
        <p:sp>
          <p:nvSpPr>
            <p:cNvPr id="37" name="TextBox 37"/>
            <p:cNvSpPr txBox="1"/>
            <p:nvPr/>
          </p:nvSpPr>
          <p:spPr>
            <a:xfrm>
              <a:off x="1060323" y="4624864"/>
              <a:ext cx="4976387"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 Doğrusu: tüm metrikleri içeren bir sözlük döndürülmeli</a:t>
              </a:r>
            </a:p>
          </p:txBody>
        </p:sp>
      </p:grpSp>
      <p:grpSp>
        <p:nvGrpSpPr>
          <p:cNvPr id="43" name="error-6"/>
          <p:cNvGrpSpPr/>
          <p:nvPr/>
        </p:nvGrpSpPr>
        <p:grpSpPr>
          <a:xfrm>
            <a:off x="666750" y="5086350"/>
            <a:ext cx="4999122" cy="511778"/>
            <a:chOff x="666750" y="5086350"/>
            <a:chExt cx="4999122" cy="511778"/>
          </a:xfrm>
        </p:grpSpPr>
        <p:sp>
          <p:nvSpPr>
            <p:cNvPr id="39" name="Ellipse 39"/>
            <p:cNvSpPr/>
            <p:nvPr/>
          </p:nvSpPr>
          <p:spPr>
            <a:xfrm>
              <a:off x="666750" y="5086350"/>
              <a:ext cx="266700" cy="266700"/>
            </a:xfrm>
            <a:prstGeom prst="ellipse">
              <a:avLst/>
            </a:prstGeom>
            <a:solidFill>
              <a:srgbClr val="12355B"/>
            </a:solidFill>
            <a:ln>
              <a:noFill/>
            </a:ln>
          </p:spPr>
        </p:sp>
        <p:sp>
          <p:nvSpPr>
            <p:cNvPr id="40" name="TextBox 40"/>
            <p:cNvSpPr txBox="1"/>
            <p:nvPr/>
          </p:nvSpPr>
          <p:spPr>
            <a:xfrm>
              <a:off x="753951" y="5153978"/>
              <a:ext cx="92298"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6</a:t>
              </a:r>
            </a:p>
          </p:txBody>
        </p:sp>
        <p:sp>
          <p:nvSpPr>
            <p:cNvPr id="41" name="TextBox 41"/>
            <p:cNvSpPr txBox="1"/>
            <p:nvPr/>
          </p:nvSpPr>
          <p:spPr>
            <a:xfrm>
              <a:off x="1060323" y="5120164"/>
              <a:ext cx="4128307"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katSkorlari hesaplanmış ama hiç raporlanmamış.</a:t>
              </a:r>
            </a:p>
          </p:txBody>
        </p:sp>
        <p:sp>
          <p:nvSpPr>
            <p:cNvPr id="42" name="TextBox 42"/>
            <p:cNvSpPr txBox="1"/>
            <p:nvPr/>
          </p:nvSpPr>
          <p:spPr>
            <a:xfrm>
              <a:off x="1060323" y="5348764"/>
              <a:ext cx="4605549"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 Doğrusu: kat bazlı skorlar da rapora dahil edilmeli</a:t>
              </a:r>
            </a:p>
          </p:txBody>
        </p:sp>
      </p:grpSp>
      <p:grpSp>
        <p:nvGrpSpPr>
          <p:cNvPr id="45" name="closing-note"/>
          <p:cNvGrpSpPr/>
          <p:nvPr/>
        </p:nvGrpSpPr>
        <p:grpSpPr>
          <a:xfrm>
            <a:off x="602742" y="5893118"/>
            <a:ext cx="6598506" cy="264033"/>
            <a:chOff x="602742" y="5893118"/>
            <a:chExt cx="6598506" cy="264033"/>
          </a:xfrm>
        </p:grpSpPr>
        <p:sp>
          <p:nvSpPr>
            <p:cNvPr id="44" name="TextBox 44"/>
            <p:cNvSpPr txBox="1"/>
            <p:nvPr/>
          </p:nvSpPr>
          <p:spPr>
            <a:xfrm>
              <a:off x="602742" y="5893118"/>
              <a:ext cx="6598506"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Bu altı hata birlikte, modelin gerçek performansını tamamen gizleyebilir.</a:t>
              </a:r>
            </a:p>
          </p:txBody>
        </p:sp>
      </p:grpSp>
      <p:sp>
        <p:nvSpPr>
          <p:cNvPr id="46" name="TextBox 4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 / 25</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527853" cy="668845"/>
            <a:chOff x="609600" y="171450"/>
            <a:chExt cx="852785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83748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yanılgıları ve anti-pattern'lar</a:t>
              </a:r>
            </a:p>
          </p:txBody>
        </p:sp>
      </p:grpSp>
      <p:grpSp>
        <p:nvGrpSpPr>
          <p:cNvPr id="16" name="table-header"/>
          <p:cNvGrpSpPr/>
          <p:nvPr/>
        </p:nvGrpSpPr>
        <p:grpSpPr>
          <a:xfrm>
            <a:off x="609600" y="1219200"/>
            <a:ext cx="10972800" cy="533400"/>
            <a:chOff x="609600" y="1219200"/>
            <a:chExt cx="10972800" cy="533400"/>
          </a:xfrm>
        </p:grpSpPr>
        <p:sp>
          <p:nvSpPr>
            <p:cNvPr id="12" name="Rectangle 12"/>
            <p:cNvSpPr/>
            <p:nvPr/>
          </p:nvSpPr>
          <p:spPr>
            <a:xfrm>
              <a:off x="609600" y="1219200"/>
              <a:ext cx="10972800" cy="533400"/>
            </a:xfrm>
            <a:prstGeom prst="rect">
              <a:avLst/>
            </a:prstGeom>
            <a:solidFill>
              <a:srgbClr val="12355B"/>
            </a:solidFill>
            <a:ln>
              <a:noFill/>
            </a:ln>
          </p:spPr>
        </p:sp>
        <p:sp>
          <p:nvSpPr>
            <p:cNvPr id="13" name="TextBox 13"/>
            <p:cNvSpPr txBox="1"/>
            <p:nvPr/>
          </p:nvSpPr>
          <p:spPr>
            <a:xfrm>
              <a:off x="907923" y="1424464"/>
              <a:ext cx="653375" cy="249364"/>
            </a:xfrm>
            <a:prstGeom prst="rect">
              <a:avLst/>
            </a:prstGeom>
            <a:noFill/>
            <a:ln>
              <a:noFill/>
            </a:ln>
          </p:spPr>
          <p:txBody>
            <a:bodyPr wrap="none" lIns="0" tIns="0" rIns="0" bIns="0" anchor="t" anchorCtr="0">
              <a:spAutoFit/>
            </a:bodyPr>
            <a:lstStyle/>
            <a:p>
              <a:pPr algn="l"/>
              <a:r>
                <a:rPr lang="tr-TR" sz="1280" b="1" dirty="0">
                  <a:solidFill>
                    <a:srgbClr val="FFFFFF"/>
                  </a:solidFill>
                  <a:latin typeface="+mn-lt"/>
                  <a:ea typeface="+mn-ea"/>
                  <a:cs typeface="+mn-cs"/>
                </a:rPr>
                <a:t>YANILGI</a:t>
              </a:r>
            </a:p>
          </p:txBody>
        </p:sp>
        <p:sp>
          <p:nvSpPr>
            <p:cNvPr id="14" name="TextBox 14"/>
            <p:cNvSpPr txBox="1"/>
            <p:nvPr/>
          </p:nvSpPr>
          <p:spPr>
            <a:xfrm>
              <a:off x="4565523" y="1424464"/>
              <a:ext cx="1332031" cy="249364"/>
            </a:xfrm>
            <a:prstGeom prst="rect">
              <a:avLst/>
            </a:prstGeom>
            <a:noFill/>
            <a:ln>
              <a:noFill/>
            </a:ln>
          </p:spPr>
          <p:txBody>
            <a:bodyPr wrap="none" lIns="0" tIns="0" rIns="0" bIns="0" anchor="t" anchorCtr="0">
              <a:spAutoFit/>
            </a:bodyPr>
            <a:lstStyle/>
            <a:p>
              <a:pPr algn="l"/>
              <a:r>
                <a:rPr lang="tr-TR" sz="1280" b="1" dirty="0">
                  <a:solidFill>
                    <a:srgbClr val="FFFFFF"/>
                  </a:solidFill>
                  <a:latin typeface="+mn-lt"/>
                  <a:ea typeface="+mn-ea"/>
                  <a:cs typeface="+mn-cs"/>
                </a:rPr>
                <a:t>TEKNİK GERÇEK</a:t>
              </a:r>
            </a:p>
          </p:txBody>
        </p:sp>
        <p:sp>
          <p:nvSpPr>
            <p:cNvPr id="15" name="TextBox 15"/>
            <p:cNvSpPr txBox="1"/>
            <p:nvPr/>
          </p:nvSpPr>
          <p:spPr>
            <a:xfrm>
              <a:off x="8223123" y="1424464"/>
              <a:ext cx="1465850" cy="249364"/>
            </a:xfrm>
            <a:prstGeom prst="rect">
              <a:avLst/>
            </a:prstGeom>
            <a:noFill/>
            <a:ln>
              <a:noFill/>
            </a:ln>
          </p:spPr>
          <p:txBody>
            <a:bodyPr wrap="none" lIns="0" tIns="0" rIns="0" bIns="0" anchor="t" anchorCtr="0">
              <a:spAutoFit/>
            </a:bodyPr>
            <a:lstStyle/>
            <a:p>
              <a:pPr algn="l"/>
              <a:r>
                <a:rPr lang="tr-TR" sz="1280" b="1" dirty="0">
                  <a:solidFill>
                    <a:srgbClr val="FFFFFF"/>
                  </a:solidFill>
                  <a:latin typeface="+mn-lt"/>
                  <a:ea typeface="+mn-ea"/>
                  <a:cs typeface="+mn-cs"/>
                </a:rPr>
                <a:t>DOĞRU YAKLAŞIM</a:t>
              </a:r>
            </a:p>
          </p:txBody>
        </p:sp>
      </p:grpSp>
      <p:grpSp>
        <p:nvGrpSpPr>
          <p:cNvPr id="22" name="table-row-1"/>
          <p:cNvGrpSpPr/>
          <p:nvPr/>
        </p:nvGrpSpPr>
        <p:grpSpPr>
          <a:xfrm>
            <a:off x="609600" y="1752600"/>
            <a:ext cx="10972800" cy="1419225"/>
            <a:chOff x="609600" y="1752600"/>
            <a:chExt cx="10972800" cy="1419225"/>
          </a:xfrm>
        </p:grpSpPr>
        <p:sp>
          <p:nvSpPr>
            <p:cNvPr id="17" name="Rectangle 17"/>
            <p:cNvSpPr/>
            <p:nvPr/>
          </p:nvSpPr>
          <p:spPr>
            <a:xfrm>
              <a:off x="609600" y="1752600"/>
              <a:ext cx="10972800" cy="1409700"/>
            </a:xfrm>
            <a:prstGeom prst="rect">
              <a:avLst/>
            </a:prstGeom>
            <a:solidFill>
              <a:srgbClr val="EAF4F6"/>
            </a:solidFill>
            <a:ln>
              <a:noFill/>
            </a:ln>
          </p:spPr>
        </p:sp>
        <p:sp>
          <p:nvSpPr>
            <p:cNvPr id="18" name="TextBox 18"/>
            <p:cNvSpPr txBox="1"/>
            <p:nvPr/>
          </p:nvSpPr>
          <p:spPr>
            <a:xfrm>
              <a:off x="907542" y="1930718"/>
              <a:ext cx="1479614" cy="4926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"Yüksek accuracy</a:t>
              </a:r>
              <a:br/>
              <a:r>
                <a:rPr lang="tr-TR" sz="1350" dirty="0">
                  <a:solidFill>
                    <a:srgbClr val="172B3A"/>
                  </a:solidFill>
                  <a:latin typeface="+mn-lt"/>
                  <a:ea typeface="+mn-ea"/>
                  <a:cs typeface="+mn-cs"/>
                </a:rPr>
                <a:t>= iyi model"</a:t>
              </a:r>
            </a:p>
          </p:txBody>
        </p:sp>
        <p:sp>
          <p:nvSpPr>
            <p:cNvPr id="19" name="TextBox 19"/>
            <p:cNvSpPr txBox="1"/>
            <p:nvPr/>
          </p:nvSpPr>
          <p:spPr>
            <a:xfrm>
              <a:off x="4565523" y="1938814"/>
              <a:ext cx="2565146" cy="706565"/>
            </a:xfrm>
            <a:prstGeom prst="rect">
              <a:avLst/>
            </a:prstGeom>
            <a:noFill/>
            <a:ln>
              <a:noFill/>
            </a:ln>
          </p:spPr>
          <p:txBody>
            <a:bodyPr wrap="none" lIns="0" tIns="0" rIns="0" bIns="0" anchor="t" anchorCtr="0">
              <a:spAutoFit/>
            </a:bodyPr>
            <a:lstStyle/>
            <a:p>
              <a:pPr algn="l">
                <a:lnSpc>
                  <a:spcPts val="1800"/>
                </a:lnSpc>
              </a:pPr>
              <a:r>
                <a:rPr lang="tr-TR" sz="1280" dirty="0">
                  <a:solidFill>
                    <a:srgbClr val="172B3A"/>
                  </a:solidFill>
                  <a:latin typeface="+mn-lt"/>
                  <a:ea typeface="+mn-ea"/>
                  <a:cs typeface="+mn-cs"/>
                </a:rPr>
                <a:t>Dengesiz veride DummyClassifier</a:t>
              </a:r>
              <a:br/>
              <a:r>
                <a:rPr lang="tr-TR" sz="1280" dirty="0">
                  <a:solidFill>
                    <a:srgbClr val="172B3A"/>
                  </a:solidFill>
                  <a:latin typeface="+mn-lt"/>
                  <a:ea typeface="+mn-ea"/>
                  <a:cs typeface="+mn-cs"/>
                </a:rPr>
                <a:t>bile %90'ın üzerinde accuracy</a:t>
              </a:r>
              <a:br/>
              <a:r>
                <a:rPr lang="tr-TR" sz="1280" dirty="0">
                  <a:solidFill>
                    <a:srgbClr val="172B3A"/>
                  </a:solidFill>
                  <a:latin typeface="+mn-lt"/>
                  <a:ea typeface="+mn-ea"/>
                  <a:cs typeface="+mn-cs"/>
                </a:rPr>
                <a:t>verebilir.</a:t>
              </a:r>
            </a:p>
          </p:txBody>
        </p:sp>
        <p:sp>
          <p:nvSpPr>
            <p:cNvPr id="20" name="TextBox 20"/>
            <p:cNvSpPr txBox="1"/>
            <p:nvPr/>
          </p:nvSpPr>
          <p:spPr>
            <a:xfrm>
              <a:off x="8223123" y="1938814"/>
              <a:ext cx="2556205" cy="706565"/>
            </a:xfrm>
            <a:prstGeom prst="rect">
              <a:avLst/>
            </a:prstGeom>
            <a:noFill/>
            <a:ln>
              <a:noFill/>
            </a:ln>
          </p:spPr>
          <p:txBody>
            <a:bodyPr wrap="none" lIns="0" tIns="0" rIns="0" bIns="0" anchor="t" anchorCtr="0">
              <a:spAutoFit/>
            </a:bodyPr>
            <a:lstStyle/>
            <a:p>
              <a:pPr algn="l">
                <a:lnSpc>
                  <a:spcPts val="1800"/>
                </a:lnSpc>
              </a:pPr>
              <a:r>
                <a:rPr lang="tr-TR" sz="1280" b="1" dirty="0">
                  <a:solidFill>
                    <a:srgbClr val="12355B"/>
                  </a:solidFill>
                  <a:latin typeface="+mn-lt"/>
                  <a:ea typeface="+mn-ea"/>
                  <a:cs typeface="+mn-cs"/>
                </a:rPr>
                <a:t>Karmaşıklık matrisi, kesinlik/</a:t>
              </a:r>
              <a:br/>
              <a:r>
                <a:rPr lang="tr-TR" sz="1280" b="1" dirty="0">
                  <a:solidFill>
                    <a:srgbClr val="12355B"/>
                  </a:solidFill>
                  <a:latin typeface="+mn-lt"/>
                  <a:ea typeface="+mn-ea"/>
                  <a:cs typeface="+mn-cs"/>
                </a:rPr>
                <a:t>duyarlılık ve PR-AUC birlikte</a:t>
              </a:r>
              <a:br/>
              <a:r>
                <a:rPr lang="tr-TR" sz="1280" b="1" dirty="0">
                  <a:solidFill>
                    <a:srgbClr val="12355B"/>
                  </a:solidFill>
                  <a:latin typeface="+mn-lt"/>
                  <a:ea typeface="+mn-ea"/>
                  <a:cs typeface="+mn-cs"/>
                </a:rPr>
                <a:t>incelenmeli.</a:t>
              </a:r>
            </a:p>
          </p:txBody>
        </p:sp>
        <p:sp>
          <p:nvSpPr>
            <p:cNvPr id="21" name="Line 21"/>
            <p:cNvSpPr/>
            <p:nvPr/>
          </p:nvSpPr>
          <p:spPr>
            <a:xfrm>
              <a:off x="609600" y="31623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8" name="table-row-2"/>
          <p:cNvGrpSpPr/>
          <p:nvPr/>
        </p:nvGrpSpPr>
        <p:grpSpPr>
          <a:xfrm>
            <a:off x="609600" y="3162300"/>
            <a:ext cx="10972800" cy="1419225"/>
            <a:chOff x="609600" y="3162300"/>
            <a:chExt cx="10972800" cy="1419225"/>
          </a:xfrm>
        </p:grpSpPr>
        <p:sp>
          <p:nvSpPr>
            <p:cNvPr id="23" name="Rectangle 23"/>
            <p:cNvSpPr/>
            <p:nvPr/>
          </p:nvSpPr>
          <p:spPr>
            <a:xfrm>
              <a:off x="609600" y="3162300"/>
              <a:ext cx="10972800" cy="1409700"/>
            </a:xfrm>
            <a:prstGeom prst="rect">
              <a:avLst/>
            </a:prstGeom>
            <a:solidFill>
              <a:srgbClr val="FFFFFF"/>
            </a:solidFill>
            <a:ln>
              <a:noFill/>
            </a:ln>
          </p:spPr>
        </p:sp>
        <p:sp>
          <p:nvSpPr>
            <p:cNvPr id="24" name="TextBox 24"/>
            <p:cNvSpPr txBox="1"/>
            <p:nvPr/>
          </p:nvSpPr>
          <p:spPr>
            <a:xfrm>
              <a:off x="907542" y="3340418"/>
              <a:ext cx="1882521" cy="4926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"ROC-AUC her zaman</a:t>
              </a:r>
              <a:br/>
              <a:r>
                <a:rPr lang="tr-TR" sz="1350" dirty="0">
                  <a:solidFill>
                    <a:srgbClr val="172B3A"/>
                  </a:solidFill>
                  <a:latin typeface="+mn-lt"/>
                  <a:ea typeface="+mn-ea"/>
                  <a:cs typeface="+mn-cs"/>
                </a:rPr>
                <a:t>güvenilir bir ölçüttür"</a:t>
              </a:r>
            </a:p>
          </p:txBody>
        </p:sp>
        <p:sp>
          <p:nvSpPr>
            <p:cNvPr id="25" name="TextBox 25"/>
            <p:cNvSpPr txBox="1"/>
            <p:nvPr/>
          </p:nvSpPr>
          <p:spPr>
            <a:xfrm>
              <a:off x="4565523" y="3348514"/>
              <a:ext cx="2435098" cy="706565"/>
            </a:xfrm>
            <a:prstGeom prst="rect">
              <a:avLst/>
            </a:prstGeom>
            <a:noFill/>
            <a:ln>
              <a:noFill/>
            </a:ln>
          </p:spPr>
          <p:txBody>
            <a:bodyPr wrap="none" lIns="0" tIns="0" rIns="0" bIns="0" anchor="t" anchorCtr="0">
              <a:spAutoFit/>
            </a:bodyPr>
            <a:lstStyle/>
            <a:p>
              <a:pPr algn="l">
                <a:lnSpc>
                  <a:spcPts val="1800"/>
                </a:lnSpc>
              </a:pPr>
              <a:r>
                <a:rPr lang="tr-TR" sz="1280" dirty="0">
                  <a:solidFill>
                    <a:srgbClr val="172B3A"/>
                  </a:solidFill>
                  <a:latin typeface="+mn-lt"/>
                  <a:ea typeface="+mn-ea"/>
                  <a:cs typeface="+mn-cs"/>
                </a:rPr>
                <a:t>Dengesiz sınıflarda çoğunluk</a:t>
              </a:r>
              <a:br/>
              <a:r>
                <a:rPr lang="tr-TR" sz="1280" dirty="0">
                  <a:solidFill>
                    <a:srgbClr val="172B3A"/>
                  </a:solidFill>
                  <a:latin typeface="+mn-lt"/>
                  <a:ea typeface="+mn-ea"/>
                  <a:cs typeface="+mn-cs"/>
                </a:rPr>
                <a:t>sınıf, ROC-AUC değerini yapay</a:t>
              </a:r>
              <a:br/>
              <a:r>
                <a:rPr lang="tr-TR" sz="1280" dirty="0">
                  <a:solidFill>
                    <a:srgbClr val="172B3A"/>
                  </a:solidFill>
                  <a:latin typeface="+mn-lt"/>
                  <a:ea typeface="+mn-ea"/>
                  <a:cs typeface="+mn-cs"/>
                </a:rPr>
                <a:t>olarak şişirebilir.</a:t>
              </a:r>
            </a:p>
          </p:txBody>
        </p:sp>
        <p:sp>
          <p:nvSpPr>
            <p:cNvPr id="26" name="TextBox 26"/>
            <p:cNvSpPr txBox="1"/>
            <p:nvPr/>
          </p:nvSpPr>
          <p:spPr>
            <a:xfrm>
              <a:off x="8223123" y="3348514"/>
              <a:ext cx="2607412" cy="477964"/>
            </a:xfrm>
            <a:prstGeom prst="rect">
              <a:avLst/>
            </a:prstGeom>
            <a:noFill/>
            <a:ln>
              <a:noFill/>
            </a:ln>
          </p:spPr>
          <p:txBody>
            <a:bodyPr wrap="none" lIns="0" tIns="0" rIns="0" bIns="0" anchor="t" anchorCtr="0">
              <a:spAutoFit/>
            </a:bodyPr>
            <a:lstStyle/>
            <a:p>
              <a:pPr algn="l">
                <a:lnSpc>
                  <a:spcPts val="1800"/>
                </a:lnSpc>
              </a:pPr>
              <a:r>
                <a:rPr lang="tr-TR" sz="1280" b="1" dirty="0">
                  <a:solidFill>
                    <a:srgbClr val="12355B"/>
                  </a:solidFill>
                  <a:latin typeface="+mn-lt"/>
                  <a:ea typeface="+mn-ea"/>
                  <a:cs typeface="+mn-cs"/>
                </a:rPr>
                <a:t>Azınlık sınıf önemliyse PR-AUC</a:t>
              </a:r>
              <a:br/>
              <a:r>
                <a:rPr lang="tr-TR" sz="1280" b="1" dirty="0">
                  <a:solidFill>
                    <a:srgbClr val="12355B"/>
                  </a:solidFill>
                  <a:latin typeface="+mn-lt"/>
                  <a:ea typeface="+mn-ea"/>
                  <a:cs typeface="+mn-cs"/>
                </a:rPr>
                <a:t>tercih edilmeli.</a:t>
              </a:r>
            </a:p>
          </p:txBody>
        </p:sp>
        <p:sp>
          <p:nvSpPr>
            <p:cNvPr id="27" name="Line 27"/>
            <p:cNvSpPr/>
            <p:nvPr/>
          </p:nvSpPr>
          <p:spPr>
            <a:xfrm>
              <a:off x="609600" y="45720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3" name="table-row-3"/>
          <p:cNvGrpSpPr/>
          <p:nvPr/>
        </p:nvGrpSpPr>
        <p:grpSpPr>
          <a:xfrm>
            <a:off x="609600" y="4572000"/>
            <a:ext cx="10972800" cy="1409700"/>
            <a:chOff x="609600" y="4572000"/>
            <a:chExt cx="10972800" cy="1409700"/>
          </a:xfrm>
        </p:grpSpPr>
        <p:sp>
          <p:nvSpPr>
            <p:cNvPr id="29" name="Rectangle 29"/>
            <p:cNvSpPr/>
            <p:nvPr/>
          </p:nvSpPr>
          <p:spPr>
            <a:xfrm>
              <a:off x="609600" y="4572000"/>
              <a:ext cx="10972800" cy="1409700"/>
            </a:xfrm>
            <a:prstGeom prst="rect">
              <a:avLst/>
            </a:prstGeom>
            <a:solidFill>
              <a:srgbClr val="EAF4F6"/>
            </a:solidFill>
            <a:ln>
              <a:noFill/>
            </a:ln>
          </p:spPr>
        </p:sp>
        <p:sp>
          <p:nvSpPr>
            <p:cNvPr id="30" name="TextBox 30"/>
            <p:cNvSpPr txBox="1"/>
            <p:nvPr/>
          </p:nvSpPr>
          <p:spPr>
            <a:xfrm>
              <a:off x="907542" y="4750118"/>
              <a:ext cx="1771078" cy="4926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"Tek bir train/test</a:t>
              </a:r>
              <a:br/>
              <a:r>
                <a:rPr lang="tr-TR" sz="1350" dirty="0">
                  <a:solidFill>
                    <a:srgbClr val="172B3A"/>
                  </a:solidFill>
                  <a:latin typeface="+mn-lt"/>
                  <a:ea typeface="+mn-ea"/>
                  <a:cs typeface="+mn-cs"/>
                </a:rPr>
                <a:t>bölünmesi yeterlidir"</a:t>
              </a:r>
            </a:p>
          </p:txBody>
        </p:sp>
        <p:sp>
          <p:nvSpPr>
            <p:cNvPr id="31" name="TextBox 31"/>
            <p:cNvSpPr txBox="1"/>
            <p:nvPr/>
          </p:nvSpPr>
          <p:spPr>
            <a:xfrm>
              <a:off x="4565523" y="4758214"/>
              <a:ext cx="2402586" cy="706565"/>
            </a:xfrm>
            <a:prstGeom prst="rect">
              <a:avLst/>
            </a:prstGeom>
            <a:noFill/>
            <a:ln>
              <a:noFill/>
            </a:ln>
          </p:spPr>
          <p:txBody>
            <a:bodyPr wrap="none" lIns="0" tIns="0" rIns="0" bIns="0" anchor="t" anchorCtr="0">
              <a:spAutoFit/>
            </a:bodyPr>
            <a:lstStyle/>
            <a:p>
              <a:pPr algn="l">
                <a:lnSpc>
                  <a:spcPts val="1800"/>
                </a:lnSpc>
              </a:pPr>
              <a:r>
                <a:rPr lang="tr-TR" sz="1280" dirty="0">
                  <a:solidFill>
                    <a:srgbClr val="172B3A"/>
                  </a:solidFill>
                  <a:latin typeface="+mn-lt"/>
                  <a:ea typeface="+mn-ea"/>
                  <a:cs typeface="+mn-cs"/>
                </a:rPr>
                <a:t>Sonuç, hangi satırların teste</a:t>
              </a:r>
              <a:br/>
              <a:r>
                <a:rPr lang="tr-TR" sz="1280" dirty="0">
                  <a:solidFill>
                    <a:srgbClr val="172B3A"/>
                  </a:solidFill>
                  <a:latin typeface="+mn-lt"/>
                  <a:ea typeface="+mn-ea"/>
                  <a:cs typeface="+mn-cs"/>
                </a:rPr>
                <a:t>düştüğüne göre şans eseri</a:t>
              </a:r>
              <a:br/>
              <a:r>
                <a:rPr lang="tr-TR" sz="1280" dirty="0">
                  <a:solidFill>
                    <a:srgbClr val="172B3A"/>
                  </a:solidFill>
                  <a:latin typeface="+mn-lt"/>
                  <a:ea typeface="+mn-ea"/>
                  <a:cs typeface="+mn-cs"/>
                </a:rPr>
                <a:t>değişebilir.</a:t>
              </a:r>
            </a:p>
          </p:txBody>
        </p:sp>
        <p:sp>
          <p:nvSpPr>
            <p:cNvPr id="32" name="TextBox 32"/>
            <p:cNvSpPr txBox="1"/>
            <p:nvPr/>
          </p:nvSpPr>
          <p:spPr>
            <a:xfrm>
              <a:off x="8223123" y="4758214"/>
              <a:ext cx="2743962" cy="477964"/>
            </a:xfrm>
            <a:prstGeom prst="rect">
              <a:avLst/>
            </a:prstGeom>
            <a:noFill/>
            <a:ln>
              <a:noFill/>
            </a:ln>
          </p:spPr>
          <p:txBody>
            <a:bodyPr wrap="none" lIns="0" tIns="0" rIns="0" bIns="0" anchor="t" anchorCtr="0">
              <a:spAutoFit/>
            </a:bodyPr>
            <a:lstStyle/>
            <a:p>
              <a:pPr algn="l">
                <a:lnSpc>
                  <a:spcPts val="1800"/>
                </a:lnSpc>
              </a:pPr>
              <a:r>
                <a:rPr lang="tr-TR" sz="1280" b="1" dirty="0">
                  <a:solidFill>
                    <a:srgbClr val="12355B"/>
                  </a:solidFill>
                  <a:latin typeface="+mn-lt"/>
                  <a:ea typeface="+mn-ea"/>
                  <a:cs typeface="+mn-cs"/>
                </a:rPr>
                <a:t>StratifiedKFold ile ortalama ve</a:t>
              </a:r>
              <a:br/>
              <a:r>
                <a:rPr lang="tr-TR" sz="1280" b="1" dirty="0">
                  <a:solidFill>
                    <a:srgbClr val="12355B"/>
                  </a:solidFill>
                  <a:latin typeface="+mn-lt"/>
                  <a:ea typeface="+mn-ea"/>
                  <a:cs typeface="+mn-cs"/>
                </a:rPr>
                <a:t>std sapma birlikte raporlanmalı.</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 / 25</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257174" cy="557403"/>
            <a:chOff x="595122" y="282892"/>
            <a:chExt cx="2257174" cy="557403"/>
          </a:xfrm>
        </p:grpSpPr>
        <p:sp>
          <p:nvSpPr>
            <p:cNvPr id="4" name="TextBox 4"/>
            <p:cNvSpPr txBox="1"/>
            <p:nvPr/>
          </p:nvSpPr>
          <p:spPr>
            <a:xfrm>
              <a:off x="595122" y="282892"/>
              <a:ext cx="22571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özeti</a:t>
              </a:r>
            </a:p>
          </p:txBody>
        </p:sp>
      </p:grpSp>
      <p:grpSp>
        <p:nvGrpSpPr>
          <p:cNvPr id="9" name="summary-card-1"/>
          <p:cNvGrpSpPr/>
          <p:nvPr/>
        </p:nvGrpSpPr>
        <p:grpSpPr>
          <a:xfrm>
            <a:off x="609600" y="1238250"/>
            <a:ext cx="3505200" cy="1619250"/>
            <a:chOff x="609600" y="1238250"/>
            <a:chExt cx="3505200" cy="1619250"/>
          </a:xfrm>
        </p:grpSpPr>
        <p:sp>
          <p:nvSpPr>
            <p:cNvPr id="6" name="Rectangle 6"/>
            <p:cNvSpPr/>
            <p:nvPr/>
          </p:nvSpPr>
          <p:spPr>
            <a:xfrm>
              <a:off x="609600" y="1238250"/>
              <a:ext cx="3505200" cy="1619250"/>
            </a:xfrm>
            <a:prstGeom prst="roundRect">
              <a:avLst>
                <a:gd name="adj" fmla="val 5882"/>
              </a:avLst>
            </a:prstGeom>
            <a:solidFill>
              <a:srgbClr val="FFFFFF"/>
            </a:solidFill>
            <a:ln w="14288">
              <a:solidFill>
                <a:srgbClr val="B8CBD3"/>
              </a:solidFill>
            </a:ln>
          </p:spPr>
        </p:sp>
        <p:sp>
          <p:nvSpPr>
            <p:cNvPr id="7" name="TextBox 7"/>
            <p:cNvSpPr txBox="1"/>
            <p:nvPr/>
          </p:nvSpPr>
          <p:spPr>
            <a:xfrm>
              <a:off x="830580" y="1400175"/>
              <a:ext cx="2110269"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Karmaşıklık matrisi</a:t>
              </a:r>
            </a:p>
          </p:txBody>
        </p:sp>
        <p:sp>
          <p:nvSpPr>
            <p:cNvPr id="8" name="TextBox 8"/>
            <p:cNvSpPr txBox="1"/>
            <p:nvPr/>
          </p:nvSpPr>
          <p:spPr>
            <a:xfrm>
              <a:off x="832104" y="1718310"/>
              <a:ext cx="19857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TP/TN/FP/FN, modelin her</a:t>
              </a:r>
              <a:br/>
              <a:r>
                <a:rPr lang="tr-TR" sz="1200" dirty="0">
                  <a:solidFill>
                    <a:srgbClr val="172B3A"/>
                  </a:solidFill>
                  <a:latin typeface="+mn-lt"/>
                  <a:ea typeface="+mn-ea"/>
                  <a:cs typeface="+mn-cs"/>
                </a:rPr>
                <a:t>tahmin hatasını ayrı ayrı</a:t>
              </a:r>
              <a:br/>
              <a:r>
                <a:rPr lang="tr-TR" sz="1200" dirty="0">
                  <a:solidFill>
                    <a:srgbClr val="172B3A"/>
                  </a:solidFill>
                  <a:latin typeface="+mn-lt"/>
                  <a:ea typeface="+mn-ea"/>
                  <a:cs typeface="+mn-cs"/>
                </a:rPr>
                <a:t>gösteren temel araçtır.</a:t>
              </a:r>
            </a:p>
          </p:txBody>
        </p:sp>
      </p:grpSp>
      <p:grpSp>
        <p:nvGrpSpPr>
          <p:cNvPr id="13" name="summary-card-2"/>
          <p:cNvGrpSpPr/>
          <p:nvPr/>
        </p:nvGrpSpPr>
        <p:grpSpPr>
          <a:xfrm>
            <a:off x="4343400" y="1238250"/>
            <a:ext cx="3505200" cy="1619250"/>
            <a:chOff x="4343400" y="1238250"/>
            <a:chExt cx="3505200" cy="1619250"/>
          </a:xfrm>
        </p:grpSpPr>
        <p:sp>
          <p:nvSpPr>
            <p:cNvPr id="10" name="Rectangle 10"/>
            <p:cNvSpPr/>
            <p:nvPr/>
          </p:nvSpPr>
          <p:spPr>
            <a:xfrm>
              <a:off x="4343400" y="1238250"/>
              <a:ext cx="3505200" cy="1619250"/>
            </a:xfrm>
            <a:prstGeom prst="roundRect">
              <a:avLst>
                <a:gd name="adj" fmla="val 5882"/>
              </a:avLst>
            </a:prstGeom>
            <a:solidFill>
              <a:srgbClr val="FFFFFF"/>
            </a:solidFill>
            <a:ln w="14288">
              <a:solidFill>
                <a:srgbClr val="B8CBD3"/>
              </a:solidFill>
            </a:ln>
          </p:spPr>
        </p:sp>
        <p:sp>
          <p:nvSpPr>
            <p:cNvPr id="11" name="TextBox 11"/>
            <p:cNvSpPr txBox="1"/>
            <p:nvPr/>
          </p:nvSpPr>
          <p:spPr>
            <a:xfrm>
              <a:off x="4564380" y="1400175"/>
              <a:ext cx="2068108"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Accuracy paradoksu</a:t>
              </a:r>
            </a:p>
          </p:txBody>
        </p:sp>
        <p:sp>
          <p:nvSpPr>
            <p:cNvPr id="12" name="TextBox 12"/>
            <p:cNvSpPr txBox="1"/>
            <p:nvPr/>
          </p:nvSpPr>
          <p:spPr>
            <a:xfrm>
              <a:off x="4565904" y="1718310"/>
              <a:ext cx="25725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Dengesiz veride yüksek</a:t>
              </a:r>
              <a:br/>
              <a:r>
                <a:rPr lang="tr-TR" sz="1200" dirty="0">
                  <a:solidFill>
                    <a:srgbClr val="172B3A"/>
                  </a:solidFill>
                  <a:latin typeface="+mn-lt"/>
                  <a:ea typeface="+mn-ea"/>
                  <a:cs typeface="+mn-cs"/>
                </a:rPr>
                <a:t>accuracy yanıltıcıdır; her zaman</a:t>
              </a:r>
              <a:br/>
              <a:r>
                <a:rPr lang="tr-TR" sz="1200" dirty="0">
                  <a:solidFill>
                    <a:srgbClr val="172B3A"/>
                  </a:solidFill>
                  <a:latin typeface="+mn-lt"/>
                  <a:ea typeface="+mn-ea"/>
                  <a:cs typeface="+mn-cs"/>
                </a:rPr>
                <a:t>bir taban çizgiyle karşılaştırın.</a:t>
              </a:r>
            </a:p>
          </p:txBody>
        </p:sp>
      </p:grpSp>
      <p:grpSp>
        <p:nvGrpSpPr>
          <p:cNvPr id="17" name="summary-card-3"/>
          <p:cNvGrpSpPr/>
          <p:nvPr/>
        </p:nvGrpSpPr>
        <p:grpSpPr>
          <a:xfrm>
            <a:off x="8077200" y="1238250"/>
            <a:ext cx="3505200" cy="1619250"/>
            <a:chOff x="8077200" y="1238250"/>
            <a:chExt cx="3505200" cy="1619250"/>
          </a:xfrm>
        </p:grpSpPr>
        <p:sp>
          <p:nvSpPr>
            <p:cNvPr id="14" name="Rectangle 14"/>
            <p:cNvSpPr/>
            <p:nvPr/>
          </p:nvSpPr>
          <p:spPr>
            <a:xfrm>
              <a:off x="8077200" y="1238250"/>
              <a:ext cx="3505200" cy="1619250"/>
            </a:xfrm>
            <a:prstGeom prst="roundRect">
              <a:avLst>
                <a:gd name="adj" fmla="val 5882"/>
              </a:avLst>
            </a:prstGeom>
            <a:solidFill>
              <a:srgbClr val="FFFFFF"/>
            </a:solidFill>
            <a:ln w="14288">
              <a:solidFill>
                <a:srgbClr val="B8CBD3"/>
              </a:solidFill>
            </a:ln>
          </p:spPr>
        </p:sp>
        <p:sp>
          <p:nvSpPr>
            <p:cNvPr id="15" name="TextBox 15"/>
            <p:cNvSpPr txBox="1"/>
            <p:nvPr/>
          </p:nvSpPr>
          <p:spPr>
            <a:xfrm>
              <a:off x="8298180" y="1400175"/>
              <a:ext cx="2457408"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Kesinlik, duyarlılık, F1</a:t>
              </a:r>
            </a:p>
          </p:txBody>
        </p:sp>
        <p:sp>
          <p:nvSpPr>
            <p:cNvPr id="16" name="TextBox 16"/>
            <p:cNvSpPr txBox="1"/>
            <p:nvPr/>
          </p:nvSpPr>
          <p:spPr>
            <a:xfrm>
              <a:off x="8299704" y="1718310"/>
              <a:ext cx="23972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Hangisinin öncelikli olduğu</a:t>
              </a:r>
              <a:br/>
              <a:r>
                <a:rPr lang="tr-TR" sz="1200" dirty="0">
                  <a:solidFill>
                    <a:srgbClr val="172B3A"/>
                  </a:solidFill>
                  <a:latin typeface="+mn-lt"/>
                  <a:ea typeface="+mn-ea"/>
                  <a:cs typeface="+mn-cs"/>
                </a:rPr>
                <a:t>iş maliyetine bağlıdır; F1 ikisini</a:t>
              </a:r>
              <a:br/>
              <a:r>
                <a:rPr lang="tr-TR" sz="1200" dirty="0">
                  <a:solidFill>
                    <a:srgbClr val="172B3A"/>
                  </a:solidFill>
                  <a:latin typeface="+mn-lt"/>
                  <a:ea typeface="+mn-ea"/>
                  <a:cs typeface="+mn-cs"/>
                </a:rPr>
                <a:t>tek sayıda dengeler.</a:t>
              </a:r>
            </a:p>
          </p:txBody>
        </p:sp>
      </p:grpSp>
      <p:grpSp>
        <p:nvGrpSpPr>
          <p:cNvPr id="21" name="summary-card-4"/>
          <p:cNvGrpSpPr/>
          <p:nvPr/>
        </p:nvGrpSpPr>
        <p:grpSpPr>
          <a:xfrm>
            <a:off x="609600" y="3009900"/>
            <a:ext cx="3505200" cy="1619250"/>
            <a:chOff x="609600" y="3009900"/>
            <a:chExt cx="3505200" cy="1619250"/>
          </a:xfrm>
        </p:grpSpPr>
        <p:sp>
          <p:nvSpPr>
            <p:cNvPr id="18" name="Rectangle 18"/>
            <p:cNvSpPr/>
            <p:nvPr/>
          </p:nvSpPr>
          <p:spPr>
            <a:xfrm>
              <a:off x="609600" y="3009900"/>
              <a:ext cx="3505200" cy="1619250"/>
            </a:xfrm>
            <a:prstGeom prst="roundRect">
              <a:avLst>
                <a:gd name="adj" fmla="val 5882"/>
              </a:avLst>
            </a:prstGeom>
            <a:solidFill>
              <a:srgbClr val="FFFFFF"/>
            </a:solidFill>
            <a:ln w="14288">
              <a:solidFill>
                <a:srgbClr val="B8CBD3"/>
              </a:solidFill>
            </a:ln>
          </p:spPr>
        </p:sp>
        <p:sp>
          <p:nvSpPr>
            <p:cNvPr id="19" name="TextBox 19"/>
            <p:cNvSpPr txBox="1"/>
            <p:nvPr/>
          </p:nvSpPr>
          <p:spPr>
            <a:xfrm>
              <a:off x="830580" y="3171825"/>
              <a:ext cx="2025984"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ROC-AUC ve PR-AUC</a:t>
              </a:r>
            </a:p>
          </p:txBody>
        </p:sp>
        <p:sp>
          <p:nvSpPr>
            <p:cNvPr id="20" name="TextBox 20"/>
            <p:cNvSpPr txBox="1"/>
            <p:nvPr/>
          </p:nvSpPr>
          <p:spPr>
            <a:xfrm>
              <a:off x="832104" y="3489960"/>
              <a:ext cx="22143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Tüm eşik aralığındaki gücü</a:t>
              </a:r>
              <a:br/>
              <a:r>
                <a:rPr lang="tr-TR" sz="1200" dirty="0">
                  <a:solidFill>
                    <a:srgbClr val="172B3A"/>
                  </a:solidFill>
                  <a:latin typeface="+mn-lt"/>
                  <a:ea typeface="+mn-ea"/>
                  <a:cs typeface="+mn-cs"/>
                </a:rPr>
                <a:t>ölçer; dengesiz veride PR-AUC</a:t>
              </a:r>
              <a:br/>
              <a:r>
                <a:rPr lang="tr-TR" sz="1200" dirty="0">
                  <a:solidFill>
                    <a:srgbClr val="172B3A"/>
                  </a:solidFill>
                  <a:latin typeface="+mn-lt"/>
                  <a:ea typeface="+mn-ea"/>
                  <a:cs typeface="+mn-cs"/>
                </a:rPr>
                <a:t>daha güvenilirdir.</a:t>
              </a:r>
            </a:p>
          </p:txBody>
        </p:sp>
      </p:grpSp>
      <p:grpSp>
        <p:nvGrpSpPr>
          <p:cNvPr id="25" name="summary-card-5"/>
          <p:cNvGrpSpPr/>
          <p:nvPr/>
        </p:nvGrpSpPr>
        <p:grpSpPr>
          <a:xfrm>
            <a:off x="4343400" y="3009900"/>
            <a:ext cx="3505200" cy="1619250"/>
            <a:chOff x="4343400" y="3009900"/>
            <a:chExt cx="3505200" cy="1619250"/>
          </a:xfrm>
        </p:grpSpPr>
        <p:sp>
          <p:nvSpPr>
            <p:cNvPr id="22" name="Rectangle 22"/>
            <p:cNvSpPr/>
            <p:nvPr/>
          </p:nvSpPr>
          <p:spPr>
            <a:xfrm>
              <a:off x="4343400" y="3009900"/>
              <a:ext cx="3505200" cy="1619250"/>
            </a:xfrm>
            <a:prstGeom prst="roundRect">
              <a:avLst>
                <a:gd name="adj" fmla="val 5882"/>
              </a:avLst>
            </a:prstGeom>
            <a:solidFill>
              <a:srgbClr val="FFFFFF"/>
            </a:solidFill>
            <a:ln w="14288">
              <a:solidFill>
                <a:srgbClr val="B8CBD3"/>
              </a:solidFill>
            </a:ln>
          </p:spPr>
        </p:sp>
        <p:sp>
          <p:nvSpPr>
            <p:cNvPr id="23" name="TextBox 23"/>
            <p:cNvSpPr txBox="1"/>
            <p:nvPr/>
          </p:nvSpPr>
          <p:spPr>
            <a:xfrm>
              <a:off x="4564380" y="3171825"/>
              <a:ext cx="2541976"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K-Fold çapraz doğrulama</a:t>
              </a:r>
            </a:p>
          </p:txBody>
        </p:sp>
        <p:sp>
          <p:nvSpPr>
            <p:cNvPr id="24" name="TextBox 24"/>
            <p:cNvSpPr txBox="1"/>
            <p:nvPr/>
          </p:nvSpPr>
          <p:spPr>
            <a:xfrm>
              <a:off x="4565904" y="3489960"/>
              <a:ext cx="23743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StratifiedKFold, tek bölünmenin</a:t>
              </a:r>
              <a:br/>
              <a:r>
                <a:rPr lang="tr-TR" sz="1200" dirty="0">
                  <a:solidFill>
                    <a:srgbClr val="172B3A"/>
                  </a:solidFill>
                  <a:latin typeface="+mn-lt"/>
                  <a:ea typeface="+mn-ea"/>
                  <a:cs typeface="+mn-cs"/>
                </a:rPr>
                <a:t>şans etkisini azaltıp gerçek</a:t>
              </a:r>
              <a:br/>
              <a:r>
                <a:rPr lang="tr-TR" sz="1200" dirty="0">
                  <a:solidFill>
                    <a:srgbClr val="172B3A"/>
                  </a:solidFill>
                  <a:latin typeface="+mn-lt"/>
                  <a:ea typeface="+mn-ea"/>
                  <a:cs typeface="+mn-cs"/>
                </a:rPr>
                <a:t>genellenebilirliği gösterir.</a:t>
              </a:r>
            </a:p>
          </p:txBody>
        </p:sp>
      </p:grpSp>
      <p:grpSp>
        <p:nvGrpSpPr>
          <p:cNvPr id="29" name="summary-card-6"/>
          <p:cNvGrpSpPr/>
          <p:nvPr/>
        </p:nvGrpSpPr>
        <p:grpSpPr>
          <a:xfrm>
            <a:off x="8077200" y="3009900"/>
            <a:ext cx="3505200" cy="1619250"/>
            <a:chOff x="8077200" y="3009900"/>
            <a:chExt cx="3505200" cy="1619250"/>
          </a:xfrm>
        </p:grpSpPr>
        <p:sp>
          <p:nvSpPr>
            <p:cNvPr id="26" name="Rectangle 26"/>
            <p:cNvSpPr/>
            <p:nvPr/>
          </p:nvSpPr>
          <p:spPr>
            <a:xfrm>
              <a:off x="8077200" y="3009900"/>
              <a:ext cx="3505200" cy="1619250"/>
            </a:xfrm>
            <a:prstGeom prst="roundRect">
              <a:avLst>
                <a:gd name="adj" fmla="val 5882"/>
              </a:avLst>
            </a:prstGeom>
            <a:solidFill>
              <a:srgbClr val="FFFFFF"/>
            </a:solidFill>
            <a:ln w="14288">
              <a:solidFill>
                <a:srgbClr val="B8CBD3"/>
              </a:solidFill>
            </a:ln>
          </p:spPr>
        </p:sp>
        <p:sp>
          <p:nvSpPr>
            <p:cNvPr id="27" name="TextBox 27"/>
            <p:cNvSpPr txBox="1"/>
            <p:nvPr/>
          </p:nvSpPr>
          <p:spPr>
            <a:xfrm>
              <a:off x="8298180" y="3171825"/>
              <a:ext cx="1134680"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Eşik seçimi</a:t>
              </a:r>
            </a:p>
          </p:txBody>
        </p:sp>
        <p:sp>
          <p:nvSpPr>
            <p:cNvPr id="28" name="TextBox 28"/>
            <p:cNvSpPr txBox="1"/>
            <p:nvPr/>
          </p:nvSpPr>
          <p:spPr>
            <a:xfrm>
              <a:off x="8299704" y="3489960"/>
              <a:ext cx="20543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Karar eşiği iş hedefine göre</a:t>
              </a:r>
              <a:br/>
              <a:r>
                <a:rPr lang="tr-TR" sz="1200" dirty="0">
                  <a:solidFill>
                    <a:srgbClr val="172B3A"/>
                  </a:solidFill>
                  <a:latin typeface="+mn-lt"/>
                  <a:ea typeface="+mn-ea"/>
                  <a:cs typeface="+mn-cs"/>
                </a:rPr>
                <a:t>ayrı bir doğrulama setinde</a:t>
              </a:r>
              <a:br/>
              <a:r>
                <a:rPr lang="tr-TR" sz="1200" dirty="0">
                  <a:solidFill>
                    <a:srgbClr val="172B3A"/>
                  </a:solidFill>
                  <a:latin typeface="+mn-lt"/>
                  <a:ea typeface="+mn-ea"/>
                  <a:cs typeface="+mn-cs"/>
                </a:rPr>
                <a:t>optimize edilmelidir.</a:t>
              </a:r>
            </a:p>
          </p:txBody>
        </p:sp>
      </p:grpSp>
      <p:grpSp>
        <p:nvGrpSpPr>
          <p:cNvPr id="33" name="takeaway-band"/>
          <p:cNvGrpSpPr/>
          <p:nvPr/>
        </p:nvGrpSpPr>
        <p:grpSpPr>
          <a:xfrm>
            <a:off x="609600" y="4876800"/>
            <a:ext cx="10972800" cy="1123950"/>
            <a:chOff x="609600" y="4876800"/>
            <a:chExt cx="10972800" cy="1123950"/>
          </a:xfrm>
        </p:grpSpPr>
        <p:sp>
          <p:nvSpPr>
            <p:cNvPr id="30" name="Rectangle 30"/>
            <p:cNvSpPr/>
            <p:nvPr/>
          </p:nvSpPr>
          <p:spPr>
            <a:xfrm>
              <a:off x="609600" y="4876800"/>
              <a:ext cx="10972800" cy="1123950"/>
            </a:xfrm>
            <a:prstGeom prst="roundRect">
              <a:avLst>
                <a:gd name="adj" fmla="val 8475"/>
              </a:avLst>
            </a:prstGeom>
            <a:solidFill>
              <a:srgbClr val="EAF4F6"/>
            </a:solidFill>
            <a:ln>
              <a:noFill/>
            </a:ln>
          </p:spPr>
        </p:sp>
        <p:sp>
          <p:nvSpPr>
            <p:cNvPr id="31" name="TextBox 31"/>
            <p:cNvSpPr txBox="1"/>
            <p:nvPr/>
          </p:nvSpPr>
          <p:spPr>
            <a:xfrm>
              <a:off x="906018" y="5060632"/>
              <a:ext cx="3231557"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Tek bir metriğe güvenmeyin.</a:t>
              </a:r>
            </a:p>
          </p:txBody>
        </p:sp>
        <p:sp>
          <p:nvSpPr>
            <p:cNvPr id="32" name="TextBox 32"/>
            <p:cNvSpPr txBox="1"/>
            <p:nvPr/>
          </p:nvSpPr>
          <p:spPr>
            <a:xfrm>
              <a:off x="907161" y="5389721"/>
              <a:ext cx="6984619" cy="526352"/>
            </a:xfrm>
            <a:prstGeom prst="rect">
              <a:avLst/>
            </a:prstGeom>
            <a:noFill/>
            <a:ln>
              <a:noFill/>
            </a:ln>
          </p:spPr>
          <p:txBody>
            <a:bodyPr wrap="none" lIns="0" tIns="0" rIns="0" bIns="0" anchor="t" anchorCtr="0">
              <a:spAutoFit/>
            </a:bodyPr>
            <a:lstStyle/>
            <a:p>
              <a:pPr algn="l">
                <a:lnSpc>
                  <a:spcPts val="1950"/>
                </a:lnSpc>
              </a:pPr>
              <a:r>
                <a:rPr lang="tr-TR" sz="1420" dirty="0">
                  <a:solidFill>
                    <a:srgbClr val="172B3A"/>
                  </a:solidFill>
                  <a:latin typeface="+mn-lt"/>
                  <a:ea typeface="+mn-ea"/>
                  <a:cs typeface="+mn-cs"/>
                </a:rPr>
                <a:t>Karar; karmaşıklık matrisi, kesinlik/duyarlılık/F1, ROC-AUC/PR-AUC ve K-Fold</a:t>
              </a:r>
              <a:br/>
              <a:r>
                <a:rPr lang="tr-TR" sz="1420" dirty="0">
                  <a:solidFill>
                    <a:srgbClr val="172B3A"/>
                  </a:solidFill>
                  <a:latin typeface="+mn-lt"/>
                  <a:ea typeface="+mn-ea"/>
                  <a:cs typeface="+mn-cs"/>
                </a:rPr>
                <a:t>varyansının birlikte okunmasıyla verilir.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24 / 25</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4150951" cy="557403"/>
            <a:chOff x="595122" y="282892"/>
            <a:chExt cx="4150951" cy="557403"/>
          </a:xfrm>
        </p:grpSpPr>
        <p:sp>
          <p:nvSpPr>
            <p:cNvPr id="4" name="TextBox 4"/>
            <p:cNvSpPr txBox="1"/>
            <p:nvPr/>
          </p:nvSpPr>
          <p:spPr>
            <a:xfrm>
              <a:off x="595122" y="282892"/>
              <a:ext cx="41509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Sonraki bölüme köprü</a:t>
              </a:r>
            </a:p>
          </p:txBody>
        </p:sp>
      </p:grpSp>
      <p:grpSp>
        <p:nvGrpSpPr>
          <p:cNvPr id="7" name="claim-statement"/>
          <p:cNvGrpSpPr/>
          <p:nvPr/>
        </p:nvGrpSpPr>
        <p:grpSpPr>
          <a:xfrm>
            <a:off x="601218" y="1155382"/>
            <a:ext cx="7120509" cy="589407"/>
            <a:chOff x="601218" y="1155382"/>
            <a:chExt cx="7120509" cy="589407"/>
          </a:xfrm>
        </p:grpSpPr>
        <p:sp>
          <p:nvSpPr>
            <p:cNvPr id="6" name="TextBox 6"/>
            <p:cNvSpPr txBox="1"/>
            <p:nvPr/>
          </p:nvSpPr>
          <p:spPr>
            <a:xfrm>
              <a:off x="601218" y="1155382"/>
              <a:ext cx="7120509" cy="589407"/>
            </a:xfrm>
            <a:prstGeom prst="rect">
              <a:avLst/>
            </a:prstGeom>
            <a:noFill/>
            <a:ln>
              <a:noFill/>
            </a:ln>
          </p:spPr>
          <p:txBody>
            <a:bodyPr wrap="none" lIns="0" tIns="0" rIns="0" bIns="0" anchor="t" anchorCtr="0">
              <a:spAutoFit/>
            </a:bodyPr>
            <a:lstStyle/>
            <a:p>
              <a:pPr algn="l">
                <a:lnSpc>
                  <a:spcPts val="2100"/>
                </a:lnSpc>
              </a:pPr>
              <a:r>
                <a:rPr lang="tr-TR" sz="1650" dirty="0">
                  <a:solidFill>
                    <a:srgbClr val="172B3A"/>
                  </a:solidFill>
                  <a:latin typeface="+mn-lt"/>
                  <a:ea typeface="+mn-ea"/>
                  <a:cs typeface="+mn-cs"/>
                </a:rPr>
                <a:t>Artık bir modelin gerçekten iyi olup olmadığını, tek bir sayıya değil,</a:t>
              </a:r>
              <a:br/>
              <a:r>
                <a:rPr lang="tr-TR" sz="1650" dirty="0">
                  <a:solidFill>
                    <a:srgbClr val="172B3A"/>
                  </a:solidFill>
                  <a:latin typeface="+mn-lt"/>
                  <a:ea typeface="+mn-ea"/>
                  <a:cs typeface="+mn-cs"/>
                </a:rPr>
                <a:t>doğru kanıt bütününe bakarak karar verebilirsiniz.</a:t>
              </a:r>
            </a:p>
          </p:txBody>
        </p:sp>
      </p:grpSp>
      <p:grpSp>
        <p:nvGrpSpPr>
          <p:cNvPr id="17" name="capability-list"/>
          <p:cNvGrpSpPr/>
          <p:nvPr/>
        </p:nvGrpSpPr>
        <p:grpSpPr>
          <a:xfrm>
            <a:off x="601980" y="2028825"/>
            <a:ext cx="3903536" cy="3019425"/>
            <a:chOff x="601980" y="2028825"/>
            <a:chExt cx="3903536" cy="3019425"/>
          </a:xfrm>
        </p:grpSpPr>
        <p:sp>
          <p:nvSpPr>
            <p:cNvPr id="8" name="TextBox 8"/>
            <p:cNvSpPr txBox="1"/>
            <p:nvPr/>
          </p:nvSpPr>
          <p:spPr>
            <a:xfrm>
              <a:off x="601980" y="2028825"/>
              <a:ext cx="2035492"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Artık yapabilirsiniz</a:t>
              </a:r>
            </a:p>
          </p:txBody>
        </p:sp>
        <p:sp>
          <p:nvSpPr>
            <p:cNvPr id="9" name="Rectangle 9"/>
            <p:cNvSpPr/>
            <p:nvPr/>
          </p:nvSpPr>
          <p:spPr>
            <a:xfrm>
              <a:off x="609600" y="2362200"/>
              <a:ext cx="57150" cy="571500"/>
            </a:xfrm>
            <a:prstGeom prst="rect">
              <a:avLst/>
            </a:prstGeom>
            <a:solidFill>
              <a:srgbClr val="00A6A6"/>
            </a:solidFill>
            <a:ln>
              <a:noFill/>
            </a:ln>
          </p:spPr>
        </p:sp>
        <p:sp>
          <p:nvSpPr>
            <p:cNvPr id="10" name="TextBox 10"/>
            <p:cNvSpPr txBox="1"/>
            <p:nvPr/>
          </p:nvSpPr>
          <p:spPr>
            <a:xfrm>
              <a:off x="831342" y="2426018"/>
              <a:ext cx="3554158" cy="4926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Karmaşıklık matrisini okuyup TP/TN/FP/FN</a:t>
              </a:r>
              <a:br/>
              <a:r>
                <a:rPr lang="tr-TR" sz="1350" dirty="0">
                  <a:solidFill>
                    <a:srgbClr val="172B3A"/>
                  </a:solidFill>
                  <a:latin typeface="+mn-lt"/>
                  <a:ea typeface="+mn-ea"/>
                  <a:cs typeface="+mn-cs"/>
                </a:rPr>
                <a:t>değerlerini yorumlamak.</a:t>
              </a:r>
            </a:p>
          </p:txBody>
        </p:sp>
        <p:sp>
          <p:nvSpPr>
            <p:cNvPr id="11" name="Rectangle 11"/>
            <p:cNvSpPr/>
            <p:nvPr/>
          </p:nvSpPr>
          <p:spPr>
            <a:xfrm>
              <a:off x="609600" y="3067050"/>
              <a:ext cx="57150" cy="571500"/>
            </a:xfrm>
            <a:prstGeom prst="rect">
              <a:avLst/>
            </a:prstGeom>
            <a:solidFill>
              <a:srgbClr val="00A6A6"/>
            </a:solidFill>
            <a:ln>
              <a:noFill/>
            </a:ln>
          </p:spPr>
        </p:sp>
        <p:sp>
          <p:nvSpPr>
            <p:cNvPr id="12" name="TextBox 12"/>
            <p:cNvSpPr txBox="1"/>
            <p:nvPr/>
          </p:nvSpPr>
          <p:spPr>
            <a:xfrm>
              <a:off x="831342" y="3130868"/>
              <a:ext cx="3382708" cy="4926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Accuracy paradoksunu tanıyıp doğru bir</a:t>
              </a:r>
              <a:br/>
              <a:r>
                <a:rPr lang="tr-TR" sz="1350" dirty="0">
                  <a:solidFill>
                    <a:srgbClr val="172B3A"/>
                  </a:solidFill>
                  <a:latin typeface="+mn-lt"/>
                  <a:ea typeface="+mn-ea"/>
                  <a:cs typeface="+mn-cs"/>
                </a:rPr>
                <a:t>taban çizgisiyle karşılaştırmak.</a:t>
              </a:r>
            </a:p>
          </p:txBody>
        </p:sp>
        <p:sp>
          <p:nvSpPr>
            <p:cNvPr id="13" name="Rectangle 13"/>
            <p:cNvSpPr/>
            <p:nvPr/>
          </p:nvSpPr>
          <p:spPr>
            <a:xfrm>
              <a:off x="609600" y="3771900"/>
              <a:ext cx="57150" cy="571500"/>
            </a:xfrm>
            <a:prstGeom prst="rect">
              <a:avLst/>
            </a:prstGeom>
            <a:solidFill>
              <a:srgbClr val="00A6A6"/>
            </a:solidFill>
            <a:ln>
              <a:noFill/>
            </a:ln>
          </p:spPr>
        </p:sp>
        <p:sp>
          <p:nvSpPr>
            <p:cNvPr id="14" name="TextBox 14"/>
            <p:cNvSpPr txBox="1"/>
            <p:nvPr/>
          </p:nvSpPr>
          <p:spPr>
            <a:xfrm>
              <a:off x="831342" y="3835718"/>
              <a:ext cx="3674174" cy="4926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Kesinlik, duyarlılık, F1, ROC-AUC ve PR-AUC</a:t>
              </a:r>
              <a:br/>
              <a:r>
                <a:rPr lang="tr-TR" sz="1350" dirty="0">
                  <a:solidFill>
                    <a:srgbClr val="172B3A"/>
                  </a:solidFill>
                  <a:latin typeface="+mn-lt"/>
                  <a:ea typeface="+mn-ea"/>
                  <a:cs typeface="+mn-cs"/>
                </a:rPr>
                <a:t>arasında iş bağlamına göre seçim yapmak.</a:t>
              </a:r>
            </a:p>
          </p:txBody>
        </p:sp>
        <p:sp>
          <p:nvSpPr>
            <p:cNvPr id="15" name="Rectangle 15"/>
            <p:cNvSpPr/>
            <p:nvPr/>
          </p:nvSpPr>
          <p:spPr>
            <a:xfrm>
              <a:off x="609600" y="4476750"/>
              <a:ext cx="57150" cy="571500"/>
            </a:xfrm>
            <a:prstGeom prst="rect">
              <a:avLst/>
            </a:prstGeom>
            <a:solidFill>
              <a:srgbClr val="00A6A6"/>
            </a:solidFill>
            <a:ln>
              <a:noFill/>
            </a:ln>
          </p:spPr>
        </p:sp>
        <p:sp>
          <p:nvSpPr>
            <p:cNvPr id="16" name="TextBox 16"/>
            <p:cNvSpPr txBox="1"/>
            <p:nvPr/>
          </p:nvSpPr>
          <p:spPr>
            <a:xfrm>
              <a:off x="831342" y="4540568"/>
              <a:ext cx="3579876" cy="4926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StratifiedKFold ile çapraz doğrulama yapıp</a:t>
              </a:r>
              <a:br/>
              <a:r>
                <a:rPr lang="tr-TR" sz="1350" dirty="0">
                  <a:solidFill>
                    <a:srgbClr val="172B3A"/>
                  </a:solidFill>
                  <a:latin typeface="+mn-lt"/>
                  <a:ea typeface="+mn-ea"/>
                  <a:cs typeface="+mn-cs"/>
                </a:rPr>
                <a:t>karar eşiğini optimize etmek.</a:t>
              </a:r>
            </a:p>
          </p:txBody>
        </p:sp>
      </p:grpSp>
      <p:grpSp>
        <p:nvGrpSpPr>
          <p:cNvPr id="22" name="next-chapter-card"/>
          <p:cNvGrpSpPr/>
          <p:nvPr/>
        </p:nvGrpSpPr>
        <p:grpSpPr>
          <a:xfrm>
            <a:off x="6858000" y="1981200"/>
            <a:ext cx="4724400" cy="3238500"/>
            <a:chOff x="6858000" y="1981200"/>
            <a:chExt cx="4724400" cy="3238500"/>
          </a:xfrm>
        </p:grpSpPr>
        <p:sp>
          <p:nvSpPr>
            <p:cNvPr id="18" name="Rectangle 18"/>
            <p:cNvSpPr/>
            <p:nvPr/>
          </p:nvSpPr>
          <p:spPr>
            <a:xfrm>
              <a:off x="6858000" y="1981200"/>
              <a:ext cx="4724400" cy="3238500"/>
            </a:xfrm>
            <a:prstGeom prst="roundRect">
              <a:avLst>
                <a:gd name="adj" fmla="val 2941"/>
              </a:avLst>
            </a:prstGeom>
            <a:solidFill>
              <a:srgbClr val="12355B"/>
            </a:solidFill>
            <a:ln>
              <a:noFill/>
            </a:ln>
          </p:spPr>
        </p:sp>
        <p:sp>
          <p:nvSpPr>
            <p:cNvPr id="19" name="TextBox 19"/>
            <p:cNvSpPr txBox="1"/>
            <p:nvPr/>
          </p:nvSpPr>
          <p:spPr>
            <a:xfrm>
              <a:off x="7157085" y="2240756"/>
              <a:ext cx="1488564" cy="220028"/>
            </a:xfrm>
            <a:prstGeom prst="rect">
              <a:avLst/>
            </a:prstGeom>
            <a:noFill/>
            <a:ln>
              <a:noFill/>
            </a:ln>
          </p:spPr>
          <p:txBody>
            <a:bodyPr wrap="none" lIns="0" tIns="0" rIns="0" bIns="0" anchor="t" anchorCtr="0">
              <a:spAutoFit/>
            </a:bodyPr>
            <a:lstStyle/>
            <a:p>
              <a:pPr algn="l"/>
              <a:r>
                <a:rPr lang="tr-TR" sz="1120" b="1" spc="150" dirty="0">
                  <a:solidFill>
                    <a:srgbClr val="00A6A6"/>
                  </a:solidFill>
                  <a:latin typeface="+mn-lt"/>
                  <a:ea typeface="+mn-ea"/>
                  <a:cs typeface="+mn-cs"/>
                </a:rPr>
                <a:t>SONRAKİ BÖLÜM</a:t>
              </a:r>
            </a:p>
          </p:txBody>
        </p:sp>
        <p:sp>
          <p:nvSpPr>
            <p:cNvPr id="20" name="TextBox 20"/>
            <p:cNvSpPr txBox="1"/>
            <p:nvPr/>
          </p:nvSpPr>
          <p:spPr>
            <a:xfrm>
              <a:off x="7152894" y="2532698"/>
              <a:ext cx="3374231" cy="705231"/>
            </a:xfrm>
            <a:prstGeom prst="rect">
              <a:avLst/>
            </a:prstGeom>
            <a:noFill/>
            <a:ln>
              <a:noFill/>
            </a:ln>
          </p:spPr>
          <p:txBody>
            <a:bodyPr wrap="none" lIns="0" tIns="0" rIns="0" bIns="0" anchor="t" anchorCtr="0">
              <a:spAutoFit/>
            </a:bodyPr>
            <a:lstStyle/>
            <a:p>
              <a:pPr algn="l">
                <a:lnSpc>
                  <a:spcPts val="2550"/>
                </a:lnSpc>
              </a:pPr>
              <a:r>
                <a:rPr lang="tr-TR" sz="1950" b="1" dirty="0">
                  <a:solidFill>
                    <a:srgbClr val="FFFFFF"/>
                  </a:solidFill>
                  <a:latin typeface="+mn-lt"/>
                  <a:ea typeface="+mn-ea"/>
                  <a:cs typeface="+mn-cs"/>
                </a:rPr>
                <a:t>Optuna ile Hiperparametre</a:t>
              </a:r>
              <a:br/>
              <a:r>
                <a:rPr lang="tr-TR" sz="1950" b="1" dirty="0">
                  <a:solidFill>
                    <a:srgbClr val="FFFFFF"/>
                  </a:solidFill>
                  <a:latin typeface="+mn-lt"/>
                  <a:ea typeface="+mn-ea"/>
                  <a:cs typeface="+mn-cs"/>
                </a:rPr>
                <a:t>Optimizasyonu</a:t>
              </a:r>
            </a:p>
          </p:txBody>
        </p:sp>
        <p:sp>
          <p:nvSpPr>
            <p:cNvPr id="21" name="TextBox 21"/>
            <p:cNvSpPr txBox="1"/>
            <p:nvPr/>
          </p:nvSpPr>
          <p:spPr>
            <a:xfrm>
              <a:off x="7155942" y="3397568"/>
              <a:ext cx="3005518" cy="1006983"/>
            </a:xfrm>
            <a:prstGeom prst="rect">
              <a:avLst/>
            </a:prstGeom>
            <a:noFill/>
            <a:ln>
              <a:noFill/>
            </a:ln>
          </p:spPr>
          <p:txBody>
            <a:bodyPr wrap="none" lIns="0" tIns="0" rIns="0" bIns="0" anchor="t" anchorCtr="0">
              <a:spAutoFit/>
            </a:bodyPr>
            <a:lstStyle/>
            <a:p>
              <a:pPr algn="l">
                <a:lnSpc>
                  <a:spcPts val="1950"/>
                </a:lnSpc>
              </a:pPr>
              <a:r>
                <a:rPr lang="tr-TR" sz="1350" dirty="0">
                  <a:solidFill>
                    <a:srgbClr val="EAF4F6"/>
                  </a:solidFill>
                  <a:latin typeface="+mn-lt"/>
                  <a:ea typeface="+mn-ea"/>
                  <a:cs typeface="+mn-cs"/>
                </a:rPr>
                <a:t>Bu bölümde öğrendiğiniz F1 ve</a:t>
              </a:r>
              <a:br/>
              <a:r>
                <a:rPr lang="tr-TR" sz="1350" dirty="0">
                  <a:solidFill>
                    <a:srgbClr val="EAF4F6"/>
                  </a:solidFill>
                  <a:latin typeface="+mn-lt"/>
                  <a:ea typeface="+mn-ea"/>
                  <a:cs typeface="+mn-cs"/>
                </a:rPr>
                <a:t>PR-AUC gibi metrikler, Optuna'nın</a:t>
              </a:r>
              <a:br/>
              <a:r>
                <a:rPr lang="tr-TR" sz="1350" dirty="0">
                  <a:solidFill>
                    <a:srgbClr val="EAF4F6"/>
                  </a:solidFill>
                  <a:latin typeface="+mn-lt"/>
                  <a:ea typeface="+mn-ea"/>
                  <a:cs typeface="+mn-cs"/>
                </a:rPr>
                <a:t>optimize edeceği hedef fonksiyonlar</a:t>
              </a:r>
              <a:br/>
              <a:r>
                <a:rPr lang="tr-TR" sz="1350" dirty="0">
                  <a:solidFill>
                    <a:srgbClr val="EAF4F6"/>
                  </a:solidFill>
                  <a:latin typeface="+mn-lt"/>
                  <a:ea typeface="+mn-ea"/>
                  <a:cs typeface="+mn-cs"/>
                </a:rPr>
                <a:t>olacak.</a:t>
              </a:r>
            </a:p>
          </p:txBody>
        </p:sp>
      </p:grpSp>
      <p:grpSp>
        <p:nvGrpSpPr>
          <p:cNvPr id="26" name="closing-instruction"/>
          <p:cNvGrpSpPr/>
          <p:nvPr/>
        </p:nvGrpSpPr>
        <p:grpSpPr>
          <a:xfrm>
            <a:off x="609600" y="5391150"/>
            <a:ext cx="10972800" cy="905923"/>
            <a:chOff x="609600" y="5391150"/>
            <a:chExt cx="10972800" cy="905923"/>
          </a:xfrm>
        </p:grpSpPr>
        <p:sp>
          <p:nvSpPr>
            <p:cNvPr id="23" name="Rectangle 23"/>
            <p:cNvSpPr/>
            <p:nvPr/>
          </p:nvSpPr>
          <p:spPr>
            <a:xfrm>
              <a:off x="609600" y="5391150"/>
              <a:ext cx="10972800" cy="857250"/>
            </a:xfrm>
            <a:prstGeom prst="roundRect">
              <a:avLst>
                <a:gd name="adj" fmla="val 8889"/>
              </a:avLst>
            </a:prstGeom>
            <a:solidFill>
              <a:srgbClr val="EAF4F6"/>
            </a:solidFill>
            <a:ln>
              <a:noFill/>
            </a:ln>
          </p:spPr>
        </p:sp>
        <p:sp>
          <p:nvSpPr>
            <p:cNvPr id="24" name="TextBox 24"/>
            <p:cNvSpPr txBox="1"/>
            <p:nvPr/>
          </p:nvSpPr>
          <p:spPr>
            <a:xfrm>
              <a:off x="906780" y="5534025"/>
              <a:ext cx="883669"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 İpucu</a:t>
              </a:r>
            </a:p>
          </p:txBody>
        </p:sp>
        <p:sp>
          <p:nvSpPr>
            <p:cNvPr id="25" name="TextBox 25"/>
            <p:cNvSpPr txBox="1"/>
            <p:nvPr/>
          </p:nvSpPr>
          <p:spPr>
            <a:xfrm>
              <a:off x="907161" y="5789771"/>
              <a:ext cx="6281293" cy="507302"/>
            </a:xfrm>
            <a:prstGeom prst="rect">
              <a:avLst/>
            </a:prstGeom>
            <a:noFill/>
            <a:ln>
              <a:noFill/>
            </a:ln>
          </p:spPr>
          <p:txBody>
            <a:bodyPr wrap="none" lIns="0" tIns="0" rIns="0" bIns="0" anchor="t" anchorCtr="0">
              <a:spAutoFit/>
            </a:bodyPr>
            <a:lstStyle/>
            <a:p>
              <a:pPr algn="l">
                <a:lnSpc>
                  <a:spcPts val="1800"/>
                </a:lnSpc>
              </a:pPr>
              <a:r>
                <a:rPr lang="tr-TR" sz="1420" dirty="0">
                  <a:solidFill>
                    <a:srgbClr val="172B3A"/>
                  </a:solidFill>
                  <a:latin typeface="+mn-lt"/>
                  <a:ea typeface="+mn-ea"/>
                  <a:cs typeface="+mn-cs"/>
                </a:rPr>
                <a:t>Sonraki bölüme geçmeden önce kullandığınız değerlendirme protokolünü</a:t>
              </a:r>
              <a:br/>
              <a:r>
                <a:rPr lang="tr-TR" sz="1420" dirty="0">
                  <a:solidFill>
                    <a:srgbClr val="172B3A"/>
                  </a:solidFill>
                  <a:latin typeface="+mn-lt"/>
                  <a:ea typeface="+mn-ea"/>
                  <a:cs typeface="+mn-cs"/>
                </a:rPr>
                <a:t>(metrik seçimi + K-Fold + eşik) yazılı hale getirin.</a:t>
              </a:r>
            </a:p>
          </p:txBody>
        </p:sp>
      </p:grpSp>
      <p:sp>
        <p:nvSpPr>
          <p:cNvPr id="27" name="TextBox 2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25 / 25</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ch06_model_degerlendirme_metrikler-20260916">
  <a:themeElements>
    <a:clrScheme name="ch06_model_degerlendirme_metrikler-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h06_model_degerlendirme_metrikler-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06_model_degerlendirme_metrikler-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h06_model_degerlendirme_metrikler-20260916">
  <a:themeElements>
    <a:clrScheme name="ch06_model_degerlendirme_metrikler-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h06_model_degerlendirme_metrikler-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06_model_degerlendirme_metrikler-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2026-09-19T21:22:08Z</dcterms:created>
  <dcterms:modified xsi:type="dcterms:W3CDTF">2026-09-19T21:22:08Z</dcterms:modified>
  <cp:category/>
  <cp:contentStatus/>
</cp:coreProperties>
</file>