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on ikiye hoş geldiniz: metin madenciliğine giriş, TF-IDF ve duygu analizi. Bu bölümde ham müşteri yorumlarını sayısal bir temsile dönüştürüp benzerlik ve duygu tahmini yapan bir Python boru hattı kuracağız — Modern Veri Madenciliğine Giriş kitabının bu bölümü, önceki haftalarda kurduğumuz yapılandırılmış veri sezgisini serbest metne taşır.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okurken beş soruyu aklınızda tutun: ham bir yorumu nasıl sayısal veriye çeviririz, tokenization ve stop-word temizliği anlamı nasıl etkiler, TF-IDF önemli kelimeleri hangi mantıkla öne çıkarır, kosinüs benzerliği neden yön üzerinden ölçüm yapar, ve eğitim ile tahmin adımları bir boru hattında nasıl birleşir. Bölümün hedefi, Türkçe müşteri yorumlarını temizleyen, TF-IDF ile vektörleştiren, benzerlik hesaplayan ve duygu tahmini yapan tekrar kullanılabilir bir Python boru hattı kurmaktır.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beş somut beceriye sahip olacaksınız: ham Türkçe metni küçük harfe çevirip token listesine dönüştürmeyi çalışır kodla gösterebileceksiniz; göreve özel bir Türkçe stop-word kümesi tanımlayıp bunun sözlük boyutuna etkisini yorumlayabileceksiniz; Bag-of-Words ile TF-IDF temsillerini karşılaştırıp uygun yöntemi gerekçeyle seçebileceksiniz; kosinüs benzerliğini yön açısı mantığıyla açıklayarak iki yorumun içerik yakınlığını hesaplayabileceksiniz; ve Pipeline, TfidfVectorizer ile LogisticRegression'ı birleştirerek eğitim/test ayrımını koruyan, sızıntısız bir sınıflandırıcı eğitebileceksiniz.</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kavram haritası, metin madenciliği boru hattının merkezinden beş aşamaya uzanır: tokenization metni sözcüklere ayırır, stop-word temizliği anlam taşımayan sözcükleri eler, TF-IDF vektörleştirme ayırt edici terimleri ağırlıklandırır, kosinüs benzerliği iki metnin yönünü karşılaştırır ve bunların hepsi son olarak Pipeline, TfidfVectorizer ile LogisticRegression'dan oluşan duygu analizi sınıflandırıcısında birleşir. Düz oklar boru hattından türeyen aşamaları, kesikli oklar ise aşamalar arasındaki veri akışını gösterir — her kutu bir öncekinin çıktısını girdi olarak alır.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Metin madenciliği, doğal dilde yazılmış yapılandırılmamış belgelerden örüntü, konu, duygu veya sınıf etiketi çıkarma sürecidir; metin doğrudan bir sayısal model girdisi değildir. Buna neden ihtiyaç duyarız? "Müşteri hizmetleri sorunu çözmedi" gibi kritik bir cümle tek bir sayıya indirgenmemiştir, ve metin madenciliği olmadan binlerce yorumu manuel okumak gerekir. Süreç temizleme, tokenization, vektörleştirme, modelleme ve değerlendirmeden oluşur; her aşama bir öncekinin çıktısını kullanır. Telco Churn bağlamında amaç, metni tek başına nihai karar verici yapmak değil, müşteri kaybı tahmininde anlamlı bir ek sinyal olarak kullanmaktır.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Metin madenciliği, belgeler yeterli hacimdeyse ve tekrar eden örüntüler aranıyorsa tercih edilir; tekil ve bağlamı çok özel bir hukuki belge için insan incelemesi daha uygun olabilir. Alternatifleri karşılaştıralım: manuel inceleme derin bağlam anlayışı sağlar ama yavaş ve özneldir; anahtar kelime kuralı hızlı ve açıklanabilir ama eş anlamlıları kaçırabilir; klasik metin madenciliği ölçeklenebilir ve ölçülebilir ama ön işleme kalitesine duyarlıdır; büyük dil modelleri bağlamı daha iyi yorumlayabilir ama maliyet, gizlilik ve denetlenebilirlik sorunları taşır. Üç yaygın hata bu seçimi gölgeler: ham metni doğrudan sayısal modele vermek yerine vektörleştirme yapmalı, tüm yorumları tek bir etiket sayıp etiket dengesini görmezden gelmemeli ve kişisel bilgileri temizlemeden kullanmamalıyız.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Tokenization, metni analiz edilebilen parçalara ayırma işlemidir; stop-word'ler ise çoğu görevde ayırt ediciliği düşük, sık geçen kelimelerdir. Örnek akışta "İnternet çok yavaş!" cümlesi önce tokenization ile [internet, çok, yavaş] listesine, sonra stop-word filtresiyle [internet, yavaş]'a indirgenir. Buna neden ihtiyaç duyarız? Bilgisayar için "Fatura yüksek" ve "fatura yüksek!" farklı karakter dizileridir; küçük harfe dönüştürme, noktalama temizleme ve tokenization bu yüzeysel farkları azaltır. Ancak dikkatli olunmalı: Türkçede "değil", "ama" ve "çok" gibi kelimeler bazı duygu görevlerinde anlam taşıyabileceği için stop-word listesi körü körüne uygulanmamalıdır.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bunu kodda görelim: amaç ham bir Türkçe yorumu küçük harfe çevirip token listesine dönüştürmek. Fonksiyon önce replace("İ","i").replace("I","ı") çağrısıyla Python'ın Türkçe olmayan varsayılan lower() davranışının "İ" harfini bozmasını önler — bu adım atlanırsa "İnternetim" kelimesinin baş harfi tek karakter filtresinde sessizce kaybolur. Ardından re.sub() harf olmayan karakterleri boşlukla değiştirir ve liste üreteci boş ile tek karakterli tokenları kaldırır. "İnternetim 3 gündür çok yavaş; destek ekibi dönüş yapmadı!" örneği bu adımlardan geçince sekiz temiz token üretir.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 stop-word filtresini ve frekans sayımını uyguluyoruz: küçük bir Türkçe durak kelime kümesi tanımlanır ve durak_kelimeleri_filtrele fonksiyonu token listesinden bu kelimeleri çıkarır; Counter ile kalan tokenların frekansı hesaplanır. Basit kelime tabanlı tokenization, kısa ve temiz yorumlarda yeterlidir; eklemeli bir dil olan Türkçede kök bulma, daha büyük koleksiyonlarda fayda sağlar. İki yaygın hataya dikkat edin: "değil" kelimesini stop-word olarak silmek anlamı tersine çevirebilir, ve emoji ile ünlem gibi duygu sinyalleri bazı görevlerde ayrı özellik olarak tutulmalıdır.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Türkçe karakterlerde sık yapılan bir regex hatasını karşılaştıralım. Hatalı desende [^a-z\s] karakter aralığı Türkçeye özgü "ğ" ve "ı" gibi harfleri kapsamaz, bu yüzden "bağlantı kötü" ifadesi "ba lant kötü"ye bozulur. Doğru desen [^a-zçğıöşü\s] ile Türkçe Unicode karakterlerini de kapsayarak kelimeyi korur. İki başka yaygın hata da bu bağlamda hatırlanmalı: "değil" kelimesini stop-word olarak silmek "Hizmet kötü değil" gibi bir ifadede duyguyu tersine çevirebilir, ve emoji ile ünlem gibi sinyalleri her görevde silmek, sosyal medya duygu analizinde kaybedilebilecek ayrı bir özelliktir. Güvenli temel kalıp, büyük/küçük harf düzeltmesini ve genişletilmiş karakter kümesini bir arada kullanmaktır.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Vektörleştirme, metni algoritmaların işleyebileceği sayısal özelliklere dönüştürür. Bag-of-Words kelimelerin belge içindeki sayısını sayar ama koleksiyon genelindeki yaygınlığını dikkate almaz — "destek" üç belgede de geçse bile her belgede eşit ağırlıkla sayılır, bu yüzden basit sayım ve hızlı bir taban çizgisi için uygundur. TF-IDF ise belgede sık ama tüm koleksiyonda nadir geçen terimlere daha yüksek ağırlık verir, yani anlamı değil ayırt ediciliği ölçer; bu nedenle arama, benzerlik ve sınıflandırma görevlerinde tercih edilir. Dört belgeli küçük bir örnekte "destek" üç belgede, "yetersiz" yalnızca bir belgede geçiyorsa, IDF hesabı "yetersiz"in belgeyi ayırt etmede çok daha fazla ağırlık taşıdığını gösterir.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TF-IDF'in iki bileşenini formel olarak tanımlayalım. Terim Sıklığı, TF(t,d) = f(t,d) / n(d), bir terimin belge içindeki göreli sıklığını verir. Ters Belge Sıklığı, IDF(t) = log(N / df(t)), N toplam belge sayısı ve df(t) terimi içeren belge sayısı olmak üzere terimin koleksiyon genelindeki ayırt ediciliğini yansıtır. Bu ikisinin çarpımı, TFIDF(t,d) = TF(t,d) × IDF(t), nihai ağırlığı verir: sıklık ile ayırt ediciliğin birleşimidir. "İnternet" her yorumda geçiyorsa df(t) büyür ve düşük IDF alır; yalnızca birkaç şikâyette geçen "gecikme" ise daha ayırt edici olabilir — böylece salt kelime sayımının uzun belgeleri ve sık kelimeleri fazlasıyla öne çıkarma eğilimi dengelenir.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Aynı üç belgeyi CountVectorizer ve TfidfVectorizer ile işleyip çıktılarını yan yana karşılaştıralım. Bag-of-Words tablosunda "destek" belge 0 ve 1'de eşit, yani bir kez sayılır — bu iki belge arasında hiçbir ayrım yapılmaz. TF-IDF tablosunda ise aynı "destek" iki belgede geçtiği için ayırt ediciliği düşer ve 0.43 ağırlık alır, ama yalnızca tek bir belgede geçen "yavaş" ve "yetersiz" daha yüksek, 0.56 ağırlık alır. Bu çıktı, fit_transform() metodunun önce sözlüğü öğrenip sonra belgeleri matrise dönüştürdüğünü, ve toarray() çağrısının seyrek matrisi eğitim amacıyla yoğun bir diziye çevirdiğini gösterir — ancak bu dönüşüm büyük koleksiyonlarda bellek tüketimini ciddi biçimde artırabilir.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Kosinüs benzerliği, sim(A,B) = A·B / (‖A‖ ‖B‖) formülüyle, iki TF-IDF vektörünün uzunluğundan çok yönünü karşılaştırır. Uzun bir yorum ile kısa bir yorum aynı konuya odaklanıyorsa, normları farklı olsa bile yönleri yakın olabilir; bölme işlemi bu uzunluk farkını normalize eder ve yüksek boyutlu seyrek metin uzaylarında Öklid uzaklığına göre çoğu zaman daha anlamlı sonuç verir. Diyagramda θ açısı küçüldükçe, yani vektörler aynı yöne yaklaştıkça, benzerlik bire yaklaşır. Ancak bir sınır var: TF-IDF sözcük sırasını, ironiyi ve bağlama göre değişen anlamı doğrudan modellemez, ve iki belge aynı sözlükte temsil edilmeden kosinüs benzerliği hiç hesaplanamaz — sıra ve bağlam kritikse n-gram veya bağlamsal gömme denenmeli, seçenekler her zaman doğrulama kümesinde karşılaştırılmalıdır.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kosinüs benzerliğini sıralama görevinde kullanalım: amaç sorgu yorumuna en benzer yorumları bulmak, ilk yorum sorgu olarak kullanılıyor. TfidfVectorizer ile matris çıkarıldıktan sonra cosine_similarity, ilk satırı diğer tüm satırlarla karşılaştırır; sonuçlar sorted() ile skora göre azalan sırada dizilir. Çıktıda ilk yorum kendisiyle her zaman 1.00 skor alır çünkü sorgunun kendisidir; "bağlantı kesiliyor internet çok yavaş" ortak terimler nedeniyle 0.14 skor alırken, ortak terimi olmayan fatura şikâyeti 0.00 skor alır. Bu sıralama, en alakalı şikâyetleri otomatik olarak öne çıkarmayı mümkün kılar.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Sık yapılan bir yanlış anlama: "kosinüs benzerliği yüksekse iki yorum kesinlikle aynı anlama gelir" sanılır; oysa kosinüs benzerliği yalnızca ortak kelime kullanımının yönsel yakınlığını ölçer, anlamsal eşdeğerliği garanti etmez — iki yorum farklı duygu taşısa bile ortak teknik terimler nedeniyle yüksek skor alabilir, bu yüzden sonuç mutlaka örnek incelemeyle doğrulanmalıdır. Bununla bağlantılı teknik bir hata da sık görülür: iki ayrı TfidfVectorizer'ı farklı metinlerle ayrı ayrı fit etmek, her birinin kendi sözlüğünü kurmasına yol açar ve sütunların anlamı aynı olmadığı için bu iki vektör karşılaştırılamaz. Doğru yaklaşım, tek bir vektörleştiriciyi tüm belgelerle birlikte fit etmektir; böylece ortak bir sözlük kurulur ve kosinüs karşılaştırması anlamlı hale gelir. Diğer yaygın hatalar arasında test verisi üzerinde fit() çağırarak veri sızıntısı oluşturmak ve benzerlik skorunu kesin "aynı anlam" kanıtı saymak da sayılabilir; çözüm, vektörleştiriciyi yalnızca eğitim verisinde öğrenmek ve skorları örnek incelemeyle doğrulamaktır.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Şimdi tüm parçaları uçtan uca bir duygu analizi boru hattında birleştirelim. train_test_split, stratify=etiketler parametresiyle eğitim ve test kümelerinde sınıf oranlarını korur — küçük veri kümelerinde bu, güvenilir değerlendirme için önemlidir. Pipeline, TfidfVectorizer ile ngram_range=(1,2) ayarını ve LogisticRegression'ı tek bir nesnede zincirler; ngram_range tekil kelimelerin yanında "değil iyi" gibi ikili öbekleri de yakalar. Pipeline kullanmanın kritik faydası, fit_transform ile fit'i aynı nesnede birleştirerek veri sızıntısını önlemesidir, çünkü TF-IDF sözlüğü yalnızca eğitim verisiyle öğrenilir; ayrıca üretim ortamında vektörleştirici ve modelin her zaman birlikte kaydedilip taşınmasını mümkün kılar.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Eğitilen modeli classification_report ile değerlendirelim. Bu küçük örnek veri kümesinde model, negatif sınıfta 0.50 precision ve 1.00 recall ile makul davranırken, pozitif sınıfı hiç doğru tahmin edemiyor — precision, recall ve f1-score'u sıfır. Genel accuracy 0.50 görünse de bu rakam yanıltıcıdır, çünkü ağırlıklı ortalama metrikler de 0.33 f1-score ile modelin gerçek performansının zayıf olduğunu gösteriyor. Precision, pozitif dediklerimizin kaçının gerçekten pozitif olduğunu; recall, gerçek pozitiflerin kaçını modelin yakalayabildiğini; f1-score ise bu ikisinin dengeli ortalamasını verir ve dengesiz sınıflarda accuracy'den çok daha güvenilirdir. Bu örnek, gerçek bir projede çok daha fazla etiketli veriye ihtiyaç duyulduğunu ve accuracy'nin tek başına asla yeterli olmadığını hatırlatır — her zaman sınıf başına metriklere bakılmalıdır.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MusteriYorumuAnalizcisi sınıfı, bu bölümde öğrendiklerimizi yeniden kullanılabilir bir uygulamada toplar: init metodu TfidfVectorizer ve LogisticRegression'ı içeren bir Pipeline kurar, egit() metodu bu boru hattını yorumlar ve etiketlerle eğitir, analiz_et() metodu ise yeni bir yorum için tahmin döndürür. cosine_similarity ile en benzer geçmiş şikâyeti bularak yönlendirme önerisi de analiz_et() içine ek bir adım olarak eklenebilir. Bu programı genişletmek için üç yön önerilir: anonimleştirilmiş bağlam alanları — ürün kategorisi, kanal — ekleyerek tahmin gücünü artırmak, iki sınıfı üçe çıkarıp olumlu, nötr ve olumsuz ayrımını yeniden değerlendirmek, ve model metriklerini ile sürüm bilgisini raporlayan bir günlükleme adımı eklemek.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alıştırmada hatalı kodda dört sorunu bulmanız isteniyor: yorumlar demet olarak tanımlanmış oysa liste gerekiyor, fit_transform boş bir dizeyle çağrılmış, tahmin adımında sınır dışı bir index kullanılmış, ve stop-word listesi doğrulanmadan doğrudan kullanıcıdan alınmış — bu son madde anlamlı kelimeleri yanlışlıkla silebilir. Düzeltilmiş kodda yorumlar köşeli parantezle liste yapılmış, fit_transform gerçek yorum listesiyle çağrılmış, index matris[0:1] ile güvenli bir dilime indirgenmiş, ve stop_words yalnızca dil doğrulandığında ayarlanmış. Kendinize sorun: liste ile demet farkı neden hataya yol açar, boş bir girdi neden fit_transform'a verilemez, sınır dışı index nasıl önlenir, ve bir Türkçe stop-word listesi kullanılmadan önce nasıl doğrulanmalıdır?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bölümün merkezi uyarısı şudur: duygu etiketi, müşteri kaybı etiketi değildir. Beş gerçek dünya tuzağına dikkat edilmelidir. Veri sızıntısı, vektörleştiriciyi tüm veride fit etmekten doğar ve test performansını yapay şekilde şişirir. Sınıf dengesizliği, az örnekli bir sınıfın gözden kaybolmasına yol açar ve accuracy'yi yanıltıcı biçimde yüksek gösterebilir. Türkçe ekler, aynı kökün farklı çekimlerini ayrı özellik olarak sayar; bu nedenle kök veya gövde indirgeme gerekebilir. Kişisel veri, yorumlarda ad, adres veya sipariş numarası olarak sızabilir ve işlenmeden önce maskelenmelidir. Sözlük kayması, yeni ürün ve terimlerin zamanla sözlüğü eskitmesidir; bu yüzden model periyodik olarak yeniden eğitilmelidir. Son bir hatırlatma: modelin çıktı üretmesi, kararın doğru veya adil olduğu anlamına gelmez — her tahmin bir insan tarafından örnekleme ile doğrulanmalıdır.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Bag-of-Words ve TF-IDF'in temel varsayımı, kelimelerin bağımsız ve sırasız geçtiğidir; bu basitleştirme hesaplamayı kolaylaştırır ama söz dizimini ve bağlamı yok sayar, bu yüzden bir yöntem seçerken bu varsayımın sonucu ne kadar etkilediği değerlendirilmelidir. Formal olarak tfidf(t,d), tf(t,d) ile log((1+N)/(1+df(t)))+1 çarpımının ürünüdür, ve kosinüs benzerliği sim(A,B) = (A·B)/(‖A‖ ‖B‖) ile tanımlanır. TF-IDF ile temsil edilen belgeler ortak sözlükteki terim ağırlıklarına göre karşılaştırılabilir hale gelir; kosinüs benzerliği bu ağırlık vektörlerinin yönünü karşılaştırarak konu yakınlığını ölçer. Düzgün biçimlendirilmiş varsayımlar ve formal tanımlar, bir yöntemin ne zaman geçerli olduğunu — ve sınırlarını fark etmeyi — mümkün kılar.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metin temsili yöntemini karşılaştıralım. Bag-of-Words yalnızca kelime sayımını korur, sıra korunmaz; hızlı bir taban çizgisi ve basit sınıflandırma için uygundur, ama sık kelimeler anlamsız yere ağır basar. TF-IDF terim ağırlığını korur ve ayırt ediciliği ölçer; arama, benzerlik ve orta ölçekli sınıflandırmada kullanılır, ama sözcük sırasını ve bağlamı yakalamaz. Bağlamsal gömme ise anlamı ve cümle içi ilişkileri korur; ironi, çok anlamlılık ve karmaşık NLP görevlerinde tercih edilir, fakat daha yüksek hesaplama maliyeti ve karmaşıklık getirir. Karar kuralı basittir: basitlik ve hız önceliğinde TF-IDF yeterlidir, sıra veya bağlam kritikse bağlamsal gömme değerlendirilmeli — seçenekler her zaman doğrulama kümesinde karşılaştırılmalıdır.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temel yapı taşını öğrendik: ön işleme tokenization, küçük harfe çevirme ve stop-word temizliğiyle metni sadeleştirir; vektörleştirmede Bag-of-Words sayar, TF-IDF ise ayırt ediciliğe göre ağırlıklandırır; kosinüs benzerliği vektörlerin yönünü karşılaştırır ve bunun için ortak bir sözlük şarttır; Pipeline vektörleştirici ile modeli tek nesnede birleştirerek veri sızıntısını önler; değerlendirmede precision, recall ve f1-score accuracy'den daha güvenilir bilgi verir; ve sorumlu kullanım için kişisel veri, sınıf dengesi ve sözlük kayması her zaman kontrol edilmelidir. Metin madenciliğinin en önemli katkısı sayı üretmek değildir — bir model çıktısını insan yargısıyla doğrulanabilir hale getirmektir.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Duygu sınıflandırıcımız artık bir tahmin üretebiliyor; sıradaki soru, bu tahmine neden güvenmemiz — ya da güvenmememiz — gerektiğidir. Bu bölümde metni TF-IDF ile vektörleştirmeyi ve kosinüs benzerliğiyle yorumları sıralamayı öğrendiniz. Sıradaki bölümde SHAP ve LIME ile modeli açıklamayı ele alacağız: kara kutu tahminlerinin hangi kelimeler tarafından sürüklendiğini göstererek modeli açacaksınız. Her sınıflandırma kararında, hangi kelimelerin sonucu sürüklediğini sorgulamayı bir alışkanlık haline getirin.</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12_metin_madenciligi_nlp-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12_metin_madenciligi_nlp-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left-panel"/>
          <p:cNvSpPr/>
          <p:nvPr/>
        </p:nvSpPr>
        <p:spPr>
          <a:xfrm>
            <a:off x="0" y="0"/>
            <a:ext cx="4191000" cy="6858000"/>
          </a:xfrm>
          <a:prstGeom prst="rect">
            <a:avLst/>
          </a:prstGeom>
          <a:solidFill>
            <a:srgbClr val="12355B"/>
          </a:solidFill>
          <a:ln>
            <a:noFill/>
          </a:ln>
        </p:spPr>
      </p:sp>
      <p:grpSp>
        <p:nvGrpSpPr>
          <p:cNvPr id="5" name="chapter-number"/>
          <p:cNvGrpSpPr/>
          <p:nvPr/>
        </p:nvGrpSpPr>
        <p:grpSpPr>
          <a:xfrm>
            <a:off x="552450" y="2646998"/>
            <a:ext cx="1787319" cy="2491739"/>
            <a:chOff x="552450" y="2646998"/>
            <a:chExt cx="1787319" cy="2491739"/>
          </a:xfrm>
        </p:grpSpPr>
        <p:sp>
          <p:nvSpPr>
            <p:cNvPr id="3" name="TextBox 3"/>
            <p:cNvSpPr txBox="1"/>
            <p:nvPr/>
          </p:nvSpPr>
          <p:spPr>
            <a:xfrm>
              <a:off x="561594" y="2646998"/>
              <a:ext cx="1585394" cy="381381"/>
            </a:xfrm>
            <a:prstGeom prst="rect">
              <a:avLst/>
            </a:prstGeom>
            <a:noFill/>
            <a:ln>
              <a:noFill/>
            </a:ln>
          </p:spPr>
          <p:txBody>
            <a:bodyPr wrap="none" lIns="0" tIns="0" rIns="0" bIns="0" anchor="t" anchorCtr="0">
              <a:spAutoFit/>
            </a:bodyPr>
            <a:lstStyle/>
            <a:p>
              <a:pPr algn="l"/>
              <a:r>
                <a:rPr lang="tr-TR" sz="1950" b="1" spc="300" dirty="0">
                  <a:solidFill>
                    <a:srgbClr val="00A6A6"/>
                  </a:solidFill>
                  <a:latin typeface="+mj-lt"/>
                  <a:ea typeface="+mj-ea"/>
                  <a:cs typeface="+mj-cs"/>
                </a:rPr>
                <a:t>BÖLÜM 12</a:t>
              </a:r>
            </a:p>
          </p:txBody>
        </p:sp>
        <p:sp>
          <p:nvSpPr>
            <p:cNvPr id="4" name="TextBox 4"/>
            <p:cNvSpPr txBox="1"/>
            <p:nvPr/>
          </p:nvSpPr>
          <p:spPr>
            <a:xfrm>
              <a:off x="552450" y="2976562"/>
              <a:ext cx="1787319" cy="2162175"/>
            </a:xfrm>
            <a:prstGeom prst="rect">
              <a:avLst/>
            </a:prstGeom>
            <a:noFill/>
            <a:ln>
              <a:noFill/>
            </a:ln>
          </p:spPr>
          <p:txBody>
            <a:bodyPr wrap="none" lIns="0" tIns="0" rIns="0" bIns="0" anchor="t" anchorCtr="0">
              <a:spAutoFit/>
            </a:bodyPr>
            <a:lstStyle/>
            <a:p>
              <a:pPr algn="l"/>
              <a:r>
                <a:rPr lang="tr-TR" sz="11250" b="1" dirty="0">
                  <a:solidFill>
                    <a:srgbClr val="FFFFFF"/>
                  </a:solidFill>
                  <a:latin typeface="+mj-lt"/>
                  <a:ea typeface="+mj-ea"/>
                  <a:cs typeface="+mj-cs"/>
                </a:rPr>
                <a:t>12</a:t>
              </a:r>
            </a:p>
          </p:txBody>
        </p:sp>
      </p:grpSp>
      <p:grpSp>
        <p:nvGrpSpPr>
          <p:cNvPr id="7" name="cover-meta"/>
          <p:cNvGrpSpPr/>
          <p:nvPr/>
        </p:nvGrpSpPr>
        <p:grpSpPr>
          <a:xfrm>
            <a:off x="565404" y="5756910"/>
            <a:ext cx="2290572" cy="482346"/>
            <a:chOff x="565404" y="5756910"/>
            <a:chExt cx="2290572" cy="482346"/>
          </a:xfrm>
        </p:grpSpPr>
        <p:sp>
          <p:nvSpPr>
            <p:cNvPr id="6" name="TextBox 6"/>
            <p:cNvSpPr txBox="1"/>
            <p:nvPr/>
          </p:nvSpPr>
          <p:spPr>
            <a:xfrm>
              <a:off x="565404" y="5756910"/>
              <a:ext cx="2290572" cy="482346"/>
            </a:xfrm>
            <a:prstGeom prst="rect">
              <a:avLst/>
            </a:prstGeom>
            <a:noFill/>
            <a:ln>
              <a:noFill/>
            </a:ln>
          </p:spPr>
          <p:txBody>
            <a:bodyPr wrap="none" lIns="0" tIns="0" rIns="0" bIns="0" anchor="t" anchorCtr="0">
              <a:spAutoFit/>
            </a:bodyPr>
            <a:lstStyle/>
            <a:p>
              <a:pPr algn="l">
                <a:lnSpc>
                  <a:spcPts val="1950"/>
                </a:lnSpc>
              </a:pPr>
              <a:r>
                <a:rPr lang="tr-TR" sz="1200" dirty="0">
                  <a:solidFill>
                    <a:srgbClr val="EAF4F6"/>
                  </a:solidFill>
                  <a:latin typeface="+mn-lt"/>
                  <a:ea typeface="+mn-ea"/>
                  <a:cs typeface="+mn-cs"/>
                </a:rPr>
                <a:t>Modern Veri Madenciliğine Giriş</a:t>
              </a:r>
              <a:br/>
              <a:r>
                <a:rPr lang="tr-TR" sz="1200" dirty="0">
                  <a:solidFill>
                    <a:srgbClr val="EAF4F6"/>
                  </a:solidFill>
                  <a:latin typeface="+mn-lt"/>
                  <a:ea typeface="+mn-ea"/>
                  <a:cs typeface="+mn-cs"/>
                </a:rPr>
                <a:t>Prof. Dr. İsmail KIRBAŞ</a:t>
              </a:r>
            </a:p>
          </p:txBody>
        </p:sp>
      </p:grpSp>
      <p:grpSp>
        <p:nvGrpSpPr>
          <p:cNvPr id="9" name="page-title"/>
          <p:cNvGrpSpPr/>
          <p:nvPr/>
        </p:nvGrpSpPr>
        <p:grpSpPr>
          <a:xfrm>
            <a:off x="4629150" y="2213610"/>
            <a:ext cx="3594545" cy="2152650"/>
            <a:chOff x="4629150" y="2213610"/>
            <a:chExt cx="3594545" cy="2152650"/>
          </a:xfrm>
        </p:grpSpPr>
        <p:sp>
          <p:nvSpPr>
            <p:cNvPr id="8" name="TextBox 8"/>
            <p:cNvSpPr txBox="1"/>
            <p:nvPr/>
          </p:nvSpPr>
          <p:spPr>
            <a:xfrm>
              <a:off x="4629150" y="2213610"/>
              <a:ext cx="3594545" cy="2152650"/>
            </a:xfrm>
            <a:prstGeom prst="rect">
              <a:avLst/>
            </a:prstGeom>
            <a:noFill/>
            <a:ln>
              <a:noFill/>
            </a:ln>
          </p:spPr>
          <p:txBody>
            <a:bodyPr wrap="none" lIns="0" tIns="0" rIns="0" bIns="0" anchor="t" anchorCtr="0">
              <a:spAutoFit/>
            </a:bodyPr>
            <a:lstStyle/>
            <a:p>
              <a:pPr algn="l">
                <a:lnSpc>
                  <a:spcPts val="5250"/>
                </a:lnSpc>
              </a:pPr>
              <a:r>
                <a:rPr lang="tr-TR" sz="4200" b="1" dirty="0">
                  <a:solidFill>
                    <a:srgbClr val="12355B"/>
                  </a:solidFill>
                  <a:latin typeface="+mj-lt"/>
                  <a:ea typeface="+mj-ea"/>
                  <a:cs typeface="+mj-cs"/>
                </a:rPr>
                <a:t>Metin</a:t>
              </a:r>
              <a:br/>
              <a:r>
                <a:rPr lang="tr-TR" sz="4200" b="1" dirty="0">
                  <a:solidFill>
                    <a:srgbClr val="12355B"/>
                  </a:solidFill>
                  <a:latin typeface="+mj-lt"/>
                  <a:ea typeface="+mj-ea"/>
                  <a:cs typeface="+mj-cs"/>
                </a:rPr>
                <a:t>Madenciliğine</a:t>
              </a:r>
              <a:br/>
              <a:r>
                <a:rPr lang="tr-TR" sz="4200" b="1" dirty="0">
                  <a:solidFill>
                    <a:srgbClr val="12355B"/>
                  </a:solidFill>
                  <a:latin typeface="+mj-lt"/>
                  <a:ea typeface="+mj-ea"/>
                  <a:cs typeface="+mj-cs"/>
                </a:rPr>
                <a:t>Giriş</a:t>
              </a:r>
            </a:p>
          </p:txBody>
        </p:sp>
      </p:grpSp>
      <p:grpSp>
        <p:nvGrpSpPr>
          <p:cNvPr id="13" name="subtitle-block"/>
          <p:cNvGrpSpPr/>
          <p:nvPr/>
        </p:nvGrpSpPr>
        <p:grpSpPr>
          <a:xfrm>
            <a:off x="4638294" y="4572000"/>
            <a:ext cx="4562856" cy="1071467"/>
            <a:chOff x="4638294" y="4572000"/>
            <a:chExt cx="4562856" cy="1071467"/>
          </a:xfrm>
        </p:grpSpPr>
        <p:sp>
          <p:nvSpPr>
            <p:cNvPr id="10" name="Rectangle 10"/>
            <p:cNvSpPr/>
            <p:nvPr/>
          </p:nvSpPr>
          <p:spPr>
            <a:xfrm>
              <a:off x="4648200" y="4572000"/>
              <a:ext cx="762000" cy="38100"/>
            </a:xfrm>
            <a:prstGeom prst="rect">
              <a:avLst/>
            </a:prstGeom>
            <a:solidFill>
              <a:srgbClr val="00A6A6"/>
            </a:solidFill>
            <a:ln>
              <a:noFill/>
            </a:ln>
          </p:spPr>
        </p:sp>
        <p:sp>
          <p:nvSpPr>
            <p:cNvPr id="11" name="TextBox 11"/>
            <p:cNvSpPr txBox="1"/>
            <p:nvPr/>
          </p:nvSpPr>
          <p:spPr>
            <a:xfrm>
              <a:off x="4638294" y="4723448"/>
              <a:ext cx="2940831" cy="381381"/>
            </a:xfrm>
            <a:prstGeom prst="rect">
              <a:avLst/>
            </a:prstGeom>
            <a:noFill/>
            <a:ln>
              <a:noFill/>
            </a:ln>
          </p:spPr>
          <p:txBody>
            <a:bodyPr wrap="none" lIns="0" tIns="0" rIns="0" bIns="0" anchor="t" anchorCtr="0">
              <a:spAutoFit/>
            </a:bodyPr>
            <a:lstStyle/>
            <a:p>
              <a:pPr algn="l"/>
              <a:r>
                <a:rPr lang="tr-TR" sz="1950" dirty="0">
                  <a:solidFill>
                    <a:srgbClr val="172B3A"/>
                  </a:solidFill>
                  <a:latin typeface="+mn-lt"/>
                  <a:ea typeface="+mn-ea"/>
                  <a:cs typeface="+mn-cs"/>
                </a:rPr>
                <a:t>TF-IDF ve Duygu Analizi</a:t>
              </a:r>
            </a:p>
          </p:txBody>
        </p:sp>
        <p:sp>
          <p:nvSpPr>
            <p:cNvPr id="12" name="TextBox 12"/>
            <p:cNvSpPr txBox="1"/>
            <p:nvPr/>
          </p:nvSpPr>
          <p:spPr>
            <a:xfrm>
              <a:off x="4640199" y="5068729"/>
              <a:ext cx="4560951"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52616B"/>
                  </a:solidFill>
                  <a:latin typeface="+mn-lt"/>
                  <a:ea typeface="+mn-ea"/>
                  <a:cs typeface="+mn-cs"/>
                </a:rPr>
                <a:t>Tokenizasyon, vektörleştirme ve gerçek dünya</a:t>
              </a:r>
              <a:br/>
              <a:r>
                <a:rPr lang="tr-TR" sz="1580" dirty="0">
                  <a:solidFill>
                    <a:srgbClr val="52616B"/>
                  </a:solidFill>
                  <a:latin typeface="+mn-lt"/>
                  <a:ea typeface="+mn-ea"/>
                  <a:cs typeface="+mn-cs"/>
                </a:rPr>
                <a:t>metin sınıflandırması</a:t>
              </a:r>
            </a:p>
          </p:txBody>
        </p:sp>
      </p:grpSp>
      <p:sp>
        <p:nvSpPr>
          <p:cNvPr id="14" name="Line 14"/>
          <p:cNvSpPr/>
          <p:nvPr/>
        </p:nvSpPr>
        <p:spPr>
          <a:xfrm>
            <a:off x="4648200" y="6286500"/>
            <a:ext cx="6591300" cy="1"/>
          </a:xfrm>
          <a:prstGeom prst="line">
            <a:avLst/>
          </a:prstGeom>
          <a:noFill/>
          <a:ln w="28575">
            <a:solidFill>
              <a:srgbClr val="00A6A6"/>
            </a:solidFill>
            <a:tailEnd type="arrow" w="lg" len="lg"/>
          </a:ln>
        </p:spPr>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intro"/>
          <p:cNvGrpSpPr/>
          <p:nvPr/>
        </p:nvGrpSpPr>
        <p:grpSpPr>
          <a:xfrm>
            <a:off x="601599" y="1258729"/>
            <a:ext cx="4968445" cy="308039"/>
            <a:chOff x="601599" y="1258729"/>
            <a:chExt cx="4968445" cy="308039"/>
          </a:xfrm>
        </p:grpSpPr>
        <p:sp>
          <p:nvSpPr>
            <p:cNvPr id="6" name="TextBox 6"/>
            <p:cNvSpPr txBox="1"/>
            <p:nvPr/>
          </p:nvSpPr>
          <p:spPr>
            <a:xfrm>
              <a:off x="601599" y="125872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q1"/>
          <p:cNvGrpSpPr/>
          <p:nvPr/>
        </p:nvGrpSpPr>
        <p:grpSpPr>
          <a:xfrm>
            <a:off x="609600" y="1695450"/>
            <a:ext cx="9780825" cy="495300"/>
            <a:chOff x="609600" y="1695450"/>
            <a:chExt cx="9780825" cy="495300"/>
          </a:xfrm>
        </p:grpSpPr>
        <p:sp>
          <p:nvSpPr>
            <p:cNvPr id="8" name="Rectangle 8"/>
            <p:cNvSpPr/>
            <p:nvPr/>
          </p:nvSpPr>
          <p:spPr>
            <a:xfrm>
              <a:off x="609600" y="1695450"/>
              <a:ext cx="57150" cy="495300"/>
            </a:xfrm>
            <a:prstGeom prst="rect">
              <a:avLst/>
            </a:prstGeom>
            <a:solidFill>
              <a:srgbClr val="00A6A6"/>
            </a:solidFill>
            <a:ln>
              <a:noFill/>
            </a:ln>
          </p:spPr>
        </p:sp>
        <p:sp>
          <p:nvSpPr>
            <p:cNvPr id="9" name="TextBox 9"/>
            <p:cNvSpPr txBox="1"/>
            <p:nvPr/>
          </p:nvSpPr>
          <p:spPr>
            <a:xfrm>
              <a:off x="848106" y="1710690"/>
              <a:ext cx="158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1</a:t>
              </a:r>
            </a:p>
          </p:txBody>
        </p:sp>
        <p:sp>
          <p:nvSpPr>
            <p:cNvPr id="10" name="TextBox 10"/>
            <p:cNvSpPr txBox="1"/>
            <p:nvPr/>
          </p:nvSpPr>
          <p:spPr>
            <a:xfrm>
              <a:off x="1229106" y="1824990"/>
              <a:ext cx="916131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Ham bir müşteri yorumunu analiz edilebilir sayısal veriye nasıl dönüştürürüz?</a:t>
              </a:r>
            </a:p>
          </p:txBody>
        </p:sp>
      </p:grpSp>
      <p:grpSp>
        <p:nvGrpSpPr>
          <p:cNvPr id="15" name="q2"/>
          <p:cNvGrpSpPr/>
          <p:nvPr/>
        </p:nvGrpSpPr>
        <p:grpSpPr>
          <a:xfrm>
            <a:off x="609600" y="2362200"/>
            <a:ext cx="8545140" cy="495300"/>
            <a:chOff x="609600" y="2362200"/>
            <a:chExt cx="8545140" cy="495300"/>
          </a:xfrm>
        </p:grpSpPr>
        <p:sp>
          <p:nvSpPr>
            <p:cNvPr id="12" name="Rectangle 12"/>
            <p:cNvSpPr/>
            <p:nvPr/>
          </p:nvSpPr>
          <p:spPr>
            <a:xfrm>
              <a:off x="609600" y="2362200"/>
              <a:ext cx="57150" cy="495300"/>
            </a:xfrm>
            <a:prstGeom prst="rect">
              <a:avLst/>
            </a:prstGeom>
            <a:solidFill>
              <a:srgbClr val="00A6A6"/>
            </a:solidFill>
            <a:ln>
              <a:noFill/>
            </a:ln>
          </p:spPr>
        </p:sp>
        <p:sp>
          <p:nvSpPr>
            <p:cNvPr id="13" name="TextBox 13"/>
            <p:cNvSpPr txBox="1"/>
            <p:nvPr/>
          </p:nvSpPr>
          <p:spPr>
            <a:xfrm>
              <a:off x="848106" y="2377440"/>
              <a:ext cx="158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2</a:t>
              </a:r>
            </a:p>
          </p:txBody>
        </p:sp>
        <p:sp>
          <p:nvSpPr>
            <p:cNvPr id="14" name="TextBox 14"/>
            <p:cNvSpPr txBox="1"/>
            <p:nvPr/>
          </p:nvSpPr>
          <p:spPr>
            <a:xfrm>
              <a:off x="1229106" y="2491740"/>
              <a:ext cx="792563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Tokenization ve stop-word temizliği metnin anlamını nasıl etkiler?</a:t>
              </a:r>
            </a:p>
          </p:txBody>
        </p:sp>
      </p:grpSp>
      <p:grpSp>
        <p:nvGrpSpPr>
          <p:cNvPr id="19" name="q3"/>
          <p:cNvGrpSpPr/>
          <p:nvPr/>
        </p:nvGrpSpPr>
        <p:grpSpPr>
          <a:xfrm>
            <a:off x="609600" y="3028950"/>
            <a:ext cx="6978535" cy="495300"/>
            <a:chOff x="609600" y="3028950"/>
            <a:chExt cx="6978535" cy="495300"/>
          </a:xfrm>
        </p:grpSpPr>
        <p:sp>
          <p:nvSpPr>
            <p:cNvPr id="16" name="Rectangle 16"/>
            <p:cNvSpPr/>
            <p:nvPr/>
          </p:nvSpPr>
          <p:spPr>
            <a:xfrm>
              <a:off x="609600" y="3028950"/>
              <a:ext cx="57150" cy="495300"/>
            </a:xfrm>
            <a:prstGeom prst="rect">
              <a:avLst/>
            </a:prstGeom>
            <a:solidFill>
              <a:srgbClr val="00A6A6"/>
            </a:solidFill>
            <a:ln>
              <a:noFill/>
            </a:ln>
          </p:spPr>
        </p:sp>
        <p:sp>
          <p:nvSpPr>
            <p:cNvPr id="17" name="TextBox 17"/>
            <p:cNvSpPr txBox="1"/>
            <p:nvPr/>
          </p:nvSpPr>
          <p:spPr>
            <a:xfrm>
              <a:off x="848106" y="3044190"/>
              <a:ext cx="158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3</a:t>
              </a:r>
            </a:p>
          </p:txBody>
        </p:sp>
        <p:sp>
          <p:nvSpPr>
            <p:cNvPr id="18" name="TextBox 18"/>
            <p:cNvSpPr txBox="1"/>
            <p:nvPr/>
          </p:nvSpPr>
          <p:spPr>
            <a:xfrm>
              <a:off x="1229106" y="3158490"/>
              <a:ext cx="635902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TF-IDF, önemli kelimeleri hangi mantıkla öne çıkarır?</a:t>
              </a:r>
            </a:p>
          </p:txBody>
        </p:sp>
      </p:grpSp>
      <p:grpSp>
        <p:nvGrpSpPr>
          <p:cNvPr id="23" name="q4"/>
          <p:cNvGrpSpPr/>
          <p:nvPr/>
        </p:nvGrpSpPr>
        <p:grpSpPr>
          <a:xfrm>
            <a:off x="609600" y="3695700"/>
            <a:ext cx="8617511" cy="495300"/>
            <a:chOff x="609600" y="3695700"/>
            <a:chExt cx="8617511" cy="495300"/>
          </a:xfrm>
        </p:grpSpPr>
        <p:sp>
          <p:nvSpPr>
            <p:cNvPr id="20" name="Rectangle 20"/>
            <p:cNvSpPr/>
            <p:nvPr/>
          </p:nvSpPr>
          <p:spPr>
            <a:xfrm>
              <a:off x="609600" y="3695700"/>
              <a:ext cx="57150" cy="495300"/>
            </a:xfrm>
            <a:prstGeom prst="rect">
              <a:avLst/>
            </a:prstGeom>
            <a:solidFill>
              <a:srgbClr val="00A6A6"/>
            </a:solidFill>
            <a:ln>
              <a:noFill/>
            </a:ln>
          </p:spPr>
        </p:sp>
        <p:sp>
          <p:nvSpPr>
            <p:cNvPr id="21" name="TextBox 21"/>
            <p:cNvSpPr txBox="1"/>
            <p:nvPr/>
          </p:nvSpPr>
          <p:spPr>
            <a:xfrm>
              <a:off x="848106" y="3710940"/>
              <a:ext cx="158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4</a:t>
              </a:r>
            </a:p>
          </p:txBody>
        </p:sp>
        <p:sp>
          <p:nvSpPr>
            <p:cNvPr id="22" name="TextBox 22"/>
            <p:cNvSpPr txBox="1"/>
            <p:nvPr/>
          </p:nvSpPr>
          <p:spPr>
            <a:xfrm>
              <a:off x="1229106" y="3825240"/>
              <a:ext cx="799800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Kosinüs benzerliği iki metnin benzerliğini neden yön üzerinden ölçer?</a:t>
              </a:r>
            </a:p>
          </p:txBody>
        </p:sp>
      </p:grpSp>
      <p:grpSp>
        <p:nvGrpSpPr>
          <p:cNvPr id="27" name="q5"/>
          <p:cNvGrpSpPr/>
          <p:nvPr/>
        </p:nvGrpSpPr>
        <p:grpSpPr>
          <a:xfrm>
            <a:off x="609600" y="4362450"/>
            <a:ext cx="8775295" cy="495300"/>
            <a:chOff x="609600" y="4362450"/>
            <a:chExt cx="8775295" cy="495300"/>
          </a:xfrm>
        </p:grpSpPr>
        <p:sp>
          <p:nvSpPr>
            <p:cNvPr id="24" name="Rectangle 24"/>
            <p:cNvSpPr/>
            <p:nvPr/>
          </p:nvSpPr>
          <p:spPr>
            <a:xfrm>
              <a:off x="609600" y="4362450"/>
              <a:ext cx="57150" cy="495300"/>
            </a:xfrm>
            <a:prstGeom prst="rect">
              <a:avLst/>
            </a:prstGeom>
            <a:solidFill>
              <a:srgbClr val="00A6A6"/>
            </a:solidFill>
            <a:ln>
              <a:noFill/>
            </a:ln>
          </p:spPr>
        </p:sp>
        <p:sp>
          <p:nvSpPr>
            <p:cNvPr id="25" name="TextBox 25"/>
            <p:cNvSpPr txBox="1"/>
            <p:nvPr/>
          </p:nvSpPr>
          <p:spPr>
            <a:xfrm>
              <a:off x="848106" y="4377690"/>
              <a:ext cx="158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5</a:t>
              </a:r>
            </a:p>
          </p:txBody>
        </p:sp>
        <p:sp>
          <p:nvSpPr>
            <p:cNvPr id="26" name="TextBox 26"/>
            <p:cNvSpPr txBox="1"/>
            <p:nvPr/>
          </p:nvSpPr>
          <p:spPr>
            <a:xfrm>
              <a:off x="1229106" y="4491990"/>
              <a:ext cx="815578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Duygu analizi boru hattında eğitim ve tahmin adımları nasıl birleşir?</a:t>
              </a:r>
            </a:p>
          </p:txBody>
        </p:sp>
      </p:grpSp>
      <p:grpSp>
        <p:nvGrpSpPr>
          <p:cNvPr id="31" name="goal-callout"/>
          <p:cNvGrpSpPr/>
          <p:nvPr/>
        </p:nvGrpSpPr>
        <p:grpSpPr>
          <a:xfrm>
            <a:off x="609600" y="5238750"/>
            <a:ext cx="10972800" cy="1047750"/>
            <a:chOff x="609600" y="5238750"/>
            <a:chExt cx="10972800" cy="1047750"/>
          </a:xfrm>
        </p:grpSpPr>
        <p:sp>
          <p:nvSpPr>
            <p:cNvPr id="28" name="Rectangle 28"/>
            <p:cNvSpPr/>
            <p:nvPr/>
          </p:nvSpPr>
          <p:spPr>
            <a:xfrm>
              <a:off x="609600" y="5238750"/>
              <a:ext cx="10972800" cy="1047750"/>
            </a:xfrm>
            <a:prstGeom prst="roundRect">
              <a:avLst>
                <a:gd name="adj" fmla="val 7273"/>
              </a:avLst>
            </a:prstGeom>
            <a:solidFill>
              <a:srgbClr val="EAF4F6"/>
            </a:solidFill>
            <a:ln>
              <a:noFill/>
            </a:ln>
          </p:spPr>
        </p:sp>
        <p:sp>
          <p:nvSpPr>
            <p:cNvPr id="29" name="TextBox 29"/>
            <p:cNvSpPr txBox="1"/>
            <p:nvPr/>
          </p:nvSpPr>
          <p:spPr>
            <a:xfrm>
              <a:off x="905256" y="5387340"/>
              <a:ext cx="15734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Hedefi</a:t>
              </a:r>
            </a:p>
          </p:txBody>
        </p:sp>
        <p:sp>
          <p:nvSpPr>
            <p:cNvPr id="30" name="TextBox 30"/>
            <p:cNvSpPr txBox="1"/>
            <p:nvPr/>
          </p:nvSpPr>
          <p:spPr>
            <a:xfrm>
              <a:off x="906399" y="5716429"/>
              <a:ext cx="882497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Öğrenci, Türkçe müşteri yorumlarını temizleyen, TF-IDF ile vektörleştiren, benzerlik</a:t>
              </a:r>
              <a:br/>
              <a:r>
                <a:rPr lang="tr-TR" sz="1580" dirty="0">
                  <a:solidFill>
                    <a:srgbClr val="172B3A"/>
                  </a:solidFill>
                  <a:latin typeface="+mn-lt"/>
                  <a:ea typeface="+mn-ea"/>
                  <a:cs typeface="+mn-cs"/>
                </a:rPr>
                <a:t>hesaplayan ve duygu tahmini yapan tekrar kullanılabilir bir Python boru hattı kuracaktır.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520190"/>
            <a:ext cx="8891526" cy="637128"/>
            <a:chOff x="685800" y="1520190"/>
            <a:chExt cx="8891526" cy="637128"/>
          </a:xfrm>
        </p:grpSpPr>
        <p:sp>
          <p:nvSpPr>
            <p:cNvPr id="9" name="Rectangle 9"/>
            <p:cNvSpPr/>
            <p:nvPr/>
          </p:nvSpPr>
          <p:spPr>
            <a:xfrm>
              <a:off x="685800" y="1524000"/>
              <a:ext cx="57150" cy="495300"/>
            </a:xfrm>
            <a:prstGeom prst="rect">
              <a:avLst/>
            </a:prstGeom>
            <a:solidFill>
              <a:srgbClr val="00A6A6"/>
            </a:solidFill>
            <a:ln>
              <a:noFill/>
            </a:ln>
          </p:spPr>
        </p:sp>
        <p:sp>
          <p:nvSpPr>
            <p:cNvPr id="10" name="TextBox 10"/>
            <p:cNvSpPr txBox="1"/>
            <p:nvPr/>
          </p:nvSpPr>
          <p:spPr>
            <a:xfrm>
              <a:off x="981456" y="1520190"/>
              <a:ext cx="77695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Ham Türkçe metni küçük harfe çevirip token listesi oluşturmak</a:t>
              </a:r>
            </a:p>
          </p:txBody>
        </p:sp>
        <p:sp>
          <p:nvSpPr>
            <p:cNvPr id="11" name="TextBox 11"/>
            <p:cNvSpPr txBox="1"/>
            <p:nvPr/>
          </p:nvSpPr>
          <p:spPr>
            <a:xfrm>
              <a:off x="982599" y="1849279"/>
              <a:ext cx="859472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noktalama arındırma ve tokenization fonksiyonunu çalışır kodla göstermek</a:t>
              </a:r>
            </a:p>
          </p:txBody>
        </p:sp>
      </p:grpSp>
      <p:grpSp>
        <p:nvGrpSpPr>
          <p:cNvPr id="16" name="objective-2"/>
          <p:cNvGrpSpPr/>
          <p:nvPr/>
        </p:nvGrpSpPr>
        <p:grpSpPr>
          <a:xfrm>
            <a:off x="685800" y="2510790"/>
            <a:ext cx="7083485" cy="637128"/>
            <a:chOff x="685800" y="2510790"/>
            <a:chExt cx="7083485" cy="637128"/>
          </a:xfrm>
        </p:grpSpPr>
        <p:sp>
          <p:nvSpPr>
            <p:cNvPr id="13" name="Rectangle 13"/>
            <p:cNvSpPr/>
            <p:nvPr/>
          </p:nvSpPr>
          <p:spPr>
            <a:xfrm>
              <a:off x="685800" y="2514600"/>
              <a:ext cx="57150" cy="495300"/>
            </a:xfrm>
            <a:prstGeom prst="rect">
              <a:avLst/>
            </a:prstGeom>
            <a:solidFill>
              <a:srgbClr val="00A6A6"/>
            </a:solidFill>
            <a:ln>
              <a:noFill/>
            </a:ln>
          </p:spPr>
        </p:sp>
        <p:sp>
          <p:nvSpPr>
            <p:cNvPr id="14" name="TextBox 14"/>
            <p:cNvSpPr txBox="1"/>
            <p:nvPr/>
          </p:nvSpPr>
          <p:spPr>
            <a:xfrm>
              <a:off x="981456" y="2510790"/>
              <a:ext cx="616744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Göreve özel Türkçe stop-word kümesi tanımlamak</a:t>
              </a:r>
            </a:p>
          </p:txBody>
        </p:sp>
        <p:sp>
          <p:nvSpPr>
            <p:cNvPr id="15" name="TextBox 15"/>
            <p:cNvSpPr txBox="1"/>
            <p:nvPr/>
          </p:nvSpPr>
          <p:spPr>
            <a:xfrm>
              <a:off x="982599" y="2839879"/>
              <a:ext cx="67866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stop-word filtresinin sözlük boyutuna etkisini yorumlamak</a:t>
              </a:r>
            </a:p>
          </p:txBody>
        </p:sp>
      </p:grpSp>
      <p:grpSp>
        <p:nvGrpSpPr>
          <p:cNvPr id="20" name="objective-3"/>
          <p:cNvGrpSpPr/>
          <p:nvPr/>
        </p:nvGrpSpPr>
        <p:grpSpPr>
          <a:xfrm>
            <a:off x="685800" y="3501390"/>
            <a:ext cx="6823223" cy="637128"/>
            <a:chOff x="685800" y="3501390"/>
            <a:chExt cx="6823223" cy="637128"/>
          </a:xfrm>
        </p:grpSpPr>
        <p:sp>
          <p:nvSpPr>
            <p:cNvPr id="17" name="Rectangle 17"/>
            <p:cNvSpPr/>
            <p:nvPr/>
          </p:nvSpPr>
          <p:spPr>
            <a:xfrm>
              <a:off x="685800" y="3505200"/>
              <a:ext cx="57150" cy="495300"/>
            </a:xfrm>
            <a:prstGeom prst="rect">
              <a:avLst/>
            </a:prstGeom>
            <a:solidFill>
              <a:srgbClr val="00A6A6"/>
            </a:solidFill>
            <a:ln>
              <a:noFill/>
            </a:ln>
          </p:spPr>
        </p:sp>
        <p:sp>
          <p:nvSpPr>
            <p:cNvPr id="18" name="TextBox 18"/>
            <p:cNvSpPr txBox="1"/>
            <p:nvPr/>
          </p:nvSpPr>
          <p:spPr>
            <a:xfrm>
              <a:off x="981456" y="3501390"/>
              <a:ext cx="65275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Bag-of-Words ve TF-IDF temsillerini karşılaştırmak</a:t>
              </a:r>
            </a:p>
          </p:txBody>
        </p:sp>
        <p:sp>
          <p:nvSpPr>
            <p:cNvPr id="19" name="TextBox 19"/>
            <p:cNvSpPr txBox="1"/>
            <p:nvPr/>
          </p:nvSpPr>
          <p:spPr>
            <a:xfrm>
              <a:off x="982599" y="3830479"/>
              <a:ext cx="599976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uygun vektörleştirme yöntemini gerekçeyle seçmek</a:t>
              </a:r>
            </a:p>
          </p:txBody>
        </p:sp>
      </p:grpSp>
      <p:grpSp>
        <p:nvGrpSpPr>
          <p:cNvPr id="24" name="objective-4"/>
          <p:cNvGrpSpPr/>
          <p:nvPr/>
        </p:nvGrpSpPr>
        <p:grpSpPr>
          <a:xfrm>
            <a:off x="685800" y="4491990"/>
            <a:ext cx="8158225" cy="637128"/>
            <a:chOff x="685800" y="4491990"/>
            <a:chExt cx="8158225" cy="637128"/>
          </a:xfrm>
        </p:grpSpPr>
        <p:sp>
          <p:nvSpPr>
            <p:cNvPr id="21" name="Rectangle 21"/>
            <p:cNvSpPr/>
            <p:nvPr/>
          </p:nvSpPr>
          <p:spPr>
            <a:xfrm>
              <a:off x="685800" y="4495800"/>
              <a:ext cx="57150" cy="495300"/>
            </a:xfrm>
            <a:prstGeom prst="rect">
              <a:avLst/>
            </a:prstGeom>
            <a:solidFill>
              <a:srgbClr val="00A6A6"/>
            </a:solidFill>
            <a:ln>
              <a:noFill/>
            </a:ln>
          </p:spPr>
        </p:sp>
        <p:sp>
          <p:nvSpPr>
            <p:cNvPr id="22" name="TextBox 22"/>
            <p:cNvSpPr txBox="1"/>
            <p:nvPr/>
          </p:nvSpPr>
          <p:spPr>
            <a:xfrm>
              <a:off x="981456" y="4491990"/>
              <a:ext cx="786256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Kosinüs benzerliğiyle iki yorumun içerik yakınlığını hesaplamak</a:t>
              </a:r>
            </a:p>
          </p:txBody>
        </p:sp>
        <p:sp>
          <p:nvSpPr>
            <p:cNvPr id="23" name="TextBox 23"/>
            <p:cNvSpPr txBox="1"/>
            <p:nvPr/>
          </p:nvSpPr>
          <p:spPr>
            <a:xfrm>
              <a:off x="982599" y="4821079"/>
              <a:ext cx="595731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benzerlik skorunu yön açısı mantığıyla açıklamak</a:t>
              </a:r>
            </a:p>
          </p:txBody>
        </p:sp>
      </p:grpSp>
      <p:grpSp>
        <p:nvGrpSpPr>
          <p:cNvPr id="28" name="objective-5"/>
          <p:cNvGrpSpPr/>
          <p:nvPr/>
        </p:nvGrpSpPr>
        <p:grpSpPr>
          <a:xfrm>
            <a:off x="685800" y="5482590"/>
            <a:ext cx="9614383" cy="637128"/>
            <a:chOff x="685800" y="5482590"/>
            <a:chExt cx="9614383" cy="637128"/>
          </a:xfrm>
        </p:grpSpPr>
        <p:sp>
          <p:nvSpPr>
            <p:cNvPr id="25" name="Rectangle 25"/>
            <p:cNvSpPr/>
            <p:nvPr/>
          </p:nvSpPr>
          <p:spPr>
            <a:xfrm>
              <a:off x="685800" y="5486400"/>
              <a:ext cx="57150" cy="495300"/>
            </a:xfrm>
            <a:prstGeom prst="rect">
              <a:avLst/>
            </a:prstGeom>
            <a:solidFill>
              <a:srgbClr val="00A6A6"/>
            </a:solidFill>
            <a:ln>
              <a:noFill/>
            </a:ln>
          </p:spPr>
        </p:sp>
        <p:sp>
          <p:nvSpPr>
            <p:cNvPr id="26" name="TextBox 26"/>
            <p:cNvSpPr txBox="1"/>
            <p:nvPr/>
          </p:nvSpPr>
          <p:spPr>
            <a:xfrm>
              <a:off x="981456" y="5482590"/>
              <a:ext cx="931872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Pipeline, TfidfVectorizer ve LogisticRegression ile sınıflandırıcı eğitmek</a:t>
              </a:r>
            </a:p>
          </p:txBody>
        </p:sp>
        <p:sp>
          <p:nvSpPr>
            <p:cNvPr id="27" name="TextBox 27"/>
            <p:cNvSpPr txBox="1"/>
            <p:nvPr/>
          </p:nvSpPr>
          <p:spPr>
            <a:xfrm>
              <a:off x="982599" y="5811679"/>
              <a:ext cx="704231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eğitim/test ayrımını ve sızıntısız bir kurulumu göstermek</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836960" cy="668845"/>
            <a:chOff x="609600" y="171450"/>
            <a:chExt cx="9836960"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91465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metin madenciliği boru hattı</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35417"/>
              <a:chOff x="685800" y="2381250"/>
              <a:chExt cx="2381250" cy="1435417"/>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070" y="2614612"/>
                <a:ext cx="1598057"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Metin</a:t>
                </a:r>
                <a:br/>
                <a:r>
                  <a:rPr lang="tr-TR" sz="2250" b="1" dirty="0">
                    <a:solidFill>
                      <a:srgbClr val="FFFFFF"/>
                    </a:solidFill>
                    <a:latin typeface="+mn-lt"/>
                    <a:ea typeface="+mn-ea"/>
                    <a:cs typeface="+mn-cs"/>
                  </a:rPr>
                  <a:t>madenciliği</a:t>
                </a:r>
                <a:br/>
                <a:r>
                  <a:rPr lang="tr-TR" sz="2250" b="1" dirty="0">
                    <a:solidFill>
                      <a:srgbClr val="FFFFFF"/>
                    </a:solidFill>
                    <a:latin typeface="+mn-lt"/>
                    <a:ea typeface="+mn-ea"/>
                    <a:cs typeface="+mn-cs"/>
                  </a:rPr>
                  <a:t>boru hattı</a:t>
                </a:r>
              </a:p>
            </p:txBody>
          </p:sp>
        </p:grpSp>
        <p:grpSp>
          <p:nvGrpSpPr>
            <p:cNvPr id="29" name="map-node-token"/>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157764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Tokenization</a:t>
                </a:r>
              </a:p>
            </p:txBody>
          </p:sp>
          <p:sp>
            <p:nvSpPr>
              <p:cNvPr id="28" name="TextBox 28"/>
              <p:cNvSpPr txBox="1"/>
              <p:nvPr/>
            </p:nvSpPr>
            <p:spPr>
              <a:xfrm>
                <a:off x="4792599" y="1601629"/>
                <a:ext cx="2536492"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metni sözcüklere ayırır</a:t>
                </a:r>
              </a:p>
            </p:txBody>
          </p:sp>
        </p:grpSp>
        <p:grpSp>
          <p:nvGrpSpPr>
            <p:cNvPr id="33" name="map-node-stopword"/>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24689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Stop-word temizliği</a:t>
                </a:r>
              </a:p>
            </p:txBody>
          </p:sp>
          <p:sp>
            <p:nvSpPr>
              <p:cNvPr id="32" name="TextBox 32"/>
              <p:cNvSpPr txBox="1"/>
              <p:nvPr/>
            </p:nvSpPr>
            <p:spPr>
              <a:xfrm>
                <a:off x="4792599" y="2592229"/>
                <a:ext cx="335538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anlam taşımayan sözcükleri eler</a:t>
                </a:r>
              </a:p>
            </p:txBody>
          </p:sp>
        </p:grpSp>
        <p:grpSp>
          <p:nvGrpSpPr>
            <p:cNvPr id="37" name="map-node-tfidf"/>
            <p:cNvGrpSpPr/>
            <p:nvPr/>
          </p:nvGrpSpPr>
          <p:grpSpPr>
            <a:xfrm>
              <a:off x="4572000" y="3200400"/>
              <a:ext cx="4075829" cy="723900"/>
              <a:chOff x="4572000" y="3200400"/>
              <a:chExt cx="4075829"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279417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TF-IDF vektörleştirme</a:t>
                </a:r>
              </a:p>
            </p:txBody>
          </p:sp>
          <p:sp>
            <p:nvSpPr>
              <p:cNvPr id="36" name="TextBox 36"/>
              <p:cNvSpPr txBox="1"/>
              <p:nvPr/>
            </p:nvSpPr>
            <p:spPr>
              <a:xfrm>
                <a:off x="4792599" y="3582829"/>
                <a:ext cx="385523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ayırt edici terimleri ağırlıklandırır</a:t>
                </a:r>
              </a:p>
            </p:txBody>
          </p:sp>
        </p:grpSp>
        <p:grpSp>
          <p:nvGrpSpPr>
            <p:cNvPr id="41" name="map-node-cosine"/>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22264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Kosinüs benzerliği</a:t>
                </a:r>
              </a:p>
            </p:txBody>
          </p:sp>
          <p:sp>
            <p:nvSpPr>
              <p:cNvPr id="40" name="TextBox 40"/>
              <p:cNvSpPr txBox="1"/>
              <p:nvPr/>
            </p:nvSpPr>
            <p:spPr>
              <a:xfrm>
                <a:off x="4792599" y="4573429"/>
                <a:ext cx="331284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iki metnin yönünü karşılaştırır</a:t>
                </a:r>
              </a:p>
            </p:txBody>
          </p:sp>
        </p:grpSp>
        <p:grpSp>
          <p:nvGrpSpPr>
            <p:cNvPr id="45" name="map-node-pipeline"/>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38424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Duygu analizi sınıflandırıcısı</a:t>
                </a:r>
              </a:p>
            </p:txBody>
          </p:sp>
          <p:sp>
            <p:nvSpPr>
              <p:cNvPr id="44" name="TextBox 44"/>
              <p:cNvSpPr txBox="1"/>
              <p:nvPr/>
            </p:nvSpPr>
            <p:spPr>
              <a:xfrm>
                <a:off x="4792599" y="5716429"/>
                <a:ext cx="490973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Pipeline + TfidfVectorizer + LogisticRegression</a:t>
                </a:r>
              </a:p>
            </p:txBody>
          </p:sp>
        </p:grpSp>
        <p:grpSp>
          <p:nvGrpSpPr>
            <p:cNvPr id="50" name="map-legend"/>
            <p:cNvGrpSpPr/>
            <p:nvPr/>
          </p:nvGrpSpPr>
          <p:grpSpPr>
            <a:xfrm>
              <a:off x="685800" y="5528310"/>
              <a:ext cx="2810506" cy="577596"/>
              <a:chOff x="685800" y="5528310"/>
              <a:chExt cx="2810506"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24165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Boru hattından türeyen aşama</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20690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Aşamalar arası veri akışı</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5404988" cy="668845"/>
            <a:chOff x="609600" y="171450"/>
            <a:chExt cx="5404988"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471461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Metin madenciliği nedir?</a:t>
              </a:r>
            </a:p>
          </p:txBody>
        </p:sp>
      </p:grpSp>
      <p:grpSp>
        <p:nvGrpSpPr>
          <p:cNvPr id="17" name="definition-block"/>
          <p:cNvGrpSpPr/>
          <p:nvPr/>
        </p:nvGrpSpPr>
        <p:grpSpPr>
          <a:xfrm>
            <a:off x="609600" y="1257300"/>
            <a:ext cx="8519795" cy="990600"/>
            <a:chOff x="609600" y="1257300"/>
            <a:chExt cx="8519795" cy="990600"/>
          </a:xfrm>
        </p:grpSpPr>
        <p:sp>
          <p:nvSpPr>
            <p:cNvPr id="14" name="Rectangle 14"/>
            <p:cNvSpPr/>
            <p:nvPr/>
          </p:nvSpPr>
          <p:spPr>
            <a:xfrm>
              <a:off x="609600" y="1257300"/>
              <a:ext cx="57150" cy="990600"/>
            </a:xfrm>
            <a:prstGeom prst="rect">
              <a:avLst/>
            </a:prstGeom>
            <a:solidFill>
              <a:srgbClr val="00A6A6"/>
            </a:solidFill>
            <a:ln>
              <a:noFill/>
            </a:ln>
          </p:spPr>
        </p:sp>
        <p:sp>
          <p:nvSpPr>
            <p:cNvPr id="15" name="TextBox 15"/>
            <p:cNvSpPr txBox="1"/>
            <p:nvPr/>
          </p:nvSpPr>
          <p:spPr>
            <a:xfrm>
              <a:off x="9052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6" name="TextBox 16"/>
            <p:cNvSpPr txBox="1"/>
            <p:nvPr/>
          </p:nvSpPr>
          <p:spPr>
            <a:xfrm>
              <a:off x="906399" y="1658779"/>
              <a:ext cx="822299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Doğal dilde yazılmış yapılandırılmamış belgelerden örüntü, konu, duygu veya sınıf</a:t>
              </a:r>
              <a:br/>
              <a:r>
                <a:rPr lang="tr-TR" sz="1580" dirty="0">
                  <a:solidFill>
                    <a:srgbClr val="172B3A"/>
                  </a:solidFill>
                  <a:latin typeface="+mn-lt"/>
                  <a:ea typeface="+mn-ea"/>
                  <a:cs typeface="+mn-cs"/>
                </a:rPr>
                <a:t>etiketi çıkarma sürecidir. Metin doğrudan sayısal bir model girdisi değildir.</a:t>
              </a:r>
            </a:p>
          </p:txBody>
        </p:sp>
      </p:grpSp>
      <p:grpSp>
        <p:nvGrpSpPr>
          <p:cNvPr id="21" name="why-block"/>
          <p:cNvGrpSpPr/>
          <p:nvPr/>
        </p:nvGrpSpPr>
        <p:grpSpPr>
          <a:xfrm>
            <a:off x="609600" y="2552700"/>
            <a:ext cx="7646924" cy="990600"/>
            <a:chOff x="609600" y="2552700"/>
            <a:chExt cx="7646924" cy="990600"/>
          </a:xfrm>
        </p:grpSpPr>
        <p:sp>
          <p:nvSpPr>
            <p:cNvPr id="18" name="Rectangle 18"/>
            <p:cNvSpPr/>
            <p:nvPr/>
          </p:nvSpPr>
          <p:spPr>
            <a:xfrm>
              <a:off x="609600" y="2552700"/>
              <a:ext cx="57150" cy="990600"/>
            </a:xfrm>
            <a:prstGeom prst="rect">
              <a:avLst/>
            </a:prstGeom>
            <a:solidFill>
              <a:srgbClr val="00A6A6"/>
            </a:solidFill>
            <a:ln>
              <a:noFill/>
            </a:ln>
          </p:spPr>
        </p:sp>
        <p:sp>
          <p:nvSpPr>
            <p:cNvPr id="19" name="TextBox 19"/>
            <p:cNvSpPr txBox="1"/>
            <p:nvPr/>
          </p:nvSpPr>
          <p:spPr>
            <a:xfrm>
              <a:off x="905256" y="2625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20" name="TextBox 20"/>
            <p:cNvSpPr txBox="1"/>
            <p:nvPr/>
          </p:nvSpPr>
          <p:spPr>
            <a:xfrm>
              <a:off x="906399" y="2954179"/>
              <a:ext cx="735012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"Müşteri hizmetleri sorunu çözmedi" cümlesi kritik olsa da tek bir sayıya</a:t>
              </a:r>
              <a:br/>
              <a:r>
                <a:rPr lang="tr-TR" sz="1580" dirty="0">
                  <a:solidFill>
                    <a:srgbClr val="172B3A"/>
                  </a:solidFill>
                  <a:latin typeface="+mn-lt"/>
                  <a:ea typeface="+mn-ea"/>
                  <a:cs typeface="+mn-cs"/>
                </a:rPr>
                <a:t>indirgenmemiştir; metin madenciliği olmadan binlerce yorum manuel okunur.</a:t>
              </a:r>
            </a:p>
          </p:txBody>
        </p:sp>
      </p:grpSp>
      <p:grpSp>
        <p:nvGrpSpPr>
          <p:cNvPr id="25" name="how-block"/>
          <p:cNvGrpSpPr/>
          <p:nvPr/>
        </p:nvGrpSpPr>
        <p:grpSpPr>
          <a:xfrm>
            <a:off x="609600" y="3848100"/>
            <a:ext cx="7145274" cy="990600"/>
            <a:chOff x="609600" y="3848100"/>
            <a:chExt cx="7145274" cy="990600"/>
          </a:xfrm>
        </p:grpSpPr>
        <p:sp>
          <p:nvSpPr>
            <p:cNvPr id="22" name="Rectangle 22"/>
            <p:cNvSpPr/>
            <p:nvPr/>
          </p:nvSpPr>
          <p:spPr>
            <a:xfrm>
              <a:off x="609600" y="3848100"/>
              <a:ext cx="57150" cy="990600"/>
            </a:xfrm>
            <a:prstGeom prst="rect">
              <a:avLst/>
            </a:prstGeom>
            <a:solidFill>
              <a:srgbClr val="00A6A6"/>
            </a:solidFill>
            <a:ln>
              <a:noFill/>
            </a:ln>
          </p:spPr>
        </p:sp>
        <p:sp>
          <p:nvSpPr>
            <p:cNvPr id="23" name="TextBox 23"/>
            <p:cNvSpPr txBox="1"/>
            <p:nvPr/>
          </p:nvSpPr>
          <p:spPr>
            <a:xfrm>
              <a:off x="905256" y="3920490"/>
              <a:ext cx="208696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Nasıl kullanılır?</a:t>
              </a:r>
            </a:p>
          </p:txBody>
        </p:sp>
        <p:sp>
          <p:nvSpPr>
            <p:cNvPr id="24" name="TextBox 24"/>
            <p:cNvSpPr txBox="1"/>
            <p:nvPr/>
          </p:nvSpPr>
          <p:spPr>
            <a:xfrm>
              <a:off x="906399" y="4249579"/>
              <a:ext cx="684847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Temel süreç temizleme, tokenization, vektörleştirme, modelleme ve</a:t>
              </a:r>
              <a:br/>
              <a:r>
                <a:rPr lang="tr-TR" sz="1580" dirty="0">
                  <a:solidFill>
                    <a:srgbClr val="172B3A"/>
                  </a:solidFill>
                  <a:latin typeface="+mn-lt"/>
                  <a:ea typeface="+mn-ea"/>
                  <a:cs typeface="+mn-cs"/>
                </a:rPr>
                <a:t>değerlendirmeden oluşur; her aşama bir öncekinin çıktısını kullanır.</a:t>
              </a:r>
            </a:p>
          </p:txBody>
        </p:sp>
      </p:grpSp>
      <p:grpSp>
        <p:nvGrpSpPr>
          <p:cNvPr id="29" name="context-note"/>
          <p:cNvGrpSpPr/>
          <p:nvPr/>
        </p:nvGrpSpPr>
        <p:grpSpPr>
          <a:xfrm>
            <a:off x="609600" y="5238750"/>
            <a:ext cx="10972800" cy="857250"/>
            <a:chOff x="609600" y="5238750"/>
            <a:chExt cx="10972800" cy="857250"/>
          </a:xfrm>
        </p:grpSpPr>
        <p:sp>
          <p:nvSpPr>
            <p:cNvPr id="26" name="Rectangle 26"/>
            <p:cNvSpPr/>
            <p:nvPr/>
          </p:nvSpPr>
          <p:spPr>
            <a:xfrm>
              <a:off x="609600" y="5238750"/>
              <a:ext cx="10972800" cy="857250"/>
            </a:xfrm>
            <a:prstGeom prst="roundRect">
              <a:avLst>
                <a:gd name="adj" fmla="val 8889"/>
              </a:avLst>
            </a:prstGeom>
            <a:solidFill>
              <a:srgbClr val="EAF4F6"/>
            </a:solidFill>
            <a:ln>
              <a:noFill/>
            </a:ln>
          </p:spPr>
        </p:sp>
        <p:sp>
          <p:nvSpPr>
            <p:cNvPr id="27" name="TextBox 27"/>
            <p:cNvSpPr txBox="1"/>
            <p:nvPr/>
          </p:nvSpPr>
          <p:spPr>
            <a:xfrm>
              <a:off x="906399" y="5373529"/>
              <a:ext cx="21855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Telco Churn bağlamı</a:t>
              </a:r>
            </a:p>
          </p:txBody>
        </p:sp>
        <p:sp>
          <p:nvSpPr>
            <p:cNvPr id="28" name="TextBox 28"/>
            <p:cNvSpPr txBox="1"/>
            <p:nvPr/>
          </p:nvSpPr>
          <p:spPr>
            <a:xfrm>
              <a:off x="908304" y="5680710"/>
              <a:ext cx="96697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Amaç metni tek başına nihai karar verici yapmak değil; müşteri kaybı tahmininde anlamlı bir ek sinyal olarak kullanmaktır.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7915432" cy="668845"/>
            <a:chOff x="609600" y="171450"/>
            <a:chExt cx="7915432"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72250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 zaman tercih edilir? Alternatifler</a:t>
              </a:r>
            </a:p>
          </p:txBody>
        </p:sp>
      </p:grpSp>
      <p:grpSp>
        <p:nvGrpSpPr>
          <p:cNvPr id="14" name="when-block"/>
          <p:cNvGrpSpPr/>
          <p:nvPr/>
        </p:nvGrpSpPr>
        <p:grpSpPr>
          <a:xfrm>
            <a:off x="609600" y="1238250"/>
            <a:ext cx="8281416" cy="771906"/>
            <a:chOff x="609600" y="1238250"/>
            <a:chExt cx="8281416" cy="771906"/>
          </a:xfrm>
        </p:grpSpPr>
        <p:sp>
          <p:nvSpPr>
            <p:cNvPr id="11" name="Rectangle 11"/>
            <p:cNvSpPr/>
            <p:nvPr/>
          </p:nvSpPr>
          <p:spPr>
            <a:xfrm>
              <a:off x="609600" y="1238250"/>
              <a:ext cx="57150" cy="495300"/>
            </a:xfrm>
            <a:prstGeom prst="rect">
              <a:avLst/>
            </a:prstGeom>
            <a:solidFill>
              <a:srgbClr val="00A6A6"/>
            </a:solidFill>
            <a:ln>
              <a:noFill/>
            </a:ln>
          </p:spPr>
        </p:sp>
        <p:sp>
          <p:nvSpPr>
            <p:cNvPr id="12" name="TextBox 12"/>
            <p:cNvSpPr txBox="1"/>
            <p:nvPr/>
          </p:nvSpPr>
          <p:spPr>
            <a:xfrm>
              <a:off x="906399" y="1277779"/>
              <a:ext cx="2502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edilir?</a:t>
              </a:r>
            </a:p>
          </p:txBody>
        </p:sp>
        <p:sp>
          <p:nvSpPr>
            <p:cNvPr id="13" name="TextBox 13"/>
            <p:cNvSpPr txBox="1"/>
            <p:nvPr/>
          </p:nvSpPr>
          <p:spPr>
            <a:xfrm>
              <a:off x="908304" y="1584960"/>
              <a:ext cx="79827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Belgeler yeterli hacimdeyse ve tekrar eden örüntüler aranıyorsa tercih edilir; tekil ve bağlamı çok özel bir</a:t>
              </a:r>
              <a:br/>
              <a:r>
                <a:rPr lang="tr-TR" sz="1200" dirty="0">
                  <a:solidFill>
                    <a:srgbClr val="172B3A"/>
                  </a:solidFill>
                  <a:latin typeface="+mn-lt"/>
                  <a:ea typeface="+mn-ea"/>
                  <a:cs typeface="+mn-cs"/>
                </a:rPr>
                <a:t>hukuki belge için insan incelemesi daha uygun olabilir.</a:t>
              </a:r>
            </a:p>
          </p:txBody>
        </p:sp>
      </p:grpSp>
      <p:grpSp>
        <p:nvGrpSpPr>
          <p:cNvPr id="19" name="alt-header"/>
          <p:cNvGrpSpPr/>
          <p:nvPr/>
        </p:nvGrpSpPr>
        <p:grpSpPr>
          <a:xfrm>
            <a:off x="609600" y="2057400"/>
            <a:ext cx="10972800" cy="381000"/>
            <a:chOff x="609600" y="2057400"/>
            <a:chExt cx="10972800" cy="381000"/>
          </a:xfrm>
        </p:grpSpPr>
        <p:sp>
          <p:nvSpPr>
            <p:cNvPr id="15" name="Rectangle 15"/>
            <p:cNvSpPr/>
            <p:nvPr/>
          </p:nvSpPr>
          <p:spPr>
            <a:xfrm>
              <a:off x="609600" y="2057400"/>
              <a:ext cx="10972800" cy="381000"/>
            </a:xfrm>
            <a:prstGeom prst="rect">
              <a:avLst/>
            </a:prstGeom>
            <a:solidFill>
              <a:srgbClr val="12355B"/>
            </a:solidFill>
            <a:ln>
              <a:noFill/>
            </a:ln>
          </p:spPr>
        </p:sp>
        <p:sp>
          <p:nvSpPr>
            <p:cNvPr id="16" name="TextBox 16"/>
            <p:cNvSpPr txBox="1"/>
            <p:nvPr/>
          </p:nvSpPr>
          <p:spPr>
            <a:xfrm>
              <a:off x="832104" y="2175510"/>
              <a:ext cx="866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YAKLAŞIM</a:t>
              </a:r>
            </a:p>
          </p:txBody>
        </p:sp>
        <p:sp>
          <p:nvSpPr>
            <p:cNvPr id="17" name="TextBox 17"/>
            <p:cNvSpPr txBox="1"/>
            <p:nvPr/>
          </p:nvSpPr>
          <p:spPr>
            <a:xfrm>
              <a:off x="4756404" y="2175510"/>
              <a:ext cx="104912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GÜÇLÜ YÖNÜ</a:t>
              </a:r>
            </a:p>
          </p:txBody>
        </p:sp>
        <p:sp>
          <p:nvSpPr>
            <p:cNvPr id="18" name="TextBox 18"/>
            <p:cNvSpPr txBox="1"/>
            <p:nvPr/>
          </p:nvSpPr>
          <p:spPr>
            <a:xfrm>
              <a:off x="8185404" y="2175510"/>
              <a:ext cx="97914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SINIRLILIĞI</a:t>
              </a:r>
            </a:p>
          </p:txBody>
        </p:sp>
      </p:grpSp>
      <p:grpSp>
        <p:nvGrpSpPr>
          <p:cNvPr id="24" name="alt-row1"/>
          <p:cNvGrpSpPr/>
          <p:nvPr/>
        </p:nvGrpSpPr>
        <p:grpSpPr>
          <a:xfrm>
            <a:off x="609600" y="2573179"/>
            <a:ext cx="10972800" cy="370046"/>
            <a:chOff x="609600" y="2573179"/>
            <a:chExt cx="10972800" cy="370046"/>
          </a:xfrm>
        </p:grpSpPr>
        <p:sp>
          <p:nvSpPr>
            <p:cNvPr id="20" name="TextBox 20"/>
            <p:cNvSpPr txBox="1"/>
            <p:nvPr/>
          </p:nvSpPr>
          <p:spPr>
            <a:xfrm>
              <a:off x="830199" y="2573179"/>
              <a:ext cx="17314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Manuel inceleme</a:t>
              </a:r>
            </a:p>
          </p:txBody>
        </p:sp>
        <p:sp>
          <p:nvSpPr>
            <p:cNvPr id="21" name="TextBox 21"/>
            <p:cNvSpPr txBox="1"/>
            <p:nvPr/>
          </p:nvSpPr>
          <p:spPr>
            <a:xfrm>
              <a:off x="4756404" y="2613660"/>
              <a:ext cx="17134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Derin bağlam anlayışı</a:t>
              </a:r>
            </a:p>
          </p:txBody>
        </p:sp>
        <p:sp>
          <p:nvSpPr>
            <p:cNvPr id="22" name="TextBox 22"/>
            <p:cNvSpPr txBox="1"/>
            <p:nvPr/>
          </p:nvSpPr>
          <p:spPr>
            <a:xfrm>
              <a:off x="8185404" y="2613660"/>
              <a:ext cx="11402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Yavaş ve öznel</a:t>
              </a:r>
            </a:p>
          </p:txBody>
        </p:sp>
        <p:sp>
          <p:nvSpPr>
            <p:cNvPr id="23" name="Line 23"/>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alt-row2"/>
          <p:cNvGrpSpPr/>
          <p:nvPr/>
        </p:nvGrpSpPr>
        <p:grpSpPr>
          <a:xfrm>
            <a:off x="609600" y="2933700"/>
            <a:ext cx="10972800" cy="504825"/>
            <a:chOff x="609600" y="2933700"/>
            <a:chExt cx="10972800" cy="504825"/>
          </a:xfrm>
        </p:grpSpPr>
        <p:sp>
          <p:nvSpPr>
            <p:cNvPr id="25" name="Rectangle 25"/>
            <p:cNvSpPr/>
            <p:nvPr/>
          </p:nvSpPr>
          <p:spPr>
            <a:xfrm>
              <a:off x="609600" y="2933700"/>
              <a:ext cx="10972800" cy="495300"/>
            </a:xfrm>
            <a:prstGeom prst="rect">
              <a:avLst/>
            </a:prstGeom>
            <a:solidFill>
              <a:srgbClr val="EAF4F6"/>
            </a:solidFill>
            <a:ln>
              <a:noFill/>
            </a:ln>
          </p:spPr>
        </p:sp>
        <p:sp>
          <p:nvSpPr>
            <p:cNvPr id="26" name="TextBox 26"/>
            <p:cNvSpPr txBox="1"/>
            <p:nvPr/>
          </p:nvSpPr>
          <p:spPr>
            <a:xfrm>
              <a:off x="830199" y="3068479"/>
              <a:ext cx="23680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Anahtar kelime kuralı</a:t>
              </a:r>
            </a:p>
          </p:txBody>
        </p:sp>
        <p:sp>
          <p:nvSpPr>
            <p:cNvPr id="27" name="TextBox 27"/>
            <p:cNvSpPr txBox="1"/>
            <p:nvPr/>
          </p:nvSpPr>
          <p:spPr>
            <a:xfrm>
              <a:off x="4756404" y="3108960"/>
              <a:ext cx="16889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Hızlı ve açıklanabilir</a:t>
              </a:r>
            </a:p>
          </p:txBody>
        </p:sp>
        <p:sp>
          <p:nvSpPr>
            <p:cNvPr id="28" name="TextBox 28"/>
            <p:cNvSpPr txBox="1"/>
            <p:nvPr/>
          </p:nvSpPr>
          <p:spPr>
            <a:xfrm>
              <a:off x="8185404" y="3108960"/>
              <a:ext cx="20362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Eş anlamlıları kaçırabilir</a:t>
              </a:r>
            </a:p>
          </p:txBody>
        </p:sp>
        <p:sp>
          <p:nvSpPr>
            <p:cNvPr id="29" name="Line 29"/>
            <p:cNvSpPr/>
            <p:nvPr/>
          </p:nvSpPr>
          <p:spPr>
            <a:xfrm>
              <a:off x="609600" y="3429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5" name="alt-row3"/>
          <p:cNvGrpSpPr/>
          <p:nvPr/>
        </p:nvGrpSpPr>
        <p:grpSpPr>
          <a:xfrm>
            <a:off x="609600" y="3563779"/>
            <a:ext cx="10972800" cy="370046"/>
            <a:chOff x="609600" y="3563779"/>
            <a:chExt cx="10972800" cy="370046"/>
          </a:xfrm>
        </p:grpSpPr>
        <p:sp>
          <p:nvSpPr>
            <p:cNvPr id="31" name="TextBox 31"/>
            <p:cNvSpPr txBox="1"/>
            <p:nvPr/>
          </p:nvSpPr>
          <p:spPr>
            <a:xfrm>
              <a:off x="830199" y="3563779"/>
              <a:ext cx="255737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Klasik metin madenciliği</a:t>
              </a:r>
            </a:p>
          </p:txBody>
        </p:sp>
        <p:sp>
          <p:nvSpPr>
            <p:cNvPr id="32" name="TextBox 32"/>
            <p:cNvSpPr txBox="1"/>
            <p:nvPr/>
          </p:nvSpPr>
          <p:spPr>
            <a:xfrm>
              <a:off x="4756404" y="3604260"/>
              <a:ext cx="19713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Ölçeklenebilir, ölçülebilir</a:t>
              </a:r>
            </a:p>
          </p:txBody>
        </p:sp>
        <p:sp>
          <p:nvSpPr>
            <p:cNvPr id="33" name="TextBox 33"/>
            <p:cNvSpPr txBox="1"/>
            <p:nvPr/>
          </p:nvSpPr>
          <p:spPr>
            <a:xfrm>
              <a:off x="8185404" y="3604260"/>
              <a:ext cx="21736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 işleme kalitesine duyarlı</a:t>
              </a:r>
            </a:p>
          </p:txBody>
        </p:sp>
        <p:sp>
          <p:nvSpPr>
            <p:cNvPr id="34" name="Line 34"/>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0" name="alt-row4"/>
          <p:cNvGrpSpPr/>
          <p:nvPr/>
        </p:nvGrpSpPr>
        <p:grpSpPr>
          <a:xfrm>
            <a:off x="609600" y="3924300"/>
            <a:ext cx="10972800" cy="495300"/>
            <a:chOff x="609600" y="3924300"/>
            <a:chExt cx="10972800" cy="495300"/>
          </a:xfrm>
        </p:grpSpPr>
        <p:sp>
          <p:nvSpPr>
            <p:cNvPr id="36" name="Rectangle 36"/>
            <p:cNvSpPr/>
            <p:nvPr/>
          </p:nvSpPr>
          <p:spPr>
            <a:xfrm>
              <a:off x="609600" y="3924300"/>
              <a:ext cx="10972800" cy="495300"/>
            </a:xfrm>
            <a:prstGeom prst="rect">
              <a:avLst/>
            </a:prstGeom>
            <a:solidFill>
              <a:srgbClr val="EAF4F6"/>
            </a:solidFill>
            <a:ln>
              <a:noFill/>
            </a:ln>
          </p:spPr>
        </p:sp>
        <p:sp>
          <p:nvSpPr>
            <p:cNvPr id="37" name="TextBox 37"/>
            <p:cNvSpPr txBox="1"/>
            <p:nvPr/>
          </p:nvSpPr>
          <p:spPr>
            <a:xfrm>
              <a:off x="830199" y="4059079"/>
              <a:ext cx="169778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Büyük dil modeli</a:t>
              </a:r>
            </a:p>
          </p:txBody>
        </p:sp>
        <p:sp>
          <p:nvSpPr>
            <p:cNvPr id="38" name="TextBox 38"/>
            <p:cNvSpPr txBox="1"/>
            <p:nvPr/>
          </p:nvSpPr>
          <p:spPr>
            <a:xfrm>
              <a:off x="4756404" y="4099560"/>
              <a:ext cx="24321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Bağlamı daha iyi yorumlayabilir</a:t>
              </a:r>
            </a:p>
          </p:txBody>
        </p:sp>
        <p:sp>
          <p:nvSpPr>
            <p:cNvPr id="39" name="TextBox 39"/>
            <p:cNvSpPr txBox="1"/>
            <p:nvPr/>
          </p:nvSpPr>
          <p:spPr>
            <a:xfrm>
              <a:off x="8185404" y="4099560"/>
              <a:ext cx="27791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Maliyet, gizlilik ve denetlenebilirlik</a:t>
              </a:r>
            </a:p>
          </p:txBody>
        </p:sp>
      </p:grpSp>
      <p:grpSp>
        <p:nvGrpSpPr>
          <p:cNvPr id="46" name="pitfalls-note"/>
          <p:cNvGrpSpPr/>
          <p:nvPr/>
        </p:nvGrpSpPr>
        <p:grpSpPr>
          <a:xfrm>
            <a:off x="609600" y="4705350"/>
            <a:ext cx="10972800" cy="1390650"/>
            <a:chOff x="609600" y="4705350"/>
            <a:chExt cx="10972800" cy="1390650"/>
          </a:xfrm>
        </p:grpSpPr>
        <p:sp>
          <p:nvSpPr>
            <p:cNvPr id="41" name="Rectangle 41"/>
            <p:cNvSpPr/>
            <p:nvPr/>
          </p:nvSpPr>
          <p:spPr>
            <a:xfrm>
              <a:off x="609600" y="4705350"/>
              <a:ext cx="10972800" cy="1390650"/>
            </a:xfrm>
            <a:prstGeom prst="roundRect">
              <a:avLst>
                <a:gd name="adj" fmla="val 5479"/>
              </a:avLst>
            </a:prstGeom>
            <a:solidFill>
              <a:srgbClr val="EAF4F6"/>
            </a:solidFill>
            <a:ln>
              <a:noFill/>
            </a:ln>
          </p:spPr>
        </p:sp>
        <p:sp>
          <p:nvSpPr>
            <p:cNvPr id="42" name="TextBox 42"/>
            <p:cNvSpPr txBox="1"/>
            <p:nvPr/>
          </p:nvSpPr>
          <p:spPr>
            <a:xfrm>
              <a:off x="906399" y="48210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43" name="TextBox 43"/>
            <p:cNvSpPr txBox="1"/>
            <p:nvPr/>
          </p:nvSpPr>
          <p:spPr>
            <a:xfrm>
              <a:off x="908304" y="5128260"/>
              <a:ext cx="68512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Ham metni doğrudan sayısal model girişine vermek — çözüm: vektörleştirme yapmak.</a:t>
              </a:r>
            </a:p>
          </p:txBody>
        </p:sp>
        <p:sp>
          <p:nvSpPr>
            <p:cNvPr id="44" name="TextBox 44"/>
            <p:cNvSpPr txBox="1"/>
            <p:nvPr/>
          </p:nvSpPr>
          <p:spPr>
            <a:xfrm>
              <a:off x="908304" y="5375910"/>
              <a:ext cx="89109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Tüm yorumları "olumsuz" kabul edip etiket dengesini görmezden gelmek — çözüm: etiket dağılımını incelemek.</a:t>
              </a:r>
            </a:p>
          </p:txBody>
        </p:sp>
        <p:sp>
          <p:nvSpPr>
            <p:cNvPr id="45" name="TextBox 45"/>
            <p:cNvSpPr txBox="1"/>
            <p:nvPr/>
          </p:nvSpPr>
          <p:spPr>
            <a:xfrm>
              <a:off x="908304" y="5623560"/>
              <a:ext cx="78200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Metindeki kişisel bilgileri temizlemeden kullanmak — çözüm: anonimleştirme politikası uygulamak.</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741723" cy="668845"/>
            <a:chOff x="609600" y="171450"/>
            <a:chExt cx="7741723"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70513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Tokenization ve stop-word temizliği</a:t>
              </a:r>
            </a:p>
          </p:txBody>
        </p:sp>
      </p:grpSp>
      <p:grpSp>
        <p:nvGrpSpPr>
          <p:cNvPr id="17" name="definition-block"/>
          <p:cNvGrpSpPr/>
          <p:nvPr/>
        </p:nvGrpSpPr>
        <p:grpSpPr>
          <a:xfrm>
            <a:off x="609600" y="1219200"/>
            <a:ext cx="7488936" cy="790956"/>
            <a:chOff x="609600" y="1219200"/>
            <a:chExt cx="7488936" cy="790956"/>
          </a:xfrm>
        </p:grpSpPr>
        <p:sp>
          <p:nvSpPr>
            <p:cNvPr id="14" name="Rectangle 14"/>
            <p:cNvSpPr/>
            <p:nvPr/>
          </p:nvSpPr>
          <p:spPr>
            <a:xfrm>
              <a:off x="609600" y="1219200"/>
              <a:ext cx="57150" cy="723900"/>
            </a:xfrm>
            <a:prstGeom prst="rect">
              <a:avLst/>
            </a:prstGeom>
            <a:solidFill>
              <a:srgbClr val="00A6A6"/>
            </a:solidFill>
            <a:ln>
              <a:noFill/>
            </a:ln>
          </p:spPr>
        </p:sp>
        <p:sp>
          <p:nvSpPr>
            <p:cNvPr id="15" name="TextBox 15"/>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6" name="TextBox 16"/>
            <p:cNvSpPr txBox="1"/>
            <p:nvPr/>
          </p:nvSpPr>
          <p:spPr>
            <a:xfrm>
              <a:off x="908304" y="1584960"/>
              <a:ext cx="71902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Tokenization, metni analiz edilebilen parçalara ayırma işlemidir. Stop-word'ler ise çoğu görevde</a:t>
              </a:r>
              <a:br/>
              <a:r>
                <a:rPr lang="tr-TR" sz="1200" dirty="0">
                  <a:solidFill>
                    <a:srgbClr val="172B3A"/>
                  </a:solidFill>
                  <a:latin typeface="+mn-lt"/>
                  <a:ea typeface="+mn-ea"/>
                  <a:cs typeface="+mn-cs"/>
                </a:rPr>
                <a:t>ayırt ediciliği düşük, sık geçen kelimelerdir.</a:t>
              </a:r>
            </a:p>
          </p:txBody>
        </p:sp>
      </p:grpSp>
      <p:grpSp>
        <p:nvGrpSpPr>
          <p:cNvPr id="29" name="pipeline-demo"/>
          <p:cNvGrpSpPr/>
          <p:nvPr/>
        </p:nvGrpSpPr>
        <p:grpSpPr>
          <a:xfrm>
            <a:off x="609600" y="2247900"/>
            <a:ext cx="8820150" cy="666750"/>
            <a:chOff x="609600" y="2247900"/>
            <a:chExt cx="8820150" cy="666750"/>
          </a:xfrm>
        </p:grpSpPr>
        <p:sp>
          <p:nvSpPr>
            <p:cNvPr id="18" name="Rectangle 18"/>
            <p:cNvSpPr/>
            <p:nvPr/>
          </p:nvSpPr>
          <p:spPr>
            <a:xfrm>
              <a:off x="609600" y="2247900"/>
              <a:ext cx="2571750" cy="666750"/>
            </a:xfrm>
            <a:prstGeom prst="roundRect">
              <a:avLst>
                <a:gd name="adj" fmla="val 11429"/>
              </a:avLst>
            </a:prstGeom>
            <a:solidFill>
              <a:srgbClr val="FFFFFF"/>
            </a:solidFill>
            <a:ln w="14288">
              <a:solidFill>
                <a:srgbClr val="2E86AB"/>
              </a:solidFill>
            </a:ln>
          </p:spPr>
        </p:sp>
        <p:sp>
          <p:nvSpPr>
            <p:cNvPr id="19" name="TextBox 19"/>
            <p:cNvSpPr txBox="1"/>
            <p:nvPr/>
          </p:nvSpPr>
          <p:spPr>
            <a:xfrm>
              <a:off x="1494863" y="2385060"/>
              <a:ext cx="80122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Ham cümle</a:t>
              </a:r>
            </a:p>
          </p:txBody>
        </p:sp>
        <p:sp>
          <p:nvSpPr>
            <p:cNvPr id="20" name="TextBox 20"/>
            <p:cNvSpPr txBox="1"/>
            <p:nvPr/>
          </p:nvSpPr>
          <p:spPr>
            <a:xfrm>
              <a:off x="970184" y="2632710"/>
              <a:ext cx="185058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"İnternet çok yavaş!"</a:t>
              </a:r>
            </a:p>
          </p:txBody>
        </p:sp>
        <p:sp>
          <p:nvSpPr>
            <p:cNvPr id="21" name="Line 21"/>
            <p:cNvSpPr/>
            <p:nvPr/>
          </p:nvSpPr>
          <p:spPr>
            <a:xfrm>
              <a:off x="3181350" y="2581275"/>
              <a:ext cx="495300" cy="1"/>
            </a:xfrm>
            <a:prstGeom prst="line">
              <a:avLst/>
            </a:prstGeom>
            <a:noFill/>
            <a:ln w="23812">
              <a:solidFill>
                <a:srgbClr val="00A6A6"/>
              </a:solidFill>
              <a:tailEnd type="arrow" w="lg" len="lg"/>
            </a:ln>
          </p:spPr>
        </p:sp>
        <p:sp>
          <p:nvSpPr>
            <p:cNvPr id="22" name="Rectangle 22"/>
            <p:cNvSpPr/>
            <p:nvPr/>
          </p:nvSpPr>
          <p:spPr>
            <a:xfrm>
              <a:off x="3733800" y="2247900"/>
              <a:ext cx="2571750" cy="666750"/>
            </a:xfrm>
            <a:prstGeom prst="roundRect">
              <a:avLst>
                <a:gd name="adj" fmla="val 11429"/>
              </a:avLst>
            </a:prstGeom>
            <a:solidFill>
              <a:srgbClr val="FFFFFF"/>
            </a:solidFill>
            <a:ln w="14288">
              <a:solidFill>
                <a:srgbClr val="2E86AB"/>
              </a:solidFill>
            </a:ln>
          </p:spPr>
        </p:sp>
        <p:sp>
          <p:nvSpPr>
            <p:cNvPr id="23" name="TextBox 23"/>
            <p:cNvSpPr txBox="1"/>
            <p:nvPr/>
          </p:nvSpPr>
          <p:spPr>
            <a:xfrm>
              <a:off x="4518546" y="2385060"/>
              <a:ext cx="100225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Tokenization</a:t>
              </a:r>
            </a:p>
          </p:txBody>
        </p:sp>
        <p:sp>
          <p:nvSpPr>
            <p:cNvPr id="24" name="TextBox 24"/>
            <p:cNvSpPr txBox="1"/>
            <p:nvPr/>
          </p:nvSpPr>
          <p:spPr>
            <a:xfrm>
              <a:off x="4050979" y="2632710"/>
              <a:ext cx="1937393"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[internet, çok, yavaş]</a:t>
              </a:r>
            </a:p>
          </p:txBody>
        </p:sp>
        <p:sp>
          <p:nvSpPr>
            <p:cNvPr id="25" name="Line 25"/>
            <p:cNvSpPr/>
            <p:nvPr/>
          </p:nvSpPr>
          <p:spPr>
            <a:xfrm>
              <a:off x="6305550" y="2581275"/>
              <a:ext cx="495300" cy="1"/>
            </a:xfrm>
            <a:prstGeom prst="line">
              <a:avLst/>
            </a:prstGeom>
            <a:noFill/>
            <a:ln w="23812">
              <a:solidFill>
                <a:srgbClr val="00A6A6"/>
              </a:solidFill>
              <a:tailEnd type="arrow" w="lg" len="lg"/>
            </a:ln>
          </p:spPr>
        </p:sp>
        <p:sp>
          <p:nvSpPr>
            <p:cNvPr id="26" name="Rectangle 26"/>
            <p:cNvSpPr/>
            <p:nvPr/>
          </p:nvSpPr>
          <p:spPr>
            <a:xfrm>
              <a:off x="6858000" y="2247900"/>
              <a:ext cx="2571750" cy="666750"/>
            </a:xfrm>
            <a:prstGeom prst="roundRect">
              <a:avLst>
                <a:gd name="adj" fmla="val 11429"/>
              </a:avLst>
            </a:prstGeom>
            <a:solidFill>
              <a:srgbClr val="EAF4F6"/>
            </a:solidFill>
            <a:ln w="14288">
              <a:solidFill>
                <a:srgbClr val="00A6A6"/>
              </a:solidFill>
            </a:ln>
          </p:spPr>
        </p:sp>
        <p:sp>
          <p:nvSpPr>
            <p:cNvPr id="27" name="TextBox 27"/>
            <p:cNvSpPr txBox="1"/>
            <p:nvPr/>
          </p:nvSpPr>
          <p:spPr>
            <a:xfrm>
              <a:off x="7400153" y="2385060"/>
              <a:ext cx="148744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Stop-word filtresi</a:t>
              </a:r>
            </a:p>
          </p:txBody>
        </p:sp>
        <p:sp>
          <p:nvSpPr>
            <p:cNvPr id="28" name="TextBox 28"/>
            <p:cNvSpPr txBox="1"/>
            <p:nvPr/>
          </p:nvSpPr>
          <p:spPr>
            <a:xfrm>
              <a:off x="7387205" y="2632710"/>
              <a:ext cx="1513340"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[internet, yavaş]</a:t>
              </a:r>
            </a:p>
          </p:txBody>
        </p:sp>
      </p:grpSp>
      <p:grpSp>
        <p:nvGrpSpPr>
          <p:cNvPr id="32" name="why-block"/>
          <p:cNvGrpSpPr/>
          <p:nvPr/>
        </p:nvGrpSpPr>
        <p:grpSpPr>
          <a:xfrm>
            <a:off x="601599" y="3868579"/>
            <a:ext cx="2757297" cy="1399127"/>
            <a:chOff x="601599" y="3868579"/>
            <a:chExt cx="2757297" cy="1399127"/>
          </a:xfrm>
        </p:grpSpPr>
        <p:sp>
          <p:nvSpPr>
            <p:cNvPr id="30" name="TextBox 30"/>
            <p:cNvSpPr txBox="1"/>
            <p:nvPr/>
          </p:nvSpPr>
          <p:spPr>
            <a:xfrm>
              <a:off x="601599" y="386857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31" name="TextBox 31"/>
            <p:cNvSpPr txBox="1"/>
            <p:nvPr/>
          </p:nvSpPr>
          <p:spPr>
            <a:xfrm>
              <a:off x="603504" y="4194810"/>
              <a:ext cx="275539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Bilgisayar için "Fatura yüksek" ve</a:t>
              </a:r>
              <a:br/>
              <a:r>
                <a:rPr lang="tr-TR" sz="1200" dirty="0">
                  <a:solidFill>
                    <a:srgbClr val="172B3A"/>
                  </a:solidFill>
                  <a:latin typeface="+mn-lt"/>
                  <a:ea typeface="+mn-ea"/>
                  <a:cs typeface="+mn-cs"/>
                </a:rPr>
                <a:t>"fatura yüksek!" farklı karakter</a:t>
              </a:r>
              <a:br/>
              <a:r>
                <a:rPr lang="tr-TR" sz="1200" dirty="0">
                  <a:solidFill>
                    <a:srgbClr val="172B3A"/>
                  </a:solidFill>
                  <a:latin typeface="+mn-lt"/>
                  <a:ea typeface="+mn-ea"/>
                  <a:cs typeface="+mn-cs"/>
                </a:rPr>
                <a:t>dizileridir. Küçük harfe dönüştürme,</a:t>
              </a:r>
              <a:br/>
              <a:r>
                <a:rPr lang="tr-TR" sz="1200" dirty="0">
                  <a:solidFill>
                    <a:srgbClr val="172B3A"/>
                  </a:solidFill>
                  <a:latin typeface="+mn-lt"/>
                  <a:ea typeface="+mn-ea"/>
                  <a:cs typeface="+mn-cs"/>
                </a:rPr>
                <a:t>noktalama temizleme ve tokenization</a:t>
              </a:r>
              <a:br/>
              <a:r>
                <a:rPr lang="tr-TR" sz="1200" dirty="0">
                  <a:solidFill>
                    <a:srgbClr val="172B3A"/>
                  </a:solidFill>
                  <a:latin typeface="+mn-lt"/>
                  <a:ea typeface="+mn-ea"/>
                  <a:cs typeface="+mn-cs"/>
                </a:rPr>
                <a:t>bu yüzeysel farkları azaltır.</a:t>
              </a:r>
            </a:p>
          </p:txBody>
        </p:sp>
      </p:grpSp>
      <p:grpSp>
        <p:nvGrpSpPr>
          <p:cNvPr id="36" name="caution-block"/>
          <p:cNvGrpSpPr/>
          <p:nvPr/>
        </p:nvGrpSpPr>
        <p:grpSpPr>
          <a:xfrm>
            <a:off x="6248400" y="3810000"/>
            <a:ext cx="5334000" cy="1676400"/>
            <a:chOff x="6248400" y="3810000"/>
            <a:chExt cx="5334000" cy="1676400"/>
          </a:xfrm>
        </p:grpSpPr>
        <p:sp>
          <p:nvSpPr>
            <p:cNvPr id="33" name="Rectangle 33"/>
            <p:cNvSpPr/>
            <p:nvPr/>
          </p:nvSpPr>
          <p:spPr>
            <a:xfrm>
              <a:off x="6248400" y="3810000"/>
              <a:ext cx="5334000" cy="1676400"/>
            </a:xfrm>
            <a:prstGeom prst="roundRect">
              <a:avLst>
                <a:gd name="adj" fmla="val 4545"/>
              </a:avLst>
            </a:prstGeom>
            <a:solidFill>
              <a:srgbClr val="EAF4F6"/>
            </a:solidFill>
            <a:ln>
              <a:noFill/>
            </a:ln>
          </p:spPr>
        </p:sp>
        <p:sp>
          <p:nvSpPr>
            <p:cNvPr id="34" name="TextBox 34"/>
            <p:cNvSpPr txBox="1"/>
            <p:nvPr/>
          </p:nvSpPr>
          <p:spPr>
            <a:xfrm>
              <a:off x="6545199" y="3925729"/>
              <a:ext cx="7035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Dikkat</a:t>
              </a:r>
            </a:p>
          </p:txBody>
        </p:sp>
        <p:sp>
          <p:nvSpPr>
            <p:cNvPr id="35" name="TextBox 35"/>
            <p:cNvSpPr txBox="1"/>
            <p:nvPr/>
          </p:nvSpPr>
          <p:spPr>
            <a:xfrm>
              <a:off x="6547104" y="4251960"/>
              <a:ext cx="29611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Türkçede "değil", "ama" ve "çok" gibi</a:t>
              </a:r>
              <a:br/>
              <a:r>
                <a:rPr lang="tr-TR" sz="1200" dirty="0">
                  <a:solidFill>
                    <a:srgbClr val="172B3A"/>
                  </a:solidFill>
                  <a:latin typeface="+mn-lt"/>
                  <a:ea typeface="+mn-ea"/>
                  <a:cs typeface="+mn-cs"/>
                </a:rPr>
                <a:t>kelimeler bazı duygu görevlerinde anlam</a:t>
              </a:r>
              <a:br/>
              <a:r>
                <a:rPr lang="tr-TR" sz="1200" dirty="0">
                  <a:solidFill>
                    <a:srgbClr val="172B3A"/>
                  </a:solidFill>
                  <a:latin typeface="+mn-lt"/>
                  <a:ea typeface="+mn-ea"/>
                  <a:cs typeface="+mn-cs"/>
                </a:rPr>
                <a:t>taşıyabileceği için stop-word listesi</a:t>
              </a:r>
              <a:br/>
              <a:r>
                <a:rPr lang="tr-TR" sz="1200" dirty="0">
                  <a:solidFill>
                    <a:srgbClr val="172B3A"/>
                  </a:solidFill>
                  <a:latin typeface="+mn-lt"/>
                  <a:ea typeface="+mn-ea"/>
                  <a:cs typeface="+mn-cs"/>
                </a:rPr>
                <a:t>körü körüne kullanılmamalıdır.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923337" cy="668845"/>
            <a:chOff x="609600" y="171450"/>
            <a:chExt cx="7923337"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723296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temizleme ve tokenization</a:t>
              </a:r>
            </a:p>
          </p:txBody>
        </p:sp>
      </p:grpSp>
      <p:grpSp>
        <p:nvGrpSpPr>
          <p:cNvPr id="16" name="task-block"/>
          <p:cNvGrpSpPr/>
          <p:nvPr/>
        </p:nvGrpSpPr>
        <p:grpSpPr>
          <a:xfrm>
            <a:off x="603504" y="1299210"/>
            <a:ext cx="6382986" cy="444246"/>
            <a:chOff x="603504" y="1299210"/>
            <a:chExt cx="6382986" cy="444246"/>
          </a:xfrm>
        </p:grpSpPr>
        <p:sp>
          <p:nvSpPr>
            <p:cNvPr id="14" name="TextBox 14"/>
            <p:cNvSpPr txBox="1"/>
            <p:nvPr/>
          </p:nvSpPr>
          <p:spPr>
            <a:xfrm>
              <a:off x="603504" y="1299210"/>
              <a:ext cx="59897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Ham Türkçe yorumu küçük harfe çevirip token listesine dönüştürmek.</a:t>
              </a:r>
            </a:p>
          </p:txBody>
        </p:sp>
        <p:sp>
          <p:nvSpPr>
            <p:cNvPr id="15" name="TextBox 15"/>
            <p:cNvSpPr txBox="1"/>
            <p:nvPr/>
          </p:nvSpPr>
          <p:spPr>
            <a:xfrm>
              <a:off x="603504" y="1508760"/>
              <a:ext cx="63829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Tek bir örnek müşteri yorumu — Beklenen çıktı: Temizlenmiş token listesi.</a:t>
              </a:r>
            </a:p>
          </p:txBody>
        </p:sp>
      </p:grpSp>
      <p:grpSp>
        <p:nvGrpSpPr>
          <p:cNvPr id="29" name="code-panel"/>
          <p:cNvGrpSpPr/>
          <p:nvPr/>
        </p:nvGrpSpPr>
        <p:grpSpPr>
          <a:xfrm>
            <a:off x="609600" y="1905000"/>
            <a:ext cx="10972800" cy="3048000"/>
            <a:chOff x="609600" y="1905000"/>
            <a:chExt cx="10972800" cy="3048000"/>
          </a:xfrm>
        </p:grpSpPr>
        <p:sp>
          <p:nvSpPr>
            <p:cNvPr id="17" name="Rectangle 17"/>
            <p:cNvSpPr/>
            <p:nvPr/>
          </p:nvSpPr>
          <p:spPr>
            <a:xfrm>
              <a:off x="609600" y="1905000"/>
              <a:ext cx="10972800" cy="3048000"/>
            </a:xfrm>
            <a:prstGeom prst="roundRect">
              <a:avLst>
                <a:gd name="adj" fmla="val 2500"/>
              </a:avLst>
            </a:prstGeom>
            <a:solidFill>
              <a:srgbClr val="12355B"/>
            </a:solidFill>
            <a:ln>
              <a:noFill/>
            </a:ln>
          </p:spPr>
        </p:sp>
        <p:sp>
          <p:nvSpPr>
            <p:cNvPr id="18" name="TextBox 18"/>
            <p:cNvSpPr txBox="1"/>
            <p:nvPr/>
          </p:nvSpPr>
          <p:spPr>
            <a:xfrm>
              <a:off x="908304" y="2099310"/>
              <a:ext cx="8118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import re</a:t>
              </a:r>
            </a:p>
          </p:txBody>
        </p:sp>
        <p:sp>
          <p:nvSpPr>
            <p:cNvPr id="19" name="TextBox 19"/>
            <p:cNvSpPr txBox="1"/>
            <p:nvPr/>
          </p:nvSpPr>
          <p:spPr>
            <a:xfrm>
              <a:off x="908304" y="2385060"/>
              <a:ext cx="2787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def</a:t>
              </a:r>
            </a:p>
          </p:txBody>
        </p:sp>
        <p:sp>
          <p:nvSpPr>
            <p:cNvPr id="20" name="TextBox 20"/>
            <p:cNvSpPr txBox="1"/>
            <p:nvPr/>
          </p:nvSpPr>
          <p:spPr>
            <a:xfrm>
              <a:off x="1327404" y="2385060"/>
              <a:ext cx="543199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metni_temizle_ve_tokenlara_ayir(ham_metin: str) -&gt; list[str]:</a:t>
              </a:r>
            </a:p>
          </p:txBody>
        </p:sp>
        <p:sp>
          <p:nvSpPr>
            <p:cNvPr id="21" name="TextBox 21"/>
            <p:cNvSpPr txBox="1"/>
            <p:nvPr/>
          </p:nvSpPr>
          <p:spPr>
            <a:xfrm>
              <a:off x="1136904" y="2651760"/>
              <a:ext cx="598152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kucuk_metin = ham_metin.replace("İ", "i").replace("I", "ı").lower()</a:t>
              </a:r>
            </a:p>
          </p:txBody>
        </p:sp>
        <p:sp>
          <p:nvSpPr>
            <p:cNvPr id="22" name="TextBox 22"/>
            <p:cNvSpPr txBox="1"/>
            <p:nvPr/>
          </p:nvSpPr>
          <p:spPr>
            <a:xfrm>
              <a:off x="1136904" y="2899410"/>
              <a:ext cx="507659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temiz_metin = re.sub(r"[^a-zçğıöşü\s]", " ", kucuk_metin)</a:t>
              </a:r>
            </a:p>
          </p:txBody>
        </p:sp>
        <p:sp>
          <p:nvSpPr>
            <p:cNvPr id="23" name="TextBox 23"/>
            <p:cNvSpPr txBox="1"/>
            <p:nvPr/>
          </p:nvSpPr>
          <p:spPr>
            <a:xfrm>
              <a:off x="1136904" y="3147060"/>
              <a:ext cx="5520842"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token_listesi = [k for k in temiz_metin.split() if len(k) &gt; 1]</a:t>
              </a:r>
            </a:p>
          </p:txBody>
        </p:sp>
        <p:sp>
          <p:nvSpPr>
            <p:cNvPr id="24" name="TextBox 24"/>
            <p:cNvSpPr txBox="1"/>
            <p:nvPr/>
          </p:nvSpPr>
          <p:spPr>
            <a:xfrm>
              <a:off x="1136904" y="3394710"/>
              <a:ext cx="178917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return token_listesi</a:t>
              </a:r>
            </a:p>
          </p:txBody>
        </p:sp>
        <p:sp>
          <p:nvSpPr>
            <p:cNvPr id="25" name="TextBox 25"/>
            <p:cNvSpPr txBox="1"/>
            <p:nvPr/>
          </p:nvSpPr>
          <p:spPr>
            <a:xfrm>
              <a:off x="908304" y="3718560"/>
              <a:ext cx="686003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musteri_yorumu = "İnternetim 3 gündür çok yavaş; destek ekibi dönüş yapmadı!"</a:t>
              </a:r>
            </a:p>
          </p:txBody>
        </p:sp>
        <p:sp>
          <p:nvSpPr>
            <p:cNvPr id="26" name="TextBox 26"/>
            <p:cNvSpPr txBox="1"/>
            <p:nvPr/>
          </p:nvSpPr>
          <p:spPr>
            <a:xfrm>
              <a:off x="908304" y="3966210"/>
              <a:ext cx="481004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print(metni_temizle_ve_tokenlara_ayir(musteri_yorumu))</a:t>
              </a:r>
            </a:p>
          </p:txBody>
        </p:sp>
        <p:sp>
          <p:nvSpPr>
            <p:cNvPr id="27" name="TextBox 27"/>
            <p:cNvSpPr txBox="1"/>
            <p:nvPr/>
          </p:nvSpPr>
          <p:spPr>
            <a:xfrm>
              <a:off x="908304" y="4385310"/>
              <a:ext cx="73103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Çıktı:</a:t>
              </a:r>
            </a:p>
          </p:txBody>
        </p:sp>
        <p:sp>
          <p:nvSpPr>
            <p:cNvPr id="28" name="TextBox 28"/>
            <p:cNvSpPr txBox="1"/>
            <p:nvPr/>
          </p:nvSpPr>
          <p:spPr>
            <a:xfrm>
              <a:off x="908304" y="4632960"/>
              <a:ext cx="703127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['internetim', 'gündür', 'çok', 'yavaş', 'destek', 'ekibi', 'dönüş', 'yapmadı']</a:t>
              </a:r>
            </a:p>
          </p:txBody>
        </p:sp>
      </p:grpSp>
      <p:grpSp>
        <p:nvGrpSpPr>
          <p:cNvPr id="34" name="explain-block"/>
          <p:cNvGrpSpPr/>
          <p:nvPr/>
        </p:nvGrpSpPr>
        <p:grpSpPr>
          <a:xfrm>
            <a:off x="609600" y="5181600"/>
            <a:ext cx="10972800" cy="914400"/>
            <a:chOff x="609600" y="5181600"/>
            <a:chExt cx="10972800" cy="914400"/>
          </a:xfrm>
        </p:grpSpPr>
        <p:sp>
          <p:nvSpPr>
            <p:cNvPr id="30" name="Rectangle 30"/>
            <p:cNvSpPr/>
            <p:nvPr/>
          </p:nvSpPr>
          <p:spPr>
            <a:xfrm>
              <a:off x="609600" y="5181600"/>
              <a:ext cx="10972800" cy="914400"/>
            </a:xfrm>
            <a:prstGeom prst="roundRect">
              <a:avLst>
                <a:gd name="adj" fmla="val 8333"/>
              </a:avLst>
            </a:prstGeom>
            <a:solidFill>
              <a:srgbClr val="EAF4F6"/>
            </a:solidFill>
            <a:ln>
              <a:noFill/>
            </a:ln>
          </p:spPr>
        </p:sp>
        <p:sp>
          <p:nvSpPr>
            <p:cNvPr id="31" name="TextBox 31"/>
            <p:cNvSpPr txBox="1"/>
            <p:nvPr/>
          </p:nvSpPr>
          <p:spPr>
            <a:xfrm>
              <a:off x="908304" y="5318760"/>
              <a:ext cx="10270534" cy="234696"/>
            </a:xfrm>
            <a:prstGeom prst="rect">
              <a:avLst/>
            </a:prstGeom>
            <a:noFill/>
            <a:ln>
              <a:noFill/>
            </a:ln>
          </p:spPr>
          <p:txBody>
            <a:bodyPr wrap="none" lIns="0" tIns="0" rIns="0" bIns="0" anchor="t" anchorCtr="0">
              <a:spAutoFit/>
            </a:bodyPr>
            <a:lstStyle/>
            <a:p>
              <a:pPr algn="l"/>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replace("İ","i").replace("I","ı") çağrısı, Python'ın Türkçe olmayan varsayılan lower() davranışının</a:t>
              </a:r>
            </a:p>
          </p:txBody>
        </p:sp>
        <p:sp>
          <p:nvSpPr>
            <p:cNvPr id="32" name="TextBox 32"/>
            <p:cNvSpPr txBox="1"/>
            <p:nvPr/>
          </p:nvSpPr>
          <p:spPr>
            <a:xfrm>
              <a:off x="908304" y="5547360"/>
              <a:ext cx="100469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 harfini bozmasını önler; bu adım atlanırsa "İnternetim" kelimesinin baş harfi tek karakter filtresinde sessizce kaybolur.</a:t>
              </a:r>
            </a:p>
          </p:txBody>
        </p:sp>
        <p:sp>
          <p:nvSpPr>
            <p:cNvPr id="33" name="TextBox 33"/>
            <p:cNvSpPr txBox="1"/>
            <p:nvPr/>
          </p:nvSpPr>
          <p:spPr>
            <a:xfrm>
              <a:off x="908304" y="5775960"/>
              <a:ext cx="87759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re.sub() harf olmayan karakterleri boşlukla değiştirir; liste üreteci boş ve tek karakterli tokenları kaldırır.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39252" cy="557403"/>
            <a:chOff x="595122" y="282892"/>
            <a:chExt cx="8039252" cy="557403"/>
          </a:xfrm>
        </p:grpSpPr>
        <p:sp>
          <p:nvSpPr>
            <p:cNvPr id="4" name="TextBox 4"/>
            <p:cNvSpPr txBox="1"/>
            <p:nvPr/>
          </p:nvSpPr>
          <p:spPr>
            <a:xfrm>
              <a:off x="595122" y="282892"/>
              <a:ext cx="803925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stop-word filtresi ve frekans</a:t>
              </a:r>
            </a:p>
          </p:txBody>
        </p:sp>
      </p:grpSp>
      <p:grpSp>
        <p:nvGrpSpPr>
          <p:cNvPr id="17" name="code-panel"/>
          <p:cNvGrpSpPr/>
          <p:nvPr/>
        </p:nvGrpSpPr>
        <p:grpSpPr>
          <a:xfrm>
            <a:off x="609600" y="1219200"/>
            <a:ext cx="10972800" cy="2857500"/>
            <a:chOff x="609600" y="1219200"/>
            <a:chExt cx="10972800" cy="2857500"/>
          </a:xfrm>
        </p:grpSpPr>
        <p:sp>
          <p:nvSpPr>
            <p:cNvPr id="6" name="Rectangle 6"/>
            <p:cNvSpPr/>
            <p:nvPr/>
          </p:nvSpPr>
          <p:spPr>
            <a:xfrm>
              <a:off x="609600" y="1219200"/>
              <a:ext cx="10972800" cy="2857500"/>
            </a:xfrm>
            <a:prstGeom prst="roundRect">
              <a:avLst>
                <a:gd name="adj" fmla="val 2667"/>
              </a:avLst>
            </a:prstGeom>
            <a:solidFill>
              <a:srgbClr val="12355B"/>
            </a:solidFill>
            <a:ln>
              <a:noFill/>
            </a:ln>
          </p:spPr>
        </p:sp>
        <p:sp>
          <p:nvSpPr>
            <p:cNvPr id="7" name="TextBox 7"/>
            <p:cNvSpPr txBox="1"/>
            <p:nvPr/>
          </p:nvSpPr>
          <p:spPr>
            <a:xfrm>
              <a:off x="908304" y="1413510"/>
              <a:ext cx="277208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from collections import Counter</a:t>
              </a:r>
            </a:p>
          </p:txBody>
        </p:sp>
        <p:sp>
          <p:nvSpPr>
            <p:cNvPr id="8" name="TextBox 8"/>
            <p:cNvSpPr txBox="1"/>
            <p:nvPr/>
          </p:nvSpPr>
          <p:spPr>
            <a:xfrm>
              <a:off x="908304" y="1775460"/>
              <a:ext cx="703127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turkce_durak_kelimeler = {"ve", "ile", "bir", "bu", "şu", "için", "çok", "ama"}</a:t>
              </a:r>
            </a:p>
          </p:txBody>
        </p:sp>
        <p:sp>
          <p:nvSpPr>
            <p:cNvPr id="9" name="TextBox 9"/>
            <p:cNvSpPr txBox="1"/>
            <p:nvPr/>
          </p:nvSpPr>
          <p:spPr>
            <a:xfrm>
              <a:off x="908304" y="2099310"/>
              <a:ext cx="2787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def</a:t>
              </a:r>
            </a:p>
          </p:txBody>
        </p:sp>
        <p:sp>
          <p:nvSpPr>
            <p:cNvPr id="10" name="TextBox 10"/>
            <p:cNvSpPr txBox="1"/>
            <p:nvPr/>
          </p:nvSpPr>
          <p:spPr>
            <a:xfrm>
              <a:off x="1327404" y="2099310"/>
              <a:ext cx="578739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durak_kelimeleri_filtrele(token_listesi: list[str]) -&gt; list[str]:</a:t>
              </a:r>
            </a:p>
          </p:txBody>
        </p:sp>
        <p:sp>
          <p:nvSpPr>
            <p:cNvPr id="11" name="TextBox 11"/>
            <p:cNvSpPr txBox="1"/>
            <p:nvPr/>
          </p:nvSpPr>
          <p:spPr>
            <a:xfrm>
              <a:off x="1136904" y="2346960"/>
              <a:ext cx="605393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return [k for k in token_listesi if k not in turkce_durak_kelimeler]</a:t>
              </a:r>
            </a:p>
          </p:txBody>
        </p:sp>
        <p:sp>
          <p:nvSpPr>
            <p:cNvPr id="12" name="TextBox 12"/>
            <p:cNvSpPr txBox="1"/>
            <p:nvPr/>
          </p:nvSpPr>
          <p:spPr>
            <a:xfrm>
              <a:off x="908304" y="2670810"/>
              <a:ext cx="649818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ornek_tokenlar = ["internet", "çok", "yavaş", "ve", "destek", "yetersiz"]</a:t>
              </a:r>
            </a:p>
          </p:txBody>
        </p:sp>
        <p:sp>
          <p:nvSpPr>
            <p:cNvPr id="13" name="TextBox 13"/>
            <p:cNvSpPr txBox="1"/>
            <p:nvPr/>
          </p:nvSpPr>
          <p:spPr>
            <a:xfrm>
              <a:off x="908304" y="2918460"/>
              <a:ext cx="534314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anlamli_tokenlar = durak_kelimeleri_filtrele(ornek_tokenlar)</a:t>
              </a:r>
            </a:p>
          </p:txBody>
        </p:sp>
        <p:sp>
          <p:nvSpPr>
            <p:cNvPr id="14" name="TextBox 14"/>
            <p:cNvSpPr txBox="1"/>
            <p:nvPr/>
          </p:nvSpPr>
          <p:spPr>
            <a:xfrm>
              <a:off x="908304" y="3166110"/>
              <a:ext cx="339443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frekanslar = Counter(anlamli_tokenlar)</a:t>
              </a:r>
            </a:p>
          </p:txBody>
        </p:sp>
        <p:sp>
          <p:nvSpPr>
            <p:cNvPr id="15" name="TextBox 15"/>
            <p:cNvSpPr txBox="1"/>
            <p:nvPr/>
          </p:nvSpPr>
          <p:spPr>
            <a:xfrm>
              <a:off x="908304" y="3509010"/>
              <a:ext cx="464052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Çıktı: ['internet', 'yavaş', 'destek', 'yetersiz']</a:t>
              </a:r>
            </a:p>
          </p:txBody>
        </p:sp>
        <p:sp>
          <p:nvSpPr>
            <p:cNvPr id="16" name="TextBox 16"/>
            <p:cNvSpPr txBox="1"/>
            <p:nvPr/>
          </p:nvSpPr>
          <p:spPr>
            <a:xfrm>
              <a:off x="908304" y="3737610"/>
              <a:ext cx="651701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Çıktı: Counter({'internet': 1, 'yavaş': 1, 'destek': 1, 'yetersiz': 1})</a:t>
              </a:r>
            </a:p>
          </p:txBody>
        </p:sp>
      </p:grpSp>
      <p:grpSp>
        <p:nvGrpSpPr>
          <p:cNvPr id="20" name="when-block"/>
          <p:cNvGrpSpPr/>
          <p:nvPr/>
        </p:nvGrpSpPr>
        <p:grpSpPr>
          <a:xfrm>
            <a:off x="601599" y="4363879"/>
            <a:ext cx="3001137" cy="1189577"/>
            <a:chOff x="601599" y="4363879"/>
            <a:chExt cx="3001137" cy="1189577"/>
          </a:xfrm>
        </p:grpSpPr>
        <p:sp>
          <p:nvSpPr>
            <p:cNvPr id="18" name="TextBox 18"/>
            <p:cNvSpPr txBox="1"/>
            <p:nvPr/>
          </p:nvSpPr>
          <p:spPr>
            <a:xfrm>
              <a:off x="601599" y="4363879"/>
              <a:ext cx="2502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edilir?</a:t>
              </a:r>
            </a:p>
          </p:txBody>
        </p:sp>
        <p:sp>
          <p:nvSpPr>
            <p:cNvPr id="19" name="TextBox 19"/>
            <p:cNvSpPr txBox="1"/>
            <p:nvPr/>
          </p:nvSpPr>
          <p:spPr>
            <a:xfrm>
              <a:off x="603504" y="4690110"/>
              <a:ext cx="29992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Basit kelime tabanlı tokenization, kısa</a:t>
              </a:r>
              <a:br/>
              <a:r>
                <a:rPr lang="tr-TR" sz="1200" dirty="0">
                  <a:solidFill>
                    <a:srgbClr val="172B3A"/>
                  </a:solidFill>
                  <a:latin typeface="+mn-lt"/>
                  <a:ea typeface="+mn-ea"/>
                  <a:cs typeface="+mn-cs"/>
                </a:rPr>
                <a:t>ve temiz yorumlarda yeterlidir. Eklemeli</a:t>
              </a:r>
              <a:br/>
              <a:r>
                <a:rPr lang="tr-TR" sz="1200" dirty="0">
                  <a:solidFill>
                    <a:srgbClr val="172B3A"/>
                  </a:solidFill>
                  <a:latin typeface="+mn-lt"/>
                  <a:ea typeface="+mn-ea"/>
                  <a:cs typeface="+mn-cs"/>
                </a:rPr>
                <a:t>bir dil olan Türkçede kök bulma, daha</a:t>
              </a:r>
              <a:br/>
              <a:r>
                <a:rPr lang="tr-TR" sz="1200" dirty="0">
                  <a:solidFill>
                    <a:srgbClr val="172B3A"/>
                  </a:solidFill>
                  <a:latin typeface="+mn-lt"/>
                  <a:ea typeface="+mn-ea"/>
                  <a:cs typeface="+mn-cs"/>
                </a:rPr>
                <a:t>büyük koleksiyonlarda fayda sağlar.</a:t>
              </a:r>
            </a:p>
          </p:txBody>
        </p:sp>
      </p:grpSp>
      <p:grpSp>
        <p:nvGrpSpPr>
          <p:cNvPr id="24" name="mistakes-block"/>
          <p:cNvGrpSpPr/>
          <p:nvPr/>
        </p:nvGrpSpPr>
        <p:grpSpPr>
          <a:xfrm>
            <a:off x="6248400" y="4305300"/>
            <a:ext cx="5334000" cy="1600200"/>
            <a:chOff x="6248400" y="4305300"/>
            <a:chExt cx="5334000" cy="1600200"/>
          </a:xfrm>
        </p:grpSpPr>
        <p:sp>
          <p:nvSpPr>
            <p:cNvPr id="21" name="Rectangle 21"/>
            <p:cNvSpPr/>
            <p:nvPr/>
          </p:nvSpPr>
          <p:spPr>
            <a:xfrm>
              <a:off x="6248400" y="4305300"/>
              <a:ext cx="5334000" cy="1600200"/>
            </a:xfrm>
            <a:prstGeom prst="roundRect">
              <a:avLst>
                <a:gd name="adj" fmla="val 4762"/>
              </a:avLst>
            </a:prstGeom>
            <a:solidFill>
              <a:srgbClr val="EAF4F6"/>
            </a:solidFill>
            <a:ln>
              <a:noFill/>
            </a:ln>
          </p:spPr>
        </p:sp>
        <p:sp>
          <p:nvSpPr>
            <p:cNvPr id="22" name="TextBox 22"/>
            <p:cNvSpPr txBox="1"/>
            <p:nvPr/>
          </p:nvSpPr>
          <p:spPr>
            <a:xfrm>
              <a:off x="6545199" y="44019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Yaygın hatalar</a:t>
              </a:r>
            </a:p>
          </p:txBody>
        </p:sp>
        <p:sp>
          <p:nvSpPr>
            <p:cNvPr id="23" name="TextBox 23"/>
            <p:cNvSpPr txBox="1"/>
            <p:nvPr/>
          </p:nvSpPr>
          <p:spPr>
            <a:xfrm>
              <a:off x="6547104" y="4709160"/>
              <a:ext cx="3441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"değil" kelimesini stop-word olarak</a:t>
              </a:r>
              <a:br/>
              <a:r>
                <a:rPr lang="tr-TR" sz="1200" dirty="0">
                  <a:solidFill>
                    <a:srgbClr val="172B3A"/>
                  </a:solidFill>
                  <a:latin typeface="+mn-lt"/>
                  <a:ea typeface="+mn-ea"/>
                  <a:cs typeface="+mn-cs"/>
                </a:rPr>
                <a:t>silmek anlamı tersine çevirebilir;</a:t>
              </a:r>
              <a:br/>
              <a:r>
                <a:rPr lang="tr-TR" sz="1200" dirty="0">
                  <a:solidFill>
                    <a:srgbClr val="172B3A"/>
                  </a:solidFill>
                  <a:latin typeface="+mn-lt"/>
                  <a:ea typeface="+mn-ea"/>
                  <a:cs typeface="+mn-cs"/>
                </a:rPr>
                <a:t>emoji ve ünlem gibi duygu sinyalleri</a:t>
              </a:r>
              <a:br/>
              <a:r>
                <a:rPr lang="tr-TR" sz="1200" dirty="0">
                  <a:solidFill>
                    <a:srgbClr val="172B3A"/>
                  </a:solidFill>
                  <a:latin typeface="+mn-lt"/>
                  <a:ea typeface="+mn-ea"/>
                  <a:cs typeface="+mn-cs"/>
                </a:rPr>
                <a:t>bazı görevlerde ayrı özellik olarak tutulmalı.</a:t>
              </a:r>
            </a:p>
          </p:txBody>
        </p:sp>
      </p:grpSp>
      <p:sp>
        <p:nvSpPr>
          <p:cNvPr id="25" name="TextBox 2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950875" cy="557403"/>
            <a:chOff x="595122" y="282892"/>
            <a:chExt cx="6950875" cy="557403"/>
          </a:xfrm>
        </p:grpSpPr>
        <p:sp>
          <p:nvSpPr>
            <p:cNvPr id="4" name="TextBox 4"/>
            <p:cNvSpPr txBox="1"/>
            <p:nvPr/>
          </p:nvSpPr>
          <p:spPr>
            <a:xfrm>
              <a:off x="595122" y="282892"/>
              <a:ext cx="69508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Türkçe karakterlerde regex tuzağı</a:t>
              </a:r>
            </a:p>
          </p:txBody>
        </p:sp>
      </p:grpSp>
      <p:grpSp>
        <p:nvGrpSpPr>
          <p:cNvPr id="15" name="wrong-panel"/>
          <p:cNvGrpSpPr/>
          <p:nvPr/>
        </p:nvGrpSpPr>
        <p:grpSpPr>
          <a:xfrm>
            <a:off x="609600" y="1257300"/>
            <a:ext cx="5334000" cy="2667000"/>
            <a:chOff x="609600" y="1257300"/>
            <a:chExt cx="5334000" cy="2667000"/>
          </a:xfrm>
        </p:grpSpPr>
        <p:sp>
          <p:nvSpPr>
            <p:cNvPr id="6" name="Rectangle 6"/>
            <p:cNvSpPr/>
            <p:nvPr/>
          </p:nvSpPr>
          <p:spPr>
            <a:xfrm>
              <a:off x="609600" y="1257300"/>
              <a:ext cx="5334000" cy="2667000"/>
            </a:xfrm>
            <a:prstGeom prst="roundRect">
              <a:avLst>
                <a:gd name="adj" fmla="val 2857"/>
              </a:avLst>
            </a:prstGeom>
            <a:solidFill>
              <a:srgbClr val="FFFFFF"/>
            </a:solidFill>
            <a:ln w="14288">
              <a:solidFill>
                <a:srgbClr val="B8CBD3"/>
              </a:solidFill>
            </a:ln>
          </p:spPr>
        </p:sp>
        <p:sp>
          <p:nvSpPr>
            <p:cNvPr id="7" name="TextBox 7"/>
            <p:cNvSpPr txBox="1"/>
            <p:nvPr/>
          </p:nvSpPr>
          <p:spPr>
            <a:xfrm>
              <a:off x="906399" y="1392079"/>
              <a:ext cx="7035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Hatalı</a:t>
              </a:r>
            </a:p>
          </p:txBody>
        </p:sp>
        <p:sp>
          <p:nvSpPr>
            <p:cNvPr id="8" name="TextBox 8"/>
            <p:cNvSpPr txBox="1"/>
            <p:nvPr/>
          </p:nvSpPr>
          <p:spPr>
            <a:xfrm>
              <a:off x="908304" y="1680210"/>
              <a:ext cx="22220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Türkçe karakterler siliniyor</a:t>
              </a:r>
            </a:p>
          </p:txBody>
        </p:sp>
        <p:sp>
          <p:nvSpPr>
            <p:cNvPr id="9" name="Rectangle 9"/>
            <p:cNvSpPr/>
            <p:nvPr/>
          </p:nvSpPr>
          <p:spPr>
            <a:xfrm>
              <a:off x="914400" y="2019300"/>
              <a:ext cx="4724400" cy="1219200"/>
            </a:xfrm>
            <a:prstGeom prst="roundRect">
              <a:avLst>
                <a:gd name="adj" fmla="val 4688"/>
              </a:avLst>
            </a:prstGeom>
            <a:solidFill>
              <a:srgbClr val="12355B"/>
            </a:solidFill>
            <a:ln>
              <a:noFill/>
            </a:ln>
          </p:spPr>
        </p:sp>
        <p:sp>
          <p:nvSpPr>
            <p:cNvPr id="10" name="TextBox 10"/>
            <p:cNvSpPr txBox="1"/>
            <p:nvPr/>
          </p:nvSpPr>
          <p:spPr>
            <a:xfrm>
              <a:off x="1060704" y="2175510"/>
              <a:ext cx="187802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temiz_metin = re.sub(</a:t>
              </a:r>
            </a:p>
          </p:txBody>
        </p:sp>
        <p:sp>
          <p:nvSpPr>
            <p:cNvPr id="11" name="TextBox 11"/>
            <p:cNvSpPr txBox="1"/>
            <p:nvPr/>
          </p:nvSpPr>
          <p:spPr>
            <a:xfrm>
              <a:off x="1213104" y="2404110"/>
              <a:ext cx="152262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r"[^a-z\s]", " ",</a:t>
              </a:r>
            </a:p>
          </p:txBody>
        </p:sp>
        <p:sp>
          <p:nvSpPr>
            <p:cNvPr id="12" name="TextBox 12"/>
            <p:cNvSpPr txBox="1"/>
            <p:nvPr/>
          </p:nvSpPr>
          <p:spPr>
            <a:xfrm>
              <a:off x="1213104" y="2632710"/>
              <a:ext cx="143377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"bağlantı kötü")</a:t>
              </a:r>
            </a:p>
          </p:txBody>
        </p:sp>
        <p:sp>
          <p:nvSpPr>
            <p:cNvPr id="13" name="TextBox 13"/>
            <p:cNvSpPr txBox="1"/>
            <p:nvPr/>
          </p:nvSpPr>
          <p:spPr>
            <a:xfrm>
              <a:off x="1060704" y="2918460"/>
              <a:ext cx="143377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'ba lant kötü'</a:t>
              </a:r>
            </a:p>
          </p:txBody>
        </p:sp>
        <p:sp>
          <p:nvSpPr>
            <p:cNvPr id="14" name="TextBox 14"/>
            <p:cNvSpPr txBox="1"/>
            <p:nvPr/>
          </p:nvSpPr>
          <p:spPr>
            <a:xfrm>
              <a:off x="908304" y="3489960"/>
              <a:ext cx="28468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Sorun: karakter aralığı eksik, "ğ" ve</a:t>
              </a:r>
              <a:br/>
              <a:r>
                <a:rPr lang="tr-TR" sz="1200" dirty="0">
                  <a:solidFill>
                    <a:srgbClr val="172B3A"/>
                  </a:solidFill>
                  <a:latin typeface="+mn-lt"/>
                  <a:ea typeface="+mn-ea"/>
                  <a:cs typeface="+mn-cs"/>
                </a:rPr>
                <a:t>"ı" silinerek kelime bozuluyor.</a:t>
              </a:r>
            </a:p>
          </p:txBody>
        </p:sp>
      </p:grpSp>
      <p:grpSp>
        <p:nvGrpSpPr>
          <p:cNvPr id="25" name="right-panel"/>
          <p:cNvGrpSpPr/>
          <p:nvPr/>
        </p:nvGrpSpPr>
        <p:grpSpPr>
          <a:xfrm>
            <a:off x="6248400" y="1257300"/>
            <a:ext cx="5334000" cy="2667000"/>
            <a:chOff x="6248400" y="1257300"/>
            <a:chExt cx="5334000" cy="2667000"/>
          </a:xfrm>
        </p:grpSpPr>
        <p:sp>
          <p:nvSpPr>
            <p:cNvPr id="16" name="Rectangle 16"/>
            <p:cNvSpPr/>
            <p:nvPr/>
          </p:nvSpPr>
          <p:spPr>
            <a:xfrm>
              <a:off x="6248400" y="1257300"/>
              <a:ext cx="5334000" cy="2667000"/>
            </a:xfrm>
            <a:prstGeom prst="roundRect">
              <a:avLst>
                <a:gd name="adj" fmla="val 2857"/>
              </a:avLst>
            </a:prstGeom>
            <a:solidFill>
              <a:srgbClr val="EAF4F6"/>
            </a:solidFill>
            <a:ln w="14288">
              <a:solidFill>
                <a:srgbClr val="00A6A6"/>
              </a:solidFill>
            </a:ln>
          </p:spPr>
        </p:sp>
        <p:sp>
          <p:nvSpPr>
            <p:cNvPr id="17" name="TextBox 17"/>
            <p:cNvSpPr txBox="1"/>
            <p:nvPr/>
          </p:nvSpPr>
          <p:spPr>
            <a:xfrm>
              <a:off x="6545199" y="139207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a:t>
              </a:r>
            </a:p>
          </p:txBody>
        </p:sp>
        <p:sp>
          <p:nvSpPr>
            <p:cNvPr id="18" name="TextBox 18"/>
            <p:cNvSpPr txBox="1"/>
            <p:nvPr/>
          </p:nvSpPr>
          <p:spPr>
            <a:xfrm>
              <a:off x="6547104" y="1680210"/>
              <a:ext cx="23839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Türkçe karakterler korunuyor</a:t>
              </a:r>
            </a:p>
          </p:txBody>
        </p:sp>
        <p:sp>
          <p:nvSpPr>
            <p:cNvPr id="19" name="Rectangle 19"/>
            <p:cNvSpPr/>
            <p:nvPr/>
          </p:nvSpPr>
          <p:spPr>
            <a:xfrm>
              <a:off x="6553200" y="2019300"/>
              <a:ext cx="4724400" cy="1219200"/>
            </a:xfrm>
            <a:prstGeom prst="roundRect">
              <a:avLst>
                <a:gd name="adj" fmla="val 4688"/>
              </a:avLst>
            </a:prstGeom>
            <a:solidFill>
              <a:srgbClr val="12355B"/>
            </a:solidFill>
            <a:ln>
              <a:noFill/>
            </a:ln>
          </p:spPr>
        </p:sp>
        <p:sp>
          <p:nvSpPr>
            <p:cNvPr id="20" name="TextBox 20"/>
            <p:cNvSpPr txBox="1"/>
            <p:nvPr/>
          </p:nvSpPr>
          <p:spPr>
            <a:xfrm>
              <a:off x="6699504" y="2175510"/>
              <a:ext cx="187802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temiz_metin = re.sub(</a:t>
              </a:r>
            </a:p>
          </p:txBody>
        </p:sp>
        <p:sp>
          <p:nvSpPr>
            <p:cNvPr id="21" name="TextBox 21"/>
            <p:cNvSpPr txBox="1"/>
            <p:nvPr/>
          </p:nvSpPr>
          <p:spPr>
            <a:xfrm>
              <a:off x="6851904" y="2404110"/>
              <a:ext cx="205572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r"[^a-zçğıöşü\s]", " ",</a:t>
              </a:r>
            </a:p>
          </p:txBody>
        </p:sp>
        <p:sp>
          <p:nvSpPr>
            <p:cNvPr id="22" name="TextBox 22"/>
            <p:cNvSpPr txBox="1"/>
            <p:nvPr/>
          </p:nvSpPr>
          <p:spPr>
            <a:xfrm>
              <a:off x="6851904" y="2632710"/>
              <a:ext cx="1433779"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"bağlantı kötü")</a:t>
              </a:r>
            </a:p>
          </p:txBody>
        </p:sp>
        <p:sp>
          <p:nvSpPr>
            <p:cNvPr id="23" name="TextBox 23"/>
            <p:cNvSpPr txBox="1"/>
            <p:nvPr/>
          </p:nvSpPr>
          <p:spPr>
            <a:xfrm>
              <a:off x="6699504" y="2918460"/>
              <a:ext cx="152262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'bağlantı kötü'</a:t>
              </a:r>
            </a:p>
          </p:txBody>
        </p:sp>
        <p:sp>
          <p:nvSpPr>
            <p:cNvPr id="24" name="TextBox 24"/>
            <p:cNvSpPr txBox="1"/>
            <p:nvPr/>
          </p:nvSpPr>
          <p:spPr>
            <a:xfrm>
              <a:off x="6547104" y="3489960"/>
              <a:ext cx="26715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Çözüm: desen Türkçe Unicode</a:t>
              </a:r>
              <a:br/>
              <a:r>
                <a:rPr lang="tr-TR" sz="1200" dirty="0">
                  <a:solidFill>
                    <a:srgbClr val="172B3A"/>
                  </a:solidFill>
                  <a:latin typeface="+mn-lt"/>
                  <a:ea typeface="+mn-ea"/>
                  <a:cs typeface="+mn-cs"/>
                </a:rPr>
                <a:t>gereksinimine göre genişletilmiştir.</a:t>
              </a:r>
            </a:p>
          </p:txBody>
        </p:sp>
      </p:grpSp>
      <p:grpSp>
        <p:nvGrpSpPr>
          <p:cNvPr id="32" name="note-block"/>
          <p:cNvGrpSpPr/>
          <p:nvPr/>
        </p:nvGrpSpPr>
        <p:grpSpPr>
          <a:xfrm>
            <a:off x="609600" y="4267200"/>
            <a:ext cx="10972800" cy="1676400"/>
            <a:chOff x="609600" y="4267200"/>
            <a:chExt cx="10972800" cy="1676400"/>
          </a:xfrm>
        </p:grpSpPr>
        <p:sp>
          <p:nvSpPr>
            <p:cNvPr id="26" name="Rectangle 26"/>
            <p:cNvSpPr/>
            <p:nvPr/>
          </p:nvSpPr>
          <p:spPr>
            <a:xfrm>
              <a:off x="609600" y="4267200"/>
              <a:ext cx="10972800" cy="1676400"/>
            </a:xfrm>
            <a:prstGeom prst="roundRect">
              <a:avLst>
                <a:gd name="adj" fmla="val 4545"/>
              </a:avLst>
            </a:prstGeom>
            <a:solidFill>
              <a:srgbClr val="FFFFFF"/>
            </a:solidFill>
            <a:ln w="14288">
              <a:solidFill>
                <a:srgbClr val="B8CBD3"/>
              </a:solidFill>
            </a:ln>
          </p:spPr>
        </p:sp>
        <p:sp>
          <p:nvSpPr>
            <p:cNvPr id="27" name="Rectangle 27"/>
            <p:cNvSpPr/>
            <p:nvPr/>
          </p:nvSpPr>
          <p:spPr>
            <a:xfrm>
              <a:off x="609600" y="4267200"/>
              <a:ext cx="57150" cy="1676400"/>
            </a:xfrm>
            <a:prstGeom prst="rect">
              <a:avLst/>
            </a:prstGeom>
            <a:solidFill>
              <a:srgbClr val="00A6A6"/>
            </a:solidFill>
            <a:ln>
              <a:noFill/>
            </a:ln>
          </p:spPr>
        </p:sp>
        <p:sp>
          <p:nvSpPr>
            <p:cNvPr id="28" name="TextBox 28"/>
            <p:cNvSpPr txBox="1"/>
            <p:nvPr/>
          </p:nvSpPr>
          <p:spPr>
            <a:xfrm>
              <a:off x="906399" y="4401979"/>
              <a:ext cx="34401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İkinci ve üçüncü yaygın hatalar</a:t>
              </a:r>
            </a:p>
          </p:txBody>
        </p:sp>
        <p:sp>
          <p:nvSpPr>
            <p:cNvPr id="29" name="TextBox 29"/>
            <p:cNvSpPr txBox="1"/>
            <p:nvPr/>
          </p:nvSpPr>
          <p:spPr>
            <a:xfrm>
              <a:off x="908304" y="4747260"/>
              <a:ext cx="95647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"değil" kelimesini stop-word olarak silmek: "Hizmet kötü değil" ifadesinde bu kelime kaldırılırsa duygu tersine dönebilir.</a:t>
              </a:r>
            </a:p>
          </p:txBody>
        </p:sp>
        <p:sp>
          <p:nvSpPr>
            <p:cNvPr id="30" name="TextBox 30"/>
            <p:cNvSpPr txBox="1"/>
            <p:nvPr/>
          </p:nvSpPr>
          <p:spPr>
            <a:xfrm>
              <a:off x="908304" y="5033010"/>
              <a:ext cx="98230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Emoji ve ünlem gibi duygu sinyallerini her görevde silmek: sosyal medya duygu analizinde bunlar ayrı özellik olarak tutulabilir.</a:t>
              </a:r>
            </a:p>
          </p:txBody>
        </p:sp>
        <p:sp>
          <p:nvSpPr>
            <p:cNvPr id="31" name="TextBox 31"/>
            <p:cNvSpPr txBox="1"/>
            <p:nvPr/>
          </p:nvSpPr>
          <p:spPr>
            <a:xfrm>
              <a:off x="908304" y="5490210"/>
              <a:ext cx="1041342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Fonksiyon: replace("İ","i").replace("I","ı") + re.sub(r"[^a-zçğıöşü\s]", " ", ...) — Türkçe metin işlemede güvenli temel kalıp.</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21908" cy="557403"/>
            <a:chOff x="595122" y="282892"/>
            <a:chExt cx="8121908" cy="557403"/>
          </a:xfrm>
        </p:grpSpPr>
        <p:sp>
          <p:nvSpPr>
            <p:cNvPr id="4" name="TextBox 4"/>
            <p:cNvSpPr txBox="1"/>
            <p:nvPr/>
          </p:nvSpPr>
          <p:spPr>
            <a:xfrm>
              <a:off x="595122" y="282892"/>
              <a:ext cx="81219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Vektörleştirme: Bag-of-Words ve TF-IDF</a:t>
              </a:r>
            </a:p>
          </p:txBody>
        </p:sp>
      </p:grpSp>
      <p:grpSp>
        <p:nvGrpSpPr>
          <p:cNvPr id="9" name="definition-block"/>
          <p:cNvGrpSpPr/>
          <p:nvPr/>
        </p:nvGrpSpPr>
        <p:grpSpPr>
          <a:xfrm>
            <a:off x="609600" y="1219200"/>
            <a:ext cx="6521196" cy="981456"/>
            <a:chOff x="609600" y="1219200"/>
            <a:chExt cx="6521196" cy="981456"/>
          </a:xfrm>
        </p:grpSpPr>
        <p:sp>
          <p:nvSpPr>
            <p:cNvPr id="6" name="Rectangle 6"/>
            <p:cNvSpPr/>
            <p:nvPr/>
          </p:nvSpPr>
          <p:spPr>
            <a:xfrm>
              <a:off x="609600" y="1219200"/>
              <a:ext cx="57150" cy="800100"/>
            </a:xfrm>
            <a:prstGeom prst="rect">
              <a:avLst/>
            </a:prstGeom>
            <a:solidFill>
              <a:srgbClr val="00A6A6"/>
            </a:solidFill>
            <a:ln>
              <a:noFill/>
            </a:ln>
          </p:spPr>
        </p:sp>
        <p:sp>
          <p:nvSpPr>
            <p:cNvPr id="7" name="TextBox 7"/>
            <p:cNvSpPr txBox="1"/>
            <p:nvPr/>
          </p:nvSpPr>
          <p:spPr>
            <a:xfrm>
              <a:off x="906399" y="127777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8" name="TextBox 8"/>
            <p:cNvSpPr txBox="1"/>
            <p:nvPr/>
          </p:nvSpPr>
          <p:spPr>
            <a:xfrm>
              <a:off x="908304" y="1584960"/>
              <a:ext cx="62224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Vektörleştirme, metni algoritmaların işleyebileceği sayısal özelliklere dönüştürür.</a:t>
              </a:r>
              <a:br/>
              <a:r>
                <a:rPr lang="tr-TR" sz="1200" dirty="0">
                  <a:solidFill>
                    <a:srgbClr val="172B3A"/>
                  </a:solidFill>
                  <a:latin typeface="+mn-lt"/>
                  <a:ea typeface="+mn-ea"/>
                  <a:cs typeface="+mn-cs"/>
                </a:rPr>
                <a:t>Bag-of-Words kelimelerin belge içindeki sayısını sayar; TF-IDF ise belgede sık,</a:t>
              </a:r>
              <a:br/>
              <a:r>
                <a:rPr lang="tr-TR" sz="1200" dirty="0">
                  <a:solidFill>
                    <a:srgbClr val="172B3A"/>
                  </a:solidFill>
                  <a:latin typeface="+mn-lt"/>
                  <a:ea typeface="+mn-ea"/>
                  <a:cs typeface="+mn-cs"/>
                </a:rPr>
                <a:t>koleksiyonda nadir kelimeleri daha değerli sayar.</a:t>
              </a:r>
            </a:p>
          </p:txBody>
        </p:sp>
      </p:grpSp>
      <p:grpSp>
        <p:nvGrpSpPr>
          <p:cNvPr id="15" name="bow-card"/>
          <p:cNvGrpSpPr/>
          <p:nvPr/>
        </p:nvGrpSpPr>
        <p:grpSpPr>
          <a:xfrm>
            <a:off x="609600" y="2247900"/>
            <a:ext cx="5334000" cy="2476500"/>
            <a:chOff x="609600" y="2247900"/>
            <a:chExt cx="5334000" cy="2476500"/>
          </a:xfrm>
        </p:grpSpPr>
        <p:sp>
          <p:nvSpPr>
            <p:cNvPr id="10" name="Rectangle 10"/>
            <p:cNvSpPr/>
            <p:nvPr/>
          </p:nvSpPr>
          <p:spPr>
            <a:xfrm>
              <a:off x="609600" y="2247900"/>
              <a:ext cx="5334000" cy="2476500"/>
            </a:xfrm>
            <a:prstGeom prst="roundRect">
              <a:avLst>
                <a:gd name="adj" fmla="val 3846"/>
              </a:avLst>
            </a:prstGeom>
            <a:solidFill>
              <a:srgbClr val="FFFFFF"/>
            </a:solidFill>
            <a:ln w="14288">
              <a:solidFill>
                <a:srgbClr val="2E86AB"/>
              </a:solidFill>
            </a:ln>
          </p:spPr>
        </p:sp>
        <p:sp>
          <p:nvSpPr>
            <p:cNvPr id="11" name="TextBox 11"/>
            <p:cNvSpPr txBox="1"/>
            <p:nvPr/>
          </p:nvSpPr>
          <p:spPr>
            <a:xfrm>
              <a:off x="905256" y="2396490"/>
              <a:ext cx="17680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Bag-of-Words</a:t>
              </a:r>
            </a:p>
          </p:txBody>
        </p:sp>
        <p:sp>
          <p:nvSpPr>
            <p:cNvPr id="12" name="TextBox 12"/>
            <p:cNvSpPr txBox="1"/>
            <p:nvPr/>
          </p:nvSpPr>
          <p:spPr>
            <a:xfrm>
              <a:off x="908304" y="2766060"/>
              <a:ext cx="2968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Bir kelimenin belgede kaç kez</a:t>
              </a:r>
              <a:br/>
              <a:r>
                <a:rPr lang="tr-TR" sz="1200" dirty="0">
                  <a:solidFill>
                    <a:srgbClr val="172B3A"/>
                  </a:solidFill>
                  <a:latin typeface="+mn-lt"/>
                  <a:ea typeface="+mn-ea"/>
                  <a:cs typeface="+mn-cs"/>
                </a:rPr>
                <a:t>geçtiğini sayar; koleksiyon</a:t>
              </a:r>
              <a:br/>
              <a:r>
                <a:rPr lang="tr-TR" sz="1200" dirty="0">
                  <a:solidFill>
                    <a:srgbClr val="172B3A"/>
                  </a:solidFill>
                  <a:latin typeface="+mn-lt"/>
                  <a:ea typeface="+mn-ea"/>
                  <a:cs typeface="+mn-cs"/>
                </a:rPr>
                <a:t>genelindeki yaygınlığını dikkate almaz.</a:t>
              </a:r>
            </a:p>
          </p:txBody>
        </p:sp>
        <p:sp>
          <p:nvSpPr>
            <p:cNvPr id="13" name="TextBox 13"/>
            <p:cNvSpPr txBox="1"/>
            <p:nvPr/>
          </p:nvSpPr>
          <p:spPr>
            <a:xfrm>
              <a:off x="908304" y="3718560"/>
              <a:ext cx="26029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"destek" 3 belgede de geçse bile</a:t>
              </a:r>
              <a:br/>
              <a:r>
                <a:rPr lang="tr-TR" sz="1200" dirty="0">
                  <a:solidFill>
                    <a:srgbClr val="52616B"/>
                  </a:solidFill>
                  <a:latin typeface="+mn-lt"/>
                  <a:ea typeface="+mn-ea"/>
                  <a:cs typeface="+mn-cs"/>
                </a:rPr>
                <a:t>her belgede eşit ağırlıkla sayılır.</a:t>
              </a:r>
            </a:p>
          </p:txBody>
        </p:sp>
        <p:sp>
          <p:nvSpPr>
            <p:cNvPr id="14" name="TextBox 14"/>
            <p:cNvSpPr txBox="1"/>
            <p:nvPr/>
          </p:nvSpPr>
          <p:spPr>
            <a:xfrm>
              <a:off x="908304" y="4290060"/>
              <a:ext cx="3495050"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Kullanım: basit sayım, hızlı taban çizgisi</a:t>
              </a:r>
            </a:p>
          </p:txBody>
        </p:sp>
      </p:grpSp>
      <p:grpSp>
        <p:nvGrpSpPr>
          <p:cNvPr id="21" name="tfidf-card"/>
          <p:cNvGrpSpPr/>
          <p:nvPr/>
        </p:nvGrpSpPr>
        <p:grpSpPr>
          <a:xfrm>
            <a:off x="6248400" y="2247900"/>
            <a:ext cx="5334000" cy="2476500"/>
            <a:chOff x="6248400" y="2247900"/>
            <a:chExt cx="5334000" cy="2476500"/>
          </a:xfrm>
        </p:grpSpPr>
        <p:sp>
          <p:nvSpPr>
            <p:cNvPr id="16" name="Rectangle 16"/>
            <p:cNvSpPr/>
            <p:nvPr/>
          </p:nvSpPr>
          <p:spPr>
            <a:xfrm>
              <a:off x="6248400" y="2247900"/>
              <a:ext cx="5334000" cy="2476500"/>
            </a:xfrm>
            <a:prstGeom prst="roundRect">
              <a:avLst>
                <a:gd name="adj" fmla="val 3846"/>
              </a:avLst>
            </a:prstGeom>
            <a:solidFill>
              <a:srgbClr val="EAF4F6"/>
            </a:solidFill>
            <a:ln w="14288">
              <a:solidFill>
                <a:srgbClr val="00A6A6"/>
              </a:solidFill>
            </a:ln>
          </p:spPr>
        </p:sp>
        <p:sp>
          <p:nvSpPr>
            <p:cNvPr id="17" name="TextBox 17"/>
            <p:cNvSpPr txBox="1"/>
            <p:nvPr/>
          </p:nvSpPr>
          <p:spPr>
            <a:xfrm>
              <a:off x="6544056" y="2396490"/>
              <a:ext cx="8382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TF-IDF</a:t>
              </a:r>
            </a:p>
          </p:txBody>
        </p:sp>
        <p:sp>
          <p:nvSpPr>
            <p:cNvPr id="18" name="TextBox 18"/>
            <p:cNvSpPr txBox="1"/>
            <p:nvPr/>
          </p:nvSpPr>
          <p:spPr>
            <a:xfrm>
              <a:off x="6547104" y="2766060"/>
              <a:ext cx="3715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Belgede sık, ama tüm koleksiyonda</a:t>
              </a:r>
              <a:br/>
              <a:r>
                <a:rPr lang="tr-TR" sz="1200" dirty="0">
                  <a:solidFill>
                    <a:srgbClr val="172B3A"/>
                  </a:solidFill>
                  <a:latin typeface="+mn-lt"/>
                  <a:ea typeface="+mn-ea"/>
                  <a:cs typeface="+mn-cs"/>
                </a:rPr>
                <a:t>nadir geçen terimlere daha yüksek</a:t>
              </a:r>
              <a:br/>
              <a:r>
                <a:rPr lang="tr-TR" sz="1200" dirty="0">
                  <a:solidFill>
                    <a:srgbClr val="172B3A"/>
                  </a:solidFill>
                  <a:latin typeface="+mn-lt"/>
                  <a:ea typeface="+mn-ea"/>
                  <a:cs typeface="+mn-cs"/>
                </a:rPr>
                <a:t>ağırlık verir — anlamı değil, ayırt ediciliği ölçer.</a:t>
              </a:r>
            </a:p>
          </p:txBody>
        </p:sp>
        <p:sp>
          <p:nvSpPr>
            <p:cNvPr id="19" name="TextBox 19"/>
            <p:cNvSpPr txBox="1"/>
            <p:nvPr/>
          </p:nvSpPr>
          <p:spPr>
            <a:xfrm>
              <a:off x="6547104" y="3718560"/>
              <a:ext cx="35707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4 belgede "destek" 3, "yetersiz" 1</a:t>
              </a:r>
              <a:br/>
              <a:r>
                <a:rPr lang="tr-TR" sz="1200" dirty="0">
                  <a:solidFill>
                    <a:srgbClr val="52616B"/>
                  </a:solidFill>
                  <a:latin typeface="+mn-lt"/>
                  <a:ea typeface="+mn-ea"/>
                  <a:cs typeface="+mn-cs"/>
                </a:rPr>
                <a:t>belgede geçerse "yetersiz" daha ayırt edicidir.</a:t>
              </a:r>
            </a:p>
          </p:txBody>
        </p:sp>
        <p:sp>
          <p:nvSpPr>
            <p:cNvPr id="20" name="TextBox 20"/>
            <p:cNvSpPr txBox="1"/>
            <p:nvPr/>
          </p:nvSpPr>
          <p:spPr>
            <a:xfrm>
              <a:off x="6547104" y="4290060"/>
              <a:ext cx="3605482" cy="234696"/>
            </a:xfrm>
            <a:prstGeom prst="rect">
              <a:avLst/>
            </a:prstGeom>
            <a:noFill/>
            <a:ln>
              <a:noFill/>
            </a:ln>
          </p:spPr>
          <p:txBody>
            <a:bodyPr wrap="none" lIns="0" tIns="0" rIns="0" bIns="0" anchor="t" anchorCtr="0">
              <a:spAutoFit/>
            </a:bodyPr>
            <a:lstStyle/>
            <a:p>
              <a:pPr algn="l"/>
              <a:r>
                <a:rPr lang="tr-TR" sz="1200" b="1" dirty="0">
                  <a:solidFill>
                    <a:srgbClr val="52616B"/>
                  </a:solidFill>
                  <a:latin typeface="+mn-lt"/>
                  <a:ea typeface="+mn-ea"/>
                  <a:cs typeface="+mn-cs"/>
                </a:rPr>
                <a:t>Kullanım: arama, benzerlik, sınıflandırma</a:t>
              </a:r>
            </a:p>
          </p:txBody>
        </p:sp>
      </p:grpSp>
      <p:grpSp>
        <p:nvGrpSpPr>
          <p:cNvPr id="25" name="example-note"/>
          <p:cNvGrpSpPr/>
          <p:nvPr/>
        </p:nvGrpSpPr>
        <p:grpSpPr>
          <a:xfrm>
            <a:off x="609600" y="5010150"/>
            <a:ext cx="10972800" cy="952500"/>
            <a:chOff x="609600" y="5010150"/>
            <a:chExt cx="10972800" cy="952500"/>
          </a:xfrm>
        </p:grpSpPr>
        <p:sp>
          <p:nvSpPr>
            <p:cNvPr id="22" name="Rectangle 22"/>
            <p:cNvSpPr/>
            <p:nvPr/>
          </p:nvSpPr>
          <p:spPr>
            <a:xfrm>
              <a:off x="609600" y="5010150"/>
              <a:ext cx="10972800" cy="952500"/>
            </a:xfrm>
            <a:prstGeom prst="roundRect">
              <a:avLst>
                <a:gd name="adj" fmla="val 8000"/>
              </a:avLst>
            </a:prstGeom>
            <a:solidFill>
              <a:srgbClr val="FFFFFF"/>
            </a:solidFill>
            <a:ln w="14288">
              <a:solidFill>
                <a:srgbClr val="B8CBD3"/>
              </a:solidFill>
            </a:ln>
          </p:spPr>
        </p:sp>
        <p:sp>
          <p:nvSpPr>
            <p:cNvPr id="23" name="TextBox 23"/>
            <p:cNvSpPr txBox="1"/>
            <p:nvPr/>
          </p:nvSpPr>
          <p:spPr>
            <a:xfrm>
              <a:off x="906399" y="5144929"/>
              <a:ext cx="131867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Küçük örnek</a:t>
              </a:r>
            </a:p>
          </p:txBody>
        </p:sp>
        <p:sp>
          <p:nvSpPr>
            <p:cNvPr id="24" name="TextBox 24"/>
            <p:cNvSpPr txBox="1"/>
            <p:nvPr/>
          </p:nvSpPr>
          <p:spPr>
            <a:xfrm>
              <a:off x="908304" y="5471160"/>
              <a:ext cx="75636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Dört belgeli koleksiyonda "destek" 3 belgede, "yetersiz" 1 belgede geçiyor: IDF(yetersiz) = log(4/1),</a:t>
              </a:r>
              <a:br/>
              <a:r>
                <a:rPr lang="tr-TR" sz="1200" dirty="0">
                  <a:solidFill>
                    <a:srgbClr val="172B3A"/>
                  </a:solidFill>
                  <a:latin typeface="+mn-lt"/>
                  <a:ea typeface="+mn-ea"/>
                  <a:cs typeface="+mn-cs"/>
                </a:rPr>
                <a:t>IDF(destek) = log(4/3) — "yetersiz" belgeyi ayırt etmede daha fazla ağırlık taşır.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435702" cy="557403"/>
            <a:chOff x="595122" y="282892"/>
            <a:chExt cx="3435702" cy="557403"/>
          </a:xfrm>
        </p:grpSpPr>
        <p:sp>
          <p:nvSpPr>
            <p:cNvPr id="4" name="TextBox 4"/>
            <p:cNvSpPr txBox="1"/>
            <p:nvPr/>
          </p:nvSpPr>
          <p:spPr>
            <a:xfrm>
              <a:off x="595122" y="282892"/>
              <a:ext cx="34357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TF-IDF formülleri</a:t>
              </a:r>
            </a:p>
          </p:txBody>
        </p:sp>
      </p:grpSp>
      <p:grpSp>
        <p:nvGrpSpPr>
          <p:cNvPr id="8" name="intro-block"/>
          <p:cNvGrpSpPr/>
          <p:nvPr/>
        </p:nvGrpSpPr>
        <p:grpSpPr>
          <a:xfrm>
            <a:off x="603504" y="1299210"/>
            <a:ext cx="8098587" cy="444246"/>
            <a:chOff x="603504" y="1299210"/>
            <a:chExt cx="8098587" cy="444246"/>
          </a:xfrm>
        </p:grpSpPr>
        <p:sp>
          <p:nvSpPr>
            <p:cNvPr id="6" name="TextBox 6"/>
            <p:cNvSpPr txBox="1"/>
            <p:nvPr/>
          </p:nvSpPr>
          <p:spPr>
            <a:xfrm>
              <a:off x="603504" y="1299210"/>
              <a:ext cx="80985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TF, terimin bir belgedeki sıklığını; IDF ise terimin koleksiyon genelindeki ayırt ediciliğini temsil eder.</a:t>
              </a:r>
            </a:p>
          </p:txBody>
        </p:sp>
        <p:sp>
          <p:nvSpPr>
            <p:cNvPr id="7" name="TextBox 7"/>
            <p:cNvSpPr txBox="1"/>
            <p:nvPr/>
          </p:nvSpPr>
          <p:spPr>
            <a:xfrm>
              <a:off x="603504" y="1508760"/>
              <a:ext cx="72735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 teriminin d belgesinde f(t,d) kez geçtiğini, d'nin toplam n(d) terim içerdiğini varsayalım:</a:t>
              </a:r>
            </a:p>
          </p:txBody>
        </p:sp>
      </p:grpSp>
      <p:grpSp>
        <p:nvGrpSpPr>
          <p:cNvPr id="13" name="tf-card"/>
          <p:cNvGrpSpPr/>
          <p:nvPr/>
        </p:nvGrpSpPr>
        <p:grpSpPr>
          <a:xfrm>
            <a:off x="609600" y="2057400"/>
            <a:ext cx="5334000" cy="1714500"/>
            <a:chOff x="609600" y="2057400"/>
            <a:chExt cx="5334000" cy="1714500"/>
          </a:xfrm>
        </p:grpSpPr>
        <p:sp>
          <p:nvSpPr>
            <p:cNvPr id="9" name="Rectangle 9"/>
            <p:cNvSpPr/>
            <p:nvPr/>
          </p:nvSpPr>
          <p:spPr>
            <a:xfrm>
              <a:off x="609600" y="2057400"/>
              <a:ext cx="5334000" cy="1714500"/>
            </a:xfrm>
            <a:prstGeom prst="roundRect">
              <a:avLst>
                <a:gd name="adj" fmla="val 5556"/>
              </a:avLst>
            </a:prstGeom>
            <a:solidFill>
              <a:srgbClr val="FFFFFF"/>
            </a:solidFill>
            <a:ln w="14288">
              <a:solidFill>
                <a:srgbClr val="2E86AB"/>
              </a:solidFill>
            </a:ln>
          </p:spPr>
        </p:sp>
        <p:sp>
          <p:nvSpPr>
            <p:cNvPr id="10" name="TextBox 10"/>
            <p:cNvSpPr txBox="1"/>
            <p:nvPr/>
          </p:nvSpPr>
          <p:spPr>
            <a:xfrm>
              <a:off x="906399" y="2211229"/>
              <a:ext cx="208121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Terim Sıklığı (TF)</a:t>
              </a:r>
            </a:p>
          </p:txBody>
        </p:sp>
        <p:sp>
          <p:nvSpPr>
            <p:cNvPr id="11" name="TextBox 11"/>
            <p:cNvSpPr txBox="1"/>
            <p:nvPr/>
          </p:nvSpPr>
          <p:spPr>
            <a:xfrm>
              <a:off x="1478613" y="2900362"/>
              <a:ext cx="3595973" cy="440055"/>
            </a:xfrm>
            <a:prstGeom prst="rect">
              <a:avLst/>
            </a:prstGeom>
            <a:noFill/>
            <a:ln>
              <a:noFill/>
            </a:ln>
          </p:spPr>
          <p:txBody>
            <a:bodyPr wrap="none" lIns="0" tIns="0" rIns="0" bIns="0" anchor="t" anchorCtr="0">
              <a:spAutoFit/>
            </a:bodyPr>
            <a:lstStyle/>
            <a:p>
              <a:pPr algn="ctr"/>
              <a:r>
                <a:rPr lang="tr-TR" sz="2250" i="1" dirty="0">
                  <a:solidFill>
                    <a:srgbClr val="12355B"/>
                  </a:solidFill>
                  <a:latin typeface="+mn-lt"/>
                  <a:ea typeface="+mn-ea"/>
                  <a:cs typeface="+mn-cs"/>
                </a:rPr>
                <a:t>TF(t,d) = f(t,d) / n(d)</a:t>
              </a:r>
            </a:p>
          </p:txBody>
        </p:sp>
        <p:sp>
          <p:nvSpPr>
            <p:cNvPr id="12" name="TextBox 12"/>
            <p:cNvSpPr txBox="1"/>
            <p:nvPr/>
          </p:nvSpPr>
          <p:spPr>
            <a:xfrm>
              <a:off x="908304" y="3413760"/>
              <a:ext cx="281169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Terimin belge içindeki göreli sıklığı</a:t>
              </a:r>
            </a:p>
          </p:txBody>
        </p:sp>
      </p:grpSp>
      <p:grpSp>
        <p:nvGrpSpPr>
          <p:cNvPr id="18" name="idf-card"/>
          <p:cNvGrpSpPr/>
          <p:nvPr/>
        </p:nvGrpSpPr>
        <p:grpSpPr>
          <a:xfrm>
            <a:off x="6248400" y="2057400"/>
            <a:ext cx="5334000" cy="1714500"/>
            <a:chOff x="6248400" y="2057400"/>
            <a:chExt cx="5334000" cy="1714500"/>
          </a:xfrm>
        </p:grpSpPr>
        <p:sp>
          <p:nvSpPr>
            <p:cNvPr id="14" name="Rectangle 14"/>
            <p:cNvSpPr/>
            <p:nvPr/>
          </p:nvSpPr>
          <p:spPr>
            <a:xfrm>
              <a:off x="6248400" y="2057400"/>
              <a:ext cx="5334000" cy="1714500"/>
            </a:xfrm>
            <a:prstGeom prst="roundRect">
              <a:avLst>
                <a:gd name="adj" fmla="val 5556"/>
              </a:avLst>
            </a:prstGeom>
            <a:solidFill>
              <a:srgbClr val="EAF4F6"/>
            </a:solidFill>
            <a:ln w="14288">
              <a:solidFill>
                <a:srgbClr val="00A6A6"/>
              </a:solidFill>
            </a:ln>
          </p:spPr>
        </p:sp>
        <p:sp>
          <p:nvSpPr>
            <p:cNvPr id="15" name="TextBox 15"/>
            <p:cNvSpPr txBox="1"/>
            <p:nvPr/>
          </p:nvSpPr>
          <p:spPr>
            <a:xfrm>
              <a:off x="6545199" y="2211229"/>
              <a:ext cx="2675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Ters Belge Sıklığı (IDF)</a:t>
              </a:r>
            </a:p>
          </p:txBody>
        </p:sp>
        <p:sp>
          <p:nvSpPr>
            <p:cNvPr id="16" name="TextBox 16"/>
            <p:cNvSpPr txBox="1"/>
            <p:nvPr/>
          </p:nvSpPr>
          <p:spPr>
            <a:xfrm>
              <a:off x="7180573" y="2900362"/>
              <a:ext cx="3469654" cy="440055"/>
            </a:xfrm>
            <a:prstGeom prst="rect">
              <a:avLst/>
            </a:prstGeom>
            <a:noFill/>
            <a:ln>
              <a:noFill/>
            </a:ln>
          </p:spPr>
          <p:txBody>
            <a:bodyPr wrap="none" lIns="0" tIns="0" rIns="0" bIns="0" anchor="t" anchorCtr="0">
              <a:spAutoFit/>
            </a:bodyPr>
            <a:lstStyle/>
            <a:p>
              <a:pPr algn="ctr"/>
              <a:r>
                <a:rPr lang="tr-TR" sz="2250" i="1" dirty="0">
                  <a:solidFill>
                    <a:srgbClr val="12355B"/>
                  </a:solidFill>
                  <a:latin typeface="+mn-lt"/>
                  <a:ea typeface="+mn-ea"/>
                  <a:cs typeface="+mn-cs"/>
                </a:rPr>
                <a:t>IDF(t) = log(N / df(t))</a:t>
              </a:r>
            </a:p>
          </p:txBody>
        </p:sp>
        <p:sp>
          <p:nvSpPr>
            <p:cNvPr id="17" name="TextBox 17"/>
            <p:cNvSpPr txBox="1"/>
            <p:nvPr/>
          </p:nvSpPr>
          <p:spPr>
            <a:xfrm>
              <a:off x="6547104" y="3413760"/>
              <a:ext cx="441225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 toplam belge sayısı, df(t): t'yi içeren belge sayısı</a:t>
              </a:r>
            </a:p>
          </p:txBody>
        </p:sp>
      </p:grpSp>
      <p:grpSp>
        <p:nvGrpSpPr>
          <p:cNvPr id="22" name="weight-card"/>
          <p:cNvGrpSpPr/>
          <p:nvPr/>
        </p:nvGrpSpPr>
        <p:grpSpPr>
          <a:xfrm>
            <a:off x="609600" y="4076700"/>
            <a:ext cx="10972800" cy="952500"/>
            <a:chOff x="609600" y="4076700"/>
            <a:chExt cx="10972800" cy="952500"/>
          </a:xfrm>
        </p:grpSpPr>
        <p:sp>
          <p:nvSpPr>
            <p:cNvPr id="19" name="Rectangle 19"/>
            <p:cNvSpPr/>
            <p:nvPr/>
          </p:nvSpPr>
          <p:spPr>
            <a:xfrm>
              <a:off x="609600" y="4076700"/>
              <a:ext cx="10972800" cy="952500"/>
            </a:xfrm>
            <a:prstGeom prst="roundRect">
              <a:avLst>
                <a:gd name="adj" fmla="val 8000"/>
              </a:avLst>
            </a:prstGeom>
            <a:solidFill>
              <a:srgbClr val="12355B"/>
            </a:solidFill>
            <a:ln>
              <a:noFill/>
            </a:ln>
          </p:spPr>
        </p:sp>
        <p:sp>
          <p:nvSpPr>
            <p:cNvPr id="20" name="TextBox 20"/>
            <p:cNvSpPr txBox="1"/>
            <p:nvPr/>
          </p:nvSpPr>
          <p:spPr>
            <a:xfrm>
              <a:off x="4019486" y="4266248"/>
              <a:ext cx="4153029" cy="381381"/>
            </a:xfrm>
            <a:prstGeom prst="rect">
              <a:avLst/>
            </a:prstGeom>
            <a:noFill/>
            <a:ln>
              <a:noFill/>
            </a:ln>
          </p:spPr>
          <p:txBody>
            <a:bodyPr wrap="none" lIns="0" tIns="0" rIns="0" bIns="0" anchor="t" anchorCtr="0">
              <a:spAutoFit/>
            </a:bodyPr>
            <a:lstStyle/>
            <a:p>
              <a:pPr algn="ctr"/>
              <a:r>
                <a:rPr lang="tr-TR" sz="1950" b="1" i="1" dirty="0">
                  <a:solidFill>
                    <a:srgbClr val="FFFFFF"/>
                  </a:solidFill>
                  <a:latin typeface="+mn-lt"/>
                  <a:ea typeface="+mn-ea"/>
                  <a:cs typeface="+mn-cs"/>
                </a:rPr>
                <a:t>TFIDF(t,d) = TF(t,d) × IDF(t)</a:t>
              </a:r>
            </a:p>
          </p:txBody>
        </p:sp>
        <p:sp>
          <p:nvSpPr>
            <p:cNvPr id="21" name="TextBox 21"/>
            <p:cNvSpPr txBox="1"/>
            <p:nvPr/>
          </p:nvSpPr>
          <p:spPr>
            <a:xfrm>
              <a:off x="4060032" y="4652010"/>
              <a:ext cx="4071936"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Nihai ağırlık, sıklık ile ayırt ediciliğin çarpımıdır</a:t>
              </a:r>
            </a:p>
          </p:txBody>
        </p:sp>
      </p:grpSp>
      <p:grpSp>
        <p:nvGrpSpPr>
          <p:cNvPr id="25" name="explain-note"/>
          <p:cNvGrpSpPr/>
          <p:nvPr/>
        </p:nvGrpSpPr>
        <p:grpSpPr>
          <a:xfrm>
            <a:off x="603504" y="5375910"/>
            <a:ext cx="10575453" cy="463296"/>
            <a:chOff x="603504" y="5375910"/>
            <a:chExt cx="10575453" cy="463296"/>
          </a:xfrm>
        </p:grpSpPr>
        <p:sp>
          <p:nvSpPr>
            <p:cNvPr id="23" name="TextBox 23"/>
            <p:cNvSpPr txBox="1"/>
            <p:nvPr/>
          </p:nvSpPr>
          <p:spPr>
            <a:xfrm>
              <a:off x="603504" y="5375910"/>
              <a:ext cx="105754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"İnternet" her yorumda geçiyorsa df(t) büyür ve düşük IDF alır; yalnızca birkaç şikâyette geçen "gecikme" daha ayırt edici olabilir.</a:t>
              </a:r>
            </a:p>
          </p:txBody>
        </p:sp>
        <p:sp>
          <p:nvSpPr>
            <p:cNvPr id="24" name="TextBox 24"/>
            <p:cNvSpPr txBox="1"/>
            <p:nvPr/>
          </p:nvSpPr>
          <p:spPr>
            <a:xfrm>
              <a:off x="603504" y="5604510"/>
              <a:ext cx="93159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Salt kelime sayımı, uzun belgeleri ve sık kullanılan kelimeleri gereğinden fazla etkili kılar; TF-IDF bu etkiyi dengeler.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434454" cy="557403"/>
            <a:chOff x="595122" y="282892"/>
            <a:chExt cx="9434454" cy="557403"/>
          </a:xfrm>
        </p:grpSpPr>
        <p:sp>
          <p:nvSpPr>
            <p:cNvPr id="4" name="TextBox 4"/>
            <p:cNvSpPr txBox="1"/>
            <p:nvPr/>
          </p:nvSpPr>
          <p:spPr>
            <a:xfrm>
              <a:off x="595122" y="282892"/>
              <a:ext cx="943445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Bag-of-Words ve TF-IDF çıktı karşılaştırması</a:t>
              </a:r>
            </a:p>
          </p:txBody>
        </p:sp>
      </p:grpSp>
      <p:grpSp>
        <p:nvGrpSpPr>
          <p:cNvPr id="10" name="code-snippet"/>
          <p:cNvGrpSpPr/>
          <p:nvPr/>
        </p:nvGrpSpPr>
        <p:grpSpPr>
          <a:xfrm>
            <a:off x="609600" y="1219200"/>
            <a:ext cx="10972800" cy="876300"/>
            <a:chOff x="609600" y="1219200"/>
            <a:chExt cx="10972800" cy="876300"/>
          </a:xfrm>
        </p:grpSpPr>
        <p:sp>
          <p:nvSpPr>
            <p:cNvPr id="6" name="Rectangle 6"/>
            <p:cNvSpPr/>
            <p:nvPr/>
          </p:nvSpPr>
          <p:spPr>
            <a:xfrm>
              <a:off x="609600" y="1219200"/>
              <a:ext cx="10972800" cy="876300"/>
            </a:xfrm>
            <a:prstGeom prst="roundRect">
              <a:avLst>
                <a:gd name="adj" fmla="val 8696"/>
              </a:avLst>
            </a:prstGeom>
            <a:solidFill>
              <a:srgbClr val="12355B"/>
            </a:solidFill>
            <a:ln>
              <a:noFill/>
            </a:ln>
          </p:spPr>
        </p:sp>
        <p:sp>
          <p:nvSpPr>
            <p:cNvPr id="7" name="TextBox 7"/>
            <p:cNvSpPr txBox="1"/>
            <p:nvPr/>
          </p:nvSpPr>
          <p:spPr>
            <a:xfrm>
              <a:off x="908304" y="1375410"/>
              <a:ext cx="741052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sayim_vektorlestirici = CountVectorizer() tfidf_vektorlestirici = TfidfVectorizer()</a:t>
              </a:r>
            </a:p>
          </p:txBody>
        </p:sp>
        <p:sp>
          <p:nvSpPr>
            <p:cNvPr id="8" name="TextBox 8"/>
            <p:cNvSpPr txBox="1"/>
            <p:nvPr/>
          </p:nvSpPr>
          <p:spPr>
            <a:xfrm>
              <a:off x="908304" y="1623060"/>
              <a:ext cx="596508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sayim_matrisi = sayim_vektorlestirici.fit_transform(temiz_yorumlar)</a:t>
              </a:r>
            </a:p>
          </p:txBody>
        </p:sp>
        <p:sp>
          <p:nvSpPr>
            <p:cNvPr id="9" name="TextBox 9"/>
            <p:cNvSpPr txBox="1"/>
            <p:nvPr/>
          </p:nvSpPr>
          <p:spPr>
            <a:xfrm>
              <a:off x="908304" y="1832610"/>
              <a:ext cx="9963302"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 temiz_yorumlar = ["internet yavaş destek yetersiz", "fatura yüksek destek iyi", "internet hızlı bağlantı iyi"]</a:t>
              </a:r>
            </a:p>
          </p:txBody>
        </p:sp>
      </p:grpSp>
      <p:grpSp>
        <p:nvGrpSpPr>
          <p:cNvPr id="37" name="bow-table"/>
          <p:cNvGrpSpPr/>
          <p:nvPr/>
        </p:nvGrpSpPr>
        <p:grpSpPr>
          <a:xfrm>
            <a:off x="601599" y="2344579"/>
            <a:ext cx="5342001" cy="1799177"/>
            <a:chOff x="601599" y="2344579"/>
            <a:chExt cx="5342001" cy="1799177"/>
          </a:xfrm>
        </p:grpSpPr>
        <p:sp>
          <p:nvSpPr>
            <p:cNvPr id="11" name="TextBox 11"/>
            <p:cNvSpPr txBox="1"/>
            <p:nvPr/>
          </p:nvSpPr>
          <p:spPr>
            <a:xfrm>
              <a:off x="601599" y="2344579"/>
              <a:ext cx="15518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Bag-of-Words</a:t>
              </a:r>
            </a:p>
          </p:txBody>
        </p:sp>
        <p:sp>
          <p:nvSpPr>
            <p:cNvPr id="12" name="Rectangle 12"/>
            <p:cNvSpPr/>
            <p:nvPr/>
          </p:nvSpPr>
          <p:spPr>
            <a:xfrm>
              <a:off x="609600" y="2667000"/>
              <a:ext cx="5334000" cy="285750"/>
            </a:xfrm>
            <a:prstGeom prst="rect">
              <a:avLst/>
            </a:prstGeom>
            <a:solidFill>
              <a:srgbClr val="12355B"/>
            </a:solidFill>
            <a:ln>
              <a:noFill/>
            </a:ln>
          </p:spPr>
        </p:sp>
        <p:sp>
          <p:nvSpPr>
            <p:cNvPr id="13" name="TextBox 13"/>
            <p:cNvSpPr txBox="1"/>
            <p:nvPr/>
          </p:nvSpPr>
          <p:spPr>
            <a:xfrm>
              <a:off x="718566" y="2744152"/>
              <a:ext cx="36404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belge</a:t>
              </a:r>
            </a:p>
          </p:txBody>
        </p:sp>
        <p:sp>
          <p:nvSpPr>
            <p:cNvPr id="14" name="TextBox 14"/>
            <p:cNvSpPr txBox="1"/>
            <p:nvPr/>
          </p:nvSpPr>
          <p:spPr>
            <a:xfrm>
              <a:off x="1899666" y="2744152"/>
              <a:ext cx="47712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destek</a:t>
              </a:r>
            </a:p>
          </p:txBody>
        </p:sp>
        <p:sp>
          <p:nvSpPr>
            <p:cNvPr id="15" name="TextBox 15"/>
            <p:cNvSpPr txBox="1"/>
            <p:nvPr/>
          </p:nvSpPr>
          <p:spPr>
            <a:xfrm>
              <a:off x="2852166" y="2744152"/>
              <a:ext cx="597275"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internet</a:t>
              </a:r>
            </a:p>
          </p:txBody>
        </p:sp>
        <p:sp>
          <p:nvSpPr>
            <p:cNvPr id="16" name="TextBox 16"/>
            <p:cNvSpPr txBox="1"/>
            <p:nvPr/>
          </p:nvSpPr>
          <p:spPr>
            <a:xfrm>
              <a:off x="3995166" y="2744152"/>
              <a:ext cx="39938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yavaş</a:t>
              </a:r>
            </a:p>
          </p:txBody>
        </p:sp>
        <p:sp>
          <p:nvSpPr>
            <p:cNvPr id="17" name="TextBox 17"/>
            <p:cNvSpPr txBox="1"/>
            <p:nvPr/>
          </p:nvSpPr>
          <p:spPr>
            <a:xfrm>
              <a:off x="4852416" y="2744152"/>
              <a:ext cx="597275"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yetersiz</a:t>
              </a:r>
            </a:p>
          </p:txBody>
        </p:sp>
        <p:sp>
          <p:nvSpPr>
            <p:cNvPr id="18" name="Rectangle 18"/>
            <p:cNvSpPr/>
            <p:nvPr/>
          </p:nvSpPr>
          <p:spPr>
            <a:xfrm>
              <a:off x="609600" y="2952750"/>
              <a:ext cx="5334000" cy="266700"/>
            </a:xfrm>
            <a:prstGeom prst="rect">
              <a:avLst/>
            </a:prstGeom>
            <a:solidFill>
              <a:srgbClr val="FFFFFF"/>
            </a:solidFill>
            <a:ln>
              <a:noFill/>
            </a:ln>
          </p:spPr>
        </p:sp>
        <p:sp>
          <p:nvSpPr>
            <p:cNvPr id="19" name="TextBox 19"/>
            <p:cNvSpPr txBox="1"/>
            <p:nvPr/>
          </p:nvSpPr>
          <p:spPr>
            <a:xfrm>
              <a:off x="718566"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20" name="TextBox 20"/>
            <p:cNvSpPr txBox="1"/>
            <p:nvPr/>
          </p:nvSpPr>
          <p:spPr>
            <a:xfrm>
              <a:off x="1994916"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1" name="TextBox 21"/>
            <p:cNvSpPr txBox="1"/>
            <p:nvPr/>
          </p:nvSpPr>
          <p:spPr>
            <a:xfrm>
              <a:off x="3042666"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2" name="TextBox 22"/>
            <p:cNvSpPr txBox="1"/>
            <p:nvPr/>
          </p:nvSpPr>
          <p:spPr>
            <a:xfrm>
              <a:off x="4090416"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3" name="TextBox 23"/>
            <p:cNvSpPr txBox="1"/>
            <p:nvPr/>
          </p:nvSpPr>
          <p:spPr>
            <a:xfrm>
              <a:off x="4995291"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4" name="Rectangle 24"/>
            <p:cNvSpPr/>
            <p:nvPr/>
          </p:nvSpPr>
          <p:spPr>
            <a:xfrm>
              <a:off x="609600" y="3219450"/>
              <a:ext cx="5334000" cy="266700"/>
            </a:xfrm>
            <a:prstGeom prst="rect">
              <a:avLst/>
            </a:prstGeom>
            <a:solidFill>
              <a:srgbClr val="EAF4F6"/>
            </a:solidFill>
            <a:ln>
              <a:noFill/>
            </a:ln>
          </p:spPr>
        </p:sp>
        <p:sp>
          <p:nvSpPr>
            <p:cNvPr id="25" name="TextBox 25"/>
            <p:cNvSpPr txBox="1"/>
            <p:nvPr/>
          </p:nvSpPr>
          <p:spPr>
            <a:xfrm>
              <a:off x="718566"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6" name="TextBox 26"/>
            <p:cNvSpPr txBox="1"/>
            <p:nvPr/>
          </p:nvSpPr>
          <p:spPr>
            <a:xfrm>
              <a:off x="1994916"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27" name="TextBox 27"/>
            <p:cNvSpPr txBox="1"/>
            <p:nvPr/>
          </p:nvSpPr>
          <p:spPr>
            <a:xfrm>
              <a:off x="3042666"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28" name="TextBox 28"/>
            <p:cNvSpPr txBox="1"/>
            <p:nvPr/>
          </p:nvSpPr>
          <p:spPr>
            <a:xfrm>
              <a:off x="4090416"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29" name="TextBox 29"/>
            <p:cNvSpPr txBox="1"/>
            <p:nvPr/>
          </p:nvSpPr>
          <p:spPr>
            <a:xfrm>
              <a:off x="4995291"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30" name="Rectangle 30"/>
            <p:cNvSpPr/>
            <p:nvPr/>
          </p:nvSpPr>
          <p:spPr>
            <a:xfrm>
              <a:off x="609600" y="3486150"/>
              <a:ext cx="5334000" cy="266700"/>
            </a:xfrm>
            <a:prstGeom prst="rect">
              <a:avLst/>
            </a:prstGeom>
            <a:solidFill>
              <a:srgbClr val="FFFFFF"/>
            </a:solidFill>
            <a:ln>
              <a:noFill/>
            </a:ln>
          </p:spPr>
        </p:sp>
        <p:sp>
          <p:nvSpPr>
            <p:cNvPr id="31" name="TextBox 31"/>
            <p:cNvSpPr txBox="1"/>
            <p:nvPr/>
          </p:nvSpPr>
          <p:spPr>
            <a:xfrm>
              <a:off x="718566"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a:t>
              </a:r>
            </a:p>
          </p:txBody>
        </p:sp>
        <p:sp>
          <p:nvSpPr>
            <p:cNvPr id="32" name="TextBox 32"/>
            <p:cNvSpPr txBox="1"/>
            <p:nvPr/>
          </p:nvSpPr>
          <p:spPr>
            <a:xfrm>
              <a:off x="1994916"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33" name="TextBox 33"/>
            <p:cNvSpPr txBox="1"/>
            <p:nvPr/>
          </p:nvSpPr>
          <p:spPr>
            <a:xfrm>
              <a:off x="3042666"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34" name="TextBox 34"/>
            <p:cNvSpPr txBox="1"/>
            <p:nvPr/>
          </p:nvSpPr>
          <p:spPr>
            <a:xfrm>
              <a:off x="4090416"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35" name="TextBox 35"/>
            <p:cNvSpPr txBox="1"/>
            <p:nvPr/>
          </p:nvSpPr>
          <p:spPr>
            <a:xfrm>
              <a:off x="4995291"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36" name="TextBox 36"/>
            <p:cNvSpPr txBox="1"/>
            <p:nvPr/>
          </p:nvSpPr>
          <p:spPr>
            <a:xfrm>
              <a:off x="603504" y="3909060"/>
              <a:ext cx="33399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"destek" belge 0 ve 1'de eşit (1) sayılır.</a:t>
              </a:r>
            </a:p>
          </p:txBody>
        </p:sp>
      </p:grpSp>
      <p:grpSp>
        <p:nvGrpSpPr>
          <p:cNvPr id="64" name="tfidf-table"/>
          <p:cNvGrpSpPr/>
          <p:nvPr/>
        </p:nvGrpSpPr>
        <p:grpSpPr>
          <a:xfrm>
            <a:off x="6240399" y="2344579"/>
            <a:ext cx="5342001" cy="2180177"/>
            <a:chOff x="6240399" y="2344579"/>
            <a:chExt cx="5342001" cy="2180177"/>
          </a:xfrm>
        </p:grpSpPr>
        <p:sp>
          <p:nvSpPr>
            <p:cNvPr id="38" name="TextBox 38"/>
            <p:cNvSpPr txBox="1"/>
            <p:nvPr/>
          </p:nvSpPr>
          <p:spPr>
            <a:xfrm>
              <a:off x="6240399" y="2344579"/>
              <a:ext cx="73572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TF-IDF</a:t>
              </a:r>
            </a:p>
          </p:txBody>
        </p:sp>
        <p:sp>
          <p:nvSpPr>
            <p:cNvPr id="39" name="Rectangle 39"/>
            <p:cNvSpPr/>
            <p:nvPr/>
          </p:nvSpPr>
          <p:spPr>
            <a:xfrm>
              <a:off x="6248400" y="2667000"/>
              <a:ext cx="5334000" cy="285750"/>
            </a:xfrm>
            <a:prstGeom prst="rect">
              <a:avLst/>
            </a:prstGeom>
            <a:solidFill>
              <a:srgbClr val="12355B"/>
            </a:solidFill>
            <a:ln>
              <a:noFill/>
            </a:ln>
          </p:spPr>
        </p:sp>
        <p:sp>
          <p:nvSpPr>
            <p:cNvPr id="40" name="TextBox 40"/>
            <p:cNvSpPr txBox="1"/>
            <p:nvPr/>
          </p:nvSpPr>
          <p:spPr>
            <a:xfrm>
              <a:off x="6357366" y="2744152"/>
              <a:ext cx="36404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belge</a:t>
              </a:r>
            </a:p>
          </p:txBody>
        </p:sp>
        <p:sp>
          <p:nvSpPr>
            <p:cNvPr id="41" name="TextBox 41"/>
            <p:cNvSpPr txBox="1"/>
            <p:nvPr/>
          </p:nvSpPr>
          <p:spPr>
            <a:xfrm>
              <a:off x="7538466" y="2744152"/>
              <a:ext cx="47712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destek</a:t>
              </a:r>
            </a:p>
          </p:txBody>
        </p:sp>
        <p:sp>
          <p:nvSpPr>
            <p:cNvPr id="42" name="TextBox 42"/>
            <p:cNvSpPr txBox="1"/>
            <p:nvPr/>
          </p:nvSpPr>
          <p:spPr>
            <a:xfrm>
              <a:off x="8490966" y="2744152"/>
              <a:ext cx="597275"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internet</a:t>
              </a:r>
            </a:p>
          </p:txBody>
        </p:sp>
        <p:sp>
          <p:nvSpPr>
            <p:cNvPr id="43" name="TextBox 43"/>
            <p:cNvSpPr txBox="1"/>
            <p:nvPr/>
          </p:nvSpPr>
          <p:spPr>
            <a:xfrm>
              <a:off x="9633966" y="2744152"/>
              <a:ext cx="39938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yavaş</a:t>
              </a:r>
            </a:p>
          </p:txBody>
        </p:sp>
        <p:sp>
          <p:nvSpPr>
            <p:cNvPr id="44" name="TextBox 44"/>
            <p:cNvSpPr txBox="1"/>
            <p:nvPr/>
          </p:nvSpPr>
          <p:spPr>
            <a:xfrm>
              <a:off x="10491216" y="2744152"/>
              <a:ext cx="597275"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mn-lt"/>
                  <a:ea typeface="+mn-ea"/>
                  <a:cs typeface="+mn-cs"/>
                </a:rPr>
                <a:t>yetersiz</a:t>
              </a:r>
            </a:p>
          </p:txBody>
        </p:sp>
        <p:sp>
          <p:nvSpPr>
            <p:cNvPr id="45" name="Rectangle 45"/>
            <p:cNvSpPr/>
            <p:nvPr/>
          </p:nvSpPr>
          <p:spPr>
            <a:xfrm>
              <a:off x="6248400" y="2952750"/>
              <a:ext cx="5334000" cy="266700"/>
            </a:xfrm>
            <a:prstGeom prst="rect">
              <a:avLst/>
            </a:prstGeom>
            <a:solidFill>
              <a:srgbClr val="FFFFFF"/>
            </a:solidFill>
            <a:ln>
              <a:noFill/>
            </a:ln>
          </p:spPr>
        </p:sp>
        <p:sp>
          <p:nvSpPr>
            <p:cNvPr id="46" name="TextBox 46"/>
            <p:cNvSpPr txBox="1"/>
            <p:nvPr/>
          </p:nvSpPr>
          <p:spPr>
            <a:xfrm>
              <a:off x="6357366" y="30299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a:t>
              </a:r>
            </a:p>
          </p:txBody>
        </p:sp>
        <p:sp>
          <p:nvSpPr>
            <p:cNvPr id="47" name="TextBox 47"/>
            <p:cNvSpPr txBox="1"/>
            <p:nvPr/>
          </p:nvSpPr>
          <p:spPr>
            <a:xfrm>
              <a:off x="7595616" y="3029902"/>
              <a:ext cx="33718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0.43</a:t>
              </a:r>
            </a:p>
          </p:txBody>
        </p:sp>
        <p:sp>
          <p:nvSpPr>
            <p:cNvPr id="48" name="TextBox 48"/>
            <p:cNvSpPr txBox="1"/>
            <p:nvPr/>
          </p:nvSpPr>
          <p:spPr>
            <a:xfrm>
              <a:off x="8548116" y="30299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0.43</a:t>
              </a:r>
            </a:p>
          </p:txBody>
        </p:sp>
        <p:sp>
          <p:nvSpPr>
            <p:cNvPr id="49" name="TextBox 49"/>
            <p:cNvSpPr txBox="1"/>
            <p:nvPr/>
          </p:nvSpPr>
          <p:spPr>
            <a:xfrm>
              <a:off x="9595866" y="3029902"/>
              <a:ext cx="337189"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0.56</a:t>
              </a:r>
            </a:p>
          </p:txBody>
        </p:sp>
        <p:sp>
          <p:nvSpPr>
            <p:cNvPr id="50" name="TextBox 50"/>
            <p:cNvSpPr txBox="1"/>
            <p:nvPr/>
          </p:nvSpPr>
          <p:spPr>
            <a:xfrm>
              <a:off x="10434066" y="3029902"/>
              <a:ext cx="337189"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0.56</a:t>
              </a:r>
            </a:p>
          </p:txBody>
        </p:sp>
        <p:sp>
          <p:nvSpPr>
            <p:cNvPr id="51" name="Rectangle 51"/>
            <p:cNvSpPr/>
            <p:nvPr/>
          </p:nvSpPr>
          <p:spPr>
            <a:xfrm>
              <a:off x="6248400" y="3219450"/>
              <a:ext cx="5334000" cy="266700"/>
            </a:xfrm>
            <a:prstGeom prst="rect">
              <a:avLst/>
            </a:prstGeom>
            <a:solidFill>
              <a:srgbClr val="EAF4F6"/>
            </a:solidFill>
            <a:ln>
              <a:noFill/>
            </a:ln>
          </p:spPr>
        </p:sp>
        <p:sp>
          <p:nvSpPr>
            <p:cNvPr id="52" name="TextBox 52"/>
            <p:cNvSpPr txBox="1"/>
            <p:nvPr/>
          </p:nvSpPr>
          <p:spPr>
            <a:xfrm>
              <a:off x="6357366" y="32966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a:t>
              </a:r>
            </a:p>
          </p:txBody>
        </p:sp>
        <p:sp>
          <p:nvSpPr>
            <p:cNvPr id="53" name="TextBox 53"/>
            <p:cNvSpPr txBox="1"/>
            <p:nvPr/>
          </p:nvSpPr>
          <p:spPr>
            <a:xfrm>
              <a:off x="7595616" y="3296602"/>
              <a:ext cx="33718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0.43</a:t>
              </a:r>
            </a:p>
          </p:txBody>
        </p:sp>
        <p:sp>
          <p:nvSpPr>
            <p:cNvPr id="54" name="TextBox 54"/>
            <p:cNvSpPr txBox="1"/>
            <p:nvPr/>
          </p:nvSpPr>
          <p:spPr>
            <a:xfrm>
              <a:off x="8548116" y="32966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55" name="TextBox 55"/>
            <p:cNvSpPr txBox="1"/>
            <p:nvPr/>
          </p:nvSpPr>
          <p:spPr>
            <a:xfrm>
              <a:off x="9595866" y="32966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56" name="TextBox 56"/>
            <p:cNvSpPr txBox="1"/>
            <p:nvPr/>
          </p:nvSpPr>
          <p:spPr>
            <a:xfrm>
              <a:off x="10434066" y="32966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57" name="Rectangle 57"/>
            <p:cNvSpPr/>
            <p:nvPr/>
          </p:nvSpPr>
          <p:spPr>
            <a:xfrm>
              <a:off x="6248400" y="3486150"/>
              <a:ext cx="5334000" cy="266700"/>
            </a:xfrm>
            <a:prstGeom prst="rect">
              <a:avLst/>
            </a:prstGeom>
            <a:solidFill>
              <a:srgbClr val="FFFFFF"/>
            </a:solidFill>
            <a:ln>
              <a:noFill/>
            </a:ln>
          </p:spPr>
        </p:sp>
        <p:sp>
          <p:nvSpPr>
            <p:cNvPr id="58" name="TextBox 58"/>
            <p:cNvSpPr txBox="1"/>
            <p:nvPr/>
          </p:nvSpPr>
          <p:spPr>
            <a:xfrm>
              <a:off x="6357366" y="3563302"/>
              <a:ext cx="8841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2</a:t>
              </a:r>
            </a:p>
          </p:txBody>
        </p:sp>
        <p:sp>
          <p:nvSpPr>
            <p:cNvPr id="59" name="TextBox 59"/>
            <p:cNvSpPr txBox="1"/>
            <p:nvPr/>
          </p:nvSpPr>
          <p:spPr>
            <a:xfrm>
              <a:off x="7595616" y="3563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60" name="TextBox 60"/>
            <p:cNvSpPr txBox="1"/>
            <p:nvPr/>
          </p:nvSpPr>
          <p:spPr>
            <a:xfrm>
              <a:off x="8548116" y="3563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0.43</a:t>
              </a:r>
            </a:p>
          </p:txBody>
        </p:sp>
        <p:sp>
          <p:nvSpPr>
            <p:cNvPr id="61" name="TextBox 61"/>
            <p:cNvSpPr txBox="1"/>
            <p:nvPr/>
          </p:nvSpPr>
          <p:spPr>
            <a:xfrm>
              <a:off x="9595866" y="3563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62" name="TextBox 62"/>
            <p:cNvSpPr txBox="1"/>
            <p:nvPr/>
          </p:nvSpPr>
          <p:spPr>
            <a:xfrm>
              <a:off x="10434066" y="3563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63" name="TextBox 63"/>
            <p:cNvSpPr txBox="1"/>
            <p:nvPr/>
          </p:nvSpPr>
          <p:spPr>
            <a:xfrm>
              <a:off x="6242304" y="3909060"/>
              <a:ext cx="39822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ama TF-IDF'te iki belgede geçtiği için</a:t>
              </a:r>
              <a:br/>
              <a:r>
                <a:rPr lang="tr-TR" sz="1200" dirty="0">
                  <a:solidFill>
                    <a:srgbClr val="52616B"/>
                  </a:solidFill>
                  <a:latin typeface="+mn-lt"/>
                  <a:ea typeface="+mn-ea"/>
                  <a:cs typeface="+mn-cs"/>
                </a:rPr>
                <a:t>ayırt ediciliği düşer (0.43); tek belgede geçen</a:t>
              </a:r>
              <a:br/>
              <a:r>
                <a:rPr lang="tr-TR" sz="1200" dirty="0">
                  <a:solidFill>
                    <a:srgbClr val="52616B"/>
                  </a:solidFill>
                  <a:latin typeface="+mn-lt"/>
                  <a:ea typeface="+mn-ea"/>
                  <a:cs typeface="+mn-cs"/>
                </a:rPr>
                <a:t>"yavaş"/"yetersiz" daha yüksek ağırlık (0.56) alır.</a:t>
              </a:r>
            </a:p>
          </p:txBody>
        </p:sp>
      </p:grpSp>
      <p:grpSp>
        <p:nvGrpSpPr>
          <p:cNvPr id="67" name="mem-note"/>
          <p:cNvGrpSpPr/>
          <p:nvPr/>
        </p:nvGrpSpPr>
        <p:grpSpPr>
          <a:xfrm>
            <a:off x="609600" y="5143500"/>
            <a:ext cx="10972800" cy="857250"/>
            <a:chOff x="609600" y="5143500"/>
            <a:chExt cx="10972800" cy="857250"/>
          </a:xfrm>
        </p:grpSpPr>
        <p:sp>
          <p:nvSpPr>
            <p:cNvPr id="65" name="Rectangle 65"/>
            <p:cNvSpPr/>
            <p:nvPr/>
          </p:nvSpPr>
          <p:spPr>
            <a:xfrm>
              <a:off x="609600" y="5143500"/>
              <a:ext cx="10972800" cy="857250"/>
            </a:xfrm>
            <a:prstGeom prst="roundRect">
              <a:avLst>
                <a:gd name="adj" fmla="val 8889"/>
              </a:avLst>
            </a:prstGeom>
            <a:solidFill>
              <a:srgbClr val="EAF4F6"/>
            </a:solidFill>
            <a:ln>
              <a:noFill/>
            </a:ln>
          </p:spPr>
        </p:sp>
        <p:sp>
          <p:nvSpPr>
            <p:cNvPr id="66" name="TextBox 66"/>
            <p:cNvSpPr txBox="1"/>
            <p:nvPr/>
          </p:nvSpPr>
          <p:spPr>
            <a:xfrm>
              <a:off x="908304" y="5261610"/>
              <a:ext cx="8691372"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72B3A"/>
                  </a:solidFill>
                  <a:latin typeface="+mn-lt"/>
                  <a:ea typeface="+mn-ea"/>
                  <a:cs typeface="+mn-cs"/>
                </a:rPr>
                <a:t>Bu çıktı ne anlatıyor?</a:t>
              </a:r>
              <a:r>
                <a:rPr lang="tr-TR" sz="1200" dirty="0">
                  <a:solidFill>
                    <a:srgbClr val="172B3A"/>
                  </a:solidFill>
                  <a:latin typeface="+mn-lt"/>
                  <a:ea typeface="+mn-ea"/>
                  <a:cs typeface="+mn-cs"/>
                </a:rPr>
                <a:t xml:space="preserve"> fit_transform() önce sözlüğü öğrenir, sonra belgeleri matrise dönüştürür;</a:t>
              </a:r>
              <a:br/>
              <a:r>
                <a:rPr lang="tr-TR" sz="1200" dirty="0">
                  <a:solidFill>
                    <a:srgbClr val="172B3A"/>
                  </a:solidFill>
                  <a:latin typeface="+mn-lt"/>
                  <a:ea typeface="+mn-ea"/>
                  <a:cs typeface="+mn-cs"/>
                </a:rPr>
                <a:t>toarray() eğitim örneği için görünür hâle getirir. Seyrek matrisi yoğun diziye çevirmek bellek tüketimini artırabilir.</a:t>
              </a:r>
            </a:p>
          </p:txBody>
        </p:sp>
      </p:grpSp>
      <p:sp>
        <p:nvSpPr>
          <p:cNvPr id="68" name="TextBox 6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57768" cy="557403"/>
            <a:chOff x="595122" y="282892"/>
            <a:chExt cx="7957768" cy="557403"/>
          </a:xfrm>
        </p:grpSpPr>
        <p:sp>
          <p:nvSpPr>
            <p:cNvPr id="4" name="TextBox 4"/>
            <p:cNvSpPr txBox="1"/>
            <p:nvPr/>
          </p:nvSpPr>
          <p:spPr>
            <a:xfrm>
              <a:off x="595122" y="282892"/>
              <a:ext cx="795776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Kosinüs benzerliği: yönü karşılaştırmak</a:t>
              </a:r>
            </a:p>
          </p:txBody>
        </p:sp>
      </p:grpSp>
      <p:grpSp>
        <p:nvGrpSpPr>
          <p:cNvPr id="11" name="formula-block"/>
          <p:cNvGrpSpPr/>
          <p:nvPr/>
        </p:nvGrpSpPr>
        <p:grpSpPr>
          <a:xfrm>
            <a:off x="603504" y="1219200"/>
            <a:ext cx="5340096" cy="3229356"/>
            <a:chOff x="603504" y="1219200"/>
            <a:chExt cx="5340096" cy="3229356"/>
          </a:xfrm>
        </p:grpSpPr>
        <p:sp>
          <p:nvSpPr>
            <p:cNvPr id="6" name="Rectangle 6"/>
            <p:cNvSpPr/>
            <p:nvPr/>
          </p:nvSpPr>
          <p:spPr>
            <a:xfrm>
              <a:off x="609600" y="1219200"/>
              <a:ext cx="5334000" cy="1143000"/>
            </a:xfrm>
            <a:prstGeom prst="roundRect">
              <a:avLst>
                <a:gd name="adj" fmla="val 8333"/>
              </a:avLst>
            </a:prstGeom>
            <a:solidFill>
              <a:srgbClr val="12355B"/>
            </a:solidFill>
            <a:ln>
              <a:noFill/>
            </a:ln>
          </p:spPr>
        </p:sp>
        <p:sp>
          <p:nvSpPr>
            <p:cNvPr id="7" name="TextBox 7"/>
            <p:cNvSpPr txBox="1"/>
            <p:nvPr/>
          </p:nvSpPr>
          <p:spPr>
            <a:xfrm>
              <a:off x="1407462" y="1503998"/>
              <a:ext cx="3738277" cy="381381"/>
            </a:xfrm>
            <a:prstGeom prst="rect">
              <a:avLst/>
            </a:prstGeom>
            <a:noFill/>
            <a:ln>
              <a:noFill/>
            </a:ln>
          </p:spPr>
          <p:txBody>
            <a:bodyPr wrap="none" lIns="0" tIns="0" rIns="0" bIns="0" anchor="t" anchorCtr="0">
              <a:spAutoFit/>
            </a:bodyPr>
            <a:lstStyle/>
            <a:p>
              <a:pPr algn="ctr"/>
              <a:r>
                <a:rPr lang="tr-TR" sz="1950" b="1" i="1" dirty="0">
                  <a:solidFill>
                    <a:srgbClr val="FFFFFF"/>
                  </a:solidFill>
                  <a:latin typeface="+mn-lt"/>
                  <a:ea typeface="+mn-ea"/>
                  <a:cs typeface="+mn-cs"/>
                </a:rPr>
                <a:t>sim(A,B) = A·B / (‖A‖ ‖B‖)</a:t>
              </a:r>
            </a:p>
          </p:txBody>
        </p:sp>
        <p:sp>
          <p:nvSpPr>
            <p:cNvPr id="8" name="TextBox 8"/>
            <p:cNvSpPr txBox="1"/>
            <p:nvPr/>
          </p:nvSpPr>
          <p:spPr>
            <a:xfrm>
              <a:off x="1062715" y="1889760"/>
              <a:ext cx="4427770" cy="234696"/>
            </a:xfrm>
            <a:prstGeom prst="rect">
              <a:avLst/>
            </a:prstGeom>
            <a:noFill/>
            <a:ln>
              <a:noFill/>
            </a:ln>
          </p:spPr>
          <p:txBody>
            <a:bodyPr wrap="none" lIns="0" tIns="0" rIns="0" bIns="0" anchor="t" anchorCtr="0">
              <a:spAutoFit/>
            </a:bodyPr>
            <a:lstStyle/>
            <a:p>
              <a:pPr algn="ctr"/>
              <a:r>
                <a:rPr lang="tr-TR" sz="1200" dirty="0">
                  <a:solidFill>
                    <a:srgbClr val="EAF4F6"/>
                  </a:solidFill>
                  <a:latin typeface="+mn-lt"/>
                  <a:ea typeface="+mn-ea"/>
                  <a:cs typeface="+mn-cs"/>
                </a:rPr>
                <a:t>nokta çarpımı / iki vektörün Öklid normlarının çarpımı</a:t>
              </a:r>
            </a:p>
          </p:txBody>
        </p:sp>
        <p:sp>
          <p:nvSpPr>
            <p:cNvPr id="9" name="TextBox 9"/>
            <p:cNvSpPr txBox="1"/>
            <p:nvPr/>
          </p:nvSpPr>
          <p:spPr>
            <a:xfrm>
              <a:off x="603504" y="2575560"/>
              <a:ext cx="3502152" cy="9204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İki TF-IDF vektörünün uzunluğundan çok</a:t>
              </a:r>
              <a:br/>
              <a:r>
                <a:rPr lang="tr-TR" sz="1200" dirty="0">
                  <a:solidFill>
                    <a:srgbClr val="172B3A"/>
                  </a:solidFill>
                  <a:latin typeface="+mn-lt"/>
                  <a:ea typeface="+mn-ea"/>
                  <a:cs typeface="+mn-cs"/>
                </a:rPr>
                <a:t>yönünü karşılaştırır. Uzun bir yorum ile</a:t>
              </a:r>
              <a:br/>
              <a:r>
                <a:rPr lang="tr-TR" sz="1200" dirty="0">
                  <a:solidFill>
                    <a:srgbClr val="172B3A"/>
                  </a:solidFill>
                  <a:latin typeface="+mn-lt"/>
                  <a:ea typeface="+mn-ea"/>
                  <a:cs typeface="+mn-cs"/>
                </a:rPr>
                <a:t>kısa bir yorum aynı konuya odaklanıyorsa,</a:t>
              </a:r>
              <a:br/>
              <a:r>
                <a:rPr lang="tr-TR" sz="1200" dirty="0">
                  <a:solidFill>
                    <a:srgbClr val="172B3A"/>
                  </a:solidFill>
                  <a:latin typeface="+mn-lt"/>
                  <a:ea typeface="+mn-ea"/>
                  <a:cs typeface="+mn-cs"/>
                </a:rPr>
                <a:t>normları farklı olsa bile yönleri yakın olabilir.</a:t>
              </a:r>
            </a:p>
          </p:txBody>
        </p:sp>
        <p:sp>
          <p:nvSpPr>
            <p:cNvPr id="10" name="TextBox 10"/>
            <p:cNvSpPr txBox="1"/>
            <p:nvPr/>
          </p:nvSpPr>
          <p:spPr>
            <a:xfrm>
              <a:off x="603504" y="3832860"/>
              <a:ext cx="34335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Bölme işlemi uzunluk farkını normalize eder;</a:t>
              </a:r>
              <a:br/>
              <a:r>
                <a:rPr lang="tr-TR" sz="1200" dirty="0">
                  <a:solidFill>
                    <a:srgbClr val="52616B"/>
                  </a:solidFill>
                  <a:latin typeface="+mn-lt"/>
                  <a:ea typeface="+mn-ea"/>
                  <a:cs typeface="+mn-cs"/>
                </a:rPr>
                <a:t>yüksek boyutlu seyrek metin uzaylarında Öklid</a:t>
              </a:r>
              <a:br/>
              <a:r>
                <a:rPr lang="tr-TR" sz="1200" dirty="0">
                  <a:solidFill>
                    <a:srgbClr val="52616B"/>
                  </a:solidFill>
                  <a:latin typeface="+mn-lt"/>
                  <a:ea typeface="+mn-ea"/>
                  <a:cs typeface="+mn-cs"/>
                </a:rPr>
                <a:t>uzaklığına göre çoğu zaman daha anlamlıdır.</a:t>
              </a:r>
            </a:p>
          </p:txBody>
        </p:sp>
      </p:grpSp>
      <p:grpSp>
        <p:nvGrpSpPr>
          <p:cNvPr id="23" name="vector-diagram"/>
          <p:cNvGrpSpPr/>
          <p:nvPr/>
        </p:nvGrpSpPr>
        <p:grpSpPr>
          <a:xfrm>
            <a:off x="6248400" y="1219200"/>
            <a:ext cx="5334000" cy="3362706"/>
            <a:chOff x="6248400" y="1219200"/>
            <a:chExt cx="5334000" cy="3362706"/>
          </a:xfrm>
        </p:grpSpPr>
        <p:sp>
          <p:nvSpPr>
            <p:cNvPr id="12" name="Rectangle 12"/>
            <p:cNvSpPr/>
            <p:nvPr/>
          </p:nvSpPr>
          <p:spPr>
            <a:xfrm>
              <a:off x="6248400" y="1219200"/>
              <a:ext cx="5334000" cy="3238500"/>
            </a:xfrm>
            <a:prstGeom prst="roundRect">
              <a:avLst>
                <a:gd name="adj" fmla="val 2941"/>
              </a:avLst>
            </a:prstGeom>
            <a:solidFill>
              <a:srgbClr val="FFFFFF"/>
            </a:solidFill>
            <a:ln w="14288">
              <a:solidFill>
                <a:srgbClr val="B8CBD3"/>
              </a:solidFill>
            </a:ln>
          </p:spPr>
        </p:sp>
        <p:sp>
          <p:nvSpPr>
            <p:cNvPr id="13" name="TextBox 13"/>
            <p:cNvSpPr txBox="1"/>
            <p:nvPr/>
          </p:nvSpPr>
          <p:spPr>
            <a:xfrm>
              <a:off x="6545199" y="1353979"/>
              <a:ext cx="27592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İki belge, ortak sözlükte</a:t>
              </a:r>
            </a:p>
          </p:txBody>
        </p:sp>
        <p:sp>
          <p:nvSpPr>
            <p:cNvPr id="14" name="Line 14"/>
            <p:cNvSpPr/>
            <p:nvPr/>
          </p:nvSpPr>
          <p:spPr>
            <a:xfrm>
              <a:off x="7048500" y="1905000"/>
              <a:ext cx="9525" cy="2095500"/>
            </a:xfrm>
            <a:custGeom>
              <a:avLst/>
              <a:gdLst/>
              <a:ahLst/>
              <a:cxnLst/>
              <a:rect l="l" t="t" r="r" b="b"/>
              <a:pathLst>
                <a:path w="9525" h="2095500">
                  <a:moveTo>
                    <a:pt x="0" y="2095500"/>
                  </a:moveTo>
                  <a:lnTo>
                    <a:pt x="0" y="0"/>
                  </a:lnTo>
                </a:path>
              </a:pathLst>
            </a:custGeom>
            <a:noFill/>
            <a:ln w="9525">
              <a:solidFill>
                <a:srgbClr val="B8CBD3"/>
              </a:solidFill>
            </a:ln>
          </p:spPr>
        </p:sp>
        <p:sp>
          <p:nvSpPr>
            <p:cNvPr id="15" name="Line 15"/>
            <p:cNvSpPr/>
            <p:nvPr/>
          </p:nvSpPr>
          <p:spPr>
            <a:xfrm>
              <a:off x="7048500" y="4000500"/>
              <a:ext cx="3810000" cy="9525"/>
            </a:xfrm>
            <a:custGeom>
              <a:avLst/>
              <a:gdLst/>
              <a:ahLst/>
              <a:cxnLst/>
              <a:rect l="l" t="t" r="r" b="b"/>
              <a:pathLst>
                <a:path w="3810000" h="9525">
                  <a:moveTo>
                    <a:pt x="0" y="0"/>
                  </a:moveTo>
                  <a:lnTo>
                    <a:pt x="3810000" y="0"/>
                  </a:lnTo>
                </a:path>
              </a:pathLst>
            </a:custGeom>
            <a:noFill/>
            <a:ln w="9525">
              <a:solidFill>
                <a:srgbClr val="B8CBD3"/>
              </a:solidFill>
            </a:ln>
          </p:spPr>
        </p:sp>
        <p:sp>
          <p:nvSpPr>
            <p:cNvPr id="16" name="Line 16"/>
            <p:cNvSpPr/>
            <p:nvPr/>
          </p:nvSpPr>
          <p:spPr>
            <a:xfrm flipV="1">
              <a:off x="7048500" y="2190750"/>
              <a:ext cx="2095500" cy="1809750"/>
            </a:xfrm>
            <a:prstGeom prst="line">
              <a:avLst/>
            </a:prstGeom>
            <a:noFill/>
            <a:ln w="23812">
              <a:solidFill>
                <a:srgbClr val="00A6A6"/>
              </a:solidFill>
              <a:tailEnd type="arrow" w="lg" len="lg"/>
            </a:ln>
          </p:spPr>
        </p:sp>
        <p:sp>
          <p:nvSpPr>
            <p:cNvPr id="17" name="Line 17"/>
            <p:cNvSpPr/>
            <p:nvPr/>
          </p:nvSpPr>
          <p:spPr>
            <a:xfrm flipV="1">
              <a:off x="7048500" y="2476500"/>
              <a:ext cx="2667000" cy="1524000"/>
            </a:xfrm>
            <a:prstGeom prst="line">
              <a:avLst/>
            </a:prstGeom>
            <a:noFill/>
            <a:ln w="23812">
              <a:solidFill>
                <a:srgbClr val="2E86AB"/>
              </a:solidFill>
              <a:tailEnd type="arrow" w="lg" len="lg"/>
            </a:ln>
          </p:spPr>
        </p:sp>
        <p:sp>
          <p:nvSpPr>
            <p:cNvPr id="18" name="Freeform 18"/>
            <p:cNvSpPr/>
            <p:nvPr/>
          </p:nvSpPr>
          <p:spPr>
            <a:xfrm>
              <a:off x="7620000" y="3543300"/>
              <a:ext cx="142875" cy="266700"/>
            </a:xfrm>
            <a:custGeom>
              <a:avLst/>
              <a:gdLst/>
              <a:ahLst/>
              <a:cxnLst/>
              <a:rect l="l" t="t" r="r" b="b"/>
              <a:pathLst>
                <a:path w="142875" h="266700">
                  <a:moveTo>
                    <a:pt x="0" y="266700"/>
                  </a:moveTo>
                  <a:cubicBezTo>
                    <a:pt x="82395" y="201331"/>
                    <a:pt x="134103" y="104810"/>
                    <a:pt x="142875" y="0"/>
                  </a:cubicBezTo>
                </a:path>
              </a:pathLst>
            </a:custGeom>
            <a:noFill/>
            <a:ln w="14288">
              <a:solidFill>
                <a:srgbClr val="52616B"/>
              </a:solidFill>
            </a:ln>
          </p:spPr>
        </p:sp>
        <p:sp>
          <p:nvSpPr>
            <p:cNvPr id="19" name="TextBox 19"/>
            <p:cNvSpPr txBox="1"/>
            <p:nvPr/>
          </p:nvSpPr>
          <p:spPr>
            <a:xfrm>
              <a:off x="7804404" y="3604260"/>
              <a:ext cx="101041" cy="234696"/>
            </a:xfrm>
            <a:prstGeom prst="rect">
              <a:avLst/>
            </a:prstGeom>
            <a:noFill/>
            <a:ln>
              <a:noFill/>
            </a:ln>
          </p:spPr>
          <p:txBody>
            <a:bodyPr wrap="none" lIns="0" tIns="0" rIns="0" bIns="0" anchor="t" anchorCtr="0">
              <a:spAutoFit/>
            </a:bodyPr>
            <a:lstStyle/>
            <a:p>
              <a:pPr algn="l"/>
              <a:r>
                <a:rPr lang="el-GR" sz="1200" dirty="0">
                  <a:solidFill>
                    <a:srgbClr val="52616B"/>
                  </a:solidFill>
                  <a:latin typeface="+mn-lt"/>
                  <a:ea typeface="+mn-ea"/>
                  <a:cs typeface="+mn-cs"/>
                </a:rPr>
                <a:t>θ</a:t>
              </a:r>
            </a:p>
          </p:txBody>
        </p:sp>
        <p:sp>
          <p:nvSpPr>
            <p:cNvPr id="20" name="TextBox 20"/>
            <p:cNvSpPr txBox="1"/>
            <p:nvPr/>
          </p:nvSpPr>
          <p:spPr>
            <a:xfrm>
              <a:off x="9137904" y="1946910"/>
              <a:ext cx="591144"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Belge A</a:t>
              </a:r>
            </a:p>
          </p:txBody>
        </p:sp>
        <p:sp>
          <p:nvSpPr>
            <p:cNvPr id="21" name="TextBox 21"/>
            <p:cNvSpPr txBox="1"/>
            <p:nvPr/>
          </p:nvSpPr>
          <p:spPr>
            <a:xfrm>
              <a:off x="9747504" y="2518410"/>
              <a:ext cx="591144"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Belge B</a:t>
              </a:r>
            </a:p>
          </p:txBody>
        </p:sp>
        <p:sp>
          <p:nvSpPr>
            <p:cNvPr id="22" name="TextBox 22"/>
            <p:cNvSpPr txBox="1"/>
            <p:nvPr/>
          </p:nvSpPr>
          <p:spPr>
            <a:xfrm>
              <a:off x="6547104" y="4156710"/>
              <a:ext cx="2763012" cy="425196"/>
            </a:xfrm>
            <a:prstGeom prst="rect">
              <a:avLst/>
            </a:prstGeom>
            <a:noFill/>
            <a:ln>
              <a:noFill/>
            </a:ln>
          </p:spPr>
          <p:txBody>
            <a:bodyPr wrap="none" lIns="0" tIns="0" rIns="0" bIns="0" anchor="t" anchorCtr="0">
              <a:spAutoFit/>
            </a:bodyPr>
            <a:lstStyle/>
            <a:p>
              <a:pPr algn="l">
                <a:lnSpc>
                  <a:spcPts val="1500"/>
                </a:lnSpc>
              </a:pPr>
              <a:r>
                <a:rPr lang="el-GR" sz="1200" dirty="0">
                  <a:solidFill>
                    <a:srgbClr val="52616B"/>
                  </a:solidFill>
                  <a:latin typeface="+mn-lt"/>
                  <a:ea typeface="+mn-ea"/>
                  <a:cs typeface="+mn-cs"/>
                </a:rPr>
                <a:t>θ küçüldükçe (vektörler aynı yöne</a:t>
              </a:r>
              <a:br/>
              <a:r>
                <a:rPr lang="tr-TR" sz="1200" dirty="0">
                  <a:solidFill>
                    <a:srgbClr val="52616B"/>
                  </a:solidFill>
                  <a:latin typeface="+mn-lt"/>
                  <a:ea typeface="+mn-ea"/>
                  <a:cs typeface="+mn-cs"/>
                </a:rPr>
                <a:t>yaklaştıkça) benzerlik 1'e yaklaşır.</a:t>
              </a:r>
            </a:p>
          </p:txBody>
        </p:sp>
      </p:grpSp>
      <p:grpSp>
        <p:nvGrpSpPr>
          <p:cNvPr id="29" name="note-block"/>
          <p:cNvGrpSpPr/>
          <p:nvPr/>
        </p:nvGrpSpPr>
        <p:grpSpPr>
          <a:xfrm>
            <a:off x="609600" y="4667250"/>
            <a:ext cx="10972800" cy="1238250"/>
            <a:chOff x="609600" y="4667250"/>
            <a:chExt cx="10972800" cy="1238250"/>
          </a:xfrm>
        </p:grpSpPr>
        <p:sp>
          <p:nvSpPr>
            <p:cNvPr id="24" name="Rectangle 24"/>
            <p:cNvSpPr/>
            <p:nvPr/>
          </p:nvSpPr>
          <p:spPr>
            <a:xfrm>
              <a:off x="609600" y="4667250"/>
              <a:ext cx="10972800" cy="1238250"/>
            </a:xfrm>
            <a:prstGeom prst="roundRect">
              <a:avLst>
                <a:gd name="adj" fmla="val 6154"/>
              </a:avLst>
            </a:prstGeom>
            <a:solidFill>
              <a:srgbClr val="EAF4F6"/>
            </a:solidFill>
            <a:ln>
              <a:noFill/>
            </a:ln>
          </p:spPr>
        </p:sp>
        <p:sp>
          <p:nvSpPr>
            <p:cNvPr id="25" name="TextBox 25"/>
            <p:cNvSpPr txBox="1"/>
            <p:nvPr/>
          </p:nvSpPr>
          <p:spPr>
            <a:xfrm>
              <a:off x="906399" y="4782979"/>
              <a:ext cx="27368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Sınır ve kullanım kararı</a:t>
              </a:r>
            </a:p>
          </p:txBody>
        </p:sp>
        <p:sp>
          <p:nvSpPr>
            <p:cNvPr id="26" name="TextBox 26"/>
            <p:cNvSpPr txBox="1"/>
            <p:nvPr/>
          </p:nvSpPr>
          <p:spPr>
            <a:xfrm>
              <a:off x="908304" y="5109210"/>
              <a:ext cx="905080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TF-IDF sözcük sırasını, ironiyi ve bağlama göre değişen anlamı doğrudan modellemez. "Hızlı değil" gibi bir ifadede</a:t>
              </a:r>
            </a:p>
          </p:txBody>
        </p:sp>
        <p:sp>
          <p:nvSpPr>
            <p:cNvPr id="27" name="TextBox 27"/>
            <p:cNvSpPr txBox="1"/>
            <p:nvPr/>
          </p:nvSpPr>
          <p:spPr>
            <a:xfrm>
              <a:off x="908304" y="5337810"/>
              <a:ext cx="96937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sözcükleri bağımsız ele almak yanıltıcı olabilir. İki belge aynı sözlükte temsil edilmeden kosinüs benzerliği hesaplanamaz.</a:t>
              </a:r>
            </a:p>
          </p:txBody>
        </p:sp>
        <p:sp>
          <p:nvSpPr>
            <p:cNvPr id="28" name="TextBox 28"/>
            <p:cNvSpPr txBox="1"/>
            <p:nvPr/>
          </p:nvSpPr>
          <p:spPr>
            <a:xfrm>
              <a:off x="908304" y="5566410"/>
              <a:ext cx="95163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 ve bağlam kritikse n-gram veya bağlamsal gömme denenmeli; seçenekler doğrulama kümesinde karşılaştırılmalıdır.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031597" cy="557403"/>
            <a:chOff x="595122" y="282892"/>
            <a:chExt cx="7031597" cy="557403"/>
          </a:xfrm>
        </p:grpSpPr>
        <p:sp>
          <p:nvSpPr>
            <p:cNvPr id="4" name="TextBox 4"/>
            <p:cNvSpPr txBox="1"/>
            <p:nvPr/>
          </p:nvSpPr>
          <p:spPr>
            <a:xfrm>
              <a:off x="595122" y="282892"/>
              <a:ext cx="703159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Uygulama: benzerliğe göre sıralama</a:t>
              </a:r>
            </a:p>
          </p:txBody>
        </p:sp>
      </p:grpSp>
      <p:grpSp>
        <p:nvGrpSpPr>
          <p:cNvPr id="7" name="task-block"/>
          <p:cNvGrpSpPr/>
          <p:nvPr/>
        </p:nvGrpSpPr>
        <p:grpSpPr>
          <a:xfrm>
            <a:off x="603504" y="1299210"/>
            <a:ext cx="9591837" cy="234696"/>
            <a:chOff x="603504" y="1299210"/>
            <a:chExt cx="9591837" cy="234696"/>
          </a:xfrm>
        </p:grpSpPr>
        <p:sp>
          <p:nvSpPr>
            <p:cNvPr id="6" name="TextBox 6"/>
            <p:cNvSpPr txBox="1"/>
            <p:nvPr/>
          </p:nvSpPr>
          <p:spPr>
            <a:xfrm>
              <a:off x="603504" y="1299210"/>
              <a:ext cx="95918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Amaç: Sorgu yorumuna en benzer yorumları kosinüs benzerliğine göre sıralamak. Girdi: ilk yorum sorgu olarak kullanılır.</a:t>
              </a:r>
            </a:p>
          </p:txBody>
        </p:sp>
      </p:grpSp>
      <p:grpSp>
        <p:nvGrpSpPr>
          <p:cNvPr id="17" name="code-panel"/>
          <p:cNvGrpSpPr/>
          <p:nvPr/>
        </p:nvGrpSpPr>
        <p:grpSpPr>
          <a:xfrm>
            <a:off x="609600" y="1695450"/>
            <a:ext cx="10972800" cy="2403634"/>
            <a:chOff x="609600" y="1695450"/>
            <a:chExt cx="10972800" cy="2403634"/>
          </a:xfrm>
        </p:grpSpPr>
        <p:sp>
          <p:nvSpPr>
            <p:cNvPr id="8" name="Rectangle 8"/>
            <p:cNvSpPr/>
            <p:nvPr/>
          </p:nvSpPr>
          <p:spPr>
            <a:xfrm>
              <a:off x="609600" y="1695450"/>
              <a:ext cx="10972800" cy="2381250"/>
            </a:xfrm>
            <a:prstGeom prst="roundRect">
              <a:avLst>
                <a:gd name="adj" fmla="val 3200"/>
              </a:avLst>
            </a:prstGeom>
            <a:solidFill>
              <a:srgbClr val="12355B"/>
            </a:solidFill>
            <a:ln>
              <a:noFill/>
            </a:ln>
          </p:spPr>
        </p:sp>
        <p:sp>
          <p:nvSpPr>
            <p:cNvPr id="9" name="TextBox 9"/>
            <p:cNvSpPr txBox="1"/>
            <p:nvPr/>
          </p:nvSpPr>
          <p:spPr>
            <a:xfrm>
              <a:off x="908685" y="1821656"/>
              <a:ext cx="619175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EAF4F6"/>
                  </a:solidFill>
                  <a:latin typeface="Consolas"/>
                  <a:ea typeface="Consolas"/>
                  <a:cs typeface="Consolas"/>
                </a:rPr>
                <a:t>yorumlar = ["internet bağlantısı sürekli kopuyor",</a:t>
              </a:r>
              <a:br/>
              <a:r>
                <a:rPr lang="tr-TR" sz="1120" dirty="0">
                  <a:solidFill>
                    <a:srgbClr val="EAF4F6"/>
                  </a:solidFill>
                  <a:latin typeface="Consolas"/>
                  <a:ea typeface="Consolas"/>
                  <a:cs typeface="Consolas"/>
                </a:rPr>
                <a:t>"bağlantı kesiliyor internet çok yavaş", "fatura tutarım beklediğimden yüksek"]</a:t>
              </a:r>
            </a:p>
          </p:txBody>
        </p:sp>
        <p:sp>
          <p:nvSpPr>
            <p:cNvPr id="10" name="TextBox 10"/>
            <p:cNvSpPr txBox="1"/>
            <p:nvPr/>
          </p:nvSpPr>
          <p:spPr>
            <a:xfrm>
              <a:off x="908304" y="2232660"/>
              <a:ext cx="508879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tfidf_matrisi = TfidfVectorizer().fit_transform(yorumlar)</a:t>
              </a:r>
            </a:p>
          </p:txBody>
        </p:sp>
        <p:sp>
          <p:nvSpPr>
            <p:cNvPr id="11" name="TextBox 11"/>
            <p:cNvSpPr txBox="1"/>
            <p:nvPr/>
          </p:nvSpPr>
          <p:spPr>
            <a:xfrm>
              <a:off x="908304" y="2480310"/>
              <a:ext cx="738667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benzerlik_skorlari = cosine_similarity(tfidf_matrisi[0:1], tfidf_matrisi).flatten()</a:t>
              </a:r>
            </a:p>
          </p:txBody>
        </p:sp>
        <p:sp>
          <p:nvSpPr>
            <p:cNvPr id="12" name="TextBox 12"/>
            <p:cNvSpPr txBox="1"/>
            <p:nvPr/>
          </p:nvSpPr>
          <p:spPr>
            <a:xfrm>
              <a:off x="908304" y="2766060"/>
              <a:ext cx="792635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sirali_sonuclar = sorted(enumerate(benzerlik_skorlari), key=lambda s: s[1], reverse=True)</a:t>
              </a:r>
            </a:p>
          </p:txBody>
        </p:sp>
        <p:sp>
          <p:nvSpPr>
            <p:cNvPr id="13" name="TextBox 13"/>
            <p:cNvSpPr txBox="1"/>
            <p:nvPr/>
          </p:nvSpPr>
          <p:spPr>
            <a:xfrm>
              <a:off x="908304" y="3051810"/>
              <a:ext cx="276651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for i, skor in sirali_sonuclar:</a:t>
              </a:r>
            </a:p>
          </p:txBody>
        </p:sp>
        <p:sp>
          <p:nvSpPr>
            <p:cNvPr id="14" name="TextBox 14"/>
            <p:cNvSpPr txBox="1"/>
            <p:nvPr/>
          </p:nvSpPr>
          <p:spPr>
            <a:xfrm>
              <a:off x="1136904" y="3299460"/>
              <a:ext cx="3299612"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print(f"{skor:.2f} -&gt; {yorumlar[i]}")</a:t>
              </a:r>
            </a:p>
          </p:txBody>
        </p:sp>
        <p:sp>
          <p:nvSpPr>
            <p:cNvPr id="15" name="TextBox 15"/>
            <p:cNvSpPr txBox="1"/>
            <p:nvPr/>
          </p:nvSpPr>
          <p:spPr>
            <a:xfrm>
              <a:off x="908685" y="3688556"/>
              <a:ext cx="433017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Çıktı: 1.00 -&gt; internet bağlantısı sürekli kopuyor</a:t>
              </a:r>
            </a:p>
          </p:txBody>
        </p:sp>
        <p:sp>
          <p:nvSpPr>
            <p:cNvPr id="16" name="TextBox 16"/>
            <p:cNvSpPr txBox="1"/>
            <p:nvPr/>
          </p:nvSpPr>
          <p:spPr>
            <a:xfrm>
              <a:off x="908685" y="3879056"/>
              <a:ext cx="5069911"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0.14 -&gt; bağlantı kesiliyor ... / 0.00 -&gt; fatura tutarım ...</a:t>
              </a:r>
            </a:p>
          </p:txBody>
        </p:sp>
      </p:grpSp>
      <p:grpSp>
        <p:nvGrpSpPr>
          <p:cNvPr id="24" name="ranking-visual"/>
          <p:cNvGrpSpPr/>
          <p:nvPr/>
        </p:nvGrpSpPr>
        <p:grpSpPr>
          <a:xfrm>
            <a:off x="609600" y="4267200"/>
            <a:ext cx="10972800" cy="1019556"/>
            <a:chOff x="609600" y="4267200"/>
            <a:chExt cx="10972800" cy="1019556"/>
          </a:xfrm>
        </p:grpSpPr>
        <p:sp>
          <p:nvSpPr>
            <p:cNvPr id="18" name="Rectangle 18"/>
            <p:cNvSpPr/>
            <p:nvPr/>
          </p:nvSpPr>
          <p:spPr>
            <a:xfrm>
              <a:off x="609600" y="4267200"/>
              <a:ext cx="10972800" cy="285750"/>
            </a:xfrm>
            <a:prstGeom prst="roundRect">
              <a:avLst>
                <a:gd name="adj" fmla="val 13333"/>
              </a:avLst>
            </a:prstGeom>
            <a:solidFill>
              <a:srgbClr val="00A6A6"/>
            </a:solidFill>
            <a:ln>
              <a:noFill/>
            </a:ln>
          </p:spPr>
        </p:sp>
        <p:sp>
          <p:nvSpPr>
            <p:cNvPr id="19" name="TextBox 19"/>
            <p:cNvSpPr txBox="1"/>
            <p:nvPr/>
          </p:nvSpPr>
          <p:spPr>
            <a:xfrm>
              <a:off x="755904" y="4347210"/>
              <a:ext cx="5151714"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1.00 — internet bağlantısı sürekli kopuyor (sorgunun kendisi)</a:t>
              </a:r>
            </a:p>
          </p:txBody>
        </p:sp>
        <p:sp>
          <p:nvSpPr>
            <p:cNvPr id="20" name="Rectangle 20"/>
            <p:cNvSpPr/>
            <p:nvPr/>
          </p:nvSpPr>
          <p:spPr>
            <a:xfrm>
              <a:off x="609600" y="4629150"/>
              <a:ext cx="1619250" cy="285750"/>
            </a:xfrm>
            <a:prstGeom prst="roundRect">
              <a:avLst>
                <a:gd name="adj" fmla="val 13333"/>
              </a:avLst>
            </a:prstGeom>
            <a:solidFill>
              <a:srgbClr val="2E86AB"/>
            </a:solidFill>
            <a:ln>
              <a:noFill/>
            </a:ln>
          </p:spPr>
        </p:sp>
        <p:sp>
          <p:nvSpPr>
            <p:cNvPr id="21" name="TextBox 21"/>
            <p:cNvSpPr txBox="1"/>
            <p:nvPr/>
          </p:nvSpPr>
          <p:spPr>
            <a:xfrm>
              <a:off x="755904" y="4709160"/>
              <a:ext cx="155574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0.14 — ortak terim</a:t>
              </a:r>
            </a:p>
          </p:txBody>
        </p:sp>
        <p:sp>
          <p:nvSpPr>
            <p:cNvPr id="22" name="Rectangle 22"/>
            <p:cNvSpPr/>
            <p:nvPr/>
          </p:nvSpPr>
          <p:spPr>
            <a:xfrm>
              <a:off x="609600" y="4991100"/>
              <a:ext cx="133350" cy="285750"/>
            </a:xfrm>
            <a:prstGeom prst="roundRect">
              <a:avLst>
                <a:gd name="adj" fmla="val 28571"/>
              </a:avLst>
            </a:prstGeom>
            <a:solidFill>
              <a:srgbClr val="B8CBD3"/>
            </a:solidFill>
            <a:ln>
              <a:noFill/>
            </a:ln>
          </p:spPr>
        </p:sp>
        <p:sp>
          <p:nvSpPr>
            <p:cNvPr id="23" name="TextBox 23"/>
            <p:cNvSpPr txBox="1"/>
            <p:nvPr/>
          </p:nvSpPr>
          <p:spPr>
            <a:xfrm>
              <a:off x="2318004" y="5052060"/>
              <a:ext cx="49554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0.00 — fatura tutarım beklediğimden yüksek (ortak terim yok)</a:t>
              </a:r>
            </a:p>
          </p:txBody>
        </p:sp>
      </p:grpSp>
      <p:grpSp>
        <p:nvGrpSpPr>
          <p:cNvPr id="26" name="explain-note"/>
          <p:cNvGrpSpPr/>
          <p:nvPr/>
        </p:nvGrpSpPr>
        <p:grpSpPr>
          <a:xfrm>
            <a:off x="603504" y="5699760"/>
            <a:ext cx="9783167" cy="234696"/>
            <a:chOff x="603504" y="5699760"/>
            <a:chExt cx="9783167" cy="234696"/>
          </a:xfrm>
        </p:grpSpPr>
        <p:sp>
          <p:nvSpPr>
            <p:cNvPr id="25" name="TextBox 25"/>
            <p:cNvSpPr txBox="1"/>
            <p:nvPr/>
          </p:nvSpPr>
          <p:spPr>
            <a:xfrm>
              <a:off x="603504" y="5699760"/>
              <a:ext cx="97831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Sıralama, en alakalı şikâyetleri otomatik olarak öne çıkarmayı mümkün kılar; ilk yorumun kendisiyle skoru daima 1.00'dır.</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540787" cy="668845"/>
            <a:chOff x="609600" y="171450"/>
            <a:chExt cx="754078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8504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Sık yanlış anlama ve sözlük hatası</a:t>
              </a:r>
            </a:p>
          </p:txBody>
        </p:sp>
      </p:grpSp>
      <p:grpSp>
        <p:nvGrpSpPr>
          <p:cNvPr id="18" name="misconception-block"/>
          <p:cNvGrpSpPr/>
          <p:nvPr/>
        </p:nvGrpSpPr>
        <p:grpSpPr>
          <a:xfrm>
            <a:off x="609600" y="1219200"/>
            <a:ext cx="10972800" cy="1333500"/>
            <a:chOff x="609600" y="1219200"/>
            <a:chExt cx="10972800" cy="1333500"/>
          </a:xfrm>
        </p:grpSpPr>
        <p:sp>
          <p:nvSpPr>
            <p:cNvPr id="12" name="Rectangle 12"/>
            <p:cNvSpPr/>
            <p:nvPr/>
          </p:nvSpPr>
          <p:spPr>
            <a:xfrm>
              <a:off x="609600" y="1219200"/>
              <a:ext cx="10972800" cy="1333500"/>
            </a:xfrm>
            <a:prstGeom prst="roundRect">
              <a:avLst>
                <a:gd name="adj" fmla="val 5714"/>
              </a:avLst>
            </a:prstGeom>
            <a:solidFill>
              <a:srgbClr val="EAF4F6"/>
            </a:solidFill>
            <a:ln>
              <a:noFill/>
            </a:ln>
          </p:spPr>
        </p:sp>
        <p:sp>
          <p:nvSpPr>
            <p:cNvPr id="13" name="Rectangle 13"/>
            <p:cNvSpPr/>
            <p:nvPr/>
          </p:nvSpPr>
          <p:spPr>
            <a:xfrm>
              <a:off x="609600" y="1219200"/>
              <a:ext cx="57150" cy="1333500"/>
            </a:xfrm>
            <a:prstGeom prst="rect">
              <a:avLst/>
            </a:prstGeom>
            <a:solidFill>
              <a:srgbClr val="00A6A6"/>
            </a:solidFill>
            <a:ln>
              <a:noFill/>
            </a:ln>
          </p:spPr>
        </p:sp>
        <p:sp>
          <p:nvSpPr>
            <p:cNvPr id="14" name="TextBox 14"/>
            <p:cNvSpPr txBox="1"/>
            <p:nvPr/>
          </p:nvSpPr>
          <p:spPr>
            <a:xfrm>
              <a:off x="906399" y="1353979"/>
              <a:ext cx="19471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Yanlış Anlama</a:t>
              </a:r>
            </a:p>
          </p:txBody>
        </p:sp>
        <p:sp>
          <p:nvSpPr>
            <p:cNvPr id="15" name="TextBox 15"/>
            <p:cNvSpPr txBox="1"/>
            <p:nvPr/>
          </p:nvSpPr>
          <p:spPr>
            <a:xfrm>
              <a:off x="908304" y="1680210"/>
              <a:ext cx="90557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"Kosinüs benzerliği yüksekse iki yorum kesinlikle aynı anlama gelir" sanılır; oysa kosinüs benzerliği yalnızca ortak</a:t>
              </a:r>
            </a:p>
          </p:txBody>
        </p:sp>
        <p:sp>
          <p:nvSpPr>
            <p:cNvPr id="16" name="TextBox 16"/>
            <p:cNvSpPr txBox="1"/>
            <p:nvPr/>
          </p:nvSpPr>
          <p:spPr>
            <a:xfrm>
              <a:off x="908304" y="1908810"/>
              <a:ext cx="92334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kelime kullanımının yönsel yakınlığını ölçer, anlamsal eşdeğerliği garanti etmez. İki yorum farklı duygu taşısa bile</a:t>
              </a:r>
            </a:p>
          </p:txBody>
        </p:sp>
        <p:sp>
          <p:nvSpPr>
            <p:cNvPr id="17" name="TextBox 17"/>
            <p:cNvSpPr txBox="1"/>
            <p:nvPr/>
          </p:nvSpPr>
          <p:spPr>
            <a:xfrm>
              <a:off x="908304" y="2137410"/>
              <a:ext cx="81540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ortak teknik terimler nedeniyle yüksek skor alabilir; sonuç mutlaka örnek incelemeyle doğrulanmalıdır.</a:t>
              </a:r>
            </a:p>
          </p:txBody>
        </p:sp>
      </p:grpSp>
      <p:grpSp>
        <p:nvGrpSpPr>
          <p:cNvPr id="27" name="wrong-panel"/>
          <p:cNvGrpSpPr/>
          <p:nvPr/>
        </p:nvGrpSpPr>
        <p:grpSpPr>
          <a:xfrm>
            <a:off x="609600" y="2781300"/>
            <a:ext cx="5334000" cy="2190750"/>
            <a:chOff x="609600" y="2781300"/>
            <a:chExt cx="5334000" cy="2190750"/>
          </a:xfrm>
        </p:grpSpPr>
        <p:sp>
          <p:nvSpPr>
            <p:cNvPr id="19" name="Rectangle 19"/>
            <p:cNvSpPr/>
            <p:nvPr/>
          </p:nvSpPr>
          <p:spPr>
            <a:xfrm>
              <a:off x="609600" y="2781300"/>
              <a:ext cx="5334000" cy="2190750"/>
            </a:xfrm>
            <a:prstGeom prst="roundRect">
              <a:avLst>
                <a:gd name="adj" fmla="val 3478"/>
              </a:avLst>
            </a:prstGeom>
            <a:solidFill>
              <a:srgbClr val="FFFFFF"/>
            </a:solidFill>
            <a:ln w="14288">
              <a:solidFill>
                <a:srgbClr val="B8CBD3"/>
              </a:solidFill>
            </a:ln>
          </p:spPr>
        </p:sp>
        <p:sp>
          <p:nvSpPr>
            <p:cNvPr id="20" name="TextBox 20"/>
            <p:cNvSpPr txBox="1"/>
            <p:nvPr/>
          </p:nvSpPr>
          <p:spPr>
            <a:xfrm>
              <a:off x="906399" y="2916079"/>
              <a:ext cx="24464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Hatalı: ayrı sözlükler</a:t>
              </a:r>
            </a:p>
          </p:txBody>
        </p:sp>
        <p:sp>
          <p:nvSpPr>
            <p:cNvPr id="21" name="Rectangle 21"/>
            <p:cNvSpPr/>
            <p:nvPr/>
          </p:nvSpPr>
          <p:spPr>
            <a:xfrm>
              <a:off x="914400" y="3276600"/>
              <a:ext cx="4724400" cy="1143000"/>
            </a:xfrm>
            <a:prstGeom prst="roundRect">
              <a:avLst>
                <a:gd name="adj" fmla="val 5000"/>
              </a:avLst>
            </a:prstGeom>
            <a:solidFill>
              <a:srgbClr val="12355B"/>
            </a:solidFill>
            <a:ln>
              <a:noFill/>
            </a:ln>
          </p:spPr>
        </p:sp>
        <p:sp>
          <p:nvSpPr>
            <p:cNvPr id="22" name="TextBox 22"/>
            <p:cNvSpPr txBox="1"/>
            <p:nvPr/>
          </p:nvSpPr>
          <p:spPr>
            <a:xfrm>
              <a:off x="1061085" y="3440906"/>
              <a:ext cx="251094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ilk_vektor = TfidfVectorizer()</a:t>
              </a:r>
            </a:p>
          </p:txBody>
        </p:sp>
        <p:sp>
          <p:nvSpPr>
            <p:cNvPr id="23" name="TextBox 23"/>
            <p:cNvSpPr txBox="1"/>
            <p:nvPr/>
          </p:nvSpPr>
          <p:spPr>
            <a:xfrm>
              <a:off x="1213485" y="3650456"/>
              <a:ext cx="283091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.fit_transform(["internet yavaş"])</a:t>
              </a:r>
            </a:p>
          </p:txBody>
        </p:sp>
        <p:sp>
          <p:nvSpPr>
            <p:cNvPr id="24" name="TextBox 24"/>
            <p:cNvSpPr txBox="1"/>
            <p:nvPr/>
          </p:nvSpPr>
          <p:spPr>
            <a:xfrm>
              <a:off x="1061085" y="3879056"/>
              <a:ext cx="275945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ikinci_vektor = TfidfVectorizer()</a:t>
              </a:r>
            </a:p>
          </p:txBody>
        </p:sp>
        <p:sp>
          <p:nvSpPr>
            <p:cNvPr id="25" name="TextBox 25"/>
            <p:cNvSpPr txBox="1"/>
            <p:nvPr/>
          </p:nvSpPr>
          <p:spPr>
            <a:xfrm>
              <a:off x="1213485" y="4088606"/>
              <a:ext cx="2996763"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.fit_transform(["internet kopuyor"])</a:t>
              </a:r>
            </a:p>
          </p:txBody>
        </p:sp>
        <p:sp>
          <p:nvSpPr>
            <p:cNvPr id="26" name="TextBox 26"/>
            <p:cNvSpPr txBox="1"/>
            <p:nvPr/>
          </p:nvSpPr>
          <p:spPr>
            <a:xfrm>
              <a:off x="908304" y="4480560"/>
              <a:ext cx="2458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Sütunların anlamı aynı değildir;</a:t>
              </a:r>
              <a:br/>
              <a:r>
                <a:rPr lang="tr-TR" sz="1200" dirty="0">
                  <a:solidFill>
                    <a:srgbClr val="172B3A"/>
                  </a:solidFill>
                  <a:latin typeface="+mn-lt"/>
                  <a:ea typeface="+mn-ea"/>
                  <a:cs typeface="+mn-cs"/>
                </a:rPr>
                <a:t>bu iki vektör karşılaştırılamaz.</a:t>
              </a:r>
            </a:p>
          </p:txBody>
        </p:sp>
      </p:grpSp>
      <p:grpSp>
        <p:nvGrpSpPr>
          <p:cNvPr id="36" name="right-panel"/>
          <p:cNvGrpSpPr/>
          <p:nvPr/>
        </p:nvGrpSpPr>
        <p:grpSpPr>
          <a:xfrm>
            <a:off x="6248400" y="2781300"/>
            <a:ext cx="5334000" cy="2190750"/>
            <a:chOff x="6248400" y="2781300"/>
            <a:chExt cx="5334000" cy="2190750"/>
          </a:xfrm>
        </p:grpSpPr>
        <p:sp>
          <p:nvSpPr>
            <p:cNvPr id="28" name="Rectangle 28"/>
            <p:cNvSpPr/>
            <p:nvPr/>
          </p:nvSpPr>
          <p:spPr>
            <a:xfrm>
              <a:off x="6248400" y="2781300"/>
              <a:ext cx="5334000" cy="2190750"/>
            </a:xfrm>
            <a:prstGeom prst="roundRect">
              <a:avLst>
                <a:gd name="adj" fmla="val 3478"/>
              </a:avLst>
            </a:prstGeom>
            <a:solidFill>
              <a:srgbClr val="EAF4F6"/>
            </a:solidFill>
            <a:ln w="14288">
              <a:solidFill>
                <a:srgbClr val="00A6A6"/>
              </a:solidFill>
            </a:ln>
          </p:spPr>
        </p:sp>
        <p:sp>
          <p:nvSpPr>
            <p:cNvPr id="29" name="TextBox 29"/>
            <p:cNvSpPr txBox="1"/>
            <p:nvPr/>
          </p:nvSpPr>
          <p:spPr>
            <a:xfrm>
              <a:off x="6545199" y="2916079"/>
              <a:ext cx="21900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 ortak sözlük</a:t>
              </a:r>
            </a:p>
          </p:txBody>
        </p:sp>
        <p:sp>
          <p:nvSpPr>
            <p:cNvPr id="30" name="Rectangle 30"/>
            <p:cNvSpPr/>
            <p:nvPr/>
          </p:nvSpPr>
          <p:spPr>
            <a:xfrm>
              <a:off x="6553200" y="3276600"/>
              <a:ext cx="4724400" cy="1143000"/>
            </a:xfrm>
            <a:prstGeom prst="roundRect">
              <a:avLst>
                <a:gd name="adj" fmla="val 5000"/>
              </a:avLst>
            </a:prstGeom>
            <a:solidFill>
              <a:srgbClr val="12355B"/>
            </a:solidFill>
            <a:ln>
              <a:noFill/>
            </a:ln>
          </p:spPr>
        </p:sp>
        <p:sp>
          <p:nvSpPr>
            <p:cNvPr id="31" name="TextBox 31"/>
            <p:cNvSpPr txBox="1"/>
            <p:nvPr/>
          </p:nvSpPr>
          <p:spPr>
            <a:xfrm>
              <a:off x="6699885" y="3440906"/>
              <a:ext cx="3422390"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ortak_vektorlestirici = TfidfVectorizer()</a:t>
              </a:r>
            </a:p>
          </p:txBody>
        </p:sp>
        <p:sp>
          <p:nvSpPr>
            <p:cNvPr id="32" name="TextBox 32"/>
            <p:cNvSpPr txBox="1"/>
            <p:nvPr/>
          </p:nvSpPr>
          <p:spPr>
            <a:xfrm>
              <a:off x="6699885" y="3650456"/>
              <a:ext cx="307968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ortak_matrisi = ortak_vektorlestirici</a:t>
              </a:r>
            </a:p>
          </p:txBody>
        </p:sp>
        <p:sp>
          <p:nvSpPr>
            <p:cNvPr id="33" name="TextBox 33"/>
            <p:cNvSpPr txBox="1"/>
            <p:nvPr/>
          </p:nvSpPr>
          <p:spPr>
            <a:xfrm>
              <a:off x="6852285" y="3860006"/>
              <a:ext cx="274798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.fit_transform(["internet yavaş",</a:t>
              </a:r>
            </a:p>
          </p:txBody>
        </p:sp>
        <p:sp>
          <p:nvSpPr>
            <p:cNvPr id="34" name="TextBox 34"/>
            <p:cNvSpPr txBox="1"/>
            <p:nvPr/>
          </p:nvSpPr>
          <p:spPr>
            <a:xfrm>
              <a:off x="6852285" y="4069556"/>
              <a:ext cx="1669948"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"internet kopuyor"])</a:t>
              </a:r>
            </a:p>
          </p:txBody>
        </p:sp>
        <p:sp>
          <p:nvSpPr>
            <p:cNvPr id="35" name="TextBox 35"/>
            <p:cNvSpPr txBox="1"/>
            <p:nvPr/>
          </p:nvSpPr>
          <p:spPr>
            <a:xfrm>
              <a:off x="6547104" y="4480560"/>
              <a:ext cx="32430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Tek vektörleştirici ortak sözlük kurar;</a:t>
              </a:r>
              <a:br/>
              <a:r>
                <a:rPr lang="tr-TR" sz="1200" dirty="0">
                  <a:solidFill>
                    <a:srgbClr val="172B3A"/>
                  </a:solidFill>
                  <a:latin typeface="+mn-lt"/>
                  <a:ea typeface="+mn-ea"/>
                  <a:cs typeface="+mn-cs"/>
                </a:rPr>
                <a:t>kosinüs karşılaştırması artık anlamlıdır.</a:t>
              </a:r>
            </a:p>
          </p:txBody>
        </p:sp>
      </p:grpSp>
      <p:grpSp>
        <p:nvGrpSpPr>
          <p:cNvPr id="39" name="leakage-note"/>
          <p:cNvGrpSpPr/>
          <p:nvPr/>
        </p:nvGrpSpPr>
        <p:grpSpPr>
          <a:xfrm>
            <a:off x="603504" y="5299710"/>
            <a:ext cx="9968771" cy="463296"/>
            <a:chOff x="603504" y="5299710"/>
            <a:chExt cx="9968771" cy="463296"/>
          </a:xfrm>
        </p:grpSpPr>
        <p:sp>
          <p:nvSpPr>
            <p:cNvPr id="37" name="TextBox 37"/>
            <p:cNvSpPr txBox="1"/>
            <p:nvPr/>
          </p:nvSpPr>
          <p:spPr>
            <a:xfrm>
              <a:off x="603504" y="5299710"/>
              <a:ext cx="99687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Diğer yaygın hatalar: test verisi üzerinde fit() çağırarak veri sızıntısı oluşturmak ve benzerlik skorunu kesin "aynı anlam"</a:t>
              </a:r>
            </a:p>
          </p:txBody>
        </p:sp>
        <p:sp>
          <p:nvSpPr>
            <p:cNvPr id="38" name="TextBox 38"/>
            <p:cNvSpPr txBox="1"/>
            <p:nvPr/>
          </p:nvSpPr>
          <p:spPr>
            <a:xfrm>
              <a:off x="603504" y="5528310"/>
              <a:ext cx="94274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kanıtı saymak. Çözüm: vektörleştiriciyi yalnızca eğitim verisinde öğrenmek ve skorları örnek incelemeyle doğrulamak.</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60060" cy="668845"/>
            <a:chOff x="609600" y="171450"/>
            <a:chExt cx="746006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67696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duygu analizi boru hattı</a:t>
              </a:r>
            </a:p>
          </p:txBody>
        </p:sp>
      </p:grpSp>
      <p:grpSp>
        <p:nvGrpSpPr>
          <p:cNvPr id="13" name="task-block"/>
          <p:cNvGrpSpPr/>
          <p:nvPr/>
        </p:nvGrpSpPr>
        <p:grpSpPr>
          <a:xfrm>
            <a:off x="603504" y="1299210"/>
            <a:ext cx="9314365" cy="234696"/>
            <a:chOff x="603504" y="1299210"/>
            <a:chExt cx="9314365" cy="234696"/>
          </a:xfrm>
        </p:grpSpPr>
        <p:sp>
          <p:nvSpPr>
            <p:cNvPr id="12" name="TextBox 12"/>
            <p:cNvSpPr txBox="1"/>
            <p:nvPr/>
          </p:nvSpPr>
          <p:spPr>
            <a:xfrm>
              <a:off x="603504" y="1299210"/>
              <a:ext cx="931436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Pipeline, vektörleştirme ve sınıflandırmayı tek adımda birleştirir; train_test_split ile eğitim/test ayrımı yapılır.</a:t>
              </a:r>
            </a:p>
          </p:txBody>
        </p:sp>
      </p:grpSp>
      <p:grpSp>
        <p:nvGrpSpPr>
          <p:cNvPr id="26" name="code-panel"/>
          <p:cNvGrpSpPr/>
          <p:nvPr/>
        </p:nvGrpSpPr>
        <p:grpSpPr>
          <a:xfrm>
            <a:off x="609600" y="1695450"/>
            <a:ext cx="10972800" cy="2857500"/>
            <a:chOff x="609600" y="1695450"/>
            <a:chExt cx="10972800" cy="2857500"/>
          </a:xfrm>
        </p:grpSpPr>
        <p:sp>
          <p:nvSpPr>
            <p:cNvPr id="14" name="Rectangle 14"/>
            <p:cNvSpPr/>
            <p:nvPr/>
          </p:nvSpPr>
          <p:spPr>
            <a:xfrm>
              <a:off x="609600" y="1695450"/>
              <a:ext cx="10972800" cy="2857500"/>
            </a:xfrm>
            <a:prstGeom prst="roundRect">
              <a:avLst>
                <a:gd name="adj" fmla="val 2667"/>
              </a:avLst>
            </a:prstGeom>
            <a:solidFill>
              <a:srgbClr val="12355B"/>
            </a:solidFill>
            <a:ln>
              <a:noFill/>
            </a:ln>
          </p:spPr>
        </p:sp>
        <p:sp>
          <p:nvSpPr>
            <p:cNvPr id="15" name="TextBox 15"/>
            <p:cNvSpPr txBox="1"/>
            <p:nvPr/>
          </p:nvSpPr>
          <p:spPr>
            <a:xfrm>
              <a:off x="908685" y="1821656"/>
              <a:ext cx="4502770"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egitim_X, test_X, egitim_y, test_y = train_test_split(</a:t>
              </a:r>
            </a:p>
          </p:txBody>
        </p:sp>
        <p:sp>
          <p:nvSpPr>
            <p:cNvPr id="16" name="TextBox 16"/>
            <p:cNvSpPr txBox="1"/>
            <p:nvPr/>
          </p:nvSpPr>
          <p:spPr>
            <a:xfrm>
              <a:off x="1137285" y="2031206"/>
              <a:ext cx="598209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yorumlar, etiketler, test_size=0.3, stratify=etiketler, random_state=42)</a:t>
              </a:r>
            </a:p>
          </p:txBody>
        </p:sp>
        <p:sp>
          <p:nvSpPr>
            <p:cNvPr id="17" name="TextBox 17"/>
            <p:cNvSpPr txBox="1"/>
            <p:nvPr/>
          </p:nvSpPr>
          <p:spPr>
            <a:xfrm>
              <a:off x="908685" y="2316956"/>
              <a:ext cx="192507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boru_hatti = Pipeline([</a:t>
              </a:r>
            </a:p>
          </p:txBody>
        </p:sp>
        <p:sp>
          <p:nvSpPr>
            <p:cNvPr id="18" name="TextBox 18"/>
            <p:cNvSpPr txBox="1"/>
            <p:nvPr/>
          </p:nvSpPr>
          <p:spPr>
            <a:xfrm>
              <a:off x="1137285" y="2526506"/>
              <a:ext cx="3923656"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("tfidf", TfidfVectorizer(ngram_range=(1, 2))),</a:t>
              </a:r>
            </a:p>
          </p:txBody>
        </p:sp>
        <p:sp>
          <p:nvSpPr>
            <p:cNvPr id="19" name="TextBox 19"/>
            <p:cNvSpPr txBox="1"/>
            <p:nvPr/>
          </p:nvSpPr>
          <p:spPr>
            <a:xfrm>
              <a:off x="1137285" y="2736056"/>
              <a:ext cx="441926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("siniflandirici", LogisticRegression(max_iter=1000))</a:t>
              </a:r>
            </a:p>
          </p:txBody>
        </p:sp>
        <p:sp>
          <p:nvSpPr>
            <p:cNvPr id="20" name="TextBox 20"/>
            <p:cNvSpPr txBox="1"/>
            <p:nvPr/>
          </p:nvSpPr>
          <p:spPr>
            <a:xfrm>
              <a:off x="908685" y="2945606"/>
              <a:ext cx="17728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a:t>
              </a:r>
            </a:p>
          </p:txBody>
        </p:sp>
        <p:sp>
          <p:nvSpPr>
            <p:cNvPr id="21" name="TextBox 21"/>
            <p:cNvSpPr txBox="1"/>
            <p:nvPr/>
          </p:nvSpPr>
          <p:spPr>
            <a:xfrm>
              <a:off x="908685" y="3231356"/>
              <a:ext cx="283704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boru_hatti.fit(egitim_X, egitim_y)</a:t>
              </a:r>
            </a:p>
          </p:txBody>
        </p:sp>
        <p:sp>
          <p:nvSpPr>
            <p:cNvPr id="22" name="TextBox 22"/>
            <p:cNvSpPr txBox="1"/>
            <p:nvPr/>
          </p:nvSpPr>
          <p:spPr>
            <a:xfrm>
              <a:off x="908685" y="3440906"/>
              <a:ext cx="316856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tahminler = boru_hatti.predict(test_X)</a:t>
              </a:r>
            </a:p>
          </p:txBody>
        </p:sp>
        <p:sp>
          <p:nvSpPr>
            <p:cNvPr id="23" name="TextBox 23"/>
            <p:cNvSpPr txBox="1"/>
            <p:nvPr/>
          </p:nvSpPr>
          <p:spPr>
            <a:xfrm>
              <a:off x="908685" y="3726656"/>
              <a:ext cx="6236645"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Pipeline, fit_transform ile fit'i tek nesnede zincirler; veri sızıntısını</a:t>
              </a:r>
            </a:p>
          </p:txBody>
        </p:sp>
        <p:sp>
          <p:nvSpPr>
            <p:cNvPr id="24" name="TextBox 24"/>
            <p:cNvSpPr txBox="1"/>
            <p:nvPr/>
          </p:nvSpPr>
          <p:spPr>
            <a:xfrm>
              <a:off x="908685" y="3917156"/>
              <a:ext cx="4489430"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önler çünkü tfidf yalnızca eğitim verisiyle öğrenir.</a:t>
              </a:r>
            </a:p>
          </p:txBody>
        </p:sp>
        <p:sp>
          <p:nvSpPr>
            <p:cNvPr id="25" name="TextBox 25"/>
            <p:cNvSpPr txBox="1"/>
            <p:nvPr/>
          </p:nvSpPr>
          <p:spPr>
            <a:xfrm>
              <a:off x="908685" y="4202906"/>
              <a:ext cx="598209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ngram_range=(1,2) tekil kelimeler + ikili öbekler ("değil iyi") yakalar.</a:t>
              </a:r>
            </a:p>
          </p:txBody>
        </p:sp>
      </p:grpSp>
      <p:grpSp>
        <p:nvGrpSpPr>
          <p:cNvPr id="29" name="note-block"/>
          <p:cNvGrpSpPr/>
          <p:nvPr/>
        </p:nvGrpSpPr>
        <p:grpSpPr>
          <a:xfrm>
            <a:off x="603504" y="4804410"/>
            <a:ext cx="10892180" cy="463296"/>
            <a:chOff x="603504" y="4804410"/>
            <a:chExt cx="10892180" cy="463296"/>
          </a:xfrm>
        </p:grpSpPr>
        <p:sp>
          <p:nvSpPr>
            <p:cNvPr id="27" name="TextBox 27"/>
            <p:cNvSpPr txBox="1"/>
            <p:nvPr/>
          </p:nvSpPr>
          <p:spPr>
            <a:xfrm>
              <a:off x="603504" y="4804410"/>
              <a:ext cx="108921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stratify=etiketler, eğitim ve test kümelerinde sınıf oranlarını korur; küçük veri kümelerinde bu, güvenilir değerlendirme için önemlidir.</a:t>
              </a:r>
            </a:p>
          </p:txBody>
        </p:sp>
        <p:sp>
          <p:nvSpPr>
            <p:cNvPr id="28" name="TextBox 28"/>
            <p:cNvSpPr txBox="1"/>
            <p:nvPr/>
          </p:nvSpPr>
          <p:spPr>
            <a:xfrm>
              <a:off x="603504" y="5033010"/>
              <a:ext cx="102432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Pipeline, üretim ortamında tek bir nesneyi kaydedip yüklemeyi mümkün kılar; vektörleştirici ve model her zaman birlikte taşınır.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634919" cy="668845"/>
            <a:chOff x="609600" y="171450"/>
            <a:chExt cx="9634919"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89445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Modeli değerlendirmek: classification_report</a:t>
              </a:r>
            </a:p>
          </p:txBody>
        </p:sp>
      </p:grpSp>
      <p:grpSp>
        <p:nvGrpSpPr>
          <p:cNvPr id="38" name="report-table"/>
          <p:cNvGrpSpPr/>
          <p:nvPr/>
        </p:nvGrpSpPr>
        <p:grpSpPr>
          <a:xfrm>
            <a:off x="603504" y="1219200"/>
            <a:ext cx="5340096" cy="2657856"/>
            <a:chOff x="603504" y="1219200"/>
            <a:chExt cx="5340096" cy="2657856"/>
          </a:xfrm>
        </p:grpSpPr>
        <p:sp>
          <p:nvSpPr>
            <p:cNvPr id="9" name="Rectangle 9"/>
            <p:cNvSpPr/>
            <p:nvPr/>
          </p:nvSpPr>
          <p:spPr>
            <a:xfrm>
              <a:off x="609600" y="1219200"/>
              <a:ext cx="5334000" cy="342900"/>
            </a:xfrm>
            <a:prstGeom prst="rect">
              <a:avLst/>
            </a:prstGeom>
            <a:solidFill>
              <a:srgbClr val="12355B"/>
            </a:solidFill>
            <a:ln>
              <a:noFill/>
            </a:ln>
          </p:spPr>
        </p:sp>
        <p:sp>
          <p:nvSpPr>
            <p:cNvPr id="10" name="TextBox 10"/>
            <p:cNvSpPr txBox="1"/>
            <p:nvPr/>
          </p:nvSpPr>
          <p:spPr>
            <a:xfrm>
              <a:off x="756666" y="1334452"/>
              <a:ext cx="418819"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sınıf</a:t>
              </a:r>
            </a:p>
          </p:txBody>
        </p:sp>
        <p:sp>
          <p:nvSpPr>
            <p:cNvPr id="11" name="TextBox 11"/>
            <p:cNvSpPr txBox="1"/>
            <p:nvPr/>
          </p:nvSpPr>
          <p:spPr>
            <a:xfrm>
              <a:off x="2471166" y="1334452"/>
              <a:ext cx="671131"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precision</a:t>
              </a:r>
            </a:p>
          </p:txBody>
        </p:sp>
        <p:sp>
          <p:nvSpPr>
            <p:cNvPr id="12" name="TextBox 12"/>
            <p:cNvSpPr txBox="1"/>
            <p:nvPr/>
          </p:nvSpPr>
          <p:spPr>
            <a:xfrm>
              <a:off x="3614166" y="1334452"/>
              <a:ext cx="426240"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recall</a:t>
              </a:r>
            </a:p>
          </p:txBody>
        </p:sp>
        <p:sp>
          <p:nvSpPr>
            <p:cNvPr id="13" name="TextBox 13"/>
            <p:cNvSpPr txBox="1"/>
            <p:nvPr/>
          </p:nvSpPr>
          <p:spPr>
            <a:xfrm>
              <a:off x="4566666" y="1334452"/>
              <a:ext cx="663710"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f1-score</a:t>
              </a:r>
            </a:p>
          </p:txBody>
        </p:sp>
        <p:sp>
          <p:nvSpPr>
            <p:cNvPr id="14" name="Rectangle 14"/>
            <p:cNvSpPr/>
            <p:nvPr/>
          </p:nvSpPr>
          <p:spPr>
            <a:xfrm>
              <a:off x="609600" y="1562100"/>
              <a:ext cx="5334000" cy="304800"/>
            </a:xfrm>
            <a:prstGeom prst="rect">
              <a:avLst/>
            </a:prstGeom>
            <a:solidFill>
              <a:srgbClr val="FFFFFF"/>
            </a:solidFill>
            <a:ln>
              <a:noFill/>
            </a:ln>
          </p:spPr>
        </p:sp>
        <p:sp>
          <p:nvSpPr>
            <p:cNvPr id="15" name="TextBox 15"/>
            <p:cNvSpPr txBox="1"/>
            <p:nvPr/>
          </p:nvSpPr>
          <p:spPr>
            <a:xfrm>
              <a:off x="756666" y="1658302"/>
              <a:ext cx="519532"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negatif</a:t>
              </a:r>
            </a:p>
          </p:txBody>
        </p:sp>
        <p:sp>
          <p:nvSpPr>
            <p:cNvPr id="16" name="TextBox 16"/>
            <p:cNvSpPr txBox="1"/>
            <p:nvPr/>
          </p:nvSpPr>
          <p:spPr>
            <a:xfrm>
              <a:off x="2566416" y="1658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0.50</a:t>
              </a:r>
            </a:p>
          </p:txBody>
        </p:sp>
        <p:sp>
          <p:nvSpPr>
            <p:cNvPr id="17" name="TextBox 17"/>
            <p:cNvSpPr txBox="1"/>
            <p:nvPr/>
          </p:nvSpPr>
          <p:spPr>
            <a:xfrm>
              <a:off x="3709416" y="1658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1.00</a:t>
              </a:r>
            </a:p>
          </p:txBody>
        </p:sp>
        <p:sp>
          <p:nvSpPr>
            <p:cNvPr id="18" name="TextBox 18"/>
            <p:cNvSpPr txBox="1"/>
            <p:nvPr/>
          </p:nvSpPr>
          <p:spPr>
            <a:xfrm>
              <a:off x="4661916" y="16583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0.67</a:t>
              </a:r>
            </a:p>
          </p:txBody>
        </p:sp>
        <p:sp>
          <p:nvSpPr>
            <p:cNvPr id="19" name="Rectangle 19"/>
            <p:cNvSpPr/>
            <p:nvPr/>
          </p:nvSpPr>
          <p:spPr>
            <a:xfrm>
              <a:off x="609600" y="1866900"/>
              <a:ext cx="5334000" cy="304800"/>
            </a:xfrm>
            <a:prstGeom prst="rect">
              <a:avLst/>
            </a:prstGeom>
            <a:solidFill>
              <a:srgbClr val="EAF4F6"/>
            </a:solidFill>
            <a:ln>
              <a:noFill/>
            </a:ln>
          </p:spPr>
        </p:sp>
        <p:sp>
          <p:nvSpPr>
            <p:cNvPr id="20" name="TextBox 20"/>
            <p:cNvSpPr txBox="1"/>
            <p:nvPr/>
          </p:nvSpPr>
          <p:spPr>
            <a:xfrm>
              <a:off x="756666" y="1963102"/>
              <a:ext cx="48419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pozitif</a:t>
              </a:r>
            </a:p>
          </p:txBody>
        </p:sp>
        <p:sp>
          <p:nvSpPr>
            <p:cNvPr id="21" name="TextBox 21"/>
            <p:cNvSpPr txBox="1"/>
            <p:nvPr/>
          </p:nvSpPr>
          <p:spPr>
            <a:xfrm>
              <a:off x="2566416" y="19631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22" name="TextBox 22"/>
            <p:cNvSpPr txBox="1"/>
            <p:nvPr/>
          </p:nvSpPr>
          <p:spPr>
            <a:xfrm>
              <a:off x="3709416" y="19631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23" name="TextBox 23"/>
            <p:cNvSpPr txBox="1"/>
            <p:nvPr/>
          </p:nvSpPr>
          <p:spPr>
            <a:xfrm>
              <a:off x="4661916" y="19631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0.00</a:t>
              </a:r>
            </a:p>
          </p:txBody>
        </p:sp>
        <p:sp>
          <p:nvSpPr>
            <p:cNvPr id="24" name="Rectangle 24"/>
            <p:cNvSpPr/>
            <p:nvPr/>
          </p:nvSpPr>
          <p:spPr>
            <a:xfrm>
              <a:off x="609600" y="2171700"/>
              <a:ext cx="5334000" cy="304800"/>
            </a:xfrm>
            <a:prstGeom prst="rect">
              <a:avLst/>
            </a:prstGeom>
            <a:solidFill>
              <a:srgbClr val="FFFFFF"/>
            </a:solidFill>
            <a:ln>
              <a:noFill/>
            </a:ln>
          </p:spPr>
        </p:sp>
        <p:sp>
          <p:nvSpPr>
            <p:cNvPr id="25" name="TextBox 25"/>
            <p:cNvSpPr txBox="1"/>
            <p:nvPr/>
          </p:nvSpPr>
          <p:spPr>
            <a:xfrm>
              <a:off x="756666" y="2267902"/>
              <a:ext cx="663710"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accuracy</a:t>
              </a:r>
            </a:p>
          </p:txBody>
        </p:sp>
        <p:sp>
          <p:nvSpPr>
            <p:cNvPr id="26" name="TextBox 26"/>
            <p:cNvSpPr txBox="1"/>
            <p:nvPr/>
          </p:nvSpPr>
          <p:spPr>
            <a:xfrm>
              <a:off x="4661916" y="2267902"/>
              <a:ext cx="33718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0.50</a:t>
              </a:r>
            </a:p>
          </p:txBody>
        </p:sp>
        <p:sp>
          <p:nvSpPr>
            <p:cNvPr id="27" name="Rectangle 27"/>
            <p:cNvSpPr/>
            <p:nvPr/>
          </p:nvSpPr>
          <p:spPr>
            <a:xfrm>
              <a:off x="609600" y="2476500"/>
              <a:ext cx="5334000" cy="304800"/>
            </a:xfrm>
            <a:prstGeom prst="rect">
              <a:avLst/>
            </a:prstGeom>
            <a:solidFill>
              <a:srgbClr val="EAF4F6"/>
            </a:solidFill>
            <a:ln>
              <a:noFill/>
            </a:ln>
          </p:spPr>
        </p:sp>
        <p:sp>
          <p:nvSpPr>
            <p:cNvPr id="28" name="TextBox 28"/>
            <p:cNvSpPr txBox="1"/>
            <p:nvPr/>
          </p:nvSpPr>
          <p:spPr>
            <a:xfrm>
              <a:off x="756666" y="2572702"/>
              <a:ext cx="70328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macro avg</a:t>
              </a:r>
            </a:p>
          </p:txBody>
        </p:sp>
        <p:sp>
          <p:nvSpPr>
            <p:cNvPr id="29" name="TextBox 29"/>
            <p:cNvSpPr txBox="1"/>
            <p:nvPr/>
          </p:nvSpPr>
          <p:spPr>
            <a:xfrm>
              <a:off x="2566416" y="25727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0.25</a:t>
              </a:r>
            </a:p>
          </p:txBody>
        </p:sp>
        <p:sp>
          <p:nvSpPr>
            <p:cNvPr id="30" name="TextBox 30"/>
            <p:cNvSpPr txBox="1"/>
            <p:nvPr/>
          </p:nvSpPr>
          <p:spPr>
            <a:xfrm>
              <a:off x="3709416" y="25727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0.50</a:t>
              </a:r>
            </a:p>
          </p:txBody>
        </p:sp>
        <p:sp>
          <p:nvSpPr>
            <p:cNvPr id="31" name="TextBox 31"/>
            <p:cNvSpPr txBox="1"/>
            <p:nvPr/>
          </p:nvSpPr>
          <p:spPr>
            <a:xfrm>
              <a:off x="4661916" y="25727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0.33</a:t>
              </a:r>
            </a:p>
          </p:txBody>
        </p:sp>
        <p:sp>
          <p:nvSpPr>
            <p:cNvPr id="32" name="Rectangle 32"/>
            <p:cNvSpPr/>
            <p:nvPr/>
          </p:nvSpPr>
          <p:spPr>
            <a:xfrm>
              <a:off x="609600" y="2781300"/>
              <a:ext cx="5334000" cy="304800"/>
            </a:xfrm>
            <a:prstGeom prst="rect">
              <a:avLst/>
            </a:prstGeom>
            <a:solidFill>
              <a:srgbClr val="FFFFFF"/>
            </a:solidFill>
            <a:ln>
              <a:noFill/>
            </a:ln>
          </p:spPr>
        </p:sp>
        <p:sp>
          <p:nvSpPr>
            <p:cNvPr id="33" name="TextBox 33"/>
            <p:cNvSpPr txBox="1"/>
            <p:nvPr/>
          </p:nvSpPr>
          <p:spPr>
            <a:xfrm>
              <a:off x="756666" y="2877502"/>
              <a:ext cx="90117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weighted avg</a:t>
              </a:r>
            </a:p>
          </p:txBody>
        </p:sp>
        <p:sp>
          <p:nvSpPr>
            <p:cNvPr id="34" name="TextBox 34"/>
            <p:cNvSpPr txBox="1"/>
            <p:nvPr/>
          </p:nvSpPr>
          <p:spPr>
            <a:xfrm>
              <a:off x="2566416" y="28775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0.25</a:t>
              </a:r>
            </a:p>
          </p:txBody>
        </p:sp>
        <p:sp>
          <p:nvSpPr>
            <p:cNvPr id="35" name="TextBox 35"/>
            <p:cNvSpPr txBox="1"/>
            <p:nvPr/>
          </p:nvSpPr>
          <p:spPr>
            <a:xfrm>
              <a:off x="3709416" y="28775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0.50</a:t>
              </a:r>
            </a:p>
          </p:txBody>
        </p:sp>
        <p:sp>
          <p:nvSpPr>
            <p:cNvPr id="36" name="TextBox 36"/>
            <p:cNvSpPr txBox="1"/>
            <p:nvPr/>
          </p:nvSpPr>
          <p:spPr>
            <a:xfrm>
              <a:off x="4661916" y="2877502"/>
              <a:ext cx="3216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0.33</a:t>
              </a:r>
            </a:p>
          </p:txBody>
        </p:sp>
        <p:sp>
          <p:nvSpPr>
            <p:cNvPr id="37" name="TextBox 37"/>
            <p:cNvSpPr txBox="1"/>
            <p:nvPr/>
          </p:nvSpPr>
          <p:spPr>
            <a:xfrm>
              <a:off x="603504" y="3261360"/>
              <a:ext cx="41879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Çok küçük örnek veri kümesiyle model "pozitif" sınıfını</a:t>
              </a:r>
              <a:br/>
              <a:r>
                <a:rPr lang="tr-TR" sz="1200" dirty="0">
                  <a:solidFill>
                    <a:srgbClr val="52616B"/>
                  </a:solidFill>
                  <a:latin typeface="+mn-lt"/>
                  <a:ea typeface="+mn-ea"/>
                  <a:cs typeface="+mn-cs"/>
                </a:rPr>
                <a:t>hiç doğru tahmin edemiyor — gerçek projede çok daha</a:t>
              </a:r>
              <a:br/>
              <a:r>
                <a:rPr lang="tr-TR" sz="1200" dirty="0">
                  <a:solidFill>
                    <a:srgbClr val="52616B"/>
                  </a:solidFill>
                  <a:latin typeface="+mn-lt"/>
                  <a:ea typeface="+mn-ea"/>
                  <a:cs typeface="+mn-cs"/>
                </a:rPr>
                <a:t>fazla etiketli örnek gerekir.</a:t>
              </a:r>
            </a:p>
          </p:txBody>
        </p:sp>
      </p:grpSp>
      <p:grpSp>
        <p:nvGrpSpPr>
          <p:cNvPr id="46" name="explain-block"/>
          <p:cNvGrpSpPr/>
          <p:nvPr/>
        </p:nvGrpSpPr>
        <p:grpSpPr>
          <a:xfrm>
            <a:off x="6248400" y="1219200"/>
            <a:ext cx="5334000" cy="2857500"/>
            <a:chOff x="6248400" y="1219200"/>
            <a:chExt cx="5334000" cy="2857500"/>
          </a:xfrm>
        </p:grpSpPr>
        <p:sp>
          <p:nvSpPr>
            <p:cNvPr id="39" name="Rectangle 39"/>
            <p:cNvSpPr/>
            <p:nvPr/>
          </p:nvSpPr>
          <p:spPr>
            <a:xfrm>
              <a:off x="6248400" y="1219200"/>
              <a:ext cx="5334000" cy="2857500"/>
            </a:xfrm>
            <a:prstGeom prst="roundRect">
              <a:avLst>
                <a:gd name="adj" fmla="val 2667"/>
              </a:avLst>
            </a:prstGeom>
            <a:solidFill>
              <a:srgbClr val="EAF4F6"/>
            </a:solidFill>
            <a:ln>
              <a:noFill/>
            </a:ln>
          </p:spPr>
        </p:sp>
        <p:sp>
          <p:nvSpPr>
            <p:cNvPr id="40" name="TextBox 40"/>
            <p:cNvSpPr txBox="1"/>
            <p:nvPr/>
          </p:nvSpPr>
          <p:spPr>
            <a:xfrm>
              <a:off x="6545199" y="1353979"/>
              <a:ext cx="197709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Metrikleri okumak</a:t>
              </a:r>
            </a:p>
          </p:txBody>
        </p:sp>
        <p:sp>
          <p:nvSpPr>
            <p:cNvPr id="41" name="TextBox 41"/>
            <p:cNvSpPr txBox="1"/>
            <p:nvPr/>
          </p:nvSpPr>
          <p:spPr>
            <a:xfrm>
              <a:off x="6547104" y="1699260"/>
              <a:ext cx="23896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precision: pozitif dediklerimizin</a:t>
              </a:r>
              <a:br/>
              <a:r>
                <a:rPr lang="tr-TR" sz="1200" dirty="0">
                  <a:solidFill>
                    <a:srgbClr val="172B3A"/>
                  </a:solidFill>
                  <a:latin typeface="+mn-lt"/>
                  <a:ea typeface="+mn-ea"/>
                  <a:cs typeface="+mn-cs"/>
                </a:rPr>
                <a:t>kaçı gerçekten pozitif.</a:t>
              </a:r>
            </a:p>
          </p:txBody>
        </p:sp>
        <p:sp>
          <p:nvSpPr>
            <p:cNvPr id="42" name="TextBox 42"/>
            <p:cNvSpPr txBox="1"/>
            <p:nvPr/>
          </p:nvSpPr>
          <p:spPr>
            <a:xfrm>
              <a:off x="6547104" y="2194560"/>
              <a:ext cx="25191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recall: gerçek pozitiflerin kaçını</a:t>
              </a:r>
              <a:br/>
              <a:r>
                <a:rPr lang="tr-TR" sz="1200" dirty="0">
                  <a:solidFill>
                    <a:srgbClr val="172B3A"/>
                  </a:solidFill>
                  <a:latin typeface="+mn-lt"/>
                  <a:ea typeface="+mn-ea"/>
                  <a:cs typeface="+mn-cs"/>
                </a:rPr>
                <a:t>model yakalayabildi.</a:t>
              </a:r>
            </a:p>
          </p:txBody>
        </p:sp>
        <p:sp>
          <p:nvSpPr>
            <p:cNvPr id="43" name="TextBox 43"/>
            <p:cNvSpPr txBox="1"/>
            <p:nvPr/>
          </p:nvSpPr>
          <p:spPr>
            <a:xfrm>
              <a:off x="6547104" y="2689860"/>
              <a:ext cx="30144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f1-score: precision ve recall'ın</a:t>
              </a:r>
              <a:br/>
              <a:r>
                <a:rPr lang="tr-TR" sz="1200" dirty="0">
                  <a:solidFill>
                    <a:srgbClr val="172B3A"/>
                  </a:solidFill>
                  <a:latin typeface="+mn-lt"/>
                  <a:ea typeface="+mn-ea"/>
                  <a:cs typeface="+mn-cs"/>
                </a:rPr>
                <a:t>dengeli ortalaması; dengesiz</a:t>
              </a:r>
              <a:br/>
              <a:r>
                <a:rPr lang="tr-TR" sz="1200" dirty="0">
                  <a:solidFill>
                    <a:srgbClr val="172B3A"/>
                  </a:solidFill>
                  <a:latin typeface="+mn-lt"/>
                  <a:ea typeface="+mn-ea"/>
                  <a:cs typeface="+mn-cs"/>
                </a:rPr>
                <a:t>sınıflarda accuracy'den daha güvenilir.</a:t>
              </a:r>
            </a:p>
          </p:txBody>
        </p:sp>
        <p:sp>
          <p:nvSpPr>
            <p:cNvPr id="44" name="TextBox 44"/>
            <p:cNvSpPr txBox="1"/>
            <p:nvPr/>
          </p:nvSpPr>
          <p:spPr>
            <a:xfrm>
              <a:off x="6547104" y="3489960"/>
              <a:ext cx="326891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accuracy tek başına yanıltıcı olabilir;</a:t>
              </a:r>
            </a:p>
          </p:txBody>
        </p:sp>
        <p:sp>
          <p:nvSpPr>
            <p:cNvPr id="45" name="TextBox 45"/>
            <p:cNvSpPr txBox="1"/>
            <p:nvPr/>
          </p:nvSpPr>
          <p:spPr>
            <a:xfrm>
              <a:off x="6547104" y="3718560"/>
              <a:ext cx="33480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zaman sınıf başına metriklere bakın.</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13719" cy="557403"/>
            <a:chOff x="595122" y="282892"/>
            <a:chExt cx="7813719" cy="557403"/>
          </a:xfrm>
        </p:grpSpPr>
        <p:sp>
          <p:nvSpPr>
            <p:cNvPr id="4" name="TextBox 4"/>
            <p:cNvSpPr txBox="1"/>
            <p:nvPr/>
          </p:nvSpPr>
          <p:spPr>
            <a:xfrm>
              <a:off x="595122" y="282892"/>
              <a:ext cx="781371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Mini uygulama: MusteriYorumuAnalizcisi</a:t>
              </a:r>
            </a:p>
          </p:txBody>
        </p:sp>
      </p:grpSp>
      <p:grpSp>
        <p:nvGrpSpPr>
          <p:cNvPr id="19" name="code-panel"/>
          <p:cNvGrpSpPr/>
          <p:nvPr/>
        </p:nvGrpSpPr>
        <p:grpSpPr>
          <a:xfrm>
            <a:off x="609600" y="1219200"/>
            <a:ext cx="10972800" cy="2857500"/>
            <a:chOff x="609600" y="1219200"/>
            <a:chExt cx="10972800" cy="2857500"/>
          </a:xfrm>
        </p:grpSpPr>
        <p:sp>
          <p:nvSpPr>
            <p:cNvPr id="6" name="Rectangle 6"/>
            <p:cNvSpPr/>
            <p:nvPr/>
          </p:nvSpPr>
          <p:spPr>
            <a:xfrm>
              <a:off x="609600" y="1219200"/>
              <a:ext cx="10972800" cy="2857500"/>
            </a:xfrm>
            <a:prstGeom prst="roundRect">
              <a:avLst>
                <a:gd name="adj" fmla="val 2667"/>
              </a:avLst>
            </a:prstGeom>
            <a:solidFill>
              <a:srgbClr val="12355B"/>
            </a:solidFill>
            <a:ln>
              <a:noFill/>
            </a:ln>
          </p:spPr>
        </p:sp>
        <p:sp>
          <p:nvSpPr>
            <p:cNvPr id="7" name="TextBox 7"/>
            <p:cNvSpPr txBox="1"/>
            <p:nvPr/>
          </p:nvSpPr>
          <p:spPr>
            <a:xfrm>
              <a:off x="908685" y="1345406"/>
              <a:ext cx="251429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class MusteriYorumuAnalizcisi:</a:t>
              </a:r>
            </a:p>
          </p:txBody>
        </p:sp>
        <p:sp>
          <p:nvSpPr>
            <p:cNvPr id="8" name="TextBox 8"/>
            <p:cNvSpPr txBox="1"/>
            <p:nvPr/>
          </p:nvSpPr>
          <p:spPr>
            <a:xfrm>
              <a:off x="1137285" y="1554956"/>
              <a:ext cx="1587022"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__init__(self):</a:t>
              </a:r>
            </a:p>
          </p:txBody>
        </p:sp>
        <p:sp>
          <p:nvSpPr>
            <p:cNvPr id="9" name="TextBox 9"/>
            <p:cNvSpPr txBox="1"/>
            <p:nvPr/>
          </p:nvSpPr>
          <p:spPr>
            <a:xfrm>
              <a:off x="1365885" y="1764506"/>
              <a:ext cx="4757785"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self.boru_hatti = Pipeline([("tfidf", TfidfVectorizer()),</a:t>
              </a:r>
            </a:p>
          </p:txBody>
        </p:sp>
        <p:sp>
          <p:nvSpPr>
            <p:cNvPr id="10" name="TextBox 10"/>
            <p:cNvSpPr txBox="1"/>
            <p:nvPr/>
          </p:nvSpPr>
          <p:spPr>
            <a:xfrm>
              <a:off x="1594485" y="1955006"/>
              <a:ext cx="384041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("model", LogisticRegression(max_iter=1000))])</a:t>
              </a:r>
            </a:p>
          </p:txBody>
        </p:sp>
        <p:sp>
          <p:nvSpPr>
            <p:cNvPr id="11" name="TextBox 11"/>
            <p:cNvSpPr txBox="1"/>
            <p:nvPr/>
          </p:nvSpPr>
          <p:spPr>
            <a:xfrm>
              <a:off x="1137285" y="2202656"/>
              <a:ext cx="2996763"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egit(self, yorumlar, etiketler):</a:t>
              </a:r>
            </a:p>
          </p:txBody>
        </p:sp>
        <p:sp>
          <p:nvSpPr>
            <p:cNvPr id="12" name="TextBox 12"/>
            <p:cNvSpPr txBox="1"/>
            <p:nvPr/>
          </p:nvSpPr>
          <p:spPr>
            <a:xfrm>
              <a:off x="1365885" y="2412206"/>
              <a:ext cx="332846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self.boru_hatti.fit(yorumlar, etiketler)</a:t>
              </a:r>
            </a:p>
          </p:txBody>
        </p:sp>
        <p:sp>
          <p:nvSpPr>
            <p:cNvPr id="13" name="TextBox 13"/>
            <p:cNvSpPr txBox="1"/>
            <p:nvPr/>
          </p:nvSpPr>
          <p:spPr>
            <a:xfrm>
              <a:off x="1137285" y="2659856"/>
              <a:ext cx="2665059"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analiz_et(self, yeni_yorum):</a:t>
              </a:r>
            </a:p>
          </p:txBody>
        </p:sp>
        <p:sp>
          <p:nvSpPr>
            <p:cNvPr id="14" name="TextBox 14"/>
            <p:cNvSpPr txBox="1"/>
            <p:nvPr/>
          </p:nvSpPr>
          <p:spPr>
            <a:xfrm>
              <a:off x="1365885" y="2869406"/>
              <a:ext cx="4074800"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tahmin = self.boru_hatti.predict([yeni_yorum])[0]</a:t>
              </a:r>
            </a:p>
          </p:txBody>
        </p:sp>
        <p:sp>
          <p:nvSpPr>
            <p:cNvPr id="15" name="TextBox 15"/>
            <p:cNvSpPr txBox="1"/>
            <p:nvPr/>
          </p:nvSpPr>
          <p:spPr>
            <a:xfrm>
              <a:off x="1365885" y="3078956"/>
              <a:ext cx="108946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return tahmin</a:t>
              </a:r>
            </a:p>
          </p:txBody>
        </p:sp>
        <p:sp>
          <p:nvSpPr>
            <p:cNvPr id="16" name="TextBox 16"/>
            <p:cNvSpPr txBox="1"/>
            <p:nvPr/>
          </p:nvSpPr>
          <p:spPr>
            <a:xfrm>
              <a:off x="908685" y="3364706"/>
              <a:ext cx="5733318"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cosine_similarity ile en benzer geçmiş şikâyeti bularak yönlendirme</a:t>
              </a:r>
            </a:p>
          </p:txBody>
        </p:sp>
        <p:sp>
          <p:nvSpPr>
            <p:cNvPr id="17" name="TextBox 17"/>
            <p:cNvSpPr txBox="1"/>
            <p:nvPr/>
          </p:nvSpPr>
          <p:spPr>
            <a:xfrm>
              <a:off x="908685" y="3555206"/>
              <a:ext cx="5235763"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Consolas"/>
                  <a:ea typeface="Consolas"/>
                  <a:cs typeface="Consolas"/>
                </a:rPr>
                <a:t># önerisi de eklenebilir (analiz_et içinde ek bir adım olarak).</a:t>
              </a:r>
            </a:p>
          </p:txBody>
        </p:sp>
        <p:sp>
          <p:nvSpPr>
            <p:cNvPr id="18" name="TextBox 18"/>
            <p:cNvSpPr txBox="1"/>
            <p:nvPr/>
          </p:nvSpPr>
          <p:spPr>
            <a:xfrm>
              <a:off x="908304" y="3775710"/>
              <a:ext cx="642744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analizci = MusteriYorumuAnalizcisi(); analizci.egit(yorumlar, etiketler)</a:t>
              </a:r>
            </a:p>
          </p:txBody>
        </p:sp>
      </p:grpSp>
      <p:grpSp>
        <p:nvGrpSpPr>
          <p:cNvPr id="28" name="extend-block"/>
          <p:cNvGrpSpPr/>
          <p:nvPr/>
        </p:nvGrpSpPr>
        <p:grpSpPr>
          <a:xfrm>
            <a:off x="609600" y="4267200"/>
            <a:ext cx="10972800" cy="1905000"/>
            <a:chOff x="609600" y="4267200"/>
            <a:chExt cx="10972800" cy="1905000"/>
          </a:xfrm>
        </p:grpSpPr>
        <p:sp>
          <p:nvSpPr>
            <p:cNvPr id="20" name="Rectangle 20"/>
            <p:cNvSpPr/>
            <p:nvPr/>
          </p:nvSpPr>
          <p:spPr>
            <a:xfrm>
              <a:off x="609600" y="4267200"/>
              <a:ext cx="10972800" cy="1905000"/>
            </a:xfrm>
            <a:prstGeom prst="roundRect">
              <a:avLst>
                <a:gd name="adj" fmla="val 4000"/>
              </a:avLst>
            </a:prstGeom>
            <a:solidFill>
              <a:srgbClr val="EAF4F6"/>
            </a:solidFill>
            <a:ln>
              <a:noFill/>
            </a:ln>
          </p:spPr>
        </p:sp>
        <p:sp>
          <p:nvSpPr>
            <p:cNvPr id="21" name="TextBox 21"/>
            <p:cNvSpPr txBox="1"/>
            <p:nvPr/>
          </p:nvSpPr>
          <p:spPr>
            <a:xfrm>
              <a:off x="906399" y="4401979"/>
              <a:ext cx="24908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programı genişletin</a:t>
              </a:r>
            </a:p>
          </p:txBody>
        </p:sp>
        <p:sp>
          <p:nvSpPr>
            <p:cNvPr id="22" name="Rectangle 22"/>
            <p:cNvSpPr/>
            <p:nvPr/>
          </p:nvSpPr>
          <p:spPr>
            <a:xfrm>
              <a:off x="914400" y="4762500"/>
              <a:ext cx="57150" cy="247650"/>
            </a:xfrm>
            <a:prstGeom prst="rect">
              <a:avLst/>
            </a:prstGeom>
            <a:solidFill>
              <a:srgbClr val="00A6A6"/>
            </a:solidFill>
            <a:ln>
              <a:noFill/>
            </a:ln>
          </p:spPr>
        </p:sp>
        <p:sp>
          <p:nvSpPr>
            <p:cNvPr id="23" name="TextBox 23"/>
            <p:cNvSpPr txBox="1"/>
            <p:nvPr/>
          </p:nvSpPr>
          <p:spPr>
            <a:xfrm>
              <a:off x="1117854" y="4804410"/>
              <a:ext cx="73031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Anonimleştirilmiş bağlam alanları (ürün kategorisi, kanal) ekleyerek tahmin gücünü artırın.</a:t>
              </a:r>
            </a:p>
          </p:txBody>
        </p:sp>
        <p:sp>
          <p:nvSpPr>
            <p:cNvPr id="24" name="Rectangle 24"/>
            <p:cNvSpPr/>
            <p:nvPr/>
          </p:nvSpPr>
          <p:spPr>
            <a:xfrm>
              <a:off x="914400" y="5105400"/>
              <a:ext cx="57150" cy="247650"/>
            </a:xfrm>
            <a:prstGeom prst="rect">
              <a:avLst/>
            </a:prstGeom>
            <a:solidFill>
              <a:srgbClr val="00A6A6"/>
            </a:solidFill>
            <a:ln>
              <a:noFill/>
            </a:ln>
          </p:spPr>
        </p:sp>
        <p:sp>
          <p:nvSpPr>
            <p:cNvPr id="25" name="TextBox 25"/>
            <p:cNvSpPr txBox="1"/>
            <p:nvPr/>
          </p:nvSpPr>
          <p:spPr>
            <a:xfrm>
              <a:off x="1117854" y="5147310"/>
              <a:ext cx="727893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 sınıfı üçe çıkarın (olumlu/nötr/olumsuz) ve sınıf dengesizliğini yeniden değerlendirin.</a:t>
              </a:r>
            </a:p>
          </p:txBody>
        </p:sp>
        <p:sp>
          <p:nvSpPr>
            <p:cNvPr id="26" name="Rectangle 26"/>
            <p:cNvSpPr/>
            <p:nvPr/>
          </p:nvSpPr>
          <p:spPr>
            <a:xfrm>
              <a:off x="914400" y="5448300"/>
              <a:ext cx="57150" cy="247650"/>
            </a:xfrm>
            <a:prstGeom prst="rect">
              <a:avLst/>
            </a:prstGeom>
            <a:solidFill>
              <a:srgbClr val="00A6A6"/>
            </a:solidFill>
            <a:ln>
              <a:noFill/>
            </a:ln>
          </p:spPr>
        </p:sp>
        <p:sp>
          <p:nvSpPr>
            <p:cNvPr id="27" name="TextBox 27"/>
            <p:cNvSpPr txBox="1"/>
            <p:nvPr/>
          </p:nvSpPr>
          <p:spPr>
            <a:xfrm>
              <a:off x="1117854" y="5490210"/>
              <a:ext cx="60993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metriklerini ve sürüm bilgisini raporlayan bir günlükleme adımı ekleyin.</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506615" cy="668845"/>
            <a:chOff x="609600" y="171450"/>
            <a:chExt cx="5506615"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48162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Alıştırma: hatayı bulun</a:t>
              </a:r>
            </a:p>
          </p:txBody>
        </p:sp>
      </p:grpSp>
      <p:grpSp>
        <p:nvGrpSpPr>
          <p:cNvPr id="25" name="wrong-panel"/>
          <p:cNvGrpSpPr/>
          <p:nvPr/>
        </p:nvGrpSpPr>
        <p:grpSpPr>
          <a:xfrm>
            <a:off x="609600" y="1219200"/>
            <a:ext cx="5334000" cy="3619500"/>
            <a:chOff x="609600" y="1219200"/>
            <a:chExt cx="5334000" cy="3619500"/>
          </a:xfrm>
        </p:grpSpPr>
        <p:sp>
          <p:nvSpPr>
            <p:cNvPr id="12" name="Rectangle 12"/>
            <p:cNvSpPr/>
            <p:nvPr/>
          </p:nvSpPr>
          <p:spPr>
            <a:xfrm>
              <a:off x="609600" y="1219200"/>
              <a:ext cx="5334000" cy="3619500"/>
            </a:xfrm>
            <a:prstGeom prst="roundRect">
              <a:avLst>
                <a:gd name="adj" fmla="val 2105"/>
              </a:avLst>
            </a:prstGeom>
            <a:solidFill>
              <a:srgbClr val="FFFFFF"/>
            </a:solidFill>
            <a:ln w="14288">
              <a:solidFill>
                <a:srgbClr val="B8CBD3"/>
              </a:solidFill>
            </a:ln>
          </p:spPr>
        </p:sp>
        <p:sp>
          <p:nvSpPr>
            <p:cNvPr id="13" name="TextBox 13"/>
            <p:cNvSpPr txBox="1"/>
            <p:nvPr/>
          </p:nvSpPr>
          <p:spPr>
            <a:xfrm>
              <a:off x="906399" y="1353979"/>
              <a:ext cx="199617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DuyguHata.python</a:t>
              </a:r>
            </a:p>
          </p:txBody>
        </p:sp>
        <p:sp>
          <p:nvSpPr>
            <p:cNvPr id="14" name="Rectangle 14"/>
            <p:cNvSpPr/>
            <p:nvPr/>
          </p:nvSpPr>
          <p:spPr>
            <a:xfrm>
              <a:off x="914400" y="1714500"/>
              <a:ext cx="4724400" cy="2095500"/>
            </a:xfrm>
            <a:prstGeom prst="roundRect">
              <a:avLst>
                <a:gd name="adj" fmla="val 2727"/>
              </a:avLst>
            </a:prstGeom>
            <a:solidFill>
              <a:srgbClr val="12355B"/>
            </a:solidFill>
            <a:ln>
              <a:noFill/>
            </a:ln>
          </p:spPr>
        </p:sp>
        <p:sp>
          <p:nvSpPr>
            <p:cNvPr id="15" name="TextBox 15"/>
            <p:cNvSpPr txBox="1"/>
            <p:nvPr/>
          </p:nvSpPr>
          <p:spPr>
            <a:xfrm>
              <a:off x="1061466" y="1848802"/>
              <a:ext cx="249844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yorumlar = "iyi", "kötü", "orta"</a:t>
              </a:r>
            </a:p>
          </p:txBody>
        </p:sp>
        <p:sp>
          <p:nvSpPr>
            <p:cNvPr id="16" name="TextBox 16"/>
            <p:cNvSpPr txBox="1"/>
            <p:nvPr/>
          </p:nvSpPr>
          <p:spPr>
            <a:xfrm>
              <a:off x="1061466" y="2058352"/>
              <a:ext cx="274194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vektorlestirici = TfidfVectorizer()</a:t>
              </a:r>
            </a:p>
          </p:txBody>
        </p:sp>
        <p:sp>
          <p:nvSpPr>
            <p:cNvPr id="17" name="TextBox 17"/>
            <p:cNvSpPr txBox="1"/>
            <p:nvPr/>
          </p:nvSpPr>
          <p:spPr>
            <a:xfrm>
              <a:off x="1061466" y="2267902"/>
              <a:ext cx="3275876"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matris = vektorlestirici.fit_transform("")</a:t>
              </a:r>
            </a:p>
          </p:txBody>
        </p:sp>
        <p:sp>
          <p:nvSpPr>
            <p:cNvPr id="18" name="TextBox 18"/>
            <p:cNvSpPr txBox="1"/>
            <p:nvPr/>
          </p:nvSpPr>
          <p:spPr>
            <a:xfrm>
              <a:off x="1061466" y="2477452"/>
              <a:ext cx="218747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model.fit(matris, etiketler)</a:t>
              </a:r>
            </a:p>
          </p:txBody>
        </p:sp>
        <p:sp>
          <p:nvSpPr>
            <p:cNvPr id="19" name="TextBox 19"/>
            <p:cNvSpPr txBox="1"/>
            <p:nvPr/>
          </p:nvSpPr>
          <p:spPr>
            <a:xfrm>
              <a:off x="1061466" y="2687002"/>
              <a:ext cx="2576189"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tahmin = model.predict(matris[5])</a:t>
              </a:r>
            </a:p>
          </p:txBody>
        </p:sp>
        <p:sp>
          <p:nvSpPr>
            <p:cNvPr id="20" name="TextBox 20"/>
            <p:cNvSpPr txBox="1"/>
            <p:nvPr/>
          </p:nvSpPr>
          <p:spPr>
            <a:xfrm>
              <a:off x="1061466" y="2896552"/>
              <a:ext cx="2342960"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stop_words = kullanici_listesi</a:t>
              </a:r>
            </a:p>
          </p:txBody>
        </p:sp>
        <p:sp>
          <p:nvSpPr>
            <p:cNvPr id="21" name="TextBox 21"/>
            <p:cNvSpPr txBox="1"/>
            <p:nvPr/>
          </p:nvSpPr>
          <p:spPr>
            <a:xfrm>
              <a:off x="1061466" y="3106102"/>
              <a:ext cx="2975039"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TfidfVectorizer(stop_words=stop_words)</a:t>
              </a:r>
            </a:p>
          </p:txBody>
        </p:sp>
        <p:sp>
          <p:nvSpPr>
            <p:cNvPr id="22" name="TextBox 22"/>
            <p:cNvSpPr txBox="1"/>
            <p:nvPr/>
          </p:nvSpPr>
          <p:spPr>
            <a:xfrm>
              <a:off x="908304" y="3909060"/>
              <a:ext cx="36953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 hata: demet yerine liste gerekir; boş dizeyle</a:t>
              </a:r>
            </a:p>
          </p:txBody>
        </p:sp>
        <p:sp>
          <p:nvSpPr>
            <p:cNvPr id="23" name="TextBox 23"/>
            <p:cNvSpPr txBox="1"/>
            <p:nvPr/>
          </p:nvSpPr>
          <p:spPr>
            <a:xfrm>
              <a:off x="908304" y="4137660"/>
              <a:ext cx="47535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fit_transform çağrılmış; index sınır dışı; doğrulanmamış</a:t>
              </a:r>
            </a:p>
          </p:txBody>
        </p:sp>
        <p:sp>
          <p:nvSpPr>
            <p:cNvPr id="24" name="TextBox 24"/>
            <p:cNvSpPr txBox="1"/>
            <p:nvPr/>
          </p:nvSpPr>
          <p:spPr>
            <a:xfrm>
              <a:off x="908304" y="4366260"/>
              <a:ext cx="35580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stop-word listesi anlamlı kelimeleri silebilir.</a:t>
              </a:r>
            </a:p>
          </p:txBody>
        </p:sp>
      </p:grpSp>
      <p:grpSp>
        <p:nvGrpSpPr>
          <p:cNvPr id="39" name="right-panel"/>
          <p:cNvGrpSpPr/>
          <p:nvPr/>
        </p:nvGrpSpPr>
        <p:grpSpPr>
          <a:xfrm>
            <a:off x="6248400" y="1219200"/>
            <a:ext cx="5334000" cy="3619500"/>
            <a:chOff x="6248400" y="1219200"/>
            <a:chExt cx="5334000" cy="3619500"/>
          </a:xfrm>
        </p:grpSpPr>
        <p:sp>
          <p:nvSpPr>
            <p:cNvPr id="26" name="Rectangle 26"/>
            <p:cNvSpPr/>
            <p:nvPr/>
          </p:nvSpPr>
          <p:spPr>
            <a:xfrm>
              <a:off x="6248400" y="1219200"/>
              <a:ext cx="5334000" cy="3619500"/>
            </a:xfrm>
            <a:prstGeom prst="roundRect">
              <a:avLst>
                <a:gd name="adj" fmla="val 2105"/>
              </a:avLst>
            </a:prstGeom>
            <a:solidFill>
              <a:srgbClr val="EAF4F6"/>
            </a:solidFill>
            <a:ln w="14288">
              <a:solidFill>
                <a:srgbClr val="00A6A6"/>
              </a:solidFill>
            </a:ln>
          </p:spPr>
        </p:sp>
        <p:sp>
          <p:nvSpPr>
            <p:cNvPr id="27" name="TextBox 27"/>
            <p:cNvSpPr txBox="1"/>
            <p:nvPr/>
          </p:nvSpPr>
          <p:spPr>
            <a:xfrm>
              <a:off x="6545199" y="1353979"/>
              <a:ext cx="250838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DuyguDuzeltildi.python</a:t>
              </a:r>
            </a:p>
          </p:txBody>
        </p:sp>
        <p:sp>
          <p:nvSpPr>
            <p:cNvPr id="28" name="Rectangle 28"/>
            <p:cNvSpPr/>
            <p:nvPr/>
          </p:nvSpPr>
          <p:spPr>
            <a:xfrm>
              <a:off x="6553200" y="1714500"/>
              <a:ext cx="4724400" cy="2095500"/>
            </a:xfrm>
            <a:prstGeom prst="roundRect">
              <a:avLst>
                <a:gd name="adj" fmla="val 2727"/>
              </a:avLst>
            </a:prstGeom>
            <a:solidFill>
              <a:srgbClr val="12355B"/>
            </a:solidFill>
            <a:ln>
              <a:noFill/>
            </a:ln>
          </p:spPr>
        </p:sp>
        <p:sp>
          <p:nvSpPr>
            <p:cNvPr id="29" name="TextBox 29"/>
            <p:cNvSpPr txBox="1"/>
            <p:nvPr/>
          </p:nvSpPr>
          <p:spPr>
            <a:xfrm>
              <a:off x="6700266" y="1848802"/>
              <a:ext cx="2653932"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yorumlar = ["iyi", "kötü", "orta"]</a:t>
              </a:r>
            </a:p>
          </p:txBody>
        </p:sp>
        <p:sp>
          <p:nvSpPr>
            <p:cNvPr id="30" name="TextBox 30"/>
            <p:cNvSpPr txBox="1"/>
            <p:nvPr/>
          </p:nvSpPr>
          <p:spPr>
            <a:xfrm>
              <a:off x="6700266" y="2058352"/>
              <a:ext cx="274194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vektorlestirici = TfidfVectorizer()</a:t>
              </a:r>
            </a:p>
          </p:txBody>
        </p:sp>
        <p:sp>
          <p:nvSpPr>
            <p:cNvPr id="31" name="TextBox 31"/>
            <p:cNvSpPr txBox="1"/>
            <p:nvPr/>
          </p:nvSpPr>
          <p:spPr>
            <a:xfrm>
              <a:off x="6700266" y="2267902"/>
              <a:ext cx="3742334"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matris = vektorlestirici.fit_transform(yorumlar)</a:t>
              </a:r>
            </a:p>
          </p:txBody>
        </p:sp>
        <p:sp>
          <p:nvSpPr>
            <p:cNvPr id="32" name="TextBox 32"/>
            <p:cNvSpPr txBox="1"/>
            <p:nvPr/>
          </p:nvSpPr>
          <p:spPr>
            <a:xfrm>
              <a:off x="6700266" y="2477452"/>
              <a:ext cx="218747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model.fit(matris, etiketler)</a:t>
              </a:r>
            </a:p>
          </p:txBody>
        </p:sp>
        <p:sp>
          <p:nvSpPr>
            <p:cNvPr id="33" name="TextBox 33"/>
            <p:cNvSpPr txBox="1"/>
            <p:nvPr/>
          </p:nvSpPr>
          <p:spPr>
            <a:xfrm>
              <a:off x="6700266" y="2687002"/>
              <a:ext cx="2731675"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tahmin = model.predict(matris[0:1])</a:t>
              </a:r>
            </a:p>
          </p:txBody>
        </p:sp>
        <p:sp>
          <p:nvSpPr>
            <p:cNvPr id="34" name="TextBox 34"/>
            <p:cNvSpPr txBox="1"/>
            <p:nvPr/>
          </p:nvSpPr>
          <p:spPr>
            <a:xfrm>
              <a:off x="6700266" y="2896552"/>
              <a:ext cx="3671263"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stop_words = "english" if dil == "en" else None</a:t>
              </a:r>
            </a:p>
          </p:txBody>
        </p:sp>
        <p:sp>
          <p:nvSpPr>
            <p:cNvPr id="35" name="TextBox 35"/>
            <p:cNvSpPr txBox="1"/>
            <p:nvPr/>
          </p:nvSpPr>
          <p:spPr>
            <a:xfrm>
              <a:off x="6700266" y="3106102"/>
              <a:ext cx="2975039" cy="205359"/>
            </a:xfrm>
            <a:prstGeom prst="rect">
              <a:avLst/>
            </a:prstGeom>
            <a:noFill/>
            <a:ln>
              <a:noFill/>
            </a:ln>
          </p:spPr>
          <p:txBody>
            <a:bodyPr wrap="none" lIns="0" tIns="0" rIns="0" bIns="0" anchor="t" anchorCtr="0">
              <a:spAutoFit/>
            </a:bodyPr>
            <a:lstStyle/>
            <a:p>
              <a:pPr algn="l"/>
              <a:r>
                <a:rPr lang="tr-TR" sz="1050" dirty="0">
                  <a:solidFill>
                    <a:srgbClr val="FFFFFF"/>
                  </a:solidFill>
                  <a:latin typeface="Consolas"/>
                  <a:ea typeface="Consolas"/>
                  <a:cs typeface="Consolas"/>
                </a:rPr>
                <a:t>TfidfVectorizer(stop_words=stop_words)</a:t>
              </a:r>
            </a:p>
          </p:txBody>
        </p:sp>
        <p:sp>
          <p:nvSpPr>
            <p:cNvPr id="36" name="TextBox 36"/>
            <p:cNvSpPr txBox="1"/>
            <p:nvPr/>
          </p:nvSpPr>
          <p:spPr>
            <a:xfrm>
              <a:off x="6547104" y="3909060"/>
              <a:ext cx="43744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Sorular: Liste/demet farkı neden hata verir? Boş girdi</a:t>
              </a:r>
            </a:p>
          </p:txBody>
        </p:sp>
        <p:sp>
          <p:nvSpPr>
            <p:cNvPr id="37" name="TextBox 37"/>
            <p:cNvSpPr txBox="1"/>
            <p:nvPr/>
          </p:nvSpPr>
          <p:spPr>
            <a:xfrm>
              <a:off x="6547104" y="4137660"/>
              <a:ext cx="45248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fit_transform'a neden verilemez? Sınır dışı index nasıl</a:t>
              </a:r>
            </a:p>
          </p:txBody>
        </p:sp>
        <p:sp>
          <p:nvSpPr>
            <p:cNvPr id="38" name="TextBox 38"/>
            <p:cNvSpPr txBox="1"/>
            <p:nvPr/>
          </p:nvSpPr>
          <p:spPr>
            <a:xfrm>
              <a:off x="6547104" y="4366260"/>
              <a:ext cx="40965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önlenir? Türkçe stop-word listesi nasıl doğrulanır?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648516" cy="668845"/>
            <a:chOff x="609600" y="171450"/>
            <a:chExt cx="864851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9581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Gerçek dünya tuzakları ve hata yönetimi</a:t>
              </a:r>
            </a:p>
          </p:txBody>
        </p:sp>
      </p:grpSp>
      <p:grpSp>
        <p:nvGrpSpPr>
          <p:cNvPr id="14" name="diktat-block"/>
          <p:cNvGrpSpPr/>
          <p:nvPr/>
        </p:nvGrpSpPr>
        <p:grpSpPr>
          <a:xfrm>
            <a:off x="609600" y="1219200"/>
            <a:ext cx="10972800" cy="476250"/>
            <a:chOff x="609600" y="1219200"/>
            <a:chExt cx="10972800" cy="476250"/>
          </a:xfrm>
        </p:grpSpPr>
        <p:sp>
          <p:nvSpPr>
            <p:cNvPr id="12" name="Rectangle 12"/>
            <p:cNvSpPr/>
            <p:nvPr/>
          </p:nvSpPr>
          <p:spPr>
            <a:xfrm>
              <a:off x="609600" y="1219200"/>
              <a:ext cx="10972800" cy="476250"/>
            </a:xfrm>
            <a:prstGeom prst="roundRect">
              <a:avLst>
                <a:gd name="adj" fmla="val 16000"/>
              </a:avLst>
            </a:prstGeom>
            <a:solidFill>
              <a:srgbClr val="12355B"/>
            </a:solidFill>
            <a:ln>
              <a:noFill/>
            </a:ln>
          </p:spPr>
        </p:sp>
        <p:sp>
          <p:nvSpPr>
            <p:cNvPr id="13" name="TextBox 13"/>
            <p:cNvSpPr txBox="1"/>
            <p:nvPr/>
          </p:nvSpPr>
          <p:spPr>
            <a:xfrm>
              <a:off x="3476783" y="1353979"/>
              <a:ext cx="5238433"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"Duygu etiketi, müşteri kaybı etiketi değildir."</a:t>
              </a:r>
            </a:p>
          </p:txBody>
        </p:sp>
      </p:grpSp>
      <p:grpSp>
        <p:nvGrpSpPr>
          <p:cNvPr id="18" name="pitfall-header"/>
          <p:cNvGrpSpPr/>
          <p:nvPr/>
        </p:nvGrpSpPr>
        <p:grpSpPr>
          <a:xfrm>
            <a:off x="609600" y="1809750"/>
            <a:ext cx="10972800" cy="323850"/>
            <a:chOff x="609600" y="1809750"/>
            <a:chExt cx="10972800" cy="323850"/>
          </a:xfrm>
        </p:grpSpPr>
        <p:sp>
          <p:nvSpPr>
            <p:cNvPr id="15" name="Rectangle 15"/>
            <p:cNvSpPr/>
            <p:nvPr/>
          </p:nvSpPr>
          <p:spPr>
            <a:xfrm>
              <a:off x="609600" y="1809750"/>
              <a:ext cx="10972800" cy="323850"/>
            </a:xfrm>
            <a:prstGeom prst="rect">
              <a:avLst/>
            </a:prstGeom>
            <a:solidFill>
              <a:srgbClr val="12355B"/>
            </a:solidFill>
            <a:ln>
              <a:noFill/>
            </a:ln>
          </p:spPr>
        </p:sp>
        <p:sp>
          <p:nvSpPr>
            <p:cNvPr id="16" name="TextBox 16"/>
            <p:cNvSpPr txBox="1"/>
            <p:nvPr/>
          </p:nvSpPr>
          <p:spPr>
            <a:xfrm>
              <a:off x="756666" y="190595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TUZAK</a:t>
              </a:r>
            </a:p>
          </p:txBody>
        </p:sp>
        <p:sp>
          <p:nvSpPr>
            <p:cNvPr id="17" name="TextBox 17"/>
            <p:cNvSpPr txBox="1"/>
            <p:nvPr/>
          </p:nvSpPr>
          <p:spPr>
            <a:xfrm>
              <a:off x="3995166" y="1905952"/>
              <a:ext cx="38767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RİSK</a:t>
              </a:r>
            </a:p>
          </p:txBody>
        </p:sp>
      </p:grpSp>
      <p:grpSp>
        <p:nvGrpSpPr>
          <p:cNvPr id="35" name="pitfall-rows"/>
          <p:cNvGrpSpPr/>
          <p:nvPr/>
        </p:nvGrpSpPr>
        <p:grpSpPr>
          <a:xfrm>
            <a:off x="609600" y="2270760"/>
            <a:ext cx="10972800" cy="2787396"/>
            <a:chOff x="609600" y="2270760"/>
            <a:chExt cx="10972800" cy="2787396"/>
          </a:xfrm>
        </p:grpSpPr>
        <p:sp>
          <p:nvSpPr>
            <p:cNvPr id="19" name="TextBox 19"/>
            <p:cNvSpPr txBox="1"/>
            <p:nvPr/>
          </p:nvSpPr>
          <p:spPr>
            <a:xfrm>
              <a:off x="755904" y="22707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Veri sızıntısı</a:t>
              </a:r>
            </a:p>
          </p:txBody>
        </p:sp>
        <p:sp>
          <p:nvSpPr>
            <p:cNvPr id="20" name="TextBox 20"/>
            <p:cNvSpPr txBox="1"/>
            <p:nvPr/>
          </p:nvSpPr>
          <p:spPr>
            <a:xfrm>
              <a:off x="3994404" y="2270760"/>
              <a:ext cx="63740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Vektörleştiriciyi tüm veride fit etmek test performansını yapay şekilde şişirir.</a:t>
              </a:r>
            </a:p>
          </p:txBody>
        </p:sp>
        <p:sp>
          <p:nvSpPr>
            <p:cNvPr id="21" name="Line 21"/>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2" name="TextBox 22"/>
            <p:cNvSpPr txBox="1"/>
            <p:nvPr/>
          </p:nvSpPr>
          <p:spPr>
            <a:xfrm>
              <a:off x="755904" y="2670810"/>
              <a:ext cx="14843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Sınıf dengesizliği</a:t>
              </a:r>
            </a:p>
          </p:txBody>
        </p:sp>
        <p:sp>
          <p:nvSpPr>
            <p:cNvPr id="23" name="TextBox 23"/>
            <p:cNvSpPr txBox="1"/>
            <p:nvPr/>
          </p:nvSpPr>
          <p:spPr>
            <a:xfrm>
              <a:off x="3994404" y="2670810"/>
              <a:ext cx="58088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 örnekli sınıf gözden kaybolur; accuracy yanıltıcı yüksek görünebilir.</a:t>
              </a:r>
            </a:p>
          </p:txBody>
        </p:sp>
        <p:sp>
          <p:nvSpPr>
            <p:cNvPr id="24" name="Line 24"/>
            <p:cNvSpPr/>
            <p:nvPr/>
          </p:nvSpPr>
          <p:spPr>
            <a:xfrm>
              <a:off x="609600" y="29337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5" name="TextBox 25"/>
            <p:cNvSpPr txBox="1"/>
            <p:nvPr/>
          </p:nvSpPr>
          <p:spPr>
            <a:xfrm>
              <a:off x="755904" y="3070860"/>
              <a:ext cx="105220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Türkçe ekler</a:t>
              </a:r>
            </a:p>
          </p:txBody>
        </p:sp>
        <p:sp>
          <p:nvSpPr>
            <p:cNvPr id="26" name="TextBox 26"/>
            <p:cNvSpPr txBox="1"/>
            <p:nvPr/>
          </p:nvSpPr>
          <p:spPr>
            <a:xfrm>
              <a:off x="3994404" y="3070860"/>
              <a:ext cx="64791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kökün farklı çekimleri ayrı özellik sayılır; kök/gövde indirgeme gerekebilir.</a:t>
              </a:r>
            </a:p>
          </p:txBody>
        </p:sp>
        <p:sp>
          <p:nvSpPr>
            <p:cNvPr id="27" name="Line 27"/>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8" name="TextBox 28"/>
            <p:cNvSpPr txBox="1"/>
            <p:nvPr/>
          </p:nvSpPr>
          <p:spPr>
            <a:xfrm>
              <a:off x="755904" y="3470910"/>
              <a:ext cx="92433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Kişisel veri</a:t>
              </a:r>
            </a:p>
          </p:txBody>
        </p:sp>
        <p:sp>
          <p:nvSpPr>
            <p:cNvPr id="29" name="TextBox 29"/>
            <p:cNvSpPr txBox="1"/>
            <p:nvPr/>
          </p:nvSpPr>
          <p:spPr>
            <a:xfrm>
              <a:off x="3994404" y="3470910"/>
              <a:ext cx="58655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Yorumlarda ad, adres, sipariş no geçebilir; işlenmeden önce maskelenmeli.</a:t>
              </a:r>
            </a:p>
          </p:txBody>
        </p:sp>
        <p:sp>
          <p:nvSpPr>
            <p:cNvPr id="30" name="Line 30"/>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1" name="TextBox 31"/>
            <p:cNvSpPr txBox="1"/>
            <p:nvPr/>
          </p:nvSpPr>
          <p:spPr>
            <a:xfrm>
              <a:off x="755904" y="3870960"/>
              <a:ext cx="127285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Sözlük kayması</a:t>
              </a:r>
            </a:p>
          </p:txBody>
        </p:sp>
        <p:sp>
          <p:nvSpPr>
            <p:cNvPr id="32" name="TextBox 32"/>
            <p:cNvSpPr txBox="1"/>
            <p:nvPr/>
          </p:nvSpPr>
          <p:spPr>
            <a:xfrm>
              <a:off x="3994404" y="3870960"/>
              <a:ext cx="61963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ürün/terimler zamanla sözlüğü eskitir; model periyodik yeniden eğitilmeli.</a:t>
              </a:r>
            </a:p>
          </p:txBody>
        </p:sp>
        <p:sp>
          <p:nvSpPr>
            <p:cNvPr id="33" name="Line 33"/>
            <p:cNvSpPr/>
            <p:nvPr/>
          </p:nvSpPr>
          <p:spPr>
            <a:xfrm>
              <a:off x="609600" y="413385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4" name="TextBox 34"/>
            <p:cNvSpPr txBox="1"/>
            <p:nvPr/>
          </p:nvSpPr>
          <p:spPr>
            <a:xfrm>
              <a:off x="755904" y="4632960"/>
              <a:ext cx="6199632" cy="425196"/>
            </a:xfrm>
            <a:prstGeom prst="rect">
              <a:avLst/>
            </a:prstGeom>
            <a:noFill/>
            <a:ln>
              <a:noFill/>
            </a:ln>
          </p:spPr>
          <p:txBody>
            <a:bodyPr wrap="none" lIns="0" tIns="0" rIns="0" bIns="0" anchor="t" anchorCtr="0">
              <a:spAutoFit/>
            </a:bodyPr>
            <a:lstStyle/>
            <a:p>
              <a:pPr algn="l">
                <a:lnSpc>
                  <a:spcPts val="1500"/>
                </a:lnSpc>
              </a:pPr>
              <a:r>
                <a:rPr lang="tr-TR" sz="1200" i="1" dirty="0">
                  <a:solidFill>
                    <a:srgbClr val="172B3A"/>
                  </a:solidFill>
                  <a:latin typeface="+mn-lt"/>
                  <a:ea typeface="+mn-ea"/>
                  <a:cs typeface="+mn-cs"/>
                </a:rPr>
                <a:t>"Model çalıştı" — çıktı üretmesi, kararın doğru veya adil olduğu anlamına gelmez;</a:t>
              </a:r>
              <a:br/>
              <a:r>
                <a:rPr lang="tr-TR" sz="1200" i="1" dirty="0">
                  <a:solidFill>
                    <a:srgbClr val="172B3A"/>
                  </a:solidFill>
                  <a:latin typeface="+mn-lt"/>
                  <a:ea typeface="+mn-ea"/>
                  <a:cs typeface="+mn-cs"/>
                </a:rPr>
                <a:t>her tahmin bir insan tarafından örnekleme ile doğrulanmalıdır.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258697" cy="668845"/>
            <a:chOff x="609600" y="171450"/>
            <a:chExt cx="725869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5683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ve varsayımlar</a:t>
              </a:r>
            </a:p>
          </p:txBody>
        </p:sp>
      </p:grpSp>
      <p:grpSp>
        <p:nvGrpSpPr>
          <p:cNvPr id="16" name="assumption-block"/>
          <p:cNvGrpSpPr/>
          <p:nvPr/>
        </p:nvGrpSpPr>
        <p:grpSpPr>
          <a:xfrm>
            <a:off x="609600" y="1219200"/>
            <a:ext cx="7031736" cy="981456"/>
            <a:chOff x="609600" y="1219200"/>
            <a:chExt cx="7031736" cy="981456"/>
          </a:xfrm>
        </p:grpSpPr>
        <p:sp>
          <p:nvSpPr>
            <p:cNvPr id="13" name="Rectangle 13"/>
            <p:cNvSpPr/>
            <p:nvPr/>
          </p:nvSpPr>
          <p:spPr>
            <a:xfrm>
              <a:off x="609600" y="1219200"/>
              <a:ext cx="57150" cy="895350"/>
            </a:xfrm>
            <a:prstGeom prst="rect">
              <a:avLst/>
            </a:prstGeom>
            <a:solidFill>
              <a:srgbClr val="00A6A6"/>
            </a:solidFill>
            <a:ln>
              <a:noFill/>
            </a:ln>
          </p:spPr>
        </p:sp>
        <p:sp>
          <p:nvSpPr>
            <p:cNvPr id="14" name="TextBox 14"/>
            <p:cNvSpPr txBox="1"/>
            <p:nvPr/>
          </p:nvSpPr>
          <p:spPr>
            <a:xfrm>
              <a:off x="906399" y="1277779"/>
              <a:ext cx="17207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Temel varsayım</a:t>
              </a:r>
            </a:p>
          </p:txBody>
        </p:sp>
        <p:sp>
          <p:nvSpPr>
            <p:cNvPr id="15" name="TextBox 15"/>
            <p:cNvSpPr txBox="1"/>
            <p:nvPr/>
          </p:nvSpPr>
          <p:spPr>
            <a:xfrm>
              <a:off x="908304" y="1584960"/>
              <a:ext cx="67330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Bag-of-Words ve TF-IDF, "kelimelerin bağımsız ve sırasız geçtiği" varsayımına dayanır;</a:t>
              </a:r>
              <a:br/>
              <a:r>
                <a:rPr lang="tr-TR" sz="1200" dirty="0">
                  <a:solidFill>
                    <a:srgbClr val="172B3A"/>
                  </a:solidFill>
                  <a:latin typeface="+mn-lt"/>
                  <a:ea typeface="+mn-ea"/>
                  <a:cs typeface="+mn-cs"/>
                </a:rPr>
                <a:t>bu basitleştirme hesaplamayı kolaylaştırır ama söz dizimini ve bağlamı yok sayar —</a:t>
              </a:r>
              <a:br/>
              <a:r>
                <a:rPr lang="tr-TR" sz="1200" dirty="0">
                  <a:solidFill>
                    <a:srgbClr val="172B3A"/>
                  </a:solidFill>
                  <a:latin typeface="+mn-lt"/>
                  <a:ea typeface="+mn-ea"/>
                  <a:cs typeface="+mn-cs"/>
                </a:rPr>
                <a:t>yöntem seçerken bu varsayımın sonucu ne kadar etkilediği değerlendirilmelidir.</a:t>
              </a:r>
            </a:p>
          </p:txBody>
        </p:sp>
      </p:grpSp>
      <p:grpSp>
        <p:nvGrpSpPr>
          <p:cNvPr id="21" name="formula-block"/>
          <p:cNvGrpSpPr/>
          <p:nvPr/>
        </p:nvGrpSpPr>
        <p:grpSpPr>
          <a:xfrm>
            <a:off x="609600" y="2495550"/>
            <a:ext cx="10972800" cy="1238250"/>
            <a:chOff x="609600" y="2495550"/>
            <a:chExt cx="10972800" cy="1238250"/>
          </a:xfrm>
        </p:grpSpPr>
        <p:sp>
          <p:nvSpPr>
            <p:cNvPr id="17" name="Rectangle 17"/>
            <p:cNvSpPr/>
            <p:nvPr/>
          </p:nvSpPr>
          <p:spPr>
            <a:xfrm>
              <a:off x="609600" y="2495550"/>
              <a:ext cx="10972800" cy="1238250"/>
            </a:xfrm>
            <a:prstGeom prst="roundRect">
              <a:avLst>
                <a:gd name="adj" fmla="val 7692"/>
              </a:avLst>
            </a:prstGeom>
            <a:solidFill>
              <a:srgbClr val="12355B"/>
            </a:solidFill>
            <a:ln>
              <a:noFill/>
            </a:ln>
          </p:spPr>
        </p:sp>
        <p:sp>
          <p:nvSpPr>
            <p:cNvPr id="18" name="TextBox 18"/>
            <p:cNvSpPr txBox="1"/>
            <p:nvPr/>
          </p:nvSpPr>
          <p:spPr>
            <a:xfrm>
              <a:off x="905256" y="2663190"/>
              <a:ext cx="6539463" cy="352044"/>
            </a:xfrm>
            <a:prstGeom prst="rect">
              <a:avLst/>
            </a:prstGeom>
            <a:noFill/>
            <a:ln>
              <a:noFill/>
            </a:ln>
          </p:spPr>
          <p:txBody>
            <a:bodyPr wrap="none" lIns="0" tIns="0" rIns="0" bIns="0" anchor="t" anchorCtr="0">
              <a:spAutoFit/>
            </a:bodyPr>
            <a:lstStyle/>
            <a:p>
              <a:pPr algn="l"/>
              <a:r>
                <a:rPr lang="tr-TR" sz="1800" b="1" i="1" dirty="0">
                  <a:solidFill>
                    <a:srgbClr val="FFFFFF"/>
                  </a:solidFill>
                  <a:latin typeface="+mn-lt"/>
                  <a:ea typeface="+mn-ea"/>
                  <a:cs typeface="+mn-cs"/>
                </a:rPr>
                <a:t>tfidf(t,d) = tf(t,d) · [ log((1+N)/(1+df(t))) + 1 ]</a:t>
              </a:r>
            </a:p>
          </p:txBody>
        </p:sp>
        <p:sp>
          <p:nvSpPr>
            <p:cNvPr id="19" name="TextBox 19"/>
            <p:cNvSpPr txBox="1"/>
            <p:nvPr/>
          </p:nvSpPr>
          <p:spPr>
            <a:xfrm>
              <a:off x="908304" y="3013710"/>
              <a:ext cx="754614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tf(t,d): terimin belgedeki sıklığı · N: toplam belge sayısı · df(t): terimi içeren belge sayısı</a:t>
              </a:r>
            </a:p>
          </p:txBody>
        </p:sp>
        <p:sp>
          <p:nvSpPr>
            <p:cNvPr id="20" name="TextBox 20"/>
            <p:cNvSpPr txBox="1"/>
            <p:nvPr/>
          </p:nvSpPr>
          <p:spPr>
            <a:xfrm>
              <a:off x="906399" y="3316129"/>
              <a:ext cx="3283850" cy="308039"/>
            </a:xfrm>
            <a:prstGeom prst="rect">
              <a:avLst/>
            </a:prstGeom>
            <a:noFill/>
            <a:ln>
              <a:noFill/>
            </a:ln>
          </p:spPr>
          <p:txBody>
            <a:bodyPr wrap="none" lIns="0" tIns="0" rIns="0" bIns="0" anchor="t" anchorCtr="0">
              <a:spAutoFit/>
            </a:bodyPr>
            <a:lstStyle/>
            <a:p>
              <a:pPr algn="l"/>
              <a:r>
                <a:rPr lang="tr-TR" sz="1580" b="1" i="1" dirty="0">
                  <a:solidFill>
                    <a:srgbClr val="FFFFFF"/>
                  </a:solidFill>
                  <a:latin typeface="+mn-lt"/>
                  <a:ea typeface="+mn-ea"/>
                  <a:cs typeface="+mn-cs"/>
                </a:rPr>
                <a:t>sim(A,B) = (A·B) / (‖A‖ ‖B‖)</a:t>
              </a:r>
            </a:p>
          </p:txBody>
        </p:sp>
      </p:grpSp>
      <p:grpSp>
        <p:nvGrpSpPr>
          <p:cNvPr id="25" name="representation-block"/>
          <p:cNvGrpSpPr/>
          <p:nvPr/>
        </p:nvGrpSpPr>
        <p:grpSpPr>
          <a:xfrm>
            <a:off x="601599" y="4001929"/>
            <a:ext cx="7832217" cy="1341977"/>
            <a:chOff x="601599" y="4001929"/>
            <a:chExt cx="7832217" cy="1341977"/>
          </a:xfrm>
        </p:grpSpPr>
        <p:sp>
          <p:nvSpPr>
            <p:cNvPr id="22" name="TextBox 22"/>
            <p:cNvSpPr txBox="1"/>
            <p:nvPr/>
          </p:nvSpPr>
          <p:spPr>
            <a:xfrm>
              <a:off x="601599" y="4001929"/>
              <a:ext cx="280336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Metin temsili ve benzerlik</a:t>
              </a:r>
            </a:p>
          </p:txBody>
        </p:sp>
        <p:sp>
          <p:nvSpPr>
            <p:cNvPr id="23" name="TextBox 23"/>
            <p:cNvSpPr txBox="1"/>
            <p:nvPr/>
          </p:nvSpPr>
          <p:spPr>
            <a:xfrm>
              <a:off x="603504" y="4309110"/>
              <a:ext cx="7830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TF-IDF ile temsil edilen belgeler, ortak sözlükteki terim ağırlıklarına göre karşılaştırılabilir hâle gelir;</a:t>
              </a:r>
              <a:br/>
              <a:r>
                <a:rPr lang="tr-TR" sz="1200" dirty="0">
                  <a:solidFill>
                    <a:srgbClr val="172B3A"/>
                  </a:solidFill>
                  <a:latin typeface="+mn-lt"/>
                  <a:ea typeface="+mn-ea"/>
                  <a:cs typeface="+mn-cs"/>
                </a:rPr>
                <a:t>kosinüs benzerliği bu ağırlık vektörlerinin yönünü karşılaştırarak konu yakınlığını ölçer.</a:t>
              </a:r>
            </a:p>
          </p:txBody>
        </p:sp>
        <p:sp>
          <p:nvSpPr>
            <p:cNvPr id="24" name="TextBox 24"/>
            <p:cNvSpPr txBox="1"/>
            <p:nvPr/>
          </p:nvSpPr>
          <p:spPr>
            <a:xfrm>
              <a:off x="603504" y="4918710"/>
              <a:ext cx="66034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Düzgün biçimlendirilmiş varsayımlar ve formal tanımlar, hangi yöntemin ne zaman geçerli</a:t>
              </a:r>
              <a:br/>
              <a:r>
                <a:rPr lang="tr-TR" sz="1200" dirty="0">
                  <a:solidFill>
                    <a:srgbClr val="52616B"/>
                  </a:solidFill>
                  <a:latin typeface="+mn-lt"/>
                  <a:ea typeface="+mn-ea"/>
                  <a:cs typeface="+mn-cs"/>
                </a:rPr>
                <a:t>olduğunu anlamayı — ve sınırlarını fark etmeyi — mümkün kılar.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9030407" cy="668845"/>
            <a:chOff x="609600" y="171450"/>
            <a:chExt cx="9030407"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92004" y="324326"/>
                <a:ext cx="206693" cy="265748"/>
                <a:chOff x="792004" y="324326"/>
                <a:chExt cx="206693" cy="265748"/>
              </a:xfrm>
            </p:grpSpPr>
            <p:sp>
              <p:nvSpPr>
                <p:cNvPr id="5" name="Freeform 5"/>
                <p:cNvSpPr/>
                <p:nvPr/>
              </p:nvSpPr>
              <p:spPr>
                <a:xfrm>
                  <a:off x="924878" y="324326"/>
                  <a:ext cx="73819" cy="73819"/>
                </a:xfrm>
                <a:custGeom>
                  <a:avLst/>
                  <a:gdLst/>
                  <a:ahLst/>
                  <a:cxnLst/>
                  <a:rect l="l" t="t" r="r" b="b"/>
                  <a:pathLst>
                    <a:path w="73819" h="73819">
                      <a:moveTo>
                        <a:pt x="0" y="0"/>
                      </a:moveTo>
                      <a:lnTo>
                        <a:pt x="0" y="59055"/>
                      </a:lnTo>
                      <a:cubicBezTo>
                        <a:pt x="0" y="67209"/>
                        <a:pt x="6610" y="73819"/>
                        <a:pt x="14764" y="73819"/>
                      </a:cubicBezTo>
                      <a:lnTo>
                        <a:pt x="73819" y="73819"/>
                      </a:lnTo>
                    </a:path>
                  </a:pathLst>
                </a:custGeom>
                <a:noFill/>
                <a:ln w="24759" cap="rnd">
                  <a:solidFill>
                    <a:srgbClr val="FFFFFF"/>
                  </a:solidFill>
                  <a:round/>
                </a:ln>
              </p:spPr>
            </p:sp>
            <p:sp>
              <p:nvSpPr>
                <p:cNvPr id="6" name="Freeform 6"/>
                <p:cNvSpPr/>
                <p:nvPr/>
              </p:nvSpPr>
              <p:spPr>
                <a:xfrm>
                  <a:off x="792004" y="324326"/>
                  <a:ext cx="206693" cy="265748"/>
                </a:xfrm>
                <a:custGeom>
                  <a:avLst/>
                  <a:gdLst/>
                  <a:ahLst/>
                  <a:cxnLst/>
                  <a:rect l="l" t="t" r="r" b="b"/>
                  <a:pathLst>
                    <a:path w="206693" h="265748">
                      <a:moveTo>
                        <a:pt x="177165" y="265748"/>
                      </a:moveTo>
                      <a:lnTo>
                        <a:pt x="29527" y="265748"/>
                      </a:lnTo>
                      <a:cubicBezTo>
                        <a:pt x="13220" y="265748"/>
                        <a:pt x="0" y="252528"/>
                        <a:pt x="0" y="236220"/>
                      </a:cubicBezTo>
                      <a:lnTo>
                        <a:pt x="0" y="29528"/>
                      </a:lnTo>
                      <a:cubicBezTo>
                        <a:pt x="0" y="13220"/>
                        <a:pt x="13220" y="0"/>
                        <a:pt x="29527" y="0"/>
                      </a:cubicBezTo>
                      <a:lnTo>
                        <a:pt x="132874" y="0"/>
                      </a:lnTo>
                      <a:lnTo>
                        <a:pt x="206693" y="73819"/>
                      </a:lnTo>
                      <a:lnTo>
                        <a:pt x="206693" y="236220"/>
                      </a:lnTo>
                      <a:cubicBezTo>
                        <a:pt x="206693" y="252528"/>
                        <a:pt x="193473" y="265748"/>
                        <a:pt x="177165" y="265748"/>
                      </a:cubicBezTo>
                    </a:path>
                  </a:pathLst>
                </a:custGeom>
                <a:noFill/>
                <a:ln w="24759" cap="rnd">
                  <a:solidFill>
                    <a:srgbClr val="FFFFFF"/>
                  </a:solidFill>
                  <a:round/>
                </a:ln>
              </p:spPr>
            </p:sp>
            <p:sp>
              <p:nvSpPr>
                <p:cNvPr id="7" name="Freeform 7"/>
                <p:cNvSpPr/>
                <p:nvPr/>
              </p:nvSpPr>
              <p:spPr>
                <a:xfrm>
                  <a:off x="851059" y="412909"/>
                  <a:ext cx="14764" cy="9525"/>
                </a:xfrm>
                <a:custGeom>
                  <a:avLst/>
                  <a:gdLst/>
                  <a:ahLst/>
                  <a:cxnLst/>
                  <a:rect l="l" t="t" r="r" b="b"/>
                  <a:pathLst>
                    <a:path w="14764" h="9525">
                      <a:moveTo>
                        <a:pt x="0" y="0"/>
                      </a:moveTo>
                      <a:lnTo>
                        <a:pt x="14764" y="0"/>
                      </a:lnTo>
                    </a:path>
                  </a:pathLst>
                </a:custGeom>
                <a:noFill/>
                <a:ln w="24759" cap="rnd">
                  <a:solidFill>
                    <a:srgbClr val="FFFFFF"/>
                  </a:solidFill>
                  <a:round/>
                </a:ln>
              </p:spPr>
            </p:sp>
            <p:sp>
              <p:nvSpPr>
                <p:cNvPr id="8" name="Freeform 8"/>
                <p:cNvSpPr/>
                <p:nvPr/>
              </p:nvSpPr>
              <p:spPr>
                <a:xfrm>
                  <a:off x="851059" y="471964"/>
                  <a:ext cx="88582" cy="9525"/>
                </a:xfrm>
                <a:custGeom>
                  <a:avLst/>
                  <a:gdLst/>
                  <a:ahLst/>
                  <a:cxnLst/>
                  <a:rect l="l" t="t" r="r" b="b"/>
                  <a:pathLst>
                    <a:path w="88582" h="9525">
                      <a:moveTo>
                        <a:pt x="0" y="0"/>
                      </a:moveTo>
                      <a:lnTo>
                        <a:pt x="88582" y="0"/>
                      </a:lnTo>
                    </a:path>
                  </a:pathLst>
                </a:custGeom>
                <a:noFill/>
                <a:ln w="24759" cap="rnd">
                  <a:solidFill>
                    <a:srgbClr val="FFFFFF"/>
                  </a:solidFill>
                  <a:round/>
                </a:ln>
              </p:spPr>
            </p:sp>
            <p:sp>
              <p:nvSpPr>
                <p:cNvPr id="9" name="Freeform 9"/>
                <p:cNvSpPr/>
                <p:nvPr/>
              </p:nvSpPr>
              <p:spPr>
                <a:xfrm>
                  <a:off x="851059" y="531019"/>
                  <a:ext cx="88582" cy="9525"/>
                </a:xfrm>
                <a:custGeom>
                  <a:avLst/>
                  <a:gdLst/>
                  <a:ahLst/>
                  <a:cxnLst/>
                  <a:rect l="l" t="t" r="r" b="b"/>
                  <a:pathLst>
                    <a:path w="88582" h="9525">
                      <a:moveTo>
                        <a:pt x="0" y="0"/>
                      </a:moveTo>
                      <a:lnTo>
                        <a:pt x="88582" y="0"/>
                      </a:lnTo>
                    </a:path>
                  </a:pathLst>
                </a:custGeom>
                <a:noFill/>
                <a:ln w="24759" cap="rnd">
                  <a:solidFill>
                    <a:srgbClr val="FFFFFF"/>
                  </a:solidFill>
                  <a:round/>
                </a:ln>
              </p:spPr>
            </p:sp>
          </p:grpSp>
        </p:grpSp>
        <p:sp>
          <p:nvSpPr>
            <p:cNvPr id="12" name="TextBox 12"/>
            <p:cNvSpPr txBox="1"/>
            <p:nvPr/>
          </p:nvSpPr>
          <p:spPr>
            <a:xfrm>
              <a:off x="1299972" y="282892"/>
              <a:ext cx="834003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Metin temsili yöntemlerini karşılaştırmak</a:t>
              </a:r>
            </a:p>
          </p:txBody>
        </p:sp>
      </p:grpSp>
      <p:grpSp>
        <p:nvGrpSpPr>
          <p:cNvPr id="19" name="compare-header"/>
          <p:cNvGrpSpPr/>
          <p:nvPr/>
        </p:nvGrpSpPr>
        <p:grpSpPr>
          <a:xfrm>
            <a:off x="609600" y="1238250"/>
            <a:ext cx="10972800" cy="381000"/>
            <a:chOff x="609600" y="1238250"/>
            <a:chExt cx="10972800" cy="381000"/>
          </a:xfrm>
        </p:grpSpPr>
        <p:sp>
          <p:nvSpPr>
            <p:cNvPr id="14" name="Rectangle 14"/>
            <p:cNvSpPr/>
            <p:nvPr/>
          </p:nvSpPr>
          <p:spPr>
            <a:xfrm>
              <a:off x="609600" y="1238250"/>
              <a:ext cx="10972800" cy="381000"/>
            </a:xfrm>
            <a:prstGeom prst="rect">
              <a:avLst/>
            </a:prstGeom>
            <a:solidFill>
              <a:srgbClr val="12355B"/>
            </a:solidFill>
            <a:ln>
              <a:noFill/>
            </a:ln>
          </p:spPr>
        </p:sp>
        <p:sp>
          <p:nvSpPr>
            <p:cNvPr id="15" name="TextBox 15"/>
            <p:cNvSpPr txBox="1"/>
            <p:nvPr/>
          </p:nvSpPr>
          <p:spPr>
            <a:xfrm>
              <a:off x="756666" y="1372552"/>
              <a:ext cx="61287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YÖNTEM</a:t>
              </a:r>
            </a:p>
          </p:txBody>
        </p:sp>
        <p:sp>
          <p:nvSpPr>
            <p:cNvPr id="16" name="TextBox 16"/>
            <p:cNvSpPr txBox="1"/>
            <p:nvPr/>
          </p:nvSpPr>
          <p:spPr>
            <a:xfrm>
              <a:off x="2852166" y="1372552"/>
              <a:ext cx="134902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KORUDUĞU BİLGİ</a:t>
              </a:r>
            </a:p>
          </p:txBody>
        </p:sp>
        <p:sp>
          <p:nvSpPr>
            <p:cNvPr id="17" name="TextBox 17"/>
            <p:cNvSpPr txBox="1"/>
            <p:nvPr/>
          </p:nvSpPr>
          <p:spPr>
            <a:xfrm>
              <a:off x="5900166" y="1372552"/>
              <a:ext cx="1309817"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UYGUN KULLANIM</a:t>
              </a:r>
            </a:p>
          </p:txBody>
        </p:sp>
        <p:sp>
          <p:nvSpPr>
            <p:cNvPr id="18" name="TextBox 18"/>
            <p:cNvSpPr txBox="1"/>
            <p:nvPr/>
          </p:nvSpPr>
          <p:spPr>
            <a:xfrm>
              <a:off x="8757666" y="1372552"/>
              <a:ext cx="1386040"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TEMEL SINIRLILIK</a:t>
              </a:r>
            </a:p>
          </p:txBody>
        </p:sp>
      </p:grpSp>
      <p:grpSp>
        <p:nvGrpSpPr>
          <p:cNvPr id="25" name="compare-bow"/>
          <p:cNvGrpSpPr/>
          <p:nvPr/>
        </p:nvGrpSpPr>
        <p:grpSpPr>
          <a:xfrm>
            <a:off x="609600" y="1773079"/>
            <a:ext cx="10972800" cy="1208246"/>
            <a:chOff x="609600" y="1773079"/>
            <a:chExt cx="10972800" cy="1208246"/>
          </a:xfrm>
        </p:grpSpPr>
        <p:sp>
          <p:nvSpPr>
            <p:cNvPr id="20" name="TextBox 20"/>
            <p:cNvSpPr txBox="1"/>
            <p:nvPr/>
          </p:nvSpPr>
          <p:spPr>
            <a:xfrm>
              <a:off x="753999" y="1773079"/>
              <a:ext cx="155187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Bag-of-Words</a:t>
              </a:r>
            </a:p>
          </p:txBody>
        </p:sp>
        <p:sp>
          <p:nvSpPr>
            <p:cNvPr id="21" name="TextBox 21"/>
            <p:cNvSpPr txBox="1"/>
            <p:nvPr/>
          </p:nvSpPr>
          <p:spPr>
            <a:xfrm>
              <a:off x="2851404" y="1775460"/>
              <a:ext cx="11780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Kelime sayımı;</a:t>
              </a:r>
              <a:br/>
              <a:r>
                <a:rPr lang="tr-TR" sz="1200" dirty="0">
                  <a:solidFill>
                    <a:srgbClr val="172B3A"/>
                  </a:solidFill>
                  <a:latin typeface="+mn-lt"/>
                  <a:ea typeface="+mn-ea"/>
                  <a:cs typeface="+mn-cs"/>
                </a:rPr>
                <a:t>sıra korunmaz.</a:t>
              </a:r>
            </a:p>
          </p:txBody>
        </p:sp>
        <p:sp>
          <p:nvSpPr>
            <p:cNvPr id="22" name="TextBox 22"/>
            <p:cNvSpPr txBox="1"/>
            <p:nvPr/>
          </p:nvSpPr>
          <p:spPr>
            <a:xfrm>
              <a:off x="5899404" y="1775460"/>
              <a:ext cx="16047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Hızlı taban çizgisi,</a:t>
              </a:r>
              <a:br/>
              <a:r>
                <a:rPr lang="tr-TR" sz="1200" dirty="0">
                  <a:solidFill>
                    <a:srgbClr val="172B3A"/>
                  </a:solidFill>
                  <a:latin typeface="+mn-lt"/>
                  <a:ea typeface="+mn-ea"/>
                  <a:cs typeface="+mn-cs"/>
                </a:rPr>
                <a:t>basit sınıflandırma.</a:t>
              </a:r>
            </a:p>
          </p:txBody>
        </p:sp>
        <p:sp>
          <p:nvSpPr>
            <p:cNvPr id="23" name="TextBox 23"/>
            <p:cNvSpPr txBox="1"/>
            <p:nvPr/>
          </p:nvSpPr>
          <p:spPr>
            <a:xfrm>
              <a:off x="8756904" y="1775460"/>
              <a:ext cx="16885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Sık kelimeler anlamsız</a:t>
              </a:r>
              <a:br/>
              <a:r>
                <a:rPr lang="tr-TR" sz="1200" dirty="0">
                  <a:solidFill>
                    <a:srgbClr val="172B3A"/>
                  </a:solidFill>
                  <a:latin typeface="+mn-lt"/>
                  <a:ea typeface="+mn-ea"/>
                  <a:cs typeface="+mn-cs"/>
                </a:rPr>
                <a:t>yere ağır basar.</a:t>
              </a:r>
            </a:p>
          </p:txBody>
        </p:sp>
        <p:sp>
          <p:nvSpPr>
            <p:cNvPr id="24" name="Line 24"/>
            <p:cNvSpPr/>
            <p:nvPr/>
          </p:nvSpPr>
          <p:spPr>
            <a:xfrm>
              <a:off x="609600" y="2971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compare-tfidf"/>
          <p:cNvGrpSpPr/>
          <p:nvPr/>
        </p:nvGrpSpPr>
        <p:grpSpPr>
          <a:xfrm>
            <a:off x="609600" y="2971800"/>
            <a:ext cx="10972800" cy="1362075"/>
            <a:chOff x="609600" y="2971800"/>
            <a:chExt cx="10972800" cy="1362075"/>
          </a:xfrm>
        </p:grpSpPr>
        <p:sp>
          <p:nvSpPr>
            <p:cNvPr id="26" name="Rectangle 26"/>
            <p:cNvSpPr/>
            <p:nvPr/>
          </p:nvSpPr>
          <p:spPr>
            <a:xfrm>
              <a:off x="609600" y="2971800"/>
              <a:ext cx="10972800" cy="1352550"/>
            </a:xfrm>
            <a:prstGeom prst="rect">
              <a:avLst/>
            </a:prstGeom>
            <a:solidFill>
              <a:srgbClr val="EAF4F6"/>
            </a:solidFill>
            <a:ln>
              <a:noFill/>
            </a:ln>
          </p:spPr>
        </p:sp>
        <p:sp>
          <p:nvSpPr>
            <p:cNvPr id="27" name="TextBox 27"/>
            <p:cNvSpPr txBox="1"/>
            <p:nvPr/>
          </p:nvSpPr>
          <p:spPr>
            <a:xfrm>
              <a:off x="753999" y="3125629"/>
              <a:ext cx="73572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TF-IDF</a:t>
              </a:r>
            </a:p>
          </p:txBody>
        </p:sp>
        <p:sp>
          <p:nvSpPr>
            <p:cNvPr id="28" name="TextBox 28"/>
            <p:cNvSpPr txBox="1"/>
            <p:nvPr/>
          </p:nvSpPr>
          <p:spPr>
            <a:xfrm>
              <a:off x="2851404" y="3128010"/>
              <a:ext cx="16352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Terim ağırlığı;</a:t>
              </a:r>
              <a:br/>
              <a:r>
                <a:rPr lang="tr-TR" sz="1200" dirty="0">
                  <a:solidFill>
                    <a:srgbClr val="172B3A"/>
                  </a:solidFill>
                  <a:latin typeface="+mn-lt"/>
                  <a:ea typeface="+mn-ea"/>
                  <a:cs typeface="+mn-cs"/>
                </a:rPr>
                <a:t>ayırt edicilik ölçülür.</a:t>
              </a:r>
            </a:p>
          </p:txBody>
        </p:sp>
        <p:sp>
          <p:nvSpPr>
            <p:cNvPr id="29" name="TextBox 29"/>
            <p:cNvSpPr txBox="1"/>
            <p:nvPr/>
          </p:nvSpPr>
          <p:spPr>
            <a:xfrm>
              <a:off x="5899404" y="3128010"/>
              <a:ext cx="20772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Arama, benzerlik,</a:t>
              </a:r>
              <a:br/>
              <a:r>
                <a:rPr lang="tr-TR" sz="1200" dirty="0">
                  <a:solidFill>
                    <a:srgbClr val="172B3A"/>
                  </a:solidFill>
                  <a:latin typeface="+mn-lt"/>
                  <a:ea typeface="+mn-ea"/>
                  <a:cs typeface="+mn-cs"/>
                </a:rPr>
                <a:t>orta ölçekli sınıflandırma.</a:t>
              </a:r>
            </a:p>
          </p:txBody>
        </p:sp>
        <p:sp>
          <p:nvSpPr>
            <p:cNvPr id="30" name="TextBox 30"/>
            <p:cNvSpPr txBox="1"/>
            <p:nvPr/>
          </p:nvSpPr>
          <p:spPr>
            <a:xfrm>
              <a:off x="8756904" y="3128010"/>
              <a:ext cx="14676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Sözcük sırasını ve</a:t>
              </a:r>
              <a:br/>
              <a:r>
                <a:rPr lang="tr-TR" sz="1200" dirty="0">
                  <a:solidFill>
                    <a:srgbClr val="172B3A"/>
                  </a:solidFill>
                  <a:latin typeface="+mn-lt"/>
                  <a:ea typeface="+mn-ea"/>
                  <a:cs typeface="+mn-cs"/>
                </a:rPr>
                <a:t>bağlamı yakalamaz.</a:t>
              </a:r>
            </a:p>
          </p:txBody>
        </p:sp>
        <p:sp>
          <p:nvSpPr>
            <p:cNvPr id="31" name="Line 31"/>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compare-embed"/>
          <p:cNvGrpSpPr/>
          <p:nvPr/>
        </p:nvGrpSpPr>
        <p:grpSpPr>
          <a:xfrm>
            <a:off x="753999" y="4478179"/>
            <a:ext cx="9859137" cy="427577"/>
            <a:chOff x="753999" y="4478179"/>
            <a:chExt cx="9859137" cy="427577"/>
          </a:xfrm>
        </p:grpSpPr>
        <p:sp>
          <p:nvSpPr>
            <p:cNvPr id="33" name="TextBox 33"/>
            <p:cNvSpPr txBox="1"/>
            <p:nvPr/>
          </p:nvSpPr>
          <p:spPr>
            <a:xfrm>
              <a:off x="753999" y="4478179"/>
              <a:ext cx="183232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Bağlamsal gömme</a:t>
              </a:r>
            </a:p>
          </p:txBody>
        </p:sp>
        <p:sp>
          <p:nvSpPr>
            <p:cNvPr id="34" name="TextBox 34"/>
            <p:cNvSpPr txBox="1"/>
            <p:nvPr/>
          </p:nvSpPr>
          <p:spPr>
            <a:xfrm>
              <a:off x="2851404" y="4480560"/>
              <a:ext cx="13380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Anlam ve bağlam;</a:t>
              </a:r>
              <a:br/>
              <a:r>
                <a:rPr lang="tr-TR" sz="1200" dirty="0">
                  <a:solidFill>
                    <a:srgbClr val="172B3A"/>
                  </a:solidFill>
                  <a:latin typeface="+mn-lt"/>
                  <a:ea typeface="+mn-ea"/>
                  <a:cs typeface="+mn-cs"/>
                </a:rPr>
                <a:t>cümle içi ilişkiler.</a:t>
              </a:r>
            </a:p>
          </p:txBody>
        </p:sp>
        <p:sp>
          <p:nvSpPr>
            <p:cNvPr id="35" name="TextBox 35"/>
            <p:cNvSpPr txBox="1"/>
            <p:nvPr/>
          </p:nvSpPr>
          <p:spPr>
            <a:xfrm>
              <a:off x="5899404" y="4480560"/>
              <a:ext cx="18181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İroni, çok anlamlılık,</a:t>
              </a:r>
              <a:br/>
              <a:r>
                <a:rPr lang="tr-TR" sz="1200" dirty="0">
                  <a:solidFill>
                    <a:srgbClr val="172B3A"/>
                  </a:solidFill>
                  <a:latin typeface="+mn-lt"/>
                  <a:ea typeface="+mn-ea"/>
                  <a:cs typeface="+mn-cs"/>
                </a:rPr>
                <a:t>karmaşık NLP görevleri.</a:t>
              </a:r>
            </a:p>
          </p:txBody>
        </p:sp>
        <p:sp>
          <p:nvSpPr>
            <p:cNvPr id="36" name="TextBox 36"/>
            <p:cNvSpPr txBox="1"/>
            <p:nvPr/>
          </p:nvSpPr>
          <p:spPr>
            <a:xfrm>
              <a:off x="8756904" y="4480560"/>
              <a:ext cx="18562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Daha yüksek hesaplama</a:t>
              </a:r>
              <a:br/>
              <a:r>
                <a:rPr lang="tr-TR" sz="1200" dirty="0">
                  <a:solidFill>
                    <a:srgbClr val="172B3A"/>
                  </a:solidFill>
                  <a:latin typeface="+mn-lt"/>
                  <a:ea typeface="+mn-ea"/>
                  <a:cs typeface="+mn-cs"/>
                </a:rPr>
                <a:t>maliyeti ve karmaşıklık.</a:t>
              </a:r>
            </a:p>
          </p:txBody>
        </p:sp>
      </p:grpSp>
      <p:grpSp>
        <p:nvGrpSpPr>
          <p:cNvPr id="39" name="decision-note"/>
          <p:cNvGrpSpPr/>
          <p:nvPr/>
        </p:nvGrpSpPr>
        <p:grpSpPr>
          <a:xfrm>
            <a:off x="603504" y="5928360"/>
            <a:ext cx="7578852" cy="425196"/>
            <a:chOff x="603504" y="5928360"/>
            <a:chExt cx="7578852" cy="425196"/>
          </a:xfrm>
        </p:grpSpPr>
        <p:sp>
          <p:nvSpPr>
            <p:cNvPr id="38" name="TextBox 38"/>
            <p:cNvSpPr txBox="1"/>
            <p:nvPr/>
          </p:nvSpPr>
          <p:spPr>
            <a:xfrm>
              <a:off x="603504" y="5928360"/>
              <a:ext cx="75788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Karar kuralı: basitlik ve hız önceliğinde TF-IDF yeterlidir; sıra veya bağlam kritikse bağlamsal gömme</a:t>
              </a:r>
              <a:br/>
              <a:r>
                <a:rPr lang="tr-TR" sz="1200" dirty="0">
                  <a:solidFill>
                    <a:srgbClr val="52616B"/>
                  </a:solidFill>
                  <a:latin typeface="+mn-lt"/>
                  <a:ea typeface="+mn-ea"/>
                  <a:cs typeface="+mn-cs"/>
                </a:rPr>
                <a:t>değerlendirilmeli — seçenekler her zaman doğrulama kümesinde karşılaştırılmalıdır.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onislem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14570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Ön işleme</a:t>
              </a:r>
            </a:p>
          </p:txBody>
        </p:sp>
        <p:sp>
          <p:nvSpPr>
            <p:cNvPr id="8" name="TextBox 8"/>
            <p:cNvSpPr txBox="1"/>
            <p:nvPr/>
          </p:nvSpPr>
          <p:spPr>
            <a:xfrm>
              <a:off x="832104" y="1908810"/>
              <a:ext cx="2122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Tokenization, küçük harfe</a:t>
              </a:r>
              <a:br/>
              <a:r>
                <a:rPr lang="tr-TR" sz="1200" dirty="0">
                  <a:solidFill>
                    <a:srgbClr val="172B3A"/>
                  </a:solidFill>
                  <a:latin typeface="+mn-lt"/>
                  <a:ea typeface="+mn-ea"/>
                  <a:cs typeface="+mn-cs"/>
                </a:rPr>
                <a:t>çevirme ve stop-word</a:t>
              </a:r>
              <a:br/>
              <a:r>
                <a:rPr lang="tr-TR" sz="1200" dirty="0">
                  <a:solidFill>
                    <a:srgbClr val="172B3A"/>
                  </a:solidFill>
                  <a:latin typeface="+mn-lt"/>
                  <a:ea typeface="+mn-ea"/>
                  <a:cs typeface="+mn-cs"/>
                </a:rPr>
                <a:t>temizliği metni sadeleştirir.</a:t>
              </a:r>
            </a:p>
          </p:txBody>
        </p:sp>
      </p:grpSp>
      <p:grpSp>
        <p:nvGrpSpPr>
          <p:cNvPr id="13" name="summary-vektorlestirm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9086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Vektörleştirme</a:t>
              </a:r>
            </a:p>
          </p:txBody>
        </p:sp>
        <p:sp>
          <p:nvSpPr>
            <p:cNvPr id="12" name="TextBox 12"/>
            <p:cNvSpPr txBox="1"/>
            <p:nvPr/>
          </p:nvSpPr>
          <p:spPr>
            <a:xfrm>
              <a:off x="4565904" y="1908810"/>
              <a:ext cx="1970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Bag-of-Words sayar,</a:t>
              </a:r>
              <a:br/>
              <a:r>
                <a:rPr lang="tr-TR" sz="1200" dirty="0">
                  <a:solidFill>
                    <a:srgbClr val="172B3A"/>
                  </a:solidFill>
                  <a:latin typeface="+mn-lt"/>
                  <a:ea typeface="+mn-ea"/>
                  <a:cs typeface="+mn-cs"/>
                </a:rPr>
                <a:t>TF-IDF ayırt ediciliğe göre</a:t>
              </a:r>
              <a:br/>
              <a:r>
                <a:rPr lang="tr-TR" sz="1200" dirty="0">
                  <a:solidFill>
                    <a:srgbClr val="172B3A"/>
                  </a:solidFill>
                  <a:latin typeface="+mn-lt"/>
                  <a:ea typeface="+mn-ea"/>
                  <a:cs typeface="+mn-cs"/>
                </a:rPr>
                <a:t>ağırlıklandırır.</a:t>
              </a:r>
            </a:p>
          </p:txBody>
        </p:sp>
      </p:grpSp>
      <p:grpSp>
        <p:nvGrpSpPr>
          <p:cNvPr id="17" name="summary-benzerlik"/>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22645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Kosinüs benzerliği</a:t>
              </a:r>
            </a:p>
          </p:txBody>
        </p:sp>
        <p:sp>
          <p:nvSpPr>
            <p:cNvPr id="16" name="TextBox 16"/>
            <p:cNvSpPr txBox="1"/>
            <p:nvPr/>
          </p:nvSpPr>
          <p:spPr>
            <a:xfrm>
              <a:off x="8299704" y="1908810"/>
              <a:ext cx="25877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Vektörlerin yönünü karşılaştırır;</a:t>
              </a:r>
              <a:br/>
              <a:r>
                <a:rPr lang="tr-TR" sz="1200" dirty="0">
                  <a:solidFill>
                    <a:srgbClr val="172B3A"/>
                  </a:solidFill>
                  <a:latin typeface="+mn-lt"/>
                  <a:ea typeface="+mn-ea"/>
                  <a:cs typeface="+mn-cs"/>
                </a:rPr>
                <a:t>ortak sözlük şarttır.</a:t>
              </a:r>
            </a:p>
          </p:txBody>
        </p:sp>
      </p:grpSp>
      <p:grpSp>
        <p:nvGrpSpPr>
          <p:cNvPr id="21" name="summary-pipeline"/>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9535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Pipeline</a:t>
              </a:r>
            </a:p>
          </p:txBody>
        </p:sp>
        <p:sp>
          <p:nvSpPr>
            <p:cNvPr id="20" name="TextBox 20"/>
            <p:cNvSpPr txBox="1"/>
            <p:nvPr/>
          </p:nvSpPr>
          <p:spPr>
            <a:xfrm>
              <a:off x="832104" y="3718560"/>
              <a:ext cx="18333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Vektörleştirici ve modeli</a:t>
              </a:r>
              <a:br/>
              <a:r>
                <a:rPr lang="tr-TR" sz="1200" dirty="0">
                  <a:solidFill>
                    <a:srgbClr val="172B3A"/>
                  </a:solidFill>
                  <a:latin typeface="+mn-lt"/>
                  <a:ea typeface="+mn-ea"/>
                  <a:cs typeface="+mn-cs"/>
                </a:rPr>
                <a:t>tek nesnede birleştirir;</a:t>
              </a:r>
              <a:br/>
              <a:r>
                <a:rPr lang="tr-TR" sz="1200" dirty="0">
                  <a:solidFill>
                    <a:srgbClr val="172B3A"/>
                  </a:solidFill>
                  <a:latin typeface="+mn-lt"/>
                  <a:ea typeface="+mn-ea"/>
                  <a:cs typeface="+mn-cs"/>
                </a:rPr>
                <a:t>veri sızıntısını önler.</a:t>
              </a:r>
            </a:p>
          </p:txBody>
        </p:sp>
      </p:grpSp>
      <p:grpSp>
        <p:nvGrpSpPr>
          <p:cNvPr id="25" name="summary-degerlendirm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7687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Değerlendirme</a:t>
              </a:r>
            </a:p>
          </p:txBody>
        </p:sp>
        <p:sp>
          <p:nvSpPr>
            <p:cNvPr id="24" name="TextBox 24"/>
            <p:cNvSpPr txBox="1"/>
            <p:nvPr/>
          </p:nvSpPr>
          <p:spPr>
            <a:xfrm>
              <a:off x="4565904" y="3718560"/>
              <a:ext cx="2084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precision, recall, f1-score</a:t>
              </a:r>
              <a:br/>
              <a:r>
                <a:rPr lang="tr-TR" sz="1200" dirty="0">
                  <a:solidFill>
                    <a:srgbClr val="172B3A"/>
                  </a:solidFill>
                  <a:latin typeface="+mn-lt"/>
                  <a:ea typeface="+mn-ea"/>
                  <a:cs typeface="+mn-cs"/>
                </a:rPr>
                <a:t>accuracy'den daha güvenilir</a:t>
              </a:r>
              <a:br/>
              <a:r>
                <a:rPr lang="tr-TR" sz="1200" dirty="0">
                  <a:solidFill>
                    <a:srgbClr val="172B3A"/>
                  </a:solidFill>
                  <a:latin typeface="+mn-lt"/>
                  <a:ea typeface="+mn-ea"/>
                  <a:cs typeface="+mn-cs"/>
                </a:rPr>
                <a:t>bilgi verir.</a:t>
              </a:r>
            </a:p>
          </p:txBody>
        </p:sp>
      </p:grpSp>
      <p:grpSp>
        <p:nvGrpSpPr>
          <p:cNvPr id="29" name="summary-etik"/>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1125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Sorumlu kullanım</a:t>
              </a:r>
            </a:p>
          </p:txBody>
        </p:sp>
        <p:sp>
          <p:nvSpPr>
            <p:cNvPr id="28" name="TextBox 28"/>
            <p:cNvSpPr txBox="1"/>
            <p:nvPr/>
          </p:nvSpPr>
          <p:spPr>
            <a:xfrm>
              <a:off x="8299704" y="3718560"/>
              <a:ext cx="21838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Kişisel veri, sınıf dengesi ve</a:t>
              </a:r>
              <a:br/>
              <a:r>
                <a:rPr lang="tr-TR" sz="1200" dirty="0">
                  <a:solidFill>
                    <a:srgbClr val="172B3A"/>
                  </a:solidFill>
                  <a:latin typeface="+mn-lt"/>
                  <a:ea typeface="+mn-ea"/>
                  <a:cs typeface="+mn-cs"/>
                </a:rPr>
                <a:t>sözlük kayması her zaman</a:t>
              </a:r>
              <a:br/>
              <a:r>
                <a:rPr lang="tr-TR" sz="1200" dirty="0">
                  <a:solidFill>
                    <a:srgbClr val="172B3A"/>
                  </a:solidFill>
                  <a:latin typeface="+mn-lt"/>
                  <a:ea typeface="+mn-ea"/>
                  <a:cs typeface="+mn-cs"/>
                </a:rPr>
                <a:t>kontrol edilmelidir.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25733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Metin madenciliğinin en önemli katkısı, sayıları üretmek değildir.</a:t>
              </a:r>
            </a:p>
          </p:txBody>
        </p:sp>
        <p:sp>
          <p:nvSpPr>
            <p:cNvPr id="32" name="TextBox 32"/>
            <p:cNvSpPr txBox="1"/>
            <p:nvPr/>
          </p:nvSpPr>
          <p:spPr>
            <a:xfrm>
              <a:off x="906399" y="5583079"/>
              <a:ext cx="722256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Bir model çıktısını insan yargısıyla doğrulanabilir hâle getirmektir.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826752" cy="724281"/>
            <a:chOff x="599694" y="1484948"/>
            <a:chExt cx="9826752" cy="724281"/>
          </a:xfrm>
        </p:grpSpPr>
        <p:sp>
          <p:nvSpPr>
            <p:cNvPr id="7" name="TextBox 7"/>
            <p:cNvSpPr txBox="1"/>
            <p:nvPr/>
          </p:nvSpPr>
          <p:spPr>
            <a:xfrm>
              <a:off x="599694" y="1484948"/>
              <a:ext cx="9826752"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Duygu sınıflandırıcısı artık bir tahmin üretebiliyor. Sıradaki soru, bu tahmine</a:t>
              </a:r>
              <a:br/>
              <a:r>
                <a:rPr lang="tr-TR" sz="1950" dirty="0">
                  <a:solidFill>
                    <a:srgbClr val="172B3A"/>
                  </a:solidFill>
                  <a:latin typeface="+mn-lt"/>
                  <a:ea typeface="+mn-ea"/>
                  <a:cs typeface="+mn-cs"/>
                </a:rPr>
                <a:t>neden güvenmemiz — ya da güvenmememiz — gerektiğidir.</a:t>
              </a:r>
            </a:p>
          </p:txBody>
        </p:sp>
      </p:grpSp>
      <p:grpSp>
        <p:nvGrpSpPr>
          <p:cNvPr id="14" name="bridge-now"/>
          <p:cNvGrpSpPr/>
          <p:nvPr/>
        </p:nvGrpSpPr>
        <p:grpSpPr>
          <a:xfrm>
            <a:off x="599694" y="2799398"/>
            <a:ext cx="2646140" cy="1834419"/>
            <a:chOff x="599694" y="2799398"/>
            <a:chExt cx="2646140"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161124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Metni TF-IDF ile</a:t>
              </a:r>
              <a:br/>
              <a:r>
                <a:rPr lang="tr-TR" sz="1580" dirty="0">
                  <a:solidFill>
                    <a:srgbClr val="172B3A"/>
                  </a:solidFill>
                  <a:latin typeface="+mn-lt"/>
                  <a:ea typeface="+mn-ea"/>
                  <a:cs typeface="+mn-cs"/>
                </a:rPr>
                <a:t>vektörleştirmek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04266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Kosinüs benzerliğiyle</a:t>
              </a:r>
              <a:br/>
              <a:r>
                <a:rPr lang="tr-TR" sz="1580" dirty="0">
                  <a:solidFill>
                    <a:srgbClr val="172B3A"/>
                  </a:solidFill>
                  <a:latin typeface="+mn-lt"/>
                  <a:ea typeface="+mn-ea"/>
                  <a:cs typeface="+mn-cs"/>
                </a:rPr>
                <a:t>yorumları sıralamak</a:t>
              </a:r>
            </a:p>
          </p:txBody>
        </p:sp>
      </p:grpSp>
      <p:grpSp>
        <p:nvGrpSpPr>
          <p:cNvPr id="19" name="bridge-next"/>
          <p:cNvGrpSpPr/>
          <p:nvPr/>
        </p:nvGrpSpPr>
        <p:grpSpPr>
          <a:xfrm>
            <a:off x="7010400" y="2667000"/>
            <a:ext cx="4572000" cy="2309717"/>
            <a:chOff x="7010400" y="2667000"/>
            <a:chExt cx="4572000" cy="2309717"/>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648188"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Modeli açıklamak:</a:t>
              </a:r>
              <a:br/>
              <a:r>
                <a:rPr lang="tr-TR" sz="2250" b="1" dirty="0">
                  <a:solidFill>
                    <a:srgbClr val="FFFFFF"/>
                  </a:solidFill>
                  <a:latin typeface="+mn-lt"/>
                  <a:ea typeface="+mn-ea"/>
                  <a:cs typeface="+mn-cs"/>
                </a:rPr>
                <a:t>SHAP ve LIME</a:t>
              </a:r>
            </a:p>
          </p:txBody>
        </p:sp>
        <p:sp>
          <p:nvSpPr>
            <p:cNvPr id="18" name="TextBox 18"/>
            <p:cNvSpPr txBox="1"/>
            <p:nvPr/>
          </p:nvSpPr>
          <p:spPr>
            <a:xfrm>
              <a:off x="7307199" y="4135279"/>
              <a:ext cx="2744978"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Kara kutu tahminlerini hangi</a:t>
              </a:r>
              <a:br/>
              <a:r>
                <a:rPr lang="tr-TR" sz="1580" dirty="0">
                  <a:solidFill>
                    <a:srgbClr val="EAF4F6"/>
                  </a:solidFill>
                  <a:latin typeface="+mn-lt"/>
                  <a:ea typeface="+mn-ea"/>
                  <a:cs typeface="+mn-cs"/>
                </a:rPr>
                <a:t>kelimelerin sürüklediğini</a:t>
              </a:r>
              <a:br/>
              <a:r>
                <a:rPr lang="tr-TR" sz="1580" dirty="0">
                  <a:solidFill>
                    <a:srgbClr val="EAF4F6"/>
                  </a:solidFill>
                  <a:latin typeface="+mn-lt"/>
                  <a:ea typeface="+mn-ea"/>
                  <a:cs typeface="+mn-cs"/>
                </a:rPr>
                <a:t>göstererek açacaksınız.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799928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sınıflandırma kararında, hangi kelimelerin sonucu sürüklediğini</a:t>
              </a:r>
              <a:br/>
              <a:r>
                <a:rPr lang="tr-TR" sz="1800" b="1" dirty="0">
                  <a:solidFill>
                    <a:srgbClr val="12355B"/>
                  </a:solidFill>
                  <a:latin typeface="+mn-lt"/>
                  <a:ea typeface="+mn-ea"/>
                  <a:cs typeface="+mn-cs"/>
                </a:rPr>
                <a:t>sorgulamayı bir alışkanlık hâline getirin.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12_metin_madenciligi_nlp-20260916">
  <a:themeElements>
    <a:clrScheme name="ch12_metin_madenciligi_nlp-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2_metin_madenciligi_nlp-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2_metin_madenciligi_nlp-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12_metin_madenciligi_nlp-20260916">
  <a:themeElements>
    <a:clrScheme name="ch12_metin_madenciligi_nlp-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2_metin_madenciligi_nlp-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2_metin_madenciligi_nlp-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2026-09-19T21:22:36Z</dcterms:created>
  <dcterms:modified xsi:type="dcterms:W3CDTF">2026-09-19T21:22:36Z</dcterms:modified>
  <cp:category/>
  <cp:contentStatus/>
</cp:coreProperties>
</file>