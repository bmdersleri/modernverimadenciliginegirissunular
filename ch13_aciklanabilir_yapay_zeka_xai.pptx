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32"/>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12192000" cy="6858000" type="screen16x9"/>
  <p:notesSz cx="6858000" cy="9144000"/>
  <p:defaultTextStyle>
    <a:defPPr>
      <a:defRPr lang="tr-TR"/>
    </a:defPPr>
    <a:lvl1pPr marL="0" algn="l" defTabSz="457200" rtl="0" eaLnBrk="1" latinLnBrk="0" hangingPunct="1">
      <a:defRPr sz="1800" kern="1200" lang="tr-TR">
        <a:solidFill>
          <a:schemeClr val="tx1"/>
        </a:solidFill>
        <a:latin typeface="+mn-lt"/>
        <a:ea typeface="+mn-ea"/>
        <a:cs typeface="+mn-cs"/>
      </a:defRPr>
    </a:lvl1pPr>
    <a:lvl2pPr marL="457200" algn="l" defTabSz="457200" rtl="0" eaLnBrk="1" latinLnBrk="0" hangingPunct="1">
      <a:defRPr sz="1800" kern="1200" lang="tr-TR">
        <a:solidFill>
          <a:schemeClr val="tx1"/>
        </a:solidFill>
        <a:latin typeface="+mn-lt"/>
        <a:ea typeface="+mn-ea"/>
        <a:cs typeface="+mn-cs"/>
      </a:defRPr>
    </a:lvl2pPr>
    <a:lvl3pPr marL="914400" algn="l" defTabSz="457200" rtl="0" eaLnBrk="1" latinLnBrk="0" hangingPunct="1">
      <a:defRPr sz="1800" kern="1200" lang="tr-TR">
        <a:solidFill>
          <a:schemeClr val="tx1"/>
        </a:solidFill>
        <a:latin typeface="+mn-lt"/>
        <a:ea typeface="+mn-ea"/>
        <a:cs typeface="+mn-cs"/>
      </a:defRPr>
    </a:lvl3pPr>
    <a:lvl4pPr marL="1371600" algn="l" defTabSz="457200" rtl="0" eaLnBrk="1" latinLnBrk="0" hangingPunct="1">
      <a:defRPr sz="1800" kern="1200" lang="tr-TR">
        <a:solidFill>
          <a:schemeClr val="tx1"/>
        </a:solidFill>
        <a:latin typeface="+mn-lt"/>
        <a:ea typeface="+mn-ea"/>
        <a:cs typeface="+mn-cs"/>
      </a:defRPr>
    </a:lvl4pPr>
    <a:lvl5pPr marL="1828800" algn="l" defTabSz="457200" rtl="0" eaLnBrk="1" latinLnBrk="0" hangingPunct="1">
      <a:defRPr sz="1800" kern="1200" lang="tr-TR">
        <a:solidFill>
          <a:schemeClr val="tx1"/>
        </a:solidFill>
        <a:latin typeface="+mn-lt"/>
        <a:ea typeface="+mn-ea"/>
        <a:cs typeface="+mn-cs"/>
      </a:defRPr>
    </a:lvl5pPr>
    <a:lvl6pPr marL="2286000" algn="l" defTabSz="457200" rtl="0" eaLnBrk="1" latinLnBrk="0" hangingPunct="1">
      <a:defRPr sz="1800" kern="1200" lang="tr-TR">
        <a:solidFill>
          <a:schemeClr val="tx1"/>
        </a:solidFill>
        <a:latin typeface="+mn-lt"/>
        <a:ea typeface="+mn-ea"/>
        <a:cs typeface="+mn-cs"/>
      </a:defRPr>
    </a:lvl6pPr>
    <a:lvl7pPr marL="2743200" algn="l" defTabSz="457200" rtl="0" eaLnBrk="1" latinLnBrk="0" hangingPunct="1">
      <a:defRPr sz="1800" kern="1200" lang="tr-TR">
        <a:solidFill>
          <a:schemeClr val="tx1"/>
        </a:solidFill>
        <a:latin typeface="+mn-lt"/>
        <a:ea typeface="+mn-ea"/>
        <a:cs typeface="+mn-cs"/>
      </a:defRPr>
    </a:lvl7pPr>
    <a:lvl8pPr marL="3200400" algn="l" defTabSz="457200" rtl="0" eaLnBrk="1" latinLnBrk="0" hangingPunct="1">
      <a:defRPr sz="1800" kern="1200" lang="tr-TR">
        <a:solidFill>
          <a:schemeClr val="tx1"/>
        </a:solidFill>
        <a:latin typeface="+mn-lt"/>
        <a:ea typeface="+mn-ea"/>
        <a:cs typeface="+mn-cs"/>
      </a:defRPr>
    </a:lvl8pPr>
    <a:lvl9pPr marL="3657600" algn="l" defTabSz="457200" rtl="0" eaLnBrk="1" latinLnBrk="0" hangingPunct="1">
      <a:defRPr sz="1800" kern="1200" lang="tr-TR">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  <Relationship Id="rId32"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tr-TR"/>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tr-TR"/>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tr-TR"/>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tr-TR"/>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tr-TR"/>
          </a:p>
        </p:txBody>
      </p:sp>
    </p:spTree>
  </p:cSld>
  <p:clrMap bg1="lt1" tx1="dk1" bg2="lt2" tx2="dk2" accent1="accent1" accent2="accent2" accent3="accent3" accent4="accent4" accent5="accent5" accent6="accent6" hlink="hlink" folHlink="folHlink"/>
  <p:hf/>
  <p:notesStyle>
    <a:lvl1pPr marL="0" algn="l">
      <a:defRPr sz="1200" lang="tr-TR"/>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bölümde Açıklanabilir Yapay Zekâ, yani XAI konusunu işleyeceğiz. Bölümün ana sorusu şudur: bir model yüksek doğrulukla tahmin üretirken, o tahminin arkasındaki gerekçeyi nasıl görünür kılarız? Bu sorunun cevabını Telco Churn, yani müşteri ayrılma senaryosu üzerinden, SHAP ve LIME yöntemleriyle adım adım kuracağız. Ders boyunca hem kuramsal çerçeveyi hem de çalışan Python kodunu birlikte göreceksiniz; amaç, yalnızca bu yöntemleri tanımak değil, ne zaman ve nasıl güvenle kullanılacaklarını, hangi tuzaklara dikkat edilmesi gerektiğini de kavramaktır.</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Bölümü okurken beş sorunun cevabını aklınızda tutmanızı istiyorum: kara kutu bir modelin tahminine neden güvenmekte zorlanırız, global ve yerel açıklanabilirlik hangi farklı sorulara yanıt verir, SHAP değeri bir özelliğin katkısını nasıl ölçer, LIME tek bir tahmini açıklarken hangi stratejiyi izler ve son olarak açıklama grafiklerini karar sürecinde nasıl doğru yorumlamak gerekir. Bu bölümü rahat takip edebilmeniz için önceki bölümlerde kurduğumuz Random Forest ve XGBoost modellerini, predict_proba çıktısını ve pandas.DataFrame ile özellik tablosu işlemeyi hatırlamanız yeterlidir; bunlar üzerine yeni bir katman ekleyeceğiz; model mimarisini değil, modelin ürettiği tahminin gerekçesini inceleyeceğiz.</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bölümün sonunda beş hedefe ulaşmış olacaksınız. Birincisi, kara kutu bir modelin neden ek açıklama araçlarına ihtiyaç duyduğunu gerekçelendirebilmek; bunu çoktan seçmeli bir soruyla, pozitif SHAP katkısının ne anlama geldiğini doğru seçerek göstereceksiniz. İkincisi, global ve yerel açıklanabilirlik arasındaki farkı Telco Churn senaryosuyla somutlaştırmak; model genelini ve tek bir müşteri kararını birbirinden ayırt eden sorularla ölçüleceksiniz. Üçüncüsü, shap.TreeExplainer aracıyla özellik katkılarını hem özet hem tekil düzeyde hesaplamayı öğrenmek; bu, bölümün en zorlu programlama alıştırması olan XAIKarsilastirici sınıfıyla, SHAP ve LIME çıktı dosyalarını üretecek şekilde sınanacaktır. Dördüncüsü, LimeTabularExplainer ile tek bir tahmin için yerel açıklama üretebilmek; burada LIME kurallarının modelin kendisi değil bir vekil modelin açıklaması olduğunu ayırt etmeniz beklenir. Beşincisi ise SHAP ve LIME çıktılarını karşılaştırıp aralarında tutarsızlık görüldüğünde ek kontrol yapabilmek; açıklamanın nedensellik kanıtı olmadığını fark edip her zaman insan denetimiyle birlikte değerlendirmek bu hedefin özüdür. Vurgulamak isterim ki her hedef yalnızca kodun çalışmasıyla değil, kavramsal doğrulukla birlikte ölçülecektir.</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haritada XAI'nin merkezinde duran kavramdan dört ana dala ayrılıyoruz: global açıklanabilirlik, yerel açıklanabilirlik, SHAP ve LIME. Global açıklanabilirlik tüm veri kümesindeki davranışı, yerel açıklanabilirlik ise tek bir tahminin gerekçesini konu alır; SHAP, Shapley değerleriyle özelliklerin katkısını ölçen bir yöntemdir, LIME ise incelenen noktanın çevresinde yerel bir vekil model kurar. Haritanın altında yatan en önemli uyarı, bütün bu dört unsurun ortak bir sınırı paylaşmasıdır: ürettikleri açıklama, modelin girdi ile çıktı arasında kurduğu ilişkiyi gösterir, gerçek dünyada bir nedensellik kanıtlamaz. Bu ayrımı bölüm boyunca defalarca hatırlatacağız, çünkü hem sınavda hem uygulamada en sık karışan noktadır.</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Sahneyi somutlaştıralım: müşteri hizmetleri müdürü modelin çıktısını gördüğünde tek bir soru sorar — "Model bu müşteriyi neden riskli buldu?" Girdi tarafında tenure, MonthlyCharges ve TotalCharges gibi değişkenler var; bunlar Random Forest ya da XGBoost gibi bir kara kutu modele giriyor ve model müşterinin ayrılma olasılığını yüzde 94,5 olarak tahmin ediyor. Ancak bu tek bir yüzde değeri, saha ekibine hangi teklifin hazırlanması gerektiğini söylemez. Sözleşme süresi kısa bir müşteriye süre uzatma teklifi, ücretinden şikâyetçi bir müşteriye ise paket revizyonu teklif etmek gerekebilir; bu ayrımı yapabilmek için modelin hangi değişkeni, hangi yönde, ne kadar etkili kullandığını bilmemiz gerekir. Bu, yalnızca operasyonel bir ihtiyaç değildir; müşterinin otomatik bir kararın gerekçesini sorma hakkı olduğunu da unutmamak gerekir. XAI, tahmini bozmadan bu gerekçeyi insana görünür kılan araç setidir.</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Şimdi bunu koda dökelim. Amacımız, kara kutu bir Random Forest modelinin tek bir müşteri için ayrılma olasılığını tahmin etmesini göstermek; bunun için tenure, MonthlyCharges ve TotalCharges değişkenlerinden oluşan, 400 gözlemlik sentetik bir Telco Churn benzeri veri kullanıyoruz. Kodda önce özellik tablosunu oluşturuyor, ardından train_test_split ile eğitim ve test kümesine ayırıyoruz; random_state=42 ve stratify=hedef parametreleri, bölünmenin tekrarlanabilir olmasını ve sınıf dengesinin korunmasını sağlıyor. RandomForestClassifier'ı 200 ağaçla eğitiyoruz ve test kümesinden seçtiğimiz bir müşteri için predict_proba çağrısıyla ayrılma olasılığını hesaplıyoruz; çıktı yüzde 94,5 olarak geliyor. Burada önemli olan şu: RandomForestClassifier çok sayıda karar ağacının oylamasıyla tahmin üretir ve predict_proba yalnızca sınıfı değil olasılığı da verir, ama modelin bu olasılığı neden bu kadar yüksek verdiği henüz bilinmiyor. Eğitim ve test ayrımının amacı da modelin daha önce görmediği müşteriler üzerindeki davranışını gözlemlemektir. Bir sonraki adımda bu "neden" sorusuna cevap arayacağız.</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feature_importances_ bize modelin genelinde hangi değişkenlerin daha sık ve etkili kullanıldığını gösterir, ama yön bilgisi vermez; yani bir değişkenin ayrılma olasılığını artırdığını mı azalttığını mı söylemez. Örneğimizde tenure 0,546 ile en yüksek göreli öneme sahip, onu MonthlyCharges 0,231 ve TotalCharges 0,223 izliyor. Burada dikkat edilmesi gereken nokta şu: yüksek MonthlyCharges bazı müşterilerde ayrılma olasılığını artırırken başka bir müşteride azaltabilir; feature_importances_ bu yön farkını göstermez, yalnızca genel kullanım sıklığını ve etkisini özetler. Sağ tarafta gördüğünüz karar mantığı şeridi bize şeffaflıktan kara kutuya doğru bir yelpaze sunuyor: doğrusal model katsayılarla görünür ama karmaşık örüntülerde zayıf kalır, karar ağacı kural yoluyla görünürdür ama aşırı öğrenmeye eğilimlidir, rastgele orman ise çok sayıda ağacın birleşimi olduğu için kara kutu niteliği taşır ve XGBoost'un sıralı ağaç yapısı da ek açıklama gerektirir. Kara kutu model, karmaşık ve doğrusal olmayan ilişkiler için tercih edilir; açıklama ihtiyacı düşükse yalnızca performans metriği yeterli olabilir, ama müşteriyle iletişim kurulacaksa çıktı mutlaka bir açıklamayla desteklenmeli ve daha ayrıntılı yorum için SHAP kullanılmalıdır. Burada sık yapılan bir hatayı da vurgulamak isterim: yüksek doğruluk skorunu tek başına güvenilirlik kanıtı saymak yanlıştır.</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Burada iki kavramı netleştirelim: yorumlanabilirlik modelin kendi yapısına odaklanır — yani modelin iç mekanizmasının ne kadar okunabilir olduğuna; açıklanabilirlik ise modele dışarıdan uygulanan açıklama yöntemlerine, yani SHAP ve LIME gibi araçlara odaklanır. Kara kutu model, iç karar mekanizması insan tarafından kolayca takip edilemeyen modeldir; rastgele orman yüzlerce ağaçtan oluştuğu için tek tek kuralları okumak pratik değildir — tıpkı bir otomatik sıralama bandı gibi, paket doğru hatta gider ama hangi sinyalin bu kararı verdiği belirsizdir. Şeffaf model ise karar ağacı, doğrusal regresyon veya küçük kural kümeleri gibi doğrudan incelenebilir yapılardır; "sözleşme süresi 12 aydan kısa mı?" sorusu okunabilir, ama çok büyük ağaçlar yine zorlaşır — basitlik okunabilirlik sağlar, fakat karmaşık ilişkileri kaçırabilir. Somut bir örnek verelim: bir müşterinin ayrılma olasılığı yüzde 80 olsun; SHAP açıklaması aylık ücretin +0,18, uzun sözleşmenin ise −0,12 katkı verdiğini gösterebilir. Bu, model çıktısını parçalarına ayırır, ama "ücreti düşürürsek müşteri kesinlikle kalır" sonucunu çıkaramayız — açıklama model ile tahmin arasındaki ilişkiyi gösterir, bir müdahalenin nedensel etkisini değil. Bu yüzden yüksek riskli kararlarda açıklama tek başına yeterli değildir; tahmin başarımı, veri kalitesi, alt grup ölçümleri ve insan incelemesiyle birlikte değerlendirilmelidir.</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Global açıklanabilirlik, modelin tüm veri kümesi üzerinde nasıl davrandığını inceler; sorduğu soru "model genel olarak hangi özelliklere önem veriyor?" sorusudur — tek bir müşteriye değil, grubun tamamına odaklanır. Bunu ölçmek için kullandığımız Shapley değeri, oyun teorisinden gelir: bir oyuncunun, yani burada bir özelliğin, takımın toplam sonucuna adil katkısını hesaplar. Formülde F tüm özniteliklerin kümesini, S özniteliği i içermeyen alt kümeleri, v(S) ise S alt kümesiyle elde edilen tahmini temsil eder; formül, i özniteliğinin olası tüm sıralamalarda eklenmesiyle tahmine kattığı ortalama farkı hesaplar. Bunu bir benzetmeyle açıklayalım: global açıklama, bir öğretmenin dönem sonu notlarını incelemesine benzer — tek öğrenciyi değil, bütün sınıfta hangi konuların zorlandığını görmek ister. Telco Churn projesinde de yönetim, müşterilerin genel olarak hangi nedenlerle ayrıldığını anlamak isteyebilir; bu analiz ücretlendirme, kampanya ve sözleşme tasarımı kararları için yol gösterir. Slaytta görmediğiniz ama bilmeniz gereken bir nokta: kaynak metinde SHAP dışında da global yöntemler karşılaştırılır — örneğin permütasyon önemi ve kısmi bağımlılık grafikleri farklı sorulara yanıt verir ve farklı güçlü yönler/sınırlılıklar taşır; SHAP bunlar arasında tutarlılık aksiyomlarını sağlaması bakımından öne çıkar.</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Şimdi bunu shap.TreeExplainer ile koda dökelim; amacımız modelin tüm test verisindeki global davranışını özetlemek, kaynak metindeki Şekil 13.1'e karşılık gelen görselimiz de bu. Kodda önce TreeExplainer'ı kara kutu modelimizle oluşturuyoruz, shap_values ile test kümesindeki tüm gözlemler için SHAP değerlerini hesaplıyoruz ve ayrılma sınıfına karşılık gelen dilimi alıyoruz. shap.summary_plot çağrısı, her özelliğin her gözlemdeki katkısını bir arada gösteren özet grafiği üretir; ortalama mutlak SHAP değerlerine baktığımızda tenure 0,2211 ile en etkili, MonthlyCharges 0,0646 ve TotalCharges 0,0358 ile onu izliyor. Sağdaki şematik beeswarm grafiğinde tenure satırında mavi, yani kısa süreyi temsil eden noktaların sağa, kırmızı yani uzun süreyi temsil eden noktaların sola yığıldığını görüyoruz; bu, kısa üyeliğin ayrılma olasılığını artırdığını görsel olarak doğruluyor. Burada sık yapılan bir hata var: SHAP değerini doğrudan yüzde olasılık farkı sanmak — oysa bu değer modelin çıktı ölçeğine bağlıdır ve doğrudan yüzde olarak okunamaz. Son olarak şunu vurgulamak isterim: global SHAP, politika veya model denetimi amaçlıdır; tek bir müşteri görüşmesinde mutlaka yerel açıklamaya ayrıca bakılmalıdır.</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Yerel açıklama, "model bu müşteri için neden böyle karar verdi?" sorusuna odaklanır; genel davranışı açıklamaz. Yerel açıklanabilirlik tek bir gözlemin tahminini inceler: bir müşterinin ayrılma olasılığı yüzde 72 ise, hangi değişkenlerin bu olasılığı yukarı veya aşağı taşıdığı gösterilir. Slayttaki görselde bu müşteri için taban değerden başlayıp yüzde 72'ye ulaşan bir çubuk görüyorsunuz; sözleşme süresinin kısa olması ve aylık ücretin yüksek olması olasılığı yukarı iterken, uzun sözleşme türü olasılığı aşağı çekiyor. Bunu bir benzetmeyle pekiştirelim: bir öğretmenin öğrenciye yalnızca "notun düşük" demesi yerine "özellikle döngüler ve diziler konularında hata yaptın" demesine benzer — genel sınıf ortalaması öğrencinin kendi eksiklerini açıklamaz, tıpkı global açıklamanın tek bir müşterinin durumunu açıklamaması gibi. Bir sonraki iki slaytta bu yerel açıklamayı önce SHAP, sonra LIME ile nasıl üreteceğimizi göreceğiz.</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Amacımız, tek bir müşterinin ayrılma tahminini SHAP katkılarıyla yerel düzeyde açıklamak; bunun görsel karşılığı SHAP'ın kuvvet grafiğidir (force plot). Kodda test kümesinden bir müşteri seçiyoruz, ayrılma sınıfına ait SHAP katkılarını ve TreeExplainer'ın expected_value'sini, yani taban değerini alıyoruz; shap.force_plot ile bu müşteriye özel kuvvet grafiğini oluşturup HTML olarak kaydediyoruz. Tablodaki değerlere bakarsak: tenure değeri 51,00 iken +0,567 katkı, MonthlyCharges 51,06 iken +0,093 katkı, TotalCharges 2366,05 iken +0,040 katkı üretiyor — kırmızı katkılar tahmini ayrılma yönüne, mavi katkılar ayrılmama yönüne çeker ve toplamda modelin çıktısına yaklaşır. Alttaki birikimli akış bunu görsel olarak özetliyor: taban değerden başlayıp sırasıyla tenure, MonthlyCharges ve TotalCharges katkıları eklenerek nihai tahmin olan yüzde 94,5'e ulaşıyoruz. Yerel SHAP, açıklamanın modelin gerçek davranışına sıkı sıkıya bağlı olması gerektiğinde tercih edilir; ağaç tabanlı modellerde TreeExplainer hem hızlı hem de uygun bir seçenektir, çünkü modelin ağaç yapısını doğrudan kullanarak kesin hesap yapar.</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LIME, açılımıyla Local Interpretable Model-agnostic Explanations, incelenen gözlemin yakınında yapay örnekler üretir; bu örneklerde kara kutu modelin davranışını gözlemler ve basit bir vekil model kurar. Süreç dört adımdan oluşuyor: önce açıklanacak gözlem, yani tek bir müşteri seçilir; ardından bu gözlemin çevresinde yapay pertürbasyon noktaları üretilir; sonra kara kutu modelin bu örneklerdeki çıktısı gözlenir; son olarak bu gözlemler üzerine basit, genellikle doğrusal bir vekil model kurulur ve bu vekil model yerel açıklamayı üretir. Bunu bir benzetmeyle açıklayalım: bir mahalledeki trafik akışını anlamak için tüm şehrin haritasını çıkarmak yerine yalnızca ilgili kavşağın çevresini incelemeye benzer; tekil kararlar için anlaşılır bir açıklama üretir, ama seçilen yakın çevreye duyarlıdır. LIME, model türünden bağımsız olması gerektiğinde tercih edilir — rastgele orman, destek vektör makinesi veya sinir ağı için aynı temel arayüz kullanılabilir; bu, SHAP'ın ağaç tabanlı modellere özel TreeExplainer'ı gibi hıza özel bir optimizasyon sunmasa da, model mimarisinden bağımsız çalışabilme esnekliği sağlar.</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Şimdi aynı müşterinin tahminini LIME ile model-bağımsız bir yerel vekil modelle açıklayacağız; bu, kaynak metindeki Şekil 13.2'ye karşılık geliyor. Kodda LimeTabularExplainer'ı eğitim verisiyle, özellik isimleriyle, sınıf isimleriyle ve sınıflandırma modu ile oluşturuyoruz; random_state=42 vererek tekrarlanabilirliği sağlıyoruz. explain_instance çağrısı, seçili müşterinin değerlerini ve modelin predict_proba fonksiyonunu alarak en etkili üç özelliği döndürüyor ve sonucu HTML dosyası olarak kaydediyoruz. Sağdaki grafikte "tenure &gt; 41,25" kuralı 0,540 ağırlıkla en güçlü etkiye sahip; "39,9 &lt; MonthlyCharges ≤ 51,6" kuralı 0,074 ile ayrılma lehine, "2294,8 &lt; TotalCharges ≤ 2474,3" kuralı ise −0,023 ile ayrılma aleyhine küçük bir katkı taşıyor. LimeTabularExplainer, eğitim verisinin dağılımını kullanarak gözlemin çevresinde örnekler oluşturur; predict_fn parametresiyle kara kutu modelin olasılık fonksiyonunu LIME'a veririz. Burada LIME'ın modelin yerine geçmediğini, yalnızca küçük bir komşulukta davranışı yaklaşıkladığını vurgulamak gerekir. Sık yapılan bir hata da şudur: eşik ifadesini, örneğin "MonthlyCharges &gt; 70" gibi bir kuralı, modelin gerçek kuralı sanmak — bu yalnızca vekil modelin o komşulukta bulduğu yaklaşık kuraldır.</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iki yöntemi bir cümleyle ayıracak olursak: SHAP "özellik tahmine ne kadar katkı verdi?" sorusuna, LIME ise "bu tahminin yakın çevresinde hangi basit açıklama geçerli?" sorusuna cevap arar. Karşılaştırma tablosuna bakarsak, temel yaklaşım olarak SHAP Shapley değerlerini, LIME ise yerel vekil modeli kullanır; global analizde SHAP güçlü, LIME sınırlıdır — çünkü LIME doğası gereği yerel bir yöntemdir; yerel analizde ikisi de güçlüdür; model bağımsızlığında SHAP kullanılan açıklayıcıya bağlıyken LIME yüksek model bağımsızlığı sunar; kararlılıkta ise SHAP genellikle yüksek kararlılık gösterirken LIME örnekleme ayarına duyarlıdır, yani aynı gözlem için farklı çalıştırmalarda farklı sonuçlar üretebilir. Pratikte SHAP ağaç tabanlı modellerde TreeExplainer ile hızlı çalışır; LIME aynı temel arayüzü farklı model türlerinde kullanabilir, ama tekrarlanabilirlik için random_state mutlaka sabitlenmelidir. Kaynak metinde bu karşılaştırmaya eklenen önemli bir capstone notu var: gerçek bir projede iki yöntemin sonuçları çelişirse, bu çelişki hemen "model hatalı" anlamına gelmez; veri hazırlama adımları, özellikler arası korelasyon ve örnekleme ayarları önce incelenmelidir.</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akış şeması, hangi durumda hangi yöntemi seçmeniz gerektiğini özetliyor. İlk karar noktası açıklama kapsamıdır: eğer global bir açıklama istiyorsanız, yani modelin genelindeki davranışı görmek istiyorsanız, SHAP'ın global özet grafiğine yönelirsiniz. Eğer yerel bir açıklama istiyorsanız, ikinci bir karar noktasına geliriz: model ağaç tabanlı mı? Eğer evet ise, SHAP'ın TreeExplainer'ı hızlı ve yerel açıklama için uygun bir seçenektir; eğer hayır ise, yani model bir sinir ağı veya destek vektör makinesi gibi ağaç tabanlı olmayan bir yapıdaysa, model bağımsız çalışan LIME devreye girer. Bu akışın altında yatan temel mesaj şu: nihai açıklama, insan denetiminden bağımsız bir otomasyon gerekçesi değildir; seçilen yöntem yalnızca gerekçeyi görünür kılar, kararı otomatik olarak doğrulamaz — son sözü her zaman insan karar verici söylemelidir.</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İki açıklama türü birbirinin alternatifi değil, tamamlayıcısıdır. Global açıklama modelin tüm veri kümesindeki davranışını denetler; kullanım alanı politika, ücretlendirme ve model denetimi kararlarıdır — SHAP özet grafiği hangi özelliklerin önemli olduğunu ve etki yönünü gösterir, ama tek başına tek bir müşteri kararı için yeterli değildir. Yerel açıklama ise tekil bir kararın gerekçesini denetler; kullanım alanı müşteri görüşmesi, bireysel teklif ve itiraz değerlendirmesidir — SHAP kuvvet grafiği veya LIME kuralları bu müşteride hangi değişkenin baskın olduğunu gösterir, ama tek başına genel model davranışını yansıtmaz. Sağlam bir karar süreci ikisini bir arada kullanır: global açıklama modelin genel eğilimini gösterir, yerel açıklama ise bu eğilimin belirli bir müşteride nasıl gerçekleştiğini doğrular. Kaynak metindeki ikinci akış şeması da bu tamamlayıcılığı vurgular: bir analist önce global SHAP ile modelin genel önceliklerini denetler, sonra kritik veya itirazlı bir vakada yerel açıklamaya döner; bu iki adım birbirinin yerine geçmez.</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Amacımız, aynı müşteri için SHAP ve LIME'ın öne çıkardığı ilk üç özelliği programatik olarak karşılaştırmak. Kodda shap_ilk_ozellikler fonksiyonu, katkı tablosundaki mutlak SHAP değerlerine göre en büyük üç özelliği seçiyor; lime_ilk_ozellikler fonksiyonu ise LIME açıklamasının as_list() çıktısından ilk üç kuralı alıyor. Bu iki liste bir try/except bloğu içinde karşılaştırılıyor; AttributeError veya ValueError oluşursa hata mesajı yazdırılıyor, program çökmüyor. Sonuç tablosuna baktığımızda, hem SHAP hem LIME sıralamasında ilk sırada tenure çıkıyor — SHAP için doğrudan tenure özelliği, LIME için "tenure &gt; 41,25" kuralı; ikinci sırada MonthlyCharges, üçüncü sırada TotalCharges var, ama LIME'ın eşik aralıkları SHAP'ın doğrudan özellik isimlerinden farklı bir sunum biçimi kullanıyor. İki yöntemin aynı sonucu vermesi zorunlu değildir; farklar veri korelasyonu ve örneklemeden kaynaklanabilir. Burada bölümün en sık karşılaşılan yanlış anlamasına değinmek istiyorum: "SHAP ve LIME aynı model için her zaman aynı özellikleri öne çıkarmalıdır" sanılır; oysa SHAP doğrudan modelin katkısını hesaplarken LIME yerel bir vekil model kurar. Tutarsızlık görüldüğünde model hemen hatalı kabul edilmemeli; veri hazırlama, özellik bağımlılıkları ve örnekleme ayarları incelenmelidir.</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l-GR" dirty="0"/>
              <a:t>Bu slaytta SHAP'ın toplamsal özellik atfı yaklaşımını formülüyle birlikte görüyoruz: g(x) = φ₀ + Σⱼ φⱼ; burada φ₀ taban değeri, φⱼ ise j'inci özelliğin açıklamadaki katkısını temsil eder. Katkılar toplanır, ama bu toplamın gerçek dünyada bağımsız bir nedensel etki anlamına gelmediğini tekrar hatırlatmak isterim. Alttaki birikimli grafik, taban değer 0,30'dan başlayarak özellik A'nın +0,25, özellik B'nin −0,08 ve özellik C'nin +0,30 katkısıyla nihai tahmin olan g(x) = 0,77'ye nasıl ulaşıldığını gösteriyor. Bu görsel, kaynak metindeki yerel SHAP katkı akışı şemasının bir genellemesidir ve önceki slaytlarda gördüğümüz belirli müşteri örneğinden bağımsız, kavramı soyut biçimde pekiştirmeyi amaçlar. Yerel SHAP açıklaması, tek bir gözlemin taban değerden nihai tahmine nasıl taşındığını katkıların yönü ve büyüklüğüyle görünür kılar; bu akış nedensel kanıt oluşturmaz, yalnızca modelin toplamsal ilişkisini gösterir.</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Şimdi öğrendiklerimizi tek bir sınıfta birleştireceğiz. ChurnAciklamaUygulamasi sınıfı, model eğitimini, tahmini, SHAP ve LIME açıklamalarını tek bir akışta toplayıp eşik tabanlı bir öneri üretiyor. Sınıfın içinde bir RandomForestClassifier ve sabit bir random_state tutuluyor; veri_hazirla() metodu sentetik veri üretirken, calistir() metodu eğitim, SHAP ve LIME adımlarını sırasıyla yürütüyor: önce fit, sonra predict_proba, ardından TreeExplainer, en son LimeTabularExplainer çağrılıyor ve eşik tabanlı öneri yazdırılıyor. Sabit hiperparametreler — 200 ağaç ve random_state=42 — tekrarlanabilirliği garanti ediyor; try/except ValueError bloğu ise veri hatasında anlaşılır bir mesaj veriyor, program çökmüyor. Sağdaki rapor çıktısında bir müşteri için yüzde 94,5 ayrılma olasılığı, SHAP katkıları (tenure +0,567, MonthlyCharges +0,093) ve LIME açıklaması ("tenure &gt; 41,25: 0,540") görülüyor; eşik kuralı olasılık 0,60 ve üzeriyse kişiselleştirilmiş elde tutma teklifi önerilmesi, aksi halde rutin izleme listesine alınması şeklinde işliyor. Bu programı genişletmek isterseniz, SHAP özet grafiğini dosyaya kaydeden bir yöntem ekleyebilir, müşteri kimliğini girdi olarak alan bir komut satırı arayüzü oluşturabilir veya model tahminini ve açıklamayı bir yönetici panelinde göstermek için Streamlit arayüzü geliştirebilirsiniz — kaynak metinde bu üç genişletme doğrudan alıştırma olarak önerilmektedir.</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Şimdi üç yaygın yanlış anlamayı netleştirelim; bunlar kaynak metindeki "hatalı ifadeyi bulun" alıştırmasından geliyor. Birincisi: "SHAP değeri, özelliğin hedef olaya sebep olduğunu kanıtlar" cümlesi yanlıştır. SHAP yalnızca modelin kararına yaptığı katkıyı ölçer, nedensellik kanıtlamaz; birlikte değişen özellikler aynı tahmini farklı biçimlerde açıklanabilir kılar. Nedensel bir iddiada bulunmak için alan bilgisi, uygun bir araştırma tasarımı ve gerektiğinde müdahale ya da karşı-olgusal kanıt gerekir. İkincisi: "LIME çıktısındaki kurallar modelin gerçek kurallarıdır" cümlesi de yanlıştır. LIME kuralları yerel bir vekil modelin açıklamasıdır; orijinal modelin gerçek kuralı olmak zorunda değildir ve örnekleme rastgeleliğine duyarlıdır. Kritik kararlarda bu kuralı orijinal modelin çıktısıyla ve random_state sabitlenmiş birden fazla LIME çalıştırmasıyla doğrulamak gerekir. Üçüncüsü: "global açıklama tek müşteri görüşmesi için yeterlidir" cümlesi de yanlıştır. Global açıklama genel model davranışını gösterir; genelde en etkili özellik olsa bile belirli bir müşteride başka bir özellik daha baskın çıkabilir. Bu yüzden bireysel bir karar öncesi her zaman o müşterinin kendi yerel açıklamasına, yani SHAP kuvvet grafiğine veya LIME kuralına bakılmalıdır.</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Şimdi gerçek projelerde karşılaşılan altı tuzağı gözden geçirelim. Eğitim verisiyle açıklama üretmek modeli olduğundan güvenilir gösterebilir; açıklamalar mutlaka ayrı bir test verisinde incelenmelidir. Birincisi, veri kalitesini gizlemek: sızıntı içeren bir özellik güçlü bir SHAP katkısı üretebilir; açıklama bu hatayı gösterir ama düzeltmez, dolayısıyla yüksek katkılı bir özelliğin nasıl hesaplandığı mutlaka kontrol edilmelidir. İkincisi, hesaplama maliyetini göz ardı etmek: büyük veride her tahmin için yeniden hesaplama üretim ortamında gecikmeyi artırır; SHAP değerleri toplu olarak önbelleğe alınmalıdır. Üçüncüsü, örnekleme duyarlılığını unutmak: random_state sabitlenmezse LIME aynı müşteri için farklı kurallar üretebilir; kararlılık ayrıca incelenmelidir. Dördüncüsü, global önemi tekil bir karara doğrudan uygulamak: en etkili global özellik, belirli bir müşteride başka bir özellik kadar baskın olmayabilir. Beşincisi, kütüphane sürüm farklarını göz ardı etmek: SHAP ve LIME'ın çıktı biçimi sürümler arası değişebilir; sürüm sabitlenmeli ve açıklama testleri yükseltmeden önce çalıştırılmalıdır. Altıncısı, açıklama çıktısını incelemeden paylaşmak: ham SHAP tablosu veya LIME kuralı doğrudan müşteriyle paylaşılmamalı, basit bir çubuk grafik çoğu zaman daha etkili olur. Kaynak metinde bu tuzakların yanında bir de hata ayıklama alıştırması var: örneklenmemiş bir sınıf, tek boyutlu müşteri verisi ve tanımsız bir değişken gibi beş isimlendirilmiş hatayı bulup düzeltmeniz isteniyor; bu alıştırma, açıklama kodunun da normal kod gibi test ve hata ayıklama disipliniyle yazılması gerektiğini pekiştiriyor.</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l-GR" dirty="0"/>
              <a:t>Bu slaytta iki yöntemin matematiksel temelini ve ortak varsayımını bir arada görüyoruz. SHAP'ın toplamsal özellik atfı formülü g(x) = φ₀ + Σⱼ φⱼ; LIME'ın optimizasyonu ise ξ(x) = argmin_g L(f,g,πₓ) + Ω(g) biçiminde, yerel sadakat kaybı ile modelin basitlik cezası arasında bir denge kurar. Her iki yöntem de modelin kara kutu davranışını yerel olarak doğrusala yakın kabul eder; bu nedenle sonuçlar korelasyon gösterir, nedensellik kanıtlamaz — bu, bölüm boyunca vurguladığımız temel uyarının matematiksel karşılığıdır. Karşılaştırma tablosunda üç yöntemi görüyoruz: SHAP, Shapley değerleriyle toplamsal katkı hesaplar, özellik katkılarının toplamsal olduğunu varsayar ve büyük veride hesaplama maliyeti yüksektir; LIME, yerel bir doğrusal vekil model kurar, komşuluğun yerelde doğrusala yakın olduğunu varsayar ve örnekleme rastgeleliğine duyarlı olduğu için kararsız olabilir; özellik önemi ise ağaç bazlı global bir sıralama sunar, bölünme sıklığı ve kalitesinin önemi yansıttığını varsayar, ama yerel veya örnek bazlı bilgi vermez. Yöntem seçimi; veri boyutu, gereken açıklama düzeyinin global mi yerel mi olduğu ve kararın etki alanına göre yapılmalıdır.</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Bölümü altı ana fikirle toparlayalım. Kara kutu model, yüksek doğruluk sağlarken karar mekanizmasının görünmezliğini de beraberinde getirir. Global açıklanabilirlik, modelin genel davranışını ve özellik önemini SHAP özet grafiğiyle gösterir. Yerel açıklanabilirlik ise tek bir tahmini SHAP kuvvet grafiği veya LIME kuralıyla gerekçelendirir. SHAP ve LIME, sırasıyla toplamsal katkı ve yerel vekil model yaklaşımlarıyla farklı varsayımlara dayanır, ama birbirinin alternatifi değil tamamlayıcısıdır. Telco Churn uygulamamızda RandomForestClassifier, TreeExplainer ve LimeTabularExplainer'ı tek bir sınıfta birleştirerek eşik tabanlı bir öneri ürettik. Ve son olarak, bölüm boyunca tekrarladığımız nedensellik uyarısı: açıklama yöntemleri korelasyon gösterir, nedensellik iddiası ayrı bir kanıt gerektirir. XAI'nin en önemli katkısı, modeli daha basit yapmak değildir; kararları görünür, sorgulanabilir ve savunulabilir hâle getirmektir.</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bölümde bir modelin kararlarını açıklayabilir hâle geldik. Ama sıradaki soru farklı bir boyuta taşıyor: bu açıklamaların ve modelin performansının zaman içinde geçerliliğini koruyup korumadığı. Artık SHAP ve LIME ile global ve yerel açıklama üretebiliyor, açıklamaları nedensellik iddiasına dönüştürmeden yorumlayabiliyorsunuz. Bir sonraki bölümde kavram kayması ve model izleme konusunu işleyeceğiz; üretimdeki bir modelin zamanla nasıl bozulduğunu, yani veri dağılımı değiştikçe geçmişte doğru olan açıklamaların ve tahminlerin neden artık geçerli olmayabileceğini öğreneceksiniz. Bu bölümde ürettiğiniz açıklamaları, ilerleyen izleme panellerinde performans ölçütleriyle birlikte düzenli olarak gözden geçirmeyi şimdiden bir alışkanlık hâline getirmenizi öneririm.</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ch13_aciklanabilir_yapay_zeka_xai-20260916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tr-TR" smtClean="0"/>
              <a:t>1/27/13</a:t>
            </a:fld>
            <a:endParaRPr lang="tr-TR"/>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C1FF6DA9-008F-8B48-92A6-B652298478BF}" type="slidenum">
              <a:rPr lang="tr-TR" smtClean="0"/>
              <a:t>‹#›</a:t>
            </a:fld>
            <a:endParaRPr lang="tr-TR"/>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ch13_aciklanabilir_yapay_zeka_xai-20260916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tr-TR">
                <a:solidFill>
                  <a:schemeClr val="tx1">
                    <a:tint val="75000"/>
                  </a:schemeClr>
                </a:solidFill>
              </a:defRPr>
            </a:lvl1pPr>
          </a:lstStyle>
          <a:p>
            <a:fld id="{5BCAD085-E8A6-8845-BD4E-CB4CCA059FC4}" type="datetimeFigureOut">
              <a:rPr lang="tr-TR" smtClean="0"/>
              <a:t>1/27/13</a:t>
            </a:fld>
            <a:endParaRPr lang="tr-T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tr-TR">
                <a:solidFill>
                  <a:schemeClr val="tx1">
                    <a:tint val="75000"/>
                  </a:schemeClr>
                </a:solidFill>
              </a:defRPr>
            </a:lvl1pPr>
          </a:lstStyle>
          <a:p>
            <a:endParaRPr lang="tr-T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tr-TR">
                <a:solidFill>
                  <a:schemeClr val="tx1">
                    <a:tint val="75000"/>
                  </a:schemeClr>
                </a:solidFill>
              </a:defRPr>
            </a:lvl1pPr>
          </a:lstStyle>
          <a:p>
            <a:fld id="{C1FF6DA9-008F-8B48-92A6-B652298478BF}" type="slidenum">
              <a:rPr lang="tr-TR" smtClean="0"/>
              <a:t>‹#›</a:t>
            </a:fld>
            <a:endParaRPr lang="tr-TR"/>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4400" kern="1200" lang="tr-TR">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lang="tr-TR">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lang="tr-TR">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lang="tr-TR">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9pPr>
    </p:bodyStyle>
    <p:otherStyle>
      <a:defPPr>
        <a:defRPr lang="tr-TR"/>
      </a:defPPr>
      <a:lvl1pPr marL="0" algn="l" defTabSz="457200" rtl="0" eaLnBrk="1" latinLnBrk="0" hangingPunct="1">
        <a:defRPr sz="1800" kern="1200" lang="tr-TR">
          <a:solidFill>
            <a:schemeClr val="tx1"/>
          </a:solidFill>
          <a:latin typeface="+mn-lt"/>
          <a:ea typeface="+mn-ea"/>
          <a:cs typeface="+mn-cs"/>
        </a:defRPr>
      </a:lvl1pPr>
      <a:lvl2pPr marL="457200" algn="l" defTabSz="457200" rtl="0" eaLnBrk="1" latinLnBrk="0" hangingPunct="1">
        <a:defRPr sz="1800" kern="1200" lang="tr-TR">
          <a:solidFill>
            <a:schemeClr val="tx1"/>
          </a:solidFill>
          <a:latin typeface="+mn-lt"/>
          <a:ea typeface="+mn-ea"/>
          <a:cs typeface="+mn-cs"/>
        </a:defRPr>
      </a:lvl2pPr>
      <a:lvl3pPr marL="914400" algn="l" defTabSz="457200" rtl="0" eaLnBrk="1" latinLnBrk="0" hangingPunct="1">
        <a:defRPr sz="1800" kern="1200" lang="tr-TR">
          <a:solidFill>
            <a:schemeClr val="tx1"/>
          </a:solidFill>
          <a:latin typeface="+mn-lt"/>
          <a:ea typeface="+mn-ea"/>
          <a:cs typeface="+mn-cs"/>
        </a:defRPr>
      </a:lvl3pPr>
      <a:lvl4pPr marL="1371600" algn="l" defTabSz="457200" rtl="0" eaLnBrk="1" latinLnBrk="0" hangingPunct="1">
        <a:defRPr sz="1800" kern="1200" lang="tr-TR">
          <a:solidFill>
            <a:schemeClr val="tx1"/>
          </a:solidFill>
          <a:latin typeface="+mn-lt"/>
          <a:ea typeface="+mn-ea"/>
          <a:cs typeface="+mn-cs"/>
        </a:defRPr>
      </a:lvl4pPr>
      <a:lvl5pPr marL="1828800" algn="l" defTabSz="457200" rtl="0" eaLnBrk="1" latinLnBrk="0" hangingPunct="1">
        <a:defRPr sz="1800" kern="1200" lang="tr-TR">
          <a:solidFill>
            <a:schemeClr val="tx1"/>
          </a:solidFill>
          <a:latin typeface="+mn-lt"/>
          <a:ea typeface="+mn-ea"/>
          <a:cs typeface="+mn-cs"/>
        </a:defRPr>
      </a:lvl5pPr>
      <a:lvl6pPr marL="2286000" algn="l" defTabSz="457200" rtl="0" eaLnBrk="1" latinLnBrk="0" hangingPunct="1">
        <a:defRPr sz="1800" kern="1200" lang="tr-TR">
          <a:solidFill>
            <a:schemeClr val="tx1"/>
          </a:solidFill>
          <a:latin typeface="+mn-lt"/>
          <a:ea typeface="+mn-ea"/>
          <a:cs typeface="+mn-cs"/>
        </a:defRPr>
      </a:lvl6pPr>
      <a:lvl7pPr marL="2743200" algn="l" defTabSz="457200" rtl="0" eaLnBrk="1" latinLnBrk="0" hangingPunct="1">
        <a:defRPr sz="1800" kern="1200" lang="tr-TR">
          <a:solidFill>
            <a:schemeClr val="tx1"/>
          </a:solidFill>
          <a:latin typeface="+mn-lt"/>
          <a:ea typeface="+mn-ea"/>
          <a:cs typeface="+mn-cs"/>
        </a:defRPr>
      </a:lvl7pPr>
      <a:lvl8pPr marL="3200400" algn="l" defTabSz="457200" rtl="0" eaLnBrk="1" latinLnBrk="0" hangingPunct="1">
        <a:defRPr sz="1800" kern="1200" lang="tr-TR">
          <a:solidFill>
            <a:schemeClr val="tx1"/>
          </a:solidFill>
          <a:latin typeface="+mn-lt"/>
          <a:ea typeface="+mn-ea"/>
          <a:cs typeface="+mn-cs"/>
        </a:defRPr>
      </a:lvl8pPr>
      <a:lvl9pPr marL="3657600" algn="l" defTabSz="457200" rtl="0" eaLnBrk="1" latinLnBrk="0" hangingPunct="1">
        <a:defRPr sz="1800" kern="1200" lang="tr-TR">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8.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9.xml"/>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0.xml"/>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1.xml"/>
</Relationships>
</file>

<file path=ppt/slides/_rels/slide2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2.xml"/>
</Relationships>
</file>

<file path=ppt/slides/_rels/slide2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3.xml"/>
</Relationships>
</file>

<file path=ppt/slides/_rels/slide2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4.xml"/>
</Relationships>
</file>

<file path=ppt/slides/_rels/slide2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5.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cover-panel"/>
          <p:cNvSpPr/>
          <p:nvPr/>
        </p:nvSpPr>
        <p:spPr>
          <a:xfrm>
            <a:off x="0" y="0"/>
            <a:ext cx="4191000" cy="6858000"/>
          </a:xfrm>
          <a:prstGeom prst="rect">
            <a:avLst/>
          </a:prstGeom>
          <a:solidFill>
            <a:srgbClr val="12355B"/>
          </a:solidFill>
          <a:ln>
            <a:noFill/>
          </a:ln>
        </p:spPr>
      </p:sp>
      <p:sp>
        <p:nvSpPr>
          <p:cNvPr id="3" name="Line 3"/>
          <p:cNvSpPr/>
          <p:nvPr/>
        </p:nvSpPr>
        <p:spPr>
          <a:xfrm>
            <a:off x="685800" y="5905500"/>
            <a:ext cx="10553700" cy="1"/>
          </a:xfrm>
          <a:prstGeom prst="line">
            <a:avLst/>
          </a:prstGeom>
          <a:noFill/>
          <a:ln w="19050">
            <a:solidFill>
              <a:srgbClr val="00A6A6"/>
            </a:solidFill>
            <a:tailEnd type="arrow" w="lg" len="lg"/>
          </a:ln>
        </p:spPr>
      </p:sp>
      <p:grpSp>
        <p:nvGrpSpPr>
          <p:cNvPr id="6" name="cover-chapter"/>
          <p:cNvGrpSpPr/>
          <p:nvPr/>
        </p:nvGrpSpPr>
        <p:grpSpPr>
          <a:xfrm>
            <a:off x="666750" y="2251710"/>
            <a:ext cx="1787319" cy="2410777"/>
            <a:chOff x="666750" y="2251710"/>
            <a:chExt cx="1787319" cy="2410777"/>
          </a:xfrm>
        </p:grpSpPr>
        <p:sp>
          <p:nvSpPr>
            <p:cNvPr id="4" name="TextBox 4"/>
            <p:cNvSpPr txBox="1"/>
            <p:nvPr/>
          </p:nvSpPr>
          <p:spPr>
            <a:xfrm>
              <a:off x="679704" y="2251710"/>
              <a:ext cx="668914" cy="234696"/>
            </a:xfrm>
            <a:prstGeom prst="rect">
              <a:avLst/>
            </a:prstGeom>
            <a:noFill/>
            <a:ln>
              <a:noFill/>
            </a:ln>
          </p:spPr>
          <p:txBody>
            <a:bodyPr wrap="none" lIns="0" tIns="0" rIns="0" bIns="0" anchor="t" anchorCtr="0">
              <a:spAutoFit/>
            </a:bodyPr>
            <a:lstStyle/>
            <a:p>
              <a:pPr algn="l"/>
              <a:r>
                <a:rPr lang="tr-TR" sz="1200" b="1" spc="225" dirty="0">
                  <a:solidFill>
                    <a:srgbClr val="EAF4F6"/>
                  </a:solidFill>
                  <a:latin typeface="+mn-lt"/>
                  <a:ea typeface="+mn-ea"/>
                  <a:cs typeface="+mn-cs"/>
                </a:rPr>
                <a:t>BÖLÜM</a:t>
              </a:r>
            </a:p>
          </p:txBody>
        </p:sp>
        <p:sp>
          <p:nvSpPr>
            <p:cNvPr id="5" name="TextBox 5"/>
            <p:cNvSpPr txBox="1"/>
            <p:nvPr/>
          </p:nvSpPr>
          <p:spPr>
            <a:xfrm>
              <a:off x="666750" y="2500312"/>
              <a:ext cx="1787319" cy="2162175"/>
            </a:xfrm>
            <a:prstGeom prst="rect">
              <a:avLst/>
            </a:prstGeom>
            <a:noFill/>
            <a:ln>
              <a:noFill/>
            </a:ln>
          </p:spPr>
          <p:txBody>
            <a:bodyPr wrap="none" lIns="0" tIns="0" rIns="0" bIns="0" anchor="t" anchorCtr="0">
              <a:spAutoFit/>
            </a:bodyPr>
            <a:lstStyle/>
            <a:p>
              <a:pPr algn="l"/>
              <a:r>
                <a:rPr lang="tr-TR" sz="11250" b="1" dirty="0">
                  <a:solidFill>
                    <a:srgbClr val="00A6A6"/>
                  </a:solidFill>
                  <a:latin typeface="+mj-lt"/>
                  <a:ea typeface="+mj-ea"/>
                  <a:cs typeface="+mj-cs"/>
                </a:rPr>
                <a:t>13</a:t>
              </a:r>
            </a:p>
          </p:txBody>
        </p:sp>
      </p:grpSp>
      <p:grpSp>
        <p:nvGrpSpPr>
          <p:cNvPr id="8" name="cover-title"/>
          <p:cNvGrpSpPr/>
          <p:nvPr/>
        </p:nvGrpSpPr>
        <p:grpSpPr>
          <a:xfrm>
            <a:off x="4934712" y="1611630"/>
            <a:ext cx="5485257" cy="2418588"/>
            <a:chOff x="4934712" y="1611630"/>
            <a:chExt cx="5485257" cy="2418588"/>
          </a:xfrm>
        </p:grpSpPr>
        <p:sp>
          <p:nvSpPr>
            <p:cNvPr id="7" name="TextBox 7"/>
            <p:cNvSpPr txBox="1"/>
            <p:nvPr/>
          </p:nvSpPr>
          <p:spPr>
            <a:xfrm>
              <a:off x="4934712" y="1611630"/>
              <a:ext cx="5485257" cy="2418588"/>
            </a:xfrm>
            <a:prstGeom prst="rect">
              <a:avLst/>
            </a:prstGeom>
            <a:noFill/>
            <a:ln>
              <a:noFill/>
            </a:ln>
          </p:spPr>
          <p:txBody>
            <a:bodyPr wrap="none" lIns="0" tIns="0" rIns="0" bIns="0" anchor="t" anchorCtr="0">
              <a:spAutoFit/>
            </a:bodyPr>
            <a:lstStyle/>
            <a:p>
              <a:pPr algn="l">
                <a:lnSpc>
                  <a:spcPts val="4500"/>
                </a:lnSpc>
              </a:pPr>
              <a:r>
                <a:rPr lang="tr-TR" sz="3600" b="1" dirty="0">
                  <a:solidFill>
                    <a:srgbClr val="12355B"/>
                  </a:solidFill>
                  <a:latin typeface="+mj-lt"/>
                  <a:ea typeface="+mj-ea"/>
                  <a:cs typeface="+mj-cs"/>
                </a:rPr>
                <a:t>Açıklanabilir</a:t>
              </a:r>
              <a:br/>
              <a:r>
                <a:rPr lang="tr-TR" sz="3600" b="1" dirty="0">
                  <a:solidFill>
                    <a:srgbClr val="12355B"/>
                  </a:solidFill>
                  <a:latin typeface="+mj-lt"/>
                  <a:ea typeface="+mj-ea"/>
                  <a:cs typeface="+mj-cs"/>
                </a:rPr>
                <a:t>Yapay Zekâ ve</a:t>
              </a:r>
              <a:br/>
              <a:r>
                <a:rPr lang="tr-TR" sz="3600" b="1" dirty="0">
                  <a:solidFill>
                    <a:srgbClr val="12355B"/>
                  </a:solidFill>
                  <a:latin typeface="+mj-lt"/>
                  <a:ea typeface="+mj-ea"/>
                  <a:cs typeface="+mj-cs"/>
                </a:rPr>
                <a:t>Model Yorumlanabilirliği</a:t>
              </a:r>
              <a:br/>
              <a:r>
                <a:rPr lang="tr-TR" sz="3600" b="1" dirty="0">
                  <a:solidFill>
                    <a:srgbClr val="12355B"/>
                  </a:solidFill>
                  <a:latin typeface="+mj-lt"/>
                  <a:ea typeface="+mj-ea"/>
                  <a:cs typeface="+mj-cs"/>
                </a:rPr>
                <a:t>(XAI)</a:t>
              </a:r>
            </a:p>
          </p:txBody>
        </p:sp>
      </p:grpSp>
      <p:grpSp>
        <p:nvGrpSpPr>
          <p:cNvPr id="12" name="cover-subtitle"/>
          <p:cNvGrpSpPr/>
          <p:nvPr/>
        </p:nvGrpSpPr>
        <p:grpSpPr>
          <a:xfrm>
            <a:off x="4943094" y="4381500"/>
            <a:ext cx="3976056" cy="900018"/>
            <a:chOff x="4943094" y="4381500"/>
            <a:chExt cx="3976056" cy="900018"/>
          </a:xfrm>
        </p:grpSpPr>
        <p:sp>
          <p:nvSpPr>
            <p:cNvPr id="9" name="Rectangle 9"/>
            <p:cNvSpPr/>
            <p:nvPr/>
          </p:nvSpPr>
          <p:spPr>
            <a:xfrm>
              <a:off x="4953000" y="4381500"/>
              <a:ext cx="1143000" cy="38100"/>
            </a:xfrm>
            <a:prstGeom prst="rect">
              <a:avLst/>
            </a:prstGeom>
            <a:solidFill>
              <a:srgbClr val="00A6A6"/>
            </a:solidFill>
            <a:ln>
              <a:noFill/>
            </a:ln>
          </p:spPr>
        </p:sp>
        <p:sp>
          <p:nvSpPr>
            <p:cNvPr id="10" name="TextBox 10"/>
            <p:cNvSpPr txBox="1"/>
            <p:nvPr/>
          </p:nvSpPr>
          <p:spPr>
            <a:xfrm>
              <a:off x="4943094" y="4513898"/>
              <a:ext cx="3976056" cy="381381"/>
            </a:xfrm>
            <a:prstGeom prst="rect">
              <a:avLst/>
            </a:prstGeom>
            <a:noFill/>
            <a:ln>
              <a:noFill/>
            </a:ln>
          </p:spPr>
          <p:txBody>
            <a:bodyPr wrap="none" lIns="0" tIns="0" rIns="0" bIns="0" anchor="t" anchorCtr="0">
              <a:spAutoFit/>
            </a:bodyPr>
            <a:lstStyle/>
            <a:p>
              <a:pPr algn="l"/>
              <a:r>
                <a:rPr lang="tr-TR" sz="1950" dirty="0">
                  <a:solidFill>
                    <a:srgbClr val="2E86AB"/>
                  </a:solidFill>
                  <a:latin typeface="+mn-lt"/>
                  <a:ea typeface="+mn-ea"/>
                  <a:cs typeface="+mn-cs"/>
                </a:rPr>
                <a:t>Modern Veri Madenciliğine Giriş</a:t>
              </a:r>
            </a:p>
          </p:txBody>
        </p:sp>
        <p:sp>
          <p:nvSpPr>
            <p:cNvPr id="11" name="TextBox 11"/>
            <p:cNvSpPr txBox="1"/>
            <p:nvPr/>
          </p:nvSpPr>
          <p:spPr>
            <a:xfrm>
              <a:off x="4944999" y="4973479"/>
              <a:ext cx="2498467"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Prof. Dr. İsmail KIRBAŞ</a:t>
              </a:r>
            </a:p>
          </p:txBody>
        </p:sp>
      </p:grpSp>
      <p:grpSp>
        <p:nvGrpSpPr>
          <p:cNvPr id="14" name="cover-meta"/>
          <p:cNvGrpSpPr/>
          <p:nvPr/>
        </p:nvGrpSpPr>
        <p:grpSpPr>
          <a:xfrm>
            <a:off x="4946904" y="6233160"/>
            <a:ext cx="4973434" cy="234696"/>
            <a:chOff x="4946904" y="6233160"/>
            <a:chExt cx="4973434" cy="234696"/>
          </a:xfrm>
        </p:grpSpPr>
        <p:sp>
          <p:nvSpPr>
            <p:cNvPr id="13" name="TextBox 13"/>
            <p:cNvSpPr txBox="1"/>
            <p:nvPr/>
          </p:nvSpPr>
          <p:spPr>
            <a:xfrm>
              <a:off x="4946904" y="6233160"/>
              <a:ext cx="4973434"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Mehmet Akif Ersoy Üniversitesi · Bilgisayar Mühendisliği · 2026</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3606794" cy="557403"/>
            <a:chOff x="595122" y="282892"/>
            <a:chExt cx="3606794" cy="557403"/>
          </a:xfrm>
        </p:grpSpPr>
        <p:sp>
          <p:nvSpPr>
            <p:cNvPr id="4" name="TextBox 4"/>
            <p:cNvSpPr txBox="1"/>
            <p:nvPr/>
          </p:nvSpPr>
          <p:spPr>
            <a:xfrm>
              <a:off x="595122" y="282892"/>
              <a:ext cx="3606794"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Bölüm yol haritası</a:t>
              </a:r>
            </a:p>
          </p:txBody>
        </p:sp>
      </p:grpSp>
      <p:grpSp>
        <p:nvGrpSpPr>
          <p:cNvPr id="7" name="intro-line"/>
          <p:cNvGrpSpPr/>
          <p:nvPr/>
        </p:nvGrpSpPr>
        <p:grpSpPr>
          <a:xfrm>
            <a:off x="601599" y="1201579"/>
            <a:ext cx="5202566" cy="308039"/>
            <a:chOff x="601599" y="1201579"/>
            <a:chExt cx="5202566" cy="308039"/>
          </a:xfrm>
        </p:grpSpPr>
        <p:sp>
          <p:nvSpPr>
            <p:cNvPr id="6" name="TextBox 6"/>
            <p:cNvSpPr txBox="1"/>
            <p:nvPr/>
          </p:nvSpPr>
          <p:spPr>
            <a:xfrm>
              <a:off x="601599" y="1201579"/>
              <a:ext cx="5202566"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Bu bölümü okurken şu beş soruyu aklınızda tutun:</a:t>
              </a:r>
            </a:p>
          </p:txBody>
        </p:sp>
      </p:grpSp>
      <p:grpSp>
        <p:nvGrpSpPr>
          <p:cNvPr id="11" name="road-q1"/>
          <p:cNvGrpSpPr/>
          <p:nvPr/>
        </p:nvGrpSpPr>
        <p:grpSpPr>
          <a:xfrm>
            <a:off x="609600" y="1676400"/>
            <a:ext cx="7844195" cy="386334"/>
            <a:chOff x="609600" y="1676400"/>
            <a:chExt cx="7844195" cy="386334"/>
          </a:xfrm>
        </p:grpSpPr>
        <p:sp>
          <p:nvSpPr>
            <p:cNvPr id="8" name="Rectangle 8"/>
            <p:cNvSpPr/>
            <p:nvPr/>
          </p:nvSpPr>
          <p:spPr>
            <a:xfrm>
              <a:off x="609600" y="1676400"/>
              <a:ext cx="342900" cy="342900"/>
            </a:xfrm>
            <a:prstGeom prst="roundRect">
              <a:avLst>
                <a:gd name="adj" fmla="val 16667"/>
              </a:avLst>
            </a:prstGeom>
            <a:solidFill>
              <a:srgbClr val="12355B"/>
            </a:solidFill>
            <a:ln>
              <a:noFill/>
            </a:ln>
          </p:spPr>
        </p:sp>
        <p:sp>
          <p:nvSpPr>
            <p:cNvPr id="9" name="TextBox 9"/>
            <p:cNvSpPr txBox="1"/>
            <p:nvPr/>
          </p:nvSpPr>
          <p:spPr>
            <a:xfrm>
              <a:off x="721715" y="1759268"/>
              <a:ext cx="118669" cy="264033"/>
            </a:xfrm>
            <a:prstGeom prst="rect">
              <a:avLst/>
            </a:prstGeom>
            <a:noFill/>
            <a:ln>
              <a:noFill/>
            </a:ln>
          </p:spPr>
          <p:txBody>
            <a:bodyPr wrap="none" lIns="0" tIns="0" rIns="0" bIns="0" anchor="t" anchorCtr="0">
              <a:spAutoFit/>
            </a:bodyPr>
            <a:lstStyle/>
            <a:p>
              <a:pPr algn="ctr"/>
              <a:r>
                <a:rPr lang="tr-TR" sz="1350" b="1" dirty="0">
                  <a:solidFill>
                    <a:srgbClr val="FFFFFF"/>
                  </a:solidFill>
                  <a:latin typeface="+mn-lt"/>
                  <a:ea typeface="+mn-ea"/>
                  <a:cs typeface="+mn-cs"/>
                </a:rPr>
                <a:t>1</a:t>
              </a:r>
            </a:p>
          </p:txBody>
        </p:sp>
        <p:sp>
          <p:nvSpPr>
            <p:cNvPr id="10" name="TextBox 10"/>
            <p:cNvSpPr txBox="1"/>
            <p:nvPr/>
          </p:nvSpPr>
          <p:spPr>
            <a:xfrm>
              <a:off x="1133856" y="1710690"/>
              <a:ext cx="7319939" cy="352044"/>
            </a:xfrm>
            <a:prstGeom prst="rect">
              <a:avLst/>
            </a:prstGeom>
            <a:noFill/>
            <a:ln>
              <a:noFill/>
            </a:ln>
          </p:spPr>
          <p:txBody>
            <a:bodyPr wrap="none" lIns="0" tIns="0" rIns="0" bIns="0" anchor="t" anchorCtr="0">
              <a:spAutoFit/>
            </a:bodyPr>
            <a:lstStyle/>
            <a:p>
              <a:pPr algn="l"/>
              <a:r>
                <a:rPr lang="tr-TR" sz="1800" dirty="0">
                  <a:solidFill>
                    <a:srgbClr val="172B3A"/>
                  </a:solidFill>
                  <a:latin typeface="+mn-lt"/>
                  <a:ea typeface="+mn-ea"/>
                  <a:cs typeface="+mn-cs"/>
                </a:rPr>
                <a:t>Kara kutu bir modelin tahminine neden güvenmekte zorlanılır?</a:t>
              </a:r>
            </a:p>
          </p:txBody>
        </p:sp>
      </p:grpSp>
      <p:grpSp>
        <p:nvGrpSpPr>
          <p:cNvPr id="15" name="road-q2"/>
          <p:cNvGrpSpPr/>
          <p:nvPr/>
        </p:nvGrpSpPr>
        <p:grpSpPr>
          <a:xfrm>
            <a:off x="609600" y="2266950"/>
            <a:ext cx="7395422" cy="386334"/>
            <a:chOff x="609600" y="2266950"/>
            <a:chExt cx="7395422" cy="386334"/>
          </a:xfrm>
        </p:grpSpPr>
        <p:sp>
          <p:nvSpPr>
            <p:cNvPr id="12" name="Rectangle 12"/>
            <p:cNvSpPr/>
            <p:nvPr/>
          </p:nvSpPr>
          <p:spPr>
            <a:xfrm>
              <a:off x="609600" y="2266950"/>
              <a:ext cx="342900" cy="342900"/>
            </a:xfrm>
            <a:prstGeom prst="roundRect">
              <a:avLst>
                <a:gd name="adj" fmla="val 16667"/>
              </a:avLst>
            </a:prstGeom>
            <a:solidFill>
              <a:srgbClr val="12355B"/>
            </a:solidFill>
            <a:ln>
              <a:noFill/>
            </a:ln>
          </p:spPr>
        </p:sp>
        <p:sp>
          <p:nvSpPr>
            <p:cNvPr id="13" name="TextBox 13"/>
            <p:cNvSpPr txBox="1"/>
            <p:nvPr/>
          </p:nvSpPr>
          <p:spPr>
            <a:xfrm>
              <a:off x="721715" y="2349818"/>
              <a:ext cx="118669" cy="264033"/>
            </a:xfrm>
            <a:prstGeom prst="rect">
              <a:avLst/>
            </a:prstGeom>
            <a:noFill/>
            <a:ln>
              <a:noFill/>
            </a:ln>
          </p:spPr>
          <p:txBody>
            <a:bodyPr wrap="none" lIns="0" tIns="0" rIns="0" bIns="0" anchor="t" anchorCtr="0">
              <a:spAutoFit/>
            </a:bodyPr>
            <a:lstStyle/>
            <a:p>
              <a:pPr algn="ctr"/>
              <a:r>
                <a:rPr lang="tr-TR" sz="1350" b="1" dirty="0">
                  <a:solidFill>
                    <a:srgbClr val="FFFFFF"/>
                  </a:solidFill>
                  <a:latin typeface="+mn-lt"/>
                  <a:ea typeface="+mn-ea"/>
                  <a:cs typeface="+mn-cs"/>
                </a:rPr>
                <a:t>2</a:t>
              </a:r>
            </a:p>
          </p:txBody>
        </p:sp>
        <p:sp>
          <p:nvSpPr>
            <p:cNvPr id="14" name="TextBox 14"/>
            <p:cNvSpPr txBox="1"/>
            <p:nvPr/>
          </p:nvSpPr>
          <p:spPr>
            <a:xfrm>
              <a:off x="1133856" y="2301240"/>
              <a:ext cx="6871166" cy="352044"/>
            </a:xfrm>
            <a:prstGeom prst="rect">
              <a:avLst/>
            </a:prstGeom>
            <a:noFill/>
            <a:ln>
              <a:noFill/>
            </a:ln>
          </p:spPr>
          <p:txBody>
            <a:bodyPr wrap="none" lIns="0" tIns="0" rIns="0" bIns="0" anchor="t" anchorCtr="0">
              <a:spAutoFit/>
            </a:bodyPr>
            <a:lstStyle/>
            <a:p>
              <a:pPr algn="l"/>
              <a:r>
                <a:rPr lang="tr-TR" sz="1800" dirty="0">
                  <a:solidFill>
                    <a:srgbClr val="172B3A"/>
                  </a:solidFill>
                  <a:latin typeface="+mn-lt"/>
                  <a:ea typeface="+mn-ea"/>
                  <a:cs typeface="+mn-cs"/>
                </a:rPr>
                <a:t>Global ve yerel açıklanabilirlik hangi sorulara yanıt verir?</a:t>
              </a:r>
            </a:p>
          </p:txBody>
        </p:sp>
      </p:grpSp>
      <p:grpSp>
        <p:nvGrpSpPr>
          <p:cNvPr id="19" name="road-q3"/>
          <p:cNvGrpSpPr/>
          <p:nvPr/>
        </p:nvGrpSpPr>
        <p:grpSpPr>
          <a:xfrm>
            <a:off x="609600" y="2857500"/>
            <a:ext cx="7515718" cy="386334"/>
            <a:chOff x="609600" y="2857500"/>
            <a:chExt cx="7515718" cy="386334"/>
          </a:xfrm>
        </p:grpSpPr>
        <p:sp>
          <p:nvSpPr>
            <p:cNvPr id="16" name="Rectangle 16"/>
            <p:cNvSpPr/>
            <p:nvPr/>
          </p:nvSpPr>
          <p:spPr>
            <a:xfrm>
              <a:off x="609600" y="2857500"/>
              <a:ext cx="342900" cy="342900"/>
            </a:xfrm>
            <a:prstGeom prst="roundRect">
              <a:avLst>
                <a:gd name="adj" fmla="val 16667"/>
              </a:avLst>
            </a:prstGeom>
            <a:solidFill>
              <a:srgbClr val="12355B"/>
            </a:solidFill>
            <a:ln>
              <a:noFill/>
            </a:ln>
          </p:spPr>
        </p:sp>
        <p:sp>
          <p:nvSpPr>
            <p:cNvPr id="17" name="TextBox 17"/>
            <p:cNvSpPr txBox="1"/>
            <p:nvPr/>
          </p:nvSpPr>
          <p:spPr>
            <a:xfrm>
              <a:off x="721715" y="2940368"/>
              <a:ext cx="118669" cy="264033"/>
            </a:xfrm>
            <a:prstGeom prst="rect">
              <a:avLst/>
            </a:prstGeom>
            <a:noFill/>
            <a:ln>
              <a:noFill/>
            </a:ln>
          </p:spPr>
          <p:txBody>
            <a:bodyPr wrap="none" lIns="0" tIns="0" rIns="0" bIns="0" anchor="t" anchorCtr="0">
              <a:spAutoFit/>
            </a:bodyPr>
            <a:lstStyle/>
            <a:p>
              <a:pPr algn="ctr"/>
              <a:r>
                <a:rPr lang="tr-TR" sz="1350" b="1" dirty="0">
                  <a:solidFill>
                    <a:srgbClr val="FFFFFF"/>
                  </a:solidFill>
                  <a:latin typeface="+mn-lt"/>
                  <a:ea typeface="+mn-ea"/>
                  <a:cs typeface="+mn-cs"/>
                </a:rPr>
                <a:t>3</a:t>
              </a:r>
            </a:p>
          </p:txBody>
        </p:sp>
        <p:sp>
          <p:nvSpPr>
            <p:cNvPr id="18" name="TextBox 18"/>
            <p:cNvSpPr txBox="1"/>
            <p:nvPr/>
          </p:nvSpPr>
          <p:spPr>
            <a:xfrm>
              <a:off x="1133856" y="2891790"/>
              <a:ext cx="6991462" cy="352044"/>
            </a:xfrm>
            <a:prstGeom prst="rect">
              <a:avLst/>
            </a:prstGeom>
            <a:noFill/>
            <a:ln>
              <a:noFill/>
            </a:ln>
          </p:spPr>
          <p:txBody>
            <a:bodyPr wrap="none" lIns="0" tIns="0" rIns="0" bIns="0" anchor="t" anchorCtr="0">
              <a:spAutoFit/>
            </a:bodyPr>
            <a:lstStyle/>
            <a:p>
              <a:pPr algn="l"/>
              <a:r>
                <a:rPr lang="tr-TR" sz="1800" dirty="0">
                  <a:solidFill>
                    <a:srgbClr val="172B3A"/>
                  </a:solidFill>
                  <a:latin typeface="+mn-lt"/>
                  <a:ea typeface="+mn-ea"/>
                  <a:cs typeface="+mn-cs"/>
                </a:rPr>
                <a:t>SHAP değeri bir özelliğin tahmine katkısını nasıl gösterir?</a:t>
              </a:r>
            </a:p>
          </p:txBody>
        </p:sp>
      </p:grpSp>
      <p:grpSp>
        <p:nvGrpSpPr>
          <p:cNvPr id="23" name="road-q4"/>
          <p:cNvGrpSpPr/>
          <p:nvPr/>
        </p:nvGrpSpPr>
        <p:grpSpPr>
          <a:xfrm>
            <a:off x="609600" y="3448050"/>
            <a:ext cx="7480461" cy="386334"/>
            <a:chOff x="609600" y="3448050"/>
            <a:chExt cx="7480461" cy="386334"/>
          </a:xfrm>
        </p:grpSpPr>
        <p:sp>
          <p:nvSpPr>
            <p:cNvPr id="20" name="Rectangle 20"/>
            <p:cNvSpPr/>
            <p:nvPr/>
          </p:nvSpPr>
          <p:spPr>
            <a:xfrm>
              <a:off x="609600" y="3448050"/>
              <a:ext cx="342900" cy="342900"/>
            </a:xfrm>
            <a:prstGeom prst="roundRect">
              <a:avLst>
                <a:gd name="adj" fmla="val 16667"/>
              </a:avLst>
            </a:prstGeom>
            <a:solidFill>
              <a:srgbClr val="12355B"/>
            </a:solidFill>
            <a:ln>
              <a:noFill/>
            </a:ln>
          </p:spPr>
        </p:sp>
        <p:sp>
          <p:nvSpPr>
            <p:cNvPr id="21" name="TextBox 21"/>
            <p:cNvSpPr txBox="1"/>
            <p:nvPr/>
          </p:nvSpPr>
          <p:spPr>
            <a:xfrm>
              <a:off x="721715" y="3530918"/>
              <a:ext cx="118669" cy="264033"/>
            </a:xfrm>
            <a:prstGeom prst="rect">
              <a:avLst/>
            </a:prstGeom>
            <a:noFill/>
            <a:ln>
              <a:noFill/>
            </a:ln>
          </p:spPr>
          <p:txBody>
            <a:bodyPr wrap="none" lIns="0" tIns="0" rIns="0" bIns="0" anchor="t" anchorCtr="0">
              <a:spAutoFit/>
            </a:bodyPr>
            <a:lstStyle/>
            <a:p>
              <a:pPr algn="ctr"/>
              <a:r>
                <a:rPr lang="tr-TR" sz="1350" b="1" dirty="0">
                  <a:solidFill>
                    <a:srgbClr val="FFFFFF"/>
                  </a:solidFill>
                  <a:latin typeface="+mn-lt"/>
                  <a:ea typeface="+mn-ea"/>
                  <a:cs typeface="+mn-cs"/>
                </a:rPr>
                <a:t>4</a:t>
              </a:r>
            </a:p>
          </p:txBody>
        </p:sp>
        <p:sp>
          <p:nvSpPr>
            <p:cNvPr id="22" name="TextBox 22"/>
            <p:cNvSpPr txBox="1"/>
            <p:nvPr/>
          </p:nvSpPr>
          <p:spPr>
            <a:xfrm>
              <a:off x="1133856" y="3482340"/>
              <a:ext cx="6956205" cy="352044"/>
            </a:xfrm>
            <a:prstGeom prst="rect">
              <a:avLst/>
            </a:prstGeom>
            <a:noFill/>
            <a:ln>
              <a:noFill/>
            </a:ln>
          </p:spPr>
          <p:txBody>
            <a:bodyPr wrap="none" lIns="0" tIns="0" rIns="0" bIns="0" anchor="t" anchorCtr="0">
              <a:spAutoFit/>
            </a:bodyPr>
            <a:lstStyle/>
            <a:p>
              <a:pPr algn="l"/>
              <a:r>
                <a:rPr lang="tr-TR" sz="1800" dirty="0">
                  <a:solidFill>
                    <a:srgbClr val="172B3A"/>
                  </a:solidFill>
                  <a:latin typeface="+mn-lt"/>
                  <a:ea typeface="+mn-ea"/>
                  <a:cs typeface="+mn-cs"/>
                </a:rPr>
                <a:t>LIME, tek bir tahmini açıklarken hangi yaklaşımı kullanır?</a:t>
              </a:r>
            </a:p>
          </p:txBody>
        </p:sp>
      </p:grpSp>
      <p:grpSp>
        <p:nvGrpSpPr>
          <p:cNvPr id="27" name="road-q5"/>
          <p:cNvGrpSpPr/>
          <p:nvPr/>
        </p:nvGrpSpPr>
        <p:grpSpPr>
          <a:xfrm>
            <a:off x="609600" y="4038600"/>
            <a:ext cx="9709944" cy="386334"/>
            <a:chOff x="609600" y="4038600"/>
            <a:chExt cx="9709944" cy="386334"/>
          </a:xfrm>
        </p:grpSpPr>
        <p:sp>
          <p:nvSpPr>
            <p:cNvPr id="24" name="Rectangle 24"/>
            <p:cNvSpPr/>
            <p:nvPr/>
          </p:nvSpPr>
          <p:spPr>
            <a:xfrm>
              <a:off x="609600" y="4038600"/>
              <a:ext cx="342900" cy="342900"/>
            </a:xfrm>
            <a:prstGeom prst="roundRect">
              <a:avLst>
                <a:gd name="adj" fmla="val 16667"/>
              </a:avLst>
            </a:prstGeom>
            <a:solidFill>
              <a:srgbClr val="12355B"/>
            </a:solidFill>
            <a:ln>
              <a:noFill/>
            </a:ln>
          </p:spPr>
        </p:sp>
        <p:sp>
          <p:nvSpPr>
            <p:cNvPr id="25" name="TextBox 25"/>
            <p:cNvSpPr txBox="1"/>
            <p:nvPr/>
          </p:nvSpPr>
          <p:spPr>
            <a:xfrm>
              <a:off x="721715" y="4121468"/>
              <a:ext cx="118669" cy="264033"/>
            </a:xfrm>
            <a:prstGeom prst="rect">
              <a:avLst/>
            </a:prstGeom>
            <a:noFill/>
            <a:ln>
              <a:noFill/>
            </a:ln>
          </p:spPr>
          <p:txBody>
            <a:bodyPr wrap="none" lIns="0" tIns="0" rIns="0" bIns="0" anchor="t" anchorCtr="0">
              <a:spAutoFit/>
            </a:bodyPr>
            <a:lstStyle/>
            <a:p>
              <a:pPr algn="ctr"/>
              <a:r>
                <a:rPr lang="tr-TR" sz="1350" b="1" dirty="0">
                  <a:solidFill>
                    <a:srgbClr val="FFFFFF"/>
                  </a:solidFill>
                  <a:latin typeface="+mn-lt"/>
                  <a:ea typeface="+mn-ea"/>
                  <a:cs typeface="+mn-cs"/>
                </a:rPr>
                <a:t>5</a:t>
              </a:r>
            </a:p>
          </p:txBody>
        </p:sp>
        <p:sp>
          <p:nvSpPr>
            <p:cNvPr id="26" name="TextBox 26"/>
            <p:cNvSpPr txBox="1"/>
            <p:nvPr/>
          </p:nvSpPr>
          <p:spPr>
            <a:xfrm>
              <a:off x="1133856" y="4072890"/>
              <a:ext cx="9185688" cy="352044"/>
            </a:xfrm>
            <a:prstGeom prst="rect">
              <a:avLst/>
            </a:prstGeom>
            <a:noFill/>
            <a:ln>
              <a:noFill/>
            </a:ln>
          </p:spPr>
          <p:txBody>
            <a:bodyPr wrap="none" lIns="0" tIns="0" rIns="0" bIns="0" anchor="t" anchorCtr="0">
              <a:spAutoFit/>
            </a:bodyPr>
            <a:lstStyle/>
            <a:p>
              <a:pPr algn="l"/>
              <a:r>
                <a:rPr lang="tr-TR" sz="1800" dirty="0">
                  <a:solidFill>
                    <a:srgbClr val="172B3A"/>
                  </a:solidFill>
                  <a:latin typeface="+mn-lt"/>
                  <a:ea typeface="+mn-ea"/>
                  <a:cs typeface="+mn-cs"/>
                </a:rPr>
                <a:t>Açıklama grafiklerini karar verme sürecinde nasıl doğru yorumlamak gerekir?</a:t>
              </a:r>
            </a:p>
          </p:txBody>
        </p:sp>
      </p:grpSp>
      <p:grpSp>
        <p:nvGrpSpPr>
          <p:cNvPr id="31" name="road-goal"/>
          <p:cNvGrpSpPr/>
          <p:nvPr/>
        </p:nvGrpSpPr>
        <p:grpSpPr>
          <a:xfrm>
            <a:off x="609600" y="4838700"/>
            <a:ext cx="10972800" cy="857250"/>
            <a:chOff x="609600" y="4838700"/>
            <a:chExt cx="10972800" cy="857250"/>
          </a:xfrm>
        </p:grpSpPr>
        <p:sp>
          <p:nvSpPr>
            <p:cNvPr id="28" name="Rectangle 28"/>
            <p:cNvSpPr/>
            <p:nvPr/>
          </p:nvSpPr>
          <p:spPr>
            <a:xfrm>
              <a:off x="609600" y="4838700"/>
              <a:ext cx="10972800" cy="857250"/>
            </a:xfrm>
            <a:prstGeom prst="roundRect">
              <a:avLst>
                <a:gd name="adj" fmla="val 8889"/>
              </a:avLst>
            </a:prstGeom>
            <a:solidFill>
              <a:srgbClr val="EAF4F6"/>
            </a:solidFill>
            <a:ln>
              <a:noFill/>
            </a:ln>
          </p:spPr>
        </p:sp>
        <p:sp>
          <p:nvSpPr>
            <p:cNvPr id="29" name="TextBox 29"/>
            <p:cNvSpPr txBox="1"/>
            <p:nvPr/>
          </p:nvSpPr>
          <p:spPr>
            <a:xfrm>
              <a:off x="906399" y="4973479"/>
              <a:ext cx="1674405"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 Bölüm Hedefi</a:t>
              </a:r>
            </a:p>
          </p:txBody>
        </p:sp>
        <p:sp>
          <p:nvSpPr>
            <p:cNvPr id="30" name="TextBox 30"/>
            <p:cNvSpPr txBox="1"/>
            <p:nvPr/>
          </p:nvSpPr>
          <p:spPr>
            <a:xfrm>
              <a:off x="908304" y="5280660"/>
              <a:ext cx="8913499"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Bu bölüm sonunda Telco Churn modelinin kararlarını SHAP ve LIME ile global ve yerel düzeyde açıklayabileceksiniz.</a:t>
              </a:r>
            </a:p>
          </p:txBody>
        </p:sp>
      </p:grpSp>
      <p:grpSp>
        <p:nvGrpSpPr>
          <p:cNvPr id="34" name="road-prereq"/>
          <p:cNvGrpSpPr/>
          <p:nvPr/>
        </p:nvGrpSpPr>
        <p:grpSpPr>
          <a:xfrm>
            <a:off x="603504" y="5947410"/>
            <a:ext cx="8992073" cy="444246"/>
            <a:chOff x="603504" y="5947410"/>
            <a:chExt cx="8992073" cy="444246"/>
          </a:xfrm>
        </p:grpSpPr>
        <p:sp>
          <p:nvSpPr>
            <p:cNvPr id="32" name="TextBox 32"/>
            <p:cNvSpPr txBox="1"/>
            <p:nvPr/>
          </p:nvSpPr>
          <p:spPr>
            <a:xfrm>
              <a:off x="603504" y="5947410"/>
              <a:ext cx="8992073"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Ön bilgi: ch09-ch10'da kurulan Random Forest/XGBoost modelleri, predict_proba çıktısı ve pandas.DataFrame ile</a:t>
              </a:r>
            </a:p>
          </p:txBody>
        </p:sp>
        <p:sp>
          <p:nvSpPr>
            <p:cNvPr id="33" name="TextBox 33"/>
            <p:cNvSpPr txBox="1"/>
            <p:nvPr/>
          </p:nvSpPr>
          <p:spPr>
            <a:xfrm>
              <a:off x="603504" y="6156960"/>
              <a:ext cx="5173523"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özellik tablosu işleme bu bölümü rahat takip etmek için gereklidir.</a:t>
              </a:r>
            </a:p>
          </p:txBody>
        </p:sp>
      </p:grpSp>
      <p:sp>
        <p:nvSpPr>
          <p:cNvPr id="35" name="TextBox 35"/>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02 / 25</a:t>
            </a: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8" name="page-title"/>
          <p:cNvGrpSpPr/>
          <p:nvPr/>
        </p:nvGrpSpPr>
        <p:grpSpPr>
          <a:xfrm>
            <a:off x="609600" y="171450"/>
            <a:ext cx="8104135" cy="668845"/>
            <a:chOff x="609600" y="171450"/>
            <a:chExt cx="8104135" cy="668845"/>
          </a:xfrm>
        </p:grpSpPr>
        <p:grpSp>
          <p:nvGrpSpPr>
            <p:cNvPr id="6"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sp>
            <p:nvSpPr>
              <p:cNvPr id="5" name="Freeform 5"/>
              <p:cNvSpPr/>
              <p:nvPr/>
            </p:nvSpPr>
            <p:spPr>
              <a:xfrm>
                <a:off x="792004" y="383381"/>
                <a:ext cx="221456" cy="147638"/>
              </a:xfrm>
              <a:custGeom>
                <a:avLst/>
                <a:gdLst/>
                <a:ahLst/>
                <a:cxnLst/>
                <a:rect l="l" t="t" r="r" b="b"/>
                <a:pathLst>
                  <a:path w="221456" h="147638">
                    <a:moveTo>
                      <a:pt x="0" y="73819"/>
                    </a:moveTo>
                    <a:lnTo>
                      <a:pt x="73819" y="147638"/>
                    </a:lnTo>
                    <a:lnTo>
                      <a:pt x="221456" y="0"/>
                    </a:lnTo>
                  </a:path>
                </a:pathLst>
              </a:custGeom>
              <a:noFill/>
              <a:ln w="24759" cap="rnd">
                <a:solidFill>
                  <a:srgbClr val="FFFFFF"/>
                </a:solidFill>
                <a:round/>
              </a:ln>
            </p:spPr>
          </p:sp>
        </p:grpSp>
        <p:sp>
          <p:nvSpPr>
            <p:cNvPr id="7" name="TextBox 7"/>
            <p:cNvSpPr txBox="1"/>
            <p:nvPr/>
          </p:nvSpPr>
          <p:spPr>
            <a:xfrm>
              <a:off x="1299972" y="282892"/>
              <a:ext cx="7413763"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Öğrenme hedefleri ve başarı ölçütleri</a:t>
              </a:r>
            </a:p>
          </p:txBody>
        </p:sp>
      </p:grpSp>
      <p:grpSp>
        <p:nvGrpSpPr>
          <p:cNvPr id="12" name="objective-1"/>
          <p:cNvGrpSpPr/>
          <p:nvPr/>
        </p:nvGrpSpPr>
        <p:grpSpPr>
          <a:xfrm>
            <a:off x="685800" y="1253490"/>
            <a:ext cx="11160919" cy="637128"/>
            <a:chOff x="685800" y="1253490"/>
            <a:chExt cx="11160919" cy="637128"/>
          </a:xfrm>
        </p:grpSpPr>
        <p:sp>
          <p:nvSpPr>
            <p:cNvPr id="9" name="Rectangle 9"/>
            <p:cNvSpPr/>
            <p:nvPr/>
          </p:nvSpPr>
          <p:spPr>
            <a:xfrm>
              <a:off x="685800" y="1257300"/>
              <a:ext cx="57150" cy="495300"/>
            </a:xfrm>
            <a:prstGeom prst="rect">
              <a:avLst/>
            </a:prstGeom>
            <a:solidFill>
              <a:srgbClr val="00A6A6"/>
            </a:solidFill>
            <a:ln>
              <a:noFill/>
            </a:ln>
          </p:spPr>
        </p:sp>
        <p:sp>
          <p:nvSpPr>
            <p:cNvPr id="10" name="TextBox 10"/>
            <p:cNvSpPr txBox="1"/>
            <p:nvPr/>
          </p:nvSpPr>
          <p:spPr>
            <a:xfrm>
              <a:off x="981456" y="1253490"/>
              <a:ext cx="10865263"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Kara kutu bir modelin neden ek açıklama araçlarına ihtiyaç duyduğunu gerekçelendirmek</a:t>
              </a:r>
            </a:p>
          </p:txBody>
        </p:sp>
        <p:sp>
          <p:nvSpPr>
            <p:cNvPr id="11" name="TextBox 11"/>
            <p:cNvSpPr txBox="1"/>
            <p:nvPr/>
          </p:nvSpPr>
          <p:spPr>
            <a:xfrm>
              <a:off x="982599" y="1582579"/>
              <a:ext cx="8783661"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Ölçüt: çoktan seçmeli soru 4 — pozitif SHAP katkısının ne gösterdiğini doğru seçmek</a:t>
              </a:r>
            </a:p>
          </p:txBody>
        </p:sp>
      </p:grpSp>
      <p:grpSp>
        <p:nvGrpSpPr>
          <p:cNvPr id="16" name="objective-2"/>
          <p:cNvGrpSpPr/>
          <p:nvPr/>
        </p:nvGrpSpPr>
        <p:grpSpPr>
          <a:xfrm>
            <a:off x="685800" y="1977390"/>
            <a:ext cx="9751429" cy="637128"/>
            <a:chOff x="685800" y="1977390"/>
            <a:chExt cx="9751429" cy="637128"/>
          </a:xfrm>
        </p:grpSpPr>
        <p:sp>
          <p:nvSpPr>
            <p:cNvPr id="13" name="Rectangle 13"/>
            <p:cNvSpPr/>
            <p:nvPr/>
          </p:nvSpPr>
          <p:spPr>
            <a:xfrm>
              <a:off x="685800" y="1981200"/>
              <a:ext cx="57150" cy="495300"/>
            </a:xfrm>
            <a:prstGeom prst="rect">
              <a:avLst/>
            </a:prstGeom>
            <a:solidFill>
              <a:srgbClr val="00A6A6"/>
            </a:solidFill>
            <a:ln>
              <a:noFill/>
            </a:ln>
          </p:spPr>
        </p:sp>
        <p:sp>
          <p:nvSpPr>
            <p:cNvPr id="14" name="TextBox 14"/>
            <p:cNvSpPr txBox="1"/>
            <p:nvPr/>
          </p:nvSpPr>
          <p:spPr>
            <a:xfrm>
              <a:off x="981456" y="1977390"/>
              <a:ext cx="9455773"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Global ve yerel açıklanabilirlik farkını Telco Churn senaryosuyla örneklemek</a:t>
              </a:r>
            </a:p>
          </p:txBody>
        </p:sp>
        <p:sp>
          <p:nvSpPr>
            <p:cNvPr id="15" name="TextBox 15"/>
            <p:cNvSpPr txBox="1"/>
            <p:nvPr/>
          </p:nvSpPr>
          <p:spPr>
            <a:xfrm>
              <a:off x="982599" y="2306479"/>
              <a:ext cx="7201619"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Ölçüt: model genelini ve tek müşteri kararını ayrı sorulara bağlamak</a:t>
              </a:r>
            </a:p>
          </p:txBody>
        </p:sp>
      </p:grpSp>
      <p:grpSp>
        <p:nvGrpSpPr>
          <p:cNvPr id="20" name="objective-3"/>
          <p:cNvGrpSpPr/>
          <p:nvPr/>
        </p:nvGrpSpPr>
        <p:grpSpPr>
          <a:xfrm>
            <a:off x="685800" y="2701290"/>
            <a:ext cx="10038992" cy="637128"/>
            <a:chOff x="685800" y="2701290"/>
            <a:chExt cx="10038992" cy="637128"/>
          </a:xfrm>
        </p:grpSpPr>
        <p:sp>
          <p:nvSpPr>
            <p:cNvPr id="17" name="Rectangle 17"/>
            <p:cNvSpPr/>
            <p:nvPr/>
          </p:nvSpPr>
          <p:spPr>
            <a:xfrm>
              <a:off x="685800" y="2705100"/>
              <a:ext cx="57150" cy="495300"/>
            </a:xfrm>
            <a:prstGeom prst="rect">
              <a:avLst/>
            </a:prstGeom>
            <a:solidFill>
              <a:srgbClr val="00A6A6"/>
            </a:solidFill>
            <a:ln>
              <a:noFill/>
            </a:ln>
          </p:spPr>
        </p:sp>
        <p:sp>
          <p:nvSpPr>
            <p:cNvPr id="18" name="TextBox 18"/>
            <p:cNvSpPr txBox="1"/>
            <p:nvPr/>
          </p:nvSpPr>
          <p:spPr>
            <a:xfrm>
              <a:off x="981456" y="2701290"/>
              <a:ext cx="9371952"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shap.TreeExplainer ile özellik katkılarını özet ve tekil düzeyde hesaplamak</a:t>
              </a:r>
            </a:p>
          </p:txBody>
        </p:sp>
        <p:sp>
          <p:nvSpPr>
            <p:cNvPr id="19" name="TextBox 19"/>
            <p:cNvSpPr txBox="1"/>
            <p:nvPr/>
          </p:nvSpPr>
          <p:spPr>
            <a:xfrm>
              <a:off x="982599" y="3030379"/>
              <a:ext cx="9742193"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Ölçüt: zor programlama alıştırması — XAIKarsilastirici sınıfının SHAP/LIME çıktı dosyaları</a:t>
              </a:r>
            </a:p>
          </p:txBody>
        </p:sp>
      </p:grpSp>
      <p:grpSp>
        <p:nvGrpSpPr>
          <p:cNvPr id="24" name="objective-4"/>
          <p:cNvGrpSpPr/>
          <p:nvPr/>
        </p:nvGrpSpPr>
        <p:grpSpPr>
          <a:xfrm>
            <a:off x="685800" y="3425190"/>
            <a:ext cx="10015530" cy="637128"/>
            <a:chOff x="685800" y="3425190"/>
            <a:chExt cx="10015530" cy="637128"/>
          </a:xfrm>
        </p:grpSpPr>
        <p:sp>
          <p:nvSpPr>
            <p:cNvPr id="21" name="Rectangle 21"/>
            <p:cNvSpPr/>
            <p:nvPr/>
          </p:nvSpPr>
          <p:spPr>
            <a:xfrm>
              <a:off x="685800" y="3429000"/>
              <a:ext cx="57150" cy="495300"/>
            </a:xfrm>
            <a:prstGeom prst="rect">
              <a:avLst/>
            </a:prstGeom>
            <a:solidFill>
              <a:srgbClr val="00A6A6"/>
            </a:solidFill>
            <a:ln>
              <a:noFill/>
            </a:ln>
          </p:spPr>
        </p:sp>
        <p:sp>
          <p:nvSpPr>
            <p:cNvPr id="22" name="TextBox 22"/>
            <p:cNvSpPr txBox="1"/>
            <p:nvPr/>
          </p:nvSpPr>
          <p:spPr>
            <a:xfrm>
              <a:off x="981456" y="3425190"/>
              <a:ext cx="8349396"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LimeTabularExplainer ile tek bir tahmin için yerel açıklama üretmek</a:t>
              </a:r>
            </a:p>
          </p:txBody>
        </p:sp>
        <p:sp>
          <p:nvSpPr>
            <p:cNvPr id="23" name="TextBox 23"/>
            <p:cNvSpPr txBox="1"/>
            <p:nvPr/>
          </p:nvSpPr>
          <p:spPr>
            <a:xfrm>
              <a:off x="982599" y="3754279"/>
              <a:ext cx="9718731"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Ölçüt: hatalı ifadeyi bulun 3 — LIME kurallarının vekil model açıklaması olduğunu ayırt etmek</a:t>
              </a:r>
            </a:p>
          </p:txBody>
        </p:sp>
      </p:grpSp>
      <p:grpSp>
        <p:nvGrpSpPr>
          <p:cNvPr id="28" name="objective-5"/>
          <p:cNvGrpSpPr/>
          <p:nvPr/>
        </p:nvGrpSpPr>
        <p:grpSpPr>
          <a:xfrm>
            <a:off x="685800" y="4149090"/>
            <a:ext cx="10082452" cy="637128"/>
            <a:chOff x="685800" y="4149090"/>
            <a:chExt cx="10082452" cy="637128"/>
          </a:xfrm>
        </p:grpSpPr>
        <p:sp>
          <p:nvSpPr>
            <p:cNvPr id="25" name="Rectangle 25"/>
            <p:cNvSpPr/>
            <p:nvPr/>
          </p:nvSpPr>
          <p:spPr>
            <a:xfrm>
              <a:off x="685800" y="4152900"/>
              <a:ext cx="57150" cy="495300"/>
            </a:xfrm>
            <a:prstGeom prst="rect">
              <a:avLst/>
            </a:prstGeom>
            <a:solidFill>
              <a:srgbClr val="00A6A6"/>
            </a:solidFill>
            <a:ln>
              <a:noFill/>
            </a:ln>
          </p:spPr>
        </p:sp>
        <p:sp>
          <p:nvSpPr>
            <p:cNvPr id="26" name="TextBox 26"/>
            <p:cNvSpPr txBox="1"/>
            <p:nvPr/>
          </p:nvSpPr>
          <p:spPr>
            <a:xfrm>
              <a:off x="981456" y="4149090"/>
              <a:ext cx="9155030"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SHAP ve LIME çıktılarını karşılaştırıp tutarsızlıkta ek kontrol yapmak</a:t>
              </a:r>
            </a:p>
          </p:txBody>
        </p:sp>
        <p:sp>
          <p:nvSpPr>
            <p:cNvPr id="27" name="TextBox 27"/>
            <p:cNvSpPr txBox="1"/>
            <p:nvPr/>
          </p:nvSpPr>
          <p:spPr>
            <a:xfrm>
              <a:off x="982599" y="4478179"/>
              <a:ext cx="9785653"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Ölçüt: açıklamanın nedensellik kanıtı olmadığını ayırt edip insan denetimiyle değerlendirmek</a:t>
              </a:r>
            </a:p>
          </p:txBody>
        </p:sp>
      </p:grpSp>
      <p:grpSp>
        <p:nvGrpSpPr>
          <p:cNvPr id="33" name="objective-note"/>
          <p:cNvGrpSpPr/>
          <p:nvPr/>
        </p:nvGrpSpPr>
        <p:grpSpPr>
          <a:xfrm>
            <a:off x="609600" y="4991100"/>
            <a:ext cx="10972800" cy="952500"/>
            <a:chOff x="609600" y="4991100"/>
            <a:chExt cx="10972800" cy="952500"/>
          </a:xfrm>
        </p:grpSpPr>
        <p:sp>
          <p:nvSpPr>
            <p:cNvPr id="29" name="Rectangle 29"/>
            <p:cNvSpPr/>
            <p:nvPr/>
          </p:nvSpPr>
          <p:spPr>
            <a:xfrm>
              <a:off x="609600" y="4991100"/>
              <a:ext cx="10972800" cy="952500"/>
            </a:xfrm>
            <a:prstGeom prst="roundRect">
              <a:avLst>
                <a:gd name="adj" fmla="val 8000"/>
              </a:avLst>
            </a:prstGeom>
            <a:solidFill>
              <a:srgbClr val="EAF4F6"/>
            </a:solidFill>
            <a:ln>
              <a:noFill/>
            </a:ln>
          </p:spPr>
        </p:sp>
        <p:sp>
          <p:nvSpPr>
            <p:cNvPr id="30" name="TextBox 30"/>
            <p:cNvSpPr txBox="1"/>
            <p:nvPr/>
          </p:nvSpPr>
          <p:spPr>
            <a:xfrm>
              <a:off x="906399" y="5125879"/>
              <a:ext cx="6958551"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 Her hedef, hem açıklama hem çalışan kodla doğrulanacaktır.</a:t>
              </a:r>
            </a:p>
          </p:txBody>
        </p:sp>
        <p:sp>
          <p:nvSpPr>
            <p:cNvPr id="31" name="TextBox 31"/>
            <p:cNvSpPr txBox="1"/>
            <p:nvPr/>
          </p:nvSpPr>
          <p:spPr>
            <a:xfrm>
              <a:off x="908304" y="5490210"/>
              <a:ext cx="918500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Başarı ölçütü yalnızca kodun çalışması değildir; öğrenci açıklamanın nedensellik kanıtı olmadığını ayırt etmeli ve</a:t>
              </a:r>
            </a:p>
          </p:txBody>
        </p:sp>
        <p:sp>
          <p:nvSpPr>
            <p:cNvPr id="32" name="TextBox 32"/>
            <p:cNvSpPr txBox="1"/>
            <p:nvPr/>
          </p:nvSpPr>
          <p:spPr>
            <a:xfrm>
              <a:off x="908304" y="5699760"/>
              <a:ext cx="6724345"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global/yerel açıklamayı doğru bağlamda insan denetimiyle birlikte değerlendirmelidir.</a:t>
              </a:r>
            </a:p>
          </p:txBody>
        </p:sp>
      </p:grpSp>
      <p:sp>
        <p:nvSpPr>
          <p:cNvPr id="34" name="TextBox 34"/>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03 / 25</a:t>
            </a: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3" name="page-title"/>
          <p:cNvGrpSpPr/>
          <p:nvPr/>
        </p:nvGrpSpPr>
        <p:grpSpPr>
          <a:xfrm>
            <a:off x="609600" y="171450"/>
            <a:ext cx="9113862" cy="668845"/>
            <a:chOff x="609600" y="171450"/>
            <a:chExt cx="9113862" cy="668845"/>
          </a:xfrm>
        </p:grpSpPr>
        <p:grpSp>
          <p:nvGrpSpPr>
            <p:cNvPr id="11"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10" name="Group 10"/>
              <p:cNvGrpSpPr/>
              <p:nvPr/>
            </p:nvGrpSpPr>
            <p:grpSpPr>
              <a:xfrm>
                <a:off x="762476" y="324326"/>
                <a:ext cx="265748" cy="265748"/>
                <a:chOff x="762476" y="324326"/>
                <a:chExt cx="265748" cy="265748"/>
              </a:xfrm>
            </p:grpSpPr>
            <p:sp>
              <p:nvSpPr>
                <p:cNvPr id="5" name="Freeform 5"/>
                <p:cNvSpPr/>
                <p:nvPr/>
              </p:nvSpPr>
              <p:spPr>
                <a:xfrm>
                  <a:off x="762476" y="324326"/>
                  <a:ext cx="265748" cy="265748"/>
                </a:xfrm>
                <a:custGeom>
                  <a:avLst/>
                  <a:gdLst/>
                  <a:ahLst/>
                  <a:cxnLst/>
                  <a:rect l="l" t="t" r="r" b="b"/>
                  <a:pathLst>
                    <a:path w="265748" h="265748">
                      <a:moveTo>
                        <a:pt x="0" y="132874"/>
                      </a:moveTo>
                      <a:cubicBezTo>
                        <a:pt x="0" y="206258"/>
                        <a:pt x="59490" y="265748"/>
                        <a:pt x="132874" y="265748"/>
                      </a:cubicBezTo>
                      <a:cubicBezTo>
                        <a:pt x="206258" y="265748"/>
                        <a:pt x="265748" y="206258"/>
                        <a:pt x="265748" y="132874"/>
                      </a:cubicBezTo>
                      <a:cubicBezTo>
                        <a:pt x="265748" y="59490"/>
                        <a:pt x="206258" y="0"/>
                        <a:pt x="132874" y="0"/>
                      </a:cubicBezTo>
                      <a:cubicBezTo>
                        <a:pt x="59490" y="0"/>
                        <a:pt x="0" y="59490"/>
                        <a:pt x="0" y="132874"/>
                      </a:cubicBezTo>
                    </a:path>
                  </a:pathLst>
                </a:custGeom>
                <a:noFill/>
                <a:ln w="24759" cap="rnd">
                  <a:solidFill>
                    <a:srgbClr val="FFFFFF"/>
                  </a:solidFill>
                  <a:round/>
                </a:ln>
              </p:spPr>
            </p:sp>
            <p:sp>
              <p:nvSpPr>
                <p:cNvPr id="6" name="Freeform 6"/>
                <p:cNvSpPr/>
                <p:nvPr/>
              </p:nvSpPr>
              <p:spPr>
                <a:xfrm>
                  <a:off x="771334" y="412909"/>
                  <a:ext cx="248031" cy="9525"/>
                </a:xfrm>
                <a:custGeom>
                  <a:avLst/>
                  <a:gdLst/>
                  <a:ahLst/>
                  <a:cxnLst/>
                  <a:rect l="l" t="t" r="r" b="b"/>
                  <a:pathLst>
                    <a:path w="248031" h="9525">
                      <a:moveTo>
                        <a:pt x="0" y="0"/>
                      </a:moveTo>
                      <a:lnTo>
                        <a:pt x="248031" y="0"/>
                      </a:lnTo>
                    </a:path>
                  </a:pathLst>
                </a:custGeom>
                <a:noFill/>
                <a:ln w="24759" cap="rnd">
                  <a:solidFill>
                    <a:srgbClr val="FFFFFF"/>
                  </a:solidFill>
                  <a:round/>
                </a:ln>
              </p:spPr>
            </p:sp>
            <p:sp>
              <p:nvSpPr>
                <p:cNvPr id="7" name="Freeform 7"/>
                <p:cNvSpPr/>
                <p:nvPr/>
              </p:nvSpPr>
              <p:spPr>
                <a:xfrm>
                  <a:off x="771334" y="501491"/>
                  <a:ext cx="248031" cy="9525"/>
                </a:xfrm>
                <a:custGeom>
                  <a:avLst/>
                  <a:gdLst/>
                  <a:ahLst/>
                  <a:cxnLst/>
                  <a:rect l="l" t="t" r="r" b="b"/>
                  <a:pathLst>
                    <a:path w="248031" h="9525">
                      <a:moveTo>
                        <a:pt x="0" y="0"/>
                      </a:moveTo>
                      <a:lnTo>
                        <a:pt x="248031" y="0"/>
                      </a:lnTo>
                    </a:path>
                  </a:pathLst>
                </a:custGeom>
                <a:noFill/>
                <a:ln w="24759" cap="rnd">
                  <a:solidFill>
                    <a:srgbClr val="FFFFFF"/>
                  </a:solidFill>
                  <a:round/>
                </a:ln>
              </p:spPr>
            </p:sp>
            <p:sp>
              <p:nvSpPr>
                <p:cNvPr id="8" name="Freeform 8"/>
                <p:cNvSpPr/>
                <p:nvPr/>
              </p:nvSpPr>
              <p:spPr>
                <a:xfrm>
                  <a:off x="837224" y="324326"/>
                  <a:ext cx="50744" cy="265748"/>
                </a:xfrm>
                <a:custGeom>
                  <a:avLst/>
                  <a:gdLst/>
                  <a:ahLst/>
                  <a:cxnLst/>
                  <a:rect l="l" t="t" r="r" b="b"/>
                  <a:pathLst>
                    <a:path w="50744" h="265748">
                      <a:moveTo>
                        <a:pt x="50744" y="0"/>
                      </a:moveTo>
                      <a:cubicBezTo>
                        <a:pt x="0" y="81315"/>
                        <a:pt x="0" y="184432"/>
                        <a:pt x="50744" y="265748"/>
                      </a:cubicBezTo>
                    </a:path>
                  </a:pathLst>
                </a:custGeom>
                <a:noFill/>
                <a:ln w="24759" cap="rnd">
                  <a:solidFill>
                    <a:srgbClr val="FFFFFF"/>
                  </a:solidFill>
                  <a:round/>
                </a:ln>
              </p:spPr>
            </p:sp>
            <p:sp>
              <p:nvSpPr>
                <p:cNvPr id="9" name="Freeform 9"/>
                <p:cNvSpPr/>
                <p:nvPr/>
              </p:nvSpPr>
              <p:spPr>
                <a:xfrm>
                  <a:off x="902732" y="324326"/>
                  <a:ext cx="50744" cy="265748"/>
                </a:xfrm>
                <a:custGeom>
                  <a:avLst/>
                  <a:gdLst/>
                  <a:ahLst/>
                  <a:cxnLst/>
                  <a:rect l="l" t="t" r="r" b="b"/>
                  <a:pathLst>
                    <a:path w="50744" h="265748">
                      <a:moveTo>
                        <a:pt x="0" y="0"/>
                      </a:moveTo>
                      <a:cubicBezTo>
                        <a:pt x="50744" y="81315"/>
                        <a:pt x="50744" y="184432"/>
                        <a:pt x="0" y="265748"/>
                      </a:cubicBezTo>
                    </a:path>
                  </a:pathLst>
                </a:custGeom>
                <a:noFill/>
                <a:ln w="24759" cap="rnd">
                  <a:solidFill>
                    <a:srgbClr val="FFFFFF"/>
                  </a:solidFill>
                  <a:round/>
                </a:ln>
              </p:spPr>
            </p:sp>
          </p:grpSp>
        </p:grpSp>
        <p:sp>
          <p:nvSpPr>
            <p:cNvPr id="12" name="TextBox 12"/>
            <p:cNvSpPr txBox="1"/>
            <p:nvPr/>
          </p:nvSpPr>
          <p:spPr>
            <a:xfrm>
              <a:off x="1299972" y="282892"/>
              <a:ext cx="8423490"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Kavram haritası: XAI'nin beş temel unsuru</a:t>
              </a:r>
            </a:p>
          </p:txBody>
        </p:sp>
      </p:grpSp>
      <p:grpSp>
        <p:nvGrpSpPr>
          <p:cNvPr id="50" name="concept-map"/>
          <p:cNvGrpSpPr/>
          <p:nvPr/>
        </p:nvGrpSpPr>
        <p:grpSpPr>
          <a:xfrm>
            <a:off x="685800" y="1219200"/>
            <a:ext cx="10896600" cy="4886706"/>
            <a:chOff x="685800" y="1219200"/>
            <a:chExt cx="10896600" cy="4886706"/>
          </a:xfrm>
        </p:grpSpPr>
        <p:grpSp>
          <p:nvGrpSpPr>
            <p:cNvPr id="21" name="Group 21"/>
            <p:cNvGrpSpPr/>
            <p:nvPr/>
          </p:nvGrpSpPr>
          <p:grpSpPr>
            <a:xfrm>
              <a:off x="3143250" y="1581150"/>
              <a:ext cx="6953250" cy="4038600"/>
              <a:chOff x="3143250" y="1581150"/>
              <a:chExt cx="6953250" cy="4038600"/>
            </a:xfrm>
          </p:grpSpPr>
          <p:sp>
            <p:nvSpPr>
              <p:cNvPr id="14" name="Line 14"/>
              <p:cNvSpPr/>
              <p:nvPr/>
            </p:nvSpPr>
            <p:spPr>
              <a:xfrm flipV="1">
                <a:off x="3143250" y="1581150"/>
                <a:ext cx="1352550" cy="1514475"/>
              </a:xfrm>
              <a:prstGeom prst="line">
                <a:avLst/>
              </a:prstGeom>
              <a:noFill/>
              <a:ln w="23812">
                <a:solidFill>
                  <a:srgbClr val="00A6A6"/>
                </a:solidFill>
                <a:tailEnd type="arrow" w="lg" len="lg"/>
              </a:ln>
            </p:spPr>
          </p:sp>
          <p:sp>
            <p:nvSpPr>
              <p:cNvPr id="15" name="Line 15"/>
              <p:cNvSpPr/>
              <p:nvPr/>
            </p:nvSpPr>
            <p:spPr>
              <a:xfrm flipV="1">
                <a:off x="3143250" y="2571750"/>
                <a:ext cx="1352550" cy="523875"/>
              </a:xfrm>
              <a:prstGeom prst="line">
                <a:avLst/>
              </a:prstGeom>
              <a:noFill/>
              <a:ln w="23812">
                <a:solidFill>
                  <a:srgbClr val="00A6A6"/>
                </a:solidFill>
                <a:tailEnd type="arrow" w="lg" len="lg"/>
              </a:ln>
            </p:spPr>
          </p:sp>
          <p:sp>
            <p:nvSpPr>
              <p:cNvPr id="16" name="Line 16"/>
              <p:cNvSpPr/>
              <p:nvPr/>
            </p:nvSpPr>
            <p:spPr>
              <a:xfrm>
                <a:off x="3143250" y="3095625"/>
                <a:ext cx="1352550" cy="466725"/>
              </a:xfrm>
              <a:prstGeom prst="line">
                <a:avLst/>
              </a:prstGeom>
              <a:noFill/>
              <a:ln w="23812">
                <a:solidFill>
                  <a:srgbClr val="00A6A6"/>
                </a:solidFill>
                <a:tailEnd type="arrow" w="lg" len="lg"/>
              </a:ln>
            </p:spPr>
          </p:sp>
          <p:sp>
            <p:nvSpPr>
              <p:cNvPr id="17" name="Line 17"/>
              <p:cNvSpPr/>
              <p:nvPr/>
            </p:nvSpPr>
            <p:spPr>
              <a:xfrm>
                <a:off x="3143250" y="3095625"/>
                <a:ext cx="1352550" cy="1457325"/>
              </a:xfrm>
              <a:prstGeom prst="line">
                <a:avLst/>
              </a:prstGeom>
              <a:noFill/>
              <a:ln w="23812">
                <a:solidFill>
                  <a:srgbClr val="00A6A6"/>
                </a:solidFill>
                <a:tailEnd type="arrow" w="lg" len="lg"/>
              </a:ln>
            </p:spPr>
          </p:sp>
          <p:sp>
            <p:nvSpPr>
              <p:cNvPr id="18" name="Line 18"/>
              <p:cNvSpPr/>
              <p:nvPr/>
            </p:nvSpPr>
            <p:spPr>
              <a:xfrm>
                <a:off x="3143250" y="3095625"/>
                <a:ext cx="1352550" cy="2524125"/>
              </a:xfrm>
              <a:prstGeom prst="line">
                <a:avLst/>
              </a:prstGeom>
              <a:noFill/>
              <a:ln w="23812">
                <a:solidFill>
                  <a:srgbClr val="00A6A6"/>
                </a:solidFill>
                <a:tailEnd type="arrow" w="lg" len="lg"/>
              </a:ln>
            </p:spPr>
          </p:sp>
          <p:sp>
            <p:nvSpPr>
              <p:cNvPr id="19" name="Line 19"/>
              <p:cNvSpPr/>
              <p:nvPr/>
            </p:nvSpPr>
            <p:spPr>
              <a:xfrm>
                <a:off x="6477000" y="1943100"/>
                <a:ext cx="1" cy="266700"/>
              </a:xfrm>
              <a:prstGeom prst="line">
                <a:avLst/>
              </a:prstGeom>
              <a:noFill/>
              <a:ln w="19050">
                <a:solidFill>
                  <a:srgbClr val="52616B"/>
                </a:solidFill>
                <a:custDash>
                  <a:ds d="300000" sp="200000"/>
                </a:custDash>
                <a:tailEnd type="arrow" w="lg" len="lg"/>
              </a:ln>
            </p:spPr>
          </p:sp>
          <p:sp>
            <p:nvSpPr>
              <p:cNvPr id="20" name="Line 20"/>
              <p:cNvSpPr/>
              <p:nvPr/>
            </p:nvSpPr>
            <p:spPr>
              <a:xfrm>
                <a:off x="8496300" y="2571750"/>
                <a:ext cx="1600200" cy="2686050"/>
              </a:xfrm>
              <a:prstGeom prst="line">
                <a:avLst/>
              </a:prstGeom>
              <a:noFill/>
              <a:ln w="19050">
                <a:solidFill>
                  <a:srgbClr val="52616B"/>
                </a:solidFill>
                <a:custDash>
                  <a:ds d="300000" sp="200000"/>
                </a:custDash>
                <a:tailEnd type="arrow" w="lg" len="lg"/>
              </a:ln>
            </p:spPr>
          </p:sp>
        </p:grpSp>
        <p:grpSp>
          <p:nvGrpSpPr>
            <p:cNvPr id="24" name="map-hub"/>
            <p:cNvGrpSpPr/>
            <p:nvPr/>
          </p:nvGrpSpPr>
          <p:grpSpPr>
            <a:xfrm>
              <a:off x="685800" y="2381250"/>
              <a:ext cx="2381250" cy="1435417"/>
              <a:chOff x="685800" y="2381250"/>
              <a:chExt cx="2381250" cy="1435417"/>
            </a:xfrm>
          </p:grpSpPr>
          <p:sp>
            <p:nvSpPr>
              <p:cNvPr id="22" name="Rectangle 22"/>
              <p:cNvSpPr/>
              <p:nvPr/>
            </p:nvSpPr>
            <p:spPr>
              <a:xfrm>
                <a:off x="685800" y="2381250"/>
                <a:ext cx="2381250" cy="1428750"/>
              </a:xfrm>
              <a:prstGeom prst="roundRect">
                <a:avLst>
                  <a:gd name="adj" fmla="val 6667"/>
                </a:avLst>
              </a:prstGeom>
              <a:solidFill>
                <a:srgbClr val="12355B"/>
              </a:solidFill>
              <a:ln>
                <a:noFill/>
              </a:ln>
            </p:spPr>
          </p:sp>
          <p:sp>
            <p:nvSpPr>
              <p:cNvPr id="23" name="TextBox 23"/>
              <p:cNvSpPr txBox="1"/>
              <p:nvPr/>
            </p:nvSpPr>
            <p:spPr>
              <a:xfrm>
                <a:off x="941070" y="2614612"/>
                <a:ext cx="1868091" cy="1202055"/>
              </a:xfrm>
              <a:prstGeom prst="rect">
                <a:avLst/>
              </a:prstGeom>
              <a:noFill/>
              <a:ln>
                <a:noFill/>
              </a:ln>
            </p:spPr>
            <p:txBody>
              <a:bodyPr wrap="none" lIns="0" tIns="0" rIns="0" bIns="0" anchor="t" anchorCtr="0">
                <a:spAutoFit/>
              </a:bodyPr>
              <a:lstStyle/>
              <a:p>
                <a:pPr algn="l">
                  <a:lnSpc>
                    <a:spcPts val="3000"/>
                  </a:lnSpc>
                </a:pPr>
                <a:r>
                  <a:rPr lang="tr-TR" sz="2250" b="1" dirty="0">
                    <a:solidFill>
                      <a:srgbClr val="FFFFFF"/>
                    </a:solidFill>
                    <a:latin typeface="+mn-lt"/>
                    <a:ea typeface="+mn-ea"/>
                    <a:cs typeface="+mn-cs"/>
                  </a:rPr>
                  <a:t>Açıklanabilir</a:t>
                </a:r>
                <a:br/>
                <a:r>
                  <a:rPr lang="tr-TR" sz="2250" b="1" dirty="0">
                    <a:solidFill>
                      <a:srgbClr val="FFFFFF"/>
                    </a:solidFill>
                    <a:latin typeface="+mn-lt"/>
                    <a:ea typeface="+mn-ea"/>
                    <a:cs typeface="+mn-cs"/>
                  </a:rPr>
                  <a:t>Yapay Zekâ</a:t>
                </a:r>
                <a:br/>
                <a:r>
                  <a:rPr lang="tr-TR" sz="2250" b="1" dirty="0">
                    <a:solidFill>
                      <a:srgbClr val="FFFFFF"/>
                    </a:solidFill>
                    <a:latin typeface="+mn-lt"/>
                    <a:ea typeface="+mn-ea"/>
                    <a:cs typeface="+mn-cs"/>
                  </a:rPr>
                  <a:t>(XAI)</a:t>
                </a:r>
              </a:p>
            </p:txBody>
          </p:sp>
        </p:grpSp>
        <p:grpSp>
          <p:nvGrpSpPr>
            <p:cNvPr id="28" name="map-node-global"/>
            <p:cNvGrpSpPr/>
            <p:nvPr/>
          </p:nvGrpSpPr>
          <p:grpSpPr>
            <a:xfrm>
              <a:off x="4572000" y="1219200"/>
              <a:ext cx="3810000" cy="723900"/>
              <a:chOff x="4572000" y="1219200"/>
              <a:chExt cx="3810000" cy="723900"/>
            </a:xfrm>
          </p:grpSpPr>
          <p:sp>
            <p:nvSpPr>
              <p:cNvPr id="25" name="Rectangle 25"/>
              <p:cNvSpPr/>
              <p:nvPr/>
            </p:nvSpPr>
            <p:spPr>
              <a:xfrm>
                <a:off x="4572000" y="1219200"/>
                <a:ext cx="3810000" cy="723900"/>
              </a:xfrm>
              <a:prstGeom prst="roundRect">
                <a:avLst>
                  <a:gd name="adj" fmla="val 13158"/>
                </a:avLst>
              </a:prstGeom>
              <a:solidFill>
                <a:srgbClr val="FFFFFF"/>
              </a:solidFill>
              <a:ln w="14288">
                <a:solidFill>
                  <a:srgbClr val="2E86AB"/>
                </a:solidFill>
              </a:ln>
            </p:spPr>
          </p:sp>
          <p:sp>
            <p:nvSpPr>
              <p:cNvPr id="26" name="TextBox 26"/>
              <p:cNvSpPr txBox="1"/>
              <p:nvPr/>
            </p:nvSpPr>
            <p:spPr>
              <a:xfrm>
                <a:off x="4791456" y="1329690"/>
                <a:ext cx="2671187"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Global açıklanabilirlik</a:t>
                </a:r>
              </a:p>
            </p:txBody>
          </p:sp>
          <p:sp>
            <p:nvSpPr>
              <p:cNvPr id="27" name="TextBox 27"/>
              <p:cNvSpPr txBox="1"/>
              <p:nvPr/>
            </p:nvSpPr>
            <p:spPr>
              <a:xfrm>
                <a:off x="4792599" y="1601629"/>
                <a:ext cx="3174591"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tüm veri kümesindeki davranış</a:t>
                </a:r>
              </a:p>
            </p:txBody>
          </p:sp>
        </p:grpSp>
        <p:grpSp>
          <p:nvGrpSpPr>
            <p:cNvPr id="32" name="map-node-yerel"/>
            <p:cNvGrpSpPr/>
            <p:nvPr/>
          </p:nvGrpSpPr>
          <p:grpSpPr>
            <a:xfrm>
              <a:off x="4572000" y="2209800"/>
              <a:ext cx="3810000" cy="723900"/>
              <a:chOff x="4572000" y="2209800"/>
              <a:chExt cx="3810000" cy="723900"/>
            </a:xfrm>
          </p:grpSpPr>
          <p:sp>
            <p:nvSpPr>
              <p:cNvPr id="29" name="Rectangle 29"/>
              <p:cNvSpPr/>
              <p:nvPr/>
            </p:nvSpPr>
            <p:spPr>
              <a:xfrm>
                <a:off x="4572000" y="2209800"/>
                <a:ext cx="3810000" cy="723900"/>
              </a:xfrm>
              <a:prstGeom prst="roundRect">
                <a:avLst>
                  <a:gd name="adj" fmla="val 13158"/>
                </a:avLst>
              </a:prstGeom>
              <a:solidFill>
                <a:srgbClr val="FFFFFF"/>
              </a:solidFill>
              <a:ln w="14288">
                <a:solidFill>
                  <a:srgbClr val="2E86AB"/>
                </a:solidFill>
              </a:ln>
            </p:spPr>
          </p:sp>
          <p:sp>
            <p:nvSpPr>
              <p:cNvPr id="30" name="TextBox 30"/>
              <p:cNvSpPr txBox="1"/>
              <p:nvPr/>
            </p:nvSpPr>
            <p:spPr>
              <a:xfrm>
                <a:off x="4791456" y="2320290"/>
                <a:ext cx="2594976"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Yerel açıklanabilirlik</a:t>
                </a:r>
              </a:p>
            </p:txBody>
          </p:sp>
          <p:sp>
            <p:nvSpPr>
              <p:cNvPr id="31" name="TextBox 31"/>
              <p:cNvSpPr txBox="1"/>
              <p:nvPr/>
            </p:nvSpPr>
            <p:spPr>
              <a:xfrm>
                <a:off x="4792599" y="2592229"/>
                <a:ext cx="2727922"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tek bir tahminin gerekçesi</a:t>
                </a:r>
              </a:p>
            </p:txBody>
          </p:sp>
        </p:grpSp>
        <p:grpSp>
          <p:nvGrpSpPr>
            <p:cNvPr id="36" name="map-node-shap"/>
            <p:cNvGrpSpPr/>
            <p:nvPr/>
          </p:nvGrpSpPr>
          <p:grpSpPr>
            <a:xfrm>
              <a:off x="4572000" y="3200400"/>
              <a:ext cx="3810000" cy="723900"/>
              <a:chOff x="4572000" y="3200400"/>
              <a:chExt cx="3810000" cy="723900"/>
            </a:xfrm>
          </p:grpSpPr>
          <p:sp>
            <p:nvSpPr>
              <p:cNvPr id="33" name="Rectangle 33"/>
              <p:cNvSpPr/>
              <p:nvPr/>
            </p:nvSpPr>
            <p:spPr>
              <a:xfrm>
                <a:off x="4572000" y="3200400"/>
                <a:ext cx="3810000" cy="723900"/>
              </a:xfrm>
              <a:prstGeom prst="roundRect">
                <a:avLst>
                  <a:gd name="adj" fmla="val 13158"/>
                </a:avLst>
              </a:prstGeom>
              <a:solidFill>
                <a:srgbClr val="FFFFFF"/>
              </a:solidFill>
              <a:ln w="14288">
                <a:solidFill>
                  <a:srgbClr val="2E86AB"/>
                </a:solidFill>
              </a:ln>
            </p:spPr>
          </p:sp>
          <p:sp>
            <p:nvSpPr>
              <p:cNvPr id="34" name="TextBox 34"/>
              <p:cNvSpPr txBox="1"/>
              <p:nvPr/>
            </p:nvSpPr>
            <p:spPr>
              <a:xfrm>
                <a:off x="4791456" y="3310890"/>
                <a:ext cx="609722"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SHAP</a:t>
                </a:r>
              </a:p>
            </p:txBody>
          </p:sp>
          <p:sp>
            <p:nvSpPr>
              <p:cNvPr id="35" name="TextBox 35"/>
              <p:cNvSpPr txBox="1"/>
              <p:nvPr/>
            </p:nvSpPr>
            <p:spPr>
              <a:xfrm>
                <a:off x="4792599" y="3582829"/>
                <a:ext cx="2744978"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Shapley değerleriyle katkı</a:t>
                </a:r>
              </a:p>
            </p:txBody>
          </p:sp>
        </p:grpSp>
        <p:grpSp>
          <p:nvGrpSpPr>
            <p:cNvPr id="40" name="map-node-lime"/>
            <p:cNvGrpSpPr/>
            <p:nvPr/>
          </p:nvGrpSpPr>
          <p:grpSpPr>
            <a:xfrm>
              <a:off x="4572000" y="4191000"/>
              <a:ext cx="3810000" cy="723900"/>
              <a:chOff x="4572000" y="4191000"/>
              <a:chExt cx="3810000" cy="723900"/>
            </a:xfrm>
          </p:grpSpPr>
          <p:sp>
            <p:nvSpPr>
              <p:cNvPr id="37" name="Rectangle 37"/>
              <p:cNvSpPr/>
              <p:nvPr/>
            </p:nvSpPr>
            <p:spPr>
              <a:xfrm>
                <a:off x="4572000" y="4191000"/>
                <a:ext cx="3810000" cy="723900"/>
              </a:xfrm>
              <a:prstGeom prst="roundRect">
                <a:avLst>
                  <a:gd name="adj" fmla="val 13158"/>
                </a:avLst>
              </a:prstGeom>
              <a:solidFill>
                <a:srgbClr val="FFFFFF"/>
              </a:solidFill>
              <a:ln w="14288">
                <a:solidFill>
                  <a:srgbClr val="2E86AB"/>
                </a:solidFill>
              </a:ln>
            </p:spPr>
          </p:sp>
          <p:sp>
            <p:nvSpPr>
              <p:cNvPr id="38" name="TextBox 38"/>
              <p:cNvSpPr txBox="1"/>
              <p:nvPr/>
            </p:nvSpPr>
            <p:spPr>
              <a:xfrm>
                <a:off x="4791456" y="4301490"/>
                <a:ext cx="596280"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LIME</a:t>
                </a:r>
              </a:p>
            </p:txBody>
          </p:sp>
          <p:sp>
            <p:nvSpPr>
              <p:cNvPr id="39" name="TextBox 39"/>
              <p:cNvSpPr txBox="1"/>
              <p:nvPr/>
            </p:nvSpPr>
            <p:spPr>
              <a:xfrm>
                <a:off x="4792599" y="4573429"/>
                <a:ext cx="2376968"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yerel vekil model kurar</a:t>
                </a:r>
              </a:p>
            </p:txBody>
          </p:sp>
        </p:grpSp>
        <p:grpSp>
          <p:nvGrpSpPr>
            <p:cNvPr id="44" name="map-node-nedensellik"/>
            <p:cNvGrpSpPr/>
            <p:nvPr/>
          </p:nvGrpSpPr>
          <p:grpSpPr>
            <a:xfrm>
              <a:off x="4572000" y="5334000"/>
              <a:ext cx="7010400" cy="723900"/>
              <a:chOff x="4572000" y="5334000"/>
              <a:chExt cx="7010400" cy="723900"/>
            </a:xfrm>
          </p:grpSpPr>
          <p:sp>
            <p:nvSpPr>
              <p:cNvPr id="41" name="Rectangle 41"/>
              <p:cNvSpPr/>
              <p:nvPr/>
            </p:nvSpPr>
            <p:spPr>
              <a:xfrm>
                <a:off x="4572000" y="5334000"/>
                <a:ext cx="7010400" cy="723900"/>
              </a:xfrm>
              <a:prstGeom prst="roundRect">
                <a:avLst>
                  <a:gd name="adj" fmla="val 13158"/>
                </a:avLst>
              </a:prstGeom>
              <a:solidFill>
                <a:srgbClr val="EAF4F6"/>
              </a:solidFill>
              <a:ln w="14288">
                <a:solidFill>
                  <a:srgbClr val="00A6A6"/>
                </a:solidFill>
              </a:ln>
            </p:spPr>
          </p:sp>
          <p:sp>
            <p:nvSpPr>
              <p:cNvPr id="42" name="TextBox 42"/>
              <p:cNvSpPr txBox="1"/>
              <p:nvPr/>
            </p:nvSpPr>
            <p:spPr>
              <a:xfrm>
                <a:off x="4791456" y="5444490"/>
                <a:ext cx="2824239"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Nedensellik değil, ilişki</a:t>
                </a:r>
              </a:p>
            </p:txBody>
          </p:sp>
          <p:sp>
            <p:nvSpPr>
              <p:cNvPr id="43" name="TextBox 43"/>
              <p:cNvSpPr txBox="1"/>
              <p:nvPr/>
            </p:nvSpPr>
            <p:spPr>
              <a:xfrm>
                <a:off x="4792599" y="5716429"/>
                <a:ext cx="6418260"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açıklama, model-tahmin ilişkisini gösterir; sebebi kanıtlamaz</a:t>
                </a:r>
              </a:p>
            </p:txBody>
          </p:sp>
        </p:grpSp>
        <p:grpSp>
          <p:nvGrpSpPr>
            <p:cNvPr id="49" name="map-legend"/>
            <p:cNvGrpSpPr/>
            <p:nvPr/>
          </p:nvGrpSpPr>
          <p:grpSpPr>
            <a:xfrm>
              <a:off x="685800" y="5528310"/>
              <a:ext cx="3835980" cy="577596"/>
              <a:chOff x="685800" y="5528310"/>
              <a:chExt cx="3835980" cy="577596"/>
            </a:xfrm>
          </p:grpSpPr>
          <p:sp>
            <p:nvSpPr>
              <p:cNvPr id="45" name="Line 45"/>
              <p:cNvSpPr/>
              <p:nvPr/>
            </p:nvSpPr>
            <p:spPr>
              <a:xfrm>
                <a:off x="685800" y="5600700"/>
                <a:ext cx="304800" cy="1"/>
              </a:xfrm>
              <a:prstGeom prst="line">
                <a:avLst/>
              </a:prstGeom>
              <a:noFill/>
              <a:ln w="23812">
                <a:solidFill>
                  <a:srgbClr val="00A6A6"/>
                </a:solidFill>
                <a:tailEnd type="arrow" w="lg" len="lg"/>
              </a:ln>
            </p:spPr>
          </p:sp>
          <p:sp>
            <p:nvSpPr>
              <p:cNvPr id="46" name="TextBox 46"/>
              <p:cNvSpPr txBox="1"/>
              <p:nvPr/>
            </p:nvSpPr>
            <p:spPr>
              <a:xfrm>
                <a:off x="1079754" y="5528310"/>
                <a:ext cx="2257958"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XAI'den türeyen temel unsur</a:t>
                </a:r>
              </a:p>
            </p:txBody>
          </p:sp>
          <p:sp>
            <p:nvSpPr>
              <p:cNvPr id="47" name="Line 47"/>
              <p:cNvSpPr/>
              <p:nvPr/>
            </p:nvSpPr>
            <p:spPr>
              <a:xfrm>
                <a:off x="685800" y="5943600"/>
                <a:ext cx="304800" cy="1"/>
              </a:xfrm>
              <a:prstGeom prst="line">
                <a:avLst/>
              </a:prstGeom>
              <a:noFill/>
              <a:ln w="19050">
                <a:solidFill>
                  <a:srgbClr val="52616B"/>
                </a:solidFill>
                <a:custDash>
                  <a:ds d="300000" sp="200000"/>
                </a:custDash>
                <a:tailEnd type="arrow" w="lg" len="lg"/>
              </a:ln>
            </p:spPr>
          </p:sp>
          <p:sp>
            <p:nvSpPr>
              <p:cNvPr id="48" name="TextBox 48"/>
              <p:cNvSpPr txBox="1"/>
              <p:nvPr/>
            </p:nvSpPr>
            <p:spPr>
              <a:xfrm>
                <a:off x="1079754" y="5871210"/>
                <a:ext cx="3442026"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Kavramlar arası tamamlayıcı/uyarı ilişkisi</a:t>
                </a:r>
              </a:p>
            </p:txBody>
          </p:sp>
        </p:grpSp>
      </p:grpSp>
      <p:sp>
        <p:nvSpPr>
          <p:cNvPr id="51" name="TextBox 51"/>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04 / 25</a:t>
            </a: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3566210" cy="557403"/>
            <a:chOff x="595122" y="282892"/>
            <a:chExt cx="3566210" cy="557403"/>
          </a:xfrm>
        </p:grpSpPr>
        <p:sp>
          <p:nvSpPr>
            <p:cNvPr id="4" name="TextBox 4"/>
            <p:cNvSpPr txBox="1"/>
            <p:nvPr/>
          </p:nvSpPr>
          <p:spPr>
            <a:xfrm>
              <a:off x="595122" y="282892"/>
              <a:ext cx="3566210"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Neden XAI gerekli?</a:t>
              </a:r>
            </a:p>
          </p:txBody>
        </p:sp>
      </p:grpSp>
      <p:grpSp>
        <p:nvGrpSpPr>
          <p:cNvPr id="8" name="intro-block"/>
          <p:cNvGrpSpPr/>
          <p:nvPr/>
        </p:nvGrpSpPr>
        <p:grpSpPr>
          <a:xfrm>
            <a:off x="601599" y="1163479"/>
            <a:ext cx="7999291" cy="555689"/>
            <a:chOff x="601599" y="1163479"/>
            <a:chExt cx="7999291" cy="555689"/>
          </a:xfrm>
        </p:grpSpPr>
        <p:sp>
          <p:nvSpPr>
            <p:cNvPr id="6" name="TextBox 6"/>
            <p:cNvSpPr txBox="1"/>
            <p:nvPr/>
          </p:nvSpPr>
          <p:spPr>
            <a:xfrm>
              <a:off x="601599" y="1163479"/>
              <a:ext cx="7999291"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Müşteri hizmetleri müdürü modelin çıktısını gördüğünde tek bir soru sorar:</a:t>
              </a:r>
            </a:p>
          </p:txBody>
        </p:sp>
        <p:sp>
          <p:nvSpPr>
            <p:cNvPr id="7" name="TextBox 7"/>
            <p:cNvSpPr txBox="1"/>
            <p:nvPr/>
          </p:nvSpPr>
          <p:spPr>
            <a:xfrm>
              <a:off x="601599" y="1411129"/>
              <a:ext cx="4356357"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"Model bu müşteriyi neden riskli buldu?"</a:t>
              </a:r>
            </a:p>
          </p:txBody>
        </p:sp>
      </p:grpSp>
      <p:grpSp>
        <p:nvGrpSpPr>
          <p:cNvPr id="30" name="flow-diagram"/>
          <p:cNvGrpSpPr/>
          <p:nvPr/>
        </p:nvGrpSpPr>
        <p:grpSpPr>
          <a:xfrm>
            <a:off x="609600" y="1828800"/>
            <a:ext cx="10972800" cy="2247900"/>
            <a:chOff x="609600" y="1828800"/>
            <a:chExt cx="10972800" cy="2247900"/>
          </a:xfrm>
        </p:grpSpPr>
        <p:sp>
          <p:nvSpPr>
            <p:cNvPr id="9" name="box-girdi"/>
            <p:cNvSpPr/>
            <p:nvPr/>
          </p:nvSpPr>
          <p:spPr>
            <a:xfrm>
              <a:off x="609600" y="1828800"/>
              <a:ext cx="3143250" cy="1047750"/>
            </a:xfrm>
            <a:prstGeom prst="roundRect">
              <a:avLst>
                <a:gd name="adj" fmla="val 9091"/>
              </a:avLst>
            </a:prstGeom>
            <a:solidFill>
              <a:srgbClr val="FFFFFF"/>
            </a:solidFill>
            <a:ln w="14288">
              <a:solidFill>
                <a:srgbClr val="B8CBD3"/>
              </a:solidFill>
            </a:ln>
          </p:spPr>
        </p:sp>
        <p:sp>
          <p:nvSpPr>
            <p:cNvPr id="10" name="TextBox 10"/>
            <p:cNvSpPr txBox="1"/>
            <p:nvPr/>
          </p:nvSpPr>
          <p:spPr>
            <a:xfrm>
              <a:off x="830199" y="2001679"/>
              <a:ext cx="524194"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Girdi</a:t>
              </a:r>
            </a:p>
          </p:txBody>
        </p:sp>
        <p:sp>
          <p:nvSpPr>
            <p:cNvPr id="11" name="TextBox 11"/>
            <p:cNvSpPr txBox="1"/>
            <p:nvPr/>
          </p:nvSpPr>
          <p:spPr>
            <a:xfrm>
              <a:off x="832104" y="2308860"/>
              <a:ext cx="189433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52616B"/>
                  </a:solidFill>
                  <a:latin typeface="+mn-lt"/>
                  <a:ea typeface="+mn-ea"/>
                  <a:cs typeface="+mn-cs"/>
                </a:rPr>
                <a:t>tenure, MonthlyCharges,</a:t>
              </a:r>
              <a:br/>
              <a:r>
                <a:rPr lang="tr-TR" sz="1200" dirty="0">
                  <a:solidFill>
                    <a:srgbClr val="52616B"/>
                  </a:solidFill>
                  <a:latin typeface="+mn-lt"/>
                  <a:ea typeface="+mn-ea"/>
                  <a:cs typeface="+mn-cs"/>
                </a:rPr>
                <a:t>TotalCharges</a:t>
              </a:r>
            </a:p>
          </p:txBody>
        </p:sp>
        <p:sp>
          <p:nvSpPr>
            <p:cNvPr id="12" name="Line 12"/>
            <p:cNvSpPr/>
            <p:nvPr/>
          </p:nvSpPr>
          <p:spPr>
            <a:xfrm>
              <a:off x="3752850" y="2352675"/>
              <a:ext cx="571500" cy="1"/>
            </a:xfrm>
            <a:prstGeom prst="line">
              <a:avLst/>
            </a:prstGeom>
            <a:noFill/>
            <a:ln w="23812">
              <a:solidFill>
                <a:srgbClr val="00A6A6"/>
              </a:solidFill>
              <a:tailEnd type="arrow" w="lg" len="lg"/>
            </a:ln>
          </p:spPr>
        </p:sp>
        <p:sp>
          <p:nvSpPr>
            <p:cNvPr id="13" name="box-model"/>
            <p:cNvSpPr/>
            <p:nvPr/>
          </p:nvSpPr>
          <p:spPr>
            <a:xfrm>
              <a:off x="4381500" y="1828800"/>
              <a:ext cx="3143250" cy="1047750"/>
            </a:xfrm>
            <a:prstGeom prst="roundRect">
              <a:avLst>
                <a:gd name="adj" fmla="val 9091"/>
              </a:avLst>
            </a:prstGeom>
            <a:solidFill>
              <a:srgbClr val="12355B"/>
            </a:solidFill>
            <a:ln>
              <a:noFill/>
            </a:ln>
          </p:spPr>
        </p:sp>
        <p:grpSp>
          <p:nvGrpSpPr>
            <p:cNvPr id="16" name="icon-model"/>
            <p:cNvGrpSpPr/>
            <p:nvPr/>
          </p:nvGrpSpPr>
          <p:grpSpPr>
            <a:xfrm>
              <a:off x="4657725" y="2181225"/>
              <a:ext cx="293370" cy="293370"/>
              <a:chOff x="4657725" y="2181225"/>
              <a:chExt cx="293370" cy="293370"/>
            </a:xfrm>
          </p:grpSpPr>
          <p:sp>
            <p:nvSpPr>
              <p:cNvPr id="14" name="Freeform 14"/>
              <p:cNvSpPr/>
              <p:nvPr/>
            </p:nvSpPr>
            <p:spPr>
              <a:xfrm>
                <a:off x="4657725" y="2181225"/>
                <a:ext cx="293370" cy="293370"/>
              </a:xfrm>
              <a:custGeom>
                <a:avLst/>
                <a:gdLst/>
                <a:ahLst/>
                <a:cxnLst/>
                <a:rect l="l" t="t" r="r" b="b"/>
                <a:pathLst>
                  <a:path w="293370" h="293370">
                    <a:moveTo>
                      <a:pt x="0" y="20955"/>
                    </a:moveTo>
                    <a:cubicBezTo>
                      <a:pt x="0" y="9382"/>
                      <a:pt x="9382" y="0"/>
                      <a:pt x="20955" y="0"/>
                    </a:cubicBezTo>
                    <a:lnTo>
                      <a:pt x="272415" y="0"/>
                    </a:lnTo>
                    <a:cubicBezTo>
                      <a:pt x="283988" y="0"/>
                      <a:pt x="293370" y="9382"/>
                      <a:pt x="293370" y="20955"/>
                    </a:cubicBezTo>
                    <a:lnTo>
                      <a:pt x="293370" y="272415"/>
                    </a:lnTo>
                    <a:cubicBezTo>
                      <a:pt x="293370" y="283988"/>
                      <a:pt x="283988" y="293370"/>
                      <a:pt x="272415" y="293370"/>
                    </a:cubicBezTo>
                    <a:lnTo>
                      <a:pt x="20955" y="293370"/>
                    </a:lnTo>
                    <a:cubicBezTo>
                      <a:pt x="9382" y="293370"/>
                      <a:pt x="0" y="283988"/>
                      <a:pt x="0" y="272415"/>
                    </a:cubicBezTo>
                    <a:lnTo>
                      <a:pt x="0" y="20955"/>
                    </a:lnTo>
                  </a:path>
                </a:pathLst>
              </a:custGeom>
              <a:noFill/>
              <a:ln w="18860" cap="rnd">
                <a:solidFill>
                  <a:srgbClr val="00A6A6"/>
                </a:solidFill>
                <a:round/>
              </a:ln>
            </p:spPr>
          </p:sp>
          <p:sp>
            <p:nvSpPr>
              <p:cNvPr id="15" name="Freeform 15"/>
              <p:cNvSpPr/>
              <p:nvPr/>
            </p:nvSpPr>
            <p:spPr>
              <a:xfrm>
                <a:off x="4741545" y="2265045"/>
                <a:ext cx="125730" cy="125730"/>
              </a:xfrm>
              <a:custGeom>
                <a:avLst/>
                <a:gdLst/>
                <a:ahLst/>
                <a:cxnLst/>
                <a:rect l="l" t="t" r="r" b="b"/>
                <a:pathLst>
                  <a:path w="125730" h="125730">
                    <a:moveTo>
                      <a:pt x="0" y="0"/>
                    </a:moveTo>
                    <a:lnTo>
                      <a:pt x="125730" y="0"/>
                    </a:lnTo>
                    <a:lnTo>
                      <a:pt x="125730" y="125730"/>
                    </a:lnTo>
                    <a:lnTo>
                      <a:pt x="0" y="125730"/>
                    </a:lnTo>
                    <a:lnTo>
                      <a:pt x="0" y="0"/>
                    </a:lnTo>
                  </a:path>
                </a:pathLst>
              </a:custGeom>
              <a:noFill/>
              <a:ln w="18860" cap="rnd">
                <a:solidFill>
                  <a:srgbClr val="00A6A6"/>
                </a:solidFill>
                <a:round/>
              </a:ln>
            </p:spPr>
          </p:sp>
        </p:grpSp>
        <p:sp>
          <p:nvSpPr>
            <p:cNvPr id="17" name="TextBox 17"/>
            <p:cNvSpPr txBox="1"/>
            <p:nvPr/>
          </p:nvSpPr>
          <p:spPr>
            <a:xfrm>
              <a:off x="5306949" y="2058829"/>
              <a:ext cx="1743166" cy="308039"/>
            </a:xfrm>
            <a:prstGeom prst="rect">
              <a:avLst/>
            </a:prstGeom>
            <a:noFill/>
            <a:ln>
              <a:noFill/>
            </a:ln>
          </p:spPr>
          <p:txBody>
            <a:bodyPr wrap="none" lIns="0" tIns="0" rIns="0" bIns="0" anchor="t" anchorCtr="0">
              <a:spAutoFit/>
            </a:bodyPr>
            <a:lstStyle/>
            <a:p>
              <a:pPr algn="l"/>
              <a:r>
                <a:rPr lang="tr-TR" sz="1580" b="1" dirty="0">
                  <a:solidFill>
                    <a:srgbClr val="FFFFFF"/>
                  </a:solidFill>
                  <a:latin typeface="+mn-lt"/>
                  <a:ea typeface="+mn-ea"/>
                  <a:cs typeface="+mn-cs"/>
                </a:rPr>
                <a:t>Kara kutu model</a:t>
              </a:r>
            </a:p>
          </p:txBody>
        </p:sp>
        <p:sp>
          <p:nvSpPr>
            <p:cNvPr id="18" name="TextBox 18"/>
            <p:cNvSpPr txBox="1"/>
            <p:nvPr/>
          </p:nvSpPr>
          <p:spPr>
            <a:xfrm>
              <a:off x="5308854" y="2346960"/>
              <a:ext cx="1995991"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Random Forest / XGBoost</a:t>
              </a:r>
            </a:p>
          </p:txBody>
        </p:sp>
        <p:sp>
          <p:nvSpPr>
            <p:cNvPr id="19" name="TextBox 19"/>
            <p:cNvSpPr txBox="1"/>
            <p:nvPr/>
          </p:nvSpPr>
          <p:spPr>
            <a:xfrm>
              <a:off x="5308854" y="2556510"/>
              <a:ext cx="1643786"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iç mantığı okunamaz</a:t>
              </a:r>
            </a:p>
          </p:txBody>
        </p:sp>
        <p:sp>
          <p:nvSpPr>
            <p:cNvPr id="20" name="Line 20"/>
            <p:cNvSpPr/>
            <p:nvPr/>
          </p:nvSpPr>
          <p:spPr>
            <a:xfrm>
              <a:off x="7524750" y="2352675"/>
              <a:ext cx="571500" cy="1"/>
            </a:xfrm>
            <a:prstGeom prst="line">
              <a:avLst/>
            </a:prstGeom>
            <a:noFill/>
            <a:ln w="23812">
              <a:solidFill>
                <a:srgbClr val="00A6A6"/>
              </a:solidFill>
              <a:tailEnd type="arrow" w="lg" len="lg"/>
            </a:ln>
          </p:spPr>
        </p:sp>
        <p:sp>
          <p:nvSpPr>
            <p:cNvPr id="21" name="box-tahmin"/>
            <p:cNvSpPr/>
            <p:nvPr/>
          </p:nvSpPr>
          <p:spPr>
            <a:xfrm>
              <a:off x="8153400" y="1828800"/>
              <a:ext cx="3429000" cy="1047750"/>
            </a:xfrm>
            <a:prstGeom prst="roundRect">
              <a:avLst>
                <a:gd name="adj" fmla="val 9091"/>
              </a:avLst>
            </a:prstGeom>
            <a:solidFill>
              <a:srgbClr val="FFFFFF"/>
            </a:solidFill>
            <a:ln w="14288">
              <a:solidFill>
                <a:srgbClr val="2E86AB"/>
              </a:solidFill>
            </a:ln>
          </p:spPr>
        </p:sp>
        <p:sp>
          <p:nvSpPr>
            <p:cNvPr id="22" name="TextBox 22"/>
            <p:cNvSpPr txBox="1"/>
            <p:nvPr/>
          </p:nvSpPr>
          <p:spPr>
            <a:xfrm>
              <a:off x="8373999" y="2001679"/>
              <a:ext cx="748687"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Tahmin</a:t>
              </a:r>
            </a:p>
          </p:txBody>
        </p:sp>
        <p:sp>
          <p:nvSpPr>
            <p:cNvPr id="23" name="TextBox 23"/>
            <p:cNvSpPr txBox="1"/>
            <p:nvPr/>
          </p:nvSpPr>
          <p:spPr>
            <a:xfrm>
              <a:off x="8375904" y="2308860"/>
              <a:ext cx="2014318"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Ayrılma olasılığı: %94,5</a:t>
              </a:r>
            </a:p>
          </p:txBody>
        </p:sp>
        <p:sp>
          <p:nvSpPr>
            <p:cNvPr id="24" name="TextBox 24"/>
            <p:cNvSpPr txBox="1"/>
            <p:nvPr/>
          </p:nvSpPr>
          <p:spPr>
            <a:xfrm>
              <a:off x="8375904" y="2518410"/>
              <a:ext cx="1851482"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Neden bu kadar yüksek?</a:t>
              </a:r>
            </a:p>
          </p:txBody>
        </p:sp>
        <p:sp>
          <p:nvSpPr>
            <p:cNvPr id="25" name="Line 25"/>
            <p:cNvSpPr/>
            <p:nvPr/>
          </p:nvSpPr>
          <p:spPr>
            <a:xfrm>
              <a:off x="5953125" y="2876550"/>
              <a:ext cx="1" cy="476250"/>
            </a:xfrm>
            <a:prstGeom prst="line">
              <a:avLst/>
            </a:prstGeom>
            <a:noFill/>
            <a:ln w="19050">
              <a:solidFill>
                <a:srgbClr val="52616B"/>
              </a:solidFill>
              <a:custDash>
                <a:ds d="300000" sp="200000"/>
              </a:custDash>
              <a:tailEnd type="arrow" w="lg" len="lg"/>
            </a:ln>
          </p:spPr>
        </p:sp>
        <p:sp>
          <p:nvSpPr>
            <p:cNvPr id="26" name="TextBox 26"/>
            <p:cNvSpPr txBox="1"/>
            <p:nvPr/>
          </p:nvSpPr>
          <p:spPr>
            <a:xfrm>
              <a:off x="6147054" y="3032760"/>
              <a:ext cx="1441856" cy="234696"/>
            </a:xfrm>
            <a:prstGeom prst="rect">
              <a:avLst/>
            </a:prstGeom>
            <a:noFill/>
            <a:ln>
              <a:noFill/>
            </a:ln>
          </p:spPr>
          <p:txBody>
            <a:bodyPr wrap="none" lIns="0" tIns="0" rIns="0" bIns="0" anchor="t" anchorCtr="0">
              <a:spAutoFit/>
            </a:bodyPr>
            <a:lstStyle/>
            <a:p>
              <a:pPr algn="l"/>
              <a:r>
                <a:rPr lang="tr-TR" sz="1200" i="1" dirty="0">
                  <a:solidFill>
                    <a:srgbClr val="52616B"/>
                  </a:solidFill>
                  <a:latin typeface="+mn-lt"/>
                  <a:ea typeface="+mn-ea"/>
                  <a:cs typeface="+mn-cs"/>
                </a:rPr>
                <a:t>gerekçe bilinmiyor</a:t>
              </a:r>
            </a:p>
          </p:txBody>
        </p:sp>
        <p:sp>
          <p:nvSpPr>
            <p:cNvPr id="27" name="box-xai"/>
            <p:cNvSpPr/>
            <p:nvPr/>
          </p:nvSpPr>
          <p:spPr>
            <a:xfrm>
              <a:off x="3352800" y="3409950"/>
              <a:ext cx="5486400" cy="666750"/>
            </a:xfrm>
            <a:prstGeom prst="roundRect">
              <a:avLst>
                <a:gd name="adj" fmla="val 11429"/>
              </a:avLst>
            </a:prstGeom>
            <a:solidFill>
              <a:srgbClr val="EAF4F6"/>
            </a:solidFill>
            <a:ln w="14288">
              <a:solidFill>
                <a:srgbClr val="00A6A6"/>
              </a:solidFill>
            </a:ln>
          </p:spPr>
        </p:sp>
        <p:sp>
          <p:nvSpPr>
            <p:cNvPr id="28" name="TextBox 28"/>
            <p:cNvSpPr txBox="1"/>
            <p:nvPr/>
          </p:nvSpPr>
          <p:spPr>
            <a:xfrm>
              <a:off x="3552414" y="3525679"/>
              <a:ext cx="5087172" cy="308039"/>
            </a:xfrm>
            <a:prstGeom prst="rect">
              <a:avLst/>
            </a:prstGeom>
            <a:noFill/>
            <a:ln>
              <a:noFill/>
            </a:ln>
          </p:spPr>
          <p:txBody>
            <a:bodyPr wrap="none" lIns="0" tIns="0" rIns="0" bIns="0" anchor="t" anchorCtr="0">
              <a:spAutoFit/>
            </a:bodyPr>
            <a:lstStyle/>
            <a:p>
              <a:pPr algn="ctr"/>
              <a:r>
                <a:rPr lang="tr-TR" sz="1580" b="1" dirty="0">
                  <a:solidFill>
                    <a:srgbClr val="12355B"/>
                  </a:solidFill>
                  <a:latin typeface="+mn-lt"/>
                  <a:ea typeface="+mn-ea"/>
                  <a:cs typeface="+mn-cs"/>
                </a:rPr>
                <a:t>XAI: hangi değişken, ne yönde, ne kadar etkili?</a:t>
              </a:r>
            </a:p>
          </p:txBody>
        </p:sp>
        <p:sp>
          <p:nvSpPr>
            <p:cNvPr id="29" name="TextBox 29"/>
            <p:cNvSpPr txBox="1"/>
            <p:nvPr/>
          </p:nvSpPr>
          <p:spPr>
            <a:xfrm>
              <a:off x="4171569" y="3794760"/>
              <a:ext cx="3848862" cy="234696"/>
            </a:xfrm>
            <a:prstGeom prst="rect">
              <a:avLst/>
            </a:prstGeom>
            <a:noFill/>
            <a:ln>
              <a:noFill/>
            </a:ln>
          </p:spPr>
          <p:txBody>
            <a:bodyPr wrap="none" lIns="0" tIns="0" rIns="0" bIns="0" anchor="t" anchorCtr="0">
              <a:spAutoFit/>
            </a:bodyPr>
            <a:lstStyle/>
            <a:p>
              <a:pPr algn="ctr"/>
              <a:r>
                <a:rPr lang="tr-TR" sz="1200" dirty="0">
                  <a:solidFill>
                    <a:srgbClr val="52616B"/>
                  </a:solidFill>
                  <a:latin typeface="+mn-lt"/>
                  <a:ea typeface="+mn-ea"/>
                  <a:cs typeface="+mn-cs"/>
                </a:rPr>
                <a:t>tahmini bozmadan gerekçeyi insana görünür kılar</a:t>
              </a:r>
            </a:p>
          </p:txBody>
        </p:sp>
      </p:grpSp>
      <p:grpSp>
        <p:nvGrpSpPr>
          <p:cNvPr id="35" name="closing-note"/>
          <p:cNvGrpSpPr/>
          <p:nvPr/>
        </p:nvGrpSpPr>
        <p:grpSpPr>
          <a:xfrm>
            <a:off x="609600" y="4305300"/>
            <a:ext cx="10972800" cy="914400"/>
            <a:chOff x="609600" y="4305300"/>
            <a:chExt cx="10972800" cy="914400"/>
          </a:xfrm>
        </p:grpSpPr>
        <p:sp>
          <p:nvSpPr>
            <p:cNvPr id="31" name="Rectangle 31"/>
            <p:cNvSpPr/>
            <p:nvPr/>
          </p:nvSpPr>
          <p:spPr>
            <a:xfrm>
              <a:off x="609600" y="4305300"/>
              <a:ext cx="10972800" cy="914400"/>
            </a:xfrm>
            <a:prstGeom prst="roundRect">
              <a:avLst>
                <a:gd name="adj" fmla="val 8333"/>
              </a:avLst>
            </a:prstGeom>
            <a:solidFill>
              <a:srgbClr val="FFFFFF"/>
            </a:solidFill>
            <a:ln w="14288">
              <a:solidFill>
                <a:srgbClr val="B8CBD3"/>
              </a:solidFill>
            </a:ln>
          </p:spPr>
        </p:sp>
        <p:sp>
          <p:nvSpPr>
            <p:cNvPr id="32" name="TextBox 32"/>
            <p:cNvSpPr txBox="1"/>
            <p:nvPr/>
          </p:nvSpPr>
          <p:spPr>
            <a:xfrm>
              <a:off x="908304" y="4480560"/>
              <a:ext cx="867616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Sadece bir yüzde değeri, saha ekibine hangi teklifi hazırlaması gerektiğini söylemez: sözleşme süresi kısa bir</a:t>
              </a:r>
            </a:p>
          </p:txBody>
        </p:sp>
        <p:sp>
          <p:nvSpPr>
            <p:cNvPr id="33" name="TextBox 33"/>
            <p:cNvSpPr txBox="1"/>
            <p:nvPr/>
          </p:nvSpPr>
          <p:spPr>
            <a:xfrm>
              <a:off x="908304" y="4690110"/>
              <a:ext cx="7435139"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müşteriye süre uzatma, ücretinden şikâyetçi bir müşteriye paket revizyonu teklif edilmelidir.</a:t>
              </a:r>
            </a:p>
          </p:txBody>
        </p:sp>
        <p:sp>
          <p:nvSpPr>
            <p:cNvPr id="34" name="TextBox 34"/>
            <p:cNvSpPr txBox="1"/>
            <p:nvPr/>
          </p:nvSpPr>
          <p:spPr>
            <a:xfrm>
              <a:off x="908304" y="4918710"/>
              <a:ext cx="7981615"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Bu yalnızca operasyonel değildir; müşteri, otomatik bir kararın gerekçesini sorma hakkına sahiptir.</a:t>
              </a:r>
            </a:p>
          </p:txBody>
        </p:sp>
      </p:grpSp>
      <p:sp>
        <p:nvSpPr>
          <p:cNvPr id="36" name="TextBox 36"/>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05 / 25</a:t>
            </a: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7132500" cy="557403"/>
            <a:chOff x="595122" y="282892"/>
            <a:chExt cx="7132500" cy="557403"/>
          </a:xfrm>
        </p:grpSpPr>
        <p:sp>
          <p:nvSpPr>
            <p:cNvPr id="4" name="TextBox 4"/>
            <p:cNvSpPr txBox="1"/>
            <p:nvPr/>
          </p:nvSpPr>
          <p:spPr>
            <a:xfrm>
              <a:off x="595122" y="282892"/>
              <a:ext cx="7132500"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Uygulama: kara kutu modelin tahmini</a:t>
              </a:r>
            </a:p>
          </p:txBody>
        </p:sp>
      </p:grpSp>
      <p:grpSp>
        <p:nvGrpSpPr>
          <p:cNvPr id="8" name="task-block"/>
          <p:cNvGrpSpPr/>
          <p:nvPr/>
        </p:nvGrpSpPr>
        <p:grpSpPr>
          <a:xfrm>
            <a:off x="603504" y="1299210"/>
            <a:ext cx="8708689" cy="444246"/>
            <a:chOff x="603504" y="1299210"/>
            <a:chExt cx="8708689" cy="444246"/>
          </a:xfrm>
        </p:grpSpPr>
        <p:sp>
          <p:nvSpPr>
            <p:cNvPr id="6" name="TextBox 6"/>
            <p:cNvSpPr txBox="1"/>
            <p:nvPr/>
          </p:nvSpPr>
          <p:spPr>
            <a:xfrm>
              <a:off x="603504" y="1299210"/>
              <a:ext cx="8708689"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Amaç: Kara kutu Random Forest modelinin tek bir müşteri için ayrılma olasılığını tahmin etmesini göstermek.</a:t>
              </a:r>
            </a:p>
          </p:txBody>
        </p:sp>
        <p:sp>
          <p:nvSpPr>
            <p:cNvPr id="7" name="TextBox 7"/>
            <p:cNvSpPr txBox="1"/>
            <p:nvPr/>
          </p:nvSpPr>
          <p:spPr>
            <a:xfrm>
              <a:off x="603504" y="1508760"/>
              <a:ext cx="7530592"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Girdi: Sentetik Telco Churn benzeri veri (tenure, MonthlyCharges, TotalCharges), 400 gözlem.</a:t>
              </a:r>
            </a:p>
          </p:txBody>
        </p:sp>
      </p:grpSp>
      <p:grpSp>
        <p:nvGrpSpPr>
          <p:cNvPr id="20" name="code-panel"/>
          <p:cNvGrpSpPr/>
          <p:nvPr/>
        </p:nvGrpSpPr>
        <p:grpSpPr>
          <a:xfrm>
            <a:off x="609600" y="1905000"/>
            <a:ext cx="10972800" cy="2857500"/>
            <a:chOff x="609600" y="1905000"/>
            <a:chExt cx="10972800" cy="2857500"/>
          </a:xfrm>
        </p:grpSpPr>
        <p:sp>
          <p:nvSpPr>
            <p:cNvPr id="9" name="Rectangle 9"/>
            <p:cNvSpPr/>
            <p:nvPr/>
          </p:nvSpPr>
          <p:spPr>
            <a:xfrm>
              <a:off x="609600" y="1905000"/>
              <a:ext cx="10972800" cy="2857500"/>
            </a:xfrm>
            <a:prstGeom prst="roundRect">
              <a:avLst>
                <a:gd name="adj" fmla="val 2667"/>
              </a:avLst>
            </a:prstGeom>
            <a:solidFill>
              <a:srgbClr val="12355B"/>
            </a:solidFill>
            <a:ln>
              <a:noFill/>
            </a:ln>
          </p:spPr>
        </p:sp>
        <p:sp>
          <p:nvSpPr>
            <p:cNvPr id="10" name="TextBox 10"/>
            <p:cNvSpPr txBox="1"/>
            <p:nvPr/>
          </p:nvSpPr>
          <p:spPr>
            <a:xfrm>
              <a:off x="908304" y="2099310"/>
              <a:ext cx="2773941" cy="234696"/>
            </a:xfrm>
            <a:prstGeom prst="rect">
              <a:avLst/>
            </a:prstGeom>
            <a:noFill/>
            <a:ln>
              <a:noFill/>
            </a:ln>
          </p:spPr>
          <p:txBody>
            <a:bodyPr wrap="none" lIns="0" tIns="0" rIns="0" bIns="0" anchor="t" anchorCtr="0">
              <a:spAutoFit/>
            </a:bodyPr>
            <a:lstStyle/>
            <a:p>
              <a:pPr algn="l"/>
              <a:r>
                <a:rPr lang="tr-TR" sz="1200" dirty="0">
                  <a:solidFill>
                    <a:srgbClr val="00A6A6"/>
                  </a:solidFill>
                  <a:latin typeface="Consolas"/>
                  <a:ea typeface="Consolas"/>
                  <a:cs typeface="Consolas"/>
                </a:rPr>
                <a:t># File: ch13_kara_kutu_model.py</a:t>
              </a:r>
            </a:p>
          </p:txBody>
        </p:sp>
        <p:sp>
          <p:nvSpPr>
            <p:cNvPr id="11" name="TextBox 11"/>
            <p:cNvSpPr txBox="1"/>
            <p:nvPr/>
          </p:nvSpPr>
          <p:spPr>
            <a:xfrm>
              <a:off x="908304" y="2385060"/>
              <a:ext cx="8580861" cy="234696"/>
            </a:xfrm>
            <a:prstGeom prst="rect">
              <a:avLst/>
            </a:prstGeom>
            <a:noFill/>
            <a:ln>
              <a:noFill/>
            </a:ln>
          </p:spPr>
          <p:txBody>
            <a:bodyPr wrap="none" lIns="0" tIns="0" rIns="0" bIns="0" anchor="t" anchorCtr="0">
              <a:spAutoFit/>
            </a:bodyPr>
            <a:lstStyle/>
            <a:p>
              <a:pPr algn="l"/>
              <a:r>
                <a:rPr lang="tr-TR" sz="1200" dirty="0">
                  <a:solidFill>
                    <a:srgbClr val="FFFFFF"/>
                  </a:solidFill>
                  <a:latin typeface="Consolas"/>
                  <a:ea typeface="Consolas"/>
                  <a:cs typeface="Consolas"/>
                </a:rPr>
                <a:t>ozellikler = pd.DataFrame(ozellik_matrisi, columns=["tenure", "MonthlyCharges", "TotalCharges"])</a:t>
              </a:r>
            </a:p>
          </p:txBody>
        </p:sp>
        <p:sp>
          <p:nvSpPr>
            <p:cNvPr id="12" name="TextBox 12"/>
            <p:cNvSpPr txBox="1"/>
            <p:nvPr/>
          </p:nvSpPr>
          <p:spPr>
            <a:xfrm>
              <a:off x="908304" y="2651760"/>
              <a:ext cx="7845432" cy="234696"/>
            </a:xfrm>
            <a:prstGeom prst="rect">
              <a:avLst/>
            </a:prstGeom>
            <a:noFill/>
            <a:ln>
              <a:noFill/>
            </a:ln>
          </p:spPr>
          <p:txBody>
            <a:bodyPr wrap="none" lIns="0" tIns="0" rIns="0" bIns="0" anchor="t" anchorCtr="0">
              <a:spAutoFit/>
            </a:bodyPr>
            <a:lstStyle/>
            <a:p>
              <a:pPr algn="l"/>
              <a:r>
                <a:rPr lang="tr-TR" sz="1200" dirty="0">
                  <a:solidFill>
                    <a:srgbClr val="FFFFFF"/>
                  </a:solidFill>
                  <a:latin typeface="Consolas"/>
                  <a:ea typeface="Consolas"/>
                  <a:cs typeface="Consolas"/>
                </a:rPr>
                <a:t>egitim_X, test_X, egitim_y, test_y = train_test_split(ozellikler, hedef, test_size=0.25,</a:t>
              </a:r>
            </a:p>
          </p:txBody>
        </p:sp>
        <p:sp>
          <p:nvSpPr>
            <p:cNvPr id="13" name="TextBox 13"/>
            <p:cNvSpPr txBox="1"/>
            <p:nvPr/>
          </p:nvSpPr>
          <p:spPr>
            <a:xfrm>
              <a:off x="1136904" y="2880360"/>
              <a:ext cx="2855366" cy="234696"/>
            </a:xfrm>
            <a:prstGeom prst="rect">
              <a:avLst/>
            </a:prstGeom>
            <a:noFill/>
            <a:ln>
              <a:noFill/>
            </a:ln>
          </p:spPr>
          <p:txBody>
            <a:bodyPr wrap="none" lIns="0" tIns="0" rIns="0" bIns="0" anchor="t" anchorCtr="0">
              <a:spAutoFit/>
            </a:bodyPr>
            <a:lstStyle/>
            <a:p>
              <a:pPr algn="l"/>
              <a:r>
                <a:rPr lang="tr-TR" sz="1200" dirty="0">
                  <a:solidFill>
                    <a:srgbClr val="FFFFFF"/>
                  </a:solidFill>
                  <a:latin typeface="Consolas"/>
                  <a:ea typeface="Consolas"/>
                  <a:cs typeface="Consolas"/>
                </a:rPr>
                <a:t>random_state=42, stratify=hedef)</a:t>
              </a:r>
            </a:p>
          </p:txBody>
        </p:sp>
        <p:sp>
          <p:nvSpPr>
            <p:cNvPr id="14" name="TextBox 14"/>
            <p:cNvSpPr txBox="1"/>
            <p:nvPr/>
          </p:nvSpPr>
          <p:spPr>
            <a:xfrm>
              <a:off x="908304" y="3166110"/>
              <a:ext cx="6784501" cy="234696"/>
            </a:xfrm>
            <a:prstGeom prst="rect">
              <a:avLst/>
            </a:prstGeom>
            <a:noFill/>
            <a:ln>
              <a:noFill/>
            </a:ln>
          </p:spPr>
          <p:txBody>
            <a:bodyPr wrap="none" lIns="0" tIns="0" rIns="0" bIns="0" anchor="t" anchorCtr="0">
              <a:spAutoFit/>
            </a:bodyPr>
            <a:lstStyle/>
            <a:p>
              <a:pPr algn="l"/>
              <a:r>
                <a:rPr lang="tr-TR" sz="1200" dirty="0">
                  <a:solidFill>
                    <a:srgbClr val="FFFFFF"/>
                  </a:solidFill>
                  <a:latin typeface="Consolas"/>
                  <a:ea typeface="Consolas"/>
                  <a:cs typeface="Consolas"/>
                </a:rPr>
                <a:t>kara_kutu_modeli = RandomForestClassifier(n_estimators=200, random_state=42)</a:t>
              </a:r>
            </a:p>
          </p:txBody>
        </p:sp>
        <p:sp>
          <p:nvSpPr>
            <p:cNvPr id="15" name="TextBox 15"/>
            <p:cNvSpPr txBox="1"/>
            <p:nvPr/>
          </p:nvSpPr>
          <p:spPr>
            <a:xfrm>
              <a:off x="908304" y="3394710"/>
              <a:ext cx="3572649" cy="234696"/>
            </a:xfrm>
            <a:prstGeom prst="rect">
              <a:avLst/>
            </a:prstGeom>
            <a:noFill/>
            <a:ln>
              <a:noFill/>
            </a:ln>
          </p:spPr>
          <p:txBody>
            <a:bodyPr wrap="none" lIns="0" tIns="0" rIns="0" bIns="0" anchor="t" anchorCtr="0">
              <a:spAutoFit/>
            </a:bodyPr>
            <a:lstStyle/>
            <a:p>
              <a:pPr algn="l"/>
              <a:r>
                <a:rPr lang="tr-TR" sz="1200" dirty="0">
                  <a:solidFill>
                    <a:srgbClr val="FFFFFF"/>
                  </a:solidFill>
                  <a:latin typeface="Consolas"/>
                  <a:ea typeface="Consolas"/>
                  <a:cs typeface="Consolas"/>
                </a:rPr>
                <a:t>kara_kutu_modeli.fit(egitim_X, egitim_y)</a:t>
              </a:r>
            </a:p>
          </p:txBody>
        </p:sp>
        <p:sp>
          <p:nvSpPr>
            <p:cNvPr id="16" name="TextBox 16"/>
            <p:cNvSpPr txBox="1"/>
            <p:nvPr/>
          </p:nvSpPr>
          <p:spPr>
            <a:xfrm>
              <a:off x="908304" y="3680460"/>
              <a:ext cx="2330444" cy="234696"/>
            </a:xfrm>
            <a:prstGeom prst="rect">
              <a:avLst/>
            </a:prstGeom>
            <a:noFill/>
            <a:ln>
              <a:noFill/>
            </a:ln>
          </p:spPr>
          <p:txBody>
            <a:bodyPr wrap="none" lIns="0" tIns="0" rIns="0" bIns="0" anchor="t" anchorCtr="0">
              <a:spAutoFit/>
            </a:bodyPr>
            <a:lstStyle/>
            <a:p>
              <a:pPr algn="l"/>
              <a:r>
                <a:rPr lang="tr-TR" sz="1200" dirty="0">
                  <a:solidFill>
                    <a:srgbClr val="FFFFFF"/>
                  </a:solidFill>
                  <a:latin typeface="Consolas"/>
                  <a:ea typeface="Consolas"/>
                  <a:cs typeface="Consolas"/>
                </a:rPr>
                <a:t>musteri = test_X.iloc[[0]]</a:t>
              </a:r>
            </a:p>
          </p:txBody>
        </p:sp>
        <p:sp>
          <p:nvSpPr>
            <p:cNvPr id="17" name="TextBox 17"/>
            <p:cNvSpPr txBox="1"/>
            <p:nvPr/>
          </p:nvSpPr>
          <p:spPr>
            <a:xfrm>
              <a:off x="908304" y="3909060"/>
              <a:ext cx="5787390" cy="234696"/>
            </a:xfrm>
            <a:prstGeom prst="rect">
              <a:avLst/>
            </a:prstGeom>
            <a:noFill/>
            <a:ln>
              <a:noFill/>
            </a:ln>
          </p:spPr>
          <p:txBody>
            <a:bodyPr wrap="none" lIns="0" tIns="0" rIns="0" bIns="0" anchor="t" anchorCtr="0">
              <a:spAutoFit/>
            </a:bodyPr>
            <a:lstStyle/>
            <a:p>
              <a:pPr algn="l"/>
              <a:r>
                <a:rPr lang="tr-TR" sz="1200" dirty="0">
                  <a:solidFill>
                    <a:srgbClr val="FFFFFF"/>
                  </a:solidFill>
                  <a:latin typeface="Consolas"/>
                  <a:ea typeface="Consolas"/>
                  <a:cs typeface="Consolas"/>
                </a:rPr>
                <a:t>ayrilma_olasiligi = kara_kutu_modeli.predict_proba(musteri)[0, 1]</a:t>
              </a:r>
            </a:p>
          </p:txBody>
        </p:sp>
        <p:sp>
          <p:nvSpPr>
            <p:cNvPr id="18" name="TextBox 18"/>
            <p:cNvSpPr txBox="1"/>
            <p:nvPr/>
          </p:nvSpPr>
          <p:spPr>
            <a:xfrm>
              <a:off x="908304" y="4194810"/>
              <a:ext cx="4833327" cy="234696"/>
            </a:xfrm>
            <a:prstGeom prst="rect">
              <a:avLst/>
            </a:prstGeom>
            <a:noFill/>
            <a:ln>
              <a:noFill/>
            </a:ln>
          </p:spPr>
          <p:txBody>
            <a:bodyPr wrap="none" lIns="0" tIns="0" rIns="0" bIns="0" anchor="t" anchorCtr="0">
              <a:spAutoFit/>
            </a:bodyPr>
            <a:lstStyle/>
            <a:p>
              <a:pPr algn="l"/>
              <a:r>
                <a:rPr lang="tr-TR" sz="1200" dirty="0">
                  <a:solidFill>
                    <a:srgbClr val="00A6A6"/>
                  </a:solidFill>
                  <a:latin typeface="Consolas"/>
                  <a:ea typeface="Consolas"/>
                  <a:cs typeface="Consolas"/>
                </a:rPr>
                <a:t># Çıktı: Ayrılma tahmini: 1 — Ayrılma olasılığı: %94.5</a:t>
              </a:r>
            </a:p>
          </p:txBody>
        </p:sp>
        <p:sp>
          <p:nvSpPr>
            <p:cNvPr id="19" name="TextBox 19"/>
            <p:cNvSpPr txBox="1"/>
            <p:nvPr/>
          </p:nvSpPr>
          <p:spPr>
            <a:xfrm>
              <a:off x="908304" y="4423410"/>
              <a:ext cx="5881962" cy="234696"/>
            </a:xfrm>
            <a:prstGeom prst="rect">
              <a:avLst/>
            </a:prstGeom>
            <a:noFill/>
            <a:ln>
              <a:noFill/>
            </a:ln>
          </p:spPr>
          <p:txBody>
            <a:bodyPr wrap="none" lIns="0" tIns="0" rIns="0" bIns="0" anchor="t" anchorCtr="0">
              <a:spAutoFit/>
            </a:bodyPr>
            <a:lstStyle/>
            <a:p>
              <a:pPr algn="l"/>
              <a:r>
                <a:rPr lang="tr-TR" sz="1200" dirty="0">
                  <a:solidFill>
                    <a:srgbClr val="00A6A6"/>
                  </a:solidFill>
                  <a:latin typeface="Consolas"/>
                  <a:ea typeface="Consolas"/>
                  <a:cs typeface="Consolas"/>
                </a:rPr>
                <a:t># Tahminin hangi değişkenlerden etkilendiği henüz bilinmemektedir.</a:t>
              </a:r>
            </a:p>
          </p:txBody>
        </p:sp>
      </p:grpSp>
      <p:grpSp>
        <p:nvGrpSpPr>
          <p:cNvPr id="25" name="explain-block"/>
          <p:cNvGrpSpPr/>
          <p:nvPr/>
        </p:nvGrpSpPr>
        <p:grpSpPr>
          <a:xfrm>
            <a:off x="609600" y="4991100"/>
            <a:ext cx="10972800" cy="1009650"/>
            <a:chOff x="609600" y="4991100"/>
            <a:chExt cx="10972800" cy="1009650"/>
          </a:xfrm>
        </p:grpSpPr>
        <p:sp>
          <p:nvSpPr>
            <p:cNvPr id="21" name="Rectangle 21"/>
            <p:cNvSpPr/>
            <p:nvPr/>
          </p:nvSpPr>
          <p:spPr>
            <a:xfrm>
              <a:off x="609600" y="4991100"/>
              <a:ext cx="10972800" cy="1009650"/>
            </a:xfrm>
            <a:prstGeom prst="roundRect">
              <a:avLst>
                <a:gd name="adj" fmla="val 7547"/>
              </a:avLst>
            </a:prstGeom>
            <a:solidFill>
              <a:srgbClr val="EAF4F6"/>
            </a:solidFill>
            <a:ln>
              <a:noFill/>
            </a:ln>
          </p:spPr>
        </p:sp>
        <p:sp>
          <p:nvSpPr>
            <p:cNvPr id="22" name="TextBox 22"/>
            <p:cNvSpPr txBox="1"/>
            <p:nvPr/>
          </p:nvSpPr>
          <p:spPr>
            <a:xfrm>
              <a:off x="908304" y="5147310"/>
              <a:ext cx="7991079" cy="234696"/>
            </a:xfrm>
            <a:prstGeom prst="rect">
              <a:avLst/>
            </a:prstGeom>
            <a:noFill/>
            <a:ln>
              <a:noFill/>
            </a:ln>
          </p:spPr>
          <p:txBody>
            <a:bodyPr wrap="none" lIns="0" tIns="0" rIns="0" bIns="0" anchor="t" anchorCtr="0">
              <a:spAutoFit/>
            </a:bodyPr>
            <a:lstStyle/>
            <a:p>
              <a:pPr algn="l"/>
              <a:r>
                <a:rPr lang="tr-TR" sz="1200" b="1" dirty="0">
                  <a:solidFill>
                    <a:srgbClr val="172B3A"/>
                  </a:solidFill>
                  <a:latin typeface="+mn-lt"/>
                  <a:ea typeface="+mn-ea"/>
                  <a:cs typeface="+mn-cs"/>
                </a:rPr>
                <a:t>Bu çıktı ne anlatıyor?</a:t>
              </a:r>
              <a:r>
                <a:rPr lang="tr-TR" sz="1200" dirty="0">
                  <a:solidFill>
                    <a:srgbClr val="172B3A"/>
                  </a:solidFill>
                  <a:latin typeface="+mn-lt"/>
                  <a:ea typeface="+mn-ea"/>
                  <a:cs typeface="+mn-cs"/>
                </a:rPr>
                <a:t xml:space="preserve"> RandomForestClassifier, çok sayıda karar ağacının oyunuyla tahmin üretir.</a:t>
              </a:r>
            </a:p>
          </p:txBody>
        </p:sp>
        <p:sp>
          <p:nvSpPr>
            <p:cNvPr id="23" name="TextBox 23"/>
            <p:cNvSpPr txBox="1"/>
            <p:nvPr/>
          </p:nvSpPr>
          <p:spPr>
            <a:xfrm>
              <a:off x="908304" y="5375910"/>
              <a:ext cx="887288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predict_proba() yalnızca sınıfı değil ayrılma olasılığını da verir; ancak modelin neden %94,5 verdiği bilinmez.</a:t>
              </a:r>
            </a:p>
          </p:txBody>
        </p:sp>
        <p:sp>
          <p:nvSpPr>
            <p:cNvPr id="24" name="TextBox 24"/>
            <p:cNvSpPr txBox="1"/>
            <p:nvPr/>
          </p:nvSpPr>
          <p:spPr>
            <a:xfrm>
              <a:off x="908304" y="5604510"/>
              <a:ext cx="8336999"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Eğitim/test ayrımı, modelin daha önce görmediği müşteriler üzerindeki davranışını gözlemlemeyi sağlar.</a:t>
              </a:r>
            </a:p>
          </p:txBody>
        </p:sp>
      </p:grpSp>
      <p:sp>
        <p:nvSpPr>
          <p:cNvPr id="26" name="TextBox 26"/>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06 / 25</a:t>
            </a: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2" name="page-title"/>
          <p:cNvGrpSpPr/>
          <p:nvPr/>
        </p:nvGrpSpPr>
        <p:grpSpPr>
          <a:xfrm>
            <a:off x="609600" y="171450"/>
            <a:ext cx="9293743" cy="668845"/>
            <a:chOff x="609600" y="171450"/>
            <a:chExt cx="9293743" cy="668845"/>
          </a:xfrm>
        </p:grpSpPr>
        <p:grpSp>
          <p:nvGrpSpPr>
            <p:cNvPr id="10"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9" name="Group 9"/>
              <p:cNvGrpSpPr/>
              <p:nvPr/>
            </p:nvGrpSpPr>
            <p:grpSpPr>
              <a:xfrm>
                <a:off x="777240" y="324326"/>
                <a:ext cx="236220" cy="265748"/>
                <a:chOff x="777240" y="324326"/>
                <a:chExt cx="236220" cy="265748"/>
              </a:xfrm>
            </p:grpSpPr>
            <p:sp>
              <p:nvSpPr>
                <p:cNvPr id="5" name="Freeform 5"/>
                <p:cNvSpPr/>
                <p:nvPr/>
              </p:nvSpPr>
              <p:spPr>
                <a:xfrm>
                  <a:off x="777240" y="324326"/>
                  <a:ext cx="236220" cy="265748"/>
                </a:xfrm>
                <a:custGeom>
                  <a:avLst/>
                  <a:gdLst/>
                  <a:ahLst/>
                  <a:cxnLst/>
                  <a:rect l="l" t="t" r="r" b="b"/>
                  <a:pathLst>
                    <a:path w="236220" h="265748">
                      <a:moveTo>
                        <a:pt x="118110" y="0"/>
                      </a:moveTo>
                      <a:lnTo>
                        <a:pt x="236220" y="66437"/>
                      </a:lnTo>
                      <a:lnTo>
                        <a:pt x="236220" y="199311"/>
                      </a:lnTo>
                      <a:lnTo>
                        <a:pt x="118110" y="265748"/>
                      </a:lnTo>
                      <a:lnTo>
                        <a:pt x="0" y="199311"/>
                      </a:lnTo>
                      <a:lnTo>
                        <a:pt x="0" y="66437"/>
                      </a:lnTo>
                      <a:lnTo>
                        <a:pt x="118110" y="0"/>
                      </a:lnTo>
                    </a:path>
                  </a:pathLst>
                </a:custGeom>
                <a:noFill/>
                <a:ln w="24759" cap="rnd">
                  <a:solidFill>
                    <a:srgbClr val="FFFFFF"/>
                  </a:solidFill>
                  <a:round/>
                </a:ln>
              </p:spPr>
            </p:sp>
            <p:sp>
              <p:nvSpPr>
                <p:cNvPr id="6" name="Freeform 6"/>
                <p:cNvSpPr/>
                <p:nvPr/>
              </p:nvSpPr>
              <p:spPr>
                <a:xfrm>
                  <a:off x="895350" y="390763"/>
                  <a:ext cx="118110" cy="66437"/>
                </a:xfrm>
                <a:custGeom>
                  <a:avLst/>
                  <a:gdLst/>
                  <a:ahLst/>
                  <a:cxnLst/>
                  <a:rect l="l" t="t" r="r" b="b"/>
                  <a:pathLst>
                    <a:path w="118110" h="66437">
                      <a:moveTo>
                        <a:pt x="0" y="66437"/>
                      </a:moveTo>
                      <a:lnTo>
                        <a:pt x="118110" y="0"/>
                      </a:lnTo>
                    </a:path>
                  </a:pathLst>
                </a:custGeom>
                <a:noFill/>
                <a:ln w="24759" cap="rnd">
                  <a:solidFill>
                    <a:srgbClr val="FFFFFF"/>
                  </a:solidFill>
                  <a:round/>
                </a:ln>
              </p:spPr>
            </p:sp>
            <p:sp>
              <p:nvSpPr>
                <p:cNvPr id="7" name="Freeform 7"/>
                <p:cNvSpPr/>
                <p:nvPr/>
              </p:nvSpPr>
              <p:spPr>
                <a:xfrm>
                  <a:off x="895350" y="457200"/>
                  <a:ext cx="9525" cy="132874"/>
                </a:xfrm>
                <a:custGeom>
                  <a:avLst/>
                  <a:gdLst/>
                  <a:ahLst/>
                  <a:cxnLst/>
                  <a:rect l="l" t="t" r="r" b="b"/>
                  <a:pathLst>
                    <a:path w="9525" h="132874">
                      <a:moveTo>
                        <a:pt x="0" y="0"/>
                      </a:moveTo>
                      <a:lnTo>
                        <a:pt x="0" y="132874"/>
                      </a:lnTo>
                    </a:path>
                  </a:pathLst>
                </a:custGeom>
                <a:noFill/>
                <a:ln w="24759" cap="rnd">
                  <a:solidFill>
                    <a:srgbClr val="FFFFFF"/>
                  </a:solidFill>
                  <a:round/>
                </a:ln>
              </p:spPr>
            </p:sp>
            <p:sp>
              <p:nvSpPr>
                <p:cNvPr id="8" name="Freeform 8"/>
                <p:cNvSpPr/>
                <p:nvPr/>
              </p:nvSpPr>
              <p:spPr>
                <a:xfrm>
                  <a:off x="777240" y="390763"/>
                  <a:ext cx="118110" cy="66437"/>
                </a:xfrm>
                <a:custGeom>
                  <a:avLst/>
                  <a:gdLst/>
                  <a:ahLst/>
                  <a:cxnLst/>
                  <a:rect l="l" t="t" r="r" b="b"/>
                  <a:pathLst>
                    <a:path w="118110" h="66437">
                      <a:moveTo>
                        <a:pt x="118110" y="66437"/>
                      </a:moveTo>
                      <a:lnTo>
                        <a:pt x="0" y="0"/>
                      </a:lnTo>
                    </a:path>
                  </a:pathLst>
                </a:custGeom>
                <a:noFill/>
                <a:ln w="24759" cap="rnd">
                  <a:solidFill>
                    <a:srgbClr val="FFFFFF"/>
                  </a:solidFill>
                  <a:round/>
                </a:ln>
              </p:spPr>
            </p:sp>
          </p:grpSp>
        </p:grpSp>
        <p:sp>
          <p:nvSpPr>
            <p:cNvPr id="11" name="TextBox 11"/>
            <p:cNvSpPr txBox="1"/>
            <p:nvPr/>
          </p:nvSpPr>
          <p:spPr>
            <a:xfrm>
              <a:off x="1299972" y="282892"/>
              <a:ext cx="8603371"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Genel özellik önemi (feature_importances_)</a:t>
              </a:r>
            </a:p>
          </p:txBody>
        </p:sp>
      </p:grpSp>
      <p:grpSp>
        <p:nvGrpSpPr>
          <p:cNvPr id="14" name="intro-line"/>
          <p:cNvGrpSpPr/>
          <p:nvPr/>
        </p:nvGrpSpPr>
        <p:grpSpPr>
          <a:xfrm>
            <a:off x="603504" y="1203960"/>
            <a:ext cx="9567520" cy="234696"/>
            <a:chOff x="603504" y="1203960"/>
            <a:chExt cx="9567520" cy="234696"/>
          </a:xfrm>
        </p:grpSpPr>
        <p:sp>
          <p:nvSpPr>
            <p:cNvPr id="13" name="TextBox 13"/>
            <p:cNvSpPr txBox="1"/>
            <p:nvPr/>
          </p:nvSpPr>
          <p:spPr>
            <a:xfrm>
              <a:off x="603504" y="1203960"/>
              <a:ext cx="9567520"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feature_importances_, model genelinde hangi değişkenlerin daha sık ve etkili kullanıldığını gösterir; yön bilgisi vermez.</a:t>
              </a:r>
            </a:p>
          </p:txBody>
        </p:sp>
      </p:grpSp>
      <p:grpSp>
        <p:nvGrpSpPr>
          <p:cNvPr id="31" name="bar-panel"/>
          <p:cNvGrpSpPr/>
          <p:nvPr/>
        </p:nvGrpSpPr>
        <p:grpSpPr>
          <a:xfrm>
            <a:off x="609600" y="1600200"/>
            <a:ext cx="5334000" cy="3048000"/>
            <a:chOff x="609600" y="1600200"/>
            <a:chExt cx="5334000" cy="3048000"/>
          </a:xfrm>
        </p:grpSpPr>
        <p:sp>
          <p:nvSpPr>
            <p:cNvPr id="15" name="Rectangle 15"/>
            <p:cNvSpPr/>
            <p:nvPr/>
          </p:nvSpPr>
          <p:spPr>
            <a:xfrm>
              <a:off x="609600" y="1600200"/>
              <a:ext cx="5334000" cy="3048000"/>
            </a:xfrm>
            <a:prstGeom prst="roundRect">
              <a:avLst>
                <a:gd name="adj" fmla="val 3125"/>
              </a:avLst>
            </a:prstGeom>
            <a:solidFill>
              <a:srgbClr val="FFFFFF"/>
            </a:solidFill>
            <a:ln w="14288">
              <a:solidFill>
                <a:srgbClr val="B8CBD3"/>
              </a:solidFill>
            </a:ln>
          </p:spPr>
        </p:sp>
        <p:sp>
          <p:nvSpPr>
            <p:cNvPr id="16" name="TextBox 16"/>
            <p:cNvSpPr txBox="1"/>
            <p:nvPr/>
          </p:nvSpPr>
          <p:spPr>
            <a:xfrm>
              <a:off x="830199" y="1734979"/>
              <a:ext cx="2535627"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Göreli önem sıralaması</a:t>
              </a:r>
            </a:p>
          </p:txBody>
        </p:sp>
        <p:sp>
          <p:nvSpPr>
            <p:cNvPr id="17" name="TextBox 17"/>
            <p:cNvSpPr txBox="1"/>
            <p:nvPr/>
          </p:nvSpPr>
          <p:spPr>
            <a:xfrm>
              <a:off x="832104" y="2232660"/>
              <a:ext cx="54528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tenure</a:t>
              </a:r>
            </a:p>
          </p:txBody>
        </p:sp>
        <p:sp>
          <p:nvSpPr>
            <p:cNvPr id="18" name="Rectangle 18"/>
            <p:cNvSpPr/>
            <p:nvPr/>
          </p:nvSpPr>
          <p:spPr>
            <a:xfrm>
              <a:off x="1905000" y="2171700"/>
              <a:ext cx="3810000" cy="323850"/>
            </a:xfrm>
            <a:prstGeom prst="rect">
              <a:avLst/>
            </a:prstGeom>
            <a:solidFill>
              <a:srgbClr val="EAF4F6"/>
            </a:solidFill>
            <a:ln>
              <a:noFill/>
            </a:ln>
          </p:spPr>
        </p:sp>
        <p:sp>
          <p:nvSpPr>
            <p:cNvPr id="19" name="Rectangle 19"/>
            <p:cNvSpPr/>
            <p:nvPr/>
          </p:nvSpPr>
          <p:spPr>
            <a:xfrm>
              <a:off x="1905000" y="2171700"/>
              <a:ext cx="3810000" cy="323850"/>
            </a:xfrm>
            <a:prstGeom prst="rect">
              <a:avLst/>
            </a:prstGeom>
            <a:solidFill>
              <a:srgbClr val="00A6A6"/>
            </a:solidFill>
            <a:ln>
              <a:noFill/>
            </a:ln>
          </p:spPr>
        </p:sp>
        <p:sp>
          <p:nvSpPr>
            <p:cNvPr id="20" name="TextBox 20"/>
            <p:cNvSpPr txBox="1"/>
            <p:nvPr/>
          </p:nvSpPr>
          <p:spPr>
            <a:xfrm>
              <a:off x="5413896" y="2251710"/>
              <a:ext cx="478650" cy="234696"/>
            </a:xfrm>
            <a:prstGeom prst="rect">
              <a:avLst/>
            </a:prstGeom>
            <a:noFill/>
            <a:ln>
              <a:noFill/>
            </a:ln>
          </p:spPr>
          <p:txBody>
            <a:bodyPr wrap="none" lIns="0" tIns="0" rIns="0" bIns="0" anchor="t" anchorCtr="0">
              <a:spAutoFit/>
            </a:bodyPr>
            <a:lstStyle/>
            <a:p>
              <a:pPr algn="r"/>
              <a:r>
                <a:rPr lang="tr-TR" sz="1200" b="1" dirty="0">
                  <a:solidFill>
                    <a:srgbClr val="12355B"/>
                  </a:solidFill>
                  <a:latin typeface="+mn-lt"/>
                  <a:ea typeface="+mn-ea"/>
                  <a:cs typeface="+mn-cs"/>
                </a:rPr>
                <a:t>0.546</a:t>
              </a:r>
            </a:p>
          </p:txBody>
        </p:sp>
        <p:sp>
          <p:nvSpPr>
            <p:cNvPr id="21" name="TextBox 21"/>
            <p:cNvSpPr txBox="1"/>
            <p:nvPr/>
          </p:nvSpPr>
          <p:spPr>
            <a:xfrm>
              <a:off x="832104" y="2804160"/>
              <a:ext cx="125799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MonthlyCharges</a:t>
              </a:r>
            </a:p>
          </p:txBody>
        </p:sp>
        <p:sp>
          <p:nvSpPr>
            <p:cNvPr id="22" name="Rectangle 22"/>
            <p:cNvSpPr/>
            <p:nvPr/>
          </p:nvSpPr>
          <p:spPr>
            <a:xfrm>
              <a:off x="1905000" y="2743200"/>
              <a:ext cx="3810000" cy="323850"/>
            </a:xfrm>
            <a:prstGeom prst="rect">
              <a:avLst/>
            </a:prstGeom>
            <a:solidFill>
              <a:srgbClr val="EAF4F6"/>
            </a:solidFill>
            <a:ln>
              <a:noFill/>
            </a:ln>
          </p:spPr>
        </p:sp>
        <p:sp>
          <p:nvSpPr>
            <p:cNvPr id="23" name="Rectangle 23"/>
            <p:cNvSpPr/>
            <p:nvPr/>
          </p:nvSpPr>
          <p:spPr>
            <a:xfrm>
              <a:off x="1905000" y="2743200"/>
              <a:ext cx="1609725" cy="323850"/>
            </a:xfrm>
            <a:prstGeom prst="rect">
              <a:avLst/>
            </a:prstGeom>
            <a:solidFill>
              <a:srgbClr val="2E86AB"/>
            </a:solidFill>
            <a:ln>
              <a:noFill/>
            </a:ln>
          </p:spPr>
        </p:sp>
        <p:sp>
          <p:nvSpPr>
            <p:cNvPr id="24" name="TextBox 24"/>
            <p:cNvSpPr txBox="1"/>
            <p:nvPr/>
          </p:nvSpPr>
          <p:spPr>
            <a:xfrm>
              <a:off x="5413896" y="2823210"/>
              <a:ext cx="478650" cy="234696"/>
            </a:xfrm>
            <a:prstGeom prst="rect">
              <a:avLst/>
            </a:prstGeom>
            <a:noFill/>
            <a:ln>
              <a:noFill/>
            </a:ln>
          </p:spPr>
          <p:txBody>
            <a:bodyPr wrap="none" lIns="0" tIns="0" rIns="0" bIns="0" anchor="t" anchorCtr="0">
              <a:spAutoFit/>
            </a:bodyPr>
            <a:lstStyle/>
            <a:p>
              <a:pPr algn="r"/>
              <a:r>
                <a:rPr lang="tr-TR" sz="1200" b="1" dirty="0">
                  <a:solidFill>
                    <a:srgbClr val="12355B"/>
                  </a:solidFill>
                  <a:latin typeface="+mn-lt"/>
                  <a:ea typeface="+mn-ea"/>
                  <a:cs typeface="+mn-cs"/>
                </a:rPr>
                <a:t>0.231</a:t>
              </a:r>
            </a:p>
          </p:txBody>
        </p:sp>
        <p:sp>
          <p:nvSpPr>
            <p:cNvPr id="25" name="TextBox 25"/>
            <p:cNvSpPr txBox="1"/>
            <p:nvPr/>
          </p:nvSpPr>
          <p:spPr>
            <a:xfrm>
              <a:off x="832104" y="3375660"/>
              <a:ext cx="104767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TotalCharges</a:t>
              </a:r>
            </a:p>
          </p:txBody>
        </p:sp>
        <p:sp>
          <p:nvSpPr>
            <p:cNvPr id="26" name="Rectangle 26"/>
            <p:cNvSpPr/>
            <p:nvPr/>
          </p:nvSpPr>
          <p:spPr>
            <a:xfrm>
              <a:off x="1905000" y="3314700"/>
              <a:ext cx="3810000" cy="323850"/>
            </a:xfrm>
            <a:prstGeom prst="rect">
              <a:avLst/>
            </a:prstGeom>
            <a:solidFill>
              <a:srgbClr val="EAF4F6"/>
            </a:solidFill>
            <a:ln>
              <a:noFill/>
            </a:ln>
          </p:spPr>
        </p:sp>
        <p:sp>
          <p:nvSpPr>
            <p:cNvPr id="27" name="Rectangle 27"/>
            <p:cNvSpPr/>
            <p:nvPr/>
          </p:nvSpPr>
          <p:spPr>
            <a:xfrm>
              <a:off x="1905000" y="3314700"/>
              <a:ext cx="1552575" cy="323850"/>
            </a:xfrm>
            <a:prstGeom prst="rect">
              <a:avLst/>
            </a:prstGeom>
            <a:solidFill>
              <a:srgbClr val="2E86AB"/>
            </a:solidFill>
            <a:ln>
              <a:noFill/>
            </a:ln>
          </p:spPr>
        </p:sp>
        <p:sp>
          <p:nvSpPr>
            <p:cNvPr id="28" name="TextBox 28"/>
            <p:cNvSpPr txBox="1"/>
            <p:nvPr/>
          </p:nvSpPr>
          <p:spPr>
            <a:xfrm>
              <a:off x="5413896" y="3394710"/>
              <a:ext cx="478650" cy="234696"/>
            </a:xfrm>
            <a:prstGeom prst="rect">
              <a:avLst/>
            </a:prstGeom>
            <a:noFill/>
            <a:ln>
              <a:noFill/>
            </a:ln>
          </p:spPr>
          <p:txBody>
            <a:bodyPr wrap="none" lIns="0" tIns="0" rIns="0" bIns="0" anchor="t" anchorCtr="0">
              <a:spAutoFit/>
            </a:bodyPr>
            <a:lstStyle/>
            <a:p>
              <a:pPr algn="r"/>
              <a:r>
                <a:rPr lang="tr-TR" sz="1200" b="1" dirty="0">
                  <a:solidFill>
                    <a:srgbClr val="12355B"/>
                  </a:solidFill>
                  <a:latin typeface="+mn-lt"/>
                  <a:ea typeface="+mn-ea"/>
                  <a:cs typeface="+mn-cs"/>
                </a:rPr>
                <a:t>0.223</a:t>
              </a:r>
            </a:p>
          </p:txBody>
        </p:sp>
        <p:sp>
          <p:nvSpPr>
            <p:cNvPr id="29" name="TextBox 29"/>
            <p:cNvSpPr txBox="1"/>
            <p:nvPr/>
          </p:nvSpPr>
          <p:spPr>
            <a:xfrm>
              <a:off x="832104" y="4061460"/>
              <a:ext cx="3089203"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Yüksek MonthlyCharges bazı müşteride</a:t>
              </a:r>
            </a:p>
          </p:txBody>
        </p:sp>
        <p:sp>
          <p:nvSpPr>
            <p:cNvPr id="30" name="TextBox 30"/>
            <p:cNvSpPr txBox="1"/>
            <p:nvPr/>
          </p:nvSpPr>
          <p:spPr>
            <a:xfrm>
              <a:off x="832104" y="4271010"/>
              <a:ext cx="3558083"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olasılığı artırırken başkasında azaltabilir.</a:t>
              </a:r>
            </a:p>
          </p:txBody>
        </p:sp>
      </p:grpSp>
      <p:grpSp>
        <p:nvGrpSpPr>
          <p:cNvPr id="46" name="model-panel"/>
          <p:cNvGrpSpPr/>
          <p:nvPr/>
        </p:nvGrpSpPr>
        <p:grpSpPr>
          <a:xfrm>
            <a:off x="6248400" y="1600200"/>
            <a:ext cx="5334000" cy="3048000"/>
            <a:chOff x="6248400" y="1600200"/>
            <a:chExt cx="5334000" cy="3048000"/>
          </a:xfrm>
        </p:grpSpPr>
        <p:sp>
          <p:nvSpPr>
            <p:cNvPr id="32" name="Rectangle 32"/>
            <p:cNvSpPr/>
            <p:nvPr/>
          </p:nvSpPr>
          <p:spPr>
            <a:xfrm>
              <a:off x="6248400" y="1600200"/>
              <a:ext cx="5334000" cy="3048000"/>
            </a:xfrm>
            <a:prstGeom prst="roundRect">
              <a:avLst>
                <a:gd name="adj" fmla="val 3125"/>
              </a:avLst>
            </a:prstGeom>
            <a:solidFill>
              <a:srgbClr val="FFFFFF"/>
            </a:solidFill>
            <a:ln w="14288">
              <a:solidFill>
                <a:srgbClr val="B8CBD3"/>
              </a:solidFill>
            </a:ln>
          </p:spPr>
        </p:sp>
        <p:sp>
          <p:nvSpPr>
            <p:cNvPr id="33" name="TextBox 33"/>
            <p:cNvSpPr txBox="1"/>
            <p:nvPr/>
          </p:nvSpPr>
          <p:spPr>
            <a:xfrm>
              <a:off x="6468999" y="1734979"/>
              <a:ext cx="4267107"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Karar mantığı: şeffaftan kara kutuya</a:t>
              </a:r>
            </a:p>
          </p:txBody>
        </p:sp>
        <p:sp>
          <p:nvSpPr>
            <p:cNvPr id="34" name="Rectangle 34"/>
            <p:cNvSpPr/>
            <p:nvPr/>
          </p:nvSpPr>
          <p:spPr>
            <a:xfrm>
              <a:off x="6477000" y="2114550"/>
              <a:ext cx="57150" cy="438150"/>
            </a:xfrm>
            <a:prstGeom prst="rect">
              <a:avLst/>
            </a:prstGeom>
            <a:solidFill>
              <a:srgbClr val="00A6A6"/>
            </a:solidFill>
            <a:ln>
              <a:noFill/>
            </a:ln>
          </p:spPr>
        </p:sp>
        <p:sp>
          <p:nvSpPr>
            <p:cNvPr id="35" name="TextBox 35"/>
            <p:cNvSpPr txBox="1"/>
            <p:nvPr/>
          </p:nvSpPr>
          <p:spPr>
            <a:xfrm>
              <a:off x="6661404" y="2156460"/>
              <a:ext cx="1230264"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Doğrusal model</a:t>
              </a:r>
            </a:p>
          </p:txBody>
        </p:sp>
        <p:sp>
          <p:nvSpPr>
            <p:cNvPr id="36" name="TextBox 36"/>
            <p:cNvSpPr txBox="1"/>
            <p:nvPr/>
          </p:nvSpPr>
          <p:spPr>
            <a:xfrm>
              <a:off x="6661404" y="2346960"/>
              <a:ext cx="3805759"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Katsayılarla görünür; karmaşık örüntüde zayıf</a:t>
              </a:r>
            </a:p>
          </p:txBody>
        </p:sp>
        <p:sp>
          <p:nvSpPr>
            <p:cNvPr id="37" name="Rectangle 37"/>
            <p:cNvSpPr/>
            <p:nvPr/>
          </p:nvSpPr>
          <p:spPr>
            <a:xfrm>
              <a:off x="6477000" y="2686050"/>
              <a:ext cx="57150" cy="438150"/>
            </a:xfrm>
            <a:prstGeom prst="rect">
              <a:avLst/>
            </a:prstGeom>
            <a:solidFill>
              <a:srgbClr val="00A6A6"/>
            </a:solidFill>
            <a:ln>
              <a:noFill/>
            </a:ln>
          </p:spPr>
        </p:sp>
        <p:sp>
          <p:nvSpPr>
            <p:cNvPr id="38" name="TextBox 38"/>
            <p:cNvSpPr txBox="1"/>
            <p:nvPr/>
          </p:nvSpPr>
          <p:spPr>
            <a:xfrm>
              <a:off x="6661404" y="2727960"/>
              <a:ext cx="1001564"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Karar ağacı</a:t>
              </a:r>
            </a:p>
          </p:txBody>
        </p:sp>
        <p:sp>
          <p:nvSpPr>
            <p:cNvPr id="39" name="TextBox 39"/>
            <p:cNvSpPr txBox="1"/>
            <p:nvPr/>
          </p:nvSpPr>
          <p:spPr>
            <a:xfrm>
              <a:off x="6661404" y="2918460"/>
              <a:ext cx="3167395"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Kural yoluyla görünür; aşırı öğrenebilir</a:t>
              </a:r>
            </a:p>
          </p:txBody>
        </p:sp>
        <p:sp>
          <p:nvSpPr>
            <p:cNvPr id="40" name="Rectangle 40"/>
            <p:cNvSpPr/>
            <p:nvPr/>
          </p:nvSpPr>
          <p:spPr>
            <a:xfrm>
              <a:off x="6477000" y="3257550"/>
              <a:ext cx="57150" cy="438150"/>
            </a:xfrm>
            <a:prstGeom prst="rect">
              <a:avLst/>
            </a:prstGeom>
            <a:solidFill>
              <a:srgbClr val="52616B"/>
            </a:solidFill>
            <a:ln>
              <a:noFill/>
            </a:ln>
          </p:spPr>
        </p:sp>
        <p:sp>
          <p:nvSpPr>
            <p:cNvPr id="41" name="TextBox 41"/>
            <p:cNvSpPr txBox="1"/>
            <p:nvPr/>
          </p:nvSpPr>
          <p:spPr>
            <a:xfrm>
              <a:off x="6661404" y="3299460"/>
              <a:ext cx="1272854"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Rastgele orman</a:t>
              </a:r>
            </a:p>
          </p:txBody>
        </p:sp>
        <p:sp>
          <p:nvSpPr>
            <p:cNvPr id="42" name="TextBox 42"/>
            <p:cNvSpPr txBox="1"/>
            <p:nvPr/>
          </p:nvSpPr>
          <p:spPr>
            <a:xfrm>
              <a:off x="6661404" y="3489960"/>
              <a:ext cx="3571318"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Çok ağacın birleşimi; kara kutu niteliği taşır</a:t>
              </a:r>
            </a:p>
          </p:txBody>
        </p:sp>
        <p:sp>
          <p:nvSpPr>
            <p:cNvPr id="43" name="Rectangle 43"/>
            <p:cNvSpPr/>
            <p:nvPr/>
          </p:nvSpPr>
          <p:spPr>
            <a:xfrm>
              <a:off x="6477000" y="3829050"/>
              <a:ext cx="57150" cy="438150"/>
            </a:xfrm>
            <a:prstGeom prst="rect">
              <a:avLst/>
            </a:prstGeom>
            <a:solidFill>
              <a:srgbClr val="52616B"/>
            </a:solidFill>
            <a:ln>
              <a:noFill/>
            </a:ln>
          </p:spPr>
        </p:sp>
        <p:sp>
          <p:nvSpPr>
            <p:cNvPr id="44" name="TextBox 44"/>
            <p:cNvSpPr txBox="1"/>
            <p:nvPr/>
          </p:nvSpPr>
          <p:spPr>
            <a:xfrm>
              <a:off x="6661404" y="3870960"/>
              <a:ext cx="681076"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XGBoost</a:t>
              </a:r>
            </a:p>
          </p:txBody>
        </p:sp>
        <p:sp>
          <p:nvSpPr>
            <p:cNvPr id="45" name="TextBox 45"/>
            <p:cNvSpPr txBox="1"/>
            <p:nvPr/>
          </p:nvSpPr>
          <p:spPr>
            <a:xfrm>
              <a:off x="6661404" y="4061460"/>
              <a:ext cx="3870088"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Sıralı ağaç iyileştirmesi; ek açıklama gerektirir</a:t>
              </a:r>
            </a:p>
          </p:txBody>
        </p:sp>
      </p:grpSp>
      <p:grpSp>
        <p:nvGrpSpPr>
          <p:cNvPr id="52" name="explain-block"/>
          <p:cNvGrpSpPr/>
          <p:nvPr/>
        </p:nvGrpSpPr>
        <p:grpSpPr>
          <a:xfrm>
            <a:off x="609600" y="4800600"/>
            <a:ext cx="10972800" cy="1200150"/>
            <a:chOff x="609600" y="4800600"/>
            <a:chExt cx="10972800" cy="1200150"/>
          </a:xfrm>
        </p:grpSpPr>
        <p:sp>
          <p:nvSpPr>
            <p:cNvPr id="47" name="Rectangle 47"/>
            <p:cNvSpPr/>
            <p:nvPr/>
          </p:nvSpPr>
          <p:spPr>
            <a:xfrm>
              <a:off x="609600" y="4800600"/>
              <a:ext cx="10972800" cy="1200150"/>
            </a:xfrm>
            <a:prstGeom prst="roundRect">
              <a:avLst>
                <a:gd name="adj" fmla="val 6349"/>
              </a:avLst>
            </a:prstGeom>
            <a:solidFill>
              <a:srgbClr val="EAF4F6"/>
            </a:solidFill>
            <a:ln>
              <a:noFill/>
            </a:ln>
          </p:spPr>
        </p:sp>
        <p:sp>
          <p:nvSpPr>
            <p:cNvPr id="48" name="TextBox 48"/>
            <p:cNvSpPr txBox="1"/>
            <p:nvPr/>
          </p:nvSpPr>
          <p:spPr>
            <a:xfrm>
              <a:off x="908304" y="4956810"/>
              <a:ext cx="8949404" cy="234696"/>
            </a:xfrm>
            <a:prstGeom prst="rect">
              <a:avLst/>
            </a:prstGeom>
            <a:noFill/>
            <a:ln>
              <a:noFill/>
            </a:ln>
          </p:spPr>
          <p:txBody>
            <a:bodyPr wrap="none" lIns="0" tIns="0" rIns="0" bIns="0" anchor="t" anchorCtr="0">
              <a:spAutoFit/>
            </a:bodyPr>
            <a:lstStyle/>
            <a:p>
              <a:pPr algn="l"/>
              <a:r>
                <a:rPr lang="tr-TR" sz="1200" b="1" dirty="0">
                  <a:solidFill>
                    <a:srgbClr val="172B3A"/>
                  </a:solidFill>
                  <a:latin typeface="+mn-lt"/>
                  <a:ea typeface="+mn-ea"/>
                  <a:cs typeface="+mn-cs"/>
                </a:rPr>
                <a:t>Bu çıktı ne anlatıyor?</a:t>
              </a:r>
              <a:r>
                <a:rPr lang="tr-TR" sz="1200" dirty="0">
                  <a:solidFill>
                    <a:srgbClr val="172B3A"/>
                  </a:solidFill>
                  <a:latin typeface="+mn-lt"/>
                  <a:ea typeface="+mn-ea"/>
                  <a:cs typeface="+mn-cs"/>
                </a:rPr>
                <a:t xml:space="preserve"> Kara kutu model karmaşık, doğrusal olmayan ilişkiler için tercih edilir; açıklama ihtiyacı</a:t>
              </a:r>
            </a:p>
          </p:txBody>
        </p:sp>
        <p:sp>
          <p:nvSpPr>
            <p:cNvPr id="49" name="TextBox 49"/>
            <p:cNvSpPr txBox="1"/>
            <p:nvPr/>
          </p:nvSpPr>
          <p:spPr>
            <a:xfrm>
              <a:off x="908304" y="5185410"/>
              <a:ext cx="8474059"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düşükse yalnızca performans metriği yeterli olabilir. Müşteriyle iletişim kurulacaksa çıktı bir açıklamayla</a:t>
              </a:r>
            </a:p>
          </p:txBody>
        </p:sp>
        <p:sp>
          <p:nvSpPr>
            <p:cNvPr id="50" name="TextBox 50"/>
            <p:cNvSpPr txBox="1"/>
            <p:nvPr/>
          </p:nvSpPr>
          <p:spPr>
            <a:xfrm>
              <a:off x="908304" y="5414010"/>
              <a:ext cx="521835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desteklenmelidir; daha ayrıntılı yorum için SHAP kullanılmalıdır.</a:t>
              </a:r>
            </a:p>
          </p:txBody>
        </p:sp>
        <p:sp>
          <p:nvSpPr>
            <p:cNvPr id="51" name="TextBox 51"/>
            <p:cNvSpPr txBox="1"/>
            <p:nvPr/>
          </p:nvSpPr>
          <p:spPr>
            <a:xfrm>
              <a:off x="908304" y="5661660"/>
              <a:ext cx="6794200"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Yaygın hata: yüksek doğruluk skorunu tek başına güvenilirlik kanıtı kabul etmek.</a:t>
              </a:r>
            </a:p>
          </p:txBody>
        </p:sp>
      </p:grpSp>
      <p:sp>
        <p:nvSpPr>
          <p:cNvPr id="53" name="TextBox 53"/>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07 / 25</a:t>
            </a: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7634966" cy="557403"/>
            <a:chOff x="595122" y="282892"/>
            <a:chExt cx="7634966" cy="557403"/>
          </a:xfrm>
        </p:grpSpPr>
        <p:sp>
          <p:nvSpPr>
            <p:cNvPr id="4" name="TextBox 4"/>
            <p:cNvSpPr txBox="1"/>
            <p:nvPr/>
          </p:nvSpPr>
          <p:spPr>
            <a:xfrm>
              <a:off x="595122" y="282892"/>
              <a:ext cx="7634966"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Kara kutu modeller ve yorumlanabilirlik</a:t>
              </a:r>
            </a:p>
          </p:txBody>
        </p:sp>
      </p:grpSp>
      <p:grpSp>
        <p:nvGrpSpPr>
          <p:cNvPr id="9" name="definition-note"/>
          <p:cNvGrpSpPr/>
          <p:nvPr/>
        </p:nvGrpSpPr>
        <p:grpSpPr>
          <a:xfrm>
            <a:off x="609600" y="1123950"/>
            <a:ext cx="10972800" cy="590550"/>
            <a:chOff x="609600" y="1123950"/>
            <a:chExt cx="10972800" cy="590550"/>
          </a:xfrm>
        </p:grpSpPr>
        <p:sp>
          <p:nvSpPr>
            <p:cNvPr id="6" name="Rectangle 6"/>
            <p:cNvSpPr/>
            <p:nvPr/>
          </p:nvSpPr>
          <p:spPr>
            <a:xfrm>
              <a:off x="609600" y="1123950"/>
              <a:ext cx="10972800" cy="590550"/>
            </a:xfrm>
            <a:prstGeom prst="roundRect">
              <a:avLst>
                <a:gd name="adj" fmla="val 12903"/>
              </a:avLst>
            </a:prstGeom>
            <a:solidFill>
              <a:srgbClr val="EAF4F6"/>
            </a:solidFill>
            <a:ln>
              <a:noFill/>
            </a:ln>
          </p:spPr>
        </p:sp>
        <p:sp>
          <p:nvSpPr>
            <p:cNvPr id="7" name="TextBox 7"/>
            <p:cNvSpPr txBox="1"/>
            <p:nvPr/>
          </p:nvSpPr>
          <p:spPr>
            <a:xfrm>
              <a:off x="908304" y="1242060"/>
              <a:ext cx="1358034"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 Derinlemesine</a:t>
              </a:r>
            </a:p>
          </p:txBody>
        </p:sp>
        <p:sp>
          <p:nvSpPr>
            <p:cNvPr id="8" name="TextBox 8"/>
            <p:cNvSpPr txBox="1"/>
            <p:nvPr/>
          </p:nvSpPr>
          <p:spPr>
            <a:xfrm>
              <a:off x="908304" y="1451610"/>
              <a:ext cx="923329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Yorumlanabilirlik modelin yapısına, açıklanabilirlik ise modele dışarıdan uygulanan açıklama yöntemlerine odaklanır.</a:t>
              </a:r>
            </a:p>
          </p:txBody>
        </p:sp>
      </p:grpSp>
      <p:grpSp>
        <p:nvGrpSpPr>
          <p:cNvPr id="20" name="card-karakutu"/>
          <p:cNvGrpSpPr/>
          <p:nvPr/>
        </p:nvGrpSpPr>
        <p:grpSpPr>
          <a:xfrm>
            <a:off x="609600" y="1885950"/>
            <a:ext cx="5334000" cy="2476500"/>
            <a:chOff x="609600" y="1885950"/>
            <a:chExt cx="5334000" cy="2476500"/>
          </a:xfrm>
        </p:grpSpPr>
        <p:sp>
          <p:nvSpPr>
            <p:cNvPr id="10" name="Rectangle 10"/>
            <p:cNvSpPr/>
            <p:nvPr/>
          </p:nvSpPr>
          <p:spPr>
            <a:xfrm>
              <a:off x="609600" y="1885950"/>
              <a:ext cx="5334000" cy="2476500"/>
            </a:xfrm>
            <a:prstGeom prst="roundRect">
              <a:avLst>
                <a:gd name="adj" fmla="val 3846"/>
              </a:avLst>
            </a:prstGeom>
            <a:solidFill>
              <a:srgbClr val="12355B"/>
            </a:solidFill>
            <a:ln>
              <a:noFill/>
            </a:ln>
          </p:spPr>
        </p:sp>
        <p:sp>
          <p:nvSpPr>
            <p:cNvPr id="11" name="TextBox 11"/>
            <p:cNvSpPr txBox="1"/>
            <p:nvPr/>
          </p:nvSpPr>
          <p:spPr>
            <a:xfrm>
              <a:off x="905256" y="2034540"/>
              <a:ext cx="1985943" cy="352044"/>
            </a:xfrm>
            <a:prstGeom prst="rect">
              <a:avLst/>
            </a:prstGeom>
            <a:noFill/>
            <a:ln>
              <a:noFill/>
            </a:ln>
          </p:spPr>
          <p:txBody>
            <a:bodyPr wrap="none" lIns="0" tIns="0" rIns="0" bIns="0" anchor="t" anchorCtr="0">
              <a:spAutoFit/>
            </a:bodyPr>
            <a:lstStyle/>
            <a:p>
              <a:pPr algn="l"/>
              <a:r>
                <a:rPr lang="tr-TR" sz="1800" b="1" dirty="0">
                  <a:solidFill>
                    <a:srgbClr val="FFFFFF"/>
                  </a:solidFill>
                  <a:latin typeface="+mn-lt"/>
                  <a:ea typeface="+mn-ea"/>
                  <a:cs typeface="+mn-cs"/>
                </a:rPr>
                <a:t>Kara kutu model</a:t>
              </a:r>
            </a:p>
          </p:txBody>
        </p:sp>
        <p:sp>
          <p:nvSpPr>
            <p:cNvPr id="12" name="TextBox 12"/>
            <p:cNvSpPr txBox="1"/>
            <p:nvPr/>
          </p:nvSpPr>
          <p:spPr>
            <a:xfrm>
              <a:off x="908304" y="2404110"/>
              <a:ext cx="3127248"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İç karar mekanizması insan tarafından</a:t>
              </a:r>
            </a:p>
          </p:txBody>
        </p:sp>
        <p:sp>
          <p:nvSpPr>
            <p:cNvPr id="13" name="TextBox 13"/>
            <p:cNvSpPr txBox="1"/>
            <p:nvPr/>
          </p:nvSpPr>
          <p:spPr>
            <a:xfrm>
              <a:off x="908304" y="2613660"/>
              <a:ext cx="2734208"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kolayca takip edilemeyen modeldir.</a:t>
              </a:r>
            </a:p>
          </p:txBody>
        </p:sp>
        <p:sp>
          <p:nvSpPr>
            <p:cNvPr id="14" name="TextBox 14"/>
            <p:cNvSpPr txBox="1"/>
            <p:nvPr/>
          </p:nvSpPr>
          <p:spPr>
            <a:xfrm>
              <a:off x="908304" y="2899410"/>
              <a:ext cx="3232270"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Rastgele orman yüzlerce ağaçtan oluşur;</a:t>
              </a:r>
            </a:p>
          </p:txBody>
        </p:sp>
        <p:sp>
          <p:nvSpPr>
            <p:cNvPr id="15" name="TextBox 15"/>
            <p:cNvSpPr txBox="1"/>
            <p:nvPr/>
          </p:nvSpPr>
          <p:spPr>
            <a:xfrm>
              <a:off x="908304" y="3108960"/>
              <a:ext cx="3243072"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tek tek kuralları okumak pratik değildir.</a:t>
              </a:r>
            </a:p>
          </p:txBody>
        </p:sp>
        <p:sp>
          <p:nvSpPr>
            <p:cNvPr id="16" name="Rectangle 16"/>
            <p:cNvSpPr/>
            <p:nvPr/>
          </p:nvSpPr>
          <p:spPr>
            <a:xfrm>
              <a:off x="914400" y="3486150"/>
              <a:ext cx="4724400" cy="666750"/>
            </a:xfrm>
            <a:prstGeom prst="roundRect">
              <a:avLst>
                <a:gd name="adj" fmla="val 8571"/>
              </a:avLst>
            </a:prstGeom>
            <a:solidFill>
              <a:srgbClr val="0F2B49"/>
            </a:solidFill>
            <a:ln>
              <a:noFill/>
            </a:ln>
          </p:spPr>
        </p:sp>
        <p:sp>
          <p:nvSpPr>
            <p:cNvPr id="17" name="TextBox 17"/>
            <p:cNvSpPr txBox="1"/>
            <p:nvPr/>
          </p:nvSpPr>
          <p:spPr>
            <a:xfrm>
              <a:off x="1060704" y="3566160"/>
              <a:ext cx="850030" cy="234696"/>
            </a:xfrm>
            <a:prstGeom prst="rect">
              <a:avLst/>
            </a:prstGeom>
            <a:noFill/>
            <a:ln>
              <a:noFill/>
            </a:ln>
          </p:spPr>
          <p:txBody>
            <a:bodyPr wrap="none" lIns="0" tIns="0" rIns="0" bIns="0" anchor="t" anchorCtr="0">
              <a:spAutoFit/>
            </a:bodyPr>
            <a:lstStyle/>
            <a:p>
              <a:pPr algn="l"/>
              <a:r>
                <a:rPr lang="tr-TR" sz="1200" i="1" dirty="0">
                  <a:solidFill>
                    <a:srgbClr val="00A6A6"/>
                  </a:solidFill>
                  <a:latin typeface="+mn-lt"/>
                  <a:ea typeface="+mn-ea"/>
                  <a:cs typeface="+mn-cs"/>
                </a:rPr>
                <a:t>Benzetme:</a:t>
              </a:r>
            </a:p>
          </p:txBody>
        </p:sp>
        <p:sp>
          <p:nvSpPr>
            <p:cNvPr id="18" name="TextBox 18"/>
            <p:cNvSpPr txBox="1"/>
            <p:nvPr/>
          </p:nvSpPr>
          <p:spPr>
            <a:xfrm>
              <a:off x="1060704" y="3775710"/>
              <a:ext cx="3612198"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Otomatik sıralama bandı — paket doğru hatta</a:t>
              </a:r>
            </a:p>
          </p:txBody>
        </p:sp>
        <p:sp>
          <p:nvSpPr>
            <p:cNvPr id="19" name="TextBox 19"/>
            <p:cNvSpPr txBox="1"/>
            <p:nvPr/>
          </p:nvSpPr>
          <p:spPr>
            <a:xfrm>
              <a:off x="1060704" y="3947160"/>
              <a:ext cx="3978097"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gider, ama hangi sinyalin karar verdiği belirsizdir.</a:t>
              </a:r>
            </a:p>
          </p:txBody>
        </p:sp>
      </p:grpSp>
      <p:grpSp>
        <p:nvGrpSpPr>
          <p:cNvPr id="31" name="card-seffaf"/>
          <p:cNvGrpSpPr/>
          <p:nvPr/>
        </p:nvGrpSpPr>
        <p:grpSpPr>
          <a:xfrm>
            <a:off x="6248400" y="1885950"/>
            <a:ext cx="5334000" cy="2476500"/>
            <a:chOff x="6248400" y="1885950"/>
            <a:chExt cx="5334000" cy="2476500"/>
          </a:xfrm>
        </p:grpSpPr>
        <p:sp>
          <p:nvSpPr>
            <p:cNvPr id="21" name="Rectangle 21"/>
            <p:cNvSpPr/>
            <p:nvPr/>
          </p:nvSpPr>
          <p:spPr>
            <a:xfrm>
              <a:off x="6248400" y="1885950"/>
              <a:ext cx="5334000" cy="2476500"/>
            </a:xfrm>
            <a:prstGeom prst="roundRect">
              <a:avLst>
                <a:gd name="adj" fmla="val 3846"/>
              </a:avLst>
            </a:prstGeom>
            <a:solidFill>
              <a:srgbClr val="FFFFFF"/>
            </a:solidFill>
            <a:ln w="14288">
              <a:solidFill>
                <a:srgbClr val="2E86AB"/>
              </a:solidFill>
            </a:ln>
          </p:spPr>
        </p:sp>
        <p:sp>
          <p:nvSpPr>
            <p:cNvPr id="22" name="TextBox 22"/>
            <p:cNvSpPr txBox="1"/>
            <p:nvPr/>
          </p:nvSpPr>
          <p:spPr>
            <a:xfrm>
              <a:off x="6544056" y="2034540"/>
              <a:ext cx="1629457"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Şeffaf model</a:t>
              </a:r>
            </a:p>
          </p:txBody>
        </p:sp>
        <p:sp>
          <p:nvSpPr>
            <p:cNvPr id="23" name="TextBox 23"/>
            <p:cNvSpPr txBox="1"/>
            <p:nvPr/>
          </p:nvSpPr>
          <p:spPr>
            <a:xfrm>
              <a:off x="6547104" y="2404110"/>
              <a:ext cx="3507029"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Karar ağacı, doğrusal regresyon veya küçük</a:t>
              </a:r>
            </a:p>
          </p:txBody>
        </p:sp>
        <p:sp>
          <p:nvSpPr>
            <p:cNvPr id="24" name="TextBox 24"/>
            <p:cNvSpPr txBox="1"/>
            <p:nvPr/>
          </p:nvSpPr>
          <p:spPr>
            <a:xfrm>
              <a:off x="6547104" y="2613660"/>
              <a:ext cx="392963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kural kümeleri gibi doğrudan incelenebilir yapılar.</a:t>
              </a:r>
            </a:p>
          </p:txBody>
        </p:sp>
        <p:sp>
          <p:nvSpPr>
            <p:cNvPr id="25" name="TextBox 25"/>
            <p:cNvSpPr txBox="1"/>
            <p:nvPr/>
          </p:nvSpPr>
          <p:spPr>
            <a:xfrm>
              <a:off x="6547104" y="2899410"/>
              <a:ext cx="349173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"Sözleşme süresi 12 aydan kısa mı?" sorusu</a:t>
              </a:r>
            </a:p>
          </p:txBody>
        </p:sp>
        <p:sp>
          <p:nvSpPr>
            <p:cNvPr id="26" name="TextBox 26"/>
            <p:cNvSpPr txBox="1"/>
            <p:nvPr/>
          </p:nvSpPr>
          <p:spPr>
            <a:xfrm>
              <a:off x="6547104" y="3108960"/>
              <a:ext cx="383270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okunabilir; ancak çok büyük ağaçlar yine zordur.</a:t>
              </a:r>
            </a:p>
          </p:txBody>
        </p:sp>
        <p:sp>
          <p:nvSpPr>
            <p:cNvPr id="27" name="Rectangle 27"/>
            <p:cNvSpPr/>
            <p:nvPr/>
          </p:nvSpPr>
          <p:spPr>
            <a:xfrm>
              <a:off x="6553200" y="3486150"/>
              <a:ext cx="4724400" cy="666750"/>
            </a:xfrm>
            <a:prstGeom prst="roundRect">
              <a:avLst>
                <a:gd name="adj" fmla="val 8571"/>
              </a:avLst>
            </a:prstGeom>
            <a:solidFill>
              <a:srgbClr val="EAF4F6"/>
            </a:solidFill>
            <a:ln>
              <a:noFill/>
            </a:ln>
          </p:spPr>
        </p:sp>
        <p:sp>
          <p:nvSpPr>
            <p:cNvPr id="28" name="TextBox 28"/>
            <p:cNvSpPr txBox="1"/>
            <p:nvPr/>
          </p:nvSpPr>
          <p:spPr>
            <a:xfrm>
              <a:off x="6699504" y="3566160"/>
              <a:ext cx="551322" cy="234696"/>
            </a:xfrm>
            <a:prstGeom prst="rect">
              <a:avLst/>
            </a:prstGeom>
            <a:noFill/>
            <a:ln>
              <a:noFill/>
            </a:ln>
          </p:spPr>
          <p:txBody>
            <a:bodyPr wrap="none" lIns="0" tIns="0" rIns="0" bIns="0" anchor="t" anchorCtr="0">
              <a:spAutoFit/>
            </a:bodyPr>
            <a:lstStyle/>
            <a:p>
              <a:pPr algn="l"/>
              <a:r>
                <a:rPr lang="tr-TR" sz="1200" i="1" dirty="0">
                  <a:solidFill>
                    <a:srgbClr val="2E86AB"/>
                  </a:solidFill>
                  <a:latin typeface="+mn-lt"/>
                  <a:ea typeface="+mn-ea"/>
                  <a:cs typeface="+mn-cs"/>
                </a:rPr>
                <a:t>Sınır:</a:t>
              </a:r>
            </a:p>
          </p:txBody>
        </p:sp>
        <p:sp>
          <p:nvSpPr>
            <p:cNvPr id="29" name="TextBox 29"/>
            <p:cNvSpPr txBox="1"/>
            <p:nvPr/>
          </p:nvSpPr>
          <p:spPr>
            <a:xfrm>
              <a:off x="6699504" y="3775710"/>
              <a:ext cx="352265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Basitlik okunabilirlik sağlar, ancak karmaşık</a:t>
              </a:r>
            </a:p>
          </p:txBody>
        </p:sp>
        <p:sp>
          <p:nvSpPr>
            <p:cNvPr id="30" name="TextBox 30"/>
            <p:cNvSpPr txBox="1"/>
            <p:nvPr/>
          </p:nvSpPr>
          <p:spPr>
            <a:xfrm>
              <a:off x="6699504" y="3947160"/>
              <a:ext cx="165186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ilişkileri kaçırabilir.</a:t>
              </a:r>
            </a:p>
          </p:txBody>
        </p:sp>
      </p:grpSp>
      <p:grpSp>
        <p:nvGrpSpPr>
          <p:cNvPr id="38" name="closing-note"/>
          <p:cNvGrpSpPr/>
          <p:nvPr/>
        </p:nvGrpSpPr>
        <p:grpSpPr>
          <a:xfrm>
            <a:off x="609600" y="4533900"/>
            <a:ext cx="10972800" cy="1466850"/>
            <a:chOff x="609600" y="4533900"/>
            <a:chExt cx="10972800" cy="1466850"/>
          </a:xfrm>
        </p:grpSpPr>
        <p:sp>
          <p:nvSpPr>
            <p:cNvPr id="32" name="Rectangle 32"/>
            <p:cNvSpPr/>
            <p:nvPr/>
          </p:nvSpPr>
          <p:spPr>
            <a:xfrm>
              <a:off x="609600" y="4533900"/>
              <a:ext cx="10972800" cy="1466850"/>
            </a:xfrm>
            <a:prstGeom prst="roundRect">
              <a:avLst>
                <a:gd name="adj" fmla="val 5195"/>
              </a:avLst>
            </a:prstGeom>
            <a:solidFill>
              <a:srgbClr val="FFFFFF"/>
            </a:solidFill>
            <a:ln w="14288">
              <a:solidFill>
                <a:srgbClr val="B8CBD3"/>
              </a:solidFill>
            </a:ln>
          </p:spPr>
        </p:sp>
        <p:sp>
          <p:nvSpPr>
            <p:cNvPr id="33" name="TextBox 33"/>
            <p:cNvSpPr txBox="1"/>
            <p:nvPr/>
          </p:nvSpPr>
          <p:spPr>
            <a:xfrm>
              <a:off x="908304" y="4709160"/>
              <a:ext cx="910498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Küçük örnek: bir müşterinin ayrılma olasılığı %0,80 olsun. SHAP açıklaması aylık ücretin +0,18, uzun sözleşmenin</a:t>
              </a:r>
            </a:p>
          </p:txBody>
        </p:sp>
        <p:sp>
          <p:nvSpPr>
            <p:cNvPr id="34" name="TextBox 34"/>
            <p:cNvSpPr txBox="1"/>
            <p:nvPr/>
          </p:nvSpPr>
          <p:spPr>
            <a:xfrm>
              <a:off x="908304" y="4918710"/>
              <a:ext cx="956501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−0,12 katkı verdiğini gösterebilir; bu, model çıktısını parçalarına ayırır. Ancak "ücreti düşürürsek müşteri kesinlikle</a:t>
              </a:r>
            </a:p>
          </p:txBody>
        </p:sp>
        <p:sp>
          <p:nvSpPr>
            <p:cNvPr id="35" name="TextBox 35"/>
            <p:cNvSpPr txBox="1"/>
            <p:nvPr/>
          </p:nvSpPr>
          <p:spPr>
            <a:xfrm>
              <a:off x="908304" y="5128260"/>
              <a:ext cx="781476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kalır" sonucu çıkarılamaz — açıklama model ilişkisini gösterir, müdahalenin nedensel etkisini değil.</a:t>
              </a:r>
            </a:p>
          </p:txBody>
        </p:sp>
        <p:sp>
          <p:nvSpPr>
            <p:cNvPr id="36" name="TextBox 36"/>
            <p:cNvSpPr txBox="1"/>
            <p:nvPr/>
          </p:nvSpPr>
          <p:spPr>
            <a:xfrm>
              <a:off x="908304" y="5433060"/>
              <a:ext cx="9352714"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Ne zaman tek başına kullanılmamalı? Yüksek riskli kararlarda açıklama; tahmin başarımı, veri kalitesi, alt grup</a:t>
              </a:r>
            </a:p>
          </p:txBody>
        </p:sp>
        <p:sp>
          <p:nvSpPr>
            <p:cNvPr id="37" name="TextBox 37"/>
            <p:cNvSpPr txBox="1"/>
            <p:nvPr/>
          </p:nvSpPr>
          <p:spPr>
            <a:xfrm>
              <a:off x="908304" y="5642610"/>
              <a:ext cx="5016017"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ölçümleri ve insan incelemesiyle birlikte değerlendirilmelidir.</a:t>
              </a:r>
            </a:p>
          </p:txBody>
        </p:sp>
      </p:grpSp>
      <p:sp>
        <p:nvSpPr>
          <p:cNvPr id="39" name="TextBox 39"/>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08 / 25</a:t>
            </a: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7726736" cy="557403"/>
            <a:chOff x="595122" y="282892"/>
            <a:chExt cx="7726736" cy="557403"/>
          </a:xfrm>
        </p:grpSpPr>
        <p:sp>
          <p:nvSpPr>
            <p:cNvPr id="4" name="TextBox 4"/>
            <p:cNvSpPr txBox="1"/>
            <p:nvPr/>
          </p:nvSpPr>
          <p:spPr>
            <a:xfrm>
              <a:off x="595122" y="282892"/>
              <a:ext cx="7726736"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Global açıklanabilirlik ve Shapley değeri</a:t>
              </a:r>
            </a:p>
          </p:txBody>
        </p:sp>
      </p:grpSp>
      <p:grpSp>
        <p:nvGrpSpPr>
          <p:cNvPr id="8" name="intro-line"/>
          <p:cNvGrpSpPr/>
          <p:nvPr/>
        </p:nvGrpSpPr>
        <p:grpSpPr>
          <a:xfrm>
            <a:off x="601599" y="1163479"/>
            <a:ext cx="8764642" cy="522827"/>
            <a:chOff x="601599" y="1163479"/>
            <a:chExt cx="8764642" cy="522827"/>
          </a:xfrm>
        </p:grpSpPr>
        <p:sp>
          <p:nvSpPr>
            <p:cNvPr id="6" name="TextBox 6"/>
            <p:cNvSpPr txBox="1"/>
            <p:nvPr/>
          </p:nvSpPr>
          <p:spPr>
            <a:xfrm>
              <a:off x="601599" y="1163479"/>
              <a:ext cx="8764642"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Global açıklanabilirlik, modelin tüm veri kümesi üzerinde nasıl davrandığını inceler:</a:t>
              </a:r>
            </a:p>
          </p:txBody>
        </p:sp>
        <p:sp>
          <p:nvSpPr>
            <p:cNvPr id="7" name="TextBox 7"/>
            <p:cNvSpPr txBox="1"/>
            <p:nvPr/>
          </p:nvSpPr>
          <p:spPr>
            <a:xfrm>
              <a:off x="603504" y="1451610"/>
              <a:ext cx="8191893"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"Model genel olarak hangi özelliklere önem veriyor?" — tek müşteriye değil, grubun tamamına odaklanır.</a:t>
              </a:r>
            </a:p>
          </p:txBody>
        </p:sp>
      </p:grpSp>
      <p:grpSp>
        <p:nvGrpSpPr>
          <p:cNvPr id="16" name="formula-card"/>
          <p:cNvGrpSpPr/>
          <p:nvPr/>
        </p:nvGrpSpPr>
        <p:grpSpPr>
          <a:xfrm>
            <a:off x="609600" y="1809750"/>
            <a:ext cx="10972800" cy="1638300"/>
            <a:chOff x="609600" y="1809750"/>
            <a:chExt cx="10972800" cy="1638300"/>
          </a:xfrm>
        </p:grpSpPr>
        <p:sp>
          <p:nvSpPr>
            <p:cNvPr id="9" name="Rectangle 9"/>
            <p:cNvSpPr/>
            <p:nvPr/>
          </p:nvSpPr>
          <p:spPr>
            <a:xfrm>
              <a:off x="609600" y="1809750"/>
              <a:ext cx="10972800" cy="1638300"/>
            </a:xfrm>
            <a:prstGeom prst="roundRect">
              <a:avLst>
                <a:gd name="adj" fmla="val 5814"/>
              </a:avLst>
            </a:prstGeom>
            <a:solidFill>
              <a:srgbClr val="12355B"/>
            </a:solidFill>
            <a:ln>
              <a:noFill/>
            </a:ln>
          </p:spPr>
        </p:sp>
        <p:sp>
          <p:nvSpPr>
            <p:cNvPr id="10" name="TextBox 10"/>
            <p:cNvSpPr txBox="1"/>
            <p:nvPr/>
          </p:nvSpPr>
          <p:spPr>
            <a:xfrm>
              <a:off x="2141206" y="2151698"/>
              <a:ext cx="7909587" cy="381381"/>
            </a:xfrm>
            <a:prstGeom prst="rect">
              <a:avLst/>
            </a:prstGeom>
            <a:noFill/>
            <a:ln>
              <a:noFill/>
            </a:ln>
          </p:spPr>
          <p:txBody>
            <a:bodyPr wrap="none" lIns="0" tIns="0" rIns="0" bIns="0" anchor="t" anchorCtr="0">
              <a:spAutoFit/>
            </a:bodyPr>
            <a:lstStyle/>
            <a:p>
              <a:pPr algn="ctr"/>
              <a:r>
                <a:rPr lang="el-GR" sz="1950" i="1" dirty="0">
                  <a:solidFill>
                    <a:srgbClr val="FFFFFF"/>
                  </a:solidFill>
                  <a:latin typeface="+mn-lt"/>
                  <a:ea typeface="+mn-ea"/>
                  <a:cs typeface="+mn-cs"/>
                </a:rPr>
                <a:t>φᵢ = Σ S⊆F∖{i} [ |S|!·(|F|−|S|−1)! / |F|! ] · [ v(S∪{i}) − v(S) ]</a:t>
              </a:r>
            </a:p>
          </p:txBody>
        </p:sp>
        <p:sp>
          <p:nvSpPr>
            <p:cNvPr id="11" name="TextBox 11"/>
            <p:cNvSpPr txBox="1"/>
            <p:nvPr/>
          </p:nvSpPr>
          <p:spPr>
            <a:xfrm>
              <a:off x="2054076" y="2594610"/>
              <a:ext cx="8083849" cy="234696"/>
            </a:xfrm>
            <a:prstGeom prst="rect">
              <a:avLst/>
            </a:prstGeom>
            <a:noFill/>
            <a:ln>
              <a:noFill/>
            </a:ln>
          </p:spPr>
          <p:txBody>
            <a:bodyPr wrap="none" lIns="0" tIns="0" rIns="0" bIns="0" anchor="t" anchorCtr="0">
              <a:spAutoFit/>
            </a:bodyPr>
            <a:lstStyle/>
            <a:p>
              <a:pPr algn="ctr"/>
              <a:r>
                <a:rPr lang="tr-TR" sz="1200" dirty="0">
                  <a:solidFill>
                    <a:srgbClr val="EAF4F6"/>
                  </a:solidFill>
                  <a:latin typeface="+mn-lt"/>
                  <a:ea typeface="+mn-ea"/>
                  <a:cs typeface="+mn-cs"/>
                </a:rPr>
                <a:t>Oyun teorisinden gelen Shapley değeri: bir oyuncunun (özelliğin) takımın toplam sonucuna adil katkısı</a:t>
              </a:r>
            </a:p>
          </p:txBody>
        </p:sp>
        <p:sp>
          <p:nvSpPr>
            <p:cNvPr id="12" name="TextBox 12"/>
            <p:cNvSpPr txBox="1"/>
            <p:nvPr/>
          </p:nvSpPr>
          <p:spPr>
            <a:xfrm>
              <a:off x="908304" y="2937510"/>
              <a:ext cx="2206276" cy="234696"/>
            </a:xfrm>
            <a:prstGeom prst="rect">
              <a:avLst/>
            </a:prstGeom>
            <a:noFill/>
            <a:ln>
              <a:noFill/>
            </a:ln>
          </p:spPr>
          <p:txBody>
            <a:bodyPr wrap="none" lIns="0" tIns="0" rIns="0" bIns="0" anchor="t" anchorCtr="0">
              <a:spAutoFit/>
            </a:bodyPr>
            <a:lstStyle/>
            <a:p>
              <a:pPr algn="l"/>
              <a:r>
                <a:rPr lang="tr-TR" sz="1200" dirty="0">
                  <a:solidFill>
                    <a:srgbClr val="00A6A6"/>
                  </a:solidFill>
                  <a:latin typeface="+mn-lt"/>
                  <a:ea typeface="+mn-ea"/>
                  <a:cs typeface="+mn-cs"/>
                </a:rPr>
                <a:t>F: tüm özniteliklerin kümesi</a:t>
              </a:r>
            </a:p>
          </p:txBody>
        </p:sp>
        <p:sp>
          <p:nvSpPr>
            <p:cNvPr id="13" name="TextBox 13"/>
            <p:cNvSpPr txBox="1"/>
            <p:nvPr/>
          </p:nvSpPr>
          <p:spPr>
            <a:xfrm>
              <a:off x="4337304" y="2937510"/>
              <a:ext cx="2618308" cy="234696"/>
            </a:xfrm>
            <a:prstGeom prst="rect">
              <a:avLst/>
            </a:prstGeom>
            <a:noFill/>
            <a:ln>
              <a:noFill/>
            </a:ln>
          </p:spPr>
          <p:txBody>
            <a:bodyPr wrap="none" lIns="0" tIns="0" rIns="0" bIns="0" anchor="t" anchorCtr="0">
              <a:spAutoFit/>
            </a:bodyPr>
            <a:lstStyle/>
            <a:p>
              <a:pPr algn="l"/>
              <a:r>
                <a:rPr lang="tr-TR" sz="1200" dirty="0">
                  <a:solidFill>
                    <a:srgbClr val="00A6A6"/>
                  </a:solidFill>
                  <a:latin typeface="+mn-lt"/>
                  <a:ea typeface="+mn-ea"/>
                  <a:cs typeface="+mn-cs"/>
                </a:rPr>
                <a:t>S: özniteliği i içermeyen alt küme</a:t>
              </a:r>
            </a:p>
          </p:txBody>
        </p:sp>
        <p:sp>
          <p:nvSpPr>
            <p:cNvPr id="14" name="TextBox 14"/>
            <p:cNvSpPr txBox="1"/>
            <p:nvPr/>
          </p:nvSpPr>
          <p:spPr>
            <a:xfrm>
              <a:off x="8242554" y="2937510"/>
              <a:ext cx="3117057" cy="234696"/>
            </a:xfrm>
            <a:prstGeom prst="rect">
              <a:avLst/>
            </a:prstGeom>
            <a:noFill/>
            <a:ln>
              <a:noFill/>
            </a:ln>
          </p:spPr>
          <p:txBody>
            <a:bodyPr wrap="none" lIns="0" tIns="0" rIns="0" bIns="0" anchor="t" anchorCtr="0">
              <a:spAutoFit/>
            </a:bodyPr>
            <a:lstStyle/>
            <a:p>
              <a:pPr algn="l"/>
              <a:r>
                <a:rPr lang="tr-TR" sz="1200" dirty="0">
                  <a:solidFill>
                    <a:srgbClr val="00A6A6"/>
                  </a:solidFill>
                  <a:latin typeface="+mn-lt"/>
                  <a:ea typeface="+mn-ea"/>
                  <a:cs typeface="+mn-cs"/>
                </a:rPr>
                <a:t>v(S): S alt kümesiyle elde edilen tahmin</a:t>
              </a:r>
            </a:p>
          </p:txBody>
        </p:sp>
        <p:sp>
          <p:nvSpPr>
            <p:cNvPr id="15" name="TextBox 15"/>
            <p:cNvSpPr txBox="1"/>
            <p:nvPr/>
          </p:nvSpPr>
          <p:spPr>
            <a:xfrm>
              <a:off x="908304" y="3166110"/>
              <a:ext cx="8094587"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Formül, i özniteliğinin olası tüm sıralamalarda eklenmesiyle tahmine kattığı ortalama farkı hesaplar.</a:t>
              </a:r>
            </a:p>
          </p:txBody>
        </p:sp>
      </p:grpSp>
      <p:grpSp>
        <p:nvGrpSpPr>
          <p:cNvPr id="21" name="analogy-card"/>
          <p:cNvGrpSpPr/>
          <p:nvPr/>
        </p:nvGrpSpPr>
        <p:grpSpPr>
          <a:xfrm>
            <a:off x="609600" y="3619500"/>
            <a:ext cx="10972800" cy="895350"/>
            <a:chOff x="609600" y="3619500"/>
            <a:chExt cx="10972800" cy="895350"/>
          </a:xfrm>
        </p:grpSpPr>
        <p:sp>
          <p:nvSpPr>
            <p:cNvPr id="17" name="Rectangle 17"/>
            <p:cNvSpPr/>
            <p:nvPr/>
          </p:nvSpPr>
          <p:spPr>
            <a:xfrm>
              <a:off x="609600" y="3619500"/>
              <a:ext cx="10972800" cy="895350"/>
            </a:xfrm>
            <a:prstGeom prst="roundRect">
              <a:avLst>
                <a:gd name="adj" fmla="val 8511"/>
              </a:avLst>
            </a:prstGeom>
            <a:solidFill>
              <a:srgbClr val="FFFFFF"/>
            </a:solidFill>
            <a:ln w="14288">
              <a:solidFill>
                <a:srgbClr val="B8CBD3"/>
              </a:solidFill>
            </a:ln>
          </p:spPr>
        </p:sp>
        <p:sp>
          <p:nvSpPr>
            <p:cNvPr id="18" name="TextBox 18"/>
            <p:cNvSpPr txBox="1"/>
            <p:nvPr/>
          </p:nvSpPr>
          <p:spPr>
            <a:xfrm>
              <a:off x="908304" y="3775710"/>
              <a:ext cx="850030" cy="234696"/>
            </a:xfrm>
            <a:prstGeom prst="rect">
              <a:avLst/>
            </a:prstGeom>
            <a:noFill/>
            <a:ln>
              <a:noFill/>
            </a:ln>
          </p:spPr>
          <p:txBody>
            <a:bodyPr wrap="none" lIns="0" tIns="0" rIns="0" bIns="0" anchor="t" anchorCtr="0">
              <a:spAutoFit/>
            </a:bodyPr>
            <a:lstStyle/>
            <a:p>
              <a:pPr algn="l"/>
              <a:r>
                <a:rPr lang="tr-TR" sz="1200" i="1" dirty="0">
                  <a:solidFill>
                    <a:srgbClr val="52616B"/>
                  </a:solidFill>
                  <a:latin typeface="+mn-lt"/>
                  <a:ea typeface="+mn-ea"/>
                  <a:cs typeface="+mn-cs"/>
                </a:rPr>
                <a:t>Benzetme:</a:t>
              </a:r>
            </a:p>
          </p:txBody>
        </p:sp>
        <p:sp>
          <p:nvSpPr>
            <p:cNvPr id="19" name="TextBox 19"/>
            <p:cNvSpPr txBox="1"/>
            <p:nvPr/>
          </p:nvSpPr>
          <p:spPr>
            <a:xfrm>
              <a:off x="908304" y="3985260"/>
              <a:ext cx="807052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Global açıklama, bir öğretmenin dönem sonu notlarını incelemesine benzer — tek öğrenciyi değil, bütün</a:t>
              </a:r>
            </a:p>
          </p:txBody>
        </p:sp>
        <p:sp>
          <p:nvSpPr>
            <p:cNvPr id="20" name="TextBox 20"/>
            <p:cNvSpPr txBox="1"/>
            <p:nvPr/>
          </p:nvSpPr>
          <p:spPr>
            <a:xfrm>
              <a:off x="908304" y="4194810"/>
              <a:ext cx="412348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sınıfta hangi konuların zorlandığını görmek ister.</a:t>
              </a:r>
            </a:p>
          </p:txBody>
        </p:sp>
      </p:grpSp>
      <p:grpSp>
        <p:nvGrpSpPr>
          <p:cNvPr id="25" name="telco-note"/>
          <p:cNvGrpSpPr/>
          <p:nvPr/>
        </p:nvGrpSpPr>
        <p:grpSpPr>
          <a:xfrm>
            <a:off x="609600" y="4667250"/>
            <a:ext cx="10972800" cy="666750"/>
            <a:chOff x="609600" y="4667250"/>
            <a:chExt cx="10972800" cy="666750"/>
          </a:xfrm>
        </p:grpSpPr>
        <p:sp>
          <p:nvSpPr>
            <p:cNvPr id="22" name="Rectangle 22"/>
            <p:cNvSpPr/>
            <p:nvPr/>
          </p:nvSpPr>
          <p:spPr>
            <a:xfrm>
              <a:off x="609600" y="4667250"/>
              <a:ext cx="10972800" cy="666750"/>
            </a:xfrm>
            <a:prstGeom prst="roundRect">
              <a:avLst>
                <a:gd name="adj" fmla="val 11429"/>
              </a:avLst>
            </a:prstGeom>
            <a:solidFill>
              <a:srgbClr val="EAF4F6"/>
            </a:solidFill>
            <a:ln>
              <a:noFill/>
            </a:ln>
          </p:spPr>
        </p:sp>
        <p:sp>
          <p:nvSpPr>
            <p:cNvPr id="23" name="TextBox 23"/>
            <p:cNvSpPr txBox="1"/>
            <p:nvPr/>
          </p:nvSpPr>
          <p:spPr>
            <a:xfrm>
              <a:off x="908304" y="4823460"/>
              <a:ext cx="845494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Telco Churn projesinde yönetim, müşterilerin genel olarak hangi nedenlerle ayrıldığını anlamak isteyebilir;</a:t>
              </a:r>
            </a:p>
          </p:txBody>
        </p:sp>
        <p:sp>
          <p:nvSpPr>
            <p:cNvPr id="24" name="TextBox 24"/>
            <p:cNvSpPr txBox="1"/>
            <p:nvPr/>
          </p:nvSpPr>
          <p:spPr>
            <a:xfrm>
              <a:off x="908304" y="5033010"/>
              <a:ext cx="5900471"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bu analiz ücretlendirme, kampanya ve sözleşme tasarımı için yol gösterir.</a:t>
              </a:r>
            </a:p>
          </p:txBody>
        </p:sp>
      </p:grpSp>
      <p:sp>
        <p:nvSpPr>
          <p:cNvPr id="26" name="TextBox 26"/>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09 / 25</a:t>
            </a: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4670965" cy="557403"/>
            <a:chOff x="595122" y="282892"/>
            <a:chExt cx="4670965" cy="557403"/>
          </a:xfrm>
        </p:grpSpPr>
        <p:sp>
          <p:nvSpPr>
            <p:cNvPr id="4" name="TextBox 4"/>
            <p:cNvSpPr txBox="1"/>
            <p:nvPr/>
          </p:nvSpPr>
          <p:spPr>
            <a:xfrm>
              <a:off x="595122" y="282892"/>
              <a:ext cx="4670965"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SHAP ile global açıklama</a:t>
              </a:r>
            </a:p>
          </p:txBody>
        </p:sp>
      </p:grpSp>
      <p:grpSp>
        <p:nvGrpSpPr>
          <p:cNvPr id="7" name="task-line"/>
          <p:cNvGrpSpPr/>
          <p:nvPr/>
        </p:nvGrpSpPr>
        <p:grpSpPr>
          <a:xfrm>
            <a:off x="603504" y="1165860"/>
            <a:ext cx="8039351" cy="234696"/>
            <a:chOff x="603504" y="1165860"/>
            <a:chExt cx="8039351" cy="234696"/>
          </a:xfrm>
        </p:grpSpPr>
        <p:sp>
          <p:nvSpPr>
            <p:cNvPr id="6" name="TextBox 6"/>
            <p:cNvSpPr txBox="1"/>
            <p:nvPr/>
          </p:nvSpPr>
          <p:spPr>
            <a:xfrm>
              <a:off x="603504" y="1165860"/>
              <a:ext cx="8039351"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Amaç: shap.TreeExplainer ile modelin tüm test verisindeki global davranışını özetlemek (Şekil 13.1).</a:t>
              </a:r>
            </a:p>
          </p:txBody>
        </p:sp>
      </p:grpSp>
      <p:grpSp>
        <p:nvGrpSpPr>
          <p:cNvPr id="21" name="code-panel"/>
          <p:cNvGrpSpPr/>
          <p:nvPr/>
        </p:nvGrpSpPr>
        <p:grpSpPr>
          <a:xfrm>
            <a:off x="609600" y="1466850"/>
            <a:ext cx="5334000" cy="3238500"/>
            <a:chOff x="609600" y="1466850"/>
            <a:chExt cx="5334000" cy="3238500"/>
          </a:xfrm>
        </p:grpSpPr>
        <p:sp>
          <p:nvSpPr>
            <p:cNvPr id="8" name="Rectangle 8"/>
            <p:cNvSpPr/>
            <p:nvPr/>
          </p:nvSpPr>
          <p:spPr>
            <a:xfrm>
              <a:off x="609600" y="1466850"/>
              <a:ext cx="5334000" cy="3238500"/>
            </a:xfrm>
            <a:prstGeom prst="roundRect">
              <a:avLst>
                <a:gd name="adj" fmla="val 2353"/>
              </a:avLst>
            </a:prstGeom>
            <a:solidFill>
              <a:srgbClr val="12355B"/>
            </a:solidFill>
            <a:ln>
              <a:noFill/>
            </a:ln>
          </p:spPr>
        </p:sp>
        <p:sp>
          <p:nvSpPr>
            <p:cNvPr id="9" name="TextBox 9"/>
            <p:cNvSpPr txBox="1"/>
            <p:nvPr/>
          </p:nvSpPr>
          <p:spPr>
            <a:xfrm>
              <a:off x="832485" y="1631156"/>
              <a:ext cx="3003262" cy="220028"/>
            </a:xfrm>
            <a:prstGeom prst="rect">
              <a:avLst/>
            </a:prstGeom>
            <a:noFill/>
            <a:ln>
              <a:noFill/>
            </a:ln>
          </p:spPr>
          <p:txBody>
            <a:bodyPr wrap="none" lIns="0" tIns="0" rIns="0" bIns="0" anchor="t" anchorCtr="0">
              <a:spAutoFit/>
            </a:bodyPr>
            <a:lstStyle/>
            <a:p>
              <a:pPr algn="l"/>
              <a:r>
                <a:rPr lang="tr-TR" sz="1120" dirty="0">
                  <a:solidFill>
                    <a:srgbClr val="00A6A6"/>
                  </a:solidFill>
                  <a:latin typeface="Consolas"/>
                  <a:ea typeface="Consolas"/>
                  <a:cs typeface="Consolas"/>
                </a:rPr>
                <a:t># File: ch13_shap_global_aciklama.py</a:t>
              </a:r>
            </a:p>
          </p:txBody>
        </p:sp>
        <p:sp>
          <p:nvSpPr>
            <p:cNvPr id="10" name="TextBox 10"/>
            <p:cNvSpPr txBox="1"/>
            <p:nvPr/>
          </p:nvSpPr>
          <p:spPr>
            <a:xfrm>
              <a:off x="832485" y="1897856"/>
              <a:ext cx="4086020" cy="220028"/>
            </a:xfrm>
            <a:prstGeom prst="rect">
              <a:avLst/>
            </a:prstGeom>
            <a:noFill/>
            <a:ln>
              <a:noFill/>
            </a:ln>
          </p:spPr>
          <p:txBody>
            <a:bodyPr wrap="none" lIns="0" tIns="0" rIns="0" bIns="0" anchor="t" anchorCtr="0">
              <a:spAutoFit/>
            </a:bodyPr>
            <a:lstStyle/>
            <a:p>
              <a:pPr algn="l"/>
              <a:r>
                <a:rPr lang="tr-TR" sz="1120" dirty="0">
                  <a:solidFill>
                    <a:srgbClr val="FFFFFF"/>
                  </a:solidFill>
                  <a:latin typeface="Consolas"/>
                  <a:ea typeface="Consolas"/>
                  <a:cs typeface="Consolas"/>
                </a:rPr>
                <a:t>aciklayici = shap.TreeExplainer(kara_kutu_modeli)</a:t>
              </a:r>
            </a:p>
          </p:txBody>
        </p:sp>
        <p:sp>
          <p:nvSpPr>
            <p:cNvPr id="11" name="TextBox 11"/>
            <p:cNvSpPr txBox="1"/>
            <p:nvPr/>
          </p:nvSpPr>
          <p:spPr>
            <a:xfrm>
              <a:off x="832485" y="2126456"/>
              <a:ext cx="3914754" cy="220028"/>
            </a:xfrm>
            <a:prstGeom prst="rect">
              <a:avLst/>
            </a:prstGeom>
            <a:noFill/>
            <a:ln>
              <a:noFill/>
            </a:ln>
          </p:spPr>
          <p:txBody>
            <a:bodyPr wrap="none" lIns="0" tIns="0" rIns="0" bIns="0" anchor="t" anchorCtr="0">
              <a:spAutoFit/>
            </a:bodyPr>
            <a:lstStyle/>
            <a:p>
              <a:pPr algn="l"/>
              <a:r>
                <a:rPr lang="tr-TR" sz="1120" dirty="0">
                  <a:solidFill>
                    <a:srgbClr val="FFFFFF"/>
                  </a:solidFill>
                  <a:latin typeface="Consolas"/>
                  <a:ea typeface="Consolas"/>
                  <a:cs typeface="Consolas"/>
                </a:rPr>
                <a:t>shap_degerleri = aciklayici.shap_values(test_X)</a:t>
              </a:r>
            </a:p>
          </p:txBody>
        </p:sp>
        <p:sp>
          <p:nvSpPr>
            <p:cNvPr id="12" name="TextBox 12"/>
            <p:cNvSpPr txBox="1"/>
            <p:nvPr/>
          </p:nvSpPr>
          <p:spPr>
            <a:xfrm>
              <a:off x="832485" y="2393156"/>
              <a:ext cx="3162615" cy="220028"/>
            </a:xfrm>
            <a:prstGeom prst="rect">
              <a:avLst/>
            </a:prstGeom>
            <a:noFill/>
            <a:ln>
              <a:noFill/>
            </a:ln>
          </p:spPr>
          <p:txBody>
            <a:bodyPr wrap="none" lIns="0" tIns="0" rIns="0" bIns="0" anchor="t" anchorCtr="0">
              <a:spAutoFit/>
            </a:bodyPr>
            <a:lstStyle/>
            <a:p>
              <a:pPr algn="l"/>
              <a:r>
                <a:rPr lang="tr-TR" sz="1120" dirty="0">
                  <a:solidFill>
                    <a:srgbClr val="FFFFFF"/>
                  </a:solidFill>
                  <a:latin typeface="Consolas"/>
                  <a:ea typeface="Consolas"/>
                  <a:cs typeface="Consolas"/>
                </a:rPr>
                <a:t>ayrilma_shap = shap_degerleri[:, :, 1]</a:t>
              </a:r>
            </a:p>
          </p:txBody>
        </p:sp>
        <p:sp>
          <p:nvSpPr>
            <p:cNvPr id="13" name="TextBox 13"/>
            <p:cNvSpPr txBox="1"/>
            <p:nvPr/>
          </p:nvSpPr>
          <p:spPr>
            <a:xfrm>
              <a:off x="832485" y="2621756"/>
              <a:ext cx="3251446" cy="220028"/>
            </a:xfrm>
            <a:prstGeom prst="rect">
              <a:avLst/>
            </a:prstGeom>
            <a:noFill/>
            <a:ln>
              <a:noFill/>
            </a:ln>
          </p:spPr>
          <p:txBody>
            <a:bodyPr wrap="none" lIns="0" tIns="0" rIns="0" bIns="0" anchor="t" anchorCtr="0">
              <a:spAutoFit/>
            </a:bodyPr>
            <a:lstStyle/>
            <a:p>
              <a:pPr algn="l"/>
              <a:r>
                <a:rPr lang="tr-TR" sz="1120" dirty="0">
                  <a:solidFill>
                    <a:srgbClr val="FFFFFF"/>
                  </a:solidFill>
                  <a:latin typeface="Consolas"/>
                  <a:ea typeface="Consolas"/>
                  <a:cs typeface="Consolas"/>
                </a:rPr>
                <a:t>shap.summary_plot(ayrilma_shap, test_X)</a:t>
              </a:r>
            </a:p>
          </p:txBody>
        </p:sp>
        <p:sp>
          <p:nvSpPr>
            <p:cNvPr id="14" name="TextBox 14"/>
            <p:cNvSpPr txBox="1"/>
            <p:nvPr/>
          </p:nvSpPr>
          <p:spPr>
            <a:xfrm>
              <a:off x="832485" y="2888456"/>
              <a:ext cx="3991874" cy="220028"/>
            </a:xfrm>
            <a:prstGeom prst="rect">
              <a:avLst/>
            </a:prstGeom>
            <a:noFill/>
            <a:ln>
              <a:noFill/>
            </a:ln>
          </p:spPr>
          <p:txBody>
            <a:bodyPr wrap="none" lIns="0" tIns="0" rIns="0" bIns="0" anchor="t" anchorCtr="0">
              <a:spAutoFit/>
            </a:bodyPr>
            <a:lstStyle/>
            <a:p>
              <a:pPr algn="l"/>
              <a:r>
                <a:rPr lang="tr-TR" sz="1120" dirty="0">
                  <a:solidFill>
                    <a:srgbClr val="FFFFFF"/>
                  </a:solidFill>
                  <a:latin typeface="Consolas"/>
                  <a:ea typeface="Consolas"/>
                  <a:cs typeface="Consolas"/>
                </a:rPr>
                <a:t>ortalama_mutlak = abs(ayrilma_shap).mean(axis=0)</a:t>
              </a:r>
            </a:p>
          </p:txBody>
        </p:sp>
        <p:sp>
          <p:nvSpPr>
            <p:cNvPr id="15" name="TextBox 15"/>
            <p:cNvSpPr txBox="1"/>
            <p:nvPr/>
          </p:nvSpPr>
          <p:spPr>
            <a:xfrm>
              <a:off x="832485" y="3231356"/>
              <a:ext cx="2203399" cy="220028"/>
            </a:xfrm>
            <a:prstGeom prst="rect">
              <a:avLst/>
            </a:prstGeom>
            <a:noFill/>
            <a:ln>
              <a:noFill/>
            </a:ln>
          </p:spPr>
          <p:txBody>
            <a:bodyPr wrap="none" lIns="0" tIns="0" rIns="0" bIns="0" anchor="t" anchorCtr="0">
              <a:spAutoFit/>
            </a:bodyPr>
            <a:lstStyle/>
            <a:p>
              <a:pPr algn="l"/>
              <a:r>
                <a:rPr lang="tr-TR" sz="1120" dirty="0">
                  <a:solidFill>
                    <a:srgbClr val="00A6A6"/>
                  </a:solidFill>
                  <a:latin typeface="Consolas"/>
                  <a:ea typeface="Consolas"/>
                  <a:cs typeface="Consolas"/>
                </a:rPr>
                <a:t># Çıktı (ortalama |SHAP|):</a:t>
              </a:r>
            </a:p>
          </p:txBody>
        </p:sp>
        <p:sp>
          <p:nvSpPr>
            <p:cNvPr id="16" name="TextBox 16"/>
            <p:cNvSpPr txBox="1"/>
            <p:nvPr/>
          </p:nvSpPr>
          <p:spPr>
            <a:xfrm>
              <a:off x="832485" y="3459956"/>
              <a:ext cx="1089467" cy="220028"/>
            </a:xfrm>
            <a:prstGeom prst="rect">
              <a:avLst/>
            </a:prstGeom>
            <a:noFill/>
            <a:ln>
              <a:noFill/>
            </a:ln>
          </p:spPr>
          <p:txBody>
            <a:bodyPr wrap="none" lIns="0" tIns="0" rIns="0" bIns="0" anchor="t" anchorCtr="0">
              <a:spAutoFit/>
            </a:bodyPr>
            <a:lstStyle/>
            <a:p>
              <a:pPr algn="l"/>
              <a:r>
                <a:rPr lang="tr-TR" sz="1120" dirty="0">
                  <a:solidFill>
                    <a:srgbClr val="EAF4F6"/>
                  </a:solidFill>
                  <a:latin typeface="Consolas"/>
                  <a:ea typeface="Consolas"/>
                  <a:cs typeface="Consolas"/>
                </a:rPr>
                <a:t>tenure 0.2211</a:t>
              </a:r>
            </a:p>
          </p:txBody>
        </p:sp>
        <p:sp>
          <p:nvSpPr>
            <p:cNvPr id="17" name="TextBox 17"/>
            <p:cNvSpPr txBox="1"/>
            <p:nvPr/>
          </p:nvSpPr>
          <p:spPr>
            <a:xfrm>
              <a:off x="832485" y="3669506"/>
              <a:ext cx="1766956" cy="220028"/>
            </a:xfrm>
            <a:prstGeom prst="rect">
              <a:avLst/>
            </a:prstGeom>
            <a:noFill/>
            <a:ln>
              <a:noFill/>
            </a:ln>
          </p:spPr>
          <p:txBody>
            <a:bodyPr wrap="none" lIns="0" tIns="0" rIns="0" bIns="0" anchor="t" anchorCtr="0">
              <a:spAutoFit/>
            </a:bodyPr>
            <a:lstStyle/>
            <a:p>
              <a:pPr algn="l"/>
              <a:r>
                <a:rPr lang="tr-TR" sz="1120" dirty="0">
                  <a:solidFill>
                    <a:srgbClr val="EAF4F6"/>
                  </a:solidFill>
                  <a:latin typeface="Consolas"/>
                  <a:ea typeface="Consolas"/>
                  <a:cs typeface="Consolas"/>
                </a:rPr>
                <a:t>MonthlyCharges 0.0646</a:t>
              </a:r>
            </a:p>
          </p:txBody>
        </p:sp>
        <p:sp>
          <p:nvSpPr>
            <p:cNvPr id="18" name="TextBox 18"/>
            <p:cNvSpPr txBox="1"/>
            <p:nvPr/>
          </p:nvSpPr>
          <p:spPr>
            <a:xfrm>
              <a:off x="832485" y="3879056"/>
              <a:ext cx="1601887" cy="220028"/>
            </a:xfrm>
            <a:prstGeom prst="rect">
              <a:avLst/>
            </a:prstGeom>
            <a:noFill/>
            <a:ln>
              <a:noFill/>
            </a:ln>
          </p:spPr>
          <p:txBody>
            <a:bodyPr wrap="none" lIns="0" tIns="0" rIns="0" bIns="0" anchor="t" anchorCtr="0">
              <a:spAutoFit/>
            </a:bodyPr>
            <a:lstStyle/>
            <a:p>
              <a:pPr algn="l"/>
              <a:r>
                <a:rPr lang="tr-TR" sz="1120" dirty="0">
                  <a:solidFill>
                    <a:srgbClr val="EAF4F6"/>
                  </a:solidFill>
                  <a:latin typeface="Consolas"/>
                  <a:ea typeface="Consolas"/>
                  <a:cs typeface="Consolas"/>
                </a:rPr>
                <a:t>TotalCharges 0.0358</a:t>
              </a:r>
            </a:p>
          </p:txBody>
        </p:sp>
        <p:sp>
          <p:nvSpPr>
            <p:cNvPr id="19" name="TextBox 19"/>
            <p:cNvSpPr txBox="1"/>
            <p:nvPr/>
          </p:nvSpPr>
          <p:spPr>
            <a:xfrm>
              <a:off x="832866" y="4211002"/>
              <a:ext cx="3120390" cy="205359"/>
            </a:xfrm>
            <a:prstGeom prst="rect">
              <a:avLst/>
            </a:prstGeom>
            <a:noFill/>
            <a:ln>
              <a:noFill/>
            </a:ln>
          </p:spPr>
          <p:txBody>
            <a:bodyPr wrap="none" lIns="0" tIns="0" rIns="0" bIns="0" anchor="t" anchorCtr="0">
              <a:spAutoFit/>
            </a:bodyPr>
            <a:lstStyle/>
            <a:p>
              <a:pPr algn="l"/>
              <a:r>
                <a:rPr lang="tr-TR" sz="1050" dirty="0">
                  <a:solidFill>
                    <a:srgbClr val="00A6A6"/>
                  </a:solidFill>
                  <a:latin typeface="Consolas"/>
                  <a:ea typeface="Consolas"/>
                  <a:cs typeface="Consolas"/>
                </a:rPr>
                <a:t># ch13_shap_global_ozet.png oluşturuldu.</a:t>
              </a:r>
            </a:p>
          </p:txBody>
        </p:sp>
        <p:sp>
          <p:nvSpPr>
            <p:cNvPr id="20" name="TextBox 20"/>
            <p:cNvSpPr txBox="1"/>
            <p:nvPr/>
          </p:nvSpPr>
          <p:spPr>
            <a:xfrm>
              <a:off x="832866" y="4401502"/>
              <a:ext cx="3219359" cy="205359"/>
            </a:xfrm>
            <a:prstGeom prst="rect">
              <a:avLst/>
            </a:prstGeom>
            <a:noFill/>
            <a:ln>
              <a:noFill/>
            </a:ln>
          </p:spPr>
          <p:txBody>
            <a:bodyPr wrap="none" lIns="0" tIns="0" rIns="0" bIns="0" anchor="t" anchorCtr="0">
              <a:spAutoFit/>
            </a:bodyPr>
            <a:lstStyle/>
            <a:p>
              <a:pPr algn="l"/>
              <a:r>
                <a:rPr lang="tr-TR" sz="1050" dirty="0">
                  <a:solidFill>
                    <a:srgbClr val="00A6A6"/>
                  </a:solidFill>
                  <a:latin typeface="Consolas"/>
                  <a:ea typeface="Consolas"/>
                  <a:cs typeface="Consolas"/>
                </a:rPr>
                <a:t># pozitif SHAP: ayrılma sınıfına yaklaşma</a:t>
              </a:r>
            </a:p>
          </p:txBody>
        </p:sp>
      </p:grpSp>
      <p:grpSp>
        <p:nvGrpSpPr>
          <p:cNvPr id="55" name="beeswarm-panel"/>
          <p:cNvGrpSpPr/>
          <p:nvPr/>
        </p:nvGrpSpPr>
        <p:grpSpPr>
          <a:xfrm>
            <a:off x="6248400" y="1466850"/>
            <a:ext cx="5334000" cy="3238500"/>
            <a:chOff x="6248400" y="1466850"/>
            <a:chExt cx="5334000" cy="3238500"/>
          </a:xfrm>
        </p:grpSpPr>
        <p:sp>
          <p:nvSpPr>
            <p:cNvPr id="22" name="Rectangle 22"/>
            <p:cNvSpPr/>
            <p:nvPr/>
          </p:nvSpPr>
          <p:spPr>
            <a:xfrm>
              <a:off x="6248400" y="1466850"/>
              <a:ext cx="5334000" cy="3238500"/>
            </a:xfrm>
            <a:prstGeom prst="roundRect">
              <a:avLst>
                <a:gd name="adj" fmla="val 2353"/>
              </a:avLst>
            </a:prstGeom>
            <a:solidFill>
              <a:srgbClr val="FFFFFF"/>
            </a:solidFill>
            <a:ln w="14288">
              <a:solidFill>
                <a:srgbClr val="B8CBD3"/>
              </a:solidFill>
            </a:ln>
          </p:spPr>
        </p:sp>
        <p:sp>
          <p:nvSpPr>
            <p:cNvPr id="23" name="TextBox 23"/>
            <p:cNvSpPr txBox="1"/>
            <p:nvPr/>
          </p:nvSpPr>
          <p:spPr>
            <a:xfrm>
              <a:off x="6470142" y="1606868"/>
              <a:ext cx="3715939"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Şekil 13.1 — SHAP global özeti (şematik)</a:t>
              </a:r>
            </a:p>
          </p:txBody>
        </p:sp>
        <p:sp>
          <p:nvSpPr>
            <p:cNvPr id="24" name="Line 24"/>
            <p:cNvSpPr/>
            <p:nvPr/>
          </p:nvSpPr>
          <p:spPr>
            <a:xfrm>
              <a:off x="8915400" y="1943100"/>
              <a:ext cx="9525" cy="2247900"/>
            </a:xfrm>
            <a:custGeom>
              <a:avLst/>
              <a:gdLst/>
              <a:ahLst/>
              <a:cxnLst/>
              <a:rect l="l" t="t" r="r" b="b"/>
              <a:pathLst>
                <a:path w="9525" h="2247900">
                  <a:moveTo>
                    <a:pt x="0" y="0"/>
                  </a:moveTo>
                  <a:lnTo>
                    <a:pt x="0" y="2247900"/>
                  </a:lnTo>
                </a:path>
              </a:pathLst>
            </a:custGeom>
            <a:noFill/>
            <a:ln w="14288">
              <a:solidFill>
                <a:srgbClr val="B8CBD3"/>
              </a:solidFill>
              <a:prstDash val="dash"/>
            </a:ln>
          </p:spPr>
        </p:sp>
        <p:sp>
          <p:nvSpPr>
            <p:cNvPr id="25" name="TextBox 25"/>
            <p:cNvSpPr txBox="1"/>
            <p:nvPr/>
          </p:nvSpPr>
          <p:spPr>
            <a:xfrm>
              <a:off x="6470904" y="2194560"/>
              <a:ext cx="54528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tenure</a:t>
              </a:r>
            </a:p>
          </p:txBody>
        </p:sp>
        <p:sp>
          <p:nvSpPr>
            <p:cNvPr id="26" name="Ellipse 26"/>
            <p:cNvSpPr/>
            <p:nvPr/>
          </p:nvSpPr>
          <p:spPr>
            <a:xfrm>
              <a:off x="7077075" y="2238375"/>
              <a:ext cx="95250" cy="95250"/>
            </a:xfrm>
            <a:prstGeom prst="ellipse">
              <a:avLst/>
            </a:prstGeom>
            <a:solidFill>
              <a:srgbClr val="2E86AB"/>
            </a:solidFill>
            <a:ln>
              <a:noFill/>
            </a:ln>
          </p:spPr>
        </p:sp>
        <p:sp>
          <p:nvSpPr>
            <p:cNvPr id="27" name="Ellipse 27"/>
            <p:cNvSpPr/>
            <p:nvPr/>
          </p:nvSpPr>
          <p:spPr>
            <a:xfrm>
              <a:off x="7362825" y="2181225"/>
              <a:ext cx="95250" cy="95250"/>
            </a:xfrm>
            <a:prstGeom prst="ellipse">
              <a:avLst/>
            </a:prstGeom>
            <a:solidFill>
              <a:srgbClr val="2E86AB"/>
            </a:solidFill>
            <a:ln>
              <a:noFill/>
            </a:ln>
          </p:spPr>
        </p:sp>
        <p:sp>
          <p:nvSpPr>
            <p:cNvPr id="28" name="Ellipse 28"/>
            <p:cNvSpPr/>
            <p:nvPr/>
          </p:nvSpPr>
          <p:spPr>
            <a:xfrm>
              <a:off x="7629525" y="2295525"/>
              <a:ext cx="95250" cy="95250"/>
            </a:xfrm>
            <a:prstGeom prst="ellipse">
              <a:avLst/>
            </a:prstGeom>
            <a:solidFill>
              <a:srgbClr val="2E86AB"/>
            </a:solidFill>
            <a:ln>
              <a:noFill/>
            </a:ln>
          </p:spPr>
        </p:sp>
        <p:sp>
          <p:nvSpPr>
            <p:cNvPr id="29" name="Ellipse 29"/>
            <p:cNvSpPr/>
            <p:nvPr/>
          </p:nvSpPr>
          <p:spPr>
            <a:xfrm>
              <a:off x="7915275" y="2219325"/>
              <a:ext cx="95250" cy="95250"/>
            </a:xfrm>
            <a:prstGeom prst="ellipse">
              <a:avLst/>
            </a:prstGeom>
            <a:solidFill>
              <a:srgbClr val="2E86AB"/>
            </a:solidFill>
            <a:ln>
              <a:noFill/>
            </a:ln>
          </p:spPr>
        </p:sp>
        <p:sp>
          <p:nvSpPr>
            <p:cNvPr id="30" name="Ellipse 30"/>
            <p:cNvSpPr/>
            <p:nvPr/>
          </p:nvSpPr>
          <p:spPr>
            <a:xfrm>
              <a:off x="9420225" y="2200275"/>
              <a:ext cx="95250" cy="95250"/>
            </a:xfrm>
            <a:prstGeom prst="ellipse">
              <a:avLst/>
            </a:prstGeom>
            <a:solidFill>
              <a:srgbClr val="C0392B"/>
            </a:solidFill>
            <a:ln>
              <a:noFill/>
            </a:ln>
          </p:spPr>
        </p:sp>
        <p:sp>
          <p:nvSpPr>
            <p:cNvPr id="31" name="Ellipse 31"/>
            <p:cNvSpPr/>
            <p:nvPr/>
          </p:nvSpPr>
          <p:spPr>
            <a:xfrm>
              <a:off x="9705975" y="2276475"/>
              <a:ext cx="95250" cy="95250"/>
            </a:xfrm>
            <a:prstGeom prst="ellipse">
              <a:avLst/>
            </a:prstGeom>
            <a:solidFill>
              <a:srgbClr val="C0392B"/>
            </a:solidFill>
            <a:ln>
              <a:noFill/>
            </a:ln>
          </p:spPr>
        </p:sp>
        <p:sp>
          <p:nvSpPr>
            <p:cNvPr id="32" name="Ellipse 32"/>
            <p:cNvSpPr/>
            <p:nvPr/>
          </p:nvSpPr>
          <p:spPr>
            <a:xfrm>
              <a:off x="10010775" y="2181225"/>
              <a:ext cx="95250" cy="95250"/>
            </a:xfrm>
            <a:prstGeom prst="ellipse">
              <a:avLst/>
            </a:prstGeom>
            <a:solidFill>
              <a:srgbClr val="C0392B"/>
            </a:solidFill>
            <a:ln>
              <a:noFill/>
            </a:ln>
          </p:spPr>
        </p:sp>
        <p:sp>
          <p:nvSpPr>
            <p:cNvPr id="33" name="Ellipse 33"/>
            <p:cNvSpPr/>
            <p:nvPr/>
          </p:nvSpPr>
          <p:spPr>
            <a:xfrm>
              <a:off x="10315575" y="2257425"/>
              <a:ext cx="95250" cy="95250"/>
            </a:xfrm>
            <a:prstGeom prst="ellipse">
              <a:avLst/>
            </a:prstGeom>
            <a:solidFill>
              <a:srgbClr val="C0392B"/>
            </a:solidFill>
            <a:ln>
              <a:noFill/>
            </a:ln>
          </p:spPr>
        </p:sp>
        <p:sp>
          <p:nvSpPr>
            <p:cNvPr id="34" name="Ellipse 34"/>
            <p:cNvSpPr/>
            <p:nvPr/>
          </p:nvSpPr>
          <p:spPr>
            <a:xfrm>
              <a:off x="10620375" y="2200275"/>
              <a:ext cx="95250" cy="95250"/>
            </a:xfrm>
            <a:prstGeom prst="ellipse">
              <a:avLst/>
            </a:prstGeom>
            <a:solidFill>
              <a:srgbClr val="C0392B"/>
            </a:solidFill>
            <a:ln>
              <a:noFill/>
            </a:ln>
          </p:spPr>
        </p:sp>
        <p:sp>
          <p:nvSpPr>
            <p:cNvPr id="35" name="TextBox 35"/>
            <p:cNvSpPr txBox="1"/>
            <p:nvPr/>
          </p:nvSpPr>
          <p:spPr>
            <a:xfrm>
              <a:off x="6470904" y="2880360"/>
              <a:ext cx="125799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MonthlyCharges</a:t>
              </a:r>
            </a:p>
          </p:txBody>
        </p:sp>
        <p:sp>
          <p:nvSpPr>
            <p:cNvPr id="36" name="Ellipse 36"/>
            <p:cNvSpPr/>
            <p:nvPr/>
          </p:nvSpPr>
          <p:spPr>
            <a:xfrm>
              <a:off x="8201025" y="2924175"/>
              <a:ext cx="95250" cy="95250"/>
            </a:xfrm>
            <a:prstGeom prst="ellipse">
              <a:avLst/>
            </a:prstGeom>
            <a:solidFill>
              <a:srgbClr val="2E86AB"/>
            </a:solidFill>
            <a:ln>
              <a:noFill/>
            </a:ln>
          </p:spPr>
        </p:sp>
        <p:sp>
          <p:nvSpPr>
            <p:cNvPr id="37" name="Ellipse 37"/>
            <p:cNvSpPr/>
            <p:nvPr/>
          </p:nvSpPr>
          <p:spPr>
            <a:xfrm>
              <a:off x="8486775" y="3000375"/>
              <a:ext cx="95250" cy="95250"/>
            </a:xfrm>
            <a:prstGeom prst="ellipse">
              <a:avLst/>
            </a:prstGeom>
            <a:solidFill>
              <a:srgbClr val="2E86AB"/>
            </a:solidFill>
            <a:ln>
              <a:noFill/>
            </a:ln>
          </p:spPr>
        </p:sp>
        <p:sp>
          <p:nvSpPr>
            <p:cNvPr id="38" name="Ellipse 38"/>
            <p:cNvSpPr/>
            <p:nvPr/>
          </p:nvSpPr>
          <p:spPr>
            <a:xfrm>
              <a:off x="8734425" y="2886075"/>
              <a:ext cx="95250" cy="95250"/>
            </a:xfrm>
            <a:prstGeom prst="ellipse">
              <a:avLst/>
            </a:prstGeom>
            <a:solidFill>
              <a:srgbClr val="2E86AB"/>
            </a:solidFill>
            <a:ln>
              <a:noFill/>
            </a:ln>
          </p:spPr>
        </p:sp>
        <p:sp>
          <p:nvSpPr>
            <p:cNvPr id="39" name="Ellipse 39"/>
            <p:cNvSpPr/>
            <p:nvPr/>
          </p:nvSpPr>
          <p:spPr>
            <a:xfrm>
              <a:off x="9210675" y="2962275"/>
              <a:ext cx="95250" cy="95250"/>
            </a:xfrm>
            <a:prstGeom prst="ellipse">
              <a:avLst/>
            </a:prstGeom>
            <a:solidFill>
              <a:srgbClr val="C0392B"/>
            </a:solidFill>
            <a:ln>
              <a:noFill/>
            </a:ln>
          </p:spPr>
        </p:sp>
        <p:sp>
          <p:nvSpPr>
            <p:cNvPr id="40" name="Ellipse 40"/>
            <p:cNvSpPr/>
            <p:nvPr/>
          </p:nvSpPr>
          <p:spPr>
            <a:xfrm>
              <a:off x="9515475" y="2905125"/>
              <a:ext cx="95250" cy="95250"/>
            </a:xfrm>
            <a:prstGeom prst="ellipse">
              <a:avLst/>
            </a:prstGeom>
            <a:solidFill>
              <a:srgbClr val="C0392B"/>
            </a:solidFill>
            <a:ln>
              <a:noFill/>
            </a:ln>
          </p:spPr>
        </p:sp>
        <p:sp>
          <p:nvSpPr>
            <p:cNvPr id="41" name="Ellipse 41"/>
            <p:cNvSpPr/>
            <p:nvPr/>
          </p:nvSpPr>
          <p:spPr>
            <a:xfrm>
              <a:off x="9820275" y="2981325"/>
              <a:ext cx="95250" cy="95250"/>
            </a:xfrm>
            <a:prstGeom prst="ellipse">
              <a:avLst/>
            </a:prstGeom>
            <a:solidFill>
              <a:srgbClr val="C0392B"/>
            </a:solidFill>
            <a:ln>
              <a:noFill/>
            </a:ln>
          </p:spPr>
        </p:sp>
        <p:sp>
          <p:nvSpPr>
            <p:cNvPr id="42" name="Ellipse 42"/>
            <p:cNvSpPr/>
            <p:nvPr/>
          </p:nvSpPr>
          <p:spPr>
            <a:xfrm>
              <a:off x="10106025" y="2886075"/>
              <a:ext cx="95250" cy="95250"/>
            </a:xfrm>
            <a:prstGeom prst="ellipse">
              <a:avLst/>
            </a:prstGeom>
            <a:solidFill>
              <a:srgbClr val="C0392B"/>
            </a:solidFill>
            <a:ln>
              <a:noFill/>
            </a:ln>
          </p:spPr>
        </p:sp>
        <p:sp>
          <p:nvSpPr>
            <p:cNvPr id="43" name="TextBox 43"/>
            <p:cNvSpPr txBox="1"/>
            <p:nvPr/>
          </p:nvSpPr>
          <p:spPr>
            <a:xfrm>
              <a:off x="6470904" y="3566160"/>
              <a:ext cx="104767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TotalCharges</a:t>
              </a:r>
            </a:p>
          </p:txBody>
        </p:sp>
        <p:sp>
          <p:nvSpPr>
            <p:cNvPr id="44" name="Ellipse 44"/>
            <p:cNvSpPr/>
            <p:nvPr/>
          </p:nvSpPr>
          <p:spPr>
            <a:xfrm>
              <a:off x="8448675" y="3609975"/>
              <a:ext cx="95250" cy="95250"/>
            </a:xfrm>
            <a:prstGeom prst="ellipse">
              <a:avLst/>
            </a:prstGeom>
            <a:solidFill>
              <a:srgbClr val="2E86AB"/>
            </a:solidFill>
            <a:ln>
              <a:noFill/>
            </a:ln>
          </p:spPr>
        </p:sp>
        <p:sp>
          <p:nvSpPr>
            <p:cNvPr id="45" name="Ellipse 45"/>
            <p:cNvSpPr/>
            <p:nvPr/>
          </p:nvSpPr>
          <p:spPr>
            <a:xfrm>
              <a:off x="8753475" y="3686175"/>
              <a:ext cx="95250" cy="95250"/>
            </a:xfrm>
            <a:prstGeom prst="ellipse">
              <a:avLst/>
            </a:prstGeom>
            <a:solidFill>
              <a:srgbClr val="C0392B"/>
            </a:solidFill>
            <a:ln>
              <a:noFill/>
            </a:ln>
          </p:spPr>
        </p:sp>
        <p:sp>
          <p:nvSpPr>
            <p:cNvPr id="46" name="Ellipse 46"/>
            <p:cNvSpPr/>
            <p:nvPr/>
          </p:nvSpPr>
          <p:spPr>
            <a:xfrm>
              <a:off x="9058275" y="3590925"/>
              <a:ext cx="95250" cy="95250"/>
            </a:xfrm>
            <a:prstGeom prst="ellipse">
              <a:avLst/>
            </a:prstGeom>
            <a:solidFill>
              <a:srgbClr val="2E86AB"/>
            </a:solidFill>
            <a:ln>
              <a:noFill/>
            </a:ln>
          </p:spPr>
        </p:sp>
        <p:sp>
          <p:nvSpPr>
            <p:cNvPr id="47" name="Ellipse 47"/>
            <p:cNvSpPr/>
            <p:nvPr/>
          </p:nvSpPr>
          <p:spPr>
            <a:xfrm>
              <a:off x="9363075" y="3667125"/>
              <a:ext cx="95250" cy="95250"/>
            </a:xfrm>
            <a:prstGeom prst="ellipse">
              <a:avLst/>
            </a:prstGeom>
            <a:solidFill>
              <a:srgbClr val="C0392B"/>
            </a:solidFill>
            <a:ln>
              <a:noFill/>
            </a:ln>
          </p:spPr>
        </p:sp>
        <p:sp>
          <p:nvSpPr>
            <p:cNvPr id="48" name="Ellipse 48"/>
            <p:cNvSpPr/>
            <p:nvPr/>
          </p:nvSpPr>
          <p:spPr>
            <a:xfrm>
              <a:off x="9667875" y="3609975"/>
              <a:ext cx="95250" cy="95250"/>
            </a:xfrm>
            <a:prstGeom prst="ellipse">
              <a:avLst/>
            </a:prstGeom>
            <a:solidFill>
              <a:srgbClr val="2E86AB"/>
            </a:solidFill>
            <a:ln>
              <a:noFill/>
            </a:ln>
          </p:spPr>
        </p:sp>
        <p:sp>
          <p:nvSpPr>
            <p:cNvPr id="49" name="Line 49"/>
            <p:cNvSpPr/>
            <p:nvPr/>
          </p:nvSpPr>
          <p:spPr>
            <a:xfrm>
              <a:off x="6477000" y="4000500"/>
              <a:ext cx="4876800" cy="1"/>
            </a:xfrm>
            <a:prstGeom prst="line">
              <a:avLst/>
            </a:prstGeom>
            <a:noFill/>
            <a:ln w="14288">
              <a:solidFill>
                <a:srgbClr val="52616B"/>
              </a:solidFill>
              <a:tailEnd type="arrow" w="lg" len="lg"/>
            </a:ln>
          </p:spPr>
        </p:sp>
        <p:sp>
          <p:nvSpPr>
            <p:cNvPr id="50" name="TextBox 50"/>
            <p:cNvSpPr txBox="1"/>
            <p:nvPr/>
          </p:nvSpPr>
          <p:spPr>
            <a:xfrm>
              <a:off x="9102801" y="4077652"/>
              <a:ext cx="2256333" cy="205359"/>
            </a:xfrm>
            <a:prstGeom prst="rect">
              <a:avLst/>
            </a:prstGeom>
            <a:noFill/>
            <a:ln>
              <a:noFill/>
            </a:ln>
          </p:spPr>
          <p:txBody>
            <a:bodyPr wrap="none" lIns="0" tIns="0" rIns="0" bIns="0" anchor="t" anchorCtr="0">
              <a:spAutoFit/>
            </a:bodyPr>
            <a:lstStyle/>
            <a:p>
              <a:pPr algn="r"/>
              <a:r>
                <a:rPr lang="tr-TR" sz="1050" dirty="0">
                  <a:solidFill>
                    <a:srgbClr val="52616B"/>
                  </a:solidFill>
                  <a:latin typeface="+mn-lt"/>
                  <a:ea typeface="+mn-ea"/>
                  <a:cs typeface="+mn-cs"/>
                </a:rPr>
                <a:t>SHAP değeri → ayrılmayı artırır</a:t>
              </a:r>
            </a:p>
          </p:txBody>
        </p:sp>
        <p:sp>
          <p:nvSpPr>
            <p:cNvPr id="51" name="Ellipse 51"/>
            <p:cNvSpPr/>
            <p:nvPr/>
          </p:nvSpPr>
          <p:spPr>
            <a:xfrm>
              <a:off x="6429375" y="4371975"/>
              <a:ext cx="95250" cy="95250"/>
            </a:xfrm>
            <a:prstGeom prst="ellipse">
              <a:avLst/>
            </a:prstGeom>
            <a:solidFill>
              <a:srgbClr val="2E86AB"/>
            </a:solidFill>
            <a:ln>
              <a:noFill/>
            </a:ln>
          </p:spPr>
        </p:sp>
        <p:sp>
          <p:nvSpPr>
            <p:cNvPr id="52" name="TextBox 52"/>
            <p:cNvSpPr txBox="1"/>
            <p:nvPr/>
          </p:nvSpPr>
          <p:spPr>
            <a:xfrm>
              <a:off x="6605016" y="4353878"/>
              <a:ext cx="1353503"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düşük özellik değeri</a:t>
              </a:r>
            </a:p>
          </p:txBody>
        </p:sp>
        <p:sp>
          <p:nvSpPr>
            <p:cNvPr id="53" name="Ellipse 53"/>
            <p:cNvSpPr/>
            <p:nvPr/>
          </p:nvSpPr>
          <p:spPr>
            <a:xfrm>
              <a:off x="8524875" y="4371975"/>
              <a:ext cx="95250" cy="95250"/>
            </a:xfrm>
            <a:prstGeom prst="ellipse">
              <a:avLst/>
            </a:prstGeom>
            <a:solidFill>
              <a:srgbClr val="C0392B"/>
            </a:solidFill>
            <a:ln>
              <a:noFill/>
            </a:ln>
          </p:spPr>
        </p:sp>
        <p:sp>
          <p:nvSpPr>
            <p:cNvPr id="54" name="TextBox 54"/>
            <p:cNvSpPr txBox="1"/>
            <p:nvPr/>
          </p:nvSpPr>
          <p:spPr>
            <a:xfrm>
              <a:off x="8700516" y="4353878"/>
              <a:ext cx="1431246"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yüksek özellik değeri</a:t>
              </a:r>
            </a:p>
          </p:txBody>
        </p:sp>
      </p:grpSp>
      <p:grpSp>
        <p:nvGrpSpPr>
          <p:cNvPr id="61" name="explain-block"/>
          <p:cNvGrpSpPr/>
          <p:nvPr/>
        </p:nvGrpSpPr>
        <p:grpSpPr>
          <a:xfrm>
            <a:off x="609600" y="4781550"/>
            <a:ext cx="10972800" cy="1219200"/>
            <a:chOff x="609600" y="4781550"/>
            <a:chExt cx="10972800" cy="1219200"/>
          </a:xfrm>
        </p:grpSpPr>
        <p:sp>
          <p:nvSpPr>
            <p:cNvPr id="56" name="Rectangle 56"/>
            <p:cNvSpPr/>
            <p:nvPr/>
          </p:nvSpPr>
          <p:spPr>
            <a:xfrm>
              <a:off x="609600" y="4781550"/>
              <a:ext cx="10972800" cy="1219200"/>
            </a:xfrm>
            <a:prstGeom prst="roundRect">
              <a:avLst>
                <a:gd name="adj" fmla="val 6250"/>
              </a:avLst>
            </a:prstGeom>
            <a:solidFill>
              <a:srgbClr val="EAF4F6"/>
            </a:solidFill>
            <a:ln>
              <a:noFill/>
            </a:ln>
          </p:spPr>
        </p:sp>
        <p:sp>
          <p:nvSpPr>
            <p:cNvPr id="57" name="TextBox 57"/>
            <p:cNvSpPr txBox="1"/>
            <p:nvPr/>
          </p:nvSpPr>
          <p:spPr>
            <a:xfrm>
              <a:off x="908304" y="4937760"/>
              <a:ext cx="8823068" cy="234696"/>
            </a:xfrm>
            <a:prstGeom prst="rect">
              <a:avLst/>
            </a:prstGeom>
            <a:noFill/>
            <a:ln>
              <a:noFill/>
            </a:ln>
          </p:spPr>
          <p:txBody>
            <a:bodyPr wrap="none" lIns="0" tIns="0" rIns="0" bIns="0" anchor="t" anchorCtr="0">
              <a:spAutoFit/>
            </a:bodyPr>
            <a:lstStyle/>
            <a:p>
              <a:pPr algn="l"/>
              <a:r>
                <a:rPr lang="tr-TR" sz="1200" b="1" dirty="0">
                  <a:solidFill>
                    <a:srgbClr val="172B3A"/>
                  </a:solidFill>
                  <a:latin typeface="+mn-lt"/>
                  <a:ea typeface="+mn-ea"/>
                  <a:cs typeface="+mn-cs"/>
                </a:rPr>
                <a:t>Bu çıktı ne anlatıyor?</a:t>
              </a:r>
              <a:r>
                <a:rPr lang="tr-TR" sz="1200" dirty="0">
                  <a:solidFill>
                    <a:srgbClr val="172B3A"/>
                  </a:solidFill>
                  <a:latin typeface="+mn-lt"/>
                  <a:ea typeface="+mn-ea"/>
                  <a:cs typeface="+mn-cs"/>
                </a:rPr>
                <a:t xml:space="preserve"> tenure satırındaki mavi (kısa süre) noktaların sağa, kırmızı (uzun süre) noktaların</a:t>
              </a:r>
            </a:p>
          </p:txBody>
        </p:sp>
        <p:sp>
          <p:nvSpPr>
            <p:cNvPr id="58" name="TextBox 58"/>
            <p:cNvSpPr txBox="1"/>
            <p:nvPr/>
          </p:nvSpPr>
          <p:spPr>
            <a:xfrm>
              <a:off x="908304" y="5147310"/>
              <a:ext cx="900431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sola yığılması, kısa üyeliğin ayrılma olasılığını artırdığını görsel olarak doğrular. Yaygın hata: SHAP değerini</a:t>
              </a:r>
            </a:p>
          </p:txBody>
        </p:sp>
        <p:sp>
          <p:nvSpPr>
            <p:cNvPr id="59" name="TextBox 59"/>
            <p:cNvSpPr txBox="1"/>
            <p:nvPr/>
          </p:nvSpPr>
          <p:spPr>
            <a:xfrm>
              <a:off x="908304" y="5356860"/>
              <a:ext cx="623163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doğrudan yüzde olasılık farkı sanmak — değer modelin çıktı ölçeğine bağlıdır.</a:t>
              </a:r>
            </a:p>
          </p:txBody>
        </p:sp>
        <p:sp>
          <p:nvSpPr>
            <p:cNvPr id="60" name="TextBox 60"/>
            <p:cNvSpPr txBox="1"/>
            <p:nvPr/>
          </p:nvSpPr>
          <p:spPr>
            <a:xfrm>
              <a:off x="908304" y="5604510"/>
              <a:ext cx="8910378"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Global SHAP politika/model denetimi içindir; tek müşteri görüşmesinde yerel açıklama ayrıca incelenmelidir.</a:t>
              </a:r>
            </a:p>
          </p:txBody>
        </p:sp>
      </p:grpSp>
      <p:sp>
        <p:nvSpPr>
          <p:cNvPr id="62" name="TextBox 62"/>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10 / 25</a:t>
            </a:r>
          </a:p>
        </p:txBody>
      </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4108712" cy="557403"/>
            <a:chOff x="595122" y="282892"/>
            <a:chExt cx="4108712" cy="557403"/>
          </a:xfrm>
        </p:grpSpPr>
        <p:sp>
          <p:nvSpPr>
            <p:cNvPr id="4" name="TextBox 4"/>
            <p:cNvSpPr txBox="1"/>
            <p:nvPr/>
          </p:nvSpPr>
          <p:spPr>
            <a:xfrm>
              <a:off x="595122" y="282892"/>
              <a:ext cx="4108712"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Yerel açıklanabilirlik</a:t>
              </a:r>
            </a:p>
          </p:txBody>
        </p:sp>
      </p:grpSp>
      <p:grpSp>
        <p:nvGrpSpPr>
          <p:cNvPr id="9" name="tip-note"/>
          <p:cNvGrpSpPr/>
          <p:nvPr/>
        </p:nvGrpSpPr>
        <p:grpSpPr>
          <a:xfrm>
            <a:off x="609600" y="1123950"/>
            <a:ext cx="10972800" cy="590550"/>
            <a:chOff x="609600" y="1123950"/>
            <a:chExt cx="10972800" cy="590550"/>
          </a:xfrm>
        </p:grpSpPr>
        <p:sp>
          <p:nvSpPr>
            <p:cNvPr id="6" name="Rectangle 6"/>
            <p:cNvSpPr/>
            <p:nvPr/>
          </p:nvSpPr>
          <p:spPr>
            <a:xfrm>
              <a:off x="609600" y="1123950"/>
              <a:ext cx="10972800" cy="590550"/>
            </a:xfrm>
            <a:prstGeom prst="roundRect">
              <a:avLst>
                <a:gd name="adj" fmla="val 12903"/>
              </a:avLst>
            </a:prstGeom>
            <a:solidFill>
              <a:srgbClr val="EAF4F6"/>
            </a:solidFill>
            <a:ln>
              <a:noFill/>
            </a:ln>
          </p:spPr>
        </p:sp>
        <p:sp>
          <p:nvSpPr>
            <p:cNvPr id="7" name="TextBox 7"/>
            <p:cNvSpPr txBox="1"/>
            <p:nvPr/>
          </p:nvSpPr>
          <p:spPr>
            <a:xfrm>
              <a:off x="908304" y="1242060"/>
              <a:ext cx="706935"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 İpucu</a:t>
              </a:r>
            </a:p>
          </p:txBody>
        </p:sp>
        <p:sp>
          <p:nvSpPr>
            <p:cNvPr id="8" name="TextBox 8"/>
            <p:cNvSpPr txBox="1"/>
            <p:nvPr/>
          </p:nvSpPr>
          <p:spPr>
            <a:xfrm>
              <a:off x="908304" y="1451610"/>
              <a:ext cx="8999625"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Yerel açıklama, "model bu müşteri için neden böyle karar verdi?" sorusuna odaklanır; genel davranışı açıklamaz.</a:t>
              </a:r>
            </a:p>
          </p:txBody>
        </p:sp>
      </p:grpSp>
      <p:grpSp>
        <p:nvGrpSpPr>
          <p:cNvPr id="12" name="definition-block"/>
          <p:cNvGrpSpPr/>
          <p:nvPr/>
        </p:nvGrpSpPr>
        <p:grpSpPr>
          <a:xfrm>
            <a:off x="601599" y="1944529"/>
            <a:ext cx="10845691" cy="555689"/>
            <a:chOff x="601599" y="1944529"/>
            <a:chExt cx="10845691" cy="555689"/>
          </a:xfrm>
        </p:grpSpPr>
        <p:sp>
          <p:nvSpPr>
            <p:cNvPr id="10" name="TextBox 10"/>
            <p:cNvSpPr txBox="1"/>
            <p:nvPr/>
          </p:nvSpPr>
          <p:spPr>
            <a:xfrm>
              <a:off x="601599" y="1944529"/>
              <a:ext cx="10845691"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Yerel açıklanabilirlik, tek bir gözlemin tahminini inceler. Bir müşterinin ayrılma olasılığı %72 ise, hangi</a:t>
              </a:r>
            </a:p>
          </p:txBody>
        </p:sp>
        <p:sp>
          <p:nvSpPr>
            <p:cNvPr id="11" name="TextBox 11"/>
            <p:cNvSpPr txBox="1"/>
            <p:nvPr/>
          </p:nvSpPr>
          <p:spPr>
            <a:xfrm>
              <a:off x="601599" y="2192179"/>
              <a:ext cx="6822389"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değişkenlerin bu olasılığı yukarı veya aşağı taşıdığı gösterilir.</a:t>
              </a:r>
            </a:p>
          </p:txBody>
        </p:sp>
      </p:grpSp>
      <p:grpSp>
        <p:nvGrpSpPr>
          <p:cNvPr id="25" name="probability-visual"/>
          <p:cNvGrpSpPr/>
          <p:nvPr/>
        </p:nvGrpSpPr>
        <p:grpSpPr>
          <a:xfrm>
            <a:off x="609600" y="2609850"/>
            <a:ext cx="10972800" cy="1730311"/>
            <a:chOff x="609600" y="2609850"/>
            <a:chExt cx="10972800" cy="1730311"/>
          </a:xfrm>
        </p:grpSpPr>
        <p:sp>
          <p:nvSpPr>
            <p:cNvPr id="13" name="Rectangle 13"/>
            <p:cNvSpPr/>
            <p:nvPr/>
          </p:nvSpPr>
          <p:spPr>
            <a:xfrm>
              <a:off x="609600" y="2609850"/>
              <a:ext cx="10972800" cy="1676400"/>
            </a:xfrm>
            <a:prstGeom prst="roundRect">
              <a:avLst>
                <a:gd name="adj" fmla="val 5682"/>
              </a:avLst>
            </a:prstGeom>
            <a:solidFill>
              <a:srgbClr val="FFFFFF"/>
            </a:solidFill>
            <a:ln w="14288">
              <a:solidFill>
                <a:srgbClr val="B8CBD3"/>
              </a:solidFill>
            </a:ln>
          </p:spPr>
        </p:sp>
        <p:sp>
          <p:nvSpPr>
            <p:cNvPr id="14" name="TextBox 14"/>
            <p:cNvSpPr txBox="1"/>
            <p:nvPr/>
          </p:nvSpPr>
          <p:spPr>
            <a:xfrm>
              <a:off x="907542" y="2768918"/>
              <a:ext cx="3322156"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Tek müşteri: ayrılma olasılığı %72</a:t>
              </a:r>
            </a:p>
          </p:txBody>
        </p:sp>
        <p:sp>
          <p:nvSpPr>
            <p:cNvPr id="15" name="Rectangle 15"/>
            <p:cNvSpPr/>
            <p:nvPr/>
          </p:nvSpPr>
          <p:spPr>
            <a:xfrm>
              <a:off x="914400" y="3429000"/>
              <a:ext cx="10363200" cy="266700"/>
            </a:xfrm>
            <a:prstGeom prst="roundRect">
              <a:avLst>
                <a:gd name="adj" fmla="val 21429"/>
              </a:avLst>
            </a:prstGeom>
            <a:solidFill>
              <a:srgbClr val="EAF4F6"/>
            </a:solidFill>
            <a:ln>
              <a:noFill/>
            </a:ln>
          </p:spPr>
        </p:sp>
        <p:sp>
          <p:nvSpPr>
            <p:cNvPr id="16" name="Rectangle 16"/>
            <p:cNvSpPr/>
            <p:nvPr/>
          </p:nvSpPr>
          <p:spPr>
            <a:xfrm>
              <a:off x="914400" y="3429000"/>
              <a:ext cx="7458075" cy="266700"/>
            </a:xfrm>
            <a:prstGeom prst="roundRect">
              <a:avLst>
                <a:gd name="adj" fmla="val 21429"/>
              </a:avLst>
            </a:prstGeom>
            <a:solidFill>
              <a:srgbClr val="00A6A6"/>
            </a:solidFill>
            <a:ln>
              <a:noFill/>
            </a:ln>
          </p:spPr>
        </p:sp>
        <p:sp>
          <p:nvSpPr>
            <p:cNvPr id="17" name="Line 17"/>
            <p:cNvSpPr/>
            <p:nvPr/>
          </p:nvSpPr>
          <p:spPr>
            <a:xfrm>
              <a:off x="8372475" y="3333750"/>
              <a:ext cx="9525" cy="457200"/>
            </a:xfrm>
            <a:custGeom>
              <a:avLst/>
              <a:gdLst/>
              <a:ahLst/>
              <a:cxnLst/>
              <a:rect l="l" t="t" r="r" b="b"/>
              <a:pathLst>
                <a:path w="9525" h="457200">
                  <a:moveTo>
                    <a:pt x="0" y="0"/>
                  </a:moveTo>
                  <a:lnTo>
                    <a:pt x="0" y="457200"/>
                  </a:lnTo>
                </a:path>
              </a:pathLst>
            </a:custGeom>
            <a:noFill/>
            <a:ln w="23812">
              <a:solidFill>
                <a:srgbClr val="12355B"/>
              </a:solidFill>
            </a:ln>
          </p:spPr>
        </p:sp>
        <p:sp>
          <p:nvSpPr>
            <p:cNvPr id="18" name="TextBox 18"/>
            <p:cNvSpPr txBox="1"/>
            <p:nvPr/>
          </p:nvSpPr>
          <p:spPr>
            <a:xfrm>
              <a:off x="8209479" y="3128010"/>
              <a:ext cx="325991" cy="234696"/>
            </a:xfrm>
            <a:prstGeom prst="rect">
              <a:avLst/>
            </a:prstGeom>
            <a:noFill/>
            <a:ln>
              <a:noFill/>
            </a:ln>
          </p:spPr>
          <p:txBody>
            <a:bodyPr wrap="none" lIns="0" tIns="0" rIns="0" bIns="0" anchor="t" anchorCtr="0">
              <a:spAutoFit/>
            </a:bodyPr>
            <a:lstStyle/>
            <a:p>
              <a:pPr algn="ctr"/>
              <a:r>
                <a:rPr lang="tr-TR" sz="1200" b="1" dirty="0">
                  <a:solidFill>
                    <a:srgbClr val="12355B"/>
                  </a:solidFill>
                  <a:latin typeface="+mn-lt"/>
                  <a:ea typeface="+mn-ea"/>
                  <a:cs typeface="+mn-cs"/>
                </a:rPr>
                <a:t>%72</a:t>
              </a:r>
            </a:p>
          </p:txBody>
        </p:sp>
        <p:sp>
          <p:nvSpPr>
            <p:cNvPr id="19" name="Line 19"/>
            <p:cNvSpPr/>
            <p:nvPr/>
          </p:nvSpPr>
          <p:spPr>
            <a:xfrm flipV="1">
              <a:off x="2857500" y="3067050"/>
              <a:ext cx="1" cy="285750"/>
            </a:xfrm>
            <a:prstGeom prst="line">
              <a:avLst/>
            </a:prstGeom>
            <a:noFill/>
            <a:ln w="19050">
              <a:solidFill>
                <a:srgbClr val="C0392B"/>
              </a:solidFill>
              <a:tailEnd type="arrow" w="lg" len="lg"/>
            </a:ln>
          </p:spPr>
        </p:sp>
        <p:sp>
          <p:nvSpPr>
            <p:cNvPr id="20" name="TextBox 20"/>
            <p:cNvSpPr txBox="1"/>
            <p:nvPr/>
          </p:nvSpPr>
          <p:spPr>
            <a:xfrm>
              <a:off x="2471166" y="2877502"/>
              <a:ext cx="1733483" cy="205359"/>
            </a:xfrm>
            <a:prstGeom prst="rect">
              <a:avLst/>
            </a:prstGeom>
            <a:noFill/>
            <a:ln>
              <a:noFill/>
            </a:ln>
          </p:spPr>
          <p:txBody>
            <a:bodyPr wrap="none" lIns="0" tIns="0" rIns="0" bIns="0" anchor="t" anchorCtr="0">
              <a:spAutoFit/>
            </a:bodyPr>
            <a:lstStyle/>
            <a:p>
              <a:pPr algn="l"/>
              <a:r>
                <a:rPr lang="tr-TR" sz="1050" dirty="0">
                  <a:solidFill>
                    <a:srgbClr val="C0392B"/>
                  </a:solidFill>
                  <a:latin typeface="+mn-lt"/>
                  <a:ea typeface="+mn-ea"/>
                  <a:cs typeface="+mn-cs"/>
                </a:rPr>
                <a:t>Sözleşme süresi kısa (+)</a:t>
              </a:r>
            </a:p>
          </p:txBody>
        </p:sp>
        <p:sp>
          <p:nvSpPr>
            <p:cNvPr id="21" name="Line 21"/>
            <p:cNvSpPr/>
            <p:nvPr/>
          </p:nvSpPr>
          <p:spPr>
            <a:xfrm flipV="1">
              <a:off x="5905500" y="3067050"/>
              <a:ext cx="1" cy="285750"/>
            </a:xfrm>
            <a:prstGeom prst="line">
              <a:avLst/>
            </a:prstGeom>
            <a:noFill/>
            <a:ln w="19050">
              <a:solidFill>
                <a:srgbClr val="C0392B"/>
              </a:solidFill>
              <a:tailEnd type="arrow" w="lg" len="lg"/>
            </a:ln>
          </p:spPr>
        </p:sp>
        <p:sp>
          <p:nvSpPr>
            <p:cNvPr id="22" name="TextBox 22"/>
            <p:cNvSpPr txBox="1"/>
            <p:nvPr/>
          </p:nvSpPr>
          <p:spPr>
            <a:xfrm>
              <a:off x="5519166" y="2877502"/>
              <a:ext cx="1585215" cy="205359"/>
            </a:xfrm>
            <a:prstGeom prst="rect">
              <a:avLst/>
            </a:prstGeom>
            <a:noFill/>
            <a:ln>
              <a:noFill/>
            </a:ln>
          </p:spPr>
          <p:txBody>
            <a:bodyPr wrap="none" lIns="0" tIns="0" rIns="0" bIns="0" anchor="t" anchorCtr="0">
              <a:spAutoFit/>
            </a:bodyPr>
            <a:lstStyle/>
            <a:p>
              <a:pPr algn="l"/>
              <a:r>
                <a:rPr lang="tr-TR" sz="1050" dirty="0">
                  <a:solidFill>
                    <a:srgbClr val="C0392B"/>
                  </a:solidFill>
                  <a:latin typeface="+mn-lt"/>
                  <a:ea typeface="+mn-ea"/>
                  <a:cs typeface="+mn-cs"/>
                </a:rPr>
                <a:t>Aylık ücret yüksek (+)</a:t>
              </a:r>
            </a:p>
          </p:txBody>
        </p:sp>
        <p:sp>
          <p:nvSpPr>
            <p:cNvPr id="23" name="Line 23"/>
            <p:cNvSpPr/>
            <p:nvPr/>
          </p:nvSpPr>
          <p:spPr>
            <a:xfrm>
              <a:off x="9525000" y="3790950"/>
              <a:ext cx="1" cy="285750"/>
            </a:xfrm>
            <a:prstGeom prst="line">
              <a:avLst/>
            </a:prstGeom>
            <a:noFill/>
            <a:ln w="19050">
              <a:solidFill>
                <a:srgbClr val="2E86AB"/>
              </a:solidFill>
              <a:tailEnd type="arrow" w="lg" len="lg"/>
            </a:ln>
          </p:spPr>
        </p:sp>
        <p:sp>
          <p:nvSpPr>
            <p:cNvPr id="24" name="TextBox 24"/>
            <p:cNvSpPr txBox="1"/>
            <p:nvPr/>
          </p:nvSpPr>
          <p:spPr>
            <a:xfrm>
              <a:off x="9005316" y="4134802"/>
              <a:ext cx="1613585" cy="205359"/>
            </a:xfrm>
            <a:prstGeom prst="rect">
              <a:avLst/>
            </a:prstGeom>
            <a:noFill/>
            <a:ln>
              <a:noFill/>
            </a:ln>
          </p:spPr>
          <p:txBody>
            <a:bodyPr wrap="none" lIns="0" tIns="0" rIns="0" bIns="0" anchor="t" anchorCtr="0">
              <a:spAutoFit/>
            </a:bodyPr>
            <a:lstStyle/>
            <a:p>
              <a:pPr algn="l"/>
              <a:r>
                <a:rPr lang="tr-TR" sz="1050" dirty="0">
                  <a:solidFill>
                    <a:srgbClr val="2E86AB"/>
                  </a:solidFill>
                  <a:latin typeface="+mn-lt"/>
                  <a:ea typeface="+mn-ea"/>
                  <a:cs typeface="+mn-cs"/>
                </a:rPr>
                <a:t>Uzun sözleşme türü (−)</a:t>
              </a:r>
            </a:p>
          </p:txBody>
        </p:sp>
      </p:grpSp>
      <p:grpSp>
        <p:nvGrpSpPr>
          <p:cNvPr id="30" name="analogy-note"/>
          <p:cNvGrpSpPr/>
          <p:nvPr/>
        </p:nvGrpSpPr>
        <p:grpSpPr>
          <a:xfrm>
            <a:off x="609600" y="4476750"/>
            <a:ext cx="10972800" cy="876300"/>
            <a:chOff x="609600" y="4476750"/>
            <a:chExt cx="10972800" cy="876300"/>
          </a:xfrm>
        </p:grpSpPr>
        <p:sp>
          <p:nvSpPr>
            <p:cNvPr id="26" name="Rectangle 26"/>
            <p:cNvSpPr/>
            <p:nvPr/>
          </p:nvSpPr>
          <p:spPr>
            <a:xfrm>
              <a:off x="609600" y="4476750"/>
              <a:ext cx="10972800" cy="876300"/>
            </a:xfrm>
            <a:prstGeom prst="roundRect">
              <a:avLst>
                <a:gd name="adj" fmla="val 8696"/>
              </a:avLst>
            </a:prstGeom>
            <a:solidFill>
              <a:srgbClr val="EAF4F6"/>
            </a:solidFill>
            <a:ln>
              <a:noFill/>
            </a:ln>
          </p:spPr>
        </p:sp>
        <p:sp>
          <p:nvSpPr>
            <p:cNvPr id="27" name="TextBox 27"/>
            <p:cNvSpPr txBox="1"/>
            <p:nvPr/>
          </p:nvSpPr>
          <p:spPr>
            <a:xfrm>
              <a:off x="908304" y="4632960"/>
              <a:ext cx="850030" cy="234696"/>
            </a:xfrm>
            <a:prstGeom prst="rect">
              <a:avLst/>
            </a:prstGeom>
            <a:noFill/>
            <a:ln>
              <a:noFill/>
            </a:ln>
          </p:spPr>
          <p:txBody>
            <a:bodyPr wrap="none" lIns="0" tIns="0" rIns="0" bIns="0" anchor="t" anchorCtr="0">
              <a:spAutoFit/>
            </a:bodyPr>
            <a:lstStyle/>
            <a:p>
              <a:pPr algn="l"/>
              <a:r>
                <a:rPr lang="tr-TR" sz="1200" i="1" dirty="0">
                  <a:solidFill>
                    <a:srgbClr val="52616B"/>
                  </a:solidFill>
                  <a:latin typeface="+mn-lt"/>
                  <a:ea typeface="+mn-ea"/>
                  <a:cs typeface="+mn-cs"/>
                </a:rPr>
                <a:t>Benzetme:</a:t>
              </a:r>
            </a:p>
          </p:txBody>
        </p:sp>
        <p:sp>
          <p:nvSpPr>
            <p:cNvPr id="28" name="TextBox 28"/>
            <p:cNvSpPr txBox="1"/>
            <p:nvPr/>
          </p:nvSpPr>
          <p:spPr>
            <a:xfrm>
              <a:off x="908304" y="4842510"/>
              <a:ext cx="858743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Bir öğretmenin öğrenciye "notun düşük" demesi yerine "özellikle döngüler ve diziler konularında hata yaptın"</a:t>
              </a:r>
            </a:p>
          </p:txBody>
        </p:sp>
        <p:sp>
          <p:nvSpPr>
            <p:cNvPr id="29" name="TextBox 29"/>
            <p:cNvSpPr txBox="1"/>
            <p:nvPr/>
          </p:nvSpPr>
          <p:spPr>
            <a:xfrm>
              <a:off x="908304" y="5052060"/>
              <a:ext cx="6366079"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demesine benzer. Genel sınıf ortalaması öğrencinin kendi eksiklerini açıklamaz.</a:t>
              </a:r>
            </a:p>
          </p:txBody>
        </p:sp>
      </p:grpSp>
      <p:sp>
        <p:nvSpPr>
          <p:cNvPr id="31" name="TextBox 31"/>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11 / 25</a:t>
            </a:r>
          </a:p>
        </p:txBody>
      </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4551217" cy="557403"/>
            <a:chOff x="595122" y="282892"/>
            <a:chExt cx="4551217" cy="557403"/>
          </a:xfrm>
        </p:grpSpPr>
        <p:sp>
          <p:nvSpPr>
            <p:cNvPr id="4" name="TextBox 4"/>
            <p:cNvSpPr txBox="1"/>
            <p:nvPr/>
          </p:nvSpPr>
          <p:spPr>
            <a:xfrm>
              <a:off x="595122" y="282892"/>
              <a:ext cx="4551217"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SHAP ile yerel açıklama</a:t>
              </a:r>
            </a:p>
          </p:txBody>
        </p:sp>
      </p:grpSp>
      <p:grpSp>
        <p:nvGrpSpPr>
          <p:cNvPr id="7" name="task-line"/>
          <p:cNvGrpSpPr/>
          <p:nvPr/>
        </p:nvGrpSpPr>
        <p:grpSpPr>
          <a:xfrm>
            <a:off x="603504" y="1165860"/>
            <a:ext cx="8259144" cy="234696"/>
            <a:chOff x="603504" y="1165860"/>
            <a:chExt cx="8259144" cy="234696"/>
          </a:xfrm>
        </p:grpSpPr>
        <p:sp>
          <p:nvSpPr>
            <p:cNvPr id="6" name="TextBox 6"/>
            <p:cNvSpPr txBox="1"/>
            <p:nvPr/>
          </p:nvSpPr>
          <p:spPr>
            <a:xfrm>
              <a:off x="603504" y="1165860"/>
              <a:ext cx="8259144"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Amaç: Tek bir müşterinin ayrılma tahminini SHAP katkılarıyla yerel düzeyde açıklamak (kuvvet grafiği).</a:t>
              </a:r>
            </a:p>
          </p:txBody>
        </p:sp>
      </p:grpSp>
      <p:grpSp>
        <p:nvGrpSpPr>
          <p:cNvPr id="18" name="code-panel"/>
          <p:cNvGrpSpPr/>
          <p:nvPr/>
        </p:nvGrpSpPr>
        <p:grpSpPr>
          <a:xfrm>
            <a:off x="609600" y="1466850"/>
            <a:ext cx="5334000" cy="2476500"/>
            <a:chOff x="609600" y="1466850"/>
            <a:chExt cx="5334000" cy="2476500"/>
          </a:xfrm>
        </p:grpSpPr>
        <p:sp>
          <p:nvSpPr>
            <p:cNvPr id="8" name="Rectangle 8"/>
            <p:cNvSpPr/>
            <p:nvPr/>
          </p:nvSpPr>
          <p:spPr>
            <a:xfrm>
              <a:off x="609600" y="1466850"/>
              <a:ext cx="5334000" cy="2476500"/>
            </a:xfrm>
            <a:prstGeom prst="roundRect">
              <a:avLst>
                <a:gd name="adj" fmla="val 3077"/>
              </a:avLst>
            </a:prstGeom>
            <a:solidFill>
              <a:srgbClr val="12355B"/>
            </a:solidFill>
            <a:ln>
              <a:noFill/>
            </a:ln>
          </p:spPr>
        </p:sp>
        <p:sp>
          <p:nvSpPr>
            <p:cNvPr id="9" name="TextBox 9"/>
            <p:cNvSpPr txBox="1"/>
            <p:nvPr/>
          </p:nvSpPr>
          <p:spPr>
            <a:xfrm>
              <a:off x="832485" y="1631156"/>
              <a:ext cx="2920409" cy="220028"/>
            </a:xfrm>
            <a:prstGeom prst="rect">
              <a:avLst/>
            </a:prstGeom>
            <a:noFill/>
            <a:ln>
              <a:noFill/>
            </a:ln>
          </p:spPr>
          <p:txBody>
            <a:bodyPr wrap="none" lIns="0" tIns="0" rIns="0" bIns="0" anchor="t" anchorCtr="0">
              <a:spAutoFit/>
            </a:bodyPr>
            <a:lstStyle/>
            <a:p>
              <a:pPr algn="l"/>
              <a:r>
                <a:rPr lang="tr-TR" sz="1120" dirty="0">
                  <a:solidFill>
                    <a:srgbClr val="00A6A6"/>
                  </a:solidFill>
                  <a:latin typeface="Consolas"/>
                  <a:ea typeface="Consolas"/>
                  <a:cs typeface="Consolas"/>
                </a:rPr>
                <a:t># File: ch13_shap_yerel_aciklama.py</a:t>
              </a:r>
            </a:p>
          </p:txBody>
        </p:sp>
        <p:sp>
          <p:nvSpPr>
            <p:cNvPr id="10" name="TextBox 10"/>
            <p:cNvSpPr txBox="1"/>
            <p:nvPr/>
          </p:nvSpPr>
          <p:spPr>
            <a:xfrm>
              <a:off x="832485" y="1897856"/>
              <a:ext cx="2175132" cy="220028"/>
            </a:xfrm>
            <a:prstGeom prst="rect">
              <a:avLst/>
            </a:prstGeom>
            <a:noFill/>
            <a:ln>
              <a:noFill/>
            </a:ln>
          </p:spPr>
          <p:txBody>
            <a:bodyPr wrap="none" lIns="0" tIns="0" rIns="0" bIns="0" anchor="t" anchorCtr="0">
              <a:spAutoFit/>
            </a:bodyPr>
            <a:lstStyle/>
            <a:p>
              <a:pPr algn="l"/>
              <a:r>
                <a:rPr lang="tr-TR" sz="1120" dirty="0">
                  <a:solidFill>
                    <a:srgbClr val="FFFFFF"/>
                  </a:solidFill>
                  <a:latin typeface="Consolas"/>
                  <a:ea typeface="Consolas"/>
                  <a:cs typeface="Consolas"/>
                </a:rPr>
                <a:t>musteri = test_X.iloc[[0]]</a:t>
              </a:r>
            </a:p>
          </p:txBody>
        </p:sp>
        <p:sp>
          <p:nvSpPr>
            <p:cNvPr id="11" name="TextBox 11"/>
            <p:cNvSpPr txBox="1"/>
            <p:nvPr/>
          </p:nvSpPr>
          <p:spPr>
            <a:xfrm>
              <a:off x="832485" y="2126456"/>
              <a:ext cx="2830911" cy="220028"/>
            </a:xfrm>
            <a:prstGeom prst="rect">
              <a:avLst/>
            </a:prstGeom>
            <a:noFill/>
            <a:ln>
              <a:noFill/>
            </a:ln>
          </p:spPr>
          <p:txBody>
            <a:bodyPr wrap="none" lIns="0" tIns="0" rIns="0" bIns="0" anchor="t" anchorCtr="0">
              <a:spAutoFit/>
            </a:bodyPr>
            <a:lstStyle/>
            <a:p>
              <a:pPr algn="l"/>
              <a:r>
                <a:rPr lang="tr-TR" sz="1120" dirty="0">
                  <a:solidFill>
                    <a:srgbClr val="FFFFFF"/>
                  </a:solidFill>
                  <a:latin typeface="Consolas"/>
                  <a:ea typeface="Consolas"/>
                  <a:cs typeface="Consolas"/>
                </a:rPr>
                <a:t>katkilar = shap_degerleri[0, :, 1]</a:t>
              </a:r>
            </a:p>
          </p:txBody>
        </p:sp>
        <p:sp>
          <p:nvSpPr>
            <p:cNvPr id="12" name="TextBox 12"/>
            <p:cNvSpPr txBox="1"/>
            <p:nvPr/>
          </p:nvSpPr>
          <p:spPr>
            <a:xfrm>
              <a:off x="832485" y="2355056"/>
              <a:ext cx="3494319" cy="220028"/>
            </a:xfrm>
            <a:prstGeom prst="rect">
              <a:avLst/>
            </a:prstGeom>
            <a:noFill/>
            <a:ln>
              <a:noFill/>
            </a:ln>
          </p:spPr>
          <p:txBody>
            <a:bodyPr wrap="none" lIns="0" tIns="0" rIns="0" bIns="0" anchor="t" anchorCtr="0">
              <a:spAutoFit/>
            </a:bodyPr>
            <a:lstStyle/>
            <a:p>
              <a:pPr algn="l"/>
              <a:r>
                <a:rPr lang="tr-TR" sz="1120" dirty="0">
                  <a:solidFill>
                    <a:srgbClr val="FFFFFF"/>
                  </a:solidFill>
                  <a:latin typeface="Consolas"/>
                  <a:ea typeface="Consolas"/>
                  <a:cs typeface="Consolas"/>
                </a:rPr>
                <a:t>temel_deger = aciklayici.expected_value[1]</a:t>
              </a:r>
            </a:p>
          </p:txBody>
        </p:sp>
        <p:sp>
          <p:nvSpPr>
            <p:cNvPr id="13" name="TextBox 13"/>
            <p:cNvSpPr txBox="1"/>
            <p:nvPr/>
          </p:nvSpPr>
          <p:spPr>
            <a:xfrm>
              <a:off x="832485" y="2621756"/>
              <a:ext cx="3908948" cy="220028"/>
            </a:xfrm>
            <a:prstGeom prst="rect">
              <a:avLst/>
            </a:prstGeom>
            <a:noFill/>
            <a:ln>
              <a:noFill/>
            </a:ln>
          </p:spPr>
          <p:txBody>
            <a:bodyPr wrap="none" lIns="0" tIns="0" rIns="0" bIns="0" anchor="t" anchorCtr="0">
              <a:spAutoFit/>
            </a:bodyPr>
            <a:lstStyle/>
            <a:p>
              <a:pPr algn="l"/>
              <a:r>
                <a:rPr lang="tr-TR" sz="1120" dirty="0">
                  <a:solidFill>
                    <a:srgbClr val="FFFFFF"/>
                  </a:solidFill>
                  <a:latin typeface="Consolas"/>
                  <a:ea typeface="Consolas"/>
                  <a:cs typeface="Consolas"/>
                </a:rPr>
                <a:t>kuvvet = shap.force_plot(temel_deger, katkilar,</a:t>
              </a:r>
            </a:p>
          </p:txBody>
        </p:sp>
        <p:sp>
          <p:nvSpPr>
            <p:cNvPr id="14" name="TextBox 14"/>
            <p:cNvSpPr txBox="1"/>
            <p:nvPr/>
          </p:nvSpPr>
          <p:spPr>
            <a:xfrm>
              <a:off x="1061085" y="2850356"/>
              <a:ext cx="2837049" cy="220028"/>
            </a:xfrm>
            <a:prstGeom prst="rect">
              <a:avLst/>
            </a:prstGeom>
            <a:noFill/>
            <a:ln>
              <a:noFill/>
            </a:ln>
          </p:spPr>
          <p:txBody>
            <a:bodyPr wrap="none" lIns="0" tIns="0" rIns="0" bIns="0" anchor="t" anchorCtr="0">
              <a:spAutoFit/>
            </a:bodyPr>
            <a:lstStyle/>
            <a:p>
              <a:pPr algn="l"/>
              <a:r>
                <a:rPr lang="tr-TR" sz="1120" dirty="0">
                  <a:solidFill>
                    <a:srgbClr val="FFFFFF"/>
                  </a:solidFill>
                  <a:latin typeface="Consolas"/>
                  <a:ea typeface="Consolas"/>
                  <a:cs typeface="Consolas"/>
                </a:rPr>
                <a:t>musteri.iloc[0], matplotlib=False)</a:t>
              </a:r>
            </a:p>
          </p:txBody>
        </p:sp>
        <p:sp>
          <p:nvSpPr>
            <p:cNvPr id="15" name="TextBox 15"/>
            <p:cNvSpPr txBox="1"/>
            <p:nvPr/>
          </p:nvSpPr>
          <p:spPr>
            <a:xfrm>
              <a:off x="832485" y="3117056"/>
              <a:ext cx="4572356" cy="220028"/>
            </a:xfrm>
            <a:prstGeom prst="rect">
              <a:avLst/>
            </a:prstGeom>
            <a:noFill/>
            <a:ln>
              <a:noFill/>
            </a:ln>
          </p:spPr>
          <p:txBody>
            <a:bodyPr wrap="none" lIns="0" tIns="0" rIns="0" bIns="0" anchor="t" anchorCtr="0">
              <a:spAutoFit/>
            </a:bodyPr>
            <a:lstStyle/>
            <a:p>
              <a:pPr algn="l"/>
              <a:r>
                <a:rPr lang="tr-TR" sz="1120" dirty="0">
                  <a:solidFill>
                    <a:srgbClr val="FFFFFF"/>
                  </a:solidFill>
                  <a:latin typeface="Consolas"/>
                  <a:ea typeface="Consolas"/>
                  <a:cs typeface="Consolas"/>
                </a:rPr>
                <a:t>shap.save_html("ch13_shap_kuvvet_grafigi.html", kuvvet)</a:t>
              </a:r>
            </a:p>
          </p:txBody>
        </p:sp>
        <p:sp>
          <p:nvSpPr>
            <p:cNvPr id="16" name="TextBox 16"/>
            <p:cNvSpPr txBox="1"/>
            <p:nvPr/>
          </p:nvSpPr>
          <p:spPr>
            <a:xfrm>
              <a:off x="832866" y="3429952"/>
              <a:ext cx="2039138" cy="205359"/>
            </a:xfrm>
            <a:prstGeom prst="rect">
              <a:avLst/>
            </a:prstGeom>
            <a:noFill/>
            <a:ln>
              <a:noFill/>
            </a:ln>
          </p:spPr>
          <p:txBody>
            <a:bodyPr wrap="none" lIns="0" tIns="0" rIns="0" bIns="0" anchor="t" anchorCtr="0">
              <a:spAutoFit/>
            </a:bodyPr>
            <a:lstStyle/>
            <a:p>
              <a:pPr algn="l"/>
              <a:r>
                <a:rPr lang="tr-TR" sz="1050" dirty="0">
                  <a:solidFill>
                    <a:srgbClr val="00A6A6"/>
                  </a:solidFill>
                  <a:latin typeface="Consolas"/>
                  <a:ea typeface="Consolas"/>
                  <a:cs typeface="Consolas"/>
                </a:rPr>
                <a:t># Ayrılma olasılığı: %94.5</a:t>
              </a:r>
            </a:p>
          </p:txBody>
        </p:sp>
        <p:sp>
          <p:nvSpPr>
            <p:cNvPr id="17" name="TextBox 17"/>
            <p:cNvSpPr txBox="1"/>
            <p:nvPr/>
          </p:nvSpPr>
          <p:spPr>
            <a:xfrm>
              <a:off x="832866" y="3620452"/>
              <a:ext cx="2653932" cy="205359"/>
            </a:xfrm>
            <a:prstGeom prst="rect">
              <a:avLst/>
            </a:prstGeom>
            <a:noFill/>
            <a:ln>
              <a:noFill/>
            </a:ln>
          </p:spPr>
          <p:txBody>
            <a:bodyPr wrap="none" lIns="0" tIns="0" rIns="0" bIns="0" anchor="t" anchorCtr="0">
              <a:spAutoFit/>
            </a:bodyPr>
            <a:lstStyle/>
            <a:p>
              <a:pPr algn="l"/>
              <a:r>
                <a:rPr lang="tr-TR" sz="1050" dirty="0">
                  <a:solidFill>
                    <a:srgbClr val="00A6A6"/>
                  </a:solidFill>
                  <a:latin typeface="Consolas"/>
                  <a:ea typeface="Consolas"/>
                  <a:cs typeface="Consolas"/>
                </a:rPr>
                <a:t># tenure pozitif katkı üretmiştir.</a:t>
              </a:r>
            </a:p>
          </p:txBody>
        </p:sp>
      </p:grpSp>
      <p:grpSp>
        <p:nvGrpSpPr>
          <p:cNvPr id="38" name="table-panel"/>
          <p:cNvGrpSpPr/>
          <p:nvPr/>
        </p:nvGrpSpPr>
        <p:grpSpPr>
          <a:xfrm>
            <a:off x="6248400" y="1466850"/>
            <a:ext cx="5334000" cy="2476500"/>
            <a:chOff x="6248400" y="1466850"/>
            <a:chExt cx="5334000" cy="2476500"/>
          </a:xfrm>
        </p:grpSpPr>
        <p:sp>
          <p:nvSpPr>
            <p:cNvPr id="19" name="Rectangle 19"/>
            <p:cNvSpPr/>
            <p:nvPr/>
          </p:nvSpPr>
          <p:spPr>
            <a:xfrm>
              <a:off x="6248400" y="1466850"/>
              <a:ext cx="5334000" cy="2476500"/>
            </a:xfrm>
            <a:prstGeom prst="roundRect">
              <a:avLst>
                <a:gd name="adj" fmla="val 3077"/>
              </a:avLst>
            </a:prstGeom>
            <a:solidFill>
              <a:srgbClr val="FFFFFF"/>
            </a:solidFill>
            <a:ln w="14288">
              <a:solidFill>
                <a:srgbClr val="B8CBD3"/>
              </a:solidFill>
            </a:ln>
          </p:spPr>
        </p:sp>
        <p:sp>
          <p:nvSpPr>
            <p:cNvPr id="20" name="Rectangle 20"/>
            <p:cNvSpPr/>
            <p:nvPr/>
          </p:nvSpPr>
          <p:spPr>
            <a:xfrm>
              <a:off x="6248400" y="1466850"/>
              <a:ext cx="5334000" cy="323850"/>
            </a:xfrm>
            <a:prstGeom prst="rect">
              <a:avLst/>
            </a:prstGeom>
            <a:solidFill>
              <a:srgbClr val="12355B"/>
            </a:solidFill>
            <a:ln>
              <a:noFill/>
            </a:ln>
          </p:spPr>
        </p:sp>
        <p:sp>
          <p:nvSpPr>
            <p:cNvPr id="21" name="TextBox 21"/>
            <p:cNvSpPr txBox="1"/>
            <p:nvPr/>
          </p:nvSpPr>
          <p:spPr>
            <a:xfrm>
              <a:off x="6471666" y="1563052"/>
              <a:ext cx="614423" cy="205359"/>
            </a:xfrm>
            <a:prstGeom prst="rect">
              <a:avLst/>
            </a:prstGeom>
            <a:noFill/>
            <a:ln>
              <a:noFill/>
            </a:ln>
          </p:spPr>
          <p:txBody>
            <a:bodyPr wrap="none" lIns="0" tIns="0" rIns="0" bIns="0" anchor="t" anchorCtr="0">
              <a:spAutoFit/>
            </a:bodyPr>
            <a:lstStyle/>
            <a:p>
              <a:pPr algn="l"/>
              <a:r>
                <a:rPr lang="tr-TR" sz="1050" b="1" dirty="0">
                  <a:solidFill>
                    <a:srgbClr val="FFFFFF"/>
                  </a:solidFill>
                  <a:latin typeface="+mn-lt"/>
                  <a:ea typeface="+mn-ea"/>
                  <a:cs typeface="+mn-cs"/>
                </a:rPr>
                <a:t>ÖZELLİK</a:t>
              </a:r>
            </a:p>
          </p:txBody>
        </p:sp>
        <p:sp>
          <p:nvSpPr>
            <p:cNvPr id="22" name="TextBox 22"/>
            <p:cNvSpPr txBox="1"/>
            <p:nvPr/>
          </p:nvSpPr>
          <p:spPr>
            <a:xfrm>
              <a:off x="8452866" y="1563052"/>
              <a:ext cx="441922" cy="205359"/>
            </a:xfrm>
            <a:prstGeom prst="rect">
              <a:avLst/>
            </a:prstGeom>
            <a:noFill/>
            <a:ln>
              <a:noFill/>
            </a:ln>
          </p:spPr>
          <p:txBody>
            <a:bodyPr wrap="none" lIns="0" tIns="0" rIns="0" bIns="0" anchor="t" anchorCtr="0">
              <a:spAutoFit/>
            </a:bodyPr>
            <a:lstStyle/>
            <a:p>
              <a:pPr algn="l"/>
              <a:r>
                <a:rPr lang="tr-TR" sz="1050" b="1" dirty="0">
                  <a:solidFill>
                    <a:srgbClr val="FFFFFF"/>
                  </a:solidFill>
                  <a:latin typeface="+mn-lt"/>
                  <a:ea typeface="+mn-ea"/>
                  <a:cs typeface="+mn-cs"/>
                </a:rPr>
                <a:t>DEĞER</a:t>
              </a:r>
            </a:p>
          </p:txBody>
        </p:sp>
        <p:sp>
          <p:nvSpPr>
            <p:cNvPr id="23" name="TextBox 23"/>
            <p:cNvSpPr txBox="1"/>
            <p:nvPr/>
          </p:nvSpPr>
          <p:spPr>
            <a:xfrm>
              <a:off x="9710166" y="1563052"/>
              <a:ext cx="928063" cy="205359"/>
            </a:xfrm>
            <a:prstGeom prst="rect">
              <a:avLst/>
            </a:prstGeom>
            <a:noFill/>
            <a:ln>
              <a:noFill/>
            </a:ln>
          </p:spPr>
          <p:txBody>
            <a:bodyPr wrap="none" lIns="0" tIns="0" rIns="0" bIns="0" anchor="t" anchorCtr="0">
              <a:spAutoFit/>
            </a:bodyPr>
            <a:lstStyle/>
            <a:p>
              <a:pPr algn="l"/>
              <a:r>
                <a:rPr lang="tr-TR" sz="1050" b="1" dirty="0">
                  <a:solidFill>
                    <a:srgbClr val="FFFFFF"/>
                  </a:solidFill>
                  <a:latin typeface="+mn-lt"/>
                  <a:ea typeface="+mn-ea"/>
                  <a:cs typeface="+mn-cs"/>
                </a:rPr>
                <a:t>SHAP KATKISI</a:t>
              </a:r>
            </a:p>
          </p:txBody>
        </p:sp>
        <p:sp>
          <p:nvSpPr>
            <p:cNvPr id="24" name="TextBox 24"/>
            <p:cNvSpPr txBox="1"/>
            <p:nvPr/>
          </p:nvSpPr>
          <p:spPr>
            <a:xfrm>
              <a:off x="6470904" y="1927860"/>
              <a:ext cx="54528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tenure</a:t>
              </a:r>
            </a:p>
          </p:txBody>
        </p:sp>
        <p:sp>
          <p:nvSpPr>
            <p:cNvPr id="25" name="TextBox 25"/>
            <p:cNvSpPr txBox="1"/>
            <p:nvPr/>
          </p:nvSpPr>
          <p:spPr>
            <a:xfrm>
              <a:off x="8452104" y="1927860"/>
              <a:ext cx="45643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51.00</a:t>
              </a:r>
            </a:p>
          </p:txBody>
        </p:sp>
        <p:sp>
          <p:nvSpPr>
            <p:cNvPr id="26" name="TextBox 26"/>
            <p:cNvSpPr txBox="1"/>
            <p:nvPr/>
          </p:nvSpPr>
          <p:spPr>
            <a:xfrm>
              <a:off x="9709404" y="1927860"/>
              <a:ext cx="571942" cy="234696"/>
            </a:xfrm>
            <a:prstGeom prst="rect">
              <a:avLst/>
            </a:prstGeom>
            <a:noFill/>
            <a:ln>
              <a:noFill/>
            </a:ln>
          </p:spPr>
          <p:txBody>
            <a:bodyPr wrap="none" lIns="0" tIns="0" rIns="0" bIns="0" anchor="t" anchorCtr="0">
              <a:spAutoFit/>
            </a:bodyPr>
            <a:lstStyle/>
            <a:p>
              <a:pPr algn="l"/>
              <a:r>
                <a:rPr lang="tr-TR" sz="1200" b="1" dirty="0">
                  <a:solidFill>
                    <a:srgbClr val="C0392B"/>
                  </a:solidFill>
                  <a:latin typeface="+mn-lt"/>
                  <a:ea typeface="+mn-ea"/>
                  <a:cs typeface="+mn-cs"/>
                </a:rPr>
                <a:t>+0.567</a:t>
              </a:r>
            </a:p>
          </p:txBody>
        </p:sp>
        <p:sp>
          <p:nvSpPr>
            <p:cNvPr id="27" name="Line 27"/>
            <p:cNvSpPr/>
            <p:nvPr/>
          </p:nvSpPr>
          <p:spPr>
            <a:xfrm>
              <a:off x="6248400" y="2190750"/>
              <a:ext cx="5334000" cy="9525"/>
            </a:xfrm>
            <a:custGeom>
              <a:avLst/>
              <a:gdLst/>
              <a:ahLst/>
              <a:cxnLst/>
              <a:rect l="l" t="t" r="r" b="b"/>
              <a:pathLst>
                <a:path w="5334000" h="9525">
                  <a:moveTo>
                    <a:pt x="0" y="0"/>
                  </a:moveTo>
                  <a:lnTo>
                    <a:pt x="5334000" y="0"/>
                  </a:lnTo>
                </a:path>
              </a:pathLst>
            </a:custGeom>
            <a:noFill/>
            <a:ln w="14288">
              <a:solidFill>
                <a:srgbClr val="EAF4F6"/>
              </a:solidFill>
            </a:ln>
          </p:spPr>
        </p:sp>
        <p:sp>
          <p:nvSpPr>
            <p:cNvPr id="28" name="TextBox 28"/>
            <p:cNvSpPr txBox="1"/>
            <p:nvPr/>
          </p:nvSpPr>
          <p:spPr>
            <a:xfrm>
              <a:off x="6470904" y="2308860"/>
              <a:ext cx="125799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MonthlyCharges</a:t>
              </a:r>
            </a:p>
          </p:txBody>
        </p:sp>
        <p:sp>
          <p:nvSpPr>
            <p:cNvPr id="29" name="TextBox 29"/>
            <p:cNvSpPr txBox="1"/>
            <p:nvPr/>
          </p:nvSpPr>
          <p:spPr>
            <a:xfrm>
              <a:off x="8452104" y="2308860"/>
              <a:ext cx="45643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51.06</a:t>
              </a:r>
            </a:p>
          </p:txBody>
        </p:sp>
        <p:sp>
          <p:nvSpPr>
            <p:cNvPr id="30" name="TextBox 30"/>
            <p:cNvSpPr txBox="1"/>
            <p:nvPr/>
          </p:nvSpPr>
          <p:spPr>
            <a:xfrm>
              <a:off x="9709404" y="2308860"/>
              <a:ext cx="571942" cy="234696"/>
            </a:xfrm>
            <a:prstGeom prst="rect">
              <a:avLst/>
            </a:prstGeom>
            <a:noFill/>
            <a:ln>
              <a:noFill/>
            </a:ln>
          </p:spPr>
          <p:txBody>
            <a:bodyPr wrap="none" lIns="0" tIns="0" rIns="0" bIns="0" anchor="t" anchorCtr="0">
              <a:spAutoFit/>
            </a:bodyPr>
            <a:lstStyle/>
            <a:p>
              <a:pPr algn="l"/>
              <a:r>
                <a:rPr lang="tr-TR" sz="1200" b="1" dirty="0">
                  <a:solidFill>
                    <a:srgbClr val="C0392B"/>
                  </a:solidFill>
                  <a:latin typeface="+mn-lt"/>
                  <a:ea typeface="+mn-ea"/>
                  <a:cs typeface="+mn-cs"/>
                </a:rPr>
                <a:t>+0.093</a:t>
              </a:r>
            </a:p>
          </p:txBody>
        </p:sp>
        <p:sp>
          <p:nvSpPr>
            <p:cNvPr id="31" name="Line 31"/>
            <p:cNvSpPr/>
            <p:nvPr/>
          </p:nvSpPr>
          <p:spPr>
            <a:xfrm>
              <a:off x="6248400" y="2571750"/>
              <a:ext cx="5334000" cy="9525"/>
            </a:xfrm>
            <a:custGeom>
              <a:avLst/>
              <a:gdLst/>
              <a:ahLst/>
              <a:cxnLst/>
              <a:rect l="l" t="t" r="r" b="b"/>
              <a:pathLst>
                <a:path w="5334000" h="9525">
                  <a:moveTo>
                    <a:pt x="0" y="0"/>
                  </a:moveTo>
                  <a:lnTo>
                    <a:pt x="5334000" y="0"/>
                  </a:lnTo>
                </a:path>
              </a:pathLst>
            </a:custGeom>
            <a:noFill/>
            <a:ln w="14288">
              <a:solidFill>
                <a:srgbClr val="EAF4F6"/>
              </a:solidFill>
            </a:ln>
          </p:spPr>
        </p:sp>
        <p:sp>
          <p:nvSpPr>
            <p:cNvPr id="32" name="TextBox 32"/>
            <p:cNvSpPr txBox="1"/>
            <p:nvPr/>
          </p:nvSpPr>
          <p:spPr>
            <a:xfrm>
              <a:off x="6470904" y="2689860"/>
              <a:ext cx="104767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TotalCharges</a:t>
              </a:r>
            </a:p>
          </p:txBody>
        </p:sp>
        <p:sp>
          <p:nvSpPr>
            <p:cNvPr id="33" name="TextBox 33"/>
            <p:cNvSpPr txBox="1"/>
            <p:nvPr/>
          </p:nvSpPr>
          <p:spPr>
            <a:xfrm>
              <a:off x="8452104" y="2689860"/>
              <a:ext cx="63413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2366.05</a:t>
              </a:r>
            </a:p>
          </p:txBody>
        </p:sp>
        <p:sp>
          <p:nvSpPr>
            <p:cNvPr id="34" name="TextBox 34"/>
            <p:cNvSpPr txBox="1"/>
            <p:nvPr/>
          </p:nvSpPr>
          <p:spPr>
            <a:xfrm>
              <a:off x="9709404" y="2689860"/>
              <a:ext cx="571942" cy="234696"/>
            </a:xfrm>
            <a:prstGeom prst="rect">
              <a:avLst/>
            </a:prstGeom>
            <a:noFill/>
            <a:ln>
              <a:noFill/>
            </a:ln>
          </p:spPr>
          <p:txBody>
            <a:bodyPr wrap="none" lIns="0" tIns="0" rIns="0" bIns="0" anchor="t" anchorCtr="0">
              <a:spAutoFit/>
            </a:bodyPr>
            <a:lstStyle/>
            <a:p>
              <a:pPr algn="l"/>
              <a:r>
                <a:rPr lang="tr-TR" sz="1200" b="1" dirty="0">
                  <a:solidFill>
                    <a:srgbClr val="C0392B"/>
                  </a:solidFill>
                  <a:latin typeface="+mn-lt"/>
                  <a:ea typeface="+mn-ea"/>
                  <a:cs typeface="+mn-cs"/>
                </a:rPr>
                <a:t>+0.040</a:t>
              </a:r>
            </a:p>
          </p:txBody>
        </p:sp>
        <p:sp>
          <p:nvSpPr>
            <p:cNvPr id="35" name="TextBox 35"/>
            <p:cNvSpPr txBox="1"/>
            <p:nvPr/>
          </p:nvSpPr>
          <p:spPr>
            <a:xfrm>
              <a:off x="6470904" y="3204210"/>
              <a:ext cx="2674778"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Kırmızı katkılar tahmini ayrılma</a:t>
              </a:r>
            </a:p>
          </p:txBody>
        </p:sp>
        <p:sp>
          <p:nvSpPr>
            <p:cNvPr id="36" name="TextBox 36"/>
            <p:cNvSpPr txBox="1"/>
            <p:nvPr/>
          </p:nvSpPr>
          <p:spPr>
            <a:xfrm>
              <a:off x="6470904" y="3413760"/>
              <a:ext cx="2621128"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yönüne, mavi katkılar ayrılmama</a:t>
              </a:r>
            </a:p>
          </p:txBody>
        </p:sp>
        <p:sp>
          <p:nvSpPr>
            <p:cNvPr id="37" name="TextBox 37"/>
            <p:cNvSpPr txBox="1"/>
            <p:nvPr/>
          </p:nvSpPr>
          <p:spPr>
            <a:xfrm>
              <a:off x="6470904" y="3623310"/>
              <a:ext cx="3178454"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yönüne çeker; toplam çıktıya yaklaşır.</a:t>
              </a:r>
            </a:p>
          </p:txBody>
        </p:sp>
      </p:grpSp>
      <p:grpSp>
        <p:nvGrpSpPr>
          <p:cNvPr id="54" name="waterfall"/>
          <p:cNvGrpSpPr/>
          <p:nvPr/>
        </p:nvGrpSpPr>
        <p:grpSpPr>
          <a:xfrm>
            <a:off x="609600" y="4191000"/>
            <a:ext cx="9963150" cy="685800"/>
            <a:chOff x="609600" y="4191000"/>
            <a:chExt cx="9963150" cy="685800"/>
          </a:xfrm>
        </p:grpSpPr>
        <p:sp>
          <p:nvSpPr>
            <p:cNvPr id="39" name="Rectangle 39"/>
            <p:cNvSpPr/>
            <p:nvPr/>
          </p:nvSpPr>
          <p:spPr>
            <a:xfrm>
              <a:off x="609600" y="4248150"/>
              <a:ext cx="1714500" cy="571500"/>
            </a:xfrm>
            <a:prstGeom prst="roundRect">
              <a:avLst>
                <a:gd name="adj" fmla="val 10000"/>
              </a:avLst>
            </a:prstGeom>
            <a:solidFill>
              <a:srgbClr val="EAF4F6"/>
            </a:solidFill>
            <a:ln w="14288">
              <a:solidFill>
                <a:srgbClr val="B8CBD3"/>
              </a:solidFill>
            </a:ln>
          </p:spPr>
        </p:sp>
        <p:sp>
          <p:nvSpPr>
            <p:cNvPr id="40" name="TextBox 40"/>
            <p:cNvSpPr txBox="1"/>
            <p:nvPr/>
          </p:nvSpPr>
          <p:spPr>
            <a:xfrm>
              <a:off x="970333" y="4442460"/>
              <a:ext cx="993035" cy="234696"/>
            </a:xfrm>
            <a:prstGeom prst="rect">
              <a:avLst/>
            </a:prstGeom>
            <a:noFill/>
            <a:ln>
              <a:noFill/>
            </a:ln>
          </p:spPr>
          <p:txBody>
            <a:bodyPr wrap="none" lIns="0" tIns="0" rIns="0" bIns="0" anchor="t" anchorCtr="0">
              <a:spAutoFit/>
            </a:bodyPr>
            <a:lstStyle/>
            <a:p>
              <a:pPr algn="ctr"/>
              <a:r>
                <a:rPr lang="tr-TR" sz="1200" b="1" dirty="0">
                  <a:solidFill>
                    <a:srgbClr val="12355B"/>
                  </a:solidFill>
                  <a:latin typeface="+mn-lt"/>
                  <a:ea typeface="+mn-ea"/>
                  <a:cs typeface="+mn-cs"/>
                </a:rPr>
                <a:t>Temel değer</a:t>
              </a:r>
            </a:p>
          </p:txBody>
        </p:sp>
        <p:sp>
          <p:nvSpPr>
            <p:cNvPr id="41" name="Line 41"/>
            <p:cNvSpPr/>
            <p:nvPr/>
          </p:nvSpPr>
          <p:spPr>
            <a:xfrm>
              <a:off x="2324100" y="4533900"/>
              <a:ext cx="533400" cy="1"/>
            </a:xfrm>
            <a:prstGeom prst="line">
              <a:avLst/>
            </a:prstGeom>
            <a:noFill/>
            <a:ln w="23812">
              <a:solidFill>
                <a:srgbClr val="00A6A6"/>
              </a:solidFill>
              <a:tailEnd type="arrow" w="lg" len="lg"/>
            </a:ln>
          </p:spPr>
        </p:sp>
        <p:sp>
          <p:nvSpPr>
            <p:cNvPr id="42" name="TextBox 42"/>
            <p:cNvSpPr txBox="1"/>
            <p:nvPr/>
          </p:nvSpPr>
          <p:spPr>
            <a:xfrm>
              <a:off x="2356866" y="4325302"/>
              <a:ext cx="985990" cy="205359"/>
            </a:xfrm>
            <a:prstGeom prst="rect">
              <a:avLst/>
            </a:prstGeom>
            <a:noFill/>
            <a:ln>
              <a:noFill/>
            </a:ln>
          </p:spPr>
          <p:txBody>
            <a:bodyPr wrap="none" lIns="0" tIns="0" rIns="0" bIns="0" anchor="t" anchorCtr="0">
              <a:spAutoFit/>
            </a:bodyPr>
            <a:lstStyle/>
            <a:p>
              <a:pPr algn="l"/>
              <a:r>
                <a:rPr lang="tr-TR" sz="1050" dirty="0">
                  <a:solidFill>
                    <a:srgbClr val="C0392B"/>
                  </a:solidFill>
                  <a:latin typeface="+mn-lt"/>
                  <a:ea typeface="+mn-ea"/>
                  <a:cs typeface="+mn-cs"/>
                </a:rPr>
                <a:t>+0.567 tenure</a:t>
              </a:r>
            </a:p>
          </p:txBody>
        </p:sp>
        <p:sp>
          <p:nvSpPr>
            <p:cNvPr id="43" name="Rectangle 43"/>
            <p:cNvSpPr/>
            <p:nvPr/>
          </p:nvSpPr>
          <p:spPr>
            <a:xfrm>
              <a:off x="2914650" y="4248150"/>
              <a:ext cx="2095500" cy="571500"/>
            </a:xfrm>
            <a:prstGeom prst="roundRect">
              <a:avLst>
                <a:gd name="adj" fmla="val 10000"/>
              </a:avLst>
            </a:prstGeom>
            <a:solidFill>
              <a:srgbClr val="FFFFFF"/>
            </a:solidFill>
            <a:ln w="14288">
              <a:solidFill>
                <a:srgbClr val="C0392B"/>
              </a:solidFill>
            </a:ln>
          </p:spPr>
        </p:sp>
        <p:sp>
          <p:nvSpPr>
            <p:cNvPr id="44" name="TextBox 44"/>
            <p:cNvSpPr txBox="1"/>
            <p:nvPr/>
          </p:nvSpPr>
          <p:spPr>
            <a:xfrm>
              <a:off x="3589553" y="4458652"/>
              <a:ext cx="745693" cy="205359"/>
            </a:xfrm>
            <a:prstGeom prst="rect">
              <a:avLst/>
            </a:prstGeom>
            <a:noFill/>
            <a:ln>
              <a:noFill/>
            </a:ln>
          </p:spPr>
          <p:txBody>
            <a:bodyPr wrap="none" lIns="0" tIns="0" rIns="0" bIns="0" anchor="t" anchorCtr="0">
              <a:spAutoFit/>
            </a:bodyPr>
            <a:lstStyle/>
            <a:p>
              <a:pPr algn="ctr"/>
              <a:r>
                <a:rPr lang="tr-TR" sz="1050" dirty="0">
                  <a:solidFill>
                    <a:srgbClr val="12355B"/>
                  </a:solidFill>
                  <a:latin typeface="+mn-lt"/>
                  <a:ea typeface="+mn-ea"/>
                  <a:cs typeface="+mn-cs"/>
                </a:rPr>
                <a:t>ara toplam</a:t>
              </a:r>
            </a:p>
          </p:txBody>
        </p:sp>
        <p:sp>
          <p:nvSpPr>
            <p:cNvPr id="45" name="Line 45"/>
            <p:cNvSpPr/>
            <p:nvPr/>
          </p:nvSpPr>
          <p:spPr>
            <a:xfrm>
              <a:off x="5010150" y="4533900"/>
              <a:ext cx="533400" cy="1"/>
            </a:xfrm>
            <a:prstGeom prst="line">
              <a:avLst/>
            </a:prstGeom>
            <a:noFill/>
            <a:ln w="23812">
              <a:solidFill>
                <a:srgbClr val="00A6A6"/>
              </a:solidFill>
              <a:tailEnd type="arrow" w="lg" len="lg"/>
            </a:ln>
          </p:spPr>
        </p:sp>
        <p:sp>
          <p:nvSpPr>
            <p:cNvPr id="46" name="TextBox 46"/>
            <p:cNvSpPr txBox="1"/>
            <p:nvPr/>
          </p:nvSpPr>
          <p:spPr>
            <a:xfrm>
              <a:off x="5042916" y="4325302"/>
              <a:ext cx="1613726" cy="205359"/>
            </a:xfrm>
            <a:prstGeom prst="rect">
              <a:avLst/>
            </a:prstGeom>
            <a:noFill/>
            <a:ln>
              <a:noFill/>
            </a:ln>
          </p:spPr>
          <p:txBody>
            <a:bodyPr wrap="none" lIns="0" tIns="0" rIns="0" bIns="0" anchor="t" anchorCtr="0">
              <a:spAutoFit/>
            </a:bodyPr>
            <a:lstStyle/>
            <a:p>
              <a:pPr algn="l"/>
              <a:r>
                <a:rPr lang="tr-TR" sz="1050" dirty="0">
                  <a:solidFill>
                    <a:srgbClr val="C0392B"/>
                  </a:solidFill>
                  <a:latin typeface="+mn-lt"/>
                  <a:ea typeface="+mn-ea"/>
                  <a:cs typeface="+mn-cs"/>
                </a:rPr>
                <a:t>+0.093 MonthlyCharges</a:t>
              </a:r>
            </a:p>
          </p:txBody>
        </p:sp>
        <p:sp>
          <p:nvSpPr>
            <p:cNvPr id="47" name="Rectangle 47"/>
            <p:cNvSpPr/>
            <p:nvPr/>
          </p:nvSpPr>
          <p:spPr>
            <a:xfrm>
              <a:off x="5600700" y="4248150"/>
              <a:ext cx="2095500" cy="571500"/>
            </a:xfrm>
            <a:prstGeom prst="roundRect">
              <a:avLst>
                <a:gd name="adj" fmla="val 10000"/>
              </a:avLst>
            </a:prstGeom>
            <a:solidFill>
              <a:srgbClr val="FFFFFF"/>
            </a:solidFill>
            <a:ln w="14288">
              <a:solidFill>
                <a:srgbClr val="C0392B"/>
              </a:solidFill>
            </a:ln>
          </p:spPr>
        </p:sp>
        <p:sp>
          <p:nvSpPr>
            <p:cNvPr id="48" name="TextBox 48"/>
            <p:cNvSpPr txBox="1"/>
            <p:nvPr/>
          </p:nvSpPr>
          <p:spPr>
            <a:xfrm>
              <a:off x="6275603" y="4458652"/>
              <a:ext cx="745693" cy="205359"/>
            </a:xfrm>
            <a:prstGeom prst="rect">
              <a:avLst/>
            </a:prstGeom>
            <a:noFill/>
            <a:ln>
              <a:noFill/>
            </a:ln>
          </p:spPr>
          <p:txBody>
            <a:bodyPr wrap="none" lIns="0" tIns="0" rIns="0" bIns="0" anchor="t" anchorCtr="0">
              <a:spAutoFit/>
            </a:bodyPr>
            <a:lstStyle/>
            <a:p>
              <a:pPr algn="ctr"/>
              <a:r>
                <a:rPr lang="tr-TR" sz="1050" dirty="0">
                  <a:solidFill>
                    <a:srgbClr val="12355B"/>
                  </a:solidFill>
                  <a:latin typeface="+mn-lt"/>
                  <a:ea typeface="+mn-ea"/>
                  <a:cs typeface="+mn-cs"/>
                </a:rPr>
                <a:t>ara toplam</a:t>
              </a:r>
            </a:p>
          </p:txBody>
        </p:sp>
        <p:sp>
          <p:nvSpPr>
            <p:cNvPr id="49" name="Line 49"/>
            <p:cNvSpPr/>
            <p:nvPr/>
          </p:nvSpPr>
          <p:spPr>
            <a:xfrm>
              <a:off x="7696200" y="4533900"/>
              <a:ext cx="533400" cy="1"/>
            </a:xfrm>
            <a:prstGeom prst="line">
              <a:avLst/>
            </a:prstGeom>
            <a:noFill/>
            <a:ln w="23812">
              <a:solidFill>
                <a:srgbClr val="00A6A6"/>
              </a:solidFill>
              <a:tailEnd type="arrow" w="lg" len="lg"/>
            </a:ln>
          </p:spPr>
        </p:sp>
        <p:sp>
          <p:nvSpPr>
            <p:cNvPr id="50" name="TextBox 50"/>
            <p:cNvSpPr txBox="1"/>
            <p:nvPr/>
          </p:nvSpPr>
          <p:spPr>
            <a:xfrm>
              <a:off x="7728966" y="4325302"/>
              <a:ext cx="1430379" cy="205359"/>
            </a:xfrm>
            <a:prstGeom prst="rect">
              <a:avLst/>
            </a:prstGeom>
            <a:noFill/>
            <a:ln>
              <a:noFill/>
            </a:ln>
          </p:spPr>
          <p:txBody>
            <a:bodyPr wrap="none" lIns="0" tIns="0" rIns="0" bIns="0" anchor="t" anchorCtr="0">
              <a:spAutoFit/>
            </a:bodyPr>
            <a:lstStyle/>
            <a:p>
              <a:pPr algn="l"/>
              <a:r>
                <a:rPr lang="tr-TR" sz="1050" dirty="0">
                  <a:solidFill>
                    <a:srgbClr val="C0392B"/>
                  </a:solidFill>
                  <a:latin typeface="+mn-lt"/>
                  <a:ea typeface="+mn-ea"/>
                  <a:cs typeface="+mn-cs"/>
                </a:rPr>
                <a:t>+0.040 TotalCharges</a:t>
              </a:r>
            </a:p>
          </p:txBody>
        </p:sp>
        <p:sp>
          <p:nvSpPr>
            <p:cNvPr id="51" name="Rectangle 51"/>
            <p:cNvSpPr/>
            <p:nvPr/>
          </p:nvSpPr>
          <p:spPr>
            <a:xfrm>
              <a:off x="8286750" y="4191000"/>
              <a:ext cx="2286000" cy="685800"/>
            </a:xfrm>
            <a:prstGeom prst="roundRect">
              <a:avLst>
                <a:gd name="adj" fmla="val 8333"/>
              </a:avLst>
            </a:prstGeom>
            <a:solidFill>
              <a:srgbClr val="12355B"/>
            </a:solidFill>
            <a:ln>
              <a:noFill/>
            </a:ln>
          </p:spPr>
        </p:sp>
        <p:sp>
          <p:nvSpPr>
            <p:cNvPr id="52" name="TextBox 52"/>
            <p:cNvSpPr txBox="1"/>
            <p:nvPr/>
          </p:nvSpPr>
          <p:spPr>
            <a:xfrm>
              <a:off x="8929221" y="4347210"/>
              <a:ext cx="1001057" cy="234696"/>
            </a:xfrm>
            <a:prstGeom prst="rect">
              <a:avLst/>
            </a:prstGeom>
            <a:noFill/>
            <a:ln>
              <a:noFill/>
            </a:ln>
          </p:spPr>
          <p:txBody>
            <a:bodyPr wrap="none" lIns="0" tIns="0" rIns="0" bIns="0" anchor="t" anchorCtr="0">
              <a:spAutoFit/>
            </a:bodyPr>
            <a:lstStyle/>
            <a:p>
              <a:pPr algn="ctr"/>
              <a:r>
                <a:rPr lang="tr-TR" sz="1200" b="1" dirty="0">
                  <a:solidFill>
                    <a:srgbClr val="FFFFFF"/>
                  </a:solidFill>
                  <a:latin typeface="+mn-lt"/>
                  <a:ea typeface="+mn-ea"/>
                  <a:cs typeface="+mn-cs"/>
                </a:rPr>
                <a:t>Nihai tahmin</a:t>
              </a:r>
            </a:p>
          </p:txBody>
        </p:sp>
        <p:sp>
          <p:nvSpPr>
            <p:cNvPr id="53" name="TextBox 53"/>
            <p:cNvSpPr txBox="1"/>
            <p:nvPr/>
          </p:nvSpPr>
          <p:spPr>
            <a:xfrm>
              <a:off x="9141427" y="4559618"/>
              <a:ext cx="576646" cy="264033"/>
            </a:xfrm>
            <a:prstGeom prst="rect">
              <a:avLst/>
            </a:prstGeom>
            <a:noFill/>
            <a:ln>
              <a:noFill/>
            </a:ln>
          </p:spPr>
          <p:txBody>
            <a:bodyPr wrap="none" lIns="0" tIns="0" rIns="0" bIns="0" anchor="t" anchorCtr="0">
              <a:spAutoFit/>
            </a:bodyPr>
            <a:lstStyle/>
            <a:p>
              <a:pPr algn="ctr"/>
              <a:r>
                <a:rPr lang="tr-TR" sz="1350" b="1" dirty="0">
                  <a:solidFill>
                    <a:srgbClr val="00A6A6"/>
                  </a:solidFill>
                  <a:latin typeface="+mn-lt"/>
                  <a:ea typeface="+mn-ea"/>
                  <a:cs typeface="+mn-cs"/>
                </a:rPr>
                <a:t>%94.5</a:t>
              </a:r>
            </a:p>
          </p:txBody>
        </p:sp>
      </p:grpSp>
      <p:grpSp>
        <p:nvGrpSpPr>
          <p:cNvPr id="58" name="explain-block"/>
          <p:cNvGrpSpPr/>
          <p:nvPr/>
        </p:nvGrpSpPr>
        <p:grpSpPr>
          <a:xfrm>
            <a:off x="609600" y="5276850"/>
            <a:ext cx="10972800" cy="723900"/>
            <a:chOff x="609600" y="5276850"/>
            <a:chExt cx="10972800" cy="723900"/>
          </a:xfrm>
        </p:grpSpPr>
        <p:sp>
          <p:nvSpPr>
            <p:cNvPr id="55" name="Rectangle 55"/>
            <p:cNvSpPr/>
            <p:nvPr/>
          </p:nvSpPr>
          <p:spPr>
            <a:xfrm>
              <a:off x="609600" y="5276850"/>
              <a:ext cx="10972800" cy="723900"/>
            </a:xfrm>
            <a:prstGeom prst="roundRect">
              <a:avLst>
                <a:gd name="adj" fmla="val 10526"/>
              </a:avLst>
            </a:prstGeom>
            <a:solidFill>
              <a:srgbClr val="EAF4F6"/>
            </a:solidFill>
            <a:ln>
              <a:noFill/>
            </a:ln>
          </p:spPr>
        </p:sp>
        <p:sp>
          <p:nvSpPr>
            <p:cNvPr id="56" name="TextBox 56"/>
            <p:cNvSpPr txBox="1"/>
            <p:nvPr/>
          </p:nvSpPr>
          <p:spPr>
            <a:xfrm>
              <a:off x="908304" y="5414010"/>
              <a:ext cx="836597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Yerel SHAP, açıklamanın modelin gerçek davranışına bağlı olması gerektiğinde tercih edilir; ağaç tabanlı</a:t>
              </a:r>
            </a:p>
          </p:txBody>
        </p:sp>
        <p:sp>
          <p:nvSpPr>
            <p:cNvPr id="57" name="TextBox 57"/>
            <p:cNvSpPr txBox="1"/>
            <p:nvPr/>
          </p:nvSpPr>
          <p:spPr>
            <a:xfrm>
              <a:off x="908304" y="5623560"/>
              <a:ext cx="441655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modellerde TreeExplainer hızlı ve uygun bir seçenektir.</a:t>
              </a:r>
            </a:p>
          </p:txBody>
        </p:sp>
      </p:grpSp>
      <p:sp>
        <p:nvSpPr>
          <p:cNvPr id="59" name="TextBox 59"/>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12 / 25</a:t>
            </a:r>
          </a:p>
        </p:txBody>
      </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7456756" cy="557403"/>
            <a:chOff x="595122" y="282892"/>
            <a:chExt cx="7456756" cy="557403"/>
          </a:xfrm>
        </p:grpSpPr>
        <p:sp>
          <p:nvSpPr>
            <p:cNvPr id="4" name="TextBox 4"/>
            <p:cNvSpPr txBox="1"/>
            <p:nvPr/>
          </p:nvSpPr>
          <p:spPr>
            <a:xfrm>
              <a:off x="595122" y="282892"/>
              <a:ext cx="7456756"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LIME: model-bağımsız yerel açıklama</a:t>
              </a:r>
            </a:p>
          </p:txBody>
        </p:sp>
      </p:grpSp>
      <p:grpSp>
        <p:nvGrpSpPr>
          <p:cNvPr id="8" name="definition-block"/>
          <p:cNvGrpSpPr/>
          <p:nvPr/>
        </p:nvGrpSpPr>
        <p:grpSpPr>
          <a:xfrm>
            <a:off x="601599" y="1182529"/>
            <a:ext cx="11440754" cy="555689"/>
            <a:chOff x="601599" y="1182529"/>
            <a:chExt cx="11440754" cy="555689"/>
          </a:xfrm>
        </p:grpSpPr>
        <p:sp>
          <p:nvSpPr>
            <p:cNvPr id="6" name="TextBox 6"/>
            <p:cNvSpPr txBox="1"/>
            <p:nvPr/>
          </p:nvSpPr>
          <p:spPr>
            <a:xfrm>
              <a:off x="601599" y="1182529"/>
              <a:ext cx="11440754"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LIME (Local Interpretable Model-agnostic Explanations), incelenen gözlemin yakınında yapay örnekler üretir;</a:t>
              </a:r>
            </a:p>
          </p:txBody>
        </p:sp>
        <p:sp>
          <p:nvSpPr>
            <p:cNvPr id="7" name="TextBox 7"/>
            <p:cNvSpPr txBox="1"/>
            <p:nvPr/>
          </p:nvSpPr>
          <p:spPr>
            <a:xfrm>
              <a:off x="601599" y="1430179"/>
              <a:ext cx="8917480"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bu örneklerde kara kutu modelin davranışını gözlemler ve basit bir vekil model kurar.</a:t>
              </a:r>
            </a:p>
          </p:txBody>
        </p:sp>
      </p:grpSp>
      <p:grpSp>
        <p:nvGrpSpPr>
          <p:cNvPr id="28" name="process-flow"/>
          <p:cNvGrpSpPr/>
          <p:nvPr/>
        </p:nvGrpSpPr>
        <p:grpSpPr>
          <a:xfrm>
            <a:off x="609600" y="2019300"/>
            <a:ext cx="10972800" cy="1143000"/>
            <a:chOff x="609600" y="2019300"/>
            <a:chExt cx="10972800" cy="1143000"/>
          </a:xfrm>
        </p:grpSpPr>
        <p:sp>
          <p:nvSpPr>
            <p:cNvPr id="9" name="Rectangle 9"/>
            <p:cNvSpPr/>
            <p:nvPr/>
          </p:nvSpPr>
          <p:spPr>
            <a:xfrm>
              <a:off x="609600" y="2019300"/>
              <a:ext cx="2381250" cy="1143000"/>
            </a:xfrm>
            <a:prstGeom prst="roundRect">
              <a:avLst>
                <a:gd name="adj" fmla="val 6667"/>
              </a:avLst>
            </a:prstGeom>
            <a:solidFill>
              <a:srgbClr val="FFFFFF"/>
            </a:solidFill>
            <a:ln w="14288">
              <a:solidFill>
                <a:srgbClr val="2E86AB"/>
              </a:solidFill>
            </a:ln>
          </p:spPr>
        </p:sp>
        <p:sp>
          <p:nvSpPr>
            <p:cNvPr id="10" name="TextBox 10"/>
            <p:cNvSpPr txBox="1"/>
            <p:nvPr/>
          </p:nvSpPr>
          <p:spPr>
            <a:xfrm>
              <a:off x="832104" y="2175510"/>
              <a:ext cx="1383588"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1. Gözlem seçilir</a:t>
              </a:r>
            </a:p>
          </p:txBody>
        </p:sp>
        <p:sp>
          <p:nvSpPr>
            <p:cNvPr id="11" name="TextBox 11"/>
            <p:cNvSpPr txBox="1"/>
            <p:nvPr/>
          </p:nvSpPr>
          <p:spPr>
            <a:xfrm>
              <a:off x="832866" y="2439352"/>
              <a:ext cx="1110567"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Açıklanacak tek</a:t>
              </a:r>
            </a:p>
          </p:txBody>
        </p:sp>
        <p:sp>
          <p:nvSpPr>
            <p:cNvPr id="12" name="TextBox 12"/>
            <p:cNvSpPr txBox="1"/>
            <p:nvPr/>
          </p:nvSpPr>
          <p:spPr>
            <a:xfrm>
              <a:off x="832866" y="2610802"/>
              <a:ext cx="1226287"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müşteri belirlenir</a:t>
              </a:r>
            </a:p>
          </p:txBody>
        </p:sp>
        <p:sp>
          <p:nvSpPr>
            <p:cNvPr id="13" name="Line 13"/>
            <p:cNvSpPr/>
            <p:nvPr/>
          </p:nvSpPr>
          <p:spPr>
            <a:xfrm>
              <a:off x="2990850" y="2590800"/>
              <a:ext cx="400050" cy="1"/>
            </a:xfrm>
            <a:prstGeom prst="line">
              <a:avLst/>
            </a:prstGeom>
            <a:noFill/>
            <a:ln w="23812">
              <a:solidFill>
                <a:srgbClr val="00A6A6"/>
              </a:solidFill>
              <a:tailEnd type="arrow" w="lg" len="lg"/>
            </a:ln>
          </p:spPr>
        </p:sp>
        <p:sp>
          <p:nvSpPr>
            <p:cNvPr id="14" name="Rectangle 14"/>
            <p:cNvSpPr/>
            <p:nvPr/>
          </p:nvSpPr>
          <p:spPr>
            <a:xfrm>
              <a:off x="3448050" y="2019300"/>
              <a:ext cx="2381250" cy="1143000"/>
            </a:xfrm>
            <a:prstGeom prst="roundRect">
              <a:avLst>
                <a:gd name="adj" fmla="val 6667"/>
              </a:avLst>
            </a:prstGeom>
            <a:solidFill>
              <a:srgbClr val="FFFFFF"/>
            </a:solidFill>
            <a:ln w="14288">
              <a:solidFill>
                <a:srgbClr val="2E86AB"/>
              </a:solidFill>
            </a:ln>
          </p:spPr>
        </p:sp>
        <p:sp>
          <p:nvSpPr>
            <p:cNvPr id="15" name="TextBox 15"/>
            <p:cNvSpPr txBox="1"/>
            <p:nvPr/>
          </p:nvSpPr>
          <p:spPr>
            <a:xfrm>
              <a:off x="3670554" y="2175510"/>
              <a:ext cx="1900908"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2. Çevresinde örnekler</a:t>
              </a:r>
            </a:p>
          </p:txBody>
        </p:sp>
        <p:sp>
          <p:nvSpPr>
            <p:cNvPr id="16" name="TextBox 16"/>
            <p:cNvSpPr txBox="1"/>
            <p:nvPr/>
          </p:nvSpPr>
          <p:spPr>
            <a:xfrm>
              <a:off x="3671316" y="2439352"/>
              <a:ext cx="1379247"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Yapay pertürbasyon</a:t>
              </a:r>
            </a:p>
          </p:txBody>
        </p:sp>
        <p:sp>
          <p:nvSpPr>
            <p:cNvPr id="17" name="TextBox 17"/>
            <p:cNvSpPr txBox="1"/>
            <p:nvPr/>
          </p:nvSpPr>
          <p:spPr>
            <a:xfrm>
              <a:off x="3671316" y="2610802"/>
              <a:ext cx="1233354"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noktaları üretilir</a:t>
              </a:r>
            </a:p>
          </p:txBody>
        </p:sp>
        <p:sp>
          <p:nvSpPr>
            <p:cNvPr id="18" name="Line 18"/>
            <p:cNvSpPr/>
            <p:nvPr/>
          </p:nvSpPr>
          <p:spPr>
            <a:xfrm>
              <a:off x="5829300" y="2590800"/>
              <a:ext cx="400050" cy="1"/>
            </a:xfrm>
            <a:prstGeom prst="line">
              <a:avLst/>
            </a:prstGeom>
            <a:noFill/>
            <a:ln w="23812">
              <a:solidFill>
                <a:srgbClr val="00A6A6"/>
              </a:solidFill>
              <a:tailEnd type="arrow" w="lg" len="lg"/>
            </a:ln>
          </p:spPr>
        </p:sp>
        <p:sp>
          <p:nvSpPr>
            <p:cNvPr id="19" name="Rectangle 19"/>
            <p:cNvSpPr/>
            <p:nvPr/>
          </p:nvSpPr>
          <p:spPr>
            <a:xfrm>
              <a:off x="6286500" y="2019300"/>
              <a:ext cx="2381250" cy="1143000"/>
            </a:xfrm>
            <a:prstGeom prst="roundRect">
              <a:avLst>
                <a:gd name="adj" fmla="val 6667"/>
              </a:avLst>
            </a:prstGeom>
            <a:solidFill>
              <a:srgbClr val="FFFFFF"/>
            </a:solidFill>
            <a:ln w="14288">
              <a:solidFill>
                <a:srgbClr val="2E86AB"/>
              </a:solidFill>
            </a:ln>
          </p:spPr>
        </p:sp>
        <p:sp>
          <p:nvSpPr>
            <p:cNvPr id="20" name="TextBox 20"/>
            <p:cNvSpPr txBox="1"/>
            <p:nvPr/>
          </p:nvSpPr>
          <p:spPr>
            <a:xfrm>
              <a:off x="6509004" y="2175510"/>
              <a:ext cx="1714405"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3. Davranış gözlenir</a:t>
              </a:r>
            </a:p>
          </p:txBody>
        </p:sp>
        <p:sp>
          <p:nvSpPr>
            <p:cNvPr id="21" name="TextBox 21"/>
            <p:cNvSpPr txBox="1"/>
            <p:nvPr/>
          </p:nvSpPr>
          <p:spPr>
            <a:xfrm>
              <a:off x="6509766" y="2439352"/>
              <a:ext cx="1421793"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Kara kutu modelin bu</a:t>
              </a:r>
            </a:p>
          </p:txBody>
        </p:sp>
        <p:sp>
          <p:nvSpPr>
            <p:cNvPr id="22" name="TextBox 22"/>
            <p:cNvSpPr txBox="1"/>
            <p:nvPr/>
          </p:nvSpPr>
          <p:spPr>
            <a:xfrm>
              <a:off x="6509766" y="2610802"/>
              <a:ext cx="1933042"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örneklerdeki çıktısı alınır</a:t>
              </a:r>
            </a:p>
          </p:txBody>
        </p:sp>
        <p:sp>
          <p:nvSpPr>
            <p:cNvPr id="23" name="Line 23"/>
            <p:cNvSpPr/>
            <p:nvPr/>
          </p:nvSpPr>
          <p:spPr>
            <a:xfrm>
              <a:off x="8667750" y="2590800"/>
              <a:ext cx="400050" cy="1"/>
            </a:xfrm>
            <a:prstGeom prst="line">
              <a:avLst/>
            </a:prstGeom>
            <a:noFill/>
            <a:ln w="23812">
              <a:solidFill>
                <a:srgbClr val="00A6A6"/>
              </a:solidFill>
              <a:tailEnd type="arrow" w="lg" len="lg"/>
            </a:ln>
          </p:spPr>
        </p:sp>
        <p:sp>
          <p:nvSpPr>
            <p:cNvPr id="24" name="Rectangle 24"/>
            <p:cNvSpPr/>
            <p:nvPr/>
          </p:nvSpPr>
          <p:spPr>
            <a:xfrm>
              <a:off x="9124950" y="2019300"/>
              <a:ext cx="2457450" cy="1143000"/>
            </a:xfrm>
            <a:prstGeom prst="roundRect">
              <a:avLst>
                <a:gd name="adj" fmla="val 6667"/>
              </a:avLst>
            </a:prstGeom>
            <a:solidFill>
              <a:srgbClr val="12355B"/>
            </a:solidFill>
            <a:ln>
              <a:noFill/>
            </a:ln>
          </p:spPr>
        </p:sp>
        <p:sp>
          <p:nvSpPr>
            <p:cNvPr id="25" name="TextBox 25"/>
            <p:cNvSpPr txBox="1"/>
            <p:nvPr/>
          </p:nvSpPr>
          <p:spPr>
            <a:xfrm>
              <a:off x="9347454" y="2175510"/>
              <a:ext cx="1807654" cy="234696"/>
            </a:xfrm>
            <a:prstGeom prst="rect">
              <a:avLst/>
            </a:prstGeom>
            <a:noFill/>
            <a:ln>
              <a:noFill/>
            </a:ln>
          </p:spPr>
          <p:txBody>
            <a:bodyPr wrap="none" lIns="0" tIns="0" rIns="0" bIns="0" anchor="t" anchorCtr="0">
              <a:spAutoFit/>
            </a:bodyPr>
            <a:lstStyle/>
            <a:p>
              <a:pPr algn="l"/>
              <a:r>
                <a:rPr lang="tr-TR" sz="1200" b="1" dirty="0">
                  <a:solidFill>
                    <a:srgbClr val="FFFFFF"/>
                  </a:solidFill>
                  <a:latin typeface="+mn-lt"/>
                  <a:ea typeface="+mn-ea"/>
                  <a:cs typeface="+mn-cs"/>
                </a:rPr>
                <a:t>4. Vekil model kurulur</a:t>
              </a:r>
            </a:p>
          </p:txBody>
        </p:sp>
        <p:sp>
          <p:nvSpPr>
            <p:cNvPr id="26" name="TextBox 26"/>
            <p:cNvSpPr txBox="1"/>
            <p:nvPr/>
          </p:nvSpPr>
          <p:spPr>
            <a:xfrm>
              <a:off x="9348216" y="2439352"/>
              <a:ext cx="1429512" cy="205359"/>
            </a:xfrm>
            <a:prstGeom prst="rect">
              <a:avLst/>
            </a:prstGeom>
            <a:noFill/>
            <a:ln>
              <a:noFill/>
            </a:ln>
          </p:spPr>
          <p:txBody>
            <a:bodyPr wrap="none" lIns="0" tIns="0" rIns="0" bIns="0" anchor="t" anchorCtr="0">
              <a:spAutoFit/>
            </a:bodyPr>
            <a:lstStyle/>
            <a:p>
              <a:pPr algn="l"/>
              <a:r>
                <a:rPr lang="tr-TR" sz="1050" dirty="0">
                  <a:solidFill>
                    <a:srgbClr val="EAF4F6"/>
                  </a:solidFill>
                  <a:latin typeface="+mn-lt"/>
                  <a:ea typeface="+mn-ea"/>
                  <a:cs typeface="+mn-cs"/>
                </a:rPr>
                <a:t>Basit (ör. doğrusal)</a:t>
              </a:r>
            </a:p>
          </p:txBody>
        </p:sp>
        <p:sp>
          <p:nvSpPr>
            <p:cNvPr id="27" name="TextBox 27"/>
            <p:cNvSpPr txBox="1"/>
            <p:nvPr/>
          </p:nvSpPr>
          <p:spPr>
            <a:xfrm>
              <a:off x="9348216" y="2610802"/>
              <a:ext cx="1339367" cy="205359"/>
            </a:xfrm>
            <a:prstGeom prst="rect">
              <a:avLst/>
            </a:prstGeom>
            <a:noFill/>
            <a:ln>
              <a:noFill/>
            </a:ln>
          </p:spPr>
          <p:txBody>
            <a:bodyPr wrap="none" lIns="0" tIns="0" rIns="0" bIns="0" anchor="t" anchorCtr="0">
              <a:spAutoFit/>
            </a:bodyPr>
            <a:lstStyle/>
            <a:p>
              <a:pPr algn="l"/>
              <a:r>
                <a:rPr lang="tr-TR" sz="1050" dirty="0">
                  <a:solidFill>
                    <a:srgbClr val="EAF4F6"/>
                  </a:solidFill>
                  <a:latin typeface="+mn-lt"/>
                  <a:ea typeface="+mn-ea"/>
                  <a:cs typeface="+mn-cs"/>
                </a:rPr>
                <a:t>model yerel açıklar</a:t>
              </a:r>
            </a:p>
          </p:txBody>
        </p:sp>
      </p:grpSp>
      <p:grpSp>
        <p:nvGrpSpPr>
          <p:cNvPr id="33" name="analogy-card"/>
          <p:cNvGrpSpPr/>
          <p:nvPr/>
        </p:nvGrpSpPr>
        <p:grpSpPr>
          <a:xfrm>
            <a:off x="609600" y="3543300"/>
            <a:ext cx="10972800" cy="876300"/>
            <a:chOff x="609600" y="3543300"/>
            <a:chExt cx="10972800" cy="876300"/>
          </a:xfrm>
        </p:grpSpPr>
        <p:sp>
          <p:nvSpPr>
            <p:cNvPr id="29" name="Rectangle 29"/>
            <p:cNvSpPr/>
            <p:nvPr/>
          </p:nvSpPr>
          <p:spPr>
            <a:xfrm>
              <a:off x="609600" y="3543300"/>
              <a:ext cx="10972800" cy="876300"/>
            </a:xfrm>
            <a:prstGeom prst="roundRect">
              <a:avLst>
                <a:gd name="adj" fmla="val 8696"/>
              </a:avLst>
            </a:prstGeom>
            <a:solidFill>
              <a:srgbClr val="EAF4F6"/>
            </a:solidFill>
            <a:ln>
              <a:noFill/>
            </a:ln>
          </p:spPr>
        </p:sp>
        <p:sp>
          <p:nvSpPr>
            <p:cNvPr id="30" name="TextBox 30"/>
            <p:cNvSpPr txBox="1"/>
            <p:nvPr/>
          </p:nvSpPr>
          <p:spPr>
            <a:xfrm>
              <a:off x="908304" y="3699510"/>
              <a:ext cx="850030" cy="234696"/>
            </a:xfrm>
            <a:prstGeom prst="rect">
              <a:avLst/>
            </a:prstGeom>
            <a:noFill/>
            <a:ln>
              <a:noFill/>
            </a:ln>
          </p:spPr>
          <p:txBody>
            <a:bodyPr wrap="none" lIns="0" tIns="0" rIns="0" bIns="0" anchor="t" anchorCtr="0">
              <a:spAutoFit/>
            </a:bodyPr>
            <a:lstStyle/>
            <a:p>
              <a:pPr algn="l"/>
              <a:r>
                <a:rPr lang="tr-TR" sz="1200" i="1" dirty="0">
                  <a:solidFill>
                    <a:srgbClr val="52616B"/>
                  </a:solidFill>
                  <a:latin typeface="+mn-lt"/>
                  <a:ea typeface="+mn-ea"/>
                  <a:cs typeface="+mn-cs"/>
                </a:rPr>
                <a:t>Benzetme:</a:t>
              </a:r>
            </a:p>
          </p:txBody>
        </p:sp>
        <p:sp>
          <p:nvSpPr>
            <p:cNvPr id="31" name="TextBox 31"/>
            <p:cNvSpPr txBox="1"/>
            <p:nvPr/>
          </p:nvSpPr>
          <p:spPr>
            <a:xfrm>
              <a:off x="908304" y="3909060"/>
              <a:ext cx="912024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Bir mahalledeki trafik akışını anlamak için tüm şehrin haritasını çıkarmak yerine yalnızca ilgili kavşağın çevresini</a:t>
              </a:r>
            </a:p>
          </p:txBody>
        </p:sp>
        <p:sp>
          <p:nvSpPr>
            <p:cNvPr id="32" name="TextBox 32"/>
            <p:cNvSpPr txBox="1"/>
            <p:nvPr/>
          </p:nvSpPr>
          <p:spPr>
            <a:xfrm>
              <a:off x="908304" y="4118610"/>
              <a:ext cx="835594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incelemeye benzer; tekil kararlar için anlaşılır açıklama üretir, ancak seçilen yakın çevreye duyarlıdır.</a:t>
              </a:r>
            </a:p>
          </p:txBody>
        </p:sp>
      </p:grpSp>
      <p:grpSp>
        <p:nvGrpSpPr>
          <p:cNvPr id="36" name="closing-note"/>
          <p:cNvGrpSpPr/>
          <p:nvPr/>
        </p:nvGrpSpPr>
        <p:grpSpPr>
          <a:xfrm>
            <a:off x="603504" y="4728210"/>
            <a:ext cx="8862299" cy="463296"/>
            <a:chOff x="603504" y="4728210"/>
            <a:chExt cx="8862299" cy="463296"/>
          </a:xfrm>
        </p:grpSpPr>
        <p:sp>
          <p:nvSpPr>
            <p:cNvPr id="34" name="TextBox 34"/>
            <p:cNvSpPr txBox="1"/>
            <p:nvPr/>
          </p:nvSpPr>
          <p:spPr>
            <a:xfrm>
              <a:off x="603504" y="4728210"/>
              <a:ext cx="8862299"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LIME, model türünden bağımsız olması gerektiğinde tercih edilir — rastgele orman, destek vektör makinesi veya</a:t>
              </a:r>
            </a:p>
          </p:txBody>
        </p:sp>
        <p:sp>
          <p:nvSpPr>
            <p:cNvPr id="35" name="TextBox 35"/>
            <p:cNvSpPr txBox="1"/>
            <p:nvPr/>
          </p:nvSpPr>
          <p:spPr>
            <a:xfrm>
              <a:off x="603504" y="4956810"/>
              <a:ext cx="362270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sinir ağı için aynı temel arayüz kullanılabilir.</a:t>
              </a:r>
            </a:p>
          </p:txBody>
        </p:sp>
      </p:grpSp>
      <p:sp>
        <p:nvSpPr>
          <p:cNvPr id="37" name="TextBox 37"/>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13 / 25</a:t>
            </a:r>
          </a:p>
        </p:txBody>
      </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4530847" cy="557403"/>
            <a:chOff x="595122" y="282892"/>
            <a:chExt cx="4530847" cy="557403"/>
          </a:xfrm>
        </p:grpSpPr>
        <p:sp>
          <p:nvSpPr>
            <p:cNvPr id="4" name="TextBox 4"/>
            <p:cNvSpPr txBox="1"/>
            <p:nvPr/>
          </p:nvSpPr>
          <p:spPr>
            <a:xfrm>
              <a:off x="595122" y="282892"/>
              <a:ext cx="4530847"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LIME ile yerel açıklama</a:t>
              </a:r>
            </a:p>
          </p:txBody>
        </p:sp>
      </p:grpSp>
      <p:grpSp>
        <p:nvGrpSpPr>
          <p:cNvPr id="7" name="task-line"/>
          <p:cNvGrpSpPr/>
          <p:nvPr/>
        </p:nvGrpSpPr>
        <p:grpSpPr>
          <a:xfrm>
            <a:off x="603504" y="1165860"/>
            <a:ext cx="8204369" cy="234696"/>
            <a:chOff x="603504" y="1165860"/>
            <a:chExt cx="8204369" cy="234696"/>
          </a:xfrm>
        </p:grpSpPr>
        <p:sp>
          <p:nvSpPr>
            <p:cNvPr id="6" name="TextBox 6"/>
            <p:cNvSpPr txBox="1"/>
            <p:nvPr/>
          </p:nvSpPr>
          <p:spPr>
            <a:xfrm>
              <a:off x="603504" y="1165860"/>
              <a:ext cx="8204369"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Amaç: LIME ile aynı müşterinin tahminini model-bağımsız bir yerel vekil modelle açıklamak (Şekil 13.2).</a:t>
              </a:r>
            </a:p>
          </p:txBody>
        </p:sp>
      </p:grpSp>
      <p:grpSp>
        <p:nvGrpSpPr>
          <p:cNvPr id="21" name="code-panel"/>
          <p:cNvGrpSpPr/>
          <p:nvPr/>
        </p:nvGrpSpPr>
        <p:grpSpPr>
          <a:xfrm>
            <a:off x="609600" y="1466850"/>
            <a:ext cx="5334000" cy="3048000"/>
            <a:chOff x="609600" y="1466850"/>
            <a:chExt cx="5334000" cy="3048000"/>
          </a:xfrm>
        </p:grpSpPr>
        <p:sp>
          <p:nvSpPr>
            <p:cNvPr id="8" name="Rectangle 8"/>
            <p:cNvSpPr/>
            <p:nvPr/>
          </p:nvSpPr>
          <p:spPr>
            <a:xfrm>
              <a:off x="609600" y="1466850"/>
              <a:ext cx="5334000" cy="3048000"/>
            </a:xfrm>
            <a:prstGeom prst="roundRect">
              <a:avLst>
                <a:gd name="adj" fmla="val 2500"/>
              </a:avLst>
            </a:prstGeom>
            <a:solidFill>
              <a:srgbClr val="12355B"/>
            </a:solidFill>
            <a:ln>
              <a:noFill/>
            </a:ln>
          </p:spPr>
        </p:sp>
        <p:sp>
          <p:nvSpPr>
            <p:cNvPr id="9" name="TextBox 9"/>
            <p:cNvSpPr txBox="1"/>
            <p:nvPr/>
          </p:nvSpPr>
          <p:spPr>
            <a:xfrm>
              <a:off x="832485" y="1631156"/>
              <a:ext cx="3003262" cy="220028"/>
            </a:xfrm>
            <a:prstGeom prst="rect">
              <a:avLst/>
            </a:prstGeom>
            <a:noFill/>
            <a:ln>
              <a:noFill/>
            </a:ln>
          </p:spPr>
          <p:txBody>
            <a:bodyPr wrap="none" lIns="0" tIns="0" rIns="0" bIns="0" anchor="t" anchorCtr="0">
              <a:spAutoFit/>
            </a:bodyPr>
            <a:lstStyle/>
            <a:p>
              <a:pPr algn="l"/>
              <a:r>
                <a:rPr lang="tr-TR" sz="1120" dirty="0">
                  <a:solidFill>
                    <a:srgbClr val="00A6A6"/>
                  </a:solidFill>
                  <a:latin typeface="Consolas"/>
                  <a:ea typeface="Consolas"/>
                  <a:cs typeface="Consolas"/>
                </a:rPr>
                <a:t># File: ch13_lime_tahmin_aciklama.py</a:t>
              </a:r>
            </a:p>
          </p:txBody>
        </p:sp>
        <p:sp>
          <p:nvSpPr>
            <p:cNvPr id="10" name="TextBox 10"/>
            <p:cNvSpPr txBox="1"/>
            <p:nvPr/>
          </p:nvSpPr>
          <p:spPr>
            <a:xfrm>
              <a:off x="832485" y="1897856"/>
              <a:ext cx="3261693" cy="220028"/>
            </a:xfrm>
            <a:prstGeom prst="rect">
              <a:avLst/>
            </a:prstGeom>
            <a:noFill/>
            <a:ln>
              <a:noFill/>
            </a:ln>
          </p:spPr>
          <p:txBody>
            <a:bodyPr wrap="none" lIns="0" tIns="0" rIns="0" bIns="0" anchor="t" anchorCtr="0">
              <a:spAutoFit/>
            </a:bodyPr>
            <a:lstStyle/>
            <a:p>
              <a:pPr algn="l"/>
              <a:r>
                <a:rPr lang="tr-TR" sz="1120" dirty="0">
                  <a:solidFill>
                    <a:srgbClr val="FFFFFF"/>
                  </a:solidFill>
                  <a:latin typeface="Consolas"/>
                  <a:ea typeface="Consolas"/>
                  <a:cs typeface="Consolas"/>
                </a:rPr>
                <a:t>lime_aciklayici = LimeTabularExplainer(</a:t>
              </a:r>
            </a:p>
          </p:txBody>
        </p:sp>
        <p:sp>
          <p:nvSpPr>
            <p:cNvPr id="11" name="TextBox 11"/>
            <p:cNvSpPr txBox="1"/>
            <p:nvPr/>
          </p:nvSpPr>
          <p:spPr>
            <a:xfrm>
              <a:off x="1061085" y="2126456"/>
              <a:ext cx="2504840" cy="220028"/>
            </a:xfrm>
            <a:prstGeom prst="rect">
              <a:avLst/>
            </a:prstGeom>
            <a:noFill/>
            <a:ln>
              <a:noFill/>
            </a:ln>
          </p:spPr>
          <p:txBody>
            <a:bodyPr wrap="none" lIns="0" tIns="0" rIns="0" bIns="0" anchor="t" anchorCtr="0">
              <a:spAutoFit/>
            </a:bodyPr>
            <a:lstStyle/>
            <a:p>
              <a:pPr algn="l"/>
              <a:r>
                <a:rPr lang="tr-TR" sz="1120" dirty="0">
                  <a:solidFill>
                    <a:srgbClr val="FFFFFF"/>
                  </a:solidFill>
                  <a:latin typeface="Consolas"/>
                  <a:ea typeface="Consolas"/>
                  <a:cs typeface="Consolas"/>
                </a:rPr>
                <a:t>training_data=egitim_X.values,</a:t>
              </a:r>
            </a:p>
          </p:txBody>
        </p:sp>
        <p:sp>
          <p:nvSpPr>
            <p:cNvPr id="12" name="TextBox 12"/>
            <p:cNvSpPr txBox="1"/>
            <p:nvPr/>
          </p:nvSpPr>
          <p:spPr>
            <a:xfrm>
              <a:off x="1061085" y="2336006"/>
              <a:ext cx="3334334" cy="220028"/>
            </a:xfrm>
            <a:prstGeom prst="rect">
              <a:avLst/>
            </a:prstGeom>
            <a:noFill/>
            <a:ln>
              <a:noFill/>
            </a:ln>
          </p:spPr>
          <p:txBody>
            <a:bodyPr wrap="none" lIns="0" tIns="0" rIns="0" bIns="0" anchor="t" anchorCtr="0">
              <a:spAutoFit/>
            </a:bodyPr>
            <a:lstStyle/>
            <a:p>
              <a:pPr algn="l"/>
              <a:r>
                <a:rPr lang="tr-TR" sz="1120" dirty="0">
                  <a:solidFill>
                    <a:srgbClr val="FFFFFF"/>
                  </a:solidFill>
                  <a:latin typeface="Consolas"/>
                  <a:ea typeface="Consolas"/>
                  <a:cs typeface="Consolas"/>
                </a:rPr>
                <a:t>feature_names=egitim_X.columns.tolist(),</a:t>
              </a:r>
            </a:p>
          </p:txBody>
        </p:sp>
        <p:sp>
          <p:nvSpPr>
            <p:cNvPr id="13" name="TextBox 13"/>
            <p:cNvSpPr txBox="1"/>
            <p:nvPr/>
          </p:nvSpPr>
          <p:spPr>
            <a:xfrm>
              <a:off x="1061085" y="2545556"/>
              <a:ext cx="3507038" cy="220028"/>
            </a:xfrm>
            <a:prstGeom prst="rect">
              <a:avLst/>
            </a:prstGeom>
            <a:noFill/>
            <a:ln>
              <a:noFill/>
            </a:ln>
          </p:spPr>
          <p:txBody>
            <a:bodyPr wrap="none" lIns="0" tIns="0" rIns="0" bIns="0" anchor="t" anchorCtr="0">
              <a:spAutoFit/>
            </a:bodyPr>
            <a:lstStyle/>
            <a:p>
              <a:pPr algn="l"/>
              <a:r>
                <a:rPr lang="tr-TR" sz="1120" dirty="0">
                  <a:solidFill>
                    <a:srgbClr val="FFFFFF"/>
                  </a:solidFill>
                  <a:latin typeface="Consolas"/>
                  <a:ea typeface="Consolas"/>
                  <a:cs typeface="Consolas"/>
                </a:rPr>
                <a:t>class_names=["Ayrılmayacak", "Ayrılacak"],</a:t>
              </a:r>
            </a:p>
          </p:txBody>
        </p:sp>
        <p:sp>
          <p:nvSpPr>
            <p:cNvPr id="14" name="TextBox 14"/>
            <p:cNvSpPr txBox="1"/>
            <p:nvPr/>
          </p:nvSpPr>
          <p:spPr>
            <a:xfrm>
              <a:off x="1061085" y="2755106"/>
              <a:ext cx="3245541" cy="220028"/>
            </a:xfrm>
            <a:prstGeom prst="rect">
              <a:avLst/>
            </a:prstGeom>
            <a:noFill/>
            <a:ln>
              <a:noFill/>
            </a:ln>
          </p:spPr>
          <p:txBody>
            <a:bodyPr wrap="none" lIns="0" tIns="0" rIns="0" bIns="0" anchor="t" anchorCtr="0">
              <a:spAutoFit/>
            </a:bodyPr>
            <a:lstStyle/>
            <a:p>
              <a:pPr algn="l"/>
              <a:r>
                <a:rPr lang="tr-TR" sz="1120" dirty="0">
                  <a:solidFill>
                    <a:srgbClr val="FFFFFF"/>
                  </a:solidFill>
                  <a:latin typeface="Consolas"/>
                  <a:ea typeface="Consolas"/>
                  <a:cs typeface="Consolas"/>
                </a:rPr>
                <a:t>mode="classification", random_state=42)</a:t>
              </a:r>
            </a:p>
          </p:txBody>
        </p:sp>
        <p:sp>
          <p:nvSpPr>
            <p:cNvPr id="15" name="TextBox 15"/>
            <p:cNvSpPr txBox="1"/>
            <p:nvPr/>
          </p:nvSpPr>
          <p:spPr>
            <a:xfrm>
              <a:off x="832485" y="3021806"/>
              <a:ext cx="4240652" cy="220028"/>
            </a:xfrm>
            <a:prstGeom prst="rect">
              <a:avLst/>
            </a:prstGeom>
            <a:noFill/>
            <a:ln>
              <a:noFill/>
            </a:ln>
          </p:spPr>
          <p:txBody>
            <a:bodyPr wrap="none" lIns="0" tIns="0" rIns="0" bIns="0" anchor="t" anchorCtr="0">
              <a:spAutoFit/>
            </a:bodyPr>
            <a:lstStyle/>
            <a:p>
              <a:pPr algn="l"/>
              <a:r>
                <a:rPr lang="tr-TR" sz="1120" dirty="0">
                  <a:solidFill>
                    <a:srgbClr val="FFFFFF"/>
                  </a:solidFill>
                  <a:latin typeface="Consolas"/>
                  <a:ea typeface="Consolas"/>
                  <a:cs typeface="Consolas"/>
                </a:rPr>
                <a:t>lime_aciklamasi = lime_aciklayici.explain_instance(</a:t>
              </a:r>
            </a:p>
          </p:txBody>
        </p:sp>
        <p:sp>
          <p:nvSpPr>
            <p:cNvPr id="16" name="TextBox 16"/>
            <p:cNvSpPr txBox="1"/>
            <p:nvPr/>
          </p:nvSpPr>
          <p:spPr>
            <a:xfrm>
              <a:off x="1061085" y="3231356"/>
              <a:ext cx="2499208" cy="220028"/>
            </a:xfrm>
            <a:prstGeom prst="rect">
              <a:avLst/>
            </a:prstGeom>
            <a:noFill/>
            <a:ln>
              <a:noFill/>
            </a:ln>
          </p:spPr>
          <p:txBody>
            <a:bodyPr wrap="none" lIns="0" tIns="0" rIns="0" bIns="0" anchor="t" anchorCtr="0">
              <a:spAutoFit/>
            </a:bodyPr>
            <a:lstStyle/>
            <a:p>
              <a:pPr algn="l"/>
              <a:r>
                <a:rPr lang="tr-TR" sz="1120" dirty="0">
                  <a:solidFill>
                    <a:srgbClr val="FFFFFF"/>
                  </a:solidFill>
                  <a:latin typeface="Consolas"/>
                  <a:ea typeface="Consolas"/>
                  <a:cs typeface="Consolas"/>
                </a:rPr>
                <a:t>secili_musteri.iloc[0].values,</a:t>
              </a:r>
            </a:p>
          </p:txBody>
        </p:sp>
        <p:sp>
          <p:nvSpPr>
            <p:cNvPr id="17" name="TextBox 17"/>
            <p:cNvSpPr txBox="1"/>
            <p:nvPr/>
          </p:nvSpPr>
          <p:spPr>
            <a:xfrm>
              <a:off x="1061085" y="3440906"/>
              <a:ext cx="3908948" cy="220028"/>
            </a:xfrm>
            <a:prstGeom prst="rect">
              <a:avLst/>
            </a:prstGeom>
            <a:noFill/>
            <a:ln>
              <a:noFill/>
            </a:ln>
          </p:spPr>
          <p:txBody>
            <a:bodyPr wrap="none" lIns="0" tIns="0" rIns="0" bIns="0" anchor="t" anchorCtr="0">
              <a:spAutoFit/>
            </a:bodyPr>
            <a:lstStyle/>
            <a:p>
              <a:pPr algn="l"/>
              <a:r>
                <a:rPr lang="tr-TR" sz="1120" dirty="0">
                  <a:solidFill>
                    <a:srgbClr val="FFFFFF"/>
                  </a:solidFill>
                  <a:latin typeface="Consolas"/>
                  <a:ea typeface="Consolas"/>
                  <a:cs typeface="Consolas"/>
                </a:rPr>
                <a:t>kara_kutu_modeli.predict_proba, num_features=3)</a:t>
              </a:r>
            </a:p>
          </p:txBody>
        </p:sp>
        <p:sp>
          <p:nvSpPr>
            <p:cNvPr id="18" name="TextBox 18"/>
            <p:cNvSpPr txBox="1"/>
            <p:nvPr/>
          </p:nvSpPr>
          <p:spPr>
            <a:xfrm>
              <a:off x="832485" y="3726656"/>
              <a:ext cx="4572356" cy="220028"/>
            </a:xfrm>
            <a:prstGeom prst="rect">
              <a:avLst/>
            </a:prstGeom>
            <a:noFill/>
            <a:ln>
              <a:noFill/>
            </a:ln>
          </p:spPr>
          <p:txBody>
            <a:bodyPr wrap="none" lIns="0" tIns="0" rIns="0" bIns="0" anchor="t" anchorCtr="0">
              <a:spAutoFit/>
            </a:bodyPr>
            <a:lstStyle/>
            <a:p>
              <a:pPr algn="l"/>
              <a:r>
                <a:rPr lang="tr-TR" sz="1120" dirty="0">
                  <a:solidFill>
                    <a:srgbClr val="FFFFFF"/>
                  </a:solidFill>
                  <a:latin typeface="Consolas"/>
                  <a:ea typeface="Consolas"/>
                  <a:cs typeface="Consolas"/>
                </a:rPr>
                <a:t>lime_aciklamasi.save_to_file("ch13_lime_aciklama.html")</a:t>
              </a:r>
            </a:p>
          </p:txBody>
        </p:sp>
        <p:sp>
          <p:nvSpPr>
            <p:cNvPr id="19" name="TextBox 19"/>
            <p:cNvSpPr txBox="1"/>
            <p:nvPr/>
          </p:nvSpPr>
          <p:spPr>
            <a:xfrm>
              <a:off x="832866" y="4039552"/>
              <a:ext cx="1798758" cy="205359"/>
            </a:xfrm>
            <a:prstGeom prst="rect">
              <a:avLst/>
            </a:prstGeom>
            <a:noFill/>
            <a:ln>
              <a:noFill/>
            </a:ln>
          </p:spPr>
          <p:txBody>
            <a:bodyPr wrap="none" lIns="0" tIns="0" rIns="0" bIns="0" anchor="t" anchorCtr="0">
              <a:spAutoFit/>
            </a:bodyPr>
            <a:lstStyle/>
            <a:p>
              <a:pPr algn="l"/>
              <a:r>
                <a:rPr lang="tr-TR" sz="1050" dirty="0">
                  <a:solidFill>
                    <a:srgbClr val="00A6A6"/>
                  </a:solidFill>
                  <a:latin typeface="Consolas"/>
                  <a:ea typeface="Consolas"/>
                  <a:cs typeface="Consolas"/>
                </a:rPr>
                <a:t># tenure &gt; 41.25: 0.540</a:t>
              </a:r>
            </a:p>
          </p:txBody>
        </p:sp>
        <p:sp>
          <p:nvSpPr>
            <p:cNvPr id="20" name="TextBox 20"/>
            <p:cNvSpPr txBox="1"/>
            <p:nvPr/>
          </p:nvSpPr>
          <p:spPr>
            <a:xfrm>
              <a:off x="832866" y="4230052"/>
              <a:ext cx="2964904" cy="205359"/>
            </a:xfrm>
            <a:prstGeom prst="rect">
              <a:avLst/>
            </a:prstGeom>
            <a:noFill/>
            <a:ln>
              <a:noFill/>
            </a:ln>
          </p:spPr>
          <p:txBody>
            <a:bodyPr wrap="none" lIns="0" tIns="0" rIns="0" bIns="0" anchor="t" anchorCtr="0">
              <a:spAutoFit/>
            </a:bodyPr>
            <a:lstStyle/>
            <a:p>
              <a:pPr algn="l"/>
              <a:r>
                <a:rPr lang="tr-TR" sz="1050" dirty="0">
                  <a:solidFill>
                    <a:srgbClr val="00A6A6"/>
                  </a:solidFill>
                  <a:latin typeface="Consolas"/>
                  <a:ea typeface="Consolas"/>
                  <a:cs typeface="Consolas"/>
                </a:rPr>
                <a:t># ch13_lime_aciklama.html oluşturuldu.</a:t>
              </a:r>
            </a:p>
          </p:txBody>
        </p:sp>
      </p:grpSp>
      <p:grpSp>
        <p:nvGrpSpPr>
          <p:cNvPr id="38" name="bar-panel"/>
          <p:cNvGrpSpPr/>
          <p:nvPr/>
        </p:nvGrpSpPr>
        <p:grpSpPr>
          <a:xfrm>
            <a:off x="6248400" y="1466850"/>
            <a:ext cx="5334000" cy="3048000"/>
            <a:chOff x="6248400" y="1466850"/>
            <a:chExt cx="5334000" cy="3048000"/>
          </a:xfrm>
        </p:grpSpPr>
        <p:sp>
          <p:nvSpPr>
            <p:cNvPr id="22" name="Rectangle 22"/>
            <p:cNvSpPr/>
            <p:nvPr/>
          </p:nvSpPr>
          <p:spPr>
            <a:xfrm>
              <a:off x="6248400" y="1466850"/>
              <a:ext cx="5334000" cy="3048000"/>
            </a:xfrm>
            <a:prstGeom prst="roundRect">
              <a:avLst>
                <a:gd name="adj" fmla="val 2500"/>
              </a:avLst>
            </a:prstGeom>
            <a:solidFill>
              <a:srgbClr val="FFFFFF"/>
            </a:solidFill>
            <a:ln w="14288">
              <a:solidFill>
                <a:srgbClr val="B8CBD3"/>
              </a:solidFill>
            </a:ln>
          </p:spPr>
        </p:sp>
        <p:sp>
          <p:nvSpPr>
            <p:cNvPr id="23" name="TextBox 23"/>
            <p:cNvSpPr txBox="1"/>
            <p:nvPr/>
          </p:nvSpPr>
          <p:spPr>
            <a:xfrm>
              <a:off x="6470142" y="1606868"/>
              <a:ext cx="2826027"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LIME ağırlıkları (bu müşteri)</a:t>
              </a:r>
            </a:p>
          </p:txBody>
        </p:sp>
        <p:sp>
          <p:nvSpPr>
            <p:cNvPr id="24" name="Line 24"/>
            <p:cNvSpPr/>
            <p:nvPr/>
          </p:nvSpPr>
          <p:spPr>
            <a:xfrm>
              <a:off x="8915400" y="2000250"/>
              <a:ext cx="9525" cy="2000250"/>
            </a:xfrm>
            <a:custGeom>
              <a:avLst/>
              <a:gdLst/>
              <a:ahLst/>
              <a:cxnLst/>
              <a:rect l="l" t="t" r="r" b="b"/>
              <a:pathLst>
                <a:path w="9525" h="2000250">
                  <a:moveTo>
                    <a:pt x="0" y="0"/>
                  </a:moveTo>
                  <a:lnTo>
                    <a:pt x="0" y="2000250"/>
                  </a:lnTo>
                </a:path>
              </a:pathLst>
            </a:custGeom>
            <a:noFill/>
            <a:ln w="14288">
              <a:solidFill>
                <a:srgbClr val="B8CBD3"/>
              </a:solidFill>
              <a:prstDash val="dash"/>
            </a:ln>
          </p:spPr>
        </p:sp>
        <p:sp>
          <p:nvSpPr>
            <p:cNvPr id="25" name="TextBox 25"/>
            <p:cNvSpPr txBox="1"/>
            <p:nvPr/>
          </p:nvSpPr>
          <p:spPr>
            <a:xfrm>
              <a:off x="6471285" y="2164556"/>
              <a:ext cx="1097006"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tenure &gt; 41.25</a:t>
              </a:r>
            </a:p>
          </p:txBody>
        </p:sp>
        <p:sp>
          <p:nvSpPr>
            <p:cNvPr id="26" name="Rectangle 26"/>
            <p:cNvSpPr/>
            <p:nvPr/>
          </p:nvSpPr>
          <p:spPr>
            <a:xfrm>
              <a:off x="8915400" y="2362200"/>
              <a:ext cx="1905000" cy="285750"/>
            </a:xfrm>
            <a:prstGeom prst="rect">
              <a:avLst/>
            </a:prstGeom>
            <a:solidFill>
              <a:srgbClr val="E07B00"/>
            </a:solidFill>
            <a:ln>
              <a:noFill/>
            </a:ln>
          </p:spPr>
        </p:sp>
        <p:sp>
          <p:nvSpPr>
            <p:cNvPr id="27" name="TextBox 27"/>
            <p:cNvSpPr txBox="1"/>
            <p:nvPr/>
          </p:nvSpPr>
          <p:spPr>
            <a:xfrm>
              <a:off x="10910316" y="2439352"/>
              <a:ext cx="418819" cy="205359"/>
            </a:xfrm>
            <a:prstGeom prst="rect">
              <a:avLst/>
            </a:prstGeom>
            <a:noFill/>
            <a:ln>
              <a:noFill/>
            </a:ln>
          </p:spPr>
          <p:txBody>
            <a:bodyPr wrap="none" lIns="0" tIns="0" rIns="0" bIns="0" anchor="t" anchorCtr="0">
              <a:spAutoFit/>
            </a:bodyPr>
            <a:lstStyle/>
            <a:p>
              <a:pPr algn="l"/>
              <a:r>
                <a:rPr lang="tr-TR" sz="1050" b="1" dirty="0">
                  <a:solidFill>
                    <a:srgbClr val="12355B"/>
                  </a:solidFill>
                  <a:latin typeface="+mn-lt"/>
                  <a:ea typeface="+mn-ea"/>
                  <a:cs typeface="+mn-cs"/>
                </a:rPr>
                <a:t>0.540</a:t>
              </a:r>
            </a:p>
          </p:txBody>
        </p:sp>
        <p:sp>
          <p:nvSpPr>
            <p:cNvPr id="28" name="TextBox 28"/>
            <p:cNvSpPr txBox="1"/>
            <p:nvPr/>
          </p:nvSpPr>
          <p:spPr>
            <a:xfrm>
              <a:off x="6471285" y="2850356"/>
              <a:ext cx="2192538"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39.9 &lt; MonthlyCharges ≤ 51.6</a:t>
              </a:r>
            </a:p>
          </p:txBody>
        </p:sp>
        <p:sp>
          <p:nvSpPr>
            <p:cNvPr id="29" name="Rectangle 29"/>
            <p:cNvSpPr/>
            <p:nvPr/>
          </p:nvSpPr>
          <p:spPr>
            <a:xfrm>
              <a:off x="8915400" y="3048000"/>
              <a:ext cx="257175" cy="285750"/>
            </a:xfrm>
            <a:prstGeom prst="rect">
              <a:avLst/>
            </a:prstGeom>
            <a:solidFill>
              <a:srgbClr val="E07B00"/>
            </a:solidFill>
            <a:ln>
              <a:noFill/>
            </a:ln>
          </p:spPr>
        </p:sp>
        <p:sp>
          <p:nvSpPr>
            <p:cNvPr id="30" name="TextBox 30"/>
            <p:cNvSpPr txBox="1"/>
            <p:nvPr/>
          </p:nvSpPr>
          <p:spPr>
            <a:xfrm>
              <a:off x="9252966" y="3125152"/>
              <a:ext cx="418819" cy="205359"/>
            </a:xfrm>
            <a:prstGeom prst="rect">
              <a:avLst/>
            </a:prstGeom>
            <a:noFill/>
            <a:ln>
              <a:noFill/>
            </a:ln>
          </p:spPr>
          <p:txBody>
            <a:bodyPr wrap="none" lIns="0" tIns="0" rIns="0" bIns="0" anchor="t" anchorCtr="0">
              <a:spAutoFit/>
            </a:bodyPr>
            <a:lstStyle/>
            <a:p>
              <a:pPr algn="l"/>
              <a:r>
                <a:rPr lang="tr-TR" sz="1050" b="1" dirty="0">
                  <a:solidFill>
                    <a:srgbClr val="12355B"/>
                  </a:solidFill>
                  <a:latin typeface="+mn-lt"/>
                  <a:ea typeface="+mn-ea"/>
                  <a:cs typeface="+mn-cs"/>
                </a:rPr>
                <a:t>0.074</a:t>
              </a:r>
            </a:p>
          </p:txBody>
        </p:sp>
        <p:sp>
          <p:nvSpPr>
            <p:cNvPr id="31" name="TextBox 31"/>
            <p:cNvSpPr txBox="1"/>
            <p:nvPr/>
          </p:nvSpPr>
          <p:spPr>
            <a:xfrm>
              <a:off x="6471285" y="3536156"/>
              <a:ext cx="2332431"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2294.8 &lt; TotalCharges ≤ 2474.3</a:t>
              </a:r>
            </a:p>
          </p:txBody>
        </p:sp>
        <p:sp>
          <p:nvSpPr>
            <p:cNvPr id="32" name="Rectangle 32"/>
            <p:cNvSpPr/>
            <p:nvPr/>
          </p:nvSpPr>
          <p:spPr>
            <a:xfrm>
              <a:off x="8839200" y="3733800"/>
              <a:ext cx="76200" cy="285750"/>
            </a:xfrm>
            <a:prstGeom prst="rect">
              <a:avLst/>
            </a:prstGeom>
            <a:solidFill>
              <a:srgbClr val="2E86AB"/>
            </a:solidFill>
            <a:ln>
              <a:noFill/>
            </a:ln>
          </p:spPr>
        </p:sp>
        <p:sp>
          <p:nvSpPr>
            <p:cNvPr id="33" name="TextBox 33"/>
            <p:cNvSpPr txBox="1"/>
            <p:nvPr/>
          </p:nvSpPr>
          <p:spPr>
            <a:xfrm>
              <a:off x="8490966" y="3810952"/>
              <a:ext cx="500449" cy="205359"/>
            </a:xfrm>
            <a:prstGeom prst="rect">
              <a:avLst/>
            </a:prstGeom>
            <a:noFill/>
            <a:ln>
              <a:noFill/>
            </a:ln>
          </p:spPr>
          <p:txBody>
            <a:bodyPr wrap="none" lIns="0" tIns="0" rIns="0" bIns="0" anchor="t" anchorCtr="0">
              <a:spAutoFit/>
            </a:bodyPr>
            <a:lstStyle/>
            <a:p>
              <a:pPr algn="l"/>
              <a:r>
                <a:rPr lang="tr-TR" sz="1050" b="1" dirty="0">
                  <a:solidFill>
                    <a:srgbClr val="12355B"/>
                  </a:solidFill>
                  <a:latin typeface="+mn-lt"/>
                  <a:ea typeface="+mn-ea"/>
                  <a:cs typeface="+mn-cs"/>
                </a:rPr>
                <a:t>−0.023</a:t>
              </a:r>
            </a:p>
          </p:txBody>
        </p:sp>
        <p:sp>
          <p:nvSpPr>
            <p:cNvPr id="34" name="Rectangle 34"/>
            <p:cNvSpPr/>
            <p:nvPr/>
          </p:nvSpPr>
          <p:spPr>
            <a:xfrm>
              <a:off x="6477000" y="4286250"/>
              <a:ext cx="133350" cy="133350"/>
            </a:xfrm>
            <a:prstGeom prst="rect">
              <a:avLst/>
            </a:prstGeom>
            <a:solidFill>
              <a:srgbClr val="E07B00"/>
            </a:solidFill>
            <a:ln>
              <a:noFill/>
            </a:ln>
          </p:spPr>
        </p:sp>
        <p:sp>
          <p:nvSpPr>
            <p:cNvPr id="35" name="TextBox 35"/>
            <p:cNvSpPr txBox="1"/>
            <p:nvPr/>
          </p:nvSpPr>
          <p:spPr>
            <a:xfrm>
              <a:off x="6681216" y="4287202"/>
              <a:ext cx="985990"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ayrılma lehine</a:t>
              </a:r>
            </a:p>
          </p:txBody>
        </p:sp>
        <p:sp>
          <p:nvSpPr>
            <p:cNvPr id="36" name="Rectangle 36"/>
            <p:cNvSpPr/>
            <p:nvPr/>
          </p:nvSpPr>
          <p:spPr>
            <a:xfrm>
              <a:off x="8191500" y="4286250"/>
              <a:ext cx="133350" cy="133350"/>
            </a:xfrm>
            <a:prstGeom prst="rect">
              <a:avLst/>
            </a:prstGeom>
            <a:solidFill>
              <a:srgbClr val="2E86AB"/>
            </a:solidFill>
            <a:ln>
              <a:noFill/>
            </a:ln>
          </p:spPr>
        </p:sp>
        <p:sp>
          <p:nvSpPr>
            <p:cNvPr id="37" name="TextBox 37"/>
            <p:cNvSpPr txBox="1"/>
            <p:nvPr/>
          </p:nvSpPr>
          <p:spPr>
            <a:xfrm>
              <a:off x="8395716" y="4287202"/>
              <a:ext cx="1141476"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ayrılma aleyhine</a:t>
              </a:r>
            </a:p>
          </p:txBody>
        </p:sp>
      </p:grpSp>
      <p:grpSp>
        <p:nvGrpSpPr>
          <p:cNvPr id="44" name="explain-block"/>
          <p:cNvGrpSpPr/>
          <p:nvPr/>
        </p:nvGrpSpPr>
        <p:grpSpPr>
          <a:xfrm>
            <a:off x="609600" y="4724400"/>
            <a:ext cx="10972800" cy="1276350"/>
            <a:chOff x="609600" y="4724400"/>
            <a:chExt cx="10972800" cy="1276350"/>
          </a:xfrm>
        </p:grpSpPr>
        <p:sp>
          <p:nvSpPr>
            <p:cNvPr id="39" name="Rectangle 39"/>
            <p:cNvSpPr/>
            <p:nvPr/>
          </p:nvSpPr>
          <p:spPr>
            <a:xfrm>
              <a:off x="609600" y="4724400"/>
              <a:ext cx="10972800" cy="1276350"/>
            </a:xfrm>
            <a:prstGeom prst="roundRect">
              <a:avLst>
                <a:gd name="adj" fmla="val 5970"/>
              </a:avLst>
            </a:prstGeom>
            <a:solidFill>
              <a:srgbClr val="EAF4F6"/>
            </a:solidFill>
            <a:ln>
              <a:noFill/>
            </a:ln>
          </p:spPr>
        </p:sp>
        <p:sp>
          <p:nvSpPr>
            <p:cNvPr id="40" name="TextBox 40"/>
            <p:cNvSpPr txBox="1"/>
            <p:nvPr/>
          </p:nvSpPr>
          <p:spPr>
            <a:xfrm>
              <a:off x="908304" y="4880610"/>
              <a:ext cx="8353411" cy="234696"/>
            </a:xfrm>
            <a:prstGeom prst="rect">
              <a:avLst/>
            </a:prstGeom>
            <a:noFill/>
            <a:ln>
              <a:noFill/>
            </a:ln>
          </p:spPr>
          <p:txBody>
            <a:bodyPr wrap="none" lIns="0" tIns="0" rIns="0" bIns="0" anchor="t" anchorCtr="0">
              <a:spAutoFit/>
            </a:bodyPr>
            <a:lstStyle/>
            <a:p>
              <a:pPr algn="l"/>
              <a:r>
                <a:rPr lang="tr-TR" sz="1200" b="1" dirty="0">
                  <a:solidFill>
                    <a:srgbClr val="172B3A"/>
                  </a:solidFill>
                  <a:latin typeface="+mn-lt"/>
                  <a:ea typeface="+mn-ea"/>
                  <a:cs typeface="+mn-cs"/>
                </a:rPr>
                <a:t>Bu çıktı ne anlatıyor?</a:t>
              </a:r>
              <a:r>
                <a:rPr lang="tr-TR" sz="1200" dirty="0">
                  <a:solidFill>
                    <a:srgbClr val="172B3A"/>
                  </a:solidFill>
                  <a:latin typeface="+mn-lt"/>
                  <a:ea typeface="+mn-ea"/>
                  <a:cs typeface="+mn-cs"/>
                </a:rPr>
                <a:t xml:space="preserve"> LimeTabularExplainer, eğitim verisinin dağılımını kullanarak gözlemin çevresinde</a:t>
              </a:r>
            </a:p>
          </p:txBody>
        </p:sp>
        <p:sp>
          <p:nvSpPr>
            <p:cNvPr id="41" name="TextBox 41"/>
            <p:cNvSpPr txBox="1"/>
            <p:nvPr/>
          </p:nvSpPr>
          <p:spPr>
            <a:xfrm>
              <a:off x="908304" y="5090160"/>
              <a:ext cx="907788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örnekler oluşturur; predict_fn kara kutu modelin olasılık fonksiyonunu LIME'a verir. LIME modelin yerine geçmez,</a:t>
              </a:r>
            </a:p>
          </p:txBody>
        </p:sp>
        <p:sp>
          <p:nvSpPr>
            <p:cNvPr id="42" name="TextBox 42"/>
            <p:cNvSpPr txBox="1"/>
            <p:nvPr/>
          </p:nvSpPr>
          <p:spPr>
            <a:xfrm>
              <a:off x="908304" y="5299710"/>
              <a:ext cx="4260799"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yalnızca küçük bir komşulukta davranışı yaklaşıklar.</a:t>
              </a:r>
            </a:p>
          </p:txBody>
        </p:sp>
        <p:sp>
          <p:nvSpPr>
            <p:cNvPr id="43" name="TextBox 43"/>
            <p:cNvSpPr txBox="1"/>
            <p:nvPr/>
          </p:nvSpPr>
          <p:spPr>
            <a:xfrm>
              <a:off x="908304" y="5547360"/>
              <a:ext cx="9698843"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Yaygın hata: eşik ifadesini (ör. MonthlyCharges &gt; 70) modelin gerçek kuralı sanmak — bu vekil modelin yaklaşımıdır.</a:t>
              </a:r>
            </a:p>
          </p:txBody>
        </p:sp>
      </p:grpSp>
      <p:sp>
        <p:nvSpPr>
          <p:cNvPr id="45" name="TextBox 45"/>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14 / 25</a:t>
            </a:r>
          </a:p>
        </p:txBody>
      </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5996599" cy="557403"/>
            <a:chOff x="595122" y="282892"/>
            <a:chExt cx="5996599" cy="557403"/>
          </a:xfrm>
        </p:grpSpPr>
        <p:sp>
          <p:nvSpPr>
            <p:cNvPr id="4" name="TextBox 4"/>
            <p:cNvSpPr txBox="1"/>
            <p:nvPr/>
          </p:nvSpPr>
          <p:spPr>
            <a:xfrm>
              <a:off x="595122" y="282892"/>
              <a:ext cx="5996599"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SHAP ve LIME karşılaştırması</a:t>
              </a:r>
            </a:p>
          </p:txBody>
        </p:sp>
      </p:grpSp>
      <p:grpSp>
        <p:nvGrpSpPr>
          <p:cNvPr id="9" name="exam-note"/>
          <p:cNvGrpSpPr/>
          <p:nvPr/>
        </p:nvGrpSpPr>
        <p:grpSpPr>
          <a:xfrm>
            <a:off x="609600" y="1123950"/>
            <a:ext cx="10972800" cy="590550"/>
            <a:chOff x="609600" y="1123950"/>
            <a:chExt cx="10972800" cy="590550"/>
          </a:xfrm>
        </p:grpSpPr>
        <p:sp>
          <p:nvSpPr>
            <p:cNvPr id="6" name="Rectangle 6"/>
            <p:cNvSpPr/>
            <p:nvPr/>
          </p:nvSpPr>
          <p:spPr>
            <a:xfrm>
              <a:off x="609600" y="1123950"/>
              <a:ext cx="10972800" cy="590550"/>
            </a:xfrm>
            <a:prstGeom prst="roundRect">
              <a:avLst>
                <a:gd name="adj" fmla="val 12903"/>
              </a:avLst>
            </a:prstGeom>
            <a:solidFill>
              <a:srgbClr val="EAF4F6"/>
            </a:solidFill>
            <a:ln>
              <a:noFill/>
            </a:ln>
          </p:spPr>
        </p:sp>
        <p:sp>
          <p:nvSpPr>
            <p:cNvPr id="7" name="TextBox 7"/>
            <p:cNvSpPr txBox="1"/>
            <p:nvPr/>
          </p:nvSpPr>
          <p:spPr>
            <a:xfrm>
              <a:off x="908304" y="1242060"/>
              <a:ext cx="1137186"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 Sınav Notu</a:t>
              </a:r>
            </a:p>
          </p:txBody>
        </p:sp>
        <p:sp>
          <p:nvSpPr>
            <p:cNvPr id="8" name="TextBox 8"/>
            <p:cNvSpPr txBox="1"/>
            <p:nvPr/>
          </p:nvSpPr>
          <p:spPr>
            <a:xfrm>
              <a:off x="908304" y="1451610"/>
              <a:ext cx="910468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SHAP: "özellik tahmine ne kadar katkı verdi?" — LIME: "bu tahminin yakın çevresinde hangi basit açıklama geçerli?"</a:t>
              </a:r>
            </a:p>
          </p:txBody>
        </p:sp>
      </p:grpSp>
      <p:grpSp>
        <p:nvGrpSpPr>
          <p:cNvPr id="40" name="compare-table"/>
          <p:cNvGrpSpPr/>
          <p:nvPr/>
        </p:nvGrpSpPr>
        <p:grpSpPr>
          <a:xfrm>
            <a:off x="609600" y="1885950"/>
            <a:ext cx="10972800" cy="3333750"/>
            <a:chOff x="609600" y="1885950"/>
            <a:chExt cx="10972800" cy="3333750"/>
          </a:xfrm>
        </p:grpSpPr>
        <p:sp>
          <p:nvSpPr>
            <p:cNvPr id="10" name="Rectangle 10"/>
            <p:cNvSpPr/>
            <p:nvPr/>
          </p:nvSpPr>
          <p:spPr>
            <a:xfrm>
              <a:off x="609600" y="1885950"/>
              <a:ext cx="10972800" cy="438150"/>
            </a:xfrm>
            <a:prstGeom prst="rect">
              <a:avLst/>
            </a:prstGeom>
            <a:solidFill>
              <a:srgbClr val="12355B"/>
            </a:solidFill>
            <a:ln>
              <a:noFill/>
            </a:ln>
          </p:spPr>
        </p:sp>
        <p:sp>
          <p:nvSpPr>
            <p:cNvPr id="11" name="TextBox 11"/>
            <p:cNvSpPr txBox="1"/>
            <p:nvPr/>
          </p:nvSpPr>
          <p:spPr>
            <a:xfrm>
              <a:off x="908304" y="2042160"/>
              <a:ext cx="702198" cy="234696"/>
            </a:xfrm>
            <a:prstGeom prst="rect">
              <a:avLst/>
            </a:prstGeom>
            <a:noFill/>
            <a:ln>
              <a:noFill/>
            </a:ln>
          </p:spPr>
          <p:txBody>
            <a:bodyPr wrap="none" lIns="0" tIns="0" rIns="0" bIns="0" anchor="t" anchorCtr="0">
              <a:spAutoFit/>
            </a:bodyPr>
            <a:lstStyle/>
            <a:p>
              <a:pPr algn="l"/>
              <a:r>
                <a:rPr lang="tr-TR" sz="1200" b="1" dirty="0">
                  <a:solidFill>
                    <a:srgbClr val="FFFFFF"/>
                  </a:solidFill>
                  <a:latin typeface="+mn-lt"/>
                  <a:ea typeface="+mn-ea"/>
                  <a:cs typeface="+mn-cs"/>
                </a:rPr>
                <a:t>ÖZELLİK</a:t>
              </a:r>
            </a:p>
          </p:txBody>
        </p:sp>
        <p:sp>
          <p:nvSpPr>
            <p:cNvPr id="12" name="TextBox 12"/>
            <p:cNvSpPr txBox="1"/>
            <p:nvPr/>
          </p:nvSpPr>
          <p:spPr>
            <a:xfrm>
              <a:off x="4946904" y="2042160"/>
              <a:ext cx="406481" cy="234696"/>
            </a:xfrm>
            <a:prstGeom prst="rect">
              <a:avLst/>
            </a:prstGeom>
            <a:noFill/>
            <a:ln>
              <a:noFill/>
            </a:ln>
          </p:spPr>
          <p:txBody>
            <a:bodyPr wrap="none" lIns="0" tIns="0" rIns="0" bIns="0" anchor="t" anchorCtr="0">
              <a:spAutoFit/>
            </a:bodyPr>
            <a:lstStyle/>
            <a:p>
              <a:pPr algn="l"/>
              <a:r>
                <a:rPr lang="tr-TR" sz="1200" b="1" dirty="0">
                  <a:solidFill>
                    <a:srgbClr val="FFFFFF"/>
                  </a:solidFill>
                  <a:latin typeface="+mn-lt"/>
                  <a:ea typeface="+mn-ea"/>
                  <a:cs typeface="+mn-cs"/>
                </a:rPr>
                <a:t>SHAP</a:t>
              </a:r>
            </a:p>
          </p:txBody>
        </p:sp>
        <p:sp>
          <p:nvSpPr>
            <p:cNvPr id="13" name="TextBox 13"/>
            <p:cNvSpPr txBox="1"/>
            <p:nvPr/>
          </p:nvSpPr>
          <p:spPr>
            <a:xfrm>
              <a:off x="8375904" y="2042160"/>
              <a:ext cx="397520" cy="234696"/>
            </a:xfrm>
            <a:prstGeom prst="rect">
              <a:avLst/>
            </a:prstGeom>
            <a:noFill/>
            <a:ln>
              <a:noFill/>
            </a:ln>
          </p:spPr>
          <p:txBody>
            <a:bodyPr wrap="none" lIns="0" tIns="0" rIns="0" bIns="0" anchor="t" anchorCtr="0">
              <a:spAutoFit/>
            </a:bodyPr>
            <a:lstStyle/>
            <a:p>
              <a:pPr algn="l"/>
              <a:r>
                <a:rPr lang="tr-TR" sz="1200" b="1" dirty="0">
                  <a:solidFill>
                    <a:srgbClr val="FFFFFF"/>
                  </a:solidFill>
                  <a:latin typeface="+mn-lt"/>
                  <a:ea typeface="+mn-ea"/>
                  <a:cs typeface="+mn-cs"/>
                </a:rPr>
                <a:t>LIME</a:t>
              </a:r>
            </a:p>
          </p:txBody>
        </p:sp>
        <p:grpSp>
          <p:nvGrpSpPr>
            <p:cNvPr id="18" name="row-1"/>
            <p:cNvGrpSpPr/>
            <p:nvPr/>
          </p:nvGrpSpPr>
          <p:grpSpPr>
            <a:xfrm>
              <a:off x="609600" y="2324100"/>
              <a:ext cx="10972800" cy="590550"/>
              <a:chOff x="609600" y="2324100"/>
              <a:chExt cx="10972800" cy="590550"/>
            </a:xfrm>
          </p:grpSpPr>
          <p:sp>
            <p:nvSpPr>
              <p:cNvPr id="14" name="Rectangle 14"/>
              <p:cNvSpPr/>
              <p:nvPr/>
            </p:nvSpPr>
            <p:spPr>
              <a:xfrm>
                <a:off x="609600" y="2324100"/>
                <a:ext cx="10972800" cy="590550"/>
              </a:xfrm>
              <a:prstGeom prst="rect">
                <a:avLst/>
              </a:prstGeom>
              <a:solidFill>
                <a:srgbClr val="FFFFFF"/>
              </a:solidFill>
              <a:ln>
                <a:noFill/>
              </a:ln>
            </p:spPr>
          </p:sp>
          <p:sp>
            <p:nvSpPr>
              <p:cNvPr id="15" name="TextBox 15"/>
              <p:cNvSpPr txBox="1"/>
              <p:nvPr/>
            </p:nvSpPr>
            <p:spPr>
              <a:xfrm>
                <a:off x="907542" y="2521268"/>
                <a:ext cx="1422378"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Temel yaklaşım</a:t>
                </a:r>
              </a:p>
            </p:txBody>
          </p:sp>
          <p:sp>
            <p:nvSpPr>
              <p:cNvPr id="16" name="TextBox 16"/>
              <p:cNvSpPr txBox="1"/>
              <p:nvPr/>
            </p:nvSpPr>
            <p:spPr>
              <a:xfrm>
                <a:off x="4946142" y="2521268"/>
                <a:ext cx="1536588"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Shapley değerleri</a:t>
                </a:r>
              </a:p>
            </p:txBody>
          </p:sp>
          <p:sp>
            <p:nvSpPr>
              <p:cNvPr id="17" name="TextBox 17"/>
              <p:cNvSpPr txBox="1"/>
              <p:nvPr/>
            </p:nvSpPr>
            <p:spPr>
              <a:xfrm>
                <a:off x="8375142" y="2521268"/>
                <a:ext cx="1482220"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Yerel vekil model</a:t>
                </a:r>
              </a:p>
            </p:txBody>
          </p:sp>
        </p:grpSp>
        <p:grpSp>
          <p:nvGrpSpPr>
            <p:cNvPr id="23" name="row-2"/>
            <p:cNvGrpSpPr/>
            <p:nvPr/>
          </p:nvGrpSpPr>
          <p:grpSpPr>
            <a:xfrm>
              <a:off x="609600" y="2914650"/>
              <a:ext cx="10972800" cy="590550"/>
              <a:chOff x="609600" y="2914650"/>
              <a:chExt cx="10972800" cy="590550"/>
            </a:xfrm>
          </p:grpSpPr>
          <p:sp>
            <p:nvSpPr>
              <p:cNvPr id="19" name="Rectangle 19"/>
              <p:cNvSpPr/>
              <p:nvPr/>
            </p:nvSpPr>
            <p:spPr>
              <a:xfrm>
                <a:off x="609600" y="2914650"/>
                <a:ext cx="10972800" cy="590550"/>
              </a:xfrm>
              <a:prstGeom prst="rect">
                <a:avLst/>
              </a:prstGeom>
              <a:solidFill>
                <a:srgbClr val="EAF4F6"/>
              </a:solidFill>
              <a:ln>
                <a:noFill/>
              </a:ln>
            </p:spPr>
          </p:sp>
          <p:sp>
            <p:nvSpPr>
              <p:cNvPr id="20" name="TextBox 20"/>
              <p:cNvSpPr txBox="1"/>
              <p:nvPr/>
            </p:nvSpPr>
            <p:spPr>
              <a:xfrm>
                <a:off x="907542" y="3111818"/>
                <a:ext cx="1144887"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Global analiz</a:t>
                </a:r>
              </a:p>
            </p:txBody>
          </p:sp>
          <p:sp>
            <p:nvSpPr>
              <p:cNvPr id="21" name="TextBox 21"/>
              <p:cNvSpPr txBox="1"/>
              <p:nvPr/>
            </p:nvSpPr>
            <p:spPr>
              <a:xfrm>
                <a:off x="4946142" y="3111818"/>
                <a:ext cx="773261"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Güçlüdür</a:t>
                </a:r>
              </a:p>
            </p:txBody>
          </p:sp>
          <p:sp>
            <p:nvSpPr>
              <p:cNvPr id="22" name="TextBox 22"/>
              <p:cNvSpPr txBox="1"/>
              <p:nvPr/>
            </p:nvSpPr>
            <p:spPr>
              <a:xfrm>
                <a:off x="8375142" y="3111818"/>
                <a:ext cx="973236"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Sınırlıdır</a:t>
                </a:r>
              </a:p>
            </p:txBody>
          </p:sp>
        </p:grpSp>
        <p:grpSp>
          <p:nvGrpSpPr>
            <p:cNvPr id="28" name="row-3"/>
            <p:cNvGrpSpPr/>
            <p:nvPr/>
          </p:nvGrpSpPr>
          <p:grpSpPr>
            <a:xfrm>
              <a:off x="609600" y="3505200"/>
              <a:ext cx="10972800" cy="590550"/>
              <a:chOff x="609600" y="3505200"/>
              <a:chExt cx="10972800" cy="590550"/>
            </a:xfrm>
          </p:grpSpPr>
          <p:sp>
            <p:nvSpPr>
              <p:cNvPr id="24" name="Rectangle 24"/>
              <p:cNvSpPr/>
              <p:nvPr/>
            </p:nvSpPr>
            <p:spPr>
              <a:xfrm>
                <a:off x="609600" y="3505200"/>
                <a:ext cx="10972800" cy="590550"/>
              </a:xfrm>
              <a:prstGeom prst="rect">
                <a:avLst/>
              </a:prstGeom>
              <a:solidFill>
                <a:srgbClr val="FFFFFF"/>
              </a:solidFill>
              <a:ln>
                <a:noFill/>
              </a:ln>
            </p:spPr>
          </p:sp>
          <p:sp>
            <p:nvSpPr>
              <p:cNvPr id="25" name="TextBox 25"/>
              <p:cNvSpPr txBox="1"/>
              <p:nvPr/>
            </p:nvSpPr>
            <p:spPr>
              <a:xfrm>
                <a:off x="907542" y="3702368"/>
                <a:ext cx="1087828"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Yerel analiz</a:t>
                </a:r>
              </a:p>
            </p:txBody>
          </p:sp>
          <p:sp>
            <p:nvSpPr>
              <p:cNvPr id="26" name="TextBox 26"/>
              <p:cNvSpPr txBox="1"/>
              <p:nvPr/>
            </p:nvSpPr>
            <p:spPr>
              <a:xfrm>
                <a:off x="4946142" y="3702368"/>
                <a:ext cx="773261"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Güçlüdür</a:t>
                </a:r>
              </a:p>
            </p:txBody>
          </p:sp>
          <p:sp>
            <p:nvSpPr>
              <p:cNvPr id="27" name="TextBox 27"/>
              <p:cNvSpPr txBox="1"/>
              <p:nvPr/>
            </p:nvSpPr>
            <p:spPr>
              <a:xfrm>
                <a:off x="8375142" y="3702368"/>
                <a:ext cx="773261"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Güçlüdür</a:t>
                </a:r>
              </a:p>
            </p:txBody>
          </p:sp>
        </p:grpSp>
        <p:grpSp>
          <p:nvGrpSpPr>
            <p:cNvPr id="33" name="row-4"/>
            <p:cNvGrpSpPr/>
            <p:nvPr/>
          </p:nvGrpSpPr>
          <p:grpSpPr>
            <a:xfrm>
              <a:off x="609600" y="4095750"/>
              <a:ext cx="10972800" cy="590550"/>
              <a:chOff x="609600" y="4095750"/>
              <a:chExt cx="10972800" cy="590550"/>
            </a:xfrm>
          </p:grpSpPr>
          <p:sp>
            <p:nvSpPr>
              <p:cNvPr id="29" name="Rectangle 29"/>
              <p:cNvSpPr/>
              <p:nvPr/>
            </p:nvSpPr>
            <p:spPr>
              <a:xfrm>
                <a:off x="609600" y="4095750"/>
                <a:ext cx="10972800" cy="590550"/>
              </a:xfrm>
              <a:prstGeom prst="rect">
                <a:avLst/>
              </a:prstGeom>
              <a:solidFill>
                <a:srgbClr val="EAF4F6"/>
              </a:solidFill>
              <a:ln>
                <a:noFill/>
              </a:ln>
            </p:spPr>
          </p:sp>
          <p:sp>
            <p:nvSpPr>
              <p:cNvPr id="30" name="TextBox 30"/>
              <p:cNvSpPr txBox="1"/>
              <p:nvPr/>
            </p:nvSpPr>
            <p:spPr>
              <a:xfrm>
                <a:off x="907542" y="4292918"/>
                <a:ext cx="1842152"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Model bağımsızlığı</a:t>
                </a:r>
              </a:p>
            </p:txBody>
          </p:sp>
          <p:sp>
            <p:nvSpPr>
              <p:cNvPr id="31" name="TextBox 31"/>
              <p:cNvSpPr txBox="1"/>
              <p:nvPr/>
            </p:nvSpPr>
            <p:spPr>
              <a:xfrm>
                <a:off x="4946142" y="4292918"/>
                <a:ext cx="1982031"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Açıklayıcıya bağlıdır</a:t>
                </a:r>
              </a:p>
            </p:txBody>
          </p:sp>
          <p:sp>
            <p:nvSpPr>
              <p:cNvPr id="32" name="TextBox 32"/>
              <p:cNvSpPr txBox="1"/>
              <p:nvPr/>
            </p:nvSpPr>
            <p:spPr>
              <a:xfrm>
                <a:off x="8375142" y="4292918"/>
                <a:ext cx="873252"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Yüksektir</a:t>
                </a:r>
              </a:p>
            </p:txBody>
          </p:sp>
        </p:grpSp>
        <p:grpSp>
          <p:nvGrpSpPr>
            <p:cNvPr id="38" name="row-5"/>
            <p:cNvGrpSpPr/>
            <p:nvPr/>
          </p:nvGrpSpPr>
          <p:grpSpPr>
            <a:xfrm>
              <a:off x="609600" y="4686300"/>
              <a:ext cx="10972800" cy="533400"/>
              <a:chOff x="609600" y="4686300"/>
              <a:chExt cx="10972800" cy="533400"/>
            </a:xfrm>
          </p:grpSpPr>
          <p:sp>
            <p:nvSpPr>
              <p:cNvPr id="34" name="Rectangle 34"/>
              <p:cNvSpPr/>
              <p:nvPr/>
            </p:nvSpPr>
            <p:spPr>
              <a:xfrm>
                <a:off x="609600" y="4686300"/>
                <a:ext cx="10972800" cy="533400"/>
              </a:xfrm>
              <a:prstGeom prst="rect">
                <a:avLst/>
              </a:prstGeom>
              <a:solidFill>
                <a:srgbClr val="FFFFFF"/>
              </a:solidFill>
              <a:ln>
                <a:noFill/>
              </a:ln>
            </p:spPr>
          </p:sp>
          <p:sp>
            <p:nvSpPr>
              <p:cNvPr id="35" name="TextBox 35"/>
              <p:cNvSpPr txBox="1"/>
              <p:nvPr/>
            </p:nvSpPr>
            <p:spPr>
              <a:xfrm>
                <a:off x="907542" y="4864418"/>
                <a:ext cx="973236"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Kararlılık</a:t>
                </a:r>
              </a:p>
            </p:txBody>
          </p:sp>
          <p:sp>
            <p:nvSpPr>
              <p:cNvPr id="36" name="TextBox 36"/>
              <p:cNvSpPr txBox="1"/>
              <p:nvPr/>
            </p:nvSpPr>
            <p:spPr>
              <a:xfrm>
                <a:off x="4946142" y="4864418"/>
                <a:ext cx="1745361"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Genellikle yüksektir</a:t>
                </a:r>
              </a:p>
            </p:txBody>
          </p:sp>
          <p:sp>
            <p:nvSpPr>
              <p:cNvPr id="37" name="TextBox 37"/>
              <p:cNvSpPr txBox="1"/>
              <p:nvPr/>
            </p:nvSpPr>
            <p:spPr>
              <a:xfrm>
                <a:off x="8375142" y="4864418"/>
                <a:ext cx="2672853"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Örnekleme ayarına duyarlıdır</a:t>
                </a:r>
              </a:p>
            </p:txBody>
          </p:sp>
        </p:grpSp>
        <p:sp>
          <p:nvSpPr>
            <p:cNvPr id="39" name="Rectangle 39"/>
            <p:cNvSpPr/>
            <p:nvPr/>
          </p:nvSpPr>
          <p:spPr>
            <a:xfrm>
              <a:off x="609600" y="1885950"/>
              <a:ext cx="10972800" cy="3333750"/>
            </a:xfrm>
            <a:prstGeom prst="rect">
              <a:avLst/>
            </a:prstGeom>
            <a:noFill/>
            <a:ln w="14288">
              <a:solidFill>
                <a:srgbClr val="B8CBD3"/>
              </a:solidFill>
            </a:ln>
          </p:spPr>
        </p:sp>
      </p:grpSp>
      <p:grpSp>
        <p:nvGrpSpPr>
          <p:cNvPr id="43" name="closing-note"/>
          <p:cNvGrpSpPr/>
          <p:nvPr/>
        </p:nvGrpSpPr>
        <p:grpSpPr>
          <a:xfrm>
            <a:off x="603504" y="5490210"/>
            <a:ext cx="8706839" cy="444246"/>
            <a:chOff x="603504" y="5490210"/>
            <a:chExt cx="8706839" cy="444246"/>
          </a:xfrm>
        </p:grpSpPr>
        <p:sp>
          <p:nvSpPr>
            <p:cNvPr id="41" name="TextBox 41"/>
            <p:cNvSpPr txBox="1"/>
            <p:nvPr/>
          </p:nvSpPr>
          <p:spPr>
            <a:xfrm>
              <a:off x="603504" y="5490210"/>
              <a:ext cx="8706839"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SHAP ağaç tabanlı modellerde TreeExplainer ile hızlı çalışır; LIME aynı temel arayüzü farklı model türlerinde</a:t>
              </a:r>
            </a:p>
          </p:txBody>
        </p:sp>
        <p:sp>
          <p:nvSpPr>
            <p:cNvPr id="42" name="TextBox 42"/>
            <p:cNvSpPr txBox="1"/>
            <p:nvPr/>
          </p:nvSpPr>
          <p:spPr>
            <a:xfrm>
              <a:off x="603504" y="5699760"/>
              <a:ext cx="568238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kullanabilir — ancak tekrarlanabilirlik için random_state sabitlenmelidir.</a:t>
              </a:r>
            </a:p>
          </p:txBody>
        </p:sp>
      </p:grpSp>
      <p:sp>
        <p:nvSpPr>
          <p:cNvPr id="44" name="TextBox 44"/>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15 / 25</a:t>
            </a:r>
          </a:p>
        </p:txBody>
      </p:sp>
    </p:spTree>
  </p:cSld>
  <p:clrMapOvr>
    <a:masterClrMapping/>
  </p:clrMapOvr>
  <p:transition xmlns:p14="http://schemas.microsoft.com/office/powerpoint/2010/main" p14:dur="400">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9435950" cy="557403"/>
            <a:chOff x="595122" y="282892"/>
            <a:chExt cx="9435950" cy="557403"/>
          </a:xfrm>
        </p:grpSpPr>
        <p:sp>
          <p:nvSpPr>
            <p:cNvPr id="4" name="TextBox 4"/>
            <p:cNvSpPr txBox="1"/>
            <p:nvPr/>
          </p:nvSpPr>
          <p:spPr>
            <a:xfrm>
              <a:off x="595122" y="282892"/>
              <a:ext cx="9435950"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Açıklama kapsamına göre SHAP veya LIME seçimi</a:t>
              </a:r>
            </a:p>
          </p:txBody>
        </p:sp>
      </p:grpSp>
      <p:grpSp>
        <p:nvGrpSpPr>
          <p:cNvPr id="9" name="flow-start"/>
          <p:cNvGrpSpPr/>
          <p:nvPr/>
        </p:nvGrpSpPr>
        <p:grpSpPr>
          <a:xfrm>
            <a:off x="4762500" y="1123950"/>
            <a:ext cx="2667000" cy="857250"/>
            <a:chOff x="4762500" y="1123950"/>
            <a:chExt cx="2667000" cy="857250"/>
          </a:xfrm>
        </p:grpSpPr>
        <p:sp>
          <p:nvSpPr>
            <p:cNvPr id="6" name="Polygon 6"/>
            <p:cNvSpPr/>
            <p:nvPr/>
          </p:nvSpPr>
          <p:spPr>
            <a:xfrm>
              <a:off x="4762500" y="1123950"/>
              <a:ext cx="2667000" cy="857250"/>
            </a:xfrm>
            <a:custGeom>
              <a:avLst/>
              <a:gdLst/>
              <a:ahLst/>
              <a:cxnLst/>
              <a:rect l="l" t="t" r="r" b="b"/>
              <a:pathLst>
                <a:path w="2667000" h="857250">
                  <a:moveTo>
                    <a:pt x="1333500" y="0"/>
                  </a:moveTo>
                  <a:lnTo>
                    <a:pt x="2667000" y="428625"/>
                  </a:lnTo>
                  <a:lnTo>
                    <a:pt x="1333500" y="857250"/>
                  </a:lnTo>
                  <a:lnTo>
                    <a:pt x="0" y="428625"/>
                  </a:lnTo>
                  <a:close/>
                </a:path>
              </a:pathLst>
            </a:custGeom>
            <a:solidFill>
              <a:srgbClr val="12355B"/>
            </a:solidFill>
            <a:ln>
              <a:noFill/>
            </a:ln>
          </p:spPr>
        </p:sp>
        <p:sp>
          <p:nvSpPr>
            <p:cNvPr id="7" name="TextBox 7"/>
            <p:cNvSpPr txBox="1"/>
            <p:nvPr/>
          </p:nvSpPr>
          <p:spPr>
            <a:xfrm>
              <a:off x="5349267" y="1375410"/>
              <a:ext cx="1493465" cy="234696"/>
            </a:xfrm>
            <a:prstGeom prst="rect">
              <a:avLst/>
            </a:prstGeom>
            <a:noFill/>
            <a:ln>
              <a:noFill/>
            </a:ln>
          </p:spPr>
          <p:txBody>
            <a:bodyPr wrap="none" lIns="0" tIns="0" rIns="0" bIns="0" anchor="t" anchorCtr="0">
              <a:spAutoFit/>
            </a:bodyPr>
            <a:lstStyle/>
            <a:p>
              <a:pPr algn="ctr"/>
              <a:r>
                <a:rPr lang="tr-TR" sz="1200" b="1" dirty="0">
                  <a:solidFill>
                    <a:srgbClr val="FFFFFF"/>
                  </a:solidFill>
                  <a:latin typeface="+mn-lt"/>
                  <a:ea typeface="+mn-ea"/>
                  <a:cs typeface="+mn-cs"/>
                </a:rPr>
                <a:t>Açıklama kapsamı</a:t>
              </a:r>
            </a:p>
          </p:txBody>
        </p:sp>
        <p:sp>
          <p:nvSpPr>
            <p:cNvPr id="8" name="TextBox 8"/>
            <p:cNvSpPr txBox="1"/>
            <p:nvPr/>
          </p:nvSpPr>
          <p:spPr>
            <a:xfrm>
              <a:off x="5831232" y="1565910"/>
              <a:ext cx="529537" cy="234696"/>
            </a:xfrm>
            <a:prstGeom prst="rect">
              <a:avLst/>
            </a:prstGeom>
            <a:noFill/>
            <a:ln>
              <a:noFill/>
            </a:ln>
          </p:spPr>
          <p:txBody>
            <a:bodyPr wrap="none" lIns="0" tIns="0" rIns="0" bIns="0" anchor="t" anchorCtr="0">
              <a:spAutoFit/>
            </a:bodyPr>
            <a:lstStyle/>
            <a:p>
              <a:pPr algn="ctr"/>
              <a:r>
                <a:rPr lang="tr-TR" sz="1200" b="1" dirty="0">
                  <a:solidFill>
                    <a:srgbClr val="FFFFFF"/>
                  </a:solidFill>
                  <a:latin typeface="+mn-lt"/>
                  <a:ea typeface="+mn-ea"/>
                  <a:cs typeface="+mn-cs"/>
                </a:rPr>
                <a:t>nedir?</a:t>
              </a:r>
            </a:p>
          </p:txBody>
        </p:sp>
      </p:grpSp>
      <p:sp>
        <p:nvSpPr>
          <p:cNvPr id="10" name="Line 10"/>
          <p:cNvSpPr/>
          <p:nvPr/>
        </p:nvSpPr>
        <p:spPr>
          <a:xfrm flipH="1">
            <a:off x="3048000" y="1552575"/>
            <a:ext cx="1714500" cy="1"/>
          </a:xfrm>
          <a:prstGeom prst="line">
            <a:avLst/>
          </a:prstGeom>
          <a:noFill/>
          <a:ln w="19050">
            <a:solidFill>
              <a:srgbClr val="52616B"/>
            </a:solidFill>
            <a:tailEnd type="arrow" w="lg" len="lg"/>
          </a:ln>
        </p:spPr>
      </p:sp>
      <p:sp>
        <p:nvSpPr>
          <p:cNvPr id="11" name="TextBox 11"/>
          <p:cNvSpPr txBox="1"/>
          <p:nvPr/>
        </p:nvSpPr>
        <p:spPr>
          <a:xfrm>
            <a:off x="3400709" y="1307306"/>
            <a:ext cx="437581" cy="220028"/>
          </a:xfrm>
          <a:prstGeom prst="rect">
            <a:avLst/>
          </a:prstGeom>
          <a:noFill/>
          <a:ln>
            <a:noFill/>
          </a:ln>
        </p:spPr>
        <p:txBody>
          <a:bodyPr wrap="none" lIns="0" tIns="0" rIns="0" bIns="0" anchor="t" anchorCtr="0">
            <a:spAutoFit/>
          </a:bodyPr>
          <a:lstStyle/>
          <a:p>
            <a:pPr algn="ctr"/>
            <a:r>
              <a:rPr lang="tr-TR" sz="1120" dirty="0">
                <a:solidFill>
                  <a:srgbClr val="52616B"/>
                </a:solidFill>
                <a:latin typeface="+mn-lt"/>
                <a:ea typeface="+mn-ea"/>
                <a:cs typeface="+mn-cs"/>
              </a:rPr>
              <a:t>Global</a:t>
            </a:r>
          </a:p>
        </p:txBody>
      </p:sp>
      <p:sp>
        <p:nvSpPr>
          <p:cNvPr id="12" name="Line 12"/>
          <p:cNvSpPr/>
          <p:nvPr/>
        </p:nvSpPr>
        <p:spPr>
          <a:xfrm>
            <a:off x="7429500" y="1552575"/>
            <a:ext cx="1714500" cy="1"/>
          </a:xfrm>
          <a:prstGeom prst="line">
            <a:avLst/>
          </a:prstGeom>
          <a:noFill/>
          <a:ln w="19050">
            <a:solidFill>
              <a:srgbClr val="52616B"/>
            </a:solidFill>
            <a:tailEnd type="arrow" w="lg" len="lg"/>
          </a:ln>
        </p:spPr>
      </p:sp>
      <p:sp>
        <p:nvSpPr>
          <p:cNvPr id="13" name="TextBox 13"/>
          <p:cNvSpPr txBox="1"/>
          <p:nvPr/>
        </p:nvSpPr>
        <p:spPr>
          <a:xfrm>
            <a:off x="8376183" y="1307306"/>
            <a:ext cx="392633" cy="220028"/>
          </a:xfrm>
          <a:prstGeom prst="rect">
            <a:avLst/>
          </a:prstGeom>
          <a:noFill/>
          <a:ln>
            <a:noFill/>
          </a:ln>
        </p:spPr>
        <p:txBody>
          <a:bodyPr wrap="none" lIns="0" tIns="0" rIns="0" bIns="0" anchor="t" anchorCtr="0">
            <a:spAutoFit/>
          </a:bodyPr>
          <a:lstStyle/>
          <a:p>
            <a:pPr algn="ctr"/>
            <a:r>
              <a:rPr lang="tr-TR" sz="1120" dirty="0">
                <a:solidFill>
                  <a:srgbClr val="52616B"/>
                </a:solidFill>
                <a:latin typeface="+mn-lt"/>
                <a:ea typeface="+mn-ea"/>
                <a:cs typeface="+mn-cs"/>
              </a:rPr>
              <a:t>Yerel</a:t>
            </a:r>
          </a:p>
        </p:txBody>
      </p:sp>
      <p:grpSp>
        <p:nvGrpSpPr>
          <p:cNvPr id="17" name="node-global"/>
          <p:cNvGrpSpPr/>
          <p:nvPr/>
        </p:nvGrpSpPr>
        <p:grpSpPr>
          <a:xfrm>
            <a:off x="1143000" y="1219200"/>
            <a:ext cx="1905000" cy="666750"/>
            <a:chOff x="1143000" y="1219200"/>
            <a:chExt cx="1905000" cy="666750"/>
          </a:xfrm>
        </p:grpSpPr>
        <p:sp>
          <p:nvSpPr>
            <p:cNvPr id="14" name="Rectangle 14"/>
            <p:cNvSpPr/>
            <p:nvPr/>
          </p:nvSpPr>
          <p:spPr>
            <a:xfrm>
              <a:off x="1143000" y="1219200"/>
              <a:ext cx="1905000" cy="666750"/>
            </a:xfrm>
            <a:prstGeom prst="roundRect">
              <a:avLst>
                <a:gd name="adj" fmla="val 11429"/>
              </a:avLst>
            </a:prstGeom>
            <a:solidFill>
              <a:srgbClr val="FFFFFF"/>
            </a:solidFill>
            <a:ln w="14288">
              <a:solidFill>
                <a:srgbClr val="2E86AB"/>
              </a:solidFill>
            </a:ln>
          </p:spPr>
        </p:sp>
        <p:sp>
          <p:nvSpPr>
            <p:cNvPr id="15" name="TextBox 15"/>
            <p:cNvSpPr txBox="1"/>
            <p:nvPr/>
          </p:nvSpPr>
          <p:spPr>
            <a:xfrm>
              <a:off x="1892259" y="1375410"/>
              <a:ext cx="406481" cy="234696"/>
            </a:xfrm>
            <a:prstGeom prst="rect">
              <a:avLst/>
            </a:prstGeom>
            <a:noFill/>
            <a:ln>
              <a:noFill/>
            </a:ln>
          </p:spPr>
          <p:txBody>
            <a:bodyPr wrap="none" lIns="0" tIns="0" rIns="0" bIns="0" anchor="t" anchorCtr="0">
              <a:spAutoFit/>
            </a:bodyPr>
            <a:lstStyle/>
            <a:p>
              <a:pPr algn="ctr"/>
              <a:r>
                <a:rPr lang="tr-TR" sz="1200" b="1" dirty="0">
                  <a:solidFill>
                    <a:srgbClr val="12355B"/>
                  </a:solidFill>
                  <a:latin typeface="+mn-lt"/>
                  <a:ea typeface="+mn-ea"/>
                  <a:cs typeface="+mn-cs"/>
                </a:rPr>
                <a:t>SHAP</a:t>
              </a:r>
            </a:p>
          </p:txBody>
        </p:sp>
        <p:sp>
          <p:nvSpPr>
            <p:cNvPr id="16" name="TextBox 16"/>
            <p:cNvSpPr txBox="1"/>
            <p:nvPr/>
          </p:nvSpPr>
          <p:spPr>
            <a:xfrm>
              <a:off x="1457620" y="1601152"/>
              <a:ext cx="1275759" cy="205359"/>
            </a:xfrm>
            <a:prstGeom prst="rect">
              <a:avLst/>
            </a:prstGeom>
            <a:noFill/>
            <a:ln>
              <a:noFill/>
            </a:ln>
          </p:spPr>
          <p:txBody>
            <a:bodyPr wrap="none" lIns="0" tIns="0" rIns="0" bIns="0" anchor="t" anchorCtr="0">
              <a:spAutoFit/>
            </a:bodyPr>
            <a:lstStyle/>
            <a:p>
              <a:pPr algn="ctr"/>
              <a:r>
                <a:rPr lang="tr-TR" sz="1050" dirty="0">
                  <a:solidFill>
                    <a:srgbClr val="52616B"/>
                  </a:solidFill>
                  <a:latin typeface="+mn-lt"/>
                  <a:ea typeface="+mn-ea"/>
                  <a:cs typeface="+mn-cs"/>
                </a:rPr>
                <a:t>global özet grafiği</a:t>
              </a:r>
            </a:p>
          </p:txBody>
        </p:sp>
      </p:grpSp>
      <p:grpSp>
        <p:nvGrpSpPr>
          <p:cNvPr id="21" name="node-decision2"/>
          <p:cNvGrpSpPr/>
          <p:nvPr/>
        </p:nvGrpSpPr>
        <p:grpSpPr>
          <a:xfrm>
            <a:off x="8477250" y="1123950"/>
            <a:ext cx="2476500" cy="857250"/>
            <a:chOff x="8477250" y="1123950"/>
            <a:chExt cx="2476500" cy="857250"/>
          </a:xfrm>
        </p:grpSpPr>
        <p:sp>
          <p:nvSpPr>
            <p:cNvPr id="18" name="Polygon 18"/>
            <p:cNvSpPr/>
            <p:nvPr/>
          </p:nvSpPr>
          <p:spPr>
            <a:xfrm>
              <a:off x="8477250" y="1123950"/>
              <a:ext cx="2476500" cy="857250"/>
            </a:xfrm>
            <a:custGeom>
              <a:avLst/>
              <a:gdLst/>
              <a:ahLst/>
              <a:cxnLst/>
              <a:rect l="l" t="t" r="r" b="b"/>
              <a:pathLst>
                <a:path w="2476500" h="857250">
                  <a:moveTo>
                    <a:pt x="1238250" y="0"/>
                  </a:moveTo>
                  <a:lnTo>
                    <a:pt x="2476500" y="428625"/>
                  </a:lnTo>
                  <a:lnTo>
                    <a:pt x="1238250" y="857250"/>
                  </a:lnTo>
                  <a:lnTo>
                    <a:pt x="0" y="428625"/>
                  </a:lnTo>
                  <a:close/>
                </a:path>
              </a:pathLst>
            </a:custGeom>
            <a:solidFill>
              <a:srgbClr val="12355B"/>
            </a:solidFill>
            <a:ln>
              <a:noFill/>
            </a:ln>
          </p:spPr>
        </p:sp>
        <p:sp>
          <p:nvSpPr>
            <p:cNvPr id="19" name="TextBox 19"/>
            <p:cNvSpPr txBox="1"/>
            <p:nvPr/>
          </p:nvSpPr>
          <p:spPr>
            <a:xfrm>
              <a:off x="9321851" y="1372552"/>
              <a:ext cx="787298" cy="205359"/>
            </a:xfrm>
            <a:prstGeom prst="rect">
              <a:avLst/>
            </a:prstGeom>
            <a:noFill/>
            <a:ln>
              <a:noFill/>
            </a:ln>
          </p:spPr>
          <p:txBody>
            <a:bodyPr wrap="none" lIns="0" tIns="0" rIns="0" bIns="0" anchor="t" anchorCtr="0">
              <a:spAutoFit/>
            </a:bodyPr>
            <a:lstStyle/>
            <a:p>
              <a:pPr algn="ctr"/>
              <a:r>
                <a:rPr lang="tr-TR" sz="1050" b="1" dirty="0">
                  <a:solidFill>
                    <a:srgbClr val="FFFFFF"/>
                  </a:solidFill>
                  <a:latin typeface="+mn-lt"/>
                  <a:ea typeface="+mn-ea"/>
                  <a:cs typeface="+mn-cs"/>
                </a:rPr>
                <a:t>Model ağaç</a:t>
              </a:r>
            </a:p>
          </p:txBody>
        </p:sp>
        <p:sp>
          <p:nvSpPr>
            <p:cNvPr id="20" name="TextBox 20"/>
            <p:cNvSpPr txBox="1"/>
            <p:nvPr/>
          </p:nvSpPr>
          <p:spPr>
            <a:xfrm>
              <a:off x="9283463" y="1563052"/>
              <a:ext cx="864075" cy="205359"/>
            </a:xfrm>
            <a:prstGeom prst="rect">
              <a:avLst/>
            </a:prstGeom>
            <a:noFill/>
            <a:ln>
              <a:noFill/>
            </a:ln>
          </p:spPr>
          <p:txBody>
            <a:bodyPr wrap="none" lIns="0" tIns="0" rIns="0" bIns="0" anchor="t" anchorCtr="0">
              <a:spAutoFit/>
            </a:bodyPr>
            <a:lstStyle/>
            <a:p>
              <a:pPr algn="ctr"/>
              <a:r>
                <a:rPr lang="tr-TR" sz="1050" b="1" dirty="0">
                  <a:solidFill>
                    <a:srgbClr val="FFFFFF"/>
                  </a:solidFill>
                  <a:latin typeface="+mn-lt"/>
                  <a:ea typeface="+mn-ea"/>
                  <a:cs typeface="+mn-cs"/>
                </a:rPr>
                <a:t>tabanlı mı?</a:t>
              </a:r>
            </a:p>
          </p:txBody>
        </p:sp>
      </p:grpSp>
      <p:sp>
        <p:nvSpPr>
          <p:cNvPr id="22" name="Line 22"/>
          <p:cNvSpPr/>
          <p:nvPr/>
        </p:nvSpPr>
        <p:spPr>
          <a:xfrm flipH="1">
            <a:off x="8477250" y="1981200"/>
            <a:ext cx="1047750" cy="876300"/>
          </a:xfrm>
          <a:prstGeom prst="line">
            <a:avLst/>
          </a:prstGeom>
          <a:noFill/>
          <a:ln w="19050">
            <a:solidFill>
              <a:srgbClr val="52616B"/>
            </a:solidFill>
            <a:tailEnd type="arrow" w="lg" len="lg"/>
          </a:ln>
        </p:spPr>
      </p:sp>
      <p:sp>
        <p:nvSpPr>
          <p:cNvPr id="23" name="TextBox 23"/>
          <p:cNvSpPr txBox="1"/>
          <p:nvPr/>
        </p:nvSpPr>
        <p:spPr>
          <a:xfrm>
            <a:off x="8398586" y="2355056"/>
            <a:ext cx="347828" cy="220028"/>
          </a:xfrm>
          <a:prstGeom prst="rect">
            <a:avLst/>
          </a:prstGeom>
          <a:noFill/>
          <a:ln>
            <a:noFill/>
          </a:ln>
        </p:spPr>
        <p:txBody>
          <a:bodyPr wrap="none" lIns="0" tIns="0" rIns="0" bIns="0" anchor="t" anchorCtr="0">
            <a:spAutoFit/>
          </a:bodyPr>
          <a:lstStyle/>
          <a:p>
            <a:pPr algn="ctr"/>
            <a:r>
              <a:rPr lang="tr-TR" sz="1120" dirty="0">
                <a:solidFill>
                  <a:srgbClr val="52616B"/>
                </a:solidFill>
                <a:latin typeface="+mn-lt"/>
                <a:ea typeface="+mn-ea"/>
                <a:cs typeface="+mn-cs"/>
              </a:rPr>
              <a:t>Evet</a:t>
            </a:r>
          </a:p>
        </p:txBody>
      </p:sp>
      <p:sp>
        <p:nvSpPr>
          <p:cNvPr id="24" name="Line 24"/>
          <p:cNvSpPr/>
          <p:nvPr/>
        </p:nvSpPr>
        <p:spPr>
          <a:xfrm>
            <a:off x="9906000" y="1981200"/>
            <a:ext cx="952500" cy="876300"/>
          </a:xfrm>
          <a:prstGeom prst="line">
            <a:avLst/>
          </a:prstGeom>
          <a:noFill/>
          <a:ln w="19050">
            <a:solidFill>
              <a:srgbClr val="52616B"/>
            </a:solidFill>
            <a:tailEnd type="arrow" w="lg" len="lg"/>
          </a:ln>
        </p:spPr>
      </p:sp>
      <p:sp>
        <p:nvSpPr>
          <p:cNvPr id="25" name="TextBox 25"/>
          <p:cNvSpPr txBox="1"/>
          <p:nvPr/>
        </p:nvSpPr>
        <p:spPr>
          <a:xfrm>
            <a:off x="10833623" y="2355056"/>
            <a:ext cx="430754" cy="220028"/>
          </a:xfrm>
          <a:prstGeom prst="rect">
            <a:avLst/>
          </a:prstGeom>
          <a:noFill/>
          <a:ln>
            <a:noFill/>
          </a:ln>
        </p:spPr>
        <p:txBody>
          <a:bodyPr wrap="none" lIns="0" tIns="0" rIns="0" bIns="0" anchor="t" anchorCtr="0">
            <a:spAutoFit/>
          </a:bodyPr>
          <a:lstStyle/>
          <a:p>
            <a:pPr algn="ctr"/>
            <a:r>
              <a:rPr lang="tr-TR" sz="1120" dirty="0">
                <a:solidFill>
                  <a:srgbClr val="52616B"/>
                </a:solidFill>
                <a:latin typeface="+mn-lt"/>
                <a:ea typeface="+mn-ea"/>
                <a:cs typeface="+mn-cs"/>
              </a:rPr>
              <a:t>Hayır</a:t>
            </a:r>
          </a:p>
        </p:txBody>
      </p:sp>
      <p:grpSp>
        <p:nvGrpSpPr>
          <p:cNvPr id="29" name="node-shap-local"/>
          <p:cNvGrpSpPr/>
          <p:nvPr/>
        </p:nvGrpSpPr>
        <p:grpSpPr>
          <a:xfrm>
            <a:off x="7239000" y="2914650"/>
            <a:ext cx="2476500" cy="723900"/>
            <a:chOff x="7239000" y="2914650"/>
            <a:chExt cx="2476500" cy="723900"/>
          </a:xfrm>
        </p:grpSpPr>
        <p:sp>
          <p:nvSpPr>
            <p:cNvPr id="26" name="Rectangle 26"/>
            <p:cNvSpPr/>
            <p:nvPr/>
          </p:nvSpPr>
          <p:spPr>
            <a:xfrm>
              <a:off x="7239000" y="2914650"/>
              <a:ext cx="2476500" cy="723900"/>
            </a:xfrm>
            <a:prstGeom prst="roundRect">
              <a:avLst>
                <a:gd name="adj" fmla="val 10526"/>
              </a:avLst>
            </a:prstGeom>
            <a:solidFill>
              <a:srgbClr val="FFFFFF"/>
            </a:solidFill>
            <a:ln w="14288">
              <a:solidFill>
                <a:srgbClr val="2E86AB"/>
              </a:solidFill>
            </a:ln>
          </p:spPr>
        </p:sp>
        <p:sp>
          <p:nvSpPr>
            <p:cNvPr id="27" name="TextBox 27"/>
            <p:cNvSpPr txBox="1"/>
            <p:nvPr/>
          </p:nvSpPr>
          <p:spPr>
            <a:xfrm>
              <a:off x="7679634" y="3070860"/>
              <a:ext cx="1595232" cy="234696"/>
            </a:xfrm>
            <a:prstGeom prst="rect">
              <a:avLst/>
            </a:prstGeom>
            <a:noFill/>
            <a:ln>
              <a:noFill/>
            </a:ln>
          </p:spPr>
          <p:txBody>
            <a:bodyPr wrap="none" lIns="0" tIns="0" rIns="0" bIns="0" anchor="t" anchorCtr="0">
              <a:spAutoFit/>
            </a:bodyPr>
            <a:lstStyle/>
            <a:p>
              <a:pPr algn="ctr"/>
              <a:r>
                <a:rPr lang="tr-TR" sz="1200" b="1" dirty="0">
                  <a:solidFill>
                    <a:srgbClr val="12355B"/>
                  </a:solidFill>
                  <a:latin typeface="+mn-lt"/>
                  <a:ea typeface="+mn-ea"/>
                  <a:cs typeface="+mn-cs"/>
                </a:rPr>
                <a:t>SHAP TreeExplainer</a:t>
              </a:r>
            </a:p>
          </p:txBody>
        </p:sp>
        <p:sp>
          <p:nvSpPr>
            <p:cNvPr id="28" name="TextBox 28"/>
            <p:cNvSpPr txBox="1"/>
            <p:nvPr/>
          </p:nvSpPr>
          <p:spPr>
            <a:xfrm>
              <a:off x="7729823" y="3315652"/>
              <a:ext cx="1494854" cy="205359"/>
            </a:xfrm>
            <a:prstGeom prst="rect">
              <a:avLst/>
            </a:prstGeom>
            <a:noFill/>
            <a:ln>
              <a:noFill/>
            </a:ln>
          </p:spPr>
          <p:txBody>
            <a:bodyPr wrap="none" lIns="0" tIns="0" rIns="0" bIns="0" anchor="t" anchorCtr="0">
              <a:spAutoFit/>
            </a:bodyPr>
            <a:lstStyle/>
            <a:p>
              <a:pPr algn="ctr"/>
              <a:r>
                <a:rPr lang="tr-TR" sz="1050" dirty="0">
                  <a:solidFill>
                    <a:srgbClr val="52616B"/>
                  </a:solidFill>
                  <a:latin typeface="+mn-lt"/>
                  <a:ea typeface="+mn-ea"/>
                  <a:cs typeface="+mn-cs"/>
                </a:rPr>
                <a:t>hızlı, yerel açıklama</a:t>
              </a:r>
            </a:p>
          </p:txBody>
        </p:sp>
      </p:grpSp>
      <p:grpSp>
        <p:nvGrpSpPr>
          <p:cNvPr id="33" name="node-lime-local"/>
          <p:cNvGrpSpPr/>
          <p:nvPr/>
        </p:nvGrpSpPr>
        <p:grpSpPr>
          <a:xfrm>
            <a:off x="9810750" y="2914650"/>
            <a:ext cx="2095500" cy="723900"/>
            <a:chOff x="9810750" y="2914650"/>
            <a:chExt cx="2095500" cy="723900"/>
          </a:xfrm>
        </p:grpSpPr>
        <p:sp>
          <p:nvSpPr>
            <p:cNvPr id="30" name="Rectangle 30"/>
            <p:cNvSpPr/>
            <p:nvPr/>
          </p:nvSpPr>
          <p:spPr>
            <a:xfrm>
              <a:off x="9810750" y="2914650"/>
              <a:ext cx="2095500" cy="723900"/>
            </a:xfrm>
            <a:prstGeom prst="roundRect">
              <a:avLst>
                <a:gd name="adj" fmla="val 10526"/>
              </a:avLst>
            </a:prstGeom>
            <a:solidFill>
              <a:srgbClr val="12355B"/>
            </a:solidFill>
            <a:ln>
              <a:noFill/>
            </a:ln>
          </p:spPr>
        </p:sp>
        <p:sp>
          <p:nvSpPr>
            <p:cNvPr id="31" name="TextBox 31"/>
            <p:cNvSpPr txBox="1"/>
            <p:nvPr/>
          </p:nvSpPr>
          <p:spPr>
            <a:xfrm>
              <a:off x="10659740" y="3070860"/>
              <a:ext cx="397520" cy="234696"/>
            </a:xfrm>
            <a:prstGeom prst="rect">
              <a:avLst/>
            </a:prstGeom>
            <a:noFill/>
            <a:ln>
              <a:noFill/>
            </a:ln>
          </p:spPr>
          <p:txBody>
            <a:bodyPr wrap="none" lIns="0" tIns="0" rIns="0" bIns="0" anchor="t" anchorCtr="0">
              <a:spAutoFit/>
            </a:bodyPr>
            <a:lstStyle/>
            <a:p>
              <a:pPr algn="ctr"/>
              <a:r>
                <a:rPr lang="tr-TR" sz="1200" b="1" dirty="0">
                  <a:solidFill>
                    <a:srgbClr val="FFFFFF"/>
                  </a:solidFill>
                  <a:latin typeface="+mn-lt"/>
                  <a:ea typeface="+mn-ea"/>
                  <a:cs typeface="+mn-cs"/>
                </a:rPr>
                <a:t>LIME</a:t>
              </a:r>
            </a:p>
          </p:txBody>
        </p:sp>
        <p:sp>
          <p:nvSpPr>
            <p:cNvPr id="32" name="TextBox 32"/>
            <p:cNvSpPr txBox="1"/>
            <p:nvPr/>
          </p:nvSpPr>
          <p:spPr>
            <a:xfrm>
              <a:off x="10100472" y="3315652"/>
              <a:ext cx="1516056" cy="205359"/>
            </a:xfrm>
            <a:prstGeom prst="rect">
              <a:avLst/>
            </a:prstGeom>
            <a:noFill/>
            <a:ln>
              <a:noFill/>
            </a:ln>
          </p:spPr>
          <p:txBody>
            <a:bodyPr wrap="none" lIns="0" tIns="0" rIns="0" bIns="0" anchor="t" anchorCtr="0">
              <a:spAutoFit/>
            </a:bodyPr>
            <a:lstStyle/>
            <a:p>
              <a:pPr algn="ctr"/>
              <a:r>
                <a:rPr lang="tr-TR" sz="1050" dirty="0">
                  <a:solidFill>
                    <a:srgbClr val="EAF4F6"/>
                  </a:solidFill>
                  <a:latin typeface="+mn-lt"/>
                  <a:ea typeface="+mn-ea"/>
                  <a:cs typeface="+mn-cs"/>
                </a:rPr>
                <a:t>model-bağımsız yerel</a:t>
              </a:r>
            </a:p>
          </p:txBody>
        </p:sp>
      </p:grpSp>
      <p:grpSp>
        <p:nvGrpSpPr>
          <p:cNvPr id="38" name="closing-note"/>
          <p:cNvGrpSpPr/>
          <p:nvPr/>
        </p:nvGrpSpPr>
        <p:grpSpPr>
          <a:xfrm>
            <a:off x="609600" y="4572000"/>
            <a:ext cx="10972800" cy="914400"/>
            <a:chOff x="609600" y="4572000"/>
            <a:chExt cx="10972800" cy="914400"/>
          </a:xfrm>
        </p:grpSpPr>
        <p:sp>
          <p:nvSpPr>
            <p:cNvPr id="34" name="Rectangle 34"/>
            <p:cNvSpPr/>
            <p:nvPr/>
          </p:nvSpPr>
          <p:spPr>
            <a:xfrm>
              <a:off x="609600" y="4572000"/>
              <a:ext cx="10972800" cy="914400"/>
            </a:xfrm>
            <a:prstGeom prst="roundRect">
              <a:avLst>
                <a:gd name="adj" fmla="val 8333"/>
              </a:avLst>
            </a:prstGeom>
            <a:solidFill>
              <a:srgbClr val="EAF4F6"/>
            </a:solidFill>
            <a:ln>
              <a:noFill/>
            </a:ln>
          </p:spPr>
        </p:sp>
        <p:sp>
          <p:nvSpPr>
            <p:cNvPr id="35" name="TextBox 35"/>
            <p:cNvSpPr txBox="1"/>
            <p:nvPr/>
          </p:nvSpPr>
          <p:spPr>
            <a:xfrm>
              <a:off x="907542" y="4731068"/>
              <a:ext cx="6183670"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Bu akış, açıklamanın kapsamına göre yöntem seçildiğini gösterir.</a:t>
              </a:r>
            </a:p>
          </p:txBody>
        </p:sp>
        <p:sp>
          <p:nvSpPr>
            <p:cNvPr id="36" name="TextBox 36"/>
            <p:cNvSpPr txBox="1"/>
            <p:nvPr/>
          </p:nvSpPr>
          <p:spPr>
            <a:xfrm>
              <a:off x="908304" y="5033010"/>
              <a:ext cx="814308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Nihai açıklama, insan denetiminden bağımsız bir otomasyon gerekçesi değildir; seçilen yöntem yalnızca</a:t>
              </a:r>
            </a:p>
          </p:txBody>
        </p:sp>
        <p:sp>
          <p:nvSpPr>
            <p:cNvPr id="37" name="TextBox 37"/>
            <p:cNvSpPr txBox="1"/>
            <p:nvPr/>
          </p:nvSpPr>
          <p:spPr>
            <a:xfrm>
              <a:off x="908304" y="5223510"/>
              <a:ext cx="487466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gerekçeyi görünür kılar, kararı otomatik olarak doğrulamaz.</a:t>
              </a:r>
            </a:p>
          </p:txBody>
        </p:sp>
      </p:grpSp>
      <p:sp>
        <p:nvSpPr>
          <p:cNvPr id="39" name="TextBox 39"/>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16 / 25</a:t>
            </a:r>
          </a:p>
        </p:txBody>
      </p:sp>
    </p:spTree>
  </p:cSld>
  <p:clrMapOvr>
    <a:masterClrMapping/>
  </p:clrMapOvr>
  <p:transition xmlns:p14="http://schemas.microsoft.com/office/powerpoint/2010/main" p14:dur="400">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8924699" cy="557403"/>
            <a:chOff x="595122" y="282892"/>
            <a:chExt cx="8924699" cy="557403"/>
          </a:xfrm>
        </p:grpSpPr>
        <p:sp>
          <p:nvSpPr>
            <p:cNvPr id="4" name="TextBox 4"/>
            <p:cNvSpPr txBox="1"/>
            <p:nvPr/>
          </p:nvSpPr>
          <p:spPr>
            <a:xfrm>
              <a:off x="595122" y="282892"/>
              <a:ext cx="8924699"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Global ve yerel açıklamanın tamamlayıcı rolü</a:t>
              </a:r>
            </a:p>
          </p:txBody>
        </p:sp>
      </p:grpSp>
      <p:grpSp>
        <p:nvGrpSpPr>
          <p:cNvPr id="17" name="card-global"/>
          <p:cNvGrpSpPr/>
          <p:nvPr/>
        </p:nvGrpSpPr>
        <p:grpSpPr>
          <a:xfrm>
            <a:off x="609600" y="1333500"/>
            <a:ext cx="4572000" cy="3048000"/>
            <a:chOff x="609600" y="1333500"/>
            <a:chExt cx="4572000" cy="3048000"/>
          </a:xfrm>
        </p:grpSpPr>
        <p:sp>
          <p:nvSpPr>
            <p:cNvPr id="6" name="Rectangle 6"/>
            <p:cNvSpPr/>
            <p:nvPr/>
          </p:nvSpPr>
          <p:spPr>
            <a:xfrm>
              <a:off x="609600" y="1333500"/>
              <a:ext cx="4572000" cy="3048000"/>
            </a:xfrm>
            <a:prstGeom prst="roundRect">
              <a:avLst>
                <a:gd name="adj" fmla="val 3125"/>
              </a:avLst>
            </a:prstGeom>
            <a:solidFill>
              <a:srgbClr val="12355B"/>
            </a:solidFill>
            <a:ln>
              <a:noFill/>
            </a:ln>
          </p:spPr>
        </p:sp>
        <p:sp>
          <p:nvSpPr>
            <p:cNvPr id="7" name="TextBox 7"/>
            <p:cNvSpPr txBox="1"/>
            <p:nvPr/>
          </p:nvSpPr>
          <p:spPr>
            <a:xfrm>
              <a:off x="904494" y="1542098"/>
              <a:ext cx="2081591" cy="381381"/>
            </a:xfrm>
            <a:prstGeom prst="rect">
              <a:avLst/>
            </a:prstGeom>
            <a:noFill/>
            <a:ln>
              <a:noFill/>
            </a:ln>
          </p:spPr>
          <p:txBody>
            <a:bodyPr wrap="none" lIns="0" tIns="0" rIns="0" bIns="0" anchor="t" anchorCtr="0">
              <a:spAutoFit/>
            </a:bodyPr>
            <a:lstStyle/>
            <a:p>
              <a:pPr algn="l"/>
              <a:r>
                <a:rPr lang="tr-TR" sz="1950" b="1" dirty="0">
                  <a:solidFill>
                    <a:srgbClr val="FFFFFF"/>
                  </a:solidFill>
                  <a:latin typeface="+mn-lt"/>
                  <a:ea typeface="+mn-ea"/>
                  <a:cs typeface="+mn-cs"/>
                </a:rPr>
                <a:t>Global açıklama</a:t>
              </a:r>
            </a:p>
          </p:txBody>
        </p:sp>
        <p:sp>
          <p:nvSpPr>
            <p:cNvPr id="8" name="TextBox 8"/>
            <p:cNvSpPr txBox="1"/>
            <p:nvPr/>
          </p:nvSpPr>
          <p:spPr>
            <a:xfrm>
              <a:off x="908304" y="1985010"/>
              <a:ext cx="2278929"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Modelin tüm veri kümesindeki</a:t>
              </a:r>
            </a:p>
          </p:txBody>
        </p:sp>
        <p:sp>
          <p:nvSpPr>
            <p:cNvPr id="9" name="TextBox 9"/>
            <p:cNvSpPr txBox="1"/>
            <p:nvPr/>
          </p:nvSpPr>
          <p:spPr>
            <a:xfrm>
              <a:off x="908304" y="2194560"/>
              <a:ext cx="1797253"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davranışını denetler.</a:t>
              </a:r>
            </a:p>
          </p:txBody>
        </p:sp>
        <p:sp>
          <p:nvSpPr>
            <p:cNvPr id="10" name="Rectangle 10"/>
            <p:cNvSpPr/>
            <p:nvPr/>
          </p:nvSpPr>
          <p:spPr>
            <a:xfrm>
              <a:off x="914400" y="2571750"/>
              <a:ext cx="3962400" cy="666750"/>
            </a:xfrm>
            <a:prstGeom prst="roundRect">
              <a:avLst>
                <a:gd name="adj" fmla="val 8571"/>
              </a:avLst>
            </a:prstGeom>
            <a:solidFill>
              <a:srgbClr val="0F2B49"/>
            </a:solidFill>
            <a:ln>
              <a:noFill/>
            </a:ln>
          </p:spPr>
        </p:sp>
        <p:sp>
          <p:nvSpPr>
            <p:cNvPr id="11" name="TextBox 11"/>
            <p:cNvSpPr txBox="1"/>
            <p:nvPr/>
          </p:nvSpPr>
          <p:spPr>
            <a:xfrm>
              <a:off x="1061085" y="2659856"/>
              <a:ext cx="1139590" cy="220028"/>
            </a:xfrm>
            <a:prstGeom prst="rect">
              <a:avLst/>
            </a:prstGeom>
            <a:noFill/>
            <a:ln>
              <a:noFill/>
            </a:ln>
          </p:spPr>
          <p:txBody>
            <a:bodyPr wrap="none" lIns="0" tIns="0" rIns="0" bIns="0" anchor="t" anchorCtr="0">
              <a:spAutoFit/>
            </a:bodyPr>
            <a:lstStyle/>
            <a:p>
              <a:pPr algn="l"/>
              <a:r>
                <a:rPr lang="tr-TR" sz="1120" dirty="0">
                  <a:solidFill>
                    <a:srgbClr val="00A6A6"/>
                  </a:solidFill>
                  <a:latin typeface="+mn-lt"/>
                  <a:ea typeface="+mn-ea"/>
                  <a:cs typeface="+mn-cs"/>
                </a:rPr>
                <a:t>Kullanım alanı:</a:t>
              </a:r>
            </a:p>
          </p:txBody>
        </p:sp>
        <p:sp>
          <p:nvSpPr>
            <p:cNvPr id="12" name="TextBox 12"/>
            <p:cNvSpPr txBox="1"/>
            <p:nvPr/>
          </p:nvSpPr>
          <p:spPr>
            <a:xfrm>
              <a:off x="1061085" y="2869406"/>
              <a:ext cx="3054311" cy="220028"/>
            </a:xfrm>
            <a:prstGeom prst="rect">
              <a:avLst/>
            </a:prstGeom>
            <a:noFill/>
            <a:ln>
              <a:noFill/>
            </a:ln>
          </p:spPr>
          <p:txBody>
            <a:bodyPr wrap="none" lIns="0" tIns="0" rIns="0" bIns="0" anchor="t" anchorCtr="0">
              <a:spAutoFit/>
            </a:bodyPr>
            <a:lstStyle/>
            <a:p>
              <a:pPr algn="l"/>
              <a:r>
                <a:rPr lang="tr-TR" sz="1120" dirty="0">
                  <a:solidFill>
                    <a:srgbClr val="EAF4F6"/>
                  </a:solidFill>
                  <a:latin typeface="+mn-lt"/>
                  <a:ea typeface="+mn-ea"/>
                  <a:cs typeface="+mn-cs"/>
                </a:rPr>
                <a:t>Politika, ücretlendirme ve model denetimi</a:t>
              </a:r>
            </a:p>
          </p:txBody>
        </p:sp>
        <p:sp>
          <p:nvSpPr>
            <p:cNvPr id="13" name="TextBox 13"/>
            <p:cNvSpPr txBox="1"/>
            <p:nvPr/>
          </p:nvSpPr>
          <p:spPr>
            <a:xfrm>
              <a:off x="1061085" y="3040856"/>
              <a:ext cx="2031807" cy="220028"/>
            </a:xfrm>
            <a:prstGeom prst="rect">
              <a:avLst/>
            </a:prstGeom>
            <a:noFill/>
            <a:ln>
              <a:noFill/>
            </a:ln>
          </p:spPr>
          <p:txBody>
            <a:bodyPr wrap="none" lIns="0" tIns="0" rIns="0" bIns="0" anchor="t" anchorCtr="0">
              <a:spAutoFit/>
            </a:bodyPr>
            <a:lstStyle/>
            <a:p>
              <a:pPr algn="l"/>
              <a:r>
                <a:rPr lang="tr-TR" sz="1120" dirty="0">
                  <a:solidFill>
                    <a:srgbClr val="EAF4F6"/>
                  </a:solidFill>
                  <a:latin typeface="+mn-lt"/>
                  <a:ea typeface="+mn-ea"/>
                  <a:cs typeface="+mn-cs"/>
                </a:rPr>
                <a:t>kararları için yol gösterir.</a:t>
              </a:r>
            </a:p>
          </p:txBody>
        </p:sp>
        <p:sp>
          <p:nvSpPr>
            <p:cNvPr id="14" name="TextBox 14"/>
            <p:cNvSpPr txBox="1"/>
            <p:nvPr/>
          </p:nvSpPr>
          <p:spPr>
            <a:xfrm>
              <a:off x="908685" y="3631406"/>
              <a:ext cx="2517983" cy="220028"/>
            </a:xfrm>
            <a:prstGeom prst="rect">
              <a:avLst/>
            </a:prstGeom>
            <a:noFill/>
            <a:ln>
              <a:noFill/>
            </a:ln>
          </p:spPr>
          <p:txBody>
            <a:bodyPr wrap="none" lIns="0" tIns="0" rIns="0" bIns="0" anchor="t" anchorCtr="0">
              <a:spAutoFit/>
            </a:bodyPr>
            <a:lstStyle/>
            <a:p>
              <a:pPr algn="l"/>
              <a:r>
                <a:rPr lang="tr-TR" sz="1120" dirty="0">
                  <a:solidFill>
                    <a:srgbClr val="EAF4F6"/>
                  </a:solidFill>
                  <a:latin typeface="+mn-lt"/>
                  <a:ea typeface="+mn-ea"/>
                  <a:cs typeface="+mn-cs"/>
                </a:rPr>
                <a:t>SHAP özet grafiği: hangi özellikler</a:t>
              </a:r>
            </a:p>
          </p:txBody>
        </p:sp>
        <p:sp>
          <p:nvSpPr>
            <p:cNvPr id="15" name="TextBox 15"/>
            <p:cNvSpPr txBox="1"/>
            <p:nvPr/>
          </p:nvSpPr>
          <p:spPr>
            <a:xfrm>
              <a:off x="908685" y="3840956"/>
              <a:ext cx="1896110" cy="220028"/>
            </a:xfrm>
            <a:prstGeom prst="rect">
              <a:avLst/>
            </a:prstGeom>
            <a:noFill/>
            <a:ln>
              <a:noFill/>
            </a:ln>
          </p:spPr>
          <p:txBody>
            <a:bodyPr wrap="none" lIns="0" tIns="0" rIns="0" bIns="0" anchor="t" anchorCtr="0">
              <a:spAutoFit/>
            </a:bodyPr>
            <a:lstStyle/>
            <a:p>
              <a:pPr algn="l"/>
              <a:r>
                <a:rPr lang="tr-TR" sz="1120" dirty="0">
                  <a:solidFill>
                    <a:srgbClr val="EAF4F6"/>
                  </a:solidFill>
                  <a:latin typeface="+mn-lt"/>
                  <a:ea typeface="+mn-ea"/>
                  <a:cs typeface="+mn-cs"/>
                </a:rPr>
                <a:t>önemli ve etki yönü nedir?</a:t>
              </a:r>
            </a:p>
          </p:txBody>
        </p:sp>
        <p:sp>
          <p:nvSpPr>
            <p:cNvPr id="16" name="TextBox 16"/>
            <p:cNvSpPr txBox="1"/>
            <p:nvPr/>
          </p:nvSpPr>
          <p:spPr>
            <a:xfrm>
              <a:off x="908685" y="4069556"/>
              <a:ext cx="3876220" cy="220028"/>
            </a:xfrm>
            <a:prstGeom prst="rect">
              <a:avLst/>
            </a:prstGeom>
            <a:noFill/>
            <a:ln>
              <a:noFill/>
            </a:ln>
          </p:spPr>
          <p:txBody>
            <a:bodyPr wrap="none" lIns="0" tIns="0" rIns="0" bIns="0" anchor="t" anchorCtr="0">
              <a:spAutoFit/>
            </a:bodyPr>
            <a:lstStyle/>
            <a:p>
              <a:pPr algn="l"/>
              <a:r>
                <a:rPr lang="tr-TR" sz="1120" dirty="0">
                  <a:solidFill>
                    <a:srgbClr val="EAF4F6"/>
                  </a:solidFill>
                  <a:latin typeface="+mn-lt"/>
                  <a:ea typeface="+mn-ea"/>
                  <a:cs typeface="+mn-cs"/>
                </a:rPr>
                <a:t>Tek başına: tek müşteri kararı için yeterli değildir.</a:t>
              </a:r>
            </a:p>
          </p:txBody>
        </p:sp>
      </p:grpSp>
      <p:grpSp>
        <p:nvGrpSpPr>
          <p:cNvPr id="29" name="card-yerel"/>
          <p:cNvGrpSpPr/>
          <p:nvPr/>
        </p:nvGrpSpPr>
        <p:grpSpPr>
          <a:xfrm>
            <a:off x="7010400" y="1333500"/>
            <a:ext cx="4572000" cy="3048000"/>
            <a:chOff x="7010400" y="1333500"/>
            <a:chExt cx="4572000" cy="3048000"/>
          </a:xfrm>
        </p:grpSpPr>
        <p:sp>
          <p:nvSpPr>
            <p:cNvPr id="18" name="Rectangle 18"/>
            <p:cNvSpPr/>
            <p:nvPr/>
          </p:nvSpPr>
          <p:spPr>
            <a:xfrm>
              <a:off x="7010400" y="1333500"/>
              <a:ext cx="4572000" cy="3048000"/>
            </a:xfrm>
            <a:prstGeom prst="roundRect">
              <a:avLst>
                <a:gd name="adj" fmla="val 3125"/>
              </a:avLst>
            </a:prstGeom>
            <a:solidFill>
              <a:srgbClr val="FFFFFF"/>
            </a:solidFill>
            <a:ln w="14288">
              <a:solidFill>
                <a:srgbClr val="2E86AB"/>
              </a:solidFill>
            </a:ln>
          </p:spPr>
        </p:sp>
        <p:sp>
          <p:nvSpPr>
            <p:cNvPr id="19" name="TextBox 19"/>
            <p:cNvSpPr txBox="1"/>
            <p:nvPr/>
          </p:nvSpPr>
          <p:spPr>
            <a:xfrm>
              <a:off x="7305294" y="1542098"/>
              <a:ext cx="1999179" cy="381381"/>
            </a:xfrm>
            <a:prstGeom prst="rect">
              <a:avLst/>
            </a:prstGeom>
            <a:noFill/>
            <a:ln>
              <a:noFill/>
            </a:ln>
          </p:spPr>
          <p:txBody>
            <a:bodyPr wrap="none" lIns="0" tIns="0" rIns="0" bIns="0" anchor="t" anchorCtr="0">
              <a:spAutoFit/>
            </a:bodyPr>
            <a:lstStyle/>
            <a:p>
              <a:pPr algn="l"/>
              <a:r>
                <a:rPr lang="tr-TR" sz="1950" b="1" dirty="0">
                  <a:solidFill>
                    <a:srgbClr val="12355B"/>
                  </a:solidFill>
                  <a:latin typeface="+mn-lt"/>
                  <a:ea typeface="+mn-ea"/>
                  <a:cs typeface="+mn-cs"/>
                </a:rPr>
                <a:t>Yerel açıklama</a:t>
              </a:r>
            </a:p>
          </p:txBody>
        </p:sp>
        <p:sp>
          <p:nvSpPr>
            <p:cNvPr id="20" name="TextBox 20"/>
            <p:cNvSpPr txBox="1"/>
            <p:nvPr/>
          </p:nvSpPr>
          <p:spPr>
            <a:xfrm>
              <a:off x="7309104" y="1985010"/>
              <a:ext cx="227063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Tekil bir kararın gerekçesini</a:t>
              </a:r>
            </a:p>
          </p:txBody>
        </p:sp>
        <p:sp>
          <p:nvSpPr>
            <p:cNvPr id="21" name="TextBox 21"/>
            <p:cNvSpPr txBox="1"/>
            <p:nvPr/>
          </p:nvSpPr>
          <p:spPr>
            <a:xfrm>
              <a:off x="7309104" y="2194560"/>
              <a:ext cx="771449"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denetler.</a:t>
              </a:r>
            </a:p>
          </p:txBody>
        </p:sp>
        <p:sp>
          <p:nvSpPr>
            <p:cNvPr id="22" name="Rectangle 22"/>
            <p:cNvSpPr/>
            <p:nvPr/>
          </p:nvSpPr>
          <p:spPr>
            <a:xfrm>
              <a:off x="7315200" y="2571750"/>
              <a:ext cx="3962400" cy="666750"/>
            </a:xfrm>
            <a:prstGeom prst="roundRect">
              <a:avLst>
                <a:gd name="adj" fmla="val 8571"/>
              </a:avLst>
            </a:prstGeom>
            <a:solidFill>
              <a:srgbClr val="EAF4F6"/>
            </a:solidFill>
            <a:ln>
              <a:noFill/>
            </a:ln>
          </p:spPr>
        </p:sp>
        <p:sp>
          <p:nvSpPr>
            <p:cNvPr id="23" name="TextBox 23"/>
            <p:cNvSpPr txBox="1"/>
            <p:nvPr/>
          </p:nvSpPr>
          <p:spPr>
            <a:xfrm>
              <a:off x="7461885" y="2659856"/>
              <a:ext cx="1139590" cy="220028"/>
            </a:xfrm>
            <a:prstGeom prst="rect">
              <a:avLst/>
            </a:prstGeom>
            <a:noFill/>
            <a:ln>
              <a:noFill/>
            </a:ln>
          </p:spPr>
          <p:txBody>
            <a:bodyPr wrap="none" lIns="0" tIns="0" rIns="0" bIns="0" anchor="t" anchorCtr="0">
              <a:spAutoFit/>
            </a:bodyPr>
            <a:lstStyle/>
            <a:p>
              <a:pPr algn="l"/>
              <a:r>
                <a:rPr lang="tr-TR" sz="1120" dirty="0">
                  <a:solidFill>
                    <a:srgbClr val="2E86AB"/>
                  </a:solidFill>
                  <a:latin typeface="+mn-lt"/>
                  <a:ea typeface="+mn-ea"/>
                  <a:cs typeface="+mn-cs"/>
                </a:rPr>
                <a:t>Kullanım alanı:</a:t>
              </a:r>
            </a:p>
          </p:txBody>
        </p:sp>
        <p:sp>
          <p:nvSpPr>
            <p:cNvPr id="24" name="TextBox 24"/>
            <p:cNvSpPr txBox="1"/>
            <p:nvPr/>
          </p:nvSpPr>
          <p:spPr>
            <a:xfrm>
              <a:off x="7461885" y="2869406"/>
              <a:ext cx="2767930"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Müşteri görüşmesi, bireysel teklif ve</a:t>
              </a:r>
            </a:p>
          </p:txBody>
        </p:sp>
        <p:sp>
          <p:nvSpPr>
            <p:cNvPr id="25" name="TextBox 25"/>
            <p:cNvSpPr txBox="1"/>
            <p:nvPr/>
          </p:nvSpPr>
          <p:spPr>
            <a:xfrm>
              <a:off x="7461885" y="3040856"/>
              <a:ext cx="2785679"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itiraz değerlendirmesi için gereklidir.</a:t>
              </a:r>
            </a:p>
          </p:txBody>
        </p:sp>
        <p:sp>
          <p:nvSpPr>
            <p:cNvPr id="26" name="TextBox 26"/>
            <p:cNvSpPr txBox="1"/>
            <p:nvPr/>
          </p:nvSpPr>
          <p:spPr>
            <a:xfrm>
              <a:off x="7309485" y="3631406"/>
              <a:ext cx="2773987"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SHAP kuvvet grafiği / LIME kuralları:</a:t>
              </a:r>
            </a:p>
          </p:txBody>
        </p:sp>
        <p:sp>
          <p:nvSpPr>
            <p:cNvPr id="27" name="TextBox 27"/>
            <p:cNvSpPr txBox="1"/>
            <p:nvPr/>
          </p:nvSpPr>
          <p:spPr>
            <a:xfrm>
              <a:off x="7309485" y="3840956"/>
              <a:ext cx="2680137"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bu müşteride hangi değişken baskın?</a:t>
              </a:r>
            </a:p>
          </p:txBody>
        </p:sp>
        <p:sp>
          <p:nvSpPr>
            <p:cNvPr id="28" name="TextBox 28"/>
            <p:cNvSpPr txBox="1"/>
            <p:nvPr/>
          </p:nvSpPr>
          <p:spPr>
            <a:xfrm>
              <a:off x="7309485" y="4069556"/>
              <a:ext cx="3627718"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Tek başına: genel model davranışını göstermez.</a:t>
              </a:r>
            </a:p>
          </p:txBody>
        </p:sp>
      </p:grpSp>
      <p:grpSp>
        <p:nvGrpSpPr>
          <p:cNvPr id="32" name="plus-badge"/>
          <p:cNvGrpSpPr/>
          <p:nvPr/>
        </p:nvGrpSpPr>
        <p:grpSpPr>
          <a:xfrm>
            <a:off x="5695950" y="2457450"/>
            <a:ext cx="800100" cy="800100"/>
            <a:chOff x="5695950" y="2457450"/>
            <a:chExt cx="800100" cy="800100"/>
          </a:xfrm>
        </p:grpSpPr>
        <p:sp>
          <p:nvSpPr>
            <p:cNvPr id="30" name="Ellipse 30"/>
            <p:cNvSpPr/>
            <p:nvPr/>
          </p:nvSpPr>
          <p:spPr>
            <a:xfrm>
              <a:off x="5695950" y="2457450"/>
              <a:ext cx="800100" cy="800100"/>
            </a:xfrm>
            <a:prstGeom prst="ellipse">
              <a:avLst/>
            </a:prstGeom>
            <a:solidFill>
              <a:srgbClr val="00A6A6"/>
            </a:solidFill>
            <a:ln>
              <a:noFill/>
            </a:ln>
          </p:spPr>
        </p:sp>
        <p:sp>
          <p:nvSpPr>
            <p:cNvPr id="31" name="TextBox 31"/>
            <p:cNvSpPr txBox="1"/>
            <p:nvPr/>
          </p:nvSpPr>
          <p:spPr>
            <a:xfrm>
              <a:off x="5983924" y="2696528"/>
              <a:ext cx="224153" cy="498729"/>
            </a:xfrm>
            <a:prstGeom prst="rect">
              <a:avLst/>
            </a:prstGeom>
            <a:noFill/>
            <a:ln>
              <a:noFill/>
            </a:ln>
          </p:spPr>
          <p:txBody>
            <a:bodyPr wrap="none" lIns="0" tIns="0" rIns="0" bIns="0" anchor="t" anchorCtr="0">
              <a:spAutoFit/>
            </a:bodyPr>
            <a:lstStyle/>
            <a:p>
              <a:pPr algn="ctr"/>
              <a:r>
                <a:rPr lang="tr-TR" sz="2550" b="1" dirty="0">
                  <a:solidFill>
                    <a:srgbClr val="FFFFFF"/>
                  </a:solidFill>
                  <a:latin typeface="+mn-lt"/>
                  <a:ea typeface="+mn-ea"/>
                  <a:cs typeface="+mn-cs"/>
                </a:rPr>
                <a:t>+</a:t>
              </a:r>
            </a:p>
          </p:txBody>
        </p:sp>
      </p:grpSp>
      <p:sp>
        <p:nvSpPr>
          <p:cNvPr id="33" name="Line 33"/>
          <p:cNvSpPr/>
          <p:nvPr/>
        </p:nvSpPr>
        <p:spPr>
          <a:xfrm>
            <a:off x="5181600" y="2857500"/>
            <a:ext cx="514350" cy="1"/>
          </a:xfrm>
          <a:prstGeom prst="line">
            <a:avLst/>
          </a:prstGeom>
          <a:noFill/>
          <a:ln w="23812">
            <a:solidFill>
              <a:srgbClr val="00A6A6"/>
            </a:solidFill>
            <a:tailEnd type="arrow" w="lg" len="lg"/>
          </a:ln>
        </p:spPr>
      </p:sp>
      <p:sp>
        <p:nvSpPr>
          <p:cNvPr id="34" name="Line 34"/>
          <p:cNvSpPr/>
          <p:nvPr/>
        </p:nvSpPr>
        <p:spPr>
          <a:xfrm>
            <a:off x="6496050" y="2857500"/>
            <a:ext cx="514350" cy="1"/>
          </a:xfrm>
          <a:prstGeom prst="line">
            <a:avLst/>
          </a:prstGeom>
          <a:noFill/>
          <a:ln w="23812">
            <a:solidFill>
              <a:srgbClr val="00A6A6"/>
            </a:solidFill>
            <a:tailEnd type="arrow" w="lg" len="lg"/>
          </a:ln>
        </p:spPr>
      </p:sp>
      <p:grpSp>
        <p:nvGrpSpPr>
          <p:cNvPr id="39" name="closing-note"/>
          <p:cNvGrpSpPr/>
          <p:nvPr/>
        </p:nvGrpSpPr>
        <p:grpSpPr>
          <a:xfrm>
            <a:off x="609600" y="4610100"/>
            <a:ext cx="10972800" cy="914400"/>
            <a:chOff x="609600" y="4610100"/>
            <a:chExt cx="10972800" cy="914400"/>
          </a:xfrm>
        </p:grpSpPr>
        <p:sp>
          <p:nvSpPr>
            <p:cNvPr id="35" name="Rectangle 35"/>
            <p:cNvSpPr/>
            <p:nvPr/>
          </p:nvSpPr>
          <p:spPr>
            <a:xfrm>
              <a:off x="609600" y="4610100"/>
              <a:ext cx="10972800" cy="914400"/>
            </a:xfrm>
            <a:prstGeom prst="roundRect">
              <a:avLst>
                <a:gd name="adj" fmla="val 8333"/>
              </a:avLst>
            </a:prstGeom>
            <a:solidFill>
              <a:srgbClr val="EAF4F6"/>
            </a:solidFill>
            <a:ln>
              <a:noFill/>
            </a:ln>
          </p:spPr>
        </p:sp>
        <p:sp>
          <p:nvSpPr>
            <p:cNvPr id="36" name="TextBox 36"/>
            <p:cNvSpPr txBox="1"/>
            <p:nvPr/>
          </p:nvSpPr>
          <p:spPr>
            <a:xfrm>
              <a:off x="907542" y="4769168"/>
              <a:ext cx="6097491"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İki açıklama türü birbirinin alternatifi değil, tamamlayıcısıdır.</a:t>
              </a:r>
            </a:p>
          </p:txBody>
        </p:sp>
        <p:sp>
          <p:nvSpPr>
            <p:cNvPr id="37" name="TextBox 37"/>
            <p:cNvSpPr txBox="1"/>
            <p:nvPr/>
          </p:nvSpPr>
          <p:spPr>
            <a:xfrm>
              <a:off x="908304" y="5071110"/>
              <a:ext cx="791666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Global açıklama modelin genel eğilimini gösterir; yerel açıklama bu eğilimin belirli bir müşteride nasıl</a:t>
              </a:r>
            </a:p>
          </p:txBody>
        </p:sp>
        <p:sp>
          <p:nvSpPr>
            <p:cNvPr id="38" name="TextBox 38"/>
            <p:cNvSpPr txBox="1"/>
            <p:nvPr/>
          </p:nvSpPr>
          <p:spPr>
            <a:xfrm>
              <a:off x="908304" y="5280660"/>
              <a:ext cx="5921689"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gerçekleştiğini doğrular. Sağlam bir karar süreci ikisini bir arada kullanır.</a:t>
              </a:r>
            </a:p>
          </p:txBody>
        </p:sp>
      </p:grpSp>
      <p:sp>
        <p:nvSpPr>
          <p:cNvPr id="40" name="TextBox 40"/>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17 / 25</a:t>
            </a:r>
          </a:p>
        </p:txBody>
      </p:sp>
    </p:spTree>
  </p:cSld>
  <p:clrMapOvr>
    <a:masterClrMapping/>
  </p:clrMapOvr>
  <p:transition xmlns:p14="http://schemas.microsoft.com/office/powerpoint/2010/main" p14:dur="400">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9928680" cy="668845"/>
            <a:chOff x="609600" y="171450"/>
            <a:chExt cx="9928680"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62476" y="339090"/>
                <a:ext cx="265748" cy="236220"/>
                <a:chOff x="762476" y="339090"/>
                <a:chExt cx="265748" cy="236220"/>
              </a:xfrm>
            </p:grpSpPr>
            <p:sp>
              <p:nvSpPr>
                <p:cNvPr id="5" name="Freeform 5"/>
                <p:cNvSpPr/>
                <p:nvPr/>
              </p:nvSpPr>
              <p:spPr>
                <a:xfrm>
                  <a:off x="762476" y="398145"/>
                  <a:ext cx="59055" cy="118110"/>
                </a:xfrm>
                <a:custGeom>
                  <a:avLst/>
                  <a:gdLst/>
                  <a:ahLst/>
                  <a:cxnLst/>
                  <a:rect l="l" t="t" r="r" b="b"/>
                  <a:pathLst>
                    <a:path w="59055" h="118110">
                      <a:moveTo>
                        <a:pt x="59055" y="0"/>
                      </a:moveTo>
                      <a:lnTo>
                        <a:pt x="0" y="59055"/>
                      </a:lnTo>
                      <a:lnTo>
                        <a:pt x="59055" y="118110"/>
                      </a:lnTo>
                    </a:path>
                  </a:pathLst>
                </a:custGeom>
                <a:noFill/>
                <a:ln w="24759" cap="rnd">
                  <a:solidFill>
                    <a:srgbClr val="FFFFFF"/>
                  </a:solidFill>
                  <a:round/>
                </a:ln>
              </p:spPr>
            </p:sp>
            <p:sp>
              <p:nvSpPr>
                <p:cNvPr id="6" name="Freeform 6"/>
                <p:cNvSpPr/>
                <p:nvPr/>
              </p:nvSpPr>
              <p:spPr>
                <a:xfrm>
                  <a:off x="969169" y="398145"/>
                  <a:ext cx="59055" cy="118110"/>
                </a:xfrm>
                <a:custGeom>
                  <a:avLst/>
                  <a:gdLst/>
                  <a:ahLst/>
                  <a:cxnLst/>
                  <a:rect l="l" t="t" r="r" b="b"/>
                  <a:pathLst>
                    <a:path w="59055" h="118110">
                      <a:moveTo>
                        <a:pt x="0" y="0"/>
                      </a:moveTo>
                      <a:lnTo>
                        <a:pt x="59055" y="59055"/>
                      </a:lnTo>
                      <a:lnTo>
                        <a:pt x="0" y="118110"/>
                      </a:lnTo>
                    </a:path>
                  </a:pathLst>
                </a:custGeom>
                <a:noFill/>
                <a:ln w="24759" cap="rnd">
                  <a:solidFill>
                    <a:srgbClr val="FFFFFF"/>
                  </a:solidFill>
                  <a:round/>
                </a:ln>
              </p:spPr>
            </p:sp>
            <p:sp>
              <p:nvSpPr>
                <p:cNvPr id="7" name="Freeform 7"/>
                <p:cNvSpPr/>
                <p:nvPr/>
              </p:nvSpPr>
              <p:spPr>
                <a:xfrm>
                  <a:off x="865822" y="339090"/>
                  <a:ext cx="59055" cy="236220"/>
                </a:xfrm>
                <a:custGeom>
                  <a:avLst/>
                  <a:gdLst/>
                  <a:ahLst/>
                  <a:cxnLst/>
                  <a:rect l="l" t="t" r="r" b="b"/>
                  <a:pathLst>
                    <a:path w="59055" h="236220">
                      <a:moveTo>
                        <a:pt x="59055" y="0"/>
                      </a:moveTo>
                      <a:lnTo>
                        <a:pt x="0" y="236220"/>
                      </a:lnTo>
                    </a:path>
                  </a:pathLst>
                </a:custGeom>
                <a:noFill/>
                <a:ln w="24759" cap="rnd">
                  <a:solidFill>
                    <a:srgbClr val="FFFFFF"/>
                  </a:solidFill>
                  <a:round/>
                </a:ln>
              </p:spPr>
            </p:sp>
          </p:grpSp>
        </p:grpSp>
        <p:sp>
          <p:nvSpPr>
            <p:cNvPr id="10" name="TextBox 10"/>
            <p:cNvSpPr txBox="1"/>
            <p:nvPr/>
          </p:nvSpPr>
          <p:spPr>
            <a:xfrm>
              <a:off x="1299972" y="282892"/>
              <a:ext cx="9238308"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Uygulama: SHAP ve LIME'ı kodla karşılaştırma</a:t>
              </a:r>
            </a:p>
          </p:txBody>
        </p:sp>
      </p:grpSp>
      <p:grpSp>
        <p:nvGrpSpPr>
          <p:cNvPr id="13" name="task-line"/>
          <p:cNvGrpSpPr/>
          <p:nvPr/>
        </p:nvGrpSpPr>
        <p:grpSpPr>
          <a:xfrm>
            <a:off x="603504" y="1165860"/>
            <a:ext cx="6819334" cy="234696"/>
            <a:chOff x="603504" y="1165860"/>
            <a:chExt cx="6819334" cy="234696"/>
          </a:xfrm>
        </p:grpSpPr>
        <p:sp>
          <p:nvSpPr>
            <p:cNvPr id="12" name="TextBox 12"/>
            <p:cNvSpPr txBox="1"/>
            <p:nvPr/>
          </p:nvSpPr>
          <p:spPr>
            <a:xfrm>
              <a:off x="603504" y="1165860"/>
              <a:ext cx="6819334"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Amaç: Aynı müşteri için SHAP ve LIME'ın öne çıkardığı ilk üç özelliği karşılaştırmak.</a:t>
              </a:r>
            </a:p>
          </p:txBody>
        </p:sp>
      </p:grpSp>
      <p:grpSp>
        <p:nvGrpSpPr>
          <p:cNvPr id="28" name="code-panel"/>
          <p:cNvGrpSpPr/>
          <p:nvPr/>
        </p:nvGrpSpPr>
        <p:grpSpPr>
          <a:xfrm>
            <a:off x="609600" y="1466850"/>
            <a:ext cx="6096000" cy="2857500"/>
            <a:chOff x="609600" y="1466850"/>
            <a:chExt cx="6096000" cy="2857500"/>
          </a:xfrm>
        </p:grpSpPr>
        <p:sp>
          <p:nvSpPr>
            <p:cNvPr id="14" name="Rectangle 14"/>
            <p:cNvSpPr/>
            <p:nvPr/>
          </p:nvSpPr>
          <p:spPr>
            <a:xfrm>
              <a:off x="609600" y="1466850"/>
              <a:ext cx="6096000" cy="2857500"/>
            </a:xfrm>
            <a:prstGeom prst="roundRect">
              <a:avLst>
                <a:gd name="adj" fmla="val 2667"/>
              </a:avLst>
            </a:prstGeom>
            <a:solidFill>
              <a:srgbClr val="12355B"/>
            </a:solidFill>
            <a:ln>
              <a:noFill/>
            </a:ln>
          </p:spPr>
        </p:sp>
        <p:sp>
          <p:nvSpPr>
            <p:cNvPr id="15" name="TextBox 15"/>
            <p:cNvSpPr txBox="1"/>
            <p:nvPr/>
          </p:nvSpPr>
          <p:spPr>
            <a:xfrm>
              <a:off x="832485" y="1631156"/>
              <a:ext cx="3251853" cy="220028"/>
            </a:xfrm>
            <a:prstGeom prst="rect">
              <a:avLst/>
            </a:prstGeom>
            <a:noFill/>
            <a:ln>
              <a:noFill/>
            </a:ln>
          </p:spPr>
          <p:txBody>
            <a:bodyPr wrap="none" lIns="0" tIns="0" rIns="0" bIns="0" anchor="t" anchorCtr="0">
              <a:spAutoFit/>
            </a:bodyPr>
            <a:lstStyle/>
            <a:p>
              <a:pPr algn="l"/>
              <a:r>
                <a:rPr lang="tr-TR" sz="1120" dirty="0">
                  <a:solidFill>
                    <a:srgbClr val="00A6A6"/>
                  </a:solidFill>
                  <a:latin typeface="Consolas"/>
                  <a:ea typeface="Consolas"/>
                  <a:cs typeface="Consolas"/>
                </a:rPr>
                <a:t># File: ch13_shap_lime_karsilastirma.py</a:t>
              </a:r>
            </a:p>
          </p:txBody>
        </p:sp>
        <p:sp>
          <p:nvSpPr>
            <p:cNvPr id="16" name="TextBox 16"/>
            <p:cNvSpPr txBox="1"/>
            <p:nvPr/>
          </p:nvSpPr>
          <p:spPr>
            <a:xfrm>
              <a:off x="832485" y="1897856"/>
              <a:ext cx="260208" cy="220028"/>
            </a:xfrm>
            <a:prstGeom prst="rect">
              <a:avLst/>
            </a:prstGeom>
            <a:noFill/>
            <a:ln>
              <a:noFill/>
            </a:ln>
          </p:spPr>
          <p:txBody>
            <a:bodyPr wrap="none" lIns="0" tIns="0" rIns="0" bIns="0" anchor="t" anchorCtr="0">
              <a:spAutoFit/>
            </a:bodyPr>
            <a:lstStyle/>
            <a:p>
              <a:pPr algn="l"/>
              <a:r>
                <a:rPr lang="tr-TR" sz="1120" dirty="0">
                  <a:solidFill>
                    <a:srgbClr val="00A6A6"/>
                  </a:solidFill>
                  <a:latin typeface="Consolas"/>
                  <a:ea typeface="Consolas"/>
                  <a:cs typeface="Consolas"/>
                </a:rPr>
                <a:t>def</a:t>
              </a:r>
            </a:p>
          </p:txBody>
        </p:sp>
        <p:sp>
          <p:nvSpPr>
            <p:cNvPr id="17" name="TextBox 17"/>
            <p:cNvSpPr txBox="1"/>
            <p:nvPr/>
          </p:nvSpPr>
          <p:spPr>
            <a:xfrm>
              <a:off x="1137285" y="1897856"/>
              <a:ext cx="2913837" cy="220028"/>
            </a:xfrm>
            <a:prstGeom prst="rect">
              <a:avLst/>
            </a:prstGeom>
            <a:noFill/>
            <a:ln>
              <a:noFill/>
            </a:ln>
          </p:spPr>
          <p:txBody>
            <a:bodyPr wrap="none" lIns="0" tIns="0" rIns="0" bIns="0" anchor="t" anchorCtr="0">
              <a:spAutoFit/>
            </a:bodyPr>
            <a:lstStyle/>
            <a:p>
              <a:pPr algn="l"/>
              <a:r>
                <a:rPr lang="tr-TR" sz="1120" dirty="0">
                  <a:solidFill>
                    <a:srgbClr val="FFFFFF"/>
                  </a:solidFill>
                  <a:latin typeface="Consolas"/>
                  <a:ea typeface="Consolas"/>
                  <a:cs typeface="Consolas"/>
                </a:rPr>
                <a:t>shap_ilk_ozellikler(tablo, adet=3):</a:t>
              </a:r>
            </a:p>
          </p:txBody>
        </p:sp>
        <p:sp>
          <p:nvSpPr>
            <p:cNvPr id="18" name="TextBox 18"/>
            <p:cNvSpPr txBox="1"/>
            <p:nvPr/>
          </p:nvSpPr>
          <p:spPr>
            <a:xfrm>
              <a:off x="1061085" y="2126456"/>
              <a:ext cx="4572356" cy="220028"/>
            </a:xfrm>
            <a:prstGeom prst="rect">
              <a:avLst/>
            </a:prstGeom>
            <a:noFill/>
            <a:ln>
              <a:noFill/>
            </a:ln>
          </p:spPr>
          <p:txBody>
            <a:bodyPr wrap="none" lIns="0" tIns="0" rIns="0" bIns="0" anchor="t" anchorCtr="0">
              <a:spAutoFit/>
            </a:bodyPr>
            <a:lstStyle/>
            <a:p>
              <a:pPr algn="l"/>
              <a:r>
                <a:rPr lang="tr-TR" sz="1120" dirty="0">
                  <a:solidFill>
                    <a:srgbClr val="FFFFFF"/>
                  </a:solidFill>
                  <a:latin typeface="Consolas"/>
                  <a:ea typeface="Consolas"/>
                  <a:cs typeface="Consolas"/>
                </a:rPr>
                <a:t>return tablo.assign(mutlak=tablo["shap_katkısı"].abs())</a:t>
              </a:r>
            </a:p>
          </p:txBody>
        </p:sp>
        <p:sp>
          <p:nvSpPr>
            <p:cNvPr id="19" name="TextBox 19"/>
            <p:cNvSpPr txBox="1"/>
            <p:nvPr/>
          </p:nvSpPr>
          <p:spPr>
            <a:xfrm>
              <a:off x="1289685" y="2336006"/>
              <a:ext cx="3743096" cy="220028"/>
            </a:xfrm>
            <a:prstGeom prst="rect">
              <a:avLst/>
            </a:prstGeom>
            <a:noFill/>
            <a:ln>
              <a:noFill/>
            </a:ln>
          </p:spPr>
          <p:txBody>
            <a:bodyPr wrap="none" lIns="0" tIns="0" rIns="0" bIns="0" anchor="t" anchorCtr="0">
              <a:spAutoFit/>
            </a:bodyPr>
            <a:lstStyle/>
            <a:p>
              <a:pPr algn="l"/>
              <a:r>
                <a:rPr lang="tr-TR" sz="1120" dirty="0">
                  <a:solidFill>
                    <a:srgbClr val="FFFFFF"/>
                  </a:solidFill>
                  <a:latin typeface="Consolas"/>
                  <a:ea typeface="Consolas"/>
                  <a:cs typeface="Consolas"/>
                </a:rPr>
                <a:t>.nlargest(adet, "mutlak")["özellik"].tolist()</a:t>
              </a:r>
            </a:p>
          </p:txBody>
        </p:sp>
        <p:sp>
          <p:nvSpPr>
            <p:cNvPr id="20" name="TextBox 20"/>
            <p:cNvSpPr txBox="1"/>
            <p:nvPr/>
          </p:nvSpPr>
          <p:spPr>
            <a:xfrm>
              <a:off x="832485" y="2621756"/>
              <a:ext cx="260208" cy="220028"/>
            </a:xfrm>
            <a:prstGeom prst="rect">
              <a:avLst/>
            </a:prstGeom>
            <a:noFill/>
            <a:ln>
              <a:noFill/>
            </a:ln>
          </p:spPr>
          <p:txBody>
            <a:bodyPr wrap="none" lIns="0" tIns="0" rIns="0" bIns="0" anchor="t" anchorCtr="0">
              <a:spAutoFit/>
            </a:bodyPr>
            <a:lstStyle/>
            <a:p>
              <a:pPr algn="l"/>
              <a:r>
                <a:rPr lang="tr-TR" sz="1120" dirty="0">
                  <a:solidFill>
                    <a:srgbClr val="00A6A6"/>
                  </a:solidFill>
                  <a:latin typeface="Consolas"/>
                  <a:ea typeface="Consolas"/>
                  <a:cs typeface="Consolas"/>
                </a:rPr>
                <a:t>def</a:t>
              </a:r>
            </a:p>
          </p:txBody>
        </p:sp>
        <p:sp>
          <p:nvSpPr>
            <p:cNvPr id="21" name="TextBox 21"/>
            <p:cNvSpPr txBox="1"/>
            <p:nvPr/>
          </p:nvSpPr>
          <p:spPr>
            <a:xfrm>
              <a:off x="1137285" y="2621756"/>
              <a:ext cx="3162615" cy="220028"/>
            </a:xfrm>
            <a:prstGeom prst="rect">
              <a:avLst/>
            </a:prstGeom>
            <a:noFill/>
            <a:ln>
              <a:noFill/>
            </a:ln>
          </p:spPr>
          <p:txBody>
            <a:bodyPr wrap="none" lIns="0" tIns="0" rIns="0" bIns="0" anchor="t" anchorCtr="0">
              <a:spAutoFit/>
            </a:bodyPr>
            <a:lstStyle/>
            <a:p>
              <a:pPr algn="l"/>
              <a:r>
                <a:rPr lang="tr-TR" sz="1120" dirty="0">
                  <a:solidFill>
                    <a:srgbClr val="FFFFFF"/>
                  </a:solidFill>
                  <a:latin typeface="Consolas"/>
                  <a:ea typeface="Consolas"/>
                  <a:cs typeface="Consolas"/>
                </a:rPr>
                <a:t>lime_ilk_ozellikler(aciklama, adet=3):</a:t>
              </a:r>
            </a:p>
          </p:txBody>
        </p:sp>
        <p:sp>
          <p:nvSpPr>
            <p:cNvPr id="22" name="TextBox 22"/>
            <p:cNvSpPr txBox="1"/>
            <p:nvPr/>
          </p:nvSpPr>
          <p:spPr>
            <a:xfrm>
              <a:off x="1061085" y="2850356"/>
              <a:ext cx="3991874" cy="220028"/>
            </a:xfrm>
            <a:prstGeom prst="rect">
              <a:avLst/>
            </a:prstGeom>
            <a:noFill/>
            <a:ln>
              <a:noFill/>
            </a:ln>
          </p:spPr>
          <p:txBody>
            <a:bodyPr wrap="none" lIns="0" tIns="0" rIns="0" bIns="0" anchor="t" anchorCtr="0">
              <a:spAutoFit/>
            </a:bodyPr>
            <a:lstStyle/>
            <a:p>
              <a:pPr algn="l"/>
              <a:r>
                <a:rPr lang="tr-TR" sz="1120" dirty="0">
                  <a:solidFill>
                    <a:srgbClr val="FFFFFF"/>
                  </a:solidFill>
                  <a:latin typeface="Consolas"/>
                  <a:ea typeface="Consolas"/>
                  <a:cs typeface="Consolas"/>
                </a:rPr>
                <a:t>return [k for k, _ in aciklama.as_list()[:adet]]</a:t>
              </a:r>
            </a:p>
          </p:txBody>
        </p:sp>
        <p:sp>
          <p:nvSpPr>
            <p:cNvPr id="23" name="TextBox 23"/>
            <p:cNvSpPr txBox="1"/>
            <p:nvPr/>
          </p:nvSpPr>
          <p:spPr>
            <a:xfrm>
              <a:off x="832485" y="3136106"/>
              <a:ext cx="343134" cy="220028"/>
            </a:xfrm>
            <a:prstGeom prst="rect">
              <a:avLst/>
            </a:prstGeom>
            <a:noFill/>
            <a:ln>
              <a:noFill/>
            </a:ln>
          </p:spPr>
          <p:txBody>
            <a:bodyPr wrap="none" lIns="0" tIns="0" rIns="0" bIns="0" anchor="t" anchorCtr="0">
              <a:spAutoFit/>
            </a:bodyPr>
            <a:lstStyle/>
            <a:p>
              <a:pPr algn="l"/>
              <a:r>
                <a:rPr lang="tr-TR" sz="1120" dirty="0">
                  <a:solidFill>
                    <a:srgbClr val="FFFFFF"/>
                  </a:solidFill>
                  <a:latin typeface="Consolas"/>
                  <a:ea typeface="Consolas"/>
                  <a:cs typeface="Consolas"/>
                </a:rPr>
                <a:t>try:</a:t>
              </a:r>
            </a:p>
          </p:txBody>
        </p:sp>
        <p:sp>
          <p:nvSpPr>
            <p:cNvPr id="24" name="TextBox 24"/>
            <p:cNvSpPr txBox="1"/>
            <p:nvPr/>
          </p:nvSpPr>
          <p:spPr>
            <a:xfrm>
              <a:off x="1061085" y="3345656"/>
              <a:ext cx="3577245" cy="220028"/>
            </a:xfrm>
            <a:prstGeom prst="rect">
              <a:avLst/>
            </a:prstGeom>
            <a:noFill/>
            <a:ln>
              <a:noFill/>
            </a:ln>
          </p:spPr>
          <p:txBody>
            <a:bodyPr wrap="none" lIns="0" tIns="0" rIns="0" bIns="0" anchor="t" anchorCtr="0">
              <a:spAutoFit/>
            </a:bodyPr>
            <a:lstStyle/>
            <a:p>
              <a:pPr algn="l"/>
              <a:r>
                <a:rPr lang="tr-TR" sz="1120" dirty="0">
                  <a:solidFill>
                    <a:srgbClr val="FFFFFF"/>
                  </a:solidFill>
                  <a:latin typeface="Consolas"/>
                  <a:ea typeface="Consolas"/>
                  <a:cs typeface="Consolas"/>
                </a:rPr>
                <a:t>shap_l = shap_ilk_ozellikler(katki_tablosu)</a:t>
              </a:r>
            </a:p>
          </p:txBody>
        </p:sp>
        <p:sp>
          <p:nvSpPr>
            <p:cNvPr id="25" name="TextBox 25"/>
            <p:cNvSpPr txBox="1"/>
            <p:nvPr/>
          </p:nvSpPr>
          <p:spPr>
            <a:xfrm>
              <a:off x="1061085" y="3555206"/>
              <a:ext cx="3743096" cy="220028"/>
            </a:xfrm>
            <a:prstGeom prst="rect">
              <a:avLst/>
            </a:prstGeom>
            <a:noFill/>
            <a:ln>
              <a:noFill/>
            </a:ln>
          </p:spPr>
          <p:txBody>
            <a:bodyPr wrap="none" lIns="0" tIns="0" rIns="0" bIns="0" anchor="t" anchorCtr="0">
              <a:spAutoFit/>
            </a:bodyPr>
            <a:lstStyle/>
            <a:p>
              <a:pPr algn="l"/>
              <a:r>
                <a:rPr lang="tr-TR" sz="1120" dirty="0">
                  <a:solidFill>
                    <a:srgbClr val="FFFFFF"/>
                  </a:solidFill>
                  <a:latin typeface="Consolas"/>
                  <a:ea typeface="Consolas"/>
                  <a:cs typeface="Consolas"/>
                </a:rPr>
                <a:t>lime_l = lime_ilk_ozellikler(lime_aciklamasi)</a:t>
              </a:r>
            </a:p>
          </p:txBody>
        </p:sp>
        <p:sp>
          <p:nvSpPr>
            <p:cNvPr id="26" name="TextBox 26"/>
            <p:cNvSpPr txBox="1"/>
            <p:nvPr/>
          </p:nvSpPr>
          <p:spPr>
            <a:xfrm>
              <a:off x="832866" y="3849052"/>
              <a:ext cx="3452876" cy="205359"/>
            </a:xfrm>
            <a:prstGeom prst="rect">
              <a:avLst/>
            </a:prstGeom>
            <a:noFill/>
            <a:ln>
              <a:noFill/>
            </a:ln>
          </p:spPr>
          <p:txBody>
            <a:bodyPr wrap="none" lIns="0" tIns="0" rIns="0" bIns="0" anchor="t" anchorCtr="0">
              <a:spAutoFit/>
            </a:bodyPr>
            <a:lstStyle/>
            <a:p>
              <a:pPr algn="l"/>
              <a:r>
                <a:rPr lang="tr-TR" sz="1050" dirty="0">
                  <a:solidFill>
                    <a:srgbClr val="00A6A6"/>
                  </a:solidFill>
                  <a:latin typeface="Consolas"/>
                  <a:ea typeface="Consolas"/>
                  <a:cs typeface="Consolas"/>
                </a:rPr>
                <a:t>except (AttributeError, ValueError) as hata:</a:t>
              </a:r>
            </a:p>
          </p:txBody>
        </p:sp>
        <p:sp>
          <p:nvSpPr>
            <p:cNvPr id="27" name="TextBox 27"/>
            <p:cNvSpPr txBox="1"/>
            <p:nvPr/>
          </p:nvSpPr>
          <p:spPr>
            <a:xfrm>
              <a:off x="1061466" y="4039552"/>
              <a:ext cx="3514606" cy="205359"/>
            </a:xfrm>
            <a:prstGeom prst="rect">
              <a:avLst/>
            </a:prstGeom>
            <a:noFill/>
            <a:ln>
              <a:noFill/>
            </a:ln>
          </p:spPr>
          <p:txBody>
            <a:bodyPr wrap="none" lIns="0" tIns="0" rIns="0" bIns="0" anchor="t" anchorCtr="0">
              <a:spAutoFit/>
            </a:bodyPr>
            <a:lstStyle/>
            <a:p>
              <a:pPr algn="l"/>
              <a:r>
                <a:rPr lang="tr-TR" sz="1050" dirty="0">
                  <a:solidFill>
                    <a:srgbClr val="00A6A6"/>
                  </a:solidFill>
                  <a:latin typeface="Consolas"/>
                  <a:ea typeface="Consolas"/>
                  <a:cs typeface="Consolas"/>
                </a:rPr>
                <a:t>print(f"Açıklama karşılaştırılamadı: {hata}")</a:t>
              </a:r>
            </a:p>
          </p:txBody>
        </p:sp>
      </p:grpSp>
      <p:grpSp>
        <p:nvGrpSpPr>
          <p:cNvPr id="49" name="output-table"/>
          <p:cNvGrpSpPr/>
          <p:nvPr/>
        </p:nvGrpSpPr>
        <p:grpSpPr>
          <a:xfrm>
            <a:off x="6858000" y="1466850"/>
            <a:ext cx="4724400" cy="2857500"/>
            <a:chOff x="6858000" y="1466850"/>
            <a:chExt cx="4724400" cy="2857500"/>
          </a:xfrm>
        </p:grpSpPr>
        <p:sp>
          <p:nvSpPr>
            <p:cNvPr id="29" name="Rectangle 29"/>
            <p:cNvSpPr/>
            <p:nvPr/>
          </p:nvSpPr>
          <p:spPr>
            <a:xfrm>
              <a:off x="6858000" y="1466850"/>
              <a:ext cx="4724400" cy="2857500"/>
            </a:xfrm>
            <a:prstGeom prst="roundRect">
              <a:avLst>
                <a:gd name="adj" fmla="val 2667"/>
              </a:avLst>
            </a:prstGeom>
            <a:solidFill>
              <a:srgbClr val="FFFFFF"/>
            </a:solidFill>
            <a:ln w="14288">
              <a:solidFill>
                <a:srgbClr val="B8CBD3"/>
              </a:solidFill>
            </a:ln>
          </p:spPr>
        </p:sp>
        <p:sp>
          <p:nvSpPr>
            <p:cNvPr id="30" name="Rectangle 30"/>
            <p:cNvSpPr/>
            <p:nvPr/>
          </p:nvSpPr>
          <p:spPr>
            <a:xfrm>
              <a:off x="6858000" y="1466850"/>
              <a:ext cx="4724400" cy="381000"/>
            </a:xfrm>
            <a:prstGeom prst="rect">
              <a:avLst/>
            </a:prstGeom>
            <a:solidFill>
              <a:srgbClr val="12355B"/>
            </a:solidFill>
            <a:ln>
              <a:noFill/>
            </a:ln>
          </p:spPr>
        </p:sp>
        <p:sp>
          <p:nvSpPr>
            <p:cNvPr id="31" name="TextBox 31"/>
            <p:cNvSpPr txBox="1"/>
            <p:nvPr/>
          </p:nvSpPr>
          <p:spPr>
            <a:xfrm>
              <a:off x="7043166" y="1601152"/>
              <a:ext cx="316466" cy="205359"/>
            </a:xfrm>
            <a:prstGeom prst="rect">
              <a:avLst/>
            </a:prstGeom>
            <a:noFill/>
            <a:ln>
              <a:noFill/>
            </a:ln>
          </p:spPr>
          <p:txBody>
            <a:bodyPr wrap="none" lIns="0" tIns="0" rIns="0" bIns="0" anchor="t" anchorCtr="0">
              <a:spAutoFit/>
            </a:bodyPr>
            <a:lstStyle/>
            <a:p>
              <a:pPr algn="l"/>
              <a:r>
                <a:rPr lang="tr-TR" sz="1050" b="1" dirty="0">
                  <a:solidFill>
                    <a:srgbClr val="FFFFFF"/>
                  </a:solidFill>
                  <a:latin typeface="+mn-lt"/>
                  <a:ea typeface="+mn-ea"/>
                  <a:cs typeface="+mn-cs"/>
                </a:rPr>
                <a:t>SIRA</a:t>
              </a:r>
            </a:p>
          </p:txBody>
        </p:sp>
        <p:sp>
          <p:nvSpPr>
            <p:cNvPr id="32" name="TextBox 32"/>
            <p:cNvSpPr txBox="1"/>
            <p:nvPr/>
          </p:nvSpPr>
          <p:spPr>
            <a:xfrm>
              <a:off x="7614666" y="1601152"/>
              <a:ext cx="1092723" cy="205359"/>
            </a:xfrm>
            <a:prstGeom prst="rect">
              <a:avLst/>
            </a:prstGeom>
            <a:noFill/>
            <a:ln>
              <a:noFill/>
            </a:ln>
          </p:spPr>
          <p:txBody>
            <a:bodyPr wrap="none" lIns="0" tIns="0" rIns="0" bIns="0" anchor="t" anchorCtr="0">
              <a:spAutoFit/>
            </a:bodyPr>
            <a:lstStyle/>
            <a:p>
              <a:pPr algn="l"/>
              <a:r>
                <a:rPr lang="tr-TR" sz="1050" b="1" dirty="0">
                  <a:solidFill>
                    <a:srgbClr val="FFFFFF"/>
                  </a:solidFill>
                  <a:latin typeface="+mn-lt"/>
                  <a:ea typeface="+mn-ea"/>
                  <a:cs typeface="+mn-cs"/>
                </a:rPr>
                <a:t>SHAP ÖZELLİĞİ</a:t>
              </a:r>
            </a:p>
          </p:txBody>
        </p:sp>
        <p:sp>
          <p:nvSpPr>
            <p:cNvPr id="33" name="TextBox 33"/>
            <p:cNvSpPr txBox="1"/>
            <p:nvPr/>
          </p:nvSpPr>
          <p:spPr>
            <a:xfrm>
              <a:off x="9424416" y="1601152"/>
              <a:ext cx="873176" cy="205359"/>
            </a:xfrm>
            <a:prstGeom prst="rect">
              <a:avLst/>
            </a:prstGeom>
            <a:noFill/>
            <a:ln>
              <a:noFill/>
            </a:ln>
          </p:spPr>
          <p:txBody>
            <a:bodyPr wrap="none" lIns="0" tIns="0" rIns="0" bIns="0" anchor="t" anchorCtr="0">
              <a:spAutoFit/>
            </a:bodyPr>
            <a:lstStyle/>
            <a:p>
              <a:pPr algn="l"/>
              <a:r>
                <a:rPr lang="tr-TR" sz="1050" b="1" dirty="0">
                  <a:solidFill>
                    <a:srgbClr val="FFFFFF"/>
                  </a:solidFill>
                  <a:latin typeface="+mn-lt"/>
                  <a:ea typeface="+mn-ea"/>
                  <a:cs typeface="+mn-cs"/>
                </a:rPr>
                <a:t>LIME KURALI</a:t>
              </a:r>
            </a:p>
          </p:txBody>
        </p:sp>
        <p:sp>
          <p:nvSpPr>
            <p:cNvPr id="34" name="TextBox 34"/>
            <p:cNvSpPr txBox="1"/>
            <p:nvPr/>
          </p:nvSpPr>
          <p:spPr>
            <a:xfrm>
              <a:off x="7042404" y="1985010"/>
              <a:ext cx="101041"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1</a:t>
              </a:r>
            </a:p>
          </p:txBody>
        </p:sp>
        <p:sp>
          <p:nvSpPr>
            <p:cNvPr id="35" name="TextBox 35"/>
            <p:cNvSpPr txBox="1"/>
            <p:nvPr/>
          </p:nvSpPr>
          <p:spPr>
            <a:xfrm>
              <a:off x="7613904" y="1985010"/>
              <a:ext cx="571942"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tenure</a:t>
              </a:r>
            </a:p>
          </p:txBody>
        </p:sp>
        <p:sp>
          <p:nvSpPr>
            <p:cNvPr id="36" name="TextBox 36"/>
            <p:cNvSpPr txBox="1"/>
            <p:nvPr/>
          </p:nvSpPr>
          <p:spPr>
            <a:xfrm>
              <a:off x="9424416" y="2001202"/>
              <a:ext cx="1028395"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tenure &gt; 41.25</a:t>
              </a:r>
            </a:p>
          </p:txBody>
        </p:sp>
        <p:sp>
          <p:nvSpPr>
            <p:cNvPr id="37" name="Line 37"/>
            <p:cNvSpPr/>
            <p:nvPr/>
          </p:nvSpPr>
          <p:spPr>
            <a:xfrm>
              <a:off x="6858000" y="2266950"/>
              <a:ext cx="4724400" cy="9525"/>
            </a:xfrm>
            <a:custGeom>
              <a:avLst/>
              <a:gdLst/>
              <a:ahLst/>
              <a:cxnLst/>
              <a:rect l="l" t="t" r="r" b="b"/>
              <a:pathLst>
                <a:path w="4724400" h="9525">
                  <a:moveTo>
                    <a:pt x="0" y="0"/>
                  </a:moveTo>
                  <a:lnTo>
                    <a:pt x="4724400" y="0"/>
                  </a:lnTo>
                </a:path>
              </a:pathLst>
            </a:custGeom>
            <a:noFill/>
            <a:ln w="14288">
              <a:solidFill>
                <a:srgbClr val="EAF4F6"/>
              </a:solidFill>
            </a:ln>
          </p:spPr>
        </p:sp>
        <p:sp>
          <p:nvSpPr>
            <p:cNvPr id="38" name="TextBox 38"/>
            <p:cNvSpPr txBox="1"/>
            <p:nvPr/>
          </p:nvSpPr>
          <p:spPr>
            <a:xfrm>
              <a:off x="7042404" y="2404110"/>
              <a:ext cx="101041"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2</a:t>
              </a:r>
            </a:p>
          </p:txBody>
        </p:sp>
        <p:sp>
          <p:nvSpPr>
            <p:cNvPr id="39" name="TextBox 39"/>
            <p:cNvSpPr txBox="1"/>
            <p:nvPr/>
          </p:nvSpPr>
          <p:spPr>
            <a:xfrm>
              <a:off x="7613904" y="2404110"/>
              <a:ext cx="1320287"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MonthlyCharges</a:t>
              </a:r>
            </a:p>
          </p:txBody>
        </p:sp>
        <p:sp>
          <p:nvSpPr>
            <p:cNvPr id="40" name="TextBox 40"/>
            <p:cNvSpPr txBox="1"/>
            <p:nvPr/>
          </p:nvSpPr>
          <p:spPr>
            <a:xfrm>
              <a:off x="9424797" y="2428399"/>
              <a:ext cx="1256622" cy="190690"/>
            </a:xfrm>
            <a:prstGeom prst="rect">
              <a:avLst/>
            </a:prstGeom>
            <a:noFill/>
            <a:ln>
              <a:noFill/>
            </a:ln>
          </p:spPr>
          <p:txBody>
            <a:bodyPr wrap="none" lIns="0" tIns="0" rIns="0" bIns="0" anchor="t" anchorCtr="0">
              <a:spAutoFit/>
            </a:bodyPr>
            <a:lstStyle/>
            <a:p>
              <a:pPr algn="l"/>
              <a:r>
                <a:rPr lang="tr-TR" sz="980" dirty="0">
                  <a:solidFill>
                    <a:srgbClr val="172B3A"/>
                  </a:solidFill>
                  <a:latin typeface="+mn-lt"/>
                  <a:ea typeface="+mn-ea"/>
                  <a:cs typeface="+mn-cs"/>
                </a:rPr>
                <a:t>39.9 &lt; ücret ≤ 51.6</a:t>
              </a:r>
            </a:p>
          </p:txBody>
        </p:sp>
        <p:sp>
          <p:nvSpPr>
            <p:cNvPr id="41" name="Line 41"/>
            <p:cNvSpPr/>
            <p:nvPr/>
          </p:nvSpPr>
          <p:spPr>
            <a:xfrm>
              <a:off x="6858000" y="2686050"/>
              <a:ext cx="4724400" cy="9525"/>
            </a:xfrm>
            <a:custGeom>
              <a:avLst/>
              <a:gdLst/>
              <a:ahLst/>
              <a:cxnLst/>
              <a:rect l="l" t="t" r="r" b="b"/>
              <a:pathLst>
                <a:path w="4724400" h="9525">
                  <a:moveTo>
                    <a:pt x="0" y="0"/>
                  </a:moveTo>
                  <a:lnTo>
                    <a:pt x="4724400" y="0"/>
                  </a:lnTo>
                </a:path>
              </a:pathLst>
            </a:custGeom>
            <a:noFill/>
            <a:ln w="14288">
              <a:solidFill>
                <a:srgbClr val="EAF4F6"/>
              </a:solidFill>
            </a:ln>
          </p:spPr>
        </p:sp>
        <p:sp>
          <p:nvSpPr>
            <p:cNvPr id="42" name="TextBox 42"/>
            <p:cNvSpPr txBox="1"/>
            <p:nvPr/>
          </p:nvSpPr>
          <p:spPr>
            <a:xfrm>
              <a:off x="7042404" y="2823210"/>
              <a:ext cx="101041"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3</a:t>
              </a:r>
            </a:p>
          </p:txBody>
        </p:sp>
        <p:sp>
          <p:nvSpPr>
            <p:cNvPr id="43" name="TextBox 43"/>
            <p:cNvSpPr txBox="1"/>
            <p:nvPr/>
          </p:nvSpPr>
          <p:spPr>
            <a:xfrm>
              <a:off x="7613904" y="2823210"/>
              <a:ext cx="1099448"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TotalCharges</a:t>
              </a:r>
            </a:p>
          </p:txBody>
        </p:sp>
        <p:sp>
          <p:nvSpPr>
            <p:cNvPr id="44" name="TextBox 44"/>
            <p:cNvSpPr txBox="1"/>
            <p:nvPr/>
          </p:nvSpPr>
          <p:spPr>
            <a:xfrm>
              <a:off x="9424797" y="2847499"/>
              <a:ext cx="1612826" cy="190690"/>
            </a:xfrm>
            <a:prstGeom prst="rect">
              <a:avLst/>
            </a:prstGeom>
            <a:noFill/>
            <a:ln>
              <a:noFill/>
            </a:ln>
          </p:spPr>
          <p:txBody>
            <a:bodyPr wrap="none" lIns="0" tIns="0" rIns="0" bIns="0" anchor="t" anchorCtr="0">
              <a:spAutoFit/>
            </a:bodyPr>
            <a:lstStyle/>
            <a:p>
              <a:pPr algn="l"/>
              <a:r>
                <a:rPr lang="tr-TR" sz="980" dirty="0">
                  <a:solidFill>
                    <a:srgbClr val="172B3A"/>
                  </a:solidFill>
                  <a:latin typeface="+mn-lt"/>
                  <a:ea typeface="+mn-ea"/>
                  <a:cs typeface="+mn-cs"/>
                </a:rPr>
                <a:t>2294.8 &lt; toplam ≤ 2474.3</a:t>
              </a:r>
            </a:p>
          </p:txBody>
        </p:sp>
        <p:sp>
          <p:nvSpPr>
            <p:cNvPr id="45" name="TextBox 45"/>
            <p:cNvSpPr txBox="1"/>
            <p:nvPr/>
          </p:nvSpPr>
          <p:spPr>
            <a:xfrm>
              <a:off x="7042785" y="3269456"/>
              <a:ext cx="2293278"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İki yöntem aynı sonucu vermek</a:t>
              </a:r>
            </a:p>
          </p:txBody>
        </p:sp>
        <p:sp>
          <p:nvSpPr>
            <p:cNvPr id="46" name="TextBox 46"/>
            <p:cNvSpPr txBox="1"/>
            <p:nvPr/>
          </p:nvSpPr>
          <p:spPr>
            <a:xfrm>
              <a:off x="7042785" y="3479006"/>
              <a:ext cx="2197659"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zorunda değildir; farklar veri</a:t>
              </a:r>
            </a:p>
          </p:txBody>
        </p:sp>
        <p:sp>
          <p:nvSpPr>
            <p:cNvPr id="47" name="TextBox 47"/>
            <p:cNvSpPr txBox="1"/>
            <p:nvPr/>
          </p:nvSpPr>
          <p:spPr>
            <a:xfrm>
              <a:off x="7042785" y="3688556"/>
              <a:ext cx="2129810"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korelasyonu ve örneklemeden</a:t>
              </a:r>
            </a:p>
          </p:txBody>
        </p:sp>
        <p:sp>
          <p:nvSpPr>
            <p:cNvPr id="48" name="TextBox 48"/>
            <p:cNvSpPr txBox="1"/>
            <p:nvPr/>
          </p:nvSpPr>
          <p:spPr>
            <a:xfrm>
              <a:off x="7042785" y="3898106"/>
              <a:ext cx="1187470"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kaynaklanabilir.</a:t>
              </a:r>
            </a:p>
          </p:txBody>
        </p:sp>
      </p:grpSp>
      <p:grpSp>
        <p:nvGrpSpPr>
          <p:cNvPr id="55" name="misconception-note"/>
          <p:cNvGrpSpPr/>
          <p:nvPr/>
        </p:nvGrpSpPr>
        <p:grpSpPr>
          <a:xfrm>
            <a:off x="609600" y="4476750"/>
            <a:ext cx="10972800" cy="1047750"/>
            <a:chOff x="609600" y="4476750"/>
            <a:chExt cx="10972800" cy="1047750"/>
          </a:xfrm>
        </p:grpSpPr>
        <p:sp>
          <p:nvSpPr>
            <p:cNvPr id="50" name="Rectangle 50"/>
            <p:cNvSpPr/>
            <p:nvPr/>
          </p:nvSpPr>
          <p:spPr>
            <a:xfrm>
              <a:off x="609600" y="4476750"/>
              <a:ext cx="10972800" cy="1047750"/>
            </a:xfrm>
            <a:prstGeom prst="roundRect">
              <a:avLst>
                <a:gd name="adj" fmla="val 7273"/>
              </a:avLst>
            </a:prstGeom>
            <a:solidFill>
              <a:srgbClr val="EAF4F6"/>
            </a:solidFill>
            <a:ln>
              <a:noFill/>
            </a:ln>
          </p:spPr>
        </p:sp>
        <p:sp>
          <p:nvSpPr>
            <p:cNvPr id="51" name="TextBox 51"/>
            <p:cNvSpPr txBox="1"/>
            <p:nvPr/>
          </p:nvSpPr>
          <p:spPr>
            <a:xfrm>
              <a:off x="908304" y="4632960"/>
              <a:ext cx="1701875"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 Sık Yanlış Anlama</a:t>
              </a:r>
            </a:p>
          </p:txBody>
        </p:sp>
        <p:sp>
          <p:nvSpPr>
            <p:cNvPr id="52" name="TextBox 52"/>
            <p:cNvSpPr txBox="1"/>
            <p:nvPr/>
          </p:nvSpPr>
          <p:spPr>
            <a:xfrm>
              <a:off x="908304" y="4861560"/>
              <a:ext cx="870447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"SHAP ve LIME aynı model için her zaman aynı özellikleri öne çıkarmalıdır" sanılır; oysa SHAP doğrudan model</a:t>
              </a:r>
            </a:p>
          </p:txBody>
        </p:sp>
        <p:sp>
          <p:nvSpPr>
            <p:cNvPr id="53" name="TextBox 53"/>
            <p:cNvSpPr txBox="1"/>
            <p:nvPr/>
          </p:nvSpPr>
          <p:spPr>
            <a:xfrm>
              <a:off x="908304" y="5071110"/>
              <a:ext cx="848722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katkısını hesaplarken LIME yerel bir vekil model kurar. Tutarsızlık görüldüğünde model hemen hatalı kabul</a:t>
              </a:r>
            </a:p>
          </p:txBody>
        </p:sp>
        <p:sp>
          <p:nvSpPr>
            <p:cNvPr id="54" name="TextBox 54"/>
            <p:cNvSpPr txBox="1"/>
            <p:nvPr/>
          </p:nvSpPr>
          <p:spPr>
            <a:xfrm>
              <a:off x="908304" y="5280660"/>
              <a:ext cx="693435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edilmemeli; veri hazırlama, özellik bağımlılıkları ve örnekleme ayarları incelenmelidir.</a:t>
              </a:r>
            </a:p>
          </p:txBody>
        </p:sp>
      </p:grpSp>
      <p:sp>
        <p:nvSpPr>
          <p:cNvPr id="56" name="TextBox 56"/>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18 / 25</a:t>
            </a:r>
          </a:p>
        </p:txBody>
      </p:sp>
    </p:spTree>
  </p:cSld>
  <p:clrMapOvr>
    <a:masterClrMapping/>
  </p:clrMapOvr>
  <p:transition xmlns:p14="http://schemas.microsoft.com/office/powerpoint/2010/main" p14:dur="400">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8394767" cy="668845"/>
            <a:chOff x="609600" y="171450"/>
            <a:chExt cx="8394767"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92004" y="368618"/>
                <a:ext cx="206693" cy="177164"/>
                <a:chOff x="792004" y="368618"/>
                <a:chExt cx="206693" cy="177164"/>
              </a:xfrm>
            </p:grpSpPr>
            <p:sp>
              <p:nvSpPr>
                <p:cNvPr id="5" name="Freeform 5"/>
                <p:cNvSpPr/>
                <p:nvPr/>
              </p:nvSpPr>
              <p:spPr>
                <a:xfrm>
                  <a:off x="792004" y="457200"/>
                  <a:ext cx="206693" cy="9525"/>
                </a:xfrm>
                <a:custGeom>
                  <a:avLst/>
                  <a:gdLst/>
                  <a:ahLst/>
                  <a:cxnLst/>
                  <a:rect l="l" t="t" r="r" b="b"/>
                  <a:pathLst>
                    <a:path w="206693" h="9525">
                      <a:moveTo>
                        <a:pt x="0" y="0"/>
                      </a:moveTo>
                      <a:lnTo>
                        <a:pt x="206693" y="0"/>
                      </a:lnTo>
                    </a:path>
                  </a:pathLst>
                </a:custGeom>
                <a:noFill/>
                <a:ln w="24759" cap="rnd">
                  <a:solidFill>
                    <a:srgbClr val="FFFFFF"/>
                  </a:solidFill>
                  <a:round/>
                </a:ln>
              </p:spPr>
            </p:sp>
            <p:sp>
              <p:nvSpPr>
                <p:cNvPr id="6" name="Freeform 6"/>
                <p:cNvSpPr/>
                <p:nvPr/>
              </p:nvSpPr>
              <p:spPr>
                <a:xfrm>
                  <a:off x="910114" y="457200"/>
                  <a:ext cx="88582" cy="88582"/>
                </a:xfrm>
                <a:custGeom>
                  <a:avLst/>
                  <a:gdLst/>
                  <a:ahLst/>
                  <a:cxnLst/>
                  <a:rect l="l" t="t" r="r" b="b"/>
                  <a:pathLst>
                    <a:path w="88582" h="88582">
                      <a:moveTo>
                        <a:pt x="0" y="88582"/>
                      </a:moveTo>
                      <a:lnTo>
                        <a:pt x="88582" y="0"/>
                      </a:lnTo>
                    </a:path>
                  </a:pathLst>
                </a:custGeom>
                <a:noFill/>
                <a:ln w="24759" cap="rnd">
                  <a:solidFill>
                    <a:srgbClr val="FFFFFF"/>
                  </a:solidFill>
                  <a:round/>
                </a:ln>
              </p:spPr>
            </p:sp>
            <p:sp>
              <p:nvSpPr>
                <p:cNvPr id="7" name="Freeform 7"/>
                <p:cNvSpPr/>
                <p:nvPr/>
              </p:nvSpPr>
              <p:spPr>
                <a:xfrm>
                  <a:off x="910114" y="368618"/>
                  <a:ext cx="88582" cy="88582"/>
                </a:xfrm>
                <a:custGeom>
                  <a:avLst/>
                  <a:gdLst/>
                  <a:ahLst/>
                  <a:cxnLst/>
                  <a:rect l="l" t="t" r="r" b="b"/>
                  <a:pathLst>
                    <a:path w="88582" h="88582">
                      <a:moveTo>
                        <a:pt x="0" y="0"/>
                      </a:moveTo>
                      <a:lnTo>
                        <a:pt x="88582" y="88582"/>
                      </a:lnTo>
                    </a:path>
                  </a:pathLst>
                </a:custGeom>
                <a:noFill/>
                <a:ln w="24759" cap="rnd">
                  <a:solidFill>
                    <a:srgbClr val="FFFFFF"/>
                  </a:solidFill>
                  <a:round/>
                </a:ln>
              </p:spPr>
            </p:sp>
          </p:grpSp>
        </p:grpSp>
        <p:sp>
          <p:nvSpPr>
            <p:cNvPr id="10" name="TextBox 10"/>
            <p:cNvSpPr txBox="1"/>
            <p:nvPr/>
          </p:nvSpPr>
          <p:spPr>
            <a:xfrm>
              <a:off x="1299972" y="282892"/>
              <a:ext cx="7704395"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Yerel SHAP katkılarının birikimli akışı</a:t>
              </a:r>
            </a:p>
          </p:txBody>
        </p:sp>
      </p:grpSp>
      <p:grpSp>
        <p:nvGrpSpPr>
          <p:cNvPr id="16" name="formula-card"/>
          <p:cNvGrpSpPr/>
          <p:nvPr/>
        </p:nvGrpSpPr>
        <p:grpSpPr>
          <a:xfrm>
            <a:off x="609600" y="1123950"/>
            <a:ext cx="11369814" cy="742950"/>
            <a:chOff x="609600" y="1123950"/>
            <a:chExt cx="11369814" cy="742950"/>
          </a:xfrm>
        </p:grpSpPr>
        <p:sp>
          <p:nvSpPr>
            <p:cNvPr id="12" name="Rectangle 12"/>
            <p:cNvSpPr/>
            <p:nvPr/>
          </p:nvSpPr>
          <p:spPr>
            <a:xfrm>
              <a:off x="609600" y="1123950"/>
              <a:ext cx="10972800" cy="742950"/>
            </a:xfrm>
            <a:prstGeom prst="roundRect">
              <a:avLst>
                <a:gd name="adj" fmla="val 10256"/>
              </a:avLst>
            </a:prstGeom>
            <a:solidFill>
              <a:srgbClr val="12355B"/>
            </a:solidFill>
            <a:ln>
              <a:noFill/>
            </a:ln>
          </p:spPr>
        </p:sp>
        <p:sp>
          <p:nvSpPr>
            <p:cNvPr id="13" name="TextBox 13"/>
            <p:cNvSpPr txBox="1"/>
            <p:nvPr/>
          </p:nvSpPr>
          <p:spPr>
            <a:xfrm>
              <a:off x="905256" y="1234440"/>
              <a:ext cx="2003268" cy="352044"/>
            </a:xfrm>
            <a:prstGeom prst="rect">
              <a:avLst/>
            </a:prstGeom>
            <a:noFill/>
            <a:ln>
              <a:noFill/>
            </a:ln>
          </p:spPr>
          <p:txBody>
            <a:bodyPr wrap="none" lIns="0" tIns="0" rIns="0" bIns="0" anchor="t" anchorCtr="0">
              <a:spAutoFit/>
            </a:bodyPr>
            <a:lstStyle/>
            <a:p>
              <a:pPr algn="l"/>
              <a:r>
                <a:rPr lang="el-GR" sz="1800" i="1" dirty="0">
                  <a:solidFill>
                    <a:srgbClr val="FFFFFF"/>
                  </a:solidFill>
                  <a:latin typeface="+mn-lt"/>
                  <a:ea typeface="+mn-ea"/>
                  <a:cs typeface="+mn-cs"/>
                </a:rPr>
                <a:t>g(x) = φ₀ + Σⱼ φⱼ</a:t>
              </a:r>
            </a:p>
          </p:txBody>
        </p:sp>
        <p:sp>
          <p:nvSpPr>
            <p:cNvPr id="14" name="TextBox 14"/>
            <p:cNvSpPr txBox="1"/>
            <p:nvPr/>
          </p:nvSpPr>
          <p:spPr>
            <a:xfrm>
              <a:off x="908685" y="1554956"/>
              <a:ext cx="7497379" cy="220028"/>
            </a:xfrm>
            <a:prstGeom prst="rect">
              <a:avLst/>
            </a:prstGeom>
            <a:noFill/>
            <a:ln>
              <a:noFill/>
            </a:ln>
          </p:spPr>
          <p:txBody>
            <a:bodyPr wrap="none" lIns="0" tIns="0" rIns="0" bIns="0" anchor="t" anchorCtr="0">
              <a:spAutoFit/>
            </a:bodyPr>
            <a:lstStyle/>
            <a:p>
              <a:pPr algn="l"/>
              <a:r>
                <a:rPr lang="el-GR" sz="1120" dirty="0">
                  <a:solidFill>
                    <a:srgbClr val="EAF4F6"/>
                  </a:solidFill>
                  <a:latin typeface="+mn-lt"/>
                  <a:ea typeface="+mn-ea"/>
                  <a:cs typeface="+mn-cs"/>
                </a:rPr>
                <a:t>φ₀: temel değer (base value) — φⱼ: j. özelliğin açıklamadaki katkısı; toplamsal özellik atfı yaklaşımı</a:t>
              </a:r>
            </a:p>
          </p:txBody>
        </p:sp>
        <p:sp>
          <p:nvSpPr>
            <p:cNvPr id="15" name="TextBox 15"/>
            <p:cNvSpPr txBox="1"/>
            <p:nvPr/>
          </p:nvSpPr>
          <p:spPr>
            <a:xfrm>
              <a:off x="6090285" y="1554956"/>
              <a:ext cx="5889129" cy="220028"/>
            </a:xfrm>
            <a:prstGeom prst="rect">
              <a:avLst/>
            </a:prstGeom>
            <a:noFill/>
            <a:ln>
              <a:noFill/>
            </a:ln>
          </p:spPr>
          <p:txBody>
            <a:bodyPr wrap="none" lIns="0" tIns="0" rIns="0" bIns="0" anchor="t" anchorCtr="0">
              <a:spAutoFit/>
            </a:bodyPr>
            <a:lstStyle/>
            <a:p>
              <a:pPr algn="l"/>
              <a:r>
                <a:rPr lang="tr-TR" sz="1120" dirty="0">
                  <a:solidFill>
                    <a:srgbClr val="00A6A6"/>
                  </a:solidFill>
                  <a:latin typeface="+mn-lt"/>
                  <a:ea typeface="+mn-ea"/>
                  <a:cs typeface="+mn-cs"/>
                </a:rPr>
                <a:t>Katkılar toplanır; gerçek dünyada bağımsız bir nedensel etki anlamına gelmez.</a:t>
              </a:r>
            </a:p>
          </p:txBody>
        </p:sp>
      </p:grpSp>
      <p:grpSp>
        <p:nvGrpSpPr>
          <p:cNvPr id="38" name="waterfall-chart"/>
          <p:cNvGrpSpPr/>
          <p:nvPr/>
        </p:nvGrpSpPr>
        <p:grpSpPr>
          <a:xfrm>
            <a:off x="609600" y="2000250"/>
            <a:ext cx="10972800" cy="2857500"/>
            <a:chOff x="609600" y="2000250"/>
            <a:chExt cx="10972800" cy="2857500"/>
          </a:xfrm>
        </p:grpSpPr>
        <p:sp>
          <p:nvSpPr>
            <p:cNvPr id="17" name="Rectangle 17"/>
            <p:cNvSpPr/>
            <p:nvPr/>
          </p:nvSpPr>
          <p:spPr>
            <a:xfrm>
              <a:off x="609600" y="2000250"/>
              <a:ext cx="10972800" cy="2857500"/>
            </a:xfrm>
            <a:prstGeom prst="roundRect">
              <a:avLst>
                <a:gd name="adj" fmla="val 3333"/>
              </a:avLst>
            </a:prstGeom>
            <a:solidFill>
              <a:srgbClr val="FFFFFF"/>
            </a:solidFill>
            <a:ln w="14288">
              <a:solidFill>
                <a:srgbClr val="B8CBD3"/>
              </a:solidFill>
            </a:ln>
          </p:spPr>
        </p:sp>
        <p:sp>
          <p:nvSpPr>
            <p:cNvPr id="18" name="Line 18"/>
            <p:cNvSpPr/>
            <p:nvPr/>
          </p:nvSpPr>
          <p:spPr>
            <a:xfrm>
              <a:off x="1143000" y="4476750"/>
              <a:ext cx="9906000" cy="9525"/>
            </a:xfrm>
            <a:custGeom>
              <a:avLst/>
              <a:gdLst/>
              <a:ahLst/>
              <a:cxnLst/>
              <a:rect l="l" t="t" r="r" b="b"/>
              <a:pathLst>
                <a:path w="9906000" h="9525">
                  <a:moveTo>
                    <a:pt x="0" y="0"/>
                  </a:moveTo>
                  <a:lnTo>
                    <a:pt x="9906000" y="0"/>
                  </a:lnTo>
                </a:path>
              </a:pathLst>
            </a:custGeom>
            <a:noFill/>
            <a:ln w="14288">
              <a:solidFill>
                <a:srgbClr val="52616B"/>
              </a:solidFill>
            </a:ln>
          </p:spPr>
        </p:sp>
        <p:sp>
          <p:nvSpPr>
            <p:cNvPr id="19" name="Rectangle 19"/>
            <p:cNvSpPr/>
            <p:nvPr/>
          </p:nvSpPr>
          <p:spPr>
            <a:xfrm>
              <a:off x="1333500" y="3390900"/>
              <a:ext cx="1333500" cy="1085850"/>
            </a:xfrm>
            <a:prstGeom prst="rect">
              <a:avLst/>
            </a:prstGeom>
            <a:solidFill>
              <a:srgbClr val="B8CBD3"/>
            </a:solidFill>
            <a:ln>
              <a:noFill/>
            </a:ln>
          </p:spPr>
        </p:sp>
        <p:sp>
          <p:nvSpPr>
            <p:cNvPr id="20" name="TextBox 20"/>
            <p:cNvSpPr txBox="1"/>
            <p:nvPr/>
          </p:nvSpPr>
          <p:spPr>
            <a:xfrm>
              <a:off x="1831656" y="3125152"/>
              <a:ext cx="337189" cy="205359"/>
            </a:xfrm>
            <a:prstGeom prst="rect">
              <a:avLst/>
            </a:prstGeom>
            <a:noFill/>
            <a:ln>
              <a:noFill/>
            </a:ln>
          </p:spPr>
          <p:txBody>
            <a:bodyPr wrap="none" lIns="0" tIns="0" rIns="0" bIns="0" anchor="t" anchorCtr="0">
              <a:spAutoFit/>
            </a:bodyPr>
            <a:lstStyle/>
            <a:p>
              <a:pPr algn="ctr"/>
              <a:r>
                <a:rPr lang="tr-TR" sz="1050" b="1" dirty="0">
                  <a:solidFill>
                    <a:srgbClr val="12355B"/>
                  </a:solidFill>
                  <a:latin typeface="+mn-lt"/>
                  <a:ea typeface="+mn-ea"/>
                  <a:cs typeface="+mn-cs"/>
                </a:rPr>
                <a:t>0.30</a:t>
              </a:r>
            </a:p>
          </p:txBody>
        </p:sp>
        <p:sp>
          <p:nvSpPr>
            <p:cNvPr id="21" name="Line 21"/>
            <p:cNvSpPr/>
            <p:nvPr/>
          </p:nvSpPr>
          <p:spPr>
            <a:xfrm>
              <a:off x="2667000" y="3390900"/>
              <a:ext cx="381000" cy="9525"/>
            </a:xfrm>
            <a:custGeom>
              <a:avLst/>
              <a:gdLst/>
              <a:ahLst/>
              <a:cxnLst/>
              <a:rect l="l" t="t" r="r" b="b"/>
              <a:pathLst>
                <a:path w="381000" h="9525">
                  <a:moveTo>
                    <a:pt x="0" y="0"/>
                  </a:moveTo>
                  <a:lnTo>
                    <a:pt x="381000" y="0"/>
                  </a:lnTo>
                </a:path>
              </a:pathLst>
            </a:custGeom>
            <a:noFill/>
            <a:ln w="14288">
              <a:solidFill>
                <a:srgbClr val="52616B"/>
              </a:solidFill>
              <a:custDash>
                <a:ds d="266667" sp="200000"/>
              </a:custDash>
            </a:ln>
          </p:spPr>
        </p:sp>
        <p:sp>
          <p:nvSpPr>
            <p:cNvPr id="22" name="Rectangle 22"/>
            <p:cNvSpPr/>
            <p:nvPr/>
          </p:nvSpPr>
          <p:spPr>
            <a:xfrm>
              <a:off x="3048000" y="2867025"/>
              <a:ext cx="1333500" cy="523875"/>
            </a:xfrm>
            <a:prstGeom prst="rect">
              <a:avLst/>
            </a:prstGeom>
            <a:solidFill>
              <a:srgbClr val="C0392B"/>
            </a:solidFill>
            <a:ln>
              <a:noFill/>
            </a:ln>
          </p:spPr>
        </p:sp>
        <p:sp>
          <p:nvSpPr>
            <p:cNvPr id="23" name="TextBox 23"/>
            <p:cNvSpPr txBox="1"/>
            <p:nvPr/>
          </p:nvSpPr>
          <p:spPr>
            <a:xfrm>
              <a:off x="3505340" y="2601278"/>
              <a:ext cx="418819" cy="205359"/>
            </a:xfrm>
            <a:prstGeom prst="rect">
              <a:avLst/>
            </a:prstGeom>
            <a:noFill/>
            <a:ln>
              <a:noFill/>
            </a:ln>
          </p:spPr>
          <p:txBody>
            <a:bodyPr wrap="none" lIns="0" tIns="0" rIns="0" bIns="0" anchor="t" anchorCtr="0">
              <a:spAutoFit/>
            </a:bodyPr>
            <a:lstStyle/>
            <a:p>
              <a:pPr algn="ctr"/>
              <a:r>
                <a:rPr lang="tr-TR" sz="1050" b="1" dirty="0">
                  <a:solidFill>
                    <a:srgbClr val="C0392B"/>
                  </a:solidFill>
                  <a:latin typeface="+mn-lt"/>
                  <a:ea typeface="+mn-ea"/>
                  <a:cs typeface="+mn-cs"/>
                </a:rPr>
                <a:t>+0.25</a:t>
              </a:r>
            </a:p>
          </p:txBody>
        </p:sp>
        <p:sp>
          <p:nvSpPr>
            <p:cNvPr id="24" name="Line 24"/>
            <p:cNvSpPr/>
            <p:nvPr/>
          </p:nvSpPr>
          <p:spPr>
            <a:xfrm>
              <a:off x="4381500" y="2867025"/>
              <a:ext cx="381000" cy="9525"/>
            </a:xfrm>
            <a:custGeom>
              <a:avLst/>
              <a:gdLst/>
              <a:ahLst/>
              <a:cxnLst/>
              <a:rect l="l" t="t" r="r" b="b"/>
              <a:pathLst>
                <a:path w="381000" h="9525">
                  <a:moveTo>
                    <a:pt x="0" y="0"/>
                  </a:moveTo>
                  <a:lnTo>
                    <a:pt x="381000" y="0"/>
                  </a:lnTo>
                </a:path>
              </a:pathLst>
            </a:custGeom>
            <a:noFill/>
            <a:ln w="14288">
              <a:solidFill>
                <a:srgbClr val="52616B"/>
              </a:solidFill>
              <a:custDash>
                <a:ds d="266667" sp="200000"/>
              </a:custDash>
            </a:ln>
          </p:spPr>
        </p:sp>
        <p:sp>
          <p:nvSpPr>
            <p:cNvPr id="25" name="Rectangle 25"/>
            <p:cNvSpPr/>
            <p:nvPr/>
          </p:nvSpPr>
          <p:spPr>
            <a:xfrm>
              <a:off x="4762500" y="3019425"/>
              <a:ext cx="1333500" cy="200025"/>
            </a:xfrm>
            <a:prstGeom prst="rect">
              <a:avLst/>
            </a:prstGeom>
            <a:solidFill>
              <a:srgbClr val="2E86AB"/>
            </a:solidFill>
            <a:ln>
              <a:noFill/>
            </a:ln>
          </p:spPr>
        </p:sp>
        <p:sp>
          <p:nvSpPr>
            <p:cNvPr id="26" name="TextBox 26"/>
            <p:cNvSpPr txBox="1"/>
            <p:nvPr/>
          </p:nvSpPr>
          <p:spPr>
            <a:xfrm>
              <a:off x="5219840" y="2763202"/>
              <a:ext cx="418819" cy="205359"/>
            </a:xfrm>
            <a:prstGeom prst="rect">
              <a:avLst/>
            </a:prstGeom>
            <a:noFill/>
            <a:ln>
              <a:noFill/>
            </a:ln>
          </p:spPr>
          <p:txBody>
            <a:bodyPr wrap="none" lIns="0" tIns="0" rIns="0" bIns="0" anchor="t" anchorCtr="0">
              <a:spAutoFit/>
            </a:bodyPr>
            <a:lstStyle/>
            <a:p>
              <a:pPr algn="ctr"/>
              <a:r>
                <a:rPr lang="tr-TR" sz="1050" b="1" dirty="0">
                  <a:solidFill>
                    <a:srgbClr val="2E86AB"/>
                  </a:solidFill>
                  <a:latin typeface="+mn-lt"/>
                  <a:ea typeface="+mn-ea"/>
                  <a:cs typeface="+mn-cs"/>
                </a:rPr>
                <a:t>−0.08</a:t>
              </a:r>
            </a:p>
          </p:txBody>
        </p:sp>
        <p:sp>
          <p:nvSpPr>
            <p:cNvPr id="27" name="Line 27"/>
            <p:cNvSpPr/>
            <p:nvPr/>
          </p:nvSpPr>
          <p:spPr>
            <a:xfrm>
              <a:off x="6096000" y="3019425"/>
              <a:ext cx="381000" cy="9525"/>
            </a:xfrm>
            <a:custGeom>
              <a:avLst/>
              <a:gdLst/>
              <a:ahLst/>
              <a:cxnLst/>
              <a:rect l="l" t="t" r="r" b="b"/>
              <a:pathLst>
                <a:path w="381000" h="9525">
                  <a:moveTo>
                    <a:pt x="0" y="0"/>
                  </a:moveTo>
                  <a:lnTo>
                    <a:pt x="381000" y="0"/>
                  </a:lnTo>
                </a:path>
              </a:pathLst>
            </a:custGeom>
            <a:noFill/>
            <a:ln w="14288">
              <a:solidFill>
                <a:srgbClr val="52616B"/>
              </a:solidFill>
              <a:custDash>
                <a:ds d="266667" sp="200000"/>
              </a:custDash>
            </a:ln>
          </p:spPr>
        </p:sp>
        <p:sp>
          <p:nvSpPr>
            <p:cNvPr id="28" name="Rectangle 28"/>
            <p:cNvSpPr/>
            <p:nvPr/>
          </p:nvSpPr>
          <p:spPr>
            <a:xfrm>
              <a:off x="6477000" y="2390775"/>
              <a:ext cx="1333500" cy="628650"/>
            </a:xfrm>
            <a:prstGeom prst="rect">
              <a:avLst/>
            </a:prstGeom>
            <a:solidFill>
              <a:srgbClr val="C0392B"/>
            </a:solidFill>
            <a:ln>
              <a:noFill/>
            </a:ln>
          </p:spPr>
        </p:sp>
        <p:sp>
          <p:nvSpPr>
            <p:cNvPr id="29" name="TextBox 29"/>
            <p:cNvSpPr txBox="1"/>
            <p:nvPr/>
          </p:nvSpPr>
          <p:spPr>
            <a:xfrm>
              <a:off x="6934340" y="2125028"/>
              <a:ext cx="418819" cy="205359"/>
            </a:xfrm>
            <a:prstGeom prst="rect">
              <a:avLst/>
            </a:prstGeom>
            <a:noFill/>
            <a:ln>
              <a:noFill/>
            </a:ln>
          </p:spPr>
          <p:txBody>
            <a:bodyPr wrap="none" lIns="0" tIns="0" rIns="0" bIns="0" anchor="t" anchorCtr="0">
              <a:spAutoFit/>
            </a:bodyPr>
            <a:lstStyle/>
            <a:p>
              <a:pPr algn="ctr"/>
              <a:r>
                <a:rPr lang="tr-TR" sz="1050" b="1" dirty="0">
                  <a:solidFill>
                    <a:srgbClr val="C0392B"/>
                  </a:solidFill>
                  <a:latin typeface="+mn-lt"/>
                  <a:ea typeface="+mn-ea"/>
                  <a:cs typeface="+mn-cs"/>
                </a:rPr>
                <a:t>+0.30</a:t>
              </a:r>
            </a:p>
          </p:txBody>
        </p:sp>
        <p:sp>
          <p:nvSpPr>
            <p:cNvPr id="30" name="Line 30"/>
            <p:cNvSpPr/>
            <p:nvPr/>
          </p:nvSpPr>
          <p:spPr>
            <a:xfrm>
              <a:off x="7810500" y="2390775"/>
              <a:ext cx="762000" cy="9525"/>
            </a:xfrm>
            <a:custGeom>
              <a:avLst/>
              <a:gdLst/>
              <a:ahLst/>
              <a:cxnLst/>
              <a:rect l="l" t="t" r="r" b="b"/>
              <a:pathLst>
                <a:path w="762000" h="9525">
                  <a:moveTo>
                    <a:pt x="0" y="0"/>
                  </a:moveTo>
                  <a:lnTo>
                    <a:pt x="762000" y="0"/>
                  </a:lnTo>
                </a:path>
              </a:pathLst>
            </a:custGeom>
            <a:noFill/>
            <a:ln w="14288">
              <a:solidFill>
                <a:srgbClr val="52616B"/>
              </a:solidFill>
              <a:custDash>
                <a:ds d="266667" sp="200000"/>
              </a:custDash>
            </a:ln>
          </p:spPr>
        </p:sp>
        <p:sp>
          <p:nvSpPr>
            <p:cNvPr id="31" name="Rectangle 31"/>
            <p:cNvSpPr/>
            <p:nvPr/>
          </p:nvSpPr>
          <p:spPr>
            <a:xfrm>
              <a:off x="8572500" y="2390775"/>
              <a:ext cx="1714500" cy="2085975"/>
            </a:xfrm>
            <a:prstGeom prst="rect">
              <a:avLst/>
            </a:prstGeom>
            <a:solidFill>
              <a:srgbClr val="12355B"/>
            </a:solidFill>
            <a:ln>
              <a:noFill/>
            </a:ln>
          </p:spPr>
        </p:sp>
        <p:sp>
          <p:nvSpPr>
            <p:cNvPr id="32" name="TextBox 32"/>
            <p:cNvSpPr txBox="1"/>
            <p:nvPr/>
          </p:nvSpPr>
          <p:spPr>
            <a:xfrm>
              <a:off x="8984716" y="2116931"/>
              <a:ext cx="890068" cy="220028"/>
            </a:xfrm>
            <a:prstGeom prst="rect">
              <a:avLst/>
            </a:prstGeom>
            <a:noFill/>
            <a:ln>
              <a:noFill/>
            </a:ln>
          </p:spPr>
          <p:txBody>
            <a:bodyPr wrap="none" lIns="0" tIns="0" rIns="0" bIns="0" anchor="t" anchorCtr="0">
              <a:spAutoFit/>
            </a:bodyPr>
            <a:lstStyle/>
            <a:p>
              <a:pPr algn="ctr"/>
              <a:r>
                <a:rPr lang="tr-TR" sz="1120" b="1" dirty="0">
                  <a:solidFill>
                    <a:srgbClr val="12355B"/>
                  </a:solidFill>
                  <a:latin typeface="+mn-lt"/>
                  <a:ea typeface="+mn-ea"/>
                  <a:cs typeface="+mn-cs"/>
                </a:rPr>
                <a:t>g(x) = 0.77</a:t>
              </a:r>
            </a:p>
          </p:txBody>
        </p:sp>
        <p:sp>
          <p:nvSpPr>
            <p:cNvPr id="33" name="TextBox 33"/>
            <p:cNvSpPr txBox="1"/>
            <p:nvPr/>
          </p:nvSpPr>
          <p:spPr>
            <a:xfrm>
              <a:off x="1489586" y="4592002"/>
              <a:ext cx="1021328" cy="205359"/>
            </a:xfrm>
            <a:prstGeom prst="rect">
              <a:avLst/>
            </a:prstGeom>
            <a:noFill/>
            <a:ln>
              <a:noFill/>
            </a:ln>
          </p:spPr>
          <p:txBody>
            <a:bodyPr wrap="none" lIns="0" tIns="0" rIns="0" bIns="0" anchor="t" anchorCtr="0">
              <a:spAutoFit/>
            </a:bodyPr>
            <a:lstStyle/>
            <a:p>
              <a:pPr algn="ctr"/>
              <a:r>
                <a:rPr lang="el-GR" sz="1050" dirty="0">
                  <a:solidFill>
                    <a:srgbClr val="172B3A"/>
                  </a:solidFill>
                  <a:latin typeface="+mn-lt"/>
                  <a:ea typeface="+mn-ea"/>
                  <a:cs typeface="+mn-cs"/>
                </a:rPr>
                <a:t>φ₀ temel değer</a:t>
              </a:r>
            </a:p>
          </p:txBody>
        </p:sp>
        <p:sp>
          <p:nvSpPr>
            <p:cNvPr id="34" name="TextBox 34"/>
            <p:cNvSpPr txBox="1"/>
            <p:nvPr/>
          </p:nvSpPr>
          <p:spPr>
            <a:xfrm>
              <a:off x="3328924" y="4592002"/>
              <a:ext cx="771652" cy="205359"/>
            </a:xfrm>
            <a:prstGeom prst="rect">
              <a:avLst/>
            </a:prstGeom>
            <a:noFill/>
            <a:ln>
              <a:noFill/>
            </a:ln>
          </p:spPr>
          <p:txBody>
            <a:bodyPr wrap="none" lIns="0" tIns="0" rIns="0" bIns="0" anchor="t" anchorCtr="0">
              <a:spAutoFit/>
            </a:bodyPr>
            <a:lstStyle/>
            <a:p>
              <a:pPr algn="ctr"/>
              <a:r>
                <a:rPr lang="el-GR" sz="1050" dirty="0">
                  <a:solidFill>
                    <a:srgbClr val="172B3A"/>
                  </a:solidFill>
                  <a:latin typeface="+mn-lt"/>
                  <a:ea typeface="+mn-ea"/>
                  <a:cs typeface="+mn-cs"/>
                </a:rPr>
                <a:t>φ₁ özellik A</a:t>
              </a:r>
            </a:p>
          </p:txBody>
        </p:sp>
        <p:sp>
          <p:nvSpPr>
            <p:cNvPr id="35" name="TextBox 35"/>
            <p:cNvSpPr txBox="1"/>
            <p:nvPr/>
          </p:nvSpPr>
          <p:spPr>
            <a:xfrm>
              <a:off x="5043424" y="4592002"/>
              <a:ext cx="771652" cy="205359"/>
            </a:xfrm>
            <a:prstGeom prst="rect">
              <a:avLst/>
            </a:prstGeom>
            <a:noFill/>
            <a:ln>
              <a:noFill/>
            </a:ln>
          </p:spPr>
          <p:txBody>
            <a:bodyPr wrap="none" lIns="0" tIns="0" rIns="0" bIns="0" anchor="t" anchorCtr="0">
              <a:spAutoFit/>
            </a:bodyPr>
            <a:lstStyle/>
            <a:p>
              <a:pPr algn="ctr"/>
              <a:r>
                <a:rPr lang="el-GR" sz="1050" dirty="0">
                  <a:solidFill>
                    <a:srgbClr val="172B3A"/>
                  </a:solidFill>
                  <a:latin typeface="+mn-lt"/>
                  <a:ea typeface="+mn-ea"/>
                  <a:cs typeface="+mn-cs"/>
                </a:rPr>
                <a:t>φ₂ özellik B</a:t>
              </a:r>
            </a:p>
          </p:txBody>
        </p:sp>
        <p:sp>
          <p:nvSpPr>
            <p:cNvPr id="36" name="TextBox 36"/>
            <p:cNvSpPr txBox="1"/>
            <p:nvPr/>
          </p:nvSpPr>
          <p:spPr>
            <a:xfrm>
              <a:off x="6757924" y="4592002"/>
              <a:ext cx="771652" cy="205359"/>
            </a:xfrm>
            <a:prstGeom prst="rect">
              <a:avLst/>
            </a:prstGeom>
            <a:noFill/>
            <a:ln>
              <a:noFill/>
            </a:ln>
          </p:spPr>
          <p:txBody>
            <a:bodyPr wrap="none" lIns="0" tIns="0" rIns="0" bIns="0" anchor="t" anchorCtr="0">
              <a:spAutoFit/>
            </a:bodyPr>
            <a:lstStyle/>
            <a:p>
              <a:pPr algn="ctr"/>
              <a:r>
                <a:rPr lang="el-GR" sz="1050" dirty="0">
                  <a:solidFill>
                    <a:srgbClr val="172B3A"/>
                  </a:solidFill>
                  <a:latin typeface="+mn-lt"/>
                  <a:ea typeface="+mn-ea"/>
                  <a:cs typeface="+mn-cs"/>
                </a:rPr>
                <a:t>φ₃ özellik C</a:t>
              </a:r>
            </a:p>
          </p:txBody>
        </p:sp>
        <p:sp>
          <p:nvSpPr>
            <p:cNvPr id="37" name="TextBox 37"/>
            <p:cNvSpPr txBox="1"/>
            <p:nvPr/>
          </p:nvSpPr>
          <p:spPr>
            <a:xfrm>
              <a:off x="8994002" y="4592002"/>
              <a:ext cx="871496" cy="205359"/>
            </a:xfrm>
            <a:prstGeom prst="rect">
              <a:avLst/>
            </a:prstGeom>
            <a:noFill/>
            <a:ln>
              <a:noFill/>
            </a:ln>
          </p:spPr>
          <p:txBody>
            <a:bodyPr wrap="none" lIns="0" tIns="0" rIns="0" bIns="0" anchor="t" anchorCtr="0">
              <a:spAutoFit/>
            </a:bodyPr>
            <a:lstStyle/>
            <a:p>
              <a:pPr algn="ctr"/>
              <a:r>
                <a:rPr lang="tr-TR" sz="1050" b="1" dirty="0">
                  <a:solidFill>
                    <a:srgbClr val="12355B"/>
                  </a:solidFill>
                  <a:latin typeface="+mn-lt"/>
                  <a:ea typeface="+mn-ea"/>
                  <a:cs typeface="+mn-cs"/>
                </a:rPr>
                <a:t>nihai tahmin</a:t>
              </a:r>
            </a:p>
          </p:txBody>
        </p:sp>
      </p:grpSp>
      <p:grpSp>
        <p:nvGrpSpPr>
          <p:cNvPr id="41" name="closing-note"/>
          <p:cNvGrpSpPr/>
          <p:nvPr/>
        </p:nvGrpSpPr>
        <p:grpSpPr>
          <a:xfrm>
            <a:off x="603504" y="5147310"/>
            <a:ext cx="8711336" cy="463296"/>
            <a:chOff x="603504" y="5147310"/>
            <a:chExt cx="8711336" cy="463296"/>
          </a:xfrm>
        </p:grpSpPr>
        <p:sp>
          <p:nvSpPr>
            <p:cNvPr id="39" name="TextBox 39"/>
            <p:cNvSpPr txBox="1"/>
            <p:nvPr/>
          </p:nvSpPr>
          <p:spPr>
            <a:xfrm>
              <a:off x="603504" y="5147310"/>
              <a:ext cx="848751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Yerel SHAP açıklaması, tek bir gözlemin temel değerden nihai tahmine nasıl taşındığını katkıların yönü ve</a:t>
              </a:r>
            </a:p>
          </p:txBody>
        </p:sp>
        <p:sp>
          <p:nvSpPr>
            <p:cNvPr id="40" name="TextBox 40"/>
            <p:cNvSpPr txBox="1"/>
            <p:nvPr/>
          </p:nvSpPr>
          <p:spPr>
            <a:xfrm>
              <a:off x="603504" y="5375910"/>
              <a:ext cx="871133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büyüklüğüyle görünür kılar; bu akış nedensel kanıt oluşturmaz, yalnızca modelin toplamsal ilişkisini gösterir.</a:t>
              </a:r>
            </a:p>
          </p:txBody>
        </p:sp>
      </p:grpSp>
      <p:sp>
        <p:nvSpPr>
          <p:cNvPr id="42" name="TextBox 42"/>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19 / 25</a:t>
            </a:r>
          </a:p>
        </p:txBody>
      </p:sp>
    </p:spTree>
  </p:cSld>
  <p:clrMapOvr>
    <a:masterClrMapping/>
  </p:clrMapOvr>
  <p:transition xmlns:p14="http://schemas.microsoft.com/office/powerpoint/2010/main" p14:dur="400">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7915083" cy="557403"/>
            <a:chOff x="595122" y="282892"/>
            <a:chExt cx="7915083" cy="557403"/>
          </a:xfrm>
        </p:grpSpPr>
        <p:sp>
          <p:nvSpPr>
            <p:cNvPr id="4" name="TextBox 4"/>
            <p:cNvSpPr txBox="1"/>
            <p:nvPr/>
          </p:nvSpPr>
          <p:spPr>
            <a:xfrm>
              <a:off x="595122" y="282892"/>
              <a:ext cx="7915083"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Mini uygulama: ChurnAciklamaUygulamasi</a:t>
              </a:r>
            </a:p>
          </p:txBody>
        </p:sp>
      </p:grpSp>
      <p:grpSp>
        <p:nvGrpSpPr>
          <p:cNvPr id="7" name="task-line"/>
          <p:cNvGrpSpPr/>
          <p:nvPr/>
        </p:nvGrpSpPr>
        <p:grpSpPr>
          <a:xfrm>
            <a:off x="603504" y="1165860"/>
            <a:ext cx="8717280" cy="234696"/>
            <a:chOff x="603504" y="1165860"/>
            <a:chExt cx="8717280" cy="234696"/>
          </a:xfrm>
        </p:grpSpPr>
        <p:sp>
          <p:nvSpPr>
            <p:cNvPr id="6" name="TextBox 6"/>
            <p:cNvSpPr txBox="1"/>
            <p:nvPr/>
          </p:nvSpPr>
          <p:spPr>
            <a:xfrm>
              <a:off x="603504" y="1165860"/>
              <a:ext cx="8717280"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Amaç: Model eğitimi, tahmin, SHAP ve LIME açıklamalarını tek sınıfta birleştirip eşik tabanlı öneri üretmek.</a:t>
              </a:r>
            </a:p>
          </p:txBody>
        </p:sp>
      </p:grpSp>
      <p:grpSp>
        <p:nvGrpSpPr>
          <p:cNvPr id="25" name="class-box"/>
          <p:cNvGrpSpPr/>
          <p:nvPr/>
        </p:nvGrpSpPr>
        <p:grpSpPr>
          <a:xfrm>
            <a:off x="609600" y="1466850"/>
            <a:ext cx="4953000" cy="3140011"/>
            <a:chOff x="609600" y="1466850"/>
            <a:chExt cx="4953000" cy="3140011"/>
          </a:xfrm>
        </p:grpSpPr>
        <p:sp>
          <p:nvSpPr>
            <p:cNvPr id="8" name="Rectangle 8"/>
            <p:cNvSpPr/>
            <p:nvPr/>
          </p:nvSpPr>
          <p:spPr>
            <a:xfrm>
              <a:off x="609600" y="1466850"/>
              <a:ext cx="4953000" cy="3048000"/>
            </a:xfrm>
            <a:prstGeom prst="roundRect">
              <a:avLst>
                <a:gd name="adj" fmla="val 2500"/>
              </a:avLst>
            </a:prstGeom>
            <a:solidFill>
              <a:srgbClr val="FFFFFF"/>
            </a:solidFill>
            <a:ln w="14288">
              <a:solidFill>
                <a:srgbClr val="2E86AB"/>
              </a:solidFill>
            </a:ln>
          </p:spPr>
        </p:sp>
        <p:sp>
          <p:nvSpPr>
            <p:cNvPr id="9" name="Rectangle 9"/>
            <p:cNvSpPr/>
            <p:nvPr/>
          </p:nvSpPr>
          <p:spPr>
            <a:xfrm>
              <a:off x="609600" y="1466850"/>
              <a:ext cx="4953000" cy="419100"/>
            </a:xfrm>
            <a:prstGeom prst="rect">
              <a:avLst/>
            </a:prstGeom>
            <a:solidFill>
              <a:srgbClr val="12355B"/>
            </a:solidFill>
            <a:ln>
              <a:noFill/>
            </a:ln>
          </p:spPr>
        </p:sp>
        <p:sp>
          <p:nvSpPr>
            <p:cNvPr id="10" name="TextBox 10"/>
            <p:cNvSpPr txBox="1"/>
            <p:nvPr/>
          </p:nvSpPr>
          <p:spPr>
            <a:xfrm>
              <a:off x="1791589" y="1571625"/>
              <a:ext cx="2589023" cy="293370"/>
            </a:xfrm>
            <a:prstGeom prst="rect">
              <a:avLst/>
            </a:prstGeom>
            <a:noFill/>
            <a:ln>
              <a:noFill/>
            </a:ln>
          </p:spPr>
          <p:txBody>
            <a:bodyPr wrap="none" lIns="0" tIns="0" rIns="0" bIns="0" anchor="t" anchorCtr="0">
              <a:spAutoFit/>
            </a:bodyPr>
            <a:lstStyle/>
            <a:p>
              <a:pPr algn="ctr"/>
              <a:r>
                <a:rPr lang="tr-TR" sz="1500" b="1" dirty="0">
                  <a:solidFill>
                    <a:srgbClr val="FFFFFF"/>
                  </a:solidFill>
                  <a:latin typeface="+mn-lt"/>
                  <a:ea typeface="+mn-ea"/>
                  <a:cs typeface="+mn-cs"/>
                </a:rPr>
                <a:t>ChurnAciklamaUygulamasi</a:t>
              </a:r>
            </a:p>
          </p:txBody>
        </p:sp>
        <p:sp>
          <p:nvSpPr>
            <p:cNvPr id="11" name="Line 11"/>
            <p:cNvSpPr/>
            <p:nvPr/>
          </p:nvSpPr>
          <p:spPr>
            <a:xfrm>
              <a:off x="609600" y="1885950"/>
              <a:ext cx="4953000" cy="9525"/>
            </a:xfrm>
            <a:custGeom>
              <a:avLst/>
              <a:gdLst/>
              <a:ahLst/>
              <a:cxnLst/>
              <a:rect l="l" t="t" r="r" b="b"/>
              <a:pathLst>
                <a:path w="4953000" h="9525">
                  <a:moveTo>
                    <a:pt x="0" y="0"/>
                  </a:moveTo>
                  <a:lnTo>
                    <a:pt x="4953000" y="0"/>
                  </a:lnTo>
                </a:path>
              </a:pathLst>
            </a:custGeom>
            <a:noFill/>
            <a:ln w="9525">
              <a:solidFill>
                <a:srgbClr val="2E86AB"/>
              </a:solidFill>
            </a:ln>
          </p:spPr>
        </p:sp>
        <p:sp>
          <p:nvSpPr>
            <p:cNvPr id="12" name="TextBox 12"/>
            <p:cNvSpPr txBox="1"/>
            <p:nvPr/>
          </p:nvSpPr>
          <p:spPr>
            <a:xfrm>
              <a:off x="832485" y="2012156"/>
              <a:ext cx="2598301"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Consolas"/>
                  <a:ea typeface="Consolas"/>
                  <a:cs typeface="Consolas"/>
                </a:rPr>
                <a:t>− model: RandomForestClassifier</a:t>
              </a:r>
            </a:p>
          </p:txBody>
        </p:sp>
        <p:sp>
          <p:nvSpPr>
            <p:cNvPr id="13" name="TextBox 13"/>
            <p:cNvSpPr txBox="1"/>
            <p:nvPr/>
          </p:nvSpPr>
          <p:spPr>
            <a:xfrm>
              <a:off x="832485" y="2221706"/>
              <a:ext cx="2167504"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Consolas"/>
                  <a:ea typeface="Consolas"/>
                  <a:cs typeface="Consolas"/>
                </a:rPr>
                <a:t>− rastgele_durum: int = 42</a:t>
              </a:r>
            </a:p>
          </p:txBody>
        </p:sp>
        <p:sp>
          <p:nvSpPr>
            <p:cNvPr id="14" name="Line 14"/>
            <p:cNvSpPr/>
            <p:nvPr/>
          </p:nvSpPr>
          <p:spPr>
            <a:xfrm>
              <a:off x="609600" y="2495550"/>
              <a:ext cx="4953000" cy="9525"/>
            </a:xfrm>
            <a:custGeom>
              <a:avLst/>
              <a:gdLst/>
              <a:ahLst/>
              <a:cxnLst/>
              <a:rect l="l" t="t" r="r" b="b"/>
              <a:pathLst>
                <a:path w="4953000" h="9525">
                  <a:moveTo>
                    <a:pt x="0" y="0"/>
                  </a:moveTo>
                  <a:lnTo>
                    <a:pt x="4953000" y="0"/>
                  </a:lnTo>
                </a:path>
              </a:pathLst>
            </a:custGeom>
            <a:noFill/>
            <a:ln w="14288">
              <a:solidFill>
                <a:srgbClr val="EAF4F6"/>
              </a:solidFill>
            </a:ln>
          </p:spPr>
        </p:sp>
        <p:sp>
          <p:nvSpPr>
            <p:cNvPr id="15" name="TextBox 15"/>
            <p:cNvSpPr txBox="1"/>
            <p:nvPr/>
          </p:nvSpPr>
          <p:spPr>
            <a:xfrm>
              <a:off x="832485" y="2621756"/>
              <a:ext cx="1338245" cy="220028"/>
            </a:xfrm>
            <a:prstGeom prst="rect">
              <a:avLst/>
            </a:prstGeom>
            <a:noFill/>
            <a:ln>
              <a:noFill/>
            </a:ln>
          </p:spPr>
          <p:txBody>
            <a:bodyPr wrap="none" lIns="0" tIns="0" rIns="0" bIns="0" anchor="t" anchorCtr="0">
              <a:spAutoFit/>
            </a:bodyPr>
            <a:lstStyle/>
            <a:p>
              <a:pPr algn="l"/>
              <a:r>
                <a:rPr lang="tr-TR" sz="1120" dirty="0">
                  <a:solidFill>
                    <a:srgbClr val="12355B"/>
                  </a:solidFill>
                  <a:latin typeface="Consolas"/>
                  <a:ea typeface="Consolas"/>
                  <a:cs typeface="Consolas"/>
                </a:rPr>
                <a:t>+ veri_hazirla()</a:t>
              </a:r>
            </a:p>
          </p:txBody>
        </p:sp>
        <p:sp>
          <p:nvSpPr>
            <p:cNvPr id="16" name="TextBox 16"/>
            <p:cNvSpPr txBox="1"/>
            <p:nvPr/>
          </p:nvSpPr>
          <p:spPr>
            <a:xfrm>
              <a:off x="3423666" y="2629852"/>
              <a:ext cx="1388840"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sentetik veri üretir</a:t>
              </a:r>
            </a:p>
          </p:txBody>
        </p:sp>
        <p:sp>
          <p:nvSpPr>
            <p:cNvPr id="17" name="TextBox 17"/>
            <p:cNvSpPr txBox="1"/>
            <p:nvPr/>
          </p:nvSpPr>
          <p:spPr>
            <a:xfrm>
              <a:off x="832485" y="2888456"/>
              <a:ext cx="1006541" cy="220028"/>
            </a:xfrm>
            <a:prstGeom prst="rect">
              <a:avLst/>
            </a:prstGeom>
            <a:noFill/>
            <a:ln>
              <a:noFill/>
            </a:ln>
          </p:spPr>
          <p:txBody>
            <a:bodyPr wrap="none" lIns="0" tIns="0" rIns="0" bIns="0" anchor="t" anchorCtr="0">
              <a:spAutoFit/>
            </a:bodyPr>
            <a:lstStyle/>
            <a:p>
              <a:pPr algn="l"/>
              <a:r>
                <a:rPr lang="tr-TR" sz="1120" dirty="0">
                  <a:solidFill>
                    <a:srgbClr val="12355B"/>
                  </a:solidFill>
                  <a:latin typeface="Consolas"/>
                  <a:ea typeface="Consolas"/>
                  <a:cs typeface="Consolas"/>
                </a:rPr>
                <a:t>+ calistir()</a:t>
              </a:r>
            </a:p>
          </p:txBody>
        </p:sp>
        <p:sp>
          <p:nvSpPr>
            <p:cNvPr id="18" name="TextBox 18"/>
            <p:cNvSpPr txBox="1"/>
            <p:nvPr/>
          </p:nvSpPr>
          <p:spPr>
            <a:xfrm>
              <a:off x="3423666" y="2896552"/>
              <a:ext cx="1418825"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eğitim + SHAP + LIME</a:t>
              </a:r>
            </a:p>
          </p:txBody>
        </p:sp>
        <p:sp>
          <p:nvSpPr>
            <p:cNvPr id="19" name="TextBox 19"/>
            <p:cNvSpPr txBox="1"/>
            <p:nvPr/>
          </p:nvSpPr>
          <p:spPr>
            <a:xfrm>
              <a:off x="832866" y="3182302"/>
              <a:ext cx="3250695"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calistir(): fit → predict_proba → TreeExplainer</a:t>
              </a:r>
            </a:p>
          </p:txBody>
        </p:sp>
        <p:sp>
          <p:nvSpPr>
            <p:cNvPr id="20" name="TextBox 20"/>
            <p:cNvSpPr txBox="1"/>
            <p:nvPr/>
          </p:nvSpPr>
          <p:spPr>
            <a:xfrm>
              <a:off x="832866" y="3372802"/>
              <a:ext cx="3636124"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 LimeTabularExplainer → eşik tabanlı öneri yazdırır</a:t>
              </a:r>
            </a:p>
          </p:txBody>
        </p:sp>
        <p:sp>
          <p:nvSpPr>
            <p:cNvPr id="21" name="TextBox 21"/>
            <p:cNvSpPr txBox="1"/>
            <p:nvPr/>
          </p:nvSpPr>
          <p:spPr>
            <a:xfrm>
              <a:off x="832866" y="3734752"/>
              <a:ext cx="3125724"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Sabit hiperparametreler (n_estimators=200,</a:t>
              </a:r>
            </a:p>
          </p:txBody>
        </p:sp>
        <p:sp>
          <p:nvSpPr>
            <p:cNvPr id="22" name="TextBox 22"/>
            <p:cNvSpPr txBox="1"/>
            <p:nvPr/>
          </p:nvSpPr>
          <p:spPr>
            <a:xfrm>
              <a:off x="832866" y="3925252"/>
              <a:ext cx="3106255"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random_state=42) tekrarlanabilirliği sağlar.</a:t>
              </a:r>
            </a:p>
          </p:txBody>
        </p:sp>
        <p:sp>
          <p:nvSpPr>
            <p:cNvPr id="23" name="TextBox 23"/>
            <p:cNvSpPr txBox="1"/>
            <p:nvPr/>
          </p:nvSpPr>
          <p:spPr>
            <a:xfrm>
              <a:off x="832866" y="4211002"/>
              <a:ext cx="3391198"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try/except ValueError, veri hatasında anlaşılır</a:t>
              </a:r>
            </a:p>
          </p:txBody>
        </p:sp>
        <p:sp>
          <p:nvSpPr>
            <p:cNvPr id="24" name="TextBox 24"/>
            <p:cNvSpPr txBox="1"/>
            <p:nvPr/>
          </p:nvSpPr>
          <p:spPr>
            <a:xfrm>
              <a:off x="832866" y="4401502"/>
              <a:ext cx="2095595"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mesaj verir; program çökmez.</a:t>
              </a:r>
            </a:p>
          </p:txBody>
        </p:sp>
      </p:grpSp>
      <p:grpSp>
        <p:nvGrpSpPr>
          <p:cNvPr id="38" name="report-panel"/>
          <p:cNvGrpSpPr/>
          <p:nvPr/>
        </p:nvGrpSpPr>
        <p:grpSpPr>
          <a:xfrm>
            <a:off x="5867400" y="1466850"/>
            <a:ext cx="5715000" cy="3048000"/>
            <a:chOff x="5867400" y="1466850"/>
            <a:chExt cx="5715000" cy="3048000"/>
          </a:xfrm>
        </p:grpSpPr>
        <p:sp>
          <p:nvSpPr>
            <p:cNvPr id="26" name="Rectangle 26"/>
            <p:cNvSpPr/>
            <p:nvPr/>
          </p:nvSpPr>
          <p:spPr>
            <a:xfrm>
              <a:off x="5867400" y="1466850"/>
              <a:ext cx="5715000" cy="3048000"/>
            </a:xfrm>
            <a:prstGeom prst="roundRect">
              <a:avLst>
                <a:gd name="adj" fmla="val 2500"/>
              </a:avLst>
            </a:prstGeom>
            <a:solidFill>
              <a:srgbClr val="12355B"/>
            </a:solidFill>
            <a:ln>
              <a:noFill/>
            </a:ln>
          </p:spPr>
        </p:sp>
        <p:sp>
          <p:nvSpPr>
            <p:cNvPr id="27" name="TextBox 27"/>
            <p:cNvSpPr txBox="1"/>
            <p:nvPr/>
          </p:nvSpPr>
          <p:spPr>
            <a:xfrm>
              <a:off x="6166485" y="1631156"/>
              <a:ext cx="2543676" cy="220028"/>
            </a:xfrm>
            <a:prstGeom prst="rect">
              <a:avLst/>
            </a:prstGeom>
            <a:noFill/>
            <a:ln>
              <a:noFill/>
            </a:ln>
          </p:spPr>
          <p:txBody>
            <a:bodyPr wrap="none" lIns="0" tIns="0" rIns="0" bIns="0" anchor="t" anchorCtr="0">
              <a:spAutoFit/>
            </a:bodyPr>
            <a:lstStyle/>
            <a:p>
              <a:pPr algn="l"/>
              <a:r>
                <a:rPr lang="tr-TR" sz="1120" dirty="0">
                  <a:solidFill>
                    <a:srgbClr val="00A6A6"/>
                  </a:solidFill>
                  <a:latin typeface="Consolas"/>
                  <a:ea typeface="Consolas"/>
                  <a:cs typeface="Consolas"/>
                </a:rPr>
                <a:t>--- Telco Churn XAI Raporu ---</a:t>
              </a:r>
            </a:p>
          </p:txBody>
        </p:sp>
        <p:sp>
          <p:nvSpPr>
            <p:cNvPr id="28" name="TextBox 28"/>
            <p:cNvSpPr txBox="1"/>
            <p:nvPr/>
          </p:nvSpPr>
          <p:spPr>
            <a:xfrm>
              <a:off x="6166485" y="1897856"/>
              <a:ext cx="2008693" cy="220028"/>
            </a:xfrm>
            <a:prstGeom prst="rect">
              <a:avLst/>
            </a:prstGeom>
            <a:noFill/>
            <a:ln>
              <a:noFill/>
            </a:ln>
          </p:spPr>
          <p:txBody>
            <a:bodyPr wrap="none" lIns="0" tIns="0" rIns="0" bIns="0" anchor="t" anchorCtr="0">
              <a:spAutoFit/>
            </a:bodyPr>
            <a:lstStyle/>
            <a:p>
              <a:pPr algn="l"/>
              <a:r>
                <a:rPr lang="tr-TR" sz="1120" dirty="0">
                  <a:solidFill>
                    <a:srgbClr val="FFFFFF"/>
                  </a:solidFill>
                  <a:latin typeface="Consolas"/>
                  <a:ea typeface="Consolas"/>
                  <a:cs typeface="Consolas"/>
                </a:rPr>
                <a:t>Ayrılma olasılığı: %94.5</a:t>
              </a:r>
            </a:p>
          </p:txBody>
        </p:sp>
        <p:sp>
          <p:nvSpPr>
            <p:cNvPr id="29" name="TextBox 29"/>
            <p:cNvSpPr txBox="1"/>
            <p:nvPr/>
          </p:nvSpPr>
          <p:spPr>
            <a:xfrm>
              <a:off x="6166485" y="2164556"/>
              <a:ext cx="1276983" cy="220028"/>
            </a:xfrm>
            <a:prstGeom prst="rect">
              <a:avLst/>
            </a:prstGeom>
            <a:noFill/>
            <a:ln>
              <a:noFill/>
            </a:ln>
          </p:spPr>
          <p:txBody>
            <a:bodyPr wrap="none" lIns="0" tIns="0" rIns="0" bIns="0" anchor="t" anchorCtr="0">
              <a:spAutoFit/>
            </a:bodyPr>
            <a:lstStyle/>
            <a:p>
              <a:pPr algn="l"/>
              <a:r>
                <a:rPr lang="tr-TR" sz="1120" dirty="0">
                  <a:solidFill>
                    <a:srgbClr val="EAF4F6"/>
                  </a:solidFill>
                  <a:latin typeface="Consolas"/>
                  <a:ea typeface="Consolas"/>
                  <a:cs typeface="Consolas"/>
                </a:rPr>
                <a:t>SHAP katkıları:</a:t>
              </a:r>
            </a:p>
          </p:txBody>
        </p:sp>
        <p:sp>
          <p:nvSpPr>
            <p:cNvPr id="30" name="TextBox 30"/>
            <p:cNvSpPr txBox="1"/>
            <p:nvPr/>
          </p:nvSpPr>
          <p:spPr>
            <a:xfrm>
              <a:off x="6166866" y="2382202"/>
              <a:ext cx="1487786" cy="205359"/>
            </a:xfrm>
            <a:prstGeom prst="rect">
              <a:avLst/>
            </a:prstGeom>
            <a:noFill/>
            <a:ln>
              <a:noFill/>
            </a:ln>
          </p:spPr>
          <p:txBody>
            <a:bodyPr wrap="none" lIns="0" tIns="0" rIns="0" bIns="0" anchor="t" anchorCtr="0">
              <a:spAutoFit/>
            </a:bodyPr>
            <a:lstStyle/>
            <a:p>
              <a:pPr algn="l"/>
              <a:r>
                <a:rPr lang="tr-TR" sz="1050" dirty="0">
                  <a:solidFill>
                    <a:srgbClr val="FFFFFF"/>
                  </a:solidFill>
                  <a:latin typeface="Consolas"/>
                  <a:ea typeface="Consolas"/>
                  <a:cs typeface="Consolas"/>
                </a:rPr>
                <a:t>tenure 51.00 +0.567</a:t>
              </a:r>
            </a:p>
          </p:txBody>
        </p:sp>
        <p:sp>
          <p:nvSpPr>
            <p:cNvPr id="31" name="TextBox 31"/>
            <p:cNvSpPr txBox="1"/>
            <p:nvPr/>
          </p:nvSpPr>
          <p:spPr>
            <a:xfrm>
              <a:off x="6166866" y="2591752"/>
              <a:ext cx="2126704" cy="205359"/>
            </a:xfrm>
            <a:prstGeom prst="rect">
              <a:avLst/>
            </a:prstGeom>
            <a:noFill/>
            <a:ln>
              <a:noFill/>
            </a:ln>
          </p:spPr>
          <p:txBody>
            <a:bodyPr wrap="none" lIns="0" tIns="0" rIns="0" bIns="0" anchor="t" anchorCtr="0">
              <a:spAutoFit/>
            </a:bodyPr>
            <a:lstStyle/>
            <a:p>
              <a:pPr algn="l"/>
              <a:r>
                <a:rPr lang="tr-TR" sz="1050" dirty="0">
                  <a:solidFill>
                    <a:srgbClr val="FFFFFF"/>
                  </a:solidFill>
                  <a:latin typeface="Consolas"/>
                  <a:ea typeface="Consolas"/>
                  <a:cs typeface="Consolas"/>
                </a:rPr>
                <a:t>MonthlyCharges 51.06 +0.093</a:t>
              </a:r>
            </a:p>
          </p:txBody>
        </p:sp>
        <p:sp>
          <p:nvSpPr>
            <p:cNvPr id="32" name="TextBox 32"/>
            <p:cNvSpPr txBox="1"/>
            <p:nvPr/>
          </p:nvSpPr>
          <p:spPr>
            <a:xfrm>
              <a:off x="6166485" y="2850356"/>
              <a:ext cx="1359703" cy="220028"/>
            </a:xfrm>
            <a:prstGeom prst="rect">
              <a:avLst/>
            </a:prstGeom>
            <a:noFill/>
            <a:ln>
              <a:noFill/>
            </a:ln>
          </p:spPr>
          <p:txBody>
            <a:bodyPr wrap="none" lIns="0" tIns="0" rIns="0" bIns="0" anchor="t" anchorCtr="0">
              <a:spAutoFit/>
            </a:bodyPr>
            <a:lstStyle/>
            <a:p>
              <a:pPr algn="l"/>
              <a:r>
                <a:rPr lang="tr-TR" sz="1120" dirty="0">
                  <a:solidFill>
                    <a:srgbClr val="EAF4F6"/>
                  </a:solidFill>
                  <a:latin typeface="Consolas"/>
                  <a:ea typeface="Consolas"/>
                  <a:cs typeface="Consolas"/>
                </a:rPr>
                <a:t>LIME açıklaması:</a:t>
              </a:r>
            </a:p>
          </p:txBody>
        </p:sp>
        <p:sp>
          <p:nvSpPr>
            <p:cNvPr id="33" name="TextBox 33"/>
            <p:cNvSpPr txBox="1"/>
            <p:nvPr/>
          </p:nvSpPr>
          <p:spPr>
            <a:xfrm>
              <a:off x="6166866" y="3068002"/>
              <a:ext cx="1798758" cy="205359"/>
            </a:xfrm>
            <a:prstGeom prst="rect">
              <a:avLst/>
            </a:prstGeom>
            <a:noFill/>
            <a:ln>
              <a:noFill/>
            </a:ln>
          </p:spPr>
          <p:txBody>
            <a:bodyPr wrap="none" lIns="0" tIns="0" rIns="0" bIns="0" anchor="t" anchorCtr="0">
              <a:spAutoFit/>
            </a:bodyPr>
            <a:lstStyle/>
            <a:p>
              <a:pPr algn="l"/>
              <a:r>
                <a:rPr lang="tr-TR" sz="1050" dirty="0">
                  <a:solidFill>
                    <a:srgbClr val="FFFFFF"/>
                  </a:solidFill>
                  <a:latin typeface="Consolas"/>
                  <a:ea typeface="Consolas"/>
                  <a:cs typeface="Consolas"/>
                </a:rPr>
                <a:t>- tenure &gt; 41.25: 0.540</a:t>
              </a:r>
            </a:p>
          </p:txBody>
        </p:sp>
        <p:sp>
          <p:nvSpPr>
            <p:cNvPr id="34" name="Rectangle 34"/>
            <p:cNvSpPr/>
            <p:nvPr/>
          </p:nvSpPr>
          <p:spPr>
            <a:xfrm>
              <a:off x="6172200" y="3390900"/>
              <a:ext cx="5105400" cy="857250"/>
            </a:xfrm>
            <a:prstGeom prst="roundRect">
              <a:avLst>
                <a:gd name="adj" fmla="val 6667"/>
              </a:avLst>
            </a:prstGeom>
            <a:solidFill>
              <a:srgbClr val="0F2B49"/>
            </a:solidFill>
            <a:ln>
              <a:noFill/>
            </a:ln>
          </p:spPr>
        </p:sp>
        <p:sp>
          <p:nvSpPr>
            <p:cNvPr id="35" name="TextBox 35"/>
            <p:cNvSpPr txBox="1"/>
            <p:nvPr/>
          </p:nvSpPr>
          <p:spPr>
            <a:xfrm>
              <a:off x="6318885" y="3498056"/>
              <a:ext cx="2038160" cy="220028"/>
            </a:xfrm>
            <a:prstGeom prst="rect">
              <a:avLst/>
            </a:prstGeom>
            <a:noFill/>
            <a:ln>
              <a:noFill/>
            </a:ln>
          </p:spPr>
          <p:txBody>
            <a:bodyPr wrap="none" lIns="0" tIns="0" rIns="0" bIns="0" anchor="t" anchorCtr="0">
              <a:spAutoFit/>
            </a:bodyPr>
            <a:lstStyle/>
            <a:p>
              <a:pPr algn="l"/>
              <a:r>
                <a:rPr lang="tr-TR" sz="1120" dirty="0">
                  <a:solidFill>
                    <a:srgbClr val="00A6A6"/>
                  </a:solidFill>
                  <a:latin typeface="+mn-lt"/>
                  <a:ea typeface="+mn-ea"/>
                  <a:cs typeface="+mn-cs"/>
                </a:rPr>
                <a:t>Eşik kuralı: olasılık ≥ 0.60</a:t>
              </a:r>
            </a:p>
          </p:txBody>
        </p:sp>
        <p:sp>
          <p:nvSpPr>
            <p:cNvPr id="36" name="TextBox 36"/>
            <p:cNvSpPr txBox="1"/>
            <p:nvPr/>
          </p:nvSpPr>
          <p:spPr>
            <a:xfrm>
              <a:off x="6318885" y="3726656"/>
              <a:ext cx="3217126" cy="220028"/>
            </a:xfrm>
            <a:prstGeom prst="rect">
              <a:avLst/>
            </a:prstGeom>
            <a:noFill/>
            <a:ln>
              <a:noFill/>
            </a:ln>
          </p:spPr>
          <p:txBody>
            <a:bodyPr wrap="none" lIns="0" tIns="0" rIns="0" bIns="0" anchor="t" anchorCtr="0">
              <a:spAutoFit/>
            </a:bodyPr>
            <a:lstStyle/>
            <a:p>
              <a:pPr algn="l"/>
              <a:r>
                <a:rPr lang="tr-TR" sz="1120" dirty="0">
                  <a:solidFill>
                    <a:srgbClr val="FFFFFF"/>
                  </a:solidFill>
                  <a:latin typeface="+mn-lt"/>
                  <a:ea typeface="+mn-ea"/>
                  <a:cs typeface="+mn-cs"/>
                </a:rPr>
                <a:t>→ Öneri: Kişiselleştirilmiş elde tutma teklifi</a:t>
              </a:r>
            </a:p>
          </p:txBody>
        </p:sp>
        <p:sp>
          <p:nvSpPr>
            <p:cNvPr id="37" name="TextBox 37"/>
            <p:cNvSpPr txBox="1"/>
            <p:nvPr/>
          </p:nvSpPr>
          <p:spPr>
            <a:xfrm>
              <a:off x="6318885" y="3936206"/>
              <a:ext cx="3320928" cy="220028"/>
            </a:xfrm>
            <a:prstGeom prst="rect">
              <a:avLst/>
            </a:prstGeom>
            <a:noFill/>
            <a:ln>
              <a:noFill/>
            </a:ln>
          </p:spPr>
          <p:txBody>
            <a:bodyPr wrap="none" lIns="0" tIns="0" rIns="0" bIns="0" anchor="t" anchorCtr="0">
              <a:spAutoFit/>
            </a:bodyPr>
            <a:lstStyle/>
            <a:p>
              <a:pPr algn="l"/>
              <a:r>
                <a:rPr lang="tr-TR" sz="1120" dirty="0">
                  <a:solidFill>
                    <a:srgbClr val="FFFFFF"/>
                  </a:solidFill>
                  <a:latin typeface="+mn-lt"/>
                  <a:ea typeface="+mn-ea"/>
                  <a:cs typeface="+mn-cs"/>
                </a:rPr>
                <a:t>hazırlanmalı; aksi halde rutin izleme listesi.</a:t>
              </a:r>
            </a:p>
          </p:txBody>
        </p:sp>
      </p:grpSp>
      <p:grpSp>
        <p:nvGrpSpPr>
          <p:cNvPr id="44" name="extend-note"/>
          <p:cNvGrpSpPr/>
          <p:nvPr/>
        </p:nvGrpSpPr>
        <p:grpSpPr>
          <a:xfrm>
            <a:off x="609600" y="4781550"/>
            <a:ext cx="10972800" cy="1219200"/>
            <a:chOff x="609600" y="4781550"/>
            <a:chExt cx="10972800" cy="1219200"/>
          </a:xfrm>
        </p:grpSpPr>
        <p:sp>
          <p:nvSpPr>
            <p:cNvPr id="39" name="Rectangle 39"/>
            <p:cNvSpPr/>
            <p:nvPr/>
          </p:nvSpPr>
          <p:spPr>
            <a:xfrm>
              <a:off x="609600" y="4781550"/>
              <a:ext cx="10972800" cy="1219200"/>
            </a:xfrm>
            <a:prstGeom prst="roundRect">
              <a:avLst>
                <a:gd name="adj" fmla="val 6250"/>
              </a:avLst>
            </a:prstGeom>
            <a:solidFill>
              <a:srgbClr val="EAF4F6"/>
            </a:solidFill>
            <a:ln>
              <a:noFill/>
            </a:ln>
          </p:spPr>
        </p:sp>
        <p:sp>
          <p:nvSpPr>
            <p:cNvPr id="40" name="TextBox 40"/>
            <p:cNvSpPr txBox="1"/>
            <p:nvPr/>
          </p:nvSpPr>
          <p:spPr>
            <a:xfrm>
              <a:off x="908304" y="4918710"/>
              <a:ext cx="1985367"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Bu programı genişletin:</a:t>
              </a:r>
            </a:p>
          </p:txBody>
        </p:sp>
        <p:sp>
          <p:nvSpPr>
            <p:cNvPr id="41" name="TextBox 41"/>
            <p:cNvSpPr txBox="1"/>
            <p:nvPr/>
          </p:nvSpPr>
          <p:spPr>
            <a:xfrm>
              <a:off x="908304" y="5147310"/>
              <a:ext cx="474341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1. SHAP özet grafiğini dosyaya kaydeden bir yöntem ekleyin.</a:t>
              </a:r>
            </a:p>
          </p:txBody>
        </p:sp>
        <p:sp>
          <p:nvSpPr>
            <p:cNvPr id="42" name="TextBox 42"/>
            <p:cNvSpPr txBox="1"/>
            <p:nvPr/>
          </p:nvSpPr>
          <p:spPr>
            <a:xfrm>
              <a:off x="908304" y="5356860"/>
              <a:ext cx="580083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2. Müşteri kimliğini girdi olarak alan bir komut satırı arayüzü oluşturun.</a:t>
              </a:r>
            </a:p>
          </p:txBody>
        </p:sp>
        <p:sp>
          <p:nvSpPr>
            <p:cNvPr id="43" name="TextBox 43"/>
            <p:cNvSpPr txBox="1"/>
            <p:nvPr/>
          </p:nvSpPr>
          <p:spPr>
            <a:xfrm>
              <a:off x="908304" y="5566410"/>
              <a:ext cx="744564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3. Model tahmini ve açıklamayı yönetici panelinde göstermek için Streamlit arayüzü geliştirin.</a:t>
              </a:r>
            </a:p>
          </p:txBody>
        </p:sp>
      </p:grpSp>
      <p:sp>
        <p:nvSpPr>
          <p:cNvPr id="45" name="TextBox 45"/>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20 / 25</a:t>
            </a:r>
          </a:p>
        </p:txBody>
      </p:sp>
    </p:spTree>
  </p:cSld>
  <p:clrMapOvr>
    <a:masterClrMapping/>
  </p:clrMapOvr>
  <p:transition xmlns:p14="http://schemas.microsoft.com/office/powerpoint/2010/main" p14:dur="400">
    <p:fade/>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8426580" cy="668845"/>
            <a:chOff x="609600" y="171450"/>
            <a:chExt cx="8426580"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46456" y="319421"/>
                <a:ext cx="297777" cy="255830"/>
                <a:chOff x="746456" y="319421"/>
                <a:chExt cx="297777" cy="255830"/>
              </a:xfrm>
            </p:grpSpPr>
            <p:sp>
              <p:nvSpPr>
                <p:cNvPr id="5" name="Freeform 5"/>
                <p:cNvSpPr/>
                <p:nvPr/>
              </p:nvSpPr>
              <p:spPr>
                <a:xfrm>
                  <a:off x="895350" y="412909"/>
                  <a:ext cx="9525" cy="59055"/>
                </a:xfrm>
                <a:custGeom>
                  <a:avLst/>
                  <a:gdLst/>
                  <a:ahLst/>
                  <a:cxnLst/>
                  <a:rect l="l" t="t" r="r" b="b"/>
                  <a:pathLst>
                    <a:path w="9525" h="59055">
                      <a:moveTo>
                        <a:pt x="0" y="0"/>
                      </a:moveTo>
                      <a:lnTo>
                        <a:pt x="0" y="59055"/>
                      </a:lnTo>
                    </a:path>
                  </a:pathLst>
                </a:custGeom>
                <a:noFill/>
                <a:ln w="24759" cap="rnd">
                  <a:solidFill>
                    <a:srgbClr val="FFFFFF"/>
                  </a:solidFill>
                  <a:round/>
                </a:ln>
              </p:spPr>
            </p:sp>
            <p:sp>
              <p:nvSpPr>
                <p:cNvPr id="6" name="Freeform 6"/>
                <p:cNvSpPr/>
                <p:nvPr/>
              </p:nvSpPr>
              <p:spPr>
                <a:xfrm>
                  <a:off x="746456" y="319421"/>
                  <a:ext cx="297777" cy="255830"/>
                </a:xfrm>
                <a:custGeom>
                  <a:avLst/>
                  <a:gdLst/>
                  <a:ahLst/>
                  <a:cxnLst/>
                  <a:rect l="l" t="t" r="r" b="b"/>
                  <a:pathLst>
                    <a:path w="297777" h="255830">
                      <a:moveTo>
                        <a:pt x="124726" y="13630"/>
                      </a:moveTo>
                      <a:lnTo>
                        <a:pt x="5051" y="213443"/>
                      </a:lnTo>
                      <a:cubicBezTo>
                        <a:pt x="31" y="222137"/>
                        <a:pt x="0" y="232841"/>
                        <a:pt x="4970" y="241564"/>
                      </a:cubicBezTo>
                      <a:cubicBezTo>
                        <a:pt x="9941" y="250286"/>
                        <a:pt x="19166" y="255717"/>
                        <a:pt x="29204" y="255830"/>
                      </a:cubicBezTo>
                      <a:lnTo>
                        <a:pt x="268584" y="255830"/>
                      </a:lnTo>
                      <a:cubicBezTo>
                        <a:pt x="278618" y="255714"/>
                        <a:pt x="287838" y="250285"/>
                        <a:pt x="292807" y="241568"/>
                      </a:cubicBezTo>
                      <a:cubicBezTo>
                        <a:pt x="297777" y="232850"/>
                        <a:pt x="297750" y="222150"/>
                        <a:pt x="292737" y="213458"/>
                      </a:cubicBezTo>
                      <a:lnTo>
                        <a:pt x="173062" y="13615"/>
                      </a:lnTo>
                      <a:cubicBezTo>
                        <a:pt x="167941" y="5163"/>
                        <a:pt x="158777" y="0"/>
                        <a:pt x="148894" y="0"/>
                      </a:cubicBezTo>
                      <a:cubicBezTo>
                        <a:pt x="139011" y="0"/>
                        <a:pt x="129847" y="5163"/>
                        <a:pt x="124726" y="13615"/>
                      </a:cubicBezTo>
                    </a:path>
                  </a:pathLst>
                </a:custGeom>
                <a:noFill/>
                <a:ln w="24759" cap="rnd">
                  <a:solidFill>
                    <a:srgbClr val="FFFFFF"/>
                  </a:solidFill>
                  <a:round/>
                </a:ln>
              </p:spPr>
            </p:sp>
            <p:sp>
              <p:nvSpPr>
                <p:cNvPr id="7" name="Freeform 7"/>
                <p:cNvSpPr/>
                <p:nvPr/>
              </p:nvSpPr>
              <p:spPr>
                <a:xfrm>
                  <a:off x="895350" y="516255"/>
                  <a:ext cx="9525" cy="9525"/>
                </a:xfrm>
                <a:custGeom>
                  <a:avLst/>
                  <a:gdLst/>
                  <a:ahLst/>
                  <a:cxnLst/>
                  <a:rect l="l" t="t" r="r" b="b"/>
                  <a:pathLst>
                    <a:path w="9525" h="9525">
                      <a:moveTo>
                        <a:pt x="0" y="0"/>
                      </a:moveTo>
                      <a:lnTo>
                        <a:pt x="148" y="0"/>
                      </a:lnTo>
                    </a:path>
                  </a:pathLst>
                </a:custGeom>
                <a:noFill/>
                <a:ln w="24759" cap="rnd">
                  <a:solidFill>
                    <a:srgbClr val="FFFFFF"/>
                  </a:solidFill>
                  <a:round/>
                </a:ln>
              </p:spPr>
            </p:sp>
          </p:grpSp>
        </p:grpSp>
        <p:sp>
          <p:nvSpPr>
            <p:cNvPr id="10" name="TextBox 10"/>
            <p:cNvSpPr txBox="1"/>
            <p:nvPr/>
          </p:nvSpPr>
          <p:spPr>
            <a:xfrm>
              <a:off x="1299972" y="282892"/>
              <a:ext cx="7736208"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Kavram yanılgıları ve dikkat noktaları</a:t>
              </a:r>
            </a:p>
          </p:txBody>
        </p:sp>
      </p:grpSp>
      <p:grpSp>
        <p:nvGrpSpPr>
          <p:cNvPr id="16" name="fallacy-header"/>
          <p:cNvGrpSpPr/>
          <p:nvPr/>
        </p:nvGrpSpPr>
        <p:grpSpPr>
          <a:xfrm>
            <a:off x="609600" y="1333500"/>
            <a:ext cx="10972800" cy="381000"/>
            <a:chOff x="609600" y="1333500"/>
            <a:chExt cx="10972800" cy="381000"/>
          </a:xfrm>
        </p:grpSpPr>
        <p:sp>
          <p:nvSpPr>
            <p:cNvPr id="12" name="Rectangle 12"/>
            <p:cNvSpPr/>
            <p:nvPr/>
          </p:nvSpPr>
          <p:spPr>
            <a:xfrm>
              <a:off x="609600" y="1333500"/>
              <a:ext cx="10972800" cy="381000"/>
            </a:xfrm>
            <a:prstGeom prst="rect">
              <a:avLst/>
            </a:prstGeom>
            <a:solidFill>
              <a:srgbClr val="12355B"/>
            </a:solidFill>
            <a:ln>
              <a:noFill/>
            </a:ln>
          </p:spPr>
        </p:sp>
        <p:sp>
          <p:nvSpPr>
            <p:cNvPr id="13" name="TextBox 13"/>
            <p:cNvSpPr txBox="1"/>
            <p:nvPr/>
          </p:nvSpPr>
          <p:spPr>
            <a:xfrm>
              <a:off x="755904" y="1451610"/>
              <a:ext cx="676595"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YANILGI</a:t>
              </a:r>
            </a:p>
          </p:txBody>
        </p:sp>
        <p:sp>
          <p:nvSpPr>
            <p:cNvPr id="14" name="TextBox 14"/>
            <p:cNvSpPr txBox="1"/>
            <p:nvPr/>
          </p:nvSpPr>
          <p:spPr>
            <a:xfrm>
              <a:off x="4375404" y="1451610"/>
              <a:ext cx="1376843"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TEKNİK GERÇEK</a:t>
              </a:r>
            </a:p>
          </p:txBody>
        </p:sp>
        <p:sp>
          <p:nvSpPr>
            <p:cNvPr id="15" name="TextBox 15"/>
            <p:cNvSpPr txBox="1"/>
            <p:nvPr/>
          </p:nvSpPr>
          <p:spPr>
            <a:xfrm>
              <a:off x="8185404" y="1451610"/>
              <a:ext cx="1512966"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DOĞRU YAKLAŞIM</a:t>
              </a:r>
            </a:p>
          </p:txBody>
        </p:sp>
      </p:grpSp>
      <p:grpSp>
        <p:nvGrpSpPr>
          <p:cNvPr id="21" name="fallacy-shap-nedensellik"/>
          <p:cNvGrpSpPr/>
          <p:nvPr/>
        </p:nvGrpSpPr>
        <p:grpSpPr>
          <a:xfrm>
            <a:off x="609600" y="1849279"/>
            <a:ext cx="10972800" cy="1313021"/>
            <a:chOff x="609600" y="1849279"/>
            <a:chExt cx="10972800" cy="1313021"/>
          </a:xfrm>
        </p:grpSpPr>
        <p:sp>
          <p:nvSpPr>
            <p:cNvPr id="17" name="TextBox 17"/>
            <p:cNvSpPr txBox="1"/>
            <p:nvPr/>
          </p:nvSpPr>
          <p:spPr>
            <a:xfrm>
              <a:off x="753999" y="1849279"/>
              <a:ext cx="2312556" cy="803338"/>
            </a:xfrm>
            <a:prstGeom prst="rect">
              <a:avLst/>
            </a:prstGeom>
            <a:noFill/>
            <a:ln>
              <a:noFill/>
            </a:ln>
          </p:spPr>
          <p:txBody>
            <a:bodyPr wrap="none" lIns="0" tIns="0" rIns="0" bIns="0" anchor="t" anchorCtr="0">
              <a:spAutoFit/>
            </a:bodyPr>
            <a:lstStyle/>
            <a:p>
              <a:pPr algn="l">
                <a:lnSpc>
                  <a:spcPts val="1950"/>
                </a:lnSpc>
              </a:pPr>
              <a:r>
                <a:rPr lang="tr-TR" sz="1580" b="1" dirty="0">
                  <a:solidFill>
                    <a:srgbClr val="12355B"/>
                  </a:solidFill>
                  <a:latin typeface="+mn-lt"/>
                  <a:ea typeface="+mn-ea"/>
                  <a:cs typeface="+mn-cs"/>
                </a:rPr>
                <a:t>"SHAP değeri, özelliğin</a:t>
              </a:r>
              <a:br/>
              <a:r>
                <a:rPr lang="tr-TR" sz="1580" b="1" dirty="0">
                  <a:solidFill>
                    <a:srgbClr val="12355B"/>
                  </a:solidFill>
                  <a:latin typeface="+mn-lt"/>
                  <a:ea typeface="+mn-ea"/>
                  <a:cs typeface="+mn-cs"/>
                </a:rPr>
                <a:t>hedef olaya sebep</a:t>
              </a:r>
              <a:br/>
              <a:r>
                <a:rPr lang="tr-TR" sz="1580" b="1" dirty="0">
                  <a:solidFill>
                    <a:srgbClr val="12355B"/>
                  </a:solidFill>
                  <a:latin typeface="+mn-lt"/>
                  <a:ea typeface="+mn-ea"/>
                  <a:cs typeface="+mn-cs"/>
                </a:rPr>
                <a:t>olduğunu kanıtlar."</a:t>
              </a:r>
            </a:p>
          </p:txBody>
        </p:sp>
        <p:sp>
          <p:nvSpPr>
            <p:cNvPr id="18" name="TextBox 18"/>
            <p:cNvSpPr txBox="1"/>
            <p:nvPr/>
          </p:nvSpPr>
          <p:spPr>
            <a:xfrm>
              <a:off x="4375404" y="1889760"/>
              <a:ext cx="296113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SHAP yalnızca modelin kararına yaptığı</a:t>
              </a:r>
              <a:br/>
              <a:r>
                <a:rPr lang="tr-TR" sz="1200" dirty="0">
                  <a:solidFill>
                    <a:srgbClr val="172B3A"/>
                  </a:solidFill>
                  <a:latin typeface="+mn-lt"/>
                  <a:ea typeface="+mn-ea"/>
                  <a:cs typeface="+mn-cs"/>
                </a:rPr>
                <a:t>katkıyı ölçer, nedensellik kanıtlamaz;</a:t>
              </a:r>
              <a:br/>
              <a:r>
                <a:rPr lang="tr-TR" sz="1200" dirty="0">
                  <a:solidFill>
                    <a:srgbClr val="172B3A"/>
                  </a:solidFill>
                  <a:latin typeface="+mn-lt"/>
                  <a:ea typeface="+mn-ea"/>
                  <a:cs typeface="+mn-cs"/>
                </a:rPr>
                <a:t>birlikte değişen özellikler aynı tahmini</a:t>
              </a:r>
              <a:br/>
              <a:r>
                <a:rPr lang="tr-TR" sz="1200" dirty="0">
                  <a:solidFill>
                    <a:srgbClr val="172B3A"/>
                  </a:solidFill>
                  <a:latin typeface="+mn-lt"/>
                  <a:ea typeface="+mn-ea"/>
                  <a:cs typeface="+mn-cs"/>
                </a:rPr>
                <a:t>farklı biçimlerde açıklanabilir kılar.</a:t>
              </a:r>
            </a:p>
          </p:txBody>
        </p:sp>
        <p:sp>
          <p:nvSpPr>
            <p:cNvPr id="19" name="TextBox 19"/>
            <p:cNvSpPr txBox="1"/>
            <p:nvPr/>
          </p:nvSpPr>
          <p:spPr>
            <a:xfrm>
              <a:off x="8185404" y="1889760"/>
              <a:ext cx="273253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Nedensel iddia için alan bilgisi, uygun</a:t>
              </a:r>
              <a:br/>
              <a:r>
                <a:rPr lang="tr-TR" sz="1200" dirty="0">
                  <a:solidFill>
                    <a:srgbClr val="172B3A"/>
                  </a:solidFill>
                  <a:latin typeface="+mn-lt"/>
                  <a:ea typeface="+mn-ea"/>
                  <a:cs typeface="+mn-cs"/>
                </a:rPr>
                <a:t>araştırma tasarımı ve gerektiğinde</a:t>
              </a:r>
              <a:br/>
              <a:r>
                <a:rPr lang="tr-TR" sz="1200" dirty="0">
                  <a:solidFill>
                    <a:srgbClr val="172B3A"/>
                  </a:solidFill>
                  <a:latin typeface="+mn-lt"/>
                  <a:ea typeface="+mn-ea"/>
                  <a:cs typeface="+mn-cs"/>
                </a:rPr>
                <a:t>müdahale ya da karşı-olgusal kanıt</a:t>
              </a:r>
              <a:br/>
              <a:r>
                <a:rPr lang="tr-TR" sz="1200" dirty="0">
                  <a:solidFill>
                    <a:srgbClr val="172B3A"/>
                  </a:solidFill>
                  <a:latin typeface="+mn-lt"/>
                  <a:ea typeface="+mn-ea"/>
                  <a:cs typeface="+mn-cs"/>
                </a:rPr>
                <a:t>gerekir.</a:t>
              </a:r>
            </a:p>
          </p:txBody>
        </p:sp>
        <p:sp>
          <p:nvSpPr>
            <p:cNvPr id="20" name="Line 20"/>
            <p:cNvSpPr/>
            <p:nvPr/>
          </p:nvSpPr>
          <p:spPr>
            <a:xfrm>
              <a:off x="609600" y="3152775"/>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27" name="fallacy-lime-kural"/>
          <p:cNvGrpSpPr/>
          <p:nvPr/>
        </p:nvGrpSpPr>
        <p:grpSpPr>
          <a:xfrm>
            <a:off x="609600" y="3162300"/>
            <a:ext cx="10972800" cy="1447800"/>
            <a:chOff x="609600" y="3162300"/>
            <a:chExt cx="10972800" cy="1447800"/>
          </a:xfrm>
        </p:grpSpPr>
        <p:sp>
          <p:nvSpPr>
            <p:cNvPr id="22" name="Rectangle 22"/>
            <p:cNvSpPr/>
            <p:nvPr/>
          </p:nvSpPr>
          <p:spPr>
            <a:xfrm>
              <a:off x="609600" y="3162300"/>
              <a:ext cx="10972800" cy="1447800"/>
            </a:xfrm>
            <a:prstGeom prst="rect">
              <a:avLst/>
            </a:prstGeom>
            <a:solidFill>
              <a:srgbClr val="EAF4F6"/>
            </a:solidFill>
            <a:ln>
              <a:noFill/>
            </a:ln>
          </p:spPr>
        </p:sp>
        <p:sp>
          <p:nvSpPr>
            <p:cNvPr id="23" name="TextBox 23"/>
            <p:cNvSpPr txBox="1"/>
            <p:nvPr/>
          </p:nvSpPr>
          <p:spPr>
            <a:xfrm>
              <a:off x="753999" y="3297079"/>
              <a:ext cx="2407368" cy="803338"/>
            </a:xfrm>
            <a:prstGeom prst="rect">
              <a:avLst/>
            </a:prstGeom>
            <a:noFill/>
            <a:ln>
              <a:noFill/>
            </a:ln>
          </p:spPr>
          <p:txBody>
            <a:bodyPr wrap="none" lIns="0" tIns="0" rIns="0" bIns="0" anchor="t" anchorCtr="0">
              <a:spAutoFit/>
            </a:bodyPr>
            <a:lstStyle/>
            <a:p>
              <a:pPr algn="l">
                <a:lnSpc>
                  <a:spcPts val="1950"/>
                </a:lnSpc>
              </a:pPr>
              <a:r>
                <a:rPr lang="tr-TR" sz="1580" b="1" dirty="0">
                  <a:solidFill>
                    <a:srgbClr val="12355B"/>
                  </a:solidFill>
                  <a:latin typeface="+mn-lt"/>
                  <a:ea typeface="+mn-ea"/>
                  <a:cs typeface="+mn-cs"/>
                </a:rPr>
                <a:t>"LIME çıktısındaki</a:t>
              </a:r>
              <a:br/>
              <a:r>
                <a:rPr lang="tr-TR" sz="1580" b="1" dirty="0">
                  <a:solidFill>
                    <a:srgbClr val="12355B"/>
                  </a:solidFill>
                  <a:latin typeface="+mn-lt"/>
                  <a:ea typeface="+mn-ea"/>
                  <a:cs typeface="+mn-cs"/>
                </a:rPr>
                <a:t>kurallar modelin gerçek</a:t>
              </a:r>
              <a:br/>
              <a:r>
                <a:rPr lang="tr-TR" sz="1580" b="1" dirty="0">
                  <a:solidFill>
                    <a:srgbClr val="12355B"/>
                  </a:solidFill>
                  <a:latin typeface="+mn-lt"/>
                  <a:ea typeface="+mn-ea"/>
                  <a:cs typeface="+mn-cs"/>
                </a:rPr>
                <a:t>kurallarıdır."</a:t>
              </a:r>
            </a:p>
          </p:txBody>
        </p:sp>
        <p:sp>
          <p:nvSpPr>
            <p:cNvPr id="24" name="TextBox 24"/>
            <p:cNvSpPr txBox="1"/>
            <p:nvPr/>
          </p:nvSpPr>
          <p:spPr>
            <a:xfrm>
              <a:off x="4375404" y="3337560"/>
              <a:ext cx="310591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LIME kuralları yerel bir vekil (surrogate)</a:t>
              </a:r>
              <a:br/>
              <a:r>
                <a:rPr lang="tr-TR" sz="1200" dirty="0">
                  <a:solidFill>
                    <a:srgbClr val="172B3A"/>
                  </a:solidFill>
                  <a:latin typeface="+mn-lt"/>
                  <a:ea typeface="+mn-ea"/>
                  <a:cs typeface="+mn-cs"/>
                </a:rPr>
                <a:t>modelin açıklamasıdır; orijinal modelin</a:t>
              </a:r>
              <a:br/>
              <a:r>
                <a:rPr lang="tr-TR" sz="1200" dirty="0">
                  <a:solidFill>
                    <a:srgbClr val="172B3A"/>
                  </a:solidFill>
                  <a:latin typeface="+mn-lt"/>
                  <a:ea typeface="+mn-ea"/>
                  <a:cs typeface="+mn-cs"/>
                </a:rPr>
                <a:t>gerçek kuralı olmak zorunda değildir;</a:t>
              </a:r>
              <a:br/>
              <a:r>
                <a:rPr lang="tr-TR" sz="1200" dirty="0">
                  <a:solidFill>
                    <a:srgbClr val="172B3A"/>
                  </a:solidFill>
                  <a:latin typeface="+mn-lt"/>
                  <a:ea typeface="+mn-ea"/>
                  <a:cs typeface="+mn-cs"/>
                </a:rPr>
                <a:t>örnekleme rastgeleliğine duyarlıdır.</a:t>
              </a:r>
            </a:p>
          </p:txBody>
        </p:sp>
        <p:sp>
          <p:nvSpPr>
            <p:cNvPr id="25" name="TextBox 25"/>
            <p:cNvSpPr txBox="1"/>
            <p:nvPr/>
          </p:nvSpPr>
          <p:spPr>
            <a:xfrm>
              <a:off x="8185404" y="3337560"/>
              <a:ext cx="299161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Kritik kararlarda kuralı orijinal model</a:t>
              </a:r>
              <a:br/>
              <a:r>
                <a:rPr lang="tr-TR" sz="1200" dirty="0">
                  <a:solidFill>
                    <a:srgbClr val="172B3A"/>
                  </a:solidFill>
                  <a:latin typeface="+mn-lt"/>
                  <a:ea typeface="+mn-ea"/>
                  <a:cs typeface="+mn-cs"/>
                </a:rPr>
                <a:t>çıktısıyla ve random_state sabitlenmiş</a:t>
              </a:r>
              <a:br/>
              <a:r>
                <a:rPr lang="tr-TR" sz="1200" dirty="0">
                  <a:solidFill>
                    <a:srgbClr val="172B3A"/>
                  </a:solidFill>
                  <a:latin typeface="+mn-lt"/>
                  <a:ea typeface="+mn-ea"/>
                  <a:cs typeface="+mn-cs"/>
                </a:rPr>
                <a:t>birden fazla LIME çalıştırmasıyla</a:t>
              </a:r>
              <a:br/>
              <a:r>
                <a:rPr lang="tr-TR" sz="1200" dirty="0">
                  <a:solidFill>
                    <a:srgbClr val="172B3A"/>
                  </a:solidFill>
                  <a:latin typeface="+mn-lt"/>
                  <a:ea typeface="+mn-ea"/>
                  <a:cs typeface="+mn-cs"/>
                </a:rPr>
                <a:t>doğrulayın.</a:t>
              </a:r>
            </a:p>
          </p:txBody>
        </p:sp>
        <p:sp>
          <p:nvSpPr>
            <p:cNvPr id="26" name="Line 26"/>
            <p:cNvSpPr/>
            <p:nvPr/>
          </p:nvSpPr>
          <p:spPr>
            <a:xfrm>
              <a:off x="609600" y="4600575"/>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31" name="fallacy-global-yeterli"/>
          <p:cNvGrpSpPr/>
          <p:nvPr/>
        </p:nvGrpSpPr>
        <p:grpSpPr>
          <a:xfrm>
            <a:off x="753999" y="4744879"/>
            <a:ext cx="10133457" cy="903827"/>
            <a:chOff x="753999" y="4744879"/>
            <a:chExt cx="10133457" cy="903827"/>
          </a:xfrm>
        </p:grpSpPr>
        <p:sp>
          <p:nvSpPr>
            <p:cNvPr id="28" name="TextBox 28"/>
            <p:cNvSpPr txBox="1"/>
            <p:nvPr/>
          </p:nvSpPr>
          <p:spPr>
            <a:xfrm>
              <a:off x="753999" y="4744879"/>
              <a:ext cx="2333625" cy="803338"/>
            </a:xfrm>
            <a:prstGeom prst="rect">
              <a:avLst/>
            </a:prstGeom>
            <a:noFill/>
            <a:ln>
              <a:noFill/>
            </a:ln>
          </p:spPr>
          <p:txBody>
            <a:bodyPr wrap="none" lIns="0" tIns="0" rIns="0" bIns="0" anchor="t" anchorCtr="0">
              <a:spAutoFit/>
            </a:bodyPr>
            <a:lstStyle/>
            <a:p>
              <a:pPr algn="l">
                <a:lnSpc>
                  <a:spcPts val="1950"/>
                </a:lnSpc>
              </a:pPr>
              <a:r>
                <a:rPr lang="tr-TR" sz="1580" b="1" dirty="0">
                  <a:solidFill>
                    <a:srgbClr val="12355B"/>
                  </a:solidFill>
                  <a:latin typeface="+mn-lt"/>
                  <a:ea typeface="+mn-ea"/>
                  <a:cs typeface="+mn-cs"/>
                </a:rPr>
                <a:t>"Global açıklama tek</a:t>
              </a:r>
              <a:br/>
              <a:r>
                <a:rPr lang="tr-TR" sz="1580" b="1" dirty="0">
                  <a:solidFill>
                    <a:srgbClr val="12355B"/>
                  </a:solidFill>
                  <a:latin typeface="+mn-lt"/>
                  <a:ea typeface="+mn-ea"/>
                  <a:cs typeface="+mn-cs"/>
                </a:rPr>
                <a:t>müşteri görüşmesi için</a:t>
              </a:r>
              <a:br/>
              <a:r>
                <a:rPr lang="tr-TR" sz="1580" b="1" dirty="0">
                  <a:solidFill>
                    <a:srgbClr val="12355B"/>
                  </a:solidFill>
                  <a:latin typeface="+mn-lt"/>
                  <a:ea typeface="+mn-ea"/>
                  <a:cs typeface="+mn-cs"/>
                </a:rPr>
                <a:t>yeterlidir."</a:t>
              </a:r>
            </a:p>
          </p:txBody>
        </p:sp>
        <p:sp>
          <p:nvSpPr>
            <p:cNvPr id="29" name="TextBox 29"/>
            <p:cNvSpPr txBox="1"/>
            <p:nvPr/>
          </p:nvSpPr>
          <p:spPr>
            <a:xfrm>
              <a:off x="4375404" y="4785360"/>
              <a:ext cx="299923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Global açıklama genel model davranışını</a:t>
              </a:r>
              <a:br/>
              <a:r>
                <a:rPr lang="tr-TR" sz="1200" dirty="0">
                  <a:solidFill>
                    <a:srgbClr val="172B3A"/>
                  </a:solidFill>
                  <a:latin typeface="+mn-lt"/>
                  <a:ea typeface="+mn-ea"/>
                  <a:cs typeface="+mn-cs"/>
                </a:rPr>
                <a:t>gösterir; genelde en etkili özellik olsa</a:t>
              </a:r>
              <a:br/>
              <a:r>
                <a:rPr lang="tr-TR" sz="1200" dirty="0">
                  <a:solidFill>
                    <a:srgbClr val="172B3A"/>
                  </a:solidFill>
                  <a:latin typeface="+mn-lt"/>
                  <a:ea typeface="+mn-ea"/>
                  <a:cs typeface="+mn-cs"/>
                </a:rPr>
                <a:t>bile belirli bir müşteride başka bir</a:t>
              </a:r>
              <a:br/>
              <a:r>
                <a:rPr lang="tr-TR" sz="1200" dirty="0">
                  <a:solidFill>
                    <a:srgbClr val="172B3A"/>
                  </a:solidFill>
                  <a:latin typeface="+mn-lt"/>
                  <a:ea typeface="+mn-ea"/>
                  <a:cs typeface="+mn-cs"/>
                </a:rPr>
                <a:t>özellik daha baskın çıkabilir.</a:t>
              </a:r>
            </a:p>
          </p:txBody>
        </p:sp>
        <p:sp>
          <p:nvSpPr>
            <p:cNvPr id="30" name="TextBox 30"/>
            <p:cNvSpPr txBox="1"/>
            <p:nvPr/>
          </p:nvSpPr>
          <p:spPr>
            <a:xfrm>
              <a:off x="8185404" y="4785360"/>
              <a:ext cx="270205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Bireysel karar öncesi her zaman o</a:t>
              </a:r>
              <a:br/>
              <a:r>
                <a:rPr lang="tr-TR" sz="1200" dirty="0">
                  <a:solidFill>
                    <a:srgbClr val="172B3A"/>
                  </a:solidFill>
                  <a:latin typeface="+mn-lt"/>
                  <a:ea typeface="+mn-ea"/>
                  <a:cs typeface="+mn-cs"/>
                </a:rPr>
                <a:t>müşterinin kendi yerel açıklamasına</a:t>
              </a:r>
              <a:br/>
              <a:r>
                <a:rPr lang="tr-TR" sz="1200" dirty="0">
                  <a:solidFill>
                    <a:srgbClr val="172B3A"/>
                  </a:solidFill>
                  <a:latin typeface="+mn-lt"/>
                  <a:ea typeface="+mn-ea"/>
                  <a:cs typeface="+mn-cs"/>
                </a:rPr>
                <a:t>(SHAP kuvvet grafiği / LIME kuralı)</a:t>
              </a:r>
              <a:br/>
              <a:r>
                <a:rPr lang="tr-TR" sz="1200" dirty="0">
                  <a:solidFill>
                    <a:srgbClr val="172B3A"/>
                  </a:solidFill>
                  <a:latin typeface="+mn-lt"/>
                  <a:ea typeface="+mn-ea"/>
                  <a:cs typeface="+mn-cs"/>
                </a:rPr>
                <a:t>bakılmalıdır.</a:t>
              </a:r>
            </a:p>
          </p:txBody>
        </p:sp>
      </p:grpSp>
      <p:sp>
        <p:nvSpPr>
          <p:cNvPr id="32" name="TextBox 32"/>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21 / 25</a:t>
            </a:r>
          </a:p>
        </p:txBody>
      </p:sp>
    </p:spTree>
  </p:cSld>
  <p:clrMapOvr>
    <a:masterClrMapping/>
  </p:clrMapOvr>
  <p:transition xmlns:p14="http://schemas.microsoft.com/office/powerpoint/2010/main" p14:dur="400">
    <p:fade/>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8648516" cy="668845"/>
            <a:chOff x="609600" y="171450"/>
            <a:chExt cx="8648516"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46456" y="319421"/>
                <a:ext cx="297777" cy="255830"/>
                <a:chOff x="746456" y="319421"/>
                <a:chExt cx="297777" cy="255830"/>
              </a:xfrm>
            </p:grpSpPr>
            <p:sp>
              <p:nvSpPr>
                <p:cNvPr id="5" name="Freeform 5"/>
                <p:cNvSpPr/>
                <p:nvPr/>
              </p:nvSpPr>
              <p:spPr>
                <a:xfrm>
                  <a:off x="895350" y="412909"/>
                  <a:ext cx="9525" cy="59055"/>
                </a:xfrm>
                <a:custGeom>
                  <a:avLst/>
                  <a:gdLst/>
                  <a:ahLst/>
                  <a:cxnLst/>
                  <a:rect l="l" t="t" r="r" b="b"/>
                  <a:pathLst>
                    <a:path w="9525" h="59055">
                      <a:moveTo>
                        <a:pt x="0" y="0"/>
                      </a:moveTo>
                      <a:lnTo>
                        <a:pt x="0" y="59055"/>
                      </a:lnTo>
                    </a:path>
                  </a:pathLst>
                </a:custGeom>
                <a:noFill/>
                <a:ln w="24759" cap="rnd">
                  <a:solidFill>
                    <a:srgbClr val="FFFFFF"/>
                  </a:solidFill>
                  <a:round/>
                </a:ln>
              </p:spPr>
            </p:sp>
            <p:sp>
              <p:nvSpPr>
                <p:cNvPr id="6" name="Freeform 6"/>
                <p:cNvSpPr/>
                <p:nvPr/>
              </p:nvSpPr>
              <p:spPr>
                <a:xfrm>
                  <a:off x="746456" y="319421"/>
                  <a:ext cx="297777" cy="255830"/>
                </a:xfrm>
                <a:custGeom>
                  <a:avLst/>
                  <a:gdLst/>
                  <a:ahLst/>
                  <a:cxnLst/>
                  <a:rect l="l" t="t" r="r" b="b"/>
                  <a:pathLst>
                    <a:path w="297777" h="255830">
                      <a:moveTo>
                        <a:pt x="124726" y="13630"/>
                      </a:moveTo>
                      <a:lnTo>
                        <a:pt x="5051" y="213443"/>
                      </a:lnTo>
                      <a:cubicBezTo>
                        <a:pt x="31" y="222137"/>
                        <a:pt x="0" y="232841"/>
                        <a:pt x="4970" y="241564"/>
                      </a:cubicBezTo>
                      <a:cubicBezTo>
                        <a:pt x="9941" y="250286"/>
                        <a:pt x="19166" y="255717"/>
                        <a:pt x="29204" y="255830"/>
                      </a:cubicBezTo>
                      <a:lnTo>
                        <a:pt x="268584" y="255830"/>
                      </a:lnTo>
                      <a:cubicBezTo>
                        <a:pt x="278618" y="255714"/>
                        <a:pt x="287838" y="250285"/>
                        <a:pt x="292807" y="241568"/>
                      </a:cubicBezTo>
                      <a:cubicBezTo>
                        <a:pt x="297777" y="232850"/>
                        <a:pt x="297750" y="222150"/>
                        <a:pt x="292737" y="213458"/>
                      </a:cubicBezTo>
                      <a:lnTo>
                        <a:pt x="173062" y="13615"/>
                      </a:lnTo>
                      <a:cubicBezTo>
                        <a:pt x="167941" y="5163"/>
                        <a:pt x="158777" y="0"/>
                        <a:pt x="148894" y="0"/>
                      </a:cubicBezTo>
                      <a:cubicBezTo>
                        <a:pt x="139011" y="0"/>
                        <a:pt x="129847" y="5163"/>
                        <a:pt x="124726" y="13615"/>
                      </a:cubicBezTo>
                    </a:path>
                  </a:pathLst>
                </a:custGeom>
                <a:noFill/>
                <a:ln w="24759" cap="rnd">
                  <a:solidFill>
                    <a:srgbClr val="FFFFFF"/>
                  </a:solidFill>
                  <a:round/>
                </a:ln>
              </p:spPr>
            </p:sp>
            <p:sp>
              <p:nvSpPr>
                <p:cNvPr id="7" name="Freeform 7"/>
                <p:cNvSpPr/>
                <p:nvPr/>
              </p:nvSpPr>
              <p:spPr>
                <a:xfrm>
                  <a:off x="895350" y="516255"/>
                  <a:ext cx="9525" cy="9525"/>
                </a:xfrm>
                <a:custGeom>
                  <a:avLst/>
                  <a:gdLst/>
                  <a:ahLst/>
                  <a:cxnLst/>
                  <a:rect l="l" t="t" r="r" b="b"/>
                  <a:pathLst>
                    <a:path w="9525" h="9525">
                      <a:moveTo>
                        <a:pt x="0" y="0"/>
                      </a:moveTo>
                      <a:lnTo>
                        <a:pt x="148" y="0"/>
                      </a:lnTo>
                    </a:path>
                  </a:pathLst>
                </a:custGeom>
                <a:noFill/>
                <a:ln w="24759" cap="rnd">
                  <a:solidFill>
                    <a:srgbClr val="FFFFFF"/>
                  </a:solidFill>
                  <a:round/>
                </a:ln>
              </p:spPr>
            </p:sp>
          </p:grpSp>
        </p:grpSp>
        <p:sp>
          <p:nvSpPr>
            <p:cNvPr id="10" name="TextBox 10"/>
            <p:cNvSpPr txBox="1"/>
            <p:nvPr/>
          </p:nvSpPr>
          <p:spPr>
            <a:xfrm>
              <a:off x="1299972" y="282892"/>
              <a:ext cx="7958144"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Gerçek dünya tuzakları ve hata yönetimi</a:t>
              </a:r>
            </a:p>
          </p:txBody>
        </p:sp>
      </p:grpSp>
      <p:grpSp>
        <p:nvGrpSpPr>
          <p:cNvPr id="15" name="diktat-note"/>
          <p:cNvGrpSpPr/>
          <p:nvPr/>
        </p:nvGrpSpPr>
        <p:grpSpPr>
          <a:xfrm>
            <a:off x="609600" y="1123950"/>
            <a:ext cx="10972800" cy="590550"/>
            <a:chOff x="609600" y="1123950"/>
            <a:chExt cx="10972800" cy="590550"/>
          </a:xfrm>
        </p:grpSpPr>
        <p:sp>
          <p:nvSpPr>
            <p:cNvPr id="12" name="Rectangle 12"/>
            <p:cNvSpPr/>
            <p:nvPr/>
          </p:nvSpPr>
          <p:spPr>
            <a:xfrm>
              <a:off x="609600" y="1123950"/>
              <a:ext cx="10972800" cy="590550"/>
            </a:xfrm>
            <a:prstGeom prst="roundRect">
              <a:avLst>
                <a:gd name="adj" fmla="val 12903"/>
              </a:avLst>
            </a:prstGeom>
            <a:solidFill>
              <a:srgbClr val="EAF4F6"/>
            </a:solidFill>
            <a:ln>
              <a:noFill/>
            </a:ln>
          </p:spPr>
        </p:sp>
        <p:sp>
          <p:nvSpPr>
            <p:cNvPr id="13" name="TextBox 13"/>
            <p:cNvSpPr txBox="1"/>
            <p:nvPr/>
          </p:nvSpPr>
          <p:spPr>
            <a:xfrm>
              <a:off x="908304" y="1242060"/>
              <a:ext cx="757005"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 Dikkat</a:t>
              </a:r>
            </a:p>
          </p:txBody>
        </p:sp>
        <p:sp>
          <p:nvSpPr>
            <p:cNvPr id="14" name="TextBox 14"/>
            <p:cNvSpPr txBox="1"/>
            <p:nvPr/>
          </p:nvSpPr>
          <p:spPr>
            <a:xfrm>
              <a:off x="908304" y="1451610"/>
              <a:ext cx="9685621"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Eğitim verisiyle açıklama üretmek modeli olduğundan güvenilir gösterebilir; açıklamalar ayrı test verisinde incelenmelidir.</a:t>
              </a:r>
            </a:p>
          </p:txBody>
        </p:sp>
      </p:grpSp>
      <p:grpSp>
        <p:nvGrpSpPr>
          <p:cNvPr id="21" name="pitfall-1"/>
          <p:cNvGrpSpPr/>
          <p:nvPr/>
        </p:nvGrpSpPr>
        <p:grpSpPr>
          <a:xfrm>
            <a:off x="609600" y="1847850"/>
            <a:ext cx="5334000" cy="1162050"/>
            <a:chOff x="609600" y="1847850"/>
            <a:chExt cx="5334000" cy="1162050"/>
          </a:xfrm>
        </p:grpSpPr>
        <p:sp>
          <p:nvSpPr>
            <p:cNvPr id="16" name="Rectangle 16"/>
            <p:cNvSpPr/>
            <p:nvPr/>
          </p:nvSpPr>
          <p:spPr>
            <a:xfrm>
              <a:off x="609600" y="1847850"/>
              <a:ext cx="5334000" cy="1162050"/>
            </a:xfrm>
            <a:prstGeom prst="roundRect">
              <a:avLst>
                <a:gd name="adj" fmla="val 6557"/>
              </a:avLst>
            </a:prstGeom>
            <a:solidFill>
              <a:srgbClr val="FFFFFF"/>
            </a:solidFill>
            <a:ln w="14288">
              <a:solidFill>
                <a:srgbClr val="B8CBD3"/>
              </a:solidFill>
            </a:ln>
          </p:spPr>
        </p:sp>
        <p:sp>
          <p:nvSpPr>
            <p:cNvPr id="17" name="TextBox 17"/>
            <p:cNvSpPr txBox="1"/>
            <p:nvPr/>
          </p:nvSpPr>
          <p:spPr>
            <a:xfrm>
              <a:off x="831723" y="1976914"/>
              <a:ext cx="2189958" cy="249364"/>
            </a:xfrm>
            <a:prstGeom prst="rect">
              <a:avLst/>
            </a:prstGeom>
            <a:noFill/>
            <a:ln>
              <a:noFill/>
            </a:ln>
          </p:spPr>
          <p:txBody>
            <a:bodyPr wrap="none" lIns="0" tIns="0" rIns="0" bIns="0" anchor="t" anchorCtr="0">
              <a:spAutoFit/>
            </a:bodyPr>
            <a:lstStyle/>
            <a:p>
              <a:pPr algn="l"/>
              <a:r>
                <a:rPr lang="tr-TR" sz="1280" b="1" dirty="0">
                  <a:solidFill>
                    <a:srgbClr val="12355B"/>
                  </a:solidFill>
                  <a:latin typeface="+mn-lt"/>
                  <a:ea typeface="+mn-ea"/>
                  <a:cs typeface="+mn-cs"/>
                </a:rPr>
                <a:t>1. Veri kalitesini gizleme</a:t>
              </a:r>
            </a:p>
          </p:txBody>
        </p:sp>
        <p:sp>
          <p:nvSpPr>
            <p:cNvPr id="18" name="TextBox 18"/>
            <p:cNvSpPr txBox="1"/>
            <p:nvPr/>
          </p:nvSpPr>
          <p:spPr>
            <a:xfrm>
              <a:off x="832485" y="2240756"/>
              <a:ext cx="3314571"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Sızıntı içeren bir özellik güçlü SHAP katkısı</a:t>
              </a:r>
            </a:p>
          </p:txBody>
        </p:sp>
        <p:sp>
          <p:nvSpPr>
            <p:cNvPr id="19" name="TextBox 19"/>
            <p:cNvSpPr txBox="1"/>
            <p:nvPr/>
          </p:nvSpPr>
          <p:spPr>
            <a:xfrm>
              <a:off x="832485" y="2431256"/>
              <a:ext cx="3049534"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üretebilir; açıklama hatayı gösterir ama</a:t>
              </a:r>
            </a:p>
          </p:txBody>
        </p:sp>
        <p:sp>
          <p:nvSpPr>
            <p:cNvPr id="20" name="TextBox 20"/>
            <p:cNvSpPr txBox="1"/>
            <p:nvPr/>
          </p:nvSpPr>
          <p:spPr>
            <a:xfrm>
              <a:off x="832485" y="2621756"/>
              <a:ext cx="3057073"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düzeltmez — hesaplanışı kontrol edilmeli.</a:t>
              </a:r>
            </a:p>
          </p:txBody>
        </p:sp>
      </p:grpSp>
      <p:grpSp>
        <p:nvGrpSpPr>
          <p:cNvPr id="27" name="pitfall-2"/>
          <p:cNvGrpSpPr/>
          <p:nvPr/>
        </p:nvGrpSpPr>
        <p:grpSpPr>
          <a:xfrm>
            <a:off x="6248400" y="1847850"/>
            <a:ext cx="5334000" cy="1162050"/>
            <a:chOff x="6248400" y="1847850"/>
            <a:chExt cx="5334000" cy="1162050"/>
          </a:xfrm>
        </p:grpSpPr>
        <p:sp>
          <p:nvSpPr>
            <p:cNvPr id="22" name="Rectangle 22"/>
            <p:cNvSpPr/>
            <p:nvPr/>
          </p:nvSpPr>
          <p:spPr>
            <a:xfrm>
              <a:off x="6248400" y="1847850"/>
              <a:ext cx="5334000" cy="1162050"/>
            </a:xfrm>
            <a:prstGeom prst="roundRect">
              <a:avLst>
                <a:gd name="adj" fmla="val 6557"/>
              </a:avLst>
            </a:prstGeom>
            <a:solidFill>
              <a:srgbClr val="FFFFFF"/>
            </a:solidFill>
            <a:ln w="14288">
              <a:solidFill>
                <a:srgbClr val="B8CBD3"/>
              </a:solidFill>
            </a:ln>
          </p:spPr>
        </p:sp>
        <p:sp>
          <p:nvSpPr>
            <p:cNvPr id="23" name="TextBox 23"/>
            <p:cNvSpPr txBox="1"/>
            <p:nvPr/>
          </p:nvSpPr>
          <p:spPr>
            <a:xfrm>
              <a:off x="6470523" y="1976914"/>
              <a:ext cx="1909960" cy="249364"/>
            </a:xfrm>
            <a:prstGeom prst="rect">
              <a:avLst/>
            </a:prstGeom>
            <a:noFill/>
            <a:ln>
              <a:noFill/>
            </a:ln>
          </p:spPr>
          <p:txBody>
            <a:bodyPr wrap="none" lIns="0" tIns="0" rIns="0" bIns="0" anchor="t" anchorCtr="0">
              <a:spAutoFit/>
            </a:bodyPr>
            <a:lstStyle/>
            <a:p>
              <a:pPr algn="l"/>
              <a:r>
                <a:rPr lang="tr-TR" sz="1280" b="1" dirty="0">
                  <a:solidFill>
                    <a:srgbClr val="12355B"/>
                  </a:solidFill>
                  <a:latin typeface="+mn-lt"/>
                  <a:ea typeface="+mn-ea"/>
                  <a:cs typeface="+mn-cs"/>
                </a:rPr>
                <a:t>2. Hesaplama maliyeti</a:t>
              </a:r>
            </a:p>
          </p:txBody>
        </p:sp>
        <p:sp>
          <p:nvSpPr>
            <p:cNvPr id="24" name="TextBox 24"/>
            <p:cNvSpPr txBox="1"/>
            <p:nvPr/>
          </p:nvSpPr>
          <p:spPr>
            <a:xfrm>
              <a:off x="6471285" y="2240756"/>
              <a:ext cx="2654800"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Büyük veride her tahmin için yeniden</a:t>
              </a:r>
            </a:p>
          </p:txBody>
        </p:sp>
        <p:sp>
          <p:nvSpPr>
            <p:cNvPr id="25" name="TextBox 25"/>
            <p:cNvSpPr txBox="1"/>
            <p:nvPr/>
          </p:nvSpPr>
          <p:spPr>
            <a:xfrm>
              <a:off x="6471285" y="2431256"/>
              <a:ext cx="3317896"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hesaplama gecikmeyi artırır; SHAP değerleri</a:t>
              </a:r>
            </a:p>
          </p:txBody>
        </p:sp>
        <p:sp>
          <p:nvSpPr>
            <p:cNvPr id="26" name="TextBox 26"/>
            <p:cNvSpPr txBox="1"/>
            <p:nvPr/>
          </p:nvSpPr>
          <p:spPr>
            <a:xfrm>
              <a:off x="6471285" y="2621756"/>
              <a:ext cx="2099655"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toplu önbelleğe alınmalıdır.</a:t>
              </a:r>
            </a:p>
          </p:txBody>
        </p:sp>
      </p:grpSp>
      <p:grpSp>
        <p:nvGrpSpPr>
          <p:cNvPr id="33" name="pitfall-3"/>
          <p:cNvGrpSpPr/>
          <p:nvPr/>
        </p:nvGrpSpPr>
        <p:grpSpPr>
          <a:xfrm>
            <a:off x="609600" y="3105150"/>
            <a:ext cx="5334000" cy="1162050"/>
            <a:chOff x="609600" y="3105150"/>
            <a:chExt cx="5334000" cy="1162050"/>
          </a:xfrm>
        </p:grpSpPr>
        <p:sp>
          <p:nvSpPr>
            <p:cNvPr id="28" name="Rectangle 28"/>
            <p:cNvSpPr/>
            <p:nvPr/>
          </p:nvSpPr>
          <p:spPr>
            <a:xfrm>
              <a:off x="609600" y="3105150"/>
              <a:ext cx="5334000" cy="1162050"/>
            </a:xfrm>
            <a:prstGeom prst="roundRect">
              <a:avLst>
                <a:gd name="adj" fmla="val 6557"/>
              </a:avLst>
            </a:prstGeom>
            <a:solidFill>
              <a:srgbClr val="FFFFFF"/>
            </a:solidFill>
            <a:ln w="14288">
              <a:solidFill>
                <a:srgbClr val="B8CBD3"/>
              </a:solidFill>
            </a:ln>
          </p:spPr>
        </p:sp>
        <p:sp>
          <p:nvSpPr>
            <p:cNvPr id="29" name="TextBox 29"/>
            <p:cNvSpPr txBox="1"/>
            <p:nvPr/>
          </p:nvSpPr>
          <p:spPr>
            <a:xfrm>
              <a:off x="831723" y="3234214"/>
              <a:ext cx="2217466" cy="249364"/>
            </a:xfrm>
            <a:prstGeom prst="rect">
              <a:avLst/>
            </a:prstGeom>
            <a:noFill/>
            <a:ln>
              <a:noFill/>
            </a:ln>
          </p:spPr>
          <p:txBody>
            <a:bodyPr wrap="none" lIns="0" tIns="0" rIns="0" bIns="0" anchor="t" anchorCtr="0">
              <a:spAutoFit/>
            </a:bodyPr>
            <a:lstStyle/>
            <a:p>
              <a:pPr algn="l"/>
              <a:r>
                <a:rPr lang="tr-TR" sz="1280" b="1" dirty="0">
                  <a:solidFill>
                    <a:srgbClr val="12355B"/>
                  </a:solidFill>
                  <a:latin typeface="+mn-lt"/>
                  <a:ea typeface="+mn-ea"/>
                  <a:cs typeface="+mn-cs"/>
                </a:rPr>
                <a:t>3. Örnekleme duyarlılığı</a:t>
              </a:r>
            </a:p>
          </p:txBody>
        </p:sp>
        <p:sp>
          <p:nvSpPr>
            <p:cNvPr id="30" name="TextBox 30"/>
            <p:cNvSpPr txBox="1"/>
            <p:nvPr/>
          </p:nvSpPr>
          <p:spPr>
            <a:xfrm>
              <a:off x="832485" y="3498056"/>
              <a:ext cx="2881229"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random_state sabitlenmezse LIME aynı</a:t>
              </a:r>
            </a:p>
          </p:txBody>
        </p:sp>
        <p:sp>
          <p:nvSpPr>
            <p:cNvPr id="31" name="TextBox 31"/>
            <p:cNvSpPr txBox="1"/>
            <p:nvPr/>
          </p:nvSpPr>
          <p:spPr>
            <a:xfrm>
              <a:off x="832485" y="3688556"/>
              <a:ext cx="2868605"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müşteri için farklı kurallar üretebilir;</a:t>
              </a:r>
            </a:p>
          </p:txBody>
        </p:sp>
        <p:sp>
          <p:nvSpPr>
            <p:cNvPr id="32" name="TextBox 32"/>
            <p:cNvSpPr txBox="1"/>
            <p:nvPr/>
          </p:nvSpPr>
          <p:spPr>
            <a:xfrm>
              <a:off x="832485" y="3879056"/>
              <a:ext cx="2438898"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kararlılık ayrıca incelenmelidir.</a:t>
              </a:r>
            </a:p>
          </p:txBody>
        </p:sp>
      </p:grpSp>
      <p:grpSp>
        <p:nvGrpSpPr>
          <p:cNvPr id="39" name="pitfall-4"/>
          <p:cNvGrpSpPr/>
          <p:nvPr/>
        </p:nvGrpSpPr>
        <p:grpSpPr>
          <a:xfrm>
            <a:off x="6248400" y="3105150"/>
            <a:ext cx="5334000" cy="1162050"/>
            <a:chOff x="6248400" y="3105150"/>
            <a:chExt cx="5334000" cy="1162050"/>
          </a:xfrm>
        </p:grpSpPr>
        <p:sp>
          <p:nvSpPr>
            <p:cNvPr id="34" name="Rectangle 34"/>
            <p:cNvSpPr/>
            <p:nvPr/>
          </p:nvSpPr>
          <p:spPr>
            <a:xfrm>
              <a:off x="6248400" y="3105150"/>
              <a:ext cx="5334000" cy="1162050"/>
            </a:xfrm>
            <a:prstGeom prst="roundRect">
              <a:avLst>
                <a:gd name="adj" fmla="val 6557"/>
              </a:avLst>
            </a:prstGeom>
            <a:solidFill>
              <a:srgbClr val="FFFFFF"/>
            </a:solidFill>
            <a:ln w="14288">
              <a:solidFill>
                <a:srgbClr val="B8CBD3"/>
              </a:solidFill>
            </a:ln>
          </p:spPr>
        </p:sp>
        <p:sp>
          <p:nvSpPr>
            <p:cNvPr id="35" name="TextBox 35"/>
            <p:cNvSpPr txBox="1"/>
            <p:nvPr/>
          </p:nvSpPr>
          <p:spPr>
            <a:xfrm>
              <a:off x="6470523" y="3234214"/>
              <a:ext cx="2977349" cy="249364"/>
            </a:xfrm>
            <a:prstGeom prst="rect">
              <a:avLst/>
            </a:prstGeom>
            <a:noFill/>
            <a:ln>
              <a:noFill/>
            </a:ln>
          </p:spPr>
          <p:txBody>
            <a:bodyPr wrap="none" lIns="0" tIns="0" rIns="0" bIns="0" anchor="t" anchorCtr="0">
              <a:spAutoFit/>
            </a:bodyPr>
            <a:lstStyle/>
            <a:p>
              <a:pPr algn="l"/>
              <a:r>
                <a:rPr lang="tr-TR" sz="1280" b="1" dirty="0">
                  <a:solidFill>
                    <a:srgbClr val="12355B"/>
                  </a:solidFill>
                  <a:latin typeface="+mn-lt"/>
                  <a:ea typeface="+mn-ea"/>
                  <a:cs typeface="+mn-cs"/>
                </a:rPr>
                <a:t>4. Global sonucu yerele uygulamak</a:t>
              </a:r>
            </a:p>
          </p:txBody>
        </p:sp>
        <p:sp>
          <p:nvSpPr>
            <p:cNvPr id="36" name="TextBox 36"/>
            <p:cNvSpPr txBox="1"/>
            <p:nvPr/>
          </p:nvSpPr>
          <p:spPr>
            <a:xfrm>
              <a:off x="6471285" y="3498056"/>
              <a:ext cx="2405568"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En etkili global özellik, belirli bir</a:t>
              </a:r>
            </a:p>
          </p:txBody>
        </p:sp>
        <p:sp>
          <p:nvSpPr>
            <p:cNvPr id="37" name="TextBox 37"/>
            <p:cNvSpPr txBox="1"/>
            <p:nvPr/>
          </p:nvSpPr>
          <p:spPr>
            <a:xfrm>
              <a:off x="6471285" y="3688556"/>
              <a:ext cx="2981686"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müşteride başka bir özellik kadar baskın</a:t>
              </a:r>
            </a:p>
          </p:txBody>
        </p:sp>
        <p:sp>
          <p:nvSpPr>
            <p:cNvPr id="38" name="TextBox 38"/>
            <p:cNvSpPr txBox="1"/>
            <p:nvPr/>
          </p:nvSpPr>
          <p:spPr>
            <a:xfrm>
              <a:off x="6471285" y="3879056"/>
              <a:ext cx="885922"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olmayabilir.</a:t>
              </a:r>
            </a:p>
          </p:txBody>
        </p:sp>
      </p:grpSp>
      <p:grpSp>
        <p:nvGrpSpPr>
          <p:cNvPr id="45" name="pitfall-5"/>
          <p:cNvGrpSpPr/>
          <p:nvPr/>
        </p:nvGrpSpPr>
        <p:grpSpPr>
          <a:xfrm>
            <a:off x="609600" y="4362450"/>
            <a:ext cx="5334000" cy="1162050"/>
            <a:chOff x="609600" y="4362450"/>
            <a:chExt cx="5334000" cy="1162050"/>
          </a:xfrm>
        </p:grpSpPr>
        <p:sp>
          <p:nvSpPr>
            <p:cNvPr id="40" name="Rectangle 40"/>
            <p:cNvSpPr/>
            <p:nvPr/>
          </p:nvSpPr>
          <p:spPr>
            <a:xfrm>
              <a:off x="609600" y="4362450"/>
              <a:ext cx="5334000" cy="1162050"/>
            </a:xfrm>
            <a:prstGeom prst="roundRect">
              <a:avLst>
                <a:gd name="adj" fmla="val 6557"/>
              </a:avLst>
            </a:prstGeom>
            <a:solidFill>
              <a:srgbClr val="FFFFFF"/>
            </a:solidFill>
            <a:ln w="14288">
              <a:solidFill>
                <a:srgbClr val="B8CBD3"/>
              </a:solidFill>
            </a:ln>
          </p:spPr>
        </p:sp>
        <p:sp>
          <p:nvSpPr>
            <p:cNvPr id="41" name="TextBox 41"/>
            <p:cNvSpPr txBox="1"/>
            <p:nvPr/>
          </p:nvSpPr>
          <p:spPr>
            <a:xfrm>
              <a:off x="831723" y="4491514"/>
              <a:ext cx="2561551" cy="249364"/>
            </a:xfrm>
            <a:prstGeom prst="rect">
              <a:avLst/>
            </a:prstGeom>
            <a:noFill/>
            <a:ln>
              <a:noFill/>
            </a:ln>
          </p:spPr>
          <p:txBody>
            <a:bodyPr wrap="none" lIns="0" tIns="0" rIns="0" bIns="0" anchor="t" anchorCtr="0">
              <a:spAutoFit/>
            </a:bodyPr>
            <a:lstStyle/>
            <a:p>
              <a:pPr algn="l"/>
              <a:r>
                <a:rPr lang="tr-TR" sz="1280" b="1" dirty="0">
                  <a:solidFill>
                    <a:srgbClr val="12355B"/>
                  </a:solidFill>
                  <a:latin typeface="+mn-lt"/>
                  <a:ea typeface="+mn-ea"/>
                  <a:cs typeface="+mn-cs"/>
                </a:rPr>
                <a:t>5. Kütüphane sürüm farkları</a:t>
              </a:r>
            </a:p>
          </p:txBody>
        </p:sp>
        <p:sp>
          <p:nvSpPr>
            <p:cNvPr id="42" name="TextBox 42"/>
            <p:cNvSpPr txBox="1"/>
            <p:nvPr/>
          </p:nvSpPr>
          <p:spPr>
            <a:xfrm>
              <a:off x="832485" y="4755356"/>
              <a:ext cx="3120554"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SHAP/LIME'ın çıktı biçimi sürümler arası</a:t>
              </a:r>
            </a:p>
          </p:txBody>
        </p:sp>
        <p:sp>
          <p:nvSpPr>
            <p:cNvPr id="43" name="TextBox 43"/>
            <p:cNvSpPr txBox="1"/>
            <p:nvPr/>
          </p:nvSpPr>
          <p:spPr>
            <a:xfrm>
              <a:off x="832485" y="4945856"/>
              <a:ext cx="3049534"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değişebilir; sürüm sabitlenmeli, açıklama</a:t>
              </a:r>
            </a:p>
          </p:txBody>
        </p:sp>
        <p:sp>
          <p:nvSpPr>
            <p:cNvPr id="44" name="TextBox 44"/>
            <p:cNvSpPr txBox="1"/>
            <p:nvPr/>
          </p:nvSpPr>
          <p:spPr>
            <a:xfrm>
              <a:off x="832485" y="5136356"/>
              <a:ext cx="3215386"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testleri yükseltmeden önce çalıştırılmalı.</a:t>
              </a:r>
            </a:p>
          </p:txBody>
        </p:sp>
      </p:grpSp>
      <p:grpSp>
        <p:nvGrpSpPr>
          <p:cNvPr id="51" name="pitfall-6"/>
          <p:cNvGrpSpPr/>
          <p:nvPr/>
        </p:nvGrpSpPr>
        <p:grpSpPr>
          <a:xfrm>
            <a:off x="6248400" y="4362450"/>
            <a:ext cx="5334000" cy="1162050"/>
            <a:chOff x="6248400" y="4362450"/>
            <a:chExt cx="5334000" cy="1162050"/>
          </a:xfrm>
        </p:grpSpPr>
        <p:sp>
          <p:nvSpPr>
            <p:cNvPr id="46" name="Rectangle 46"/>
            <p:cNvSpPr/>
            <p:nvPr/>
          </p:nvSpPr>
          <p:spPr>
            <a:xfrm>
              <a:off x="6248400" y="4362450"/>
              <a:ext cx="5334000" cy="1162050"/>
            </a:xfrm>
            <a:prstGeom prst="roundRect">
              <a:avLst>
                <a:gd name="adj" fmla="val 6557"/>
              </a:avLst>
            </a:prstGeom>
            <a:solidFill>
              <a:srgbClr val="FFFFFF"/>
            </a:solidFill>
            <a:ln w="14288">
              <a:solidFill>
                <a:srgbClr val="B8CBD3"/>
              </a:solidFill>
            </a:ln>
          </p:spPr>
        </p:sp>
        <p:sp>
          <p:nvSpPr>
            <p:cNvPr id="47" name="TextBox 47"/>
            <p:cNvSpPr txBox="1"/>
            <p:nvPr/>
          </p:nvSpPr>
          <p:spPr>
            <a:xfrm>
              <a:off x="6470523" y="4491514"/>
              <a:ext cx="1802313" cy="249364"/>
            </a:xfrm>
            <a:prstGeom prst="rect">
              <a:avLst/>
            </a:prstGeom>
            <a:noFill/>
            <a:ln>
              <a:noFill/>
            </a:ln>
          </p:spPr>
          <p:txBody>
            <a:bodyPr wrap="none" lIns="0" tIns="0" rIns="0" bIns="0" anchor="t" anchorCtr="0">
              <a:spAutoFit/>
            </a:bodyPr>
            <a:lstStyle/>
            <a:p>
              <a:pPr algn="l"/>
              <a:r>
                <a:rPr lang="tr-TR" sz="1280" b="1" dirty="0">
                  <a:solidFill>
                    <a:srgbClr val="12355B"/>
                  </a:solidFill>
                  <a:latin typeface="+mn-lt"/>
                  <a:ea typeface="+mn-ea"/>
                  <a:cs typeface="+mn-cs"/>
                </a:rPr>
                <a:t>6. Ham teknik sunum</a:t>
              </a:r>
            </a:p>
          </p:txBody>
        </p:sp>
        <p:sp>
          <p:nvSpPr>
            <p:cNvPr id="48" name="TextBox 48"/>
            <p:cNvSpPr txBox="1"/>
            <p:nvPr/>
          </p:nvSpPr>
          <p:spPr>
            <a:xfrm>
              <a:off x="6471285" y="4755356"/>
              <a:ext cx="2877243"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SHAP tablosu/LIME kuralı incelenmeden</a:t>
              </a:r>
            </a:p>
          </p:txBody>
        </p:sp>
        <p:sp>
          <p:nvSpPr>
            <p:cNvPr id="49" name="TextBox 49"/>
            <p:cNvSpPr txBox="1"/>
            <p:nvPr/>
          </p:nvSpPr>
          <p:spPr>
            <a:xfrm>
              <a:off x="6471285" y="4945856"/>
              <a:ext cx="3162615"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doğrudan müşteriyle paylaşılmamalı; basit</a:t>
              </a:r>
            </a:p>
          </p:txBody>
        </p:sp>
        <p:sp>
          <p:nvSpPr>
            <p:cNvPr id="50" name="TextBox 50"/>
            <p:cNvSpPr txBox="1"/>
            <p:nvPr/>
          </p:nvSpPr>
          <p:spPr>
            <a:xfrm>
              <a:off x="6471285" y="5136356"/>
              <a:ext cx="3155076"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bir çubuk grafik çoğu zaman daha etkilidir.</a:t>
              </a:r>
            </a:p>
          </p:txBody>
        </p:sp>
      </p:grpSp>
      <p:grpSp>
        <p:nvGrpSpPr>
          <p:cNvPr id="53" name="debug-note"/>
          <p:cNvGrpSpPr/>
          <p:nvPr/>
        </p:nvGrpSpPr>
        <p:grpSpPr>
          <a:xfrm>
            <a:off x="603504" y="5737860"/>
            <a:ext cx="10089942" cy="234696"/>
            <a:chOff x="603504" y="5737860"/>
            <a:chExt cx="10089942" cy="234696"/>
          </a:xfrm>
        </p:grpSpPr>
        <p:sp>
          <p:nvSpPr>
            <p:cNvPr id="52" name="TextBox 52"/>
            <p:cNvSpPr txBox="1"/>
            <p:nvPr/>
          </p:nvSpPr>
          <p:spPr>
            <a:xfrm>
              <a:off x="603504" y="5737860"/>
              <a:ext cx="10089942"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Hata ayıklama alıştırması: örneklenmemiş sınıf, tek boyutlu müşteri verisi ve tanımsız değişken gibi 5 hata bulup düzeltmek.</a:t>
              </a:r>
            </a:p>
          </p:txBody>
        </p:sp>
      </p:grpSp>
      <p:sp>
        <p:nvSpPr>
          <p:cNvPr id="54" name="TextBox 54"/>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22 / 25</a:t>
            </a:r>
          </a:p>
        </p:txBody>
      </p:sp>
    </p:spTree>
  </p:cSld>
  <p:clrMapOvr>
    <a:masterClrMapping/>
  </p:clrMapOvr>
  <p:transition xmlns:p14="http://schemas.microsoft.com/office/powerpoint/2010/main" p14:dur="400">
    <p:fade/>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2" name="page-title"/>
          <p:cNvGrpSpPr/>
          <p:nvPr/>
        </p:nvGrpSpPr>
        <p:grpSpPr>
          <a:xfrm>
            <a:off x="609600" y="171450"/>
            <a:ext cx="9051641" cy="668845"/>
            <a:chOff x="609600" y="171450"/>
            <a:chExt cx="9051641" cy="668845"/>
          </a:xfrm>
        </p:grpSpPr>
        <p:grpSp>
          <p:nvGrpSpPr>
            <p:cNvPr id="10"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9" name="Group 9"/>
              <p:cNvGrpSpPr/>
              <p:nvPr/>
            </p:nvGrpSpPr>
            <p:grpSpPr>
              <a:xfrm>
                <a:off x="777240" y="339090"/>
                <a:ext cx="236220" cy="236220"/>
                <a:chOff x="777240" y="339090"/>
                <a:chExt cx="236220" cy="236220"/>
              </a:xfrm>
            </p:grpSpPr>
            <p:sp>
              <p:nvSpPr>
                <p:cNvPr id="5" name="Freeform 5"/>
                <p:cNvSpPr/>
                <p:nvPr/>
              </p:nvSpPr>
              <p:spPr>
                <a:xfrm>
                  <a:off x="777240" y="339090"/>
                  <a:ext cx="88582" cy="118110"/>
                </a:xfrm>
                <a:custGeom>
                  <a:avLst/>
                  <a:gdLst/>
                  <a:ahLst/>
                  <a:cxnLst/>
                  <a:rect l="l" t="t" r="r" b="b"/>
                  <a:pathLst>
                    <a:path w="88582" h="118110">
                      <a:moveTo>
                        <a:pt x="14764" y="0"/>
                      </a:moveTo>
                      <a:lnTo>
                        <a:pt x="73819" y="0"/>
                      </a:lnTo>
                      <a:cubicBezTo>
                        <a:pt x="81973" y="0"/>
                        <a:pt x="88582" y="6610"/>
                        <a:pt x="88582" y="14764"/>
                      </a:cubicBezTo>
                      <a:lnTo>
                        <a:pt x="88582" y="103346"/>
                      </a:lnTo>
                      <a:cubicBezTo>
                        <a:pt x="88582" y="111500"/>
                        <a:pt x="81973" y="118110"/>
                        <a:pt x="73819" y="118110"/>
                      </a:cubicBezTo>
                      <a:lnTo>
                        <a:pt x="14764" y="118110"/>
                      </a:lnTo>
                      <a:cubicBezTo>
                        <a:pt x="6610" y="118110"/>
                        <a:pt x="0" y="111500"/>
                        <a:pt x="0" y="103346"/>
                      </a:cubicBezTo>
                      <a:lnTo>
                        <a:pt x="0" y="14764"/>
                      </a:lnTo>
                      <a:cubicBezTo>
                        <a:pt x="0" y="6610"/>
                        <a:pt x="6610" y="0"/>
                        <a:pt x="14764" y="0"/>
                      </a:cubicBezTo>
                    </a:path>
                  </a:pathLst>
                </a:custGeom>
                <a:noFill/>
                <a:ln w="24759" cap="rnd">
                  <a:solidFill>
                    <a:srgbClr val="FFFFFF"/>
                  </a:solidFill>
                  <a:round/>
                </a:ln>
              </p:spPr>
            </p:sp>
            <p:sp>
              <p:nvSpPr>
                <p:cNvPr id="6" name="Freeform 6"/>
                <p:cNvSpPr/>
                <p:nvPr/>
              </p:nvSpPr>
              <p:spPr>
                <a:xfrm>
                  <a:off x="777240" y="516255"/>
                  <a:ext cx="88582" cy="59055"/>
                </a:xfrm>
                <a:custGeom>
                  <a:avLst/>
                  <a:gdLst/>
                  <a:ahLst/>
                  <a:cxnLst/>
                  <a:rect l="l" t="t" r="r" b="b"/>
                  <a:pathLst>
                    <a:path w="88582" h="59055">
                      <a:moveTo>
                        <a:pt x="14764" y="0"/>
                      </a:moveTo>
                      <a:lnTo>
                        <a:pt x="73819" y="0"/>
                      </a:lnTo>
                      <a:cubicBezTo>
                        <a:pt x="81973" y="0"/>
                        <a:pt x="88582" y="6610"/>
                        <a:pt x="88582" y="14764"/>
                      </a:cubicBezTo>
                      <a:lnTo>
                        <a:pt x="88582" y="44291"/>
                      </a:lnTo>
                      <a:cubicBezTo>
                        <a:pt x="88582" y="52445"/>
                        <a:pt x="81973" y="59055"/>
                        <a:pt x="73819" y="59055"/>
                      </a:cubicBezTo>
                      <a:lnTo>
                        <a:pt x="14764" y="59055"/>
                      </a:lnTo>
                      <a:cubicBezTo>
                        <a:pt x="6610" y="59055"/>
                        <a:pt x="0" y="52445"/>
                        <a:pt x="0" y="44291"/>
                      </a:cubicBezTo>
                      <a:lnTo>
                        <a:pt x="0" y="14764"/>
                      </a:lnTo>
                      <a:cubicBezTo>
                        <a:pt x="0" y="6610"/>
                        <a:pt x="6610" y="0"/>
                        <a:pt x="14764" y="0"/>
                      </a:cubicBezTo>
                    </a:path>
                  </a:pathLst>
                </a:custGeom>
                <a:noFill/>
                <a:ln w="24759" cap="rnd">
                  <a:solidFill>
                    <a:srgbClr val="FFFFFF"/>
                  </a:solidFill>
                  <a:round/>
                </a:ln>
              </p:spPr>
            </p:sp>
            <p:sp>
              <p:nvSpPr>
                <p:cNvPr id="7" name="Freeform 7"/>
                <p:cNvSpPr/>
                <p:nvPr/>
              </p:nvSpPr>
              <p:spPr>
                <a:xfrm>
                  <a:off x="924878" y="457200"/>
                  <a:ext cx="88582" cy="118110"/>
                </a:xfrm>
                <a:custGeom>
                  <a:avLst/>
                  <a:gdLst/>
                  <a:ahLst/>
                  <a:cxnLst/>
                  <a:rect l="l" t="t" r="r" b="b"/>
                  <a:pathLst>
                    <a:path w="88582" h="118110">
                      <a:moveTo>
                        <a:pt x="14764" y="0"/>
                      </a:moveTo>
                      <a:lnTo>
                        <a:pt x="73819" y="0"/>
                      </a:lnTo>
                      <a:cubicBezTo>
                        <a:pt x="81973" y="0"/>
                        <a:pt x="88582" y="6610"/>
                        <a:pt x="88582" y="14764"/>
                      </a:cubicBezTo>
                      <a:lnTo>
                        <a:pt x="88582" y="103346"/>
                      </a:lnTo>
                      <a:cubicBezTo>
                        <a:pt x="88582" y="111500"/>
                        <a:pt x="81973" y="118110"/>
                        <a:pt x="73819" y="118110"/>
                      </a:cubicBezTo>
                      <a:lnTo>
                        <a:pt x="14764" y="118110"/>
                      </a:lnTo>
                      <a:cubicBezTo>
                        <a:pt x="6610" y="118110"/>
                        <a:pt x="0" y="111500"/>
                        <a:pt x="0" y="103346"/>
                      </a:cubicBezTo>
                      <a:lnTo>
                        <a:pt x="0" y="14764"/>
                      </a:lnTo>
                      <a:cubicBezTo>
                        <a:pt x="0" y="6610"/>
                        <a:pt x="6610" y="0"/>
                        <a:pt x="14764" y="0"/>
                      </a:cubicBezTo>
                    </a:path>
                  </a:pathLst>
                </a:custGeom>
                <a:noFill/>
                <a:ln w="24759" cap="rnd">
                  <a:solidFill>
                    <a:srgbClr val="FFFFFF"/>
                  </a:solidFill>
                  <a:round/>
                </a:ln>
              </p:spPr>
            </p:sp>
            <p:sp>
              <p:nvSpPr>
                <p:cNvPr id="8" name="Freeform 8"/>
                <p:cNvSpPr/>
                <p:nvPr/>
              </p:nvSpPr>
              <p:spPr>
                <a:xfrm>
                  <a:off x="924878" y="339090"/>
                  <a:ext cx="88582" cy="59055"/>
                </a:xfrm>
                <a:custGeom>
                  <a:avLst/>
                  <a:gdLst/>
                  <a:ahLst/>
                  <a:cxnLst/>
                  <a:rect l="l" t="t" r="r" b="b"/>
                  <a:pathLst>
                    <a:path w="88582" h="59055">
                      <a:moveTo>
                        <a:pt x="14764" y="0"/>
                      </a:moveTo>
                      <a:lnTo>
                        <a:pt x="73819" y="0"/>
                      </a:lnTo>
                      <a:cubicBezTo>
                        <a:pt x="81973" y="0"/>
                        <a:pt x="88582" y="6610"/>
                        <a:pt x="88582" y="14764"/>
                      </a:cubicBezTo>
                      <a:lnTo>
                        <a:pt x="88582" y="44291"/>
                      </a:lnTo>
                      <a:cubicBezTo>
                        <a:pt x="88582" y="52445"/>
                        <a:pt x="81973" y="59055"/>
                        <a:pt x="73819" y="59055"/>
                      </a:cubicBezTo>
                      <a:lnTo>
                        <a:pt x="14764" y="59055"/>
                      </a:lnTo>
                      <a:cubicBezTo>
                        <a:pt x="6610" y="59055"/>
                        <a:pt x="0" y="52445"/>
                        <a:pt x="0" y="44291"/>
                      </a:cubicBezTo>
                      <a:lnTo>
                        <a:pt x="0" y="14764"/>
                      </a:lnTo>
                      <a:cubicBezTo>
                        <a:pt x="0" y="6610"/>
                        <a:pt x="6610" y="0"/>
                        <a:pt x="14764" y="0"/>
                      </a:cubicBezTo>
                    </a:path>
                  </a:pathLst>
                </a:custGeom>
                <a:noFill/>
                <a:ln w="24759" cap="rnd">
                  <a:solidFill>
                    <a:srgbClr val="FFFFFF"/>
                  </a:solidFill>
                  <a:round/>
                </a:ln>
              </p:spPr>
            </p:sp>
          </p:grpSp>
        </p:grpSp>
        <p:sp>
          <p:nvSpPr>
            <p:cNvPr id="11" name="TextBox 11"/>
            <p:cNvSpPr txBox="1"/>
            <p:nvPr/>
          </p:nvSpPr>
          <p:spPr>
            <a:xfrm>
              <a:off x="1299972" y="282892"/>
              <a:ext cx="8361269"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Kuramsal çerçeve: varsayım ve sınırlılık</a:t>
              </a:r>
            </a:p>
          </p:txBody>
        </p:sp>
      </p:grpSp>
      <p:grpSp>
        <p:nvGrpSpPr>
          <p:cNvPr id="21" name="formula-strip"/>
          <p:cNvGrpSpPr/>
          <p:nvPr/>
        </p:nvGrpSpPr>
        <p:grpSpPr>
          <a:xfrm>
            <a:off x="609600" y="1123950"/>
            <a:ext cx="10972800" cy="819150"/>
            <a:chOff x="609600" y="1123950"/>
            <a:chExt cx="10972800" cy="819150"/>
          </a:xfrm>
        </p:grpSpPr>
        <p:sp>
          <p:nvSpPr>
            <p:cNvPr id="13" name="Rectangle 13"/>
            <p:cNvSpPr/>
            <p:nvPr/>
          </p:nvSpPr>
          <p:spPr>
            <a:xfrm>
              <a:off x="609600" y="1123950"/>
              <a:ext cx="5334000" cy="819150"/>
            </a:xfrm>
            <a:prstGeom prst="roundRect">
              <a:avLst>
                <a:gd name="adj" fmla="val 9302"/>
              </a:avLst>
            </a:prstGeom>
            <a:solidFill>
              <a:srgbClr val="12355B"/>
            </a:solidFill>
            <a:ln>
              <a:noFill/>
            </a:ln>
          </p:spPr>
        </p:sp>
        <p:sp>
          <p:nvSpPr>
            <p:cNvPr id="14" name="TextBox 14"/>
            <p:cNvSpPr txBox="1"/>
            <p:nvPr/>
          </p:nvSpPr>
          <p:spPr>
            <a:xfrm>
              <a:off x="830199" y="1258729"/>
              <a:ext cx="1758373" cy="308039"/>
            </a:xfrm>
            <a:prstGeom prst="rect">
              <a:avLst/>
            </a:prstGeom>
            <a:noFill/>
            <a:ln>
              <a:noFill/>
            </a:ln>
          </p:spPr>
          <p:txBody>
            <a:bodyPr wrap="none" lIns="0" tIns="0" rIns="0" bIns="0" anchor="t" anchorCtr="0">
              <a:spAutoFit/>
            </a:bodyPr>
            <a:lstStyle/>
            <a:p>
              <a:pPr algn="l"/>
              <a:r>
                <a:rPr lang="el-GR" sz="1580" i="1" dirty="0">
                  <a:solidFill>
                    <a:srgbClr val="FFFFFF"/>
                  </a:solidFill>
                  <a:latin typeface="+mn-lt"/>
                  <a:ea typeface="+mn-ea"/>
                  <a:cs typeface="+mn-cs"/>
                </a:rPr>
                <a:t>g(x) = φ₀ + Σⱼ φⱼ</a:t>
              </a:r>
            </a:p>
          </p:txBody>
        </p:sp>
        <p:sp>
          <p:nvSpPr>
            <p:cNvPr id="15" name="TextBox 15"/>
            <p:cNvSpPr txBox="1"/>
            <p:nvPr/>
          </p:nvSpPr>
          <p:spPr>
            <a:xfrm>
              <a:off x="832866" y="1544002"/>
              <a:ext cx="1951177" cy="205359"/>
            </a:xfrm>
            <a:prstGeom prst="rect">
              <a:avLst/>
            </a:prstGeom>
            <a:noFill/>
            <a:ln>
              <a:noFill/>
            </a:ln>
          </p:spPr>
          <p:txBody>
            <a:bodyPr wrap="none" lIns="0" tIns="0" rIns="0" bIns="0" anchor="t" anchorCtr="0">
              <a:spAutoFit/>
            </a:bodyPr>
            <a:lstStyle/>
            <a:p>
              <a:pPr algn="l"/>
              <a:r>
                <a:rPr lang="tr-TR" sz="1050" dirty="0">
                  <a:solidFill>
                    <a:srgbClr val="EAF4F6"/>
                  </a:solidFill>
                  <a:latin typeface="+mn-lt"/>
                  <a:ea typeface="+mn-ea"/>
                  <a:cs typeface="+mn-cs"/>
                </a:rPr>
                <a:t>SHAP: toplamsal özellik atfı</a:t>
              </a:r>
            </a:p>
          </p:txBody>
        </p:sp>
        <p:sp>
          <p:nvSpPr>
            <p:cNvPr id="16" name="TextBox 16"/>
            <p:cNvSpPr txBox="1"/>
            <p:nvPr/>
          </p:nvSpPr>
          <p:spPr>
            <a:xfrm>
              <a:off x="832866" y="1715452"/>
              <a:ext cx="1544326" cy="205359"/>
            </a:xfrm>
            <a:prstGeom prst="rect">
              <a:avLst/>
            </a:prstGeom>
            <a:noFill/>
            <a:ln>
              <a:noFill/>
            </a:ln>
          </p:spPr>
          <p:txBody>
            <a:bodyPr wrap="none" lIns="0" tIns="0" rIns="0" bIns="0" anchor="t" anchorCtr="0">
              <a:spAutoFit/>
            </a:bodyPr>
            <a:lstStyle/>
            <a:p>
              <a:pPr algn="l"/>
              <a:r>
                <a:rPr lang="tr-TR" sz="1050" dirty="0">
                  <a:solidFill>
                    <a:srgbClr val="EAF4F6"/>
                  </a:solidFill>
                  <a:latin typeface="+mn-lt"/>
                  <a:ea typeface="+mn-ea"/>
                  <a:cs typeface="+mn-cs"/>
                </a:rPr>
                <a:t>(additive attribution)</a:t>
              </a:r>
            </a:p>
          </p:txBody>
        </p:sp>
        <p:sp>
          <p:nvSpPr>
            <p:cNvPr id="17" name="Rectangle 17"/>
            <p:cNvSpPr/>
            <p:nvPr/>
          </p:nvSpPr>
          <p:spPr>
            <a:xfrm>
              <a:off x="6248400" y="1123950"/>
              <a:ext cx="5334000" cy="819150"/>
            </a:xfrm>
            <a:prstGeom prst="roundRect">
              <a:avLst>
                <a:gd name="adj" fmla="val 9302"/>
              </a:avLst>
            </a:prstGeom>
            <a:solidFill>
              <a:srgbClr val="12355B"/>
            </a:solidFill>
            <a:ln>
              <a:noFill/>
            </a:ln>
          </p:spPr>
        </p:sp>
        <p:sp>
          <p:nvSpPr>
            <p:cNvPr id="18" name="TextBox 18"/>
            <p:cNvSpPr txBox="1"/>
            <p:nvPr/>
          </p:nvSpPr>
          <p:spPr>
            <a:xfrm>
              <a:off x="6470142" y="1283018"/>
              <a:ext cx="2778656" cy="264033"/>
            </a:xfrm>
            <a:prstGeom prst="rect">
              <a:avLst/>
            </a:prstGeom>
            <a:noFill/>
            <a:ln>
              <a:noFill/>
            </a:ln>
          </p:spPr>
          <p:txBody>
            <a:bodyPr wrap="none" lIns="0" tIns="0" rIns="0" bIns="0" anchor="t" anchorCtr="0">
              <a:spAutoFit/>
            </a:bodyPr>
            <a:lstStyle/>
            <a:p>
              <a:pPr algn="l"/>
              <a:r>
                <a:rPr lang="el-GR" sz="1350" i="1" dirty="0">
                  <a:solidFill>
                    <a:srgbClr val="FFFFFF"/>
                  </a:solidFill>
                  <a:latin typeface="+mn-lt"/>
                  <a:ea typeface="+mn-ea"/>
                  <a:cs typeface="+mn-cs"/>
                </a:rPr>
                <a:t>ξ(x)=argmin_g L(f,g,πₓ)+Ω(g)</a:t>
              </a:r>
            </a:p>
          </p:txBody>
        </p:sp>
        <p:sp>
          <p:nvSpPr>
            <p:cNvPr id="19" name="TextBox 19"/>
            <p:cNvSpPr txBox="1"/>
            <p:nvPr/>
          </p:nvSpPr>
          <p:spPr>
            <a:xfrm>
              <a:off x="6471666" y="1544002"/>
              <a:ext cx="2072459" cy="205359"/>
            </a:xfrm>
            <a:prstGeom prst="rect">
              <a:avLst/>
            </a:prstGeom>
            <a:noFill/>
            <a:ln>
              <a:noFill/>
            </a:ln>
          </p:spPr>
          <p:txBody>
            <a:bodyPr wrap="none" lIns="0" tIns="0" rIns="0" bIns="0" anchor="t" anchorCtr="0">
              <a:spAutoFit/>
            </a:bodyPr>
            <a:lstStyle/>
            <a:p>
              <a:pPr algn="l"/>
              <a:r>
                <a:rPr lang="tr-TR" sz="1050" dirty="0">
                  <a:solidFill>
                    <a:srgbClr val="EAF4F6"/>
                  </a:solidFill>
                  <a:latin typeface="+mn-lt"/>
                  <a:ea typeface="+mn-ea"/>
                  <a:cs typeface="+mn-cs"/>
                </a:rPr>
                <a:t>LIME: yerel sadakat + basitlik</a:t>
              </a:r>
            </a:p>
          </p:txBody>
        </p:sp>
        <p:sp>
          <p:nvSpPr>
            <p:cNvPr id="20" name="TextBox 20"/>
            <p:cNvSpPr txBox="1"/>
            <p:nvPr/>
          </p:nvSpPr>
          <p:spPr>
            <a:xfrm>
              <a:off x="6471666" y="1715452"/>
              <a:ext cx="2074393" cy="205359"/>
            </a:xfrm>
            <a:prstGeom prst="rect">
              <a:avLst/>
            </a:prstGeom>
            <a:noFill/>
            <a:ln>
              <a:noFill/>
            </a:ln>
          </p:spPr>
          <p:txBody>
            <a:bodyPr wrap="none" lIns="0" tIns="0" rIns="0" bIns="0" anchor="t" anchorCtr="0">
              <a:spAutoFit/>
            </a:bodyPr>
            <a:lstStyle/>
            <a:p>
              <a:pPr algn="l"/>
              <a:r>
                <a:rPr lang="tr-TR" sz="1050" dirty="0">
                  <a:solidFill>
                    <a:srgbClr val="EAF4F6"/>
                  </a:solidFill>
                  <a:latin typeface="+mn-lt"/>
                  <a:ea typeface="+mn-ea"/>
                  <a:cs typeface="+mn-cs"/>
                </a:rPr>
                <a:t>cezası arasında optimizasyon</a:t>
              </a:r>
            </a:p>
          </p:txBody>
        </p:sp>
      </p:grpSp>
      <p:grpSp>
        <p:nvGrpSpPr>
          <p:cNvPr id="25" name="assumption-note"/>
          <p:cNvGrpSpPr/>
          <p:nvPr/>
        </p:nvGrpSpPr>
        <p:grpSpPr>
          <a:xfrm>
            <a:off x="609600" y="2057400"/>
            <a:ext cx="10972800" cy="533400"/>
            <a:chOff x="609600" y="2057400"/>
            <a:chExt cx="10972800" cy="533400"/>
          </a:xfrm>
        </p:grpSpPr>
        <p:sp>
          <p:nvSpPr>
            <p:cNvPr id="22" name="Rectangle 22"/>
            <p:cNvSpPr/>
            <p:nvPr/>
          </p:nvSpPr>
          <p:spPr>
            <a:xfrm>
              <a:off x="609600" y="2057400"/>
              <a:ext cx="10972800" cy="533400"/>
            </a:xfrm>
            <a:prstGeom prst="roundRect">
              <a:avLst>
                <a:gd name="adj" fmla="val 14286"/>
              </a:avLst>
            </a:prstGeom>
            <a:solidFill>
              <a:srgbClr val="EAF4F6"/>
            </a:solidFill>
            <a:ln>
              <a:noFill/>
            </a:ln>
          </p:spPr>
        </p:sp>
        <p:sp>
          <p:nvSpPr>
            <p:cNvPr id="23" name="TextBox 23"/>
            <p:cNvSpPr txBox="1"/>
            <p:nvPr/>
          </p:nvSpPr>
          <p:spPr>
            <a:xfrm>
              <a:off x="908685" y="2145506"/>
              <a:ext cx="1259599" cy="220028"/>
            </a:xfrm>
            <a:prstGeom prst="rect">
              <a:avLst/>
            </a:prstGeom>
            <a:noFill/>
            <a:ln>
              <a:noFill/>
            </a:ln>
          </p:spPr>
          <p:txBody>
            <a:bodyPr wrap="none" lIns="0" tIns="0" rIns="0" bIns="0" anchor="t" anchorCtr="0">
              <a:spAutoFit/>
            </a:bodyPr>
            <a:lstStyle/>
            <a:p>
              <a:pPr algn="l"/>
              <a:r>
                <a:rPr lang="tr-TR" sz="1120" b="1" dirty="0">
                  <a:solidFill>
                    <a:srgbClr val="12355B"/>
                  </a:solidFill>
                  <a:latin typeface="+mn-lt"/>
                  <a:ea typeface="+mn-ea"/>
                  <a:cs typeface="+mn-cs"/>
                </a:rPr>
                <a:t>Ortak varsayım</a:t>
              </a:r>
            </a:p>
          </p:txBody>
        </p:sp>
        <p:sp>
          <p:nvSpPr>
            <p:cNvPr id="24" name="TextBox 24"/>
            <p:cNvSpPr txBox="1"/>
            <p:nvPr/>
          </p:nvSpPr>
          <p:spPr>
            <a:xfrm>
              <a:off x="908685" y="2336006"/>
              <a:ext cx="10638455"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Her iki yöntem de modelin kara kutu davranışını yerel olarak doğrusala yakın kabul eder; sonuçlar korelasyon gösterir, nedensellik kanıtlamaz.</a:t>
              </a:r>
            </a:p>
          </p:txBody>
        </p:sp>
      </p:grpSp>
      <p:grpSp>
        <p:nvGrpSpPr>
          <p:cNvPr id="31" name="compare-header"/>
          <p:cNvGrpSpPr/>
          <p:nvPr/>
        </p:nvGrpSpPr>
        <p:grpSpPr>
          <a:xfrm>
            <a:off x="609600" y="2743200"/>
            <a:ext cx="10972800" cy="381000"/>
            <a:chOff x="609600" y="2743200"/>
            <a:chExt cx="10972800" cy="381000"/>
          </a:xfrm>
        </p:grpSpPr>
        <p:sp>
          <p:nvSpPr>
            <p:cNvPr id="26" name="Rectangle 26"/>
            <p:cNvSpPr/>
            <p:nvPr/>
          </p:nvSpPr>
          <p:spPr>
            <a:xfrm>
              <a:off x="609600" y="2743200"/>
              <a:ext cx="10972800" cy="381000"/>
            </a:xfrm>
            <a:prstGeom prst="rect">
              <a:avLst/>
            </a:prstGeom>
            <a:solidFill>
              <a:srgbClr val="12355B"/>
            </a:solidFill>
            <a:ln>
              <a:noFill/>
            </a:ln>
          </p:spPr>
        </p:sp>
        <p:sp>
          <p:nvSpPr>
            <p:cNvPr id="27" name="TextBox 27"/>
            <p:cNvSpPr txBox="1"/>
            <p:nvPr/>
          </p:nvSpPr>
          <p:spPr>
            <a:xfrm>
              <a:off x="756285" y="2869406"/>
              <a:ext cx="650230" cy="220028"/>
            </a:xfrm>
            <a:prstGeom prst="rect">
              <a:avLst/>
            </a:prstGeom>
            <a:noFill/>
            <a:ln>
              <a:noFill/>
            </a:ln>
          </p:spPr>
          <p:txBody>
            <a:bodyPr wrap="none" lIns="0" tIns="0" rIns="0" bIns="0" anchor="t" anchorCtr="0">
              <a:spAutoFit/>
            </a:bodyPr>
            <a:lstStyle/>
            <a:p>
              <a:pPr algn="l"/>
              <a:r>
                <a:rPr lang="tr-TR" sz="1120" b="1" spc="75" dirty="0">
                  <a:solidFill>
                    <a:srgbClr val="FFFFFF"/>
                  </a:solidFill>
                  <a:latin typeface="+mn-lt"/>
                  <a:ea typeface="+mn-ea"/>
                  <a:cs typeface="+mn-cs"/>
                </a:rPr>
                <a:t>YÖNTEM</a:t>
              </a:r>
            </a:p>
          </p:txBody>
        </p:sp>
        <p:sp>
          <p:nvSpPr>
            <p:cNvPr id="28" name="TextBox 28"/>
            <p:cNvSpPr txBox="1"/>
            <p:nvPr/>
          </p:nvSpPr>
          <p:spPr>
            <a:xfrm>
              <a:off x="2851785" y="2869406"/>
              <a:ext cx="505742" cy="220028"/>
            </a:xfrm>
            <a:prstGeom prst="rect">
              <a:avLst/>
            </a:prstGeom>
            <a:noFill/>
            <a:ln>
              <a:noFill/>
            </a:ln>
          </p:spPr>
          <p:txBody>
            <a:bodyPr wrap="none" lIns="0" tIns="0" rIns="0" bIns="0" anchor="t" anchorCtr="0">
              <a:spAutoFit/>
            </a:bodyPr>
            <a:lstStyle/>
            <a:p>
              <a:pPr algn="l"/>
              <a:r>
                <a:rPr lang="tr-TR" sz="1120" b="1" spc="75" dirty="0">
                  <a:solidFill>
                    <a:srgbClr val="FFFFFF"/>
                  </a:solidFill>
                  <a:latin typeface="+mn-lt"/>
                  <a:ea typeface="+mn-ea"/>
                  <a:cs typeface="+mn-cs"/>
                </a:rPr>
                <a:t>TANIM</a:t>
              </a:r>
            </a:p>
          </p:txBody>
        </p:sp>
        <p:sp>
          <p:nvSpPr>
            <p:cNvPr id="29" name="TextBox 29"/>
            <p:cNvSpPr txBox="1"/>
            <p:nvPr/>
          </p:nvSpPr>
          <p:spPr>
            <a:xfrm>
              <a:off x="6090285" y="2869406"/>
              <a:ext cx="813749" cy="220028"/>
            </a:xfrm>
            <a:prstGeom prst="rect">
              <a:avLst/>
            </a:prstGeom>
            <a:noFill/>
            <a:ln>
              <a:noFill/>
            </a:ln>
          </p:spPr>
          <p:txBody>
            <a:bodyPr wrap="none" lIns="0" tIns="0" rIns="0" bIns="0" anchor="t" anchorCtr="0">
              <a:spAutoFit/>
            </a:bodyPr>
            <a:lstStyle/>
            <a:p>
              <a:pPr algn="l"/>
              <a:r>
                <a:rPr lang="tr-TR" sz="1120" b="1" spc="75" dirty="0">
                  <a:solidFill>
                    <a:srgbClr val="FFFFFF"/>
                  </a:solidFill>
                  <a:latin typeface="+mn-lt"/>
                  <a:ea typeface="+mn-ea"/>
                  <a:cs typeface="+mn-cs"/>
                </a:rPr>
                <a:t>VARSAYIM</a:t>
              </a:r>
            </a:p>
          </p:txBody>
        </p:sp>
        <p:sp>
          <p:nvSpPr>
            <p:cNvPr id="30" name="TextBox 30"/>
            <p:cNvSpPr txBox="1"/>
            <p:nvPr/>
          </p:nvSpPr>
          <p:spPr>
            <a:xfrm>
              <a:off x="8757285" y="2869406"/>
              <a:ext cx="860176" cy="220028"/>
            </a:xfrm>
            <a:prstGeom prst="rect">
              <a:avLst/>
            </a:prstGeom>
            <a:noFill/>
            <a:ln>
              <a:noFill/>
            </a:ln>
          </p:spPr>
          <p:txBody>
            <a:bodyPr wrap="none" lIns="0" tIns="0" rIns="0" bIns="0" anchor="t" anchorCtr="0">
              <a:spAutoFit/>
            </a:bodyPr>
            <a:lstStyle/>
            <a:p>
              <a:pPr algn="l"/>
              <a:r>
                <a:rPr lang="tr-TR" sz="1120" b="1" spc="75" dirty="0">
                  <a:solidFill>
                    <a:srgbClr val="FFFFFF"/>
                  </a:solidFill>
                  <a:latin typeface="+mn-lt"/>
                  <a:ea typeface="+mn-ea"/>
                  <a:cs typeface="+mn-cs"/>
                </a:rPr>
                <a:t>SINIRLILIK</a:t>
              </a:r>
            </a:p>
          </p:txBody>
        </p:sp>
      </p:grpSp>
      <p:grpSp>
        <p:nvGrpSpPr>
          <p:cNvPr id="37" name="compare-row-shap"/>
          <p:cNvGrpSpPr/>
          <p:nvPr/>
        </p:nvGrpSpPr>
        <p:grpSpPr>
          <a:xfrm>
            <a:off x="609600" y="3239452"/>
            <a:ext cx="10972800" cy="656273"/>
            <a:chOff x="609600" y="3239452"/>
            <a:chExt cx="10972800" cy="656273"/>
          </a:xfrm>
        </p:grpSpPr>
        <p:sp>
          <p:nvSpPr>
            <p:cNvPr id="32" name="TextBox 32"/>
            <p:cNvSpPr txBox="1"/>
            <p:nvPr/>
          </p:nvSpPr>
          <p:spPr>
            <a:xfrm>
              <a:off x="755904" y="3280410"/>
              <a:ext cx="406481"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SHAP</a:t>
              </a:r>
            </a:p>
          </p:txBody>
        </p:sp>
        <p:sp>
          <p:nvSpPr>
            <p:cNvPr id="33" name="TextBox 33"/>
            <p:cNvSpPr txBox="1"/>
            <p:nvPr/>
          </p:nvSpPr>
          <p:spPr>
            <a:xfrm>
              <a:off x="2852166" y="3239452"/>
              <a:ext cx="1310831" cy="376809"/>
            </a:xfrm>
            <a:prstGeom prst="rect">
              <a:avLst/>
            </a:prstGeom>
            <a:noFill/>
            <a:ln>
              <a:noFill/>
            </a:ln>
          </p:spPr>
          <p:txBody>
            <a:bodyPr wrap="none" lIns="0" tIns="0" rIns="0" bIns="0" anchor="t" anchorCtr="0">
              <a:spAutoFit/>
            </a:bodyPr>
            <a:lstStyle/>
            <a:p>
              <a:pPr algn="l">
                <a:lnSpc>
                  <a:spcPts val="1350"/>
                </a:lnSpc>
              </a:pPr>
              <a:r>
                <a:rPr lang="tr-TR" sz="1050" dirty="0">
                  <a:solidFill>
                    <a:srgbClr val="172B3A"/>
                  </a:solidFill>
                  <a:latin typeface="+mn-lt"/>
                  <a:ea typeface="+mn-ea"/>
                  <a:cs typeface="+mn-cs"/>
                </a:rPr>
                <a:t>Shapley değerleriyle</a:t>
              </a:r>
              <a:br/>
              <a:r>
                <a:rPr lang="tr-TR" sz="1050" dirty="0">
                  <a:solidFill>
                    <a:srgbClr val="172B3A"/>
                  </a:solidFill>
                  <a:latin typeface="+mn-lt"/>
                  <a:ea typeface="+mn-ea"/>
                  <a:cs typeface="+mn-cs"/>
                </a:rPr>
                <a:t>toplamsal katkı</a:t>
              </a:r>
            </a:p>
          </p:txBody>
        </p:sp>
        <p:sp>
          <p:nvSpPr>
            <p:cNvPr id="34" name="TextBox 34"/>
            <p:cNvSpPr txBox="1"/>
            <p:nvPr/>
          </p:nvSpPr>
          <p:spPr>
            <a:xfrm>
              <a:off x="6090666" y="3239452"/>
              <a:ext cx="1090803" cy="376809"/>
            </a:xfrm>
            <a:prstGeom prst="rect">
              <a:avLst/>
            </a:prstGeom>
            <a:noFill/>
            <a:ln>
              <a:noFill/>
            </a:ln>
          </p:spPr>
          <p:txBody>
            <a:bodyPr wrap="none" lIns="0" tIns="0" rIns="0" bIns="0" anchor="t" anchorCtr="0">
              <a:spAutoFit/>
            </a:bodyPr>
            <a:lstStyle/>
            <a:p>
              <a:pPr algn="l">
                <a:lnSpc>
                  <a:spcPts val="1350"/>
                </a:lnSpc>
              </a:pPr>
              <a:r>
                <a:rPr lang="tr-TR" sz="1050" dirty="0">
                  <a:solidFill>
                    <a:srgbClr val="172B3A"/>
                  </a:solidFill>
                  <a:latin typeface="+mn-lt"/>
                  <a:ea typeface="+mn-ea"/>
                  <a:cs typeface="+mn-cs"/>
                </a:rPr>
                <a:t>Özellik katkıları</a:t>
              </a:r>
              <a:br/>
              <a:r>
                <a:rPr lang="tr-TR" sz="1050" dirty="0">
                  <a:solidFill>
                    <a:srgbClr val="172B3A"/>
                  </a:solidFill>
                  <a:latin typeface="+mn-lt"/>
                  <a:ea typeface="+mn-ea"/>
                  <a:cs typeface="+mn-cs"/>
                </a:rPr>
                <a:t>toplamsaldır</a:t>
              </a:r>
            </a:p>
          </p:txBody>
        </p:sp>
        <p:sp>
          <p:nvSpPr>
            <p:cNvPr id="35" name="TextBox 35"/>
            <p:cNvSpPr txBox="1"/>
            <p:nvPr/>
          </p:nvSpPr>
          <p:spPr>
            <a:xfrm>
              <a:off x="8757666" y="3239452"/>
              <a:ext cx="1697546" cy="376809"/>
            </a:xfrm>
            <a:prstGeom prst="rect">
              <a:avLst/>
            </a:prstGeom>
            <a:noFill/>
            <a:ln>
              <a:noFill/>
            </a:ln>
          </p:spPr>
          <p:txBody>
            <a:bodyPr wrap="none" lIns="0" tIns="0" rIns="0" bIns="0" anchor="t" anchorCtr="0">
              <a:spAutoFit/>
            </a:bodyPr>
            <a:lstStyle/>
            <a:p>
              <a:pPr algn="l">
                <a:lnSpc>
                  <a:spcPts val="1350"/>
                </a:lnSpc>
              </a:pPr>
              <a:r>
                <a:rPr lang="tr-TR" sz="1050" dirty="0">
                  <a:solidFill>
                    <a:srgbClr val="172B3A"/>
                  </a:solidFill>
                  <a:latin typeface="+mn-lt"/>
                  <a:ea typeface="+mn-ea"/>
                  <a:cs typeface="+mn-cs"/>
                </a:rPr>
                <a:t>Büyük veride</a:t>
              </a:r>
              <a:br/>
              <a:r>
                <a:rPr lang="tr-TR" sz="1050" dirty="0">
                  <a:solidFill>
                    <a:srgbClr val="172B3A"/>
                  </a:solidFill>
                  <a:latin typeface="+mn-lt"/>
                  <a:ea typeface="+mn-ea"/>
                  <a:cs typeface="+mn-cs"/>
                </a:rPr>
                <a:t>hesaplama maliyeti yüksek</a:t>
              </a:r>
            </a:p>
          </p:txBody>
        </p:sp>
        <p:sp>
          <p:nvSpPr>
            <p:cNvPr id="36" name="Line 36"/>
            <p:cNvSpPr/>
            <p:nvPr/>
          </p:nvSpPr>
          <p:spPr>
            <a:xfrm>
              <a:off x="609600" y="388620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43" name="compare-row-lime"/>
          <p:cNvGrpSpPr/>
          <p:nvPr/>
        </p:nvGrpSpPr>
        <p:grpSpPr>
          <a:xfrm>
            <a:off x="609600" y="3886200"/>
            <a:ext cx="10972800" cy="762000"/>
            <a:chOff x="609600" y="3886200"/>
            <a:chExt cx="10972800" cy="762000"/>
          </a:xfrm>
        </p:grpSpPr>
        <p:sp>
          <p:nvSpPr>
            <p:cNvPr id="38" name="Rectangle 38"/>
            <p:cNvSpPr/>
            <p:nvPr/>
          </p:nvSpPr>
          <p:spPr>
            <a:xfrm>
              <a:off x="609600" y="3886200"/>
              <a:ext cx="10972800" cy="762000"/>
            </a:xfrm>
            <a:prstGeom prst="rect">
              <a:avLst/>
            </a:prstGeom>
            <a:solidFill>
              <a:srgbClr val="EAF4F6"/>
            </a:solidFill>
            <a:ln>
              <a:noFill/>
            </a:ln>
          </p:spPr>
        </p:sp>
        <p:sp>
          <p:nvSpPr>
            <p:cNvPr id="39" name="TextBox 39"/>
            <p:cNvSpPr txBox="1"/>
            <p:nvPr/>
          </p:nvSpPr>
          <p:spPr>
            <a:xfrm>
              <a:off x="755904" y="4042410"/>
              <a:ext cx="397520"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LIME</a:t>
              </a:r>
            </a:p>
          </p:txBody>
        </p:sp>
        <p:sp>
          <p:nvSpPr>
            <p:cNvPr id="40" name="TextBox 40"/>
            <p:cNvSpPr txBox="1"/>
            <p:nvPr/>
          </p:nvSpPr>
          <p:spPr>
            <a:xfrm>
              <a:off x="2852166" y="4001452"/>
              <a:ext cx="1277493" cy="376809"/>
            </a:xfrm>
            <a:prstGeom prst="rect">
              <a:avLst/>
            </a:prstGeom>
            <a:noFill/>
            <a:ln>
              <a:noFill/>
            </a:ln>
          </p:spPr>
          <p:txBody>
            <a:bodyPr wrap="none" lIns="0" tIns="0" rIns="0" bIns="0" anchor="t" anchorCtr="0">
              <a:spAutoFit/>
            </a:bodyPr>
            <a:lstStyle/>
            <a:p>
              <a:pPr algn="l">
                <a:lnSpc>
                  <a:spcPts val="1350"/>
                </a:lnSpc>
              </a:pPr>
              <a:r>
                <a:rPr lang="tr-TR" sz="1050" dirty="0">
                  <a:solidFill>
                    <a:srgbClr val="172B3A"/>
                  </a:solidFill>
                  <a:latin typeface="+mn-lt"/>
                  <a:ea typeface="+mn-ea"/>
                  <a:cs typeface="+mn-cs"/>
                </a:rPr>
                <a:t>Yerel doğrusal vekil</a:t>
              </a:r>
              <a:br/>
              <a:r>
                <a:rPr lang="tr-TR" sz="1050" dirty="0">
                  <a:solidFill>
                    <a:srgbClr val="172B3A"/>
                  </a:solidFill>
                  <a:latin typeface="+mn-lt"/>
                  <a:ea typeface="+mn-ea"/>
                  <a:cs typeface="+mn-cs"/>
                </a:rPr>
                <a:t>model kurar</a:t>
              </a:r>
            </a:p>
          </p:txBody>
        </p:sp>
        <p:sp>
          <p:nvSpPr>
            <p:cNvPr id="41" name="TextBox 41"/>
            <p:cNvSpPr txBox="1"/>
            <p:nvPr/>
          </p:nvSpPr>
          <p:spPr>
            <a:xfrm>
              <a:off x="6090666" y="4001452"/>
              <a:ext cx="1110806" cy="376809"/>
            </a:xfrm>
            <a:prstGeom prst="rect">
              <a:avLst/>
            </a:prstGeom>
            <a:noFill/>
            <a:ln>
              <a:noFill/>
            </a:ln>
          </p:spPr>
          <p:txBody>
            <a:bodyPr wrap="none" lIns="0" tIns="0" rIns="0" bIns="0" anchor="t" anchorCtr="0">
              <a:spAutoFit/>
            </a:bodyPr>
            <a:lstStyle/>
            <a:p>
              <a:pPr algn="l">
                <a:lnSpc>
                  <a:spcPts val="1350"/>
                </a:lnSpc>
              </a:pPr>
              <a:r>
                <a:rPr lang="tr-TR" sz="1050" dirty="0">
                  <a:solidFill>
                    <a:srgbClr val="172B3A"/>
                  </a:solidFill>
                  <a:latin typeface="+mn-lt"/>
                  <a:ea typeface="+mn-ea"/>
                  <a:cs typeface="+mn-cs"/>
                </a:rPr>
                <a:t>Komşuluk yerelde</a:t>
              </a:r>
              <a:br/>
              <a:r>
                <a:rPr lang="tr-TR" sz="1050" dirty="0">
                  <a:solidFill>
                    <a:srgbClr val="172B3A"/>
                  </a:solidFill>
                  <a:latin typeface="+mn-lt"/>
                  <a:ea typeface="+mn-ea"/>
                  <a:cs typeface="+mn-cs"/>
                </a:rPr>
                <a:t>doğrusala yakın</a:t>
              </a:r>
            </a:p>
          </p:txBody>
        </p:sp>
        <p:sp>
          <p:nvSpPr>
            <p:cNvPr id="42" name="TextBox 42"/>
            <p:cNvSpPr txBox="1"/>
            <p:nvPr/>
          </p:nvSpPr>
          <p:spPr>
            <a:xfrm>
              <a:off x="8757666" y="4001452"/>
              <a:ext cx="1684211" cy="376809"/>
            </a:xfrm>
            <a:prstGeom prst="rect">
              <a:avLst/>
            </a:prstGeom>
            <a:noFill/>
            <a:ln>
              <a:noFill/>
            </a:ln>
          </p:spPr>
          <p:txBody>
            <a:bodyPr wrap="none" lIns="0" tIns="0" rIns="0" bIns="0" anchor="t" anchorCtr="0">
              <a:spAutoFit/>
            </a:bodyPr>
            <a:lstStyle/>
            <a:p>
              <a:pPr algn="l">
                <a:lnSpc>
                  <a:spcPts val="1350"/>
                </a:lnSpc>
              </a:pPr>
              <a:r>
                <a:rPr lang="tr-TR" sz="1050" dirty="0">
                  <a:solidFill>
                    <a:srgbClr val="172B3A"/>
                  </a:solidFill>
                  <a:latin typeface="+mn-lt"/>
                  <a:ea typeface="+mn-ea"/>
                  <a:cs typeface="+mn-cs"/>
                </a:rPr>
                <a:t>Örnekleme rastgeleliğine</a:t>
              </a:r>
              <a:br/>
              <a:r>
                <a:rPr lang="tr-TR" sz="1050" dirty="0">
                  <a:solidFill>
                    <a:srgbClr val="172B3A"/>
                  </a:solidFill>
                  <a:latin typeface="+mn-lt"/>
                  <a:ea typeface="+mn-ea"/>
                  <a:cs typeface="+mn-cs"/>
                </a:rPr>
                <a:t>duyarlı, kararsız olabilir</a:t>
              </a:r>
            </a:p>
          </p:txBody>
        </p:sp>
      </p:grpSp>
      <p:grpSp>
        <p:nvGrpSpPr>
          <p:cNvPr id="48" name="compare-row-fi"/>
          <p:cNvGrpSpPr/>
          <p:nvPr/>
        </p:nvGrpSpPr>
        <p:grpSpPr>
          <a:xfrm>
            <a:off x="755904" y="4763452"/>
            <a:ext cx="9159240" cy="376809"/>
            <a:chOff x="755904" y="4763452"/>
            <a:chExt cx="9159240" cy="376809"/>
          </a:xfrm>
        </p:grpSpPr>
        <p:sp>
          <p:nvSpPr>
            <p:cNvPr id="44" name="TextBox 44"/>
            <p:cNvSpPr txBox="1"/>
            <p:nvPr/>
          </p:nvSpPr>
          <p:spPr>
            <a:xfrm>
              <a:off x="755904" y="4804410"/>
              <a:ext cx="1051762"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Özellik önemi</a:t>
              </a:r>
            </a:p>
          </p:txBody>
        </p:sp>
        <p:sp>
          <p:nvSpPr>
            <p:cNvPr id="45" name="TextBox 45"/>
            <p:cNvSpPr txBox="1"/>
            <p:nvPr/>
          </p:nvSpPr>
          <p:spPr>
            <a:xfrm>
              <a:off x="2852166" y="4763452"/>
              <a:ext cx="1090803" cy="376809"/>
            </a:xfrm>
            <a:prstGeom prst="rect">
              <a:avLst/>
            </a:prstGeom>
            <a:noFill/>
            <a:ln>
              <a:noFill/>
            </a:ln>
          </p:spPr>
          <p:txBody>
            <a:bodyPr wrap="none" lIns="0" tIns="0" rIns="0" bIns="0" anchor="t" anchorCtr="0">
              <a:spAutoFit/>
            </a:bodyPr>
            <a:lstStyle/>
            <a:p>
              <a:pPr algn="l">
                <a:lnSpc>
                  <a:spcPts val="1350"/>
                </a:lnSpc>
              </a:pPr>
              <a:r>
                <a:rPr lang="tr-TR" sz="1050" dirty="0">
                  <a:solidFill>
                    <a:srgbClr val="172B3A"/>
                  </a:solidFill>
                  <a:latin typeface="+mn-lt"/>
                  <a:ea typeface="+mn-ea"/>
                  <a:cs typeface="+mn-cs"/>
                </a:rPr>
                <a:t>Ağaç bazlı global</a:t>
              </a:r>
              <a:br/>
              <a:r>
                <a:rPr lang="tr-TR" sz="1050" dirty="0">
                  <a:solidFill>
                    <a:srgbClr val="172B3A"/>
                  </a:solidFill>
                  <a:latin typeface="+mn-lt"/>
                  <a:ea typeface="+mn-ea"/>
                  <a:cs typeface="+mn-cs"/>
                </a:rPr>
                <a:t>sıralama</a:t>
              </a:r>
            </a:p>
          </p:txBody>
        </p:sp>
        <p:sp>
          <p:nvSpPr>
            <p:cNvPr id="46" name="TextBox 46"/>
            <p:cNvSpPr txBox="1"/>
            <p:nvPr/>
          </p:nvSpPr>
          <p:spPr>
            <a:xfrm>
              <a:off x="6090666" y="4763452"/>
              <a:ext cx="1597533" cy="376809"/>
            </a:xfrm>
            <a:prstGeom prst="rect">
              <a:avLst/>
            </a:prstGeom>
            <a:noFill/>
            <a:ln>
              <a:noFill/>
            </a:ln>
          </p:spPr>
          <p:txBody>
            <a:bodyPr wrap="none" lIns="0" tIns="0" rIns="0" bIns="0" anchor="t" anchorCtr="0">
              <a:spAutoFit/>
            </a:bodyPr>
            <a:lstStyle/>
            <a:p>
              <a:pPr algn="l">
                <a:lnSpc>
                  <a:spcPts val="1350"/>
                </a:lnSpc>
              </a:pPr>
              <a:r>
                <a:rPr lang="tr-TR" sz="1050" dirty="0">
                  <a:solidFill>
                    <a:srgbClr val="172B3A"/>
                  </a:solidFill>
                  <a:latin typeface="+mn-lt"/>
                  <a:ea typeface="+mn-ea"/>
                  <a:cs typeface="+mn-cs"/>
                </a:rPr>
                <a:t>Bölünme sıklığı/kalitesi</a:t>
              </a:r>
              <a:br/>
              <a:r>
                <a:rPr lang="tr-TR" sz="1050" dirty="0">
                  <a:solidFill>
                    <a:srgbClr val="172B3A"/>
                  </a:solidFill>
                  <a:latin typeface="+mn-lt"/>
                  <a:ea typeface="+mn-ea"/>
                  <a:cs typeface="+mn-cs"/>
                </a:rPr>
                <a:t>önemi yansıtır</a:t>
              </a:r>
            </a:p>
          </p:txBody>
        </p:sp>
        <p:sp>
          <p:nvSpPr>
            <p:cNvPr id="47" name="TextBox 47"/>
            <p:cNvSpPr txBox="1"/>
            <p:nvPr/>
          </p:nvSpPr>
          <p:spPr>
            <a:xfrm>
              <a:off x="8757666" y="4763452"/>
              <a:ext cx="1157478" cy="376809"/>
            </a:xfrm>
            <a:prstGeom prst="rect">
              <a:avLst/>
            </a:prstGeom>
            <a:noFill/>
            <a:ln>
              <a:noFill/>
            </a:ln>
          </p:spPr>
          <p:txBody>
            <a:bodyPr wrap="none" lIns="0" tIns="0" rIns="0" bIns="0" anchor="t" anchorCtr="0">
              <a:spAutoFit/>
            </a:bodyPr>
            <a:lstStyle/>
            <a:p>
              <a:pPr algn="l">
                <a:lnSpc>
                  <a:spcPts val="1350"/>
                </a:lnSpc>
              </a:pPr>
              <a:r>
                <a:rPr lang="tr-TR" sz="1050" dirty="0">
                  <a:solidFill>
                    <a:srgbClr val="172B3A"/>
                  </a:solidFill>
                  <a:latin typeface="+mn-lt"/>
                  <a:ea typeface="+mn-ea"/>
                  <a:cs typeface="+mn-cs"/>
                </a:rPr>
                <a:t>Yerel/örnek bazlı</a:t>
              </a:r>
              <a:br/>
              <a:r>
                <a:rPr lang="tr-TR" sz="1050" dirty="0">
                  <a:solidFill>
                    <a:srgbClr val="172B3A"/>
                  </a:solidFill>
                  <a:latin typeface="+mn-lt"/>
                  <a:ea typeface="+mn-ea"/>
                  <a:cs typeface="+mn-cs"/>
                </a:rPr>
                <a:t>bilgi vermez</a:t>
              </a:r>
            </a:p>
          </p:txBody>
        </p:sp>
      </p:grpSp>
      <p:grpSp>
        <p:nvGrpSpPr>
          <p:cNvPr id="50" name="closing-note"/>
          <p:cNvGrpSpPr/>
          <p:nvPr/>
        </p:nvGrpSpPr>
        <p:grpSpPr>
          <a:xfrm>
            <a:off x="603885" y="5707856"/>
            <a:ext cx="8233803" cy="220028"/>
            <a:chOff x="603885" y="5707856"/>
            <a:chExt cx="8233803" cy="220028"/>
          </a:xfrm>
        </p:grpSpPr>
        <p:sp>
          <p:nvSpPr>
            <p:cNvPr id="49" name="TextBox 49"/>
            <p:cNvSpPr txBox="1"/>
            <p:nvPr/>
          </p:nvSpPr>
          <p:spPr>
            <a:xfrm>
              <a:off x="603885" y="5707856"/>
              <a:ext cx="8233803"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Yöntem seçimi; veri boyutu, gereken açıklama düzeyi (global/yerel) ve kararın etki alanına göre yapılmalıdır.</a:t>
              </a:r>
            </a:p>
          </p:txBody>
        </p:sp>
      </p:grpSp>
      <p:sp>
        <p:nvSpPr>
          <p:cNvPr id="51" name="TextBox 51"/>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23 / 25</a:t>
            </a:r>
          </a:p>
        </p:txBody>
      </p:sp>
    </p:spTree>
  </p:cSld>
  <p:clrMapOvr>
    <a:masterClrMapping/>
  </p:clrMapOvr>
  <p:transition xmlns:p14="http://schemas.microsoft.com/office/powerpoint/2010/main" p14:dur="400">
    <p:fade/>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2257174" cy="557403"/>
            <a:chOff x="595122" y="282892"/>
            <a:chExt cx="2257174" cy="557403"/>
          </a:xfrm>
        </p:grpSpPr>
        <p:sp>
          <p:nvSpPr>
            <p:cNvPr id="4" name="TextBox 4"/>
            <p:cNvSpPr txBox="1"/>
            <p:nvPr/>
          </p:nvSpPr>
          <p:spPr>
            <a:xfrm>
              <a:off x="595122" y="282892"/>
              <a:ext cx="2257174"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Bölüm özeti</a:t>
              </a:r>
            </a:p>
          </p:txBody>
        </p:sp>
      </p:grpSp>
      <p:grpSp>
        <p:nvGrpSpPr>
          <p:cNvPr id="9" name="summary-kara-kutu"/>
          <p:cNvGrpSpPr/>
          <p:nvPr/>
        </p:nvGrpSpPr>
        <p:grpSpPr>
          <a:xfrm>
            <a:off x="609600" y="1333500"/>
            <a:ext cx="3505200" cy="1524000"/>
            <a:chOff x="609600" y="1333500"/>
            <a:chExt cx="3505200" cy="1524000"/>
          </a:xfrm>
        </p:grpSpPr>
        <p:sp>
          <p:nvSpPr>
            <p:cNvPr id="6" name="Rectangle 6"/>
            <p:cNvSpPr/>
            <p:nvPr/>
          </p:nvSpPr>
          <p:spPr>
            <a:xfrm>
              <a:off x="609600" y="1333500"/>
              <a:ext cx="3505200" cy="1524000"/>
            </a:xfrm>
            <a:prstGeom prst="roundRect">
              <a:avLst>
                <a:gd name="adj" fmla="val 6250"/>
              </a:avLst>
            </a:prstGeom>
            <a:solidFill>
              <a:srgbClr val="FFFFFF"/>
            </a:solidFill>
            <a:ln w="14288">
              <a:solidFill>
                <a:srgbClr val="B8CBD3"/>
              </a:solidFill>
            </a:ln>
          </p:spPr>
        </p:sp>
        <p:sp>
          <p:nvSpPr>
            <p:cNvPr id="7" name="TextBox 7"/>
            <p:cNvSpPr txBox="1"/>
            <p:nvPr/>
          </p:nvSpPr>
          <p:spPr>
            <a:xfrm>
              <a:off x="829056" y="1520190"/>
              <a:ext cx="1985943"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Kara kutu model</a:t>
              </a:r>
            </a:p>
          </p:txBody>
        </p:sp>
        <p:sp>
          <p:nvSpPr>
            <p:cNvPr id="8" name="TextBox 8"/>
            <p:cNvSpPr txBox="1"/>
            <p:nvPr/>
          </p:nvSpPr>
          <p:spPr>
            <a:xfrm>
              <a:off x="832104" y="1908810"/>
              <a:ext cx="230581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Yüksek doğruluk, karar</a:t>
              </a:r>
              <a:br/>
              <a:r>
                <a:rPr lang="tr-TR" sz="1200" dirty="0">
                  <a:solidFill>
                    <a:srgbClr val="172B3A"/>
                  </a:solidFill>
                  <a:latin typeface="+mn-lt"/>
                  <a:ea typeface="+mn-ea"/>
                  <a:cs typeface="+mn-cs"/>
                </a:rPr>
                <a:t>mekanizmasının görünmezliğini</a:t>
              </a:r>
              <a:br/>
              <a:r>
                <a:rPr lang="tr-TR" sz="1200" dirty="0">
                  <a:solidFill>
                    <a:srgbClr val="172B3A"/>
                  </a:solidFill>
                  <a:latin typeface="+mn-lt"/>
                  <a:ea typeface="+mn-ea"/>
                  <a:cs typeface="+mn-cs"/>
                </a:rPr>
                <a:t>beraberinde getirir.</a:t>
              </a:r>
            </a:p>
          </p:txBody>
        </p:sp>
      </p:grpSp>
      <p:grpSp>
        <p:nvGrpSpPr>
          <p:cNvPr id="13" name="summary-global"/>
          <p:cNvGrpSpPr/>
          <p:nvPr/>
        </p:nvGrpSpPr>
        <p:grpSpPr>
          <a:xfrm>
            <a:off x="4343400" y="1333500"/>
            <a:ext cx="3505200" cy="1524000"/>
            <a:chOff x="4343400" y="1333500"/>
            <a:chExt cx="3505200" cy="1524000"/>
          </a:xfrm>
        </p:grpSpPr>
        <p:sp>
          <p:nvSpPr>
            <p:cNvPr id="10" name="Rectangle 10"/>
            <p:cNvSpPr/>
            <p:nvPr/>
          </p:nvSpPr>
          <p:spPr>
            <a:xfrm>
              <a:off x="4343400" y="1333500"/>
              <a:ext cx="3505200" cy="1524000"/>
            </a:xfrm>
            <a:prstGeom prst="roundRect">
              <a:avLst>
                <a:gd name="adj" fmla="val 6250"/>
              </a:avLst>
            </a:prstGeom>
            <a:solidFill>
              <a:srgbClr val="FFFFFF"/>
            </a:solidFill>
            <a:ln w="14288">
              <a:solidFill>
                <a:srgbClr val="B8CBD3"/>
              </a:solidFill>
            </a:ln>
          </p:spPr>
        </p:sp>
        <p:sp>
          <p:nvSpPr>
            <p:cNvPr id="11" name="TextBox 11"/>
            <p:cNvSpPr txBox="1"/>
            <p:nvPr/>
          </p:nvSpPr>
          <p:spPr>
            <a:xfrm>
              <a:off x="4562856" y="1520190"/>
              <a:ext cx="2671187"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Global açıklanabilirlik</a:t>
              </a:r>
            </a:p>
          </p:txBody>
        </p:sp>
        <p:sp>
          <p:nvSpPr>
            <p:cNvPr id="12" name="TextBox 12"/>
            <p:cNvSpPr txBox="1"/>
            <p:nvPr/>
          </p:nvSpPr>
          <p:spPr>
            <a:xfrm>
              <a:off x="4565904" y="1908810"/>
              <a:ext cx="216103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Modelin genel davranışını ve</a:t>
              </a:r>
              <a:br/>
              <a:r>
                <a:rPr lang="tr-TR" sz="1200" dirty="0">
                  <a:solidFill>
                    <a:srgbClr val="172B3A"/>
                  </a:solidFill>
                  <a:latin typeface="+mn-lt"/>
                  <a:ea typeface="+mn-ea"/>
                  <a:cs typeface="+mn-cs"/>
                </a:rPr>
                <a:t>özellik önemini SHAP özet</a:t>
              </a:r>
              <a:br/>
              <a:r>
                <a:rPr lang="tr-TR" sz="1200" dirty="0">
                  <a:solidFill>
                    <a:srgbClr val="172B3A"/>
                  </a:solidFill>
                  <a:latin typeface="+mn-lt"/>
                  <a:ea typeface="+mn-ea"/>
                  <a:cs typeface="+mn-cs"/>
                </a:rPr>
                <a:t>grafiğiyle gösterir.</a:t>
              </a:r>
            </a:p>
          </p:txBody>
        </p:sp>
      </p:grpSp>
      <p:grpSp>
        <p:nvGrpSpPr>
          <p:cNvPr id="17" name="summary-yerel"/>
          <p:cNvGrpSpPr/>
          <p:nvPr/>
        </p:nvGrpSpPr>
        <p:grpSpPr>
          <a:xfrm>
            <a:off x="8077200" y="1333500"/>
            <a:ext cx="3505200" cy="1524000"/>
            <a:chOff x="8077200" y="1333500"/>
            <a:chExt cx="3505200" cy="1524000"/>
          </a:xfrm>
        </p:grpSpPr>
        <p:sp>
          <p:nvSpPr>
            <p:cNvPr id="14" name="Rectangle 14"/>
            <p:cNvSpPr/>
            <p:nvPr/>
          </p:nvSpPr>
          <p:spPr>
            <a:xfrm>
              <a:off x="8077200" y="1333500"/>
              <a:ext cx="3505200" cy="1524000"/>
            </a:xfrm>
            <a:prstGeom prst="roundRect">
              <a:avLst>
                <a:gd name="adj" fmla="val 6250"/>
              </a:avLst>
            </a:prstGeom>
            <a:solidFill>
              <a:srgbClr val="FFFFFF"/>
            </a:solidFill>
            <a:ln w="14288">
              <a:solidFill>
                <a:srgbClr val="B8CBD3"/>
              </a:solidFill>
            </a:ln>
          </p:spPr>
        </p:sp>
        <p:sp>
          <p:nvSpPr>
            <p:cNvPr id="15" name="TextBox 15"/>
            <p:cNvSpPr txBox="1"/>
            <p:nvPr/>
          </p:nvSpPr>
          <p:spPr>
            <a:xfrm>
              <a:off x="8296656" y="1520190"/>
              <a:ext cx="2594976"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Yerel açıklanabilirlik</a:t>
              </a:r>
            </a:p>
          </p:txBody>
        </p:sp>
        <p:sp>
          <p:nvSpPr>
            <p:cNvPr id="16" name="TextBox 16"/>
            <p:cNvSpPr txBox="1"/>
            <p:nvPr/>
          </p:nvSpPr>
          <p:spPr>
            <a:xfrm>
              <a:off x="8299704" y="1908810"/>
              <a:ext cx="203911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Tek bir tahmini SHAP kuvvet</a:t>
              </a:r>
              <a:br/>
              <a:r>
                <a:rPr lang="tr-TR" sz="1200" dirty="0">
                  <a:solidFill>
                    <a:srgbClr val="172B3A"/>
                  </a:solidFill>
                  <a:latin typeface="+mn-lt"/>
                  <a:ea typeface="+mn-ea"/>
                  <a:cs typeface="+mn-cs"/>
                </a:rPr>
                <a:t>grafiği veya LIME kuralıyla</a:t>
              </a:r>
              <a:br/>
              <a:r>
                <a:rPr lang="tr-TR" sz="1200" dirty="0">
                  <a:solidFill>
                    <a:srgbClr val="172B3A"/>
                  </a:solidFill>
                  <a:latin typeface="+mn-lt"/>
                  <a:ea typeface="+mn-ea"/>
                  <a:cs typeface="+mn-cs"/>
                </a:rPr>
                <a:t>gerekçelendirir.</a:t>
              </a:r>
            </a:p>
          </p:txBody>
        </p:sp>
      </p:grpSp>
      <p:grpSp>
        <p:nvGrpSpPr>
          <p:cNvPr id="21" name="summary-shap-lime"/>
          <p:cNvGrpSpPr/>
          <p:nvPr/>
        </p:nvGrpSpPr>
        <p:grpSpPr>
          <a:xfrm>
            <a:off x="609600" y="3143250"/>
            <a:ext cx="3505200" cy="1524000"/>
            <a:chOff x="609600" y="3143250"/>
            <a:chExt cx="3505200" cy="1524000"/>
          </a:xfrm>
        </p:grpSpPr>
        <p:sp>
          <p:nvSpPr>
            <p:cNvPr id="18" name="Rectangle 18"/>
            <p:cNvSpPr/>
            <p:nvPr/>
          </p:nvSpPr>
          <p:spPr>
            <a:xfrm>
              <a:off x="609600" y="3143250"/>
              <a:ext cx="3505200" cy="1524000"/>
            </a:xfrm>
            <a:prstGeom prst="roundRect">
              <a:avLst>
                <a:gd name="adj" fmla="val 6250"/>
              </a:avLst>
            </a:prstGeom>
            <a:solidFill>
              <a:srgbClr val="FFFFFF"/>
            </a:solidFill>
            <a:ln w="14288">
              <a:solidFill>
                <a:srgbClr val="B8CBD3"/>
              </a:solidFill>
            </a:ln>
          </p:spPr>
        </p:sp>
        <p:sp>
          <p:nvSpPr>
            <p:cNvPr id="19" name="TextBox 19"/>
            <p:cNvSpPr txBox="1"/>
            <p:nvPr/>
          </p:nvSpPr>
          <p:spPr>
            <a:xfrm>
              <a:off x="829056" y="3329940"/>
              <a:ext cx="1627305"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SHAP ve LIME</a:t>
              </a:r>
            </a:p>
          </p:txBody>
        </p:sp>
        <p:sp>
          <p:nvSpPr>
            <p:cNvPr id="20" name="TextBox 20"/>
            <p:cNvSpPr txBox="1"/>
            <p:nvPr/>
          </p:nvSpPr>
          <p:spPr>
            <a:xfrm>
              <a:off x="832104" y="3718560"/>
              <a:ext cx="223723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Toplamsal katkı ile yerel</a:t>
              </a:r>
              <a:br/>
              <a:r>
                <a:rPr lang="tr-TR" sz="1200" dirty="0">
                  <a:solidFill>
                    <a:srgbClr val="172B3A"/>
                  </a:solidFill>
                  <a:latin typeface="+mn-lt"/>
                  <a:ea typeface="+mn-ea"/>
                  <a:cs typeface="+mn-cs"/>
                </a:rPr>
                <a:t>vekil model; farklı varsayım,</a:t>
              </a:r>
              <a:br/>
              <a:r>
                <a:rPr lang="tr-TR" sz="1200" dirty="0">
                  <a:solidFill>
                    <a:srgbClr val="172B3A"/>
                  </a:solidFill>
                  <a:latin typeface="+mn-lt"/>
                  <a:ea typeface="+mn-ea"/>
                  <a:cs typeface="+mn-cs"/>
                </a:rPr>
                <a:t>tamamlayıcı kullanım.</a:t>
              </a:r>
            </a:p>
          </p:txBody>
        </p:sp>
      </p:grpSp>
      <p:grpSp>
        <p:nvGrpSpPr>
          <p:cNvPr id="25" name="summary-uygulama"/>
          <p:cNvGrpSpPr/>
          <p:nvPr/>
        </p:nvGrpSpPr>
        <p:grpSpPr>
          <a:xfrm>
            <a:off x="4343400" y="3143250"/>
            <a:ext cx="3505200" cy="1524000"/>
            <a:chOff x="4343400" y="3143250"/>
            <a:chExt cx="3505200" cy="1524000"/>
          </a:xfrm>
        </p:grpSpPr>
        <p:sp>
          <p:nvSpPr>
            <p:cNvPr id="22" name="Rectangle 22"/>
            <p:cNvSpPr/>
            <p:nvPr/>
          </p:nvSpPr>
          <p:spPr>
            <a:xfrm>
              <a:off x="4343400" y="3143250"/>
              <a:ext cx="3505200" cy="1524000"/>
            </a:xfrm>
            <a:prstGeom prst="roundRect">
              <a:avLst>
                <a:gd name="adj" fmla="val 6250"/>
              </a:avLst>
            </a:prstGeom>
            <a:solidFill>
              <a:srgbClr val="FFFFFF"/>
            </a:solidFill>
            <a:ln w="14288">
              <a:solidFill>
                <a:srgbClr val="B8CBD3"/>
              </a:solidFill>
            </a:ln>
          </p:spPr>
        </p:sp>
        <p:sp>
          <p:nvSpPr>
            <p:cNvPr id="23" name="TextBox 23"/>
            <p:cNvSpPr txBox="1"/>
            <p:nvPr/>
          </p:nvSpPr>
          <p:spPr>
            <a:xfrm>
              <a:off x="4562856" y="3329940"/>
              <a:ext cx="2909641"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Telco Churn uygulaması</a:t>
              </a:r>
            </a:p>
          </p:txBody>
        </p:sp>
        <p:sp>
          <p:nvSpPr>
            <p:cNvPr id="24" name="TextBox 24"/>
            <p:cNvSpPr txBox="1"/>
            <p:nvPr/>
          </p:nvSpPr>
          <p:spPr>
            <a:xfrm>
              <a:off x="4565904" y="3718560"/>
              <a:ext cx="223723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RandomForest + TreeExplainer</a:t>
              </a:r>
              <a:br/>
              <a:r>
                <a:rPr lang="tr-TR" sz="1200" dirty="0">
                  <a:solidFill>
                    <a:srgbClr val="172B3A"/>
                  </a:solidFill>
                  <a:latin typeface="+mn-lt"/>
                  <a:ea typeface="+mn-ea"/>
                  <a:cs typeface="+mn-cs"/>
                </a:rPr>
                <a:t>+ LimeTabularExplainer ile</a:t>
              </a:r>
              <a:br/>
              <a:r>
                <a:rPr lang="tr-TR" sz="1200" dirty="0">
                  <a:solidFill>
                    <a:srgbClr val="172B3A"/>
                  </a:solidFill>
                  <a:latin typeface="+mn-lt"/>
                  <a:ea typeface="+mn-ea"/>
                  <a:cs typeface="+mn-cs"/>
                </a:rPr>
                <a:t>eşik tabanlı öneri üretildi.</a:t>
              </a:r>
            </a:p>
          </p:txBody>
        </p:sp>
      </p:grpSp>
      <p:grpSp>
        <p:nvGrpSpPr>
          <p:cNvPr id="29" name="summary-nedensellik"/>
          <p:cNvGrpSpPr/>
          <p:nvPr/>
        </p:nvGrpSpPr>
        <p:grpSpPr>
          <a:xfrm>
            <a:off x="8077200" y="3143250"/>
            <a:ext cx="3505200" cy="1524000"/>
            <a:chOff x="8077200" y="3143250"/>
            <a:chExt cx="3505200" cy="1524000"/>
          </a:xfrm>
        </p:grpSpPr>
        <p:sp>
          <p:nvSpPr>
            <p:cNvPr id="26" name="Rectangle 26"/>
            <p:cNvSpPr/>
            <p:nvPr/>
          </p:nvSpPr>
          <p:spPr>
            <a:xfrm>
              <a:off x="8077200" y="3143250"/>
              <a:ext cx="3505200" cy="1524000"/>
            </a:xfrm>
            <a:prstGeom prst="roundRect">
              <a:avLst>
                <a:gd name="adj" fmla="val 6250"/>
              </a:avLst>
            </a:prstGeom>
            <a:solidFill>
              <a:srgbClr val="FFFFFF"/>
            </a:solidFill>
            <a:ln w="14288">
              <a:solidFill>
                <a:srgbClr val="00A6A6"/>
              </a:solidFill>
            </a:ln>
          </p:spPr>
        </p:sp>
        <p:sp>
          <p:nvSpPr>
            <p:cNvPr id="27" name="TextBox 27"/>
            <p:cNvSpPr txBox="1"/>
            <p:nvPr/>
          </p:nvSpPr>
          <p:spPr>
            <a:xfrm>
              <a:off x="8296656" y="3329940"/>
              <a:ext cx="2430229"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Nedensellik uyarısı</a:t>
              </a:r>
            </a:p>
          </p:txBody>
        </p:sp>
        <p:sp>
          <p:nvSpPr>
            <p:cNvPr id="28" name="TextBox 28"/>
            <p:cNvSpPr txBox="1"/>
            <p:nvPr/>
          </p:nvSpPr>
          <p:spPr>
            <a:xfrm>
              <a:off x="8299704" y="3718560"/>
              <a:ext cx="235915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Açıklama yöntemleri korelasyon</a:t>
              </a:r>
              <a:br/>
              <a:r>
                <a:rPr lang="tr-TR" sz="1200" dirty="0">
                  <a:solidFill>
                    <a:srgbClr val="172B3A"/>
                  </a:solidFill>
                  <a:latin typeface="+mn-lt"/>
                  <a:ea typeface="+mn-ea"/>
                  <a:cs typeface="+mn-cs"/>
                </a:rPr>
                <a:t>gösterir; nedensellik iddiası</a:t>
              </a:r>
              <a:br/>
              <a:r>
                <a:rPr lang="tr-TR" sz="1200" dirty="0">
                  <a:solidFill>
                    <a:srgbClr val="172B3A"/>
                  </a:solidFill>
                  <a:latin typeface="+mn-lt"/>
                  <a:ea typeface="+mn-ea"/>
                  <a:cs typeface="+mn-cs"/>
                </a:rPr>
                <a:t>ayrı kanıt gerektirir.</a:t>
              </a:r>
            </a:p>
          </p:txBody>
        </p:sp>
      </p:grpSp>
      <p:grpSp>
        <p:nvGrpSpPr>
          <p:cNvPr id="33" name="exam-note"/>
          <p:cNvGrpSpPr/>
          <p:nvPr/>
        </p:nvGrpSpPr>
        <p:grpSpPr>
          <a:xfrm>
            <a:off x="609600" y="5048250"/>
            <a:ext cx="10972800" cy="952500"/>
            <a:chOff x="609600" y="5048250"/>
            <a:chExt cx="10972800" cy="952500"/>
          </a:xfrm>
        </p:grpSpPr>
        <p:sp>
          <p:nvSpPr>
            <p:cNvPr id="30" name="Rectangle 30"/>
            <p:cNvSpPr/>
            <p:nvPr/>
          </p:nvSpPr>
          <p:spPr>
            <a:xfrm>
              <a:off x="609600" y="5048250"/>
              <a:ext cx="10972800" cy="952500"/>
            </a:xfrm>
            <a:prstGeom prst="roundRect">
              <a:avLst>
                <a:gd name="adj" fmla="val 8000"/>
              </a:avLst>
            </a:prstGeom>
            <a:solidFill>
              <a:srgbClr val="EAF4F6"/>
            </a:solidFill>
            <a:ln>
              <a:noFill/>
            </a:ln>
          </p:spPr>
        </p:sp>
        <p:sp>
          <p:nvSpPr>
            <p:cNvPr id="31" name="TextBox 31"/>
            <p:cNvSpPr txBox="1"/>
            <p:nvPr/>
          </p:nvSpPr>
          <p:spPr>
            <a:xfrm>
              <a:off x="905256" y="5234940"/>
              <a:ext cx="7868637"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XAI'nin en önemli katkısı, modeli "daha basit" yapmak değildir.</a:t>
              </a:r>
            </a:p>
          </p:txBody>
        </p:sp>
        <p:sp>
          <p:nvSpPr>
            <p:cNvPr id="32" name="TextBox 32"/>
            <p:cNvSpPr txBox="1"/>
            <p:nvPr/>
          </p:nvSpPr>
          <p:spPr>
            <a:xfrm>
              <a:off x="906399" y="5583079"/>
              <a:ext cx="7063001"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Kararları görünür, sorgulanabilir ve savunulabilir hâle getirmektir.</a:t>
              </a:r>
            </a:p>
          </p:txBody>
        </p:sp>
      </p:grpSp>
      <p:sp>
        <p:nvSpPr>
          <p:cNvPr id="34" name="TextBox 34"/>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24 / 25</a:t>
            </a:r>
          </a:p>
        </p:txBody>
      </p:sp>
    </p:spTree>
  </p:cSld>
  <p:clrMapOvr>
    <a:masterClrMapping/>
  </p:clrMapOvr>
  <p:transition xmlns:p14="http://schemas.microsoft.com/office/powerpoint/2010/main" p14:dur="400">
    <p:fade/>
  </p:transition>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sp>
        <p:nvSpPr>
          <p:cNvPr id="4" name="Line 4"/>
          <p:cNvSpPr/>
          <p:nvPr/>
        </p:nvSpPr>
        <p:spPr>
          <a:xfrm>
            <a:off x="4476750" y="3810000"/>
            <a:ext cx="2190750" cy="1"/>
          </a:xfrm>
          <a:prstGeom prst="line">
            <a:avLst/>
          </a:prstGeom>
          <a:noFill/>
          <a:ln w="28575">
            <a:solidFill>
              <a:srgbClr val="00A6A6"/>
            </a:solidFill>
            <a:tailEnd type="arrow" w="lg" len="lg"/>
          </a:ln>
        </p:spPr>
      </p:sp>
      <p:grpSp>
        <p:nvGrpSpPr>
          <p:cNvPr id="6" name="page-title"/>
          <p:cNvGrpSpPr/>
          <p:nvPr/>
        </p:nvGrpSpPr>
        <p:grpSpPr>
          <a:xfrm>
            <a:off x="595122" y="282892"/>
            <a:ext cx="4150951" cy="557403"/>
            <a:chOff x="595122" y="282892"/>
            <a:chExt cx="4150951" cy="557403"/>
          </a:xfrm>
        </p:grpSpPr>
        <p:sp>
          <p:nvSpPr>
            <p:cNvPr id="5" name="TextBox 5"/>
            <p:cNvSpPr txBox="1"/>
            <p:nvPr/>
          </p:nvSpPr>
          <p:spPr>
            <a:xfrm>
              <a:off x="595122" y="282892"/>
              <a:ext cx="4150951"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Sonraki bölüme köprü</a:t>
              </a:r>
            </a:p>
          </p:txBody>
        </p:sp>
      </p:grpSp>
      <p:grpSp>
        <p:nvGrpSpPr>
          <p:cNvPr id="8" name="bridge-claim"/>
          <p:cNvGrpSpPr/>
          <p:nvPr/>
        </p:nvGrpSpPr>
        <p:grpSpPr>
          <a:xfrm>
            <a:off x="599694" y="1484948"/>
            <a:ext cx="9430512" cy="724281"/>
            <a:chOff x="599694" y="1484948"/>
            <a:chExt cx="9430512" cy="724281"/>
          </a:xfrm>
        </p:grpSpPr>
        <p:sp>
          <p:nvSpPr>
            <p:cNvPr id="7" name="TextBox 7"/>
            <p:cNvSpPr txBox="1"/>
            <p:nvPr/>
          </p:nvSpPr>
          <p:spPr>
            <a:xfrm>
              <a:off x="599694" y="1484948"/>
              <a:ext cx="9430512" cy="724281"/>
            </a:xfrm>
            <a:prstGeom prst="rect">
              <a:avLst/>
            </a:prstGeom>
            <a:noFill/>
            <a:ln>
              <a:noFill/>
            </a:ln>
          </p:spPr>
          <p:txBody>
            <a:bodyPr wrap="none" lIns="0" tIns="0" rIns="0" bIns="0" anchor="t" anchorCtr="0">
              <a:spAutoFit/>
            </a:bodyPr>
            <a:lstStyle/>
            <a:p>
              <a:pPr algn="l">
                <a:lnSpc>
                  <a:spcPts val="2700"/>
                </a:lnSpc>
              </a:pPr>
              <a:r>
                <a:rPr lang="tr-TR" sz="1950" dirty="0">
                  <a:solidFill>
                    <a:srgbClr val="172B3A"/>
                  </a:solidFill>
                  <a:latin typeface="+mn-lt"/>
                  <a:ea typeface="+mn-ea"/>
                  <a:cs typeface="+mn-cs"/>
                </a:rPr>
                <a:t>Bir modelin kararlarını açıklayabiliyoruz. Sıradaki soru, bu açıklamaların ve</a:t>
              </a:r>
              <a:br/>
              <a:r>
                <a:rPr lang="tr-TR" sz="1950" dirty="0">
                  <a:solidFill>
                    <a:srgbClr val="172B3A"/>
                  </a:solidFill>
                  <a:latin typeface="+mn-lt"/>
                  <a:ea typeface="+mn-ea"/>
                  <a:cs typeface="+mn-cs"/>
                </a:rPr>
                <a:t>modelin performansının zaman içinde geçerliliğini korumasıdır.</a:t>
              </a:r>
            </a:p>
          </p:txBody>
        </p:sp>
      </p:grpSp>
      <p:grpSp>
        <p:nvGrpSpPr>
          <p:cNvPr id="14" name="bridge-now"/>
          <p:cNvGrpSpPr/>
          <p:nvPr/>
        </p:nvGrpSpPr>
        <p:grpSpPr>
          <a:xfrm>
            <a:off x="599694" y="2799398"/>
            <a:ext cx="3004566" cy="2082069"/>
            <a:chOff x="599694" y="2799398"/>
            <a:chExt cx="3004566" cy="2082069"/>
          </a:xfrm>
        </p:grpSpPr>
        <p:sp>
          <p:nvSpPr>
            <p:cNvPr id="9" name="TextBox 9"/>
            <p:cNvSpPr txBox="1"/>
            <p:nvPr/>
          </p:nvSpPr>
          <p:spPr>
            <a:xfrm>
              <a:off x="599694" y="2799398"/>
              <a:ext cx="2646140" cy="381381"/>
            </a:xfrm>
            <a:prstGeom prst="rect">
              <a:avLst/>
            </a:prstGeom>
            <a:noFill/>
            <a:ln>
              <a:noFill/>
            </a:ln>
          </p:spPr>
          <p:txBody>
            <a:bodyPr wrap="none" lIns="0" tIns="0" rIns="0" bIns="0" anchor="t" anchorCtr="0">
              <a:spAutoFit/>
            </a:bodyPr>
            <a:lstStyle/>
            <a:p>
              <a:pPr algn="l"/>
              <a:r>
                <a:rPr lang="tr-TR" sz="1950" b="1" dirty="0">
                  <a:solidFill>
                    <a:srgbClr val="12355B"/>
                  </a:solidFill>
                  <a:latin typeface="+mn-lt"/>
                  <a:ea typeface="+mn-ea"/>
                  <a:cs typeface="+mn-cs"/>
                </a:rPr>
                <a:t>Artık yapabilirsiniz</a:t>
              </a:r>
            </a:p>
          </p:txBody>
        </p:sp>
        <p:sp>
          <p:nvSpPr>
            <p:cNvPr id="10" name="Rectangle 10"/>
            <p:cNvSpPr/>
            <p:nvPr/>
          </p:nvSpPr>
          <p:spPr>
            <a:xfrm>
              <a:off x="609600" y="3333750"/>
              <a:ext cx="57150" cy="285750"/>
            </a:xfrm>
            <a:prstGeom prst="rect">
              <a:avLst/>
            </a:prstGeom>
            <a:solidFill>
              <a:srgbClr val="00A6A6"/>
            </a:solidFill>
            <a:ln>
              <a:noFill/>
            </a:ln>
          </p:spPr>
        </p:sp>
        <p:sp>
          <p:nvSpPr>
            <p:cNvPr id="11" name="TextBox 11"/>
            <p:cNvSpPr txBox="1"/>
            <p:nvPr/>
          </p:nvSpPr>
          <p:spPr>
            <a:xfrm>
              <a:off x="849249" y="3373279"/>
              <a:ext cx="2755011" cy="555688"/>
            </a:xfrm>
            <a:prstGeom prst="rect">
              <a:avLst/>
            </a:prstGeom>
            <a:noFill/>
            <a:ln>
              <a:noFill/>
            </a:ln>
          </p:spPr>
          <p:txBody>
            <a:bodyPr wrap="none" lIns="0" tIns="0" rIns="0" bIns="0" anchor="t" anchorCtr="0">
              <a:spAutoFit/>
            </a:bodyPr>
            <a:lstStyle/>
            <a:p>
              <a:pPr algn="l">
                <a:lnSpc>
                  <a:spcPts val="1950"/>
                </a:lnSpc>
              </a:pPr>
              <a:r>
                <a:rPr lang="tr-TR" sz="1580" dirty="0">
                  <a:solidFill>
                    <a:srgbClr val="172B3A"/>
                  </a:solidFill>
                  <a:latin typeface="+mn-lt"/>
                  <a:ea typeface="+mn-ea"/>
                  <a:cs typeface="+mn-cs"/>
                </a:rPr>
                <a:t>SHAP ve LIME ile global/yerel</a:t>
              </a:r>
              <a:br/>
              <a:r>
                <a:rPr lang="tr-TR" sz="1580" dirty="0">
                  <a:solidFill>
                    <a:srgbClr val="172B3A"/>
                  </a:solidFill>
                  <a:latin typeface="+mn-lt"/>
                  <a:ea typeface="+mn-ea"/>
                  <a:cs typeface="+mn-cs"/>
                </a:rPr>
                <a:t>açıklama üretmek</a:t>
              </a:r>
            </a:p>
          </p:txBody>
        </p:sp>
        <p:sp>
          <p:nvSpPr>
            <p:cNvPr id="12" name="Rectangle 12"/>
            <p:cNvSpPr/>
            <p:nvPr/>
          </p:nvSpPr>
          <p:spPr>
            <a:xfrm>
              <a:off x="609600" y="4038600"/>
              <a:ext cx="57150" cy="285750"/>
            </a:xfrm>
            <a:prstGeom prst="rect">
              <a:avLst/>
            </a:prstGeom>
            <a:solidFill>
              <a:srgbClr val="00A6A6"/>
            </a:solidFill>
            <a:ln>
              <a:noFill/>
            </a:ln>
          </p:spPr>
        </p:sp>
        <p:sp>
          <p:nvSpPr>
            <p:cNvPr id="13" name="TextBox 13"/>
            <p:cNvSpPr txBox="1"/>
            <p:nvPr/>
          </p:nvSpPr>
          <p:spPr>
            <a:xfrm>
              <a:off x="849249" y="4078129"/>
              <a:ext cx="2443988" cy="803338"/>
            </a:xfrm>
            <a:prstGeom prst="rect">
              <a:avLst/>
            </a:prstGeom>
            <a:noFill/>
            <a:ln>
              <a:noFill/>
            </a:ln>
          </p:spPr>
          <p:txBody>
            <a:bodyPr wrap="none" lIns="0" tIns="0" rIns="0" bIns="0" anchor="t" anchorCtr="0">
              <a:spAutoFit/>
            </a:bodyPr>
            <a:lstStyle/>
            <a:p>
              <a:pPr algn="l">
                <a:lnSpc>
                  <a:spcPts val="1950"/>
                </a:lnSpc>
              </a:pPr>
              <a:r>
                <a:rPr lang="tr-TR" sz="1580" dirty="0">
                  <a:solidFill>
                    <a:srgbClr val="172B3A"/>
                  </a:solidFill>
                  <a:latin typeface="+mn-lt"/>
                  <a:ea typeface="+mn-ea"/>
                  <a:cs typeface="+mn-cs"/>
                </a:rPr>
                <a:t>Açıklamaları nedensellik</a:t>
              </a:r>
              <a:br/>
              <a:r>
                <a:rPr lang="tr-TR" sz="1580" dirty="0">
                  <a:solidFill>
                    <a:srgbClr val="172B3A"/>
                  </a:solidFill>
                  <a:latin typeface="+mn-lt"/>
                  <a:ea typeface="+mn-ea"/>
                  <a:cs typeface="+mn-cs"/>
                </a:rPr>
                <a:t>iddiasına dönüştürmeden</a:t>
              </a:r>
              <a:br/>
              <a:r>
                <a:rPr lang="tr-TR" sz="1580" dirty="0">
                  <a:solidFill>
                    <a:srgbClr val="172B3A"/>
                  </a:solidFill>
                  <a:latin typeface="+mn-lt"/>
                  <a:ea typeface="+mn-ea"/>
                  <a:cs typeface="+mn-cs"/>
                </a:rPr>
                <a:t>yorumlamak</a:t>
              </a:r>
            </a:p>
          </p:txBody>
        </p:sp>
      </p:grpSp>
      <p:grpSp>
        <p:nvGrpSpPr>
          <p:cNvPr id="19" name="bridge-next"/>
          <p:cNvGrpSpPr/>
          <p:nvPr/>
        </p:nvGrpSpPr>
        <p:grpSpPr>
          <a:xfrm>
            <a:off x="7010400" y="2667000"/>
            <a:ext cx="4572000" cy="2286000"/>
            <a:chOff x="7010400" y="2667000"/>
            <a:chExt cx="4572000" cy="2286000"/>
          </a:xfrm>
        </p:grpSpPr>
        <p:sp>
          <p:nvSpPr>
            <p:cNvPr id="15" name="Rectangle 15"/>
            <p:cNvSpPr/>
            <p:nvPr/>
          </p:nvSpPr>
          <p:spPr>
            <a:xfrm>
              <a:off x="7010400" y="2667000"/>
              <a:ext cx="4572000" cy="2286000"/>
            </a:xfrm>
            <a:prstGeom prst="roundRect">
              <a:avLst>
                <a:gd name="adj" fmla="val 4167"/>
              </a:avLst>
            </a:prstGeom>
            <a:solidFill>
              <a:srgbClr val="12355B"/>
            </a:solidFill>
            <a:ln>
              <a:noFill/>
            </a:ln>
          </p:spPr>
        </p:sp>
        <p:sp>
          <p:nvSpPr>
            <p:cNvPr id="16" name="TextBox 16"/>
            <p:cNvSpPr txBox="1"/>
            <p:nvPr/>
          </p:nvSpPr>
          <p:spPr>
            <a:xfrm>
              <a:off x="7309104" y="2975610"/>
              <a:ext cx="1704564" cy="234696"/>
            </a:xfrm>
            <a:prstGeom prst="rect">
              <a:avLst/>
            </a:prstGeom>
            <a:noFill/>
            <a:ln>
              <a:noFill/>
            </a:ln>
          </p:spPr>
          <p:txBody>
            <a:bodyPr wrap="none" lIns="0" tIns="0" rIns="0" bIns="0" anchor="t" anchorCtr="0">
              <a:spAutoFit/>
            </a:bodyPr>
            <a:lstStyle/>
            <a:p>
              <a:pPr algn="l"/>
              <a:r>
                <a:rPr lang="tr-TR" sz="1200" b="1" spc="225" dirty="0">
                  <a:solidFill>
                    <a:srgbClr val="00A6A6"/>
                  </a:solidFill>
                  <a:latin typeface="+mn-lt"/>
                  <a:ea typeface="+mn-ea"/>
                  <a:cs typeface="+mn-cs"/>
                </a:rPr>
                <a:t>SONRAKİ BÖLÜM</a:t>
              </a:r>
            </a:p>
          </p:txBody>
        </p:sp>
        <p:sp>
          <p:nvSpPr>
            <p:cNvPr id="17" name="TextBox 17"/>
            <p:cNvSpPr txBox="1"/>
            <p:nvPr/>
          </p:nvSpPr>
          <p:spPr>
            <a:xfrm>
              <a:off x="7303770" y="3319462"/>
              <a:ext cx="2798207" cy="802005"/>
            </a:xfrm>
            <a:prstGeom prst="rect">
              <a:avLst/>
            </a:prstGeom>
            <a:noFill/>
            <a:ln>
              <a:noFill/>
            </a:ln>
          </p:spPr>
          <p:txBody>
            <a:bodyPr wrap="none" lIns="0" tIns="0" rIns="0" bIns="0" anchor="t" anchorCtr="0">
              <a:spAutoFit/>
            </a:bodyPr>
            <a:lstStyle/>
            <a:p>
              <a:pPr algn="l">
                <a:lnSpc>
                  <a:spcPts val="2850"/>
                </a:lnSpc>
              </a:pPr>
              <a:r>
                <a:rPr lang="tr-TR" sz="2250" b="1" dirty="0">
                  <a:solidFill>
                    <a:srgbClr val="FFFFFF"/>
                  </a:solidFill>
                  <a:latin typeface="+mn-lt"/>
                  <a:ea typeface="+mn-ea"/>
                  <a:cs typeface="+mn-cs"/>
                </a:rPr>
                <a:t>Kavram kayması ve</a:t>
              </a:r>
              <a:br/>
              <a:r>
                <a:rPr lang="tr-TR" sz="2250" b="1" dirty="0">
                  <a:solidFill>
                    <a:srgbClr val="FFFFFF"/>
                  </a:solidFill>
                  <a:latin typeface="+mn-lt"/>
                  <a:ea typeface="+mn-ea"/>
                  <a:cs typeface="+mn-cs"/>
                </a:rPr>
                <a:t>model izleme</a:t>
              </a:r>
            </a:p>
          </p:txBody>
        </p:sp>
        <p:sp>
          <p:nvSpPr>
            <p:cNvPr id="18" name="TextBox 18"/>
            <p:cNvSpPr txBox="1"/>
            <p:nvPr/>
          </p:nvSpPr>
          <p:spPr>
            <a:xfrm>
              <a:off x="7307199" y="4135279"/>
              <a:ext cx="3356991" cy="574738"/>
            </a:xfrm>
            <a:prstGeom prst="rect">
              <a:avLst/>
            </a:prstGeom>
            <a:noFill/>
            <a:ln>
              <a:noFill/>
            </a:ln>
          </p:spPr>
          <p:txBody>
            <a:bodyPr wrap="none" lIns="0" tIns="0" rIns="0" bIns="0" anchor="t" anchorCtr="0">
              <a:spAutoFit/>
            </a:bodyPr>
            <a:lstStyle/>
            <a:p>
              <a:pPr algn="l">
                <a:lnSpc>
                  <a:spcPts val="2100"/>
                </a:lnSpc>
              </a:pPr>
              <a:r>
                <a:rPr lang="tr-TR" sz="1580" dirty="0">
                  <a:solidFill>
                    <a:srgbClr val="EAF4F6"/>
                  </a:solidFill>
                  <a:latin typeface="+mn-lt"/>
                  <a:ea typeface="+mn-ea"/>
                  <a:cs typeface="+mn-cs"/>
                </a:rPr>
                <a:t>Üretimdeki modelin zamanla</a:t>
              </a:r>
              <a:br/>
              <a:r>
                <a:rPr lang="tr-TR" sz="1580" dirty="0">
                  <a:solidFill>
                    <a:srgbClr val="EAF4F6"/>
                  </a:solidFill>
                  <a:latin typeface="+mn-lt"/>
                  <a:ea typeface="+mn-ea"/>
                  <a:cs typeface="+mn-cs"/>
                </a:rPr>
                <a:t>nasıl bozulduğunu öğreneceksiniz.</a:t>
              </a:r>
            </a:p>
          </p:txBody>
        </p:sp>
      </p:grpSp>
      <p:grpSp>
        <p:nvGrpSpPr>
          <p:cNvPr id="23" name="bridge-closing"/>
          <p:cNvGrpSpPr/>
          <p:nvPr/>
        </p:nvGrpSpPr>
        <p:grpSpPr>
          <a:xfrm>
            <a:off x="609600" y="5429250"/>
            <a:ext cx="10972800" cy="709518"/>
            <a:chOff x="609600" y="5429250"/>
            <a:chExt cx="10972800" cy="709518"/>
          </a:xfrm>
        </p:grpSpPr>
        <p:sp>
          <p:nvSpPr>
            <p:cNvPr id="20" name="Rectangle 20"/>
            <p:cNvSpPr/>
            <p:nvPr/>
          </p:nvSpPr>
          <p:spPr>
            <a:xfrm>
              <a:off x="609600" y="5429250"/>
              <a:ext cx="10972800" cy="666750"/>
            </a:xfrm>
            <a:prstGeom prst="roundRect">
              <a:avLst>
                <a:gd name="adj" fmla="val 11429"/>
              </a:avLst>
            </a:prstGeom>
            <a:solidFill>
              <a:srgbClr val="EAF4F6"/>
            </a:solidFill>
            <a:ln>
              <a:noFill/>
            </a:ln>
          </p:spPr>
        </p:sp>
        <p:sp>
          <p:nvSpPr>
            <p:cNvPr id="21" name="TextBox 21"/>
            <p:cNvSpPr txBox="1"/>
            <p:nvPr/>
          </p:nvSpPr>
          <p:spPr>
            <a:xfrm>
              <a:off x="905256" y="5520690"/>
              <a:ext cx="8142449"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Bu bölümde ürettiğiniz açıklamaları, ilerleyen izleme panellerinde</a:t>
              </a:r>
            </a:p>
          </p:txBody>
        </p:sp>
        <p:sp>
          <p:nvSpPr>
            <p:cNvPr id="22" name="TextBox 22"/>
            <p:cNvSpPr txBox="1"/>
            <p:nvPr/>
          </p:nvSpPr>
          <p:spPr>
            <a:xfrm>
              <a:off x="906399" y="5830729"/>
              <a:ext cx="9310975"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performans ölçütleriyle birlikte düzenli olarak gözden geçirmeyi alışkanlık hâline getirin.</a:t>
              </a:r>
            </a:p>
          </p:txBody>
        </p:sp>
      </p:grpSp>
      <p:sp>
        <p:nvSpPr>
          <p:cNvPr id="24" name="TextBox 24"/>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25 / 25</a:t>
            </a: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ch13_aciklanabilir_yapay_zeka_xai-20260916">
  <a:themeElements>
    <a:clrScheme name="ch13_aciklanabilir_yapay_zeka_xai-20260916">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h13_aciklanabilir_yapay_zeka_xai-20260916">
      <a:majorFont>
        <a:latin typeface="Aptos Display"/>
        <a:ea typeface="Microsoft YaHei"/>
        <a:cs typeface="Aptos Display"/>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Microsoft YaHei"/>
        <a:cs typeface="Aptos"/>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h13_aciklanabilir_yapay_zeka_xai-20260916">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ch13_aciklanabilir_yapay_zeka_xai-20260916">
  <a:themeElements>
    <a:clrScheme name="ch13_aciklanabilir_yapay_zeka_xai-20260916">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h13_aciklanabilir_yapay_zeka_xai-20260916">
      <a:majorFont>
        <a:latin typeface="Aptos Display"/>
        <a:ea typeface="Microsoft YaHei"/>
        <a:cs typeface="Aptos Display"/>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Microsoft YaHei"/>
        <a:cs typeface="Aptos"/>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h13_aciklanabilir_yapay_zeka_xai-20260916">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25</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tr-TR</dc:language>
  <cp:lastModifiedBy/>
  <cp:revision>1</cp:revision>
  <dcterms:created xsi:type="dcterms:W3CDTF">2026-09-19T21:22:45Z</dcterms:created>
  <dcterms:modified xsi:type="dcterms:W3CDTF">2026-09-19T21:22:45Z</dcterms:modified>
  <cp:category/>
  <cp:contentStatus/>
</cp:coreProperties>
</file>