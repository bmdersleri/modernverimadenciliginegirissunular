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İleri Gradyan Artırma başlıklı onuncu bölümün kapak sayfasıdır ve bölümde XGBoost, LightGBM ve hiperparametre optimizasyonu konularının işleneceğini duyurur. Alt başlık, bölümü modern veri madenciliğine giriş dizisinin bir parçası olarak konumlandırır; yazar ve kurum bilgisi akademik kaynağı belirler. Bu sayfa yalnızca yönlendirme amaçlıdır, teknik bir iddia taşımaz.</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 Elif adlı bir veri bilimcinin Random Forest ile kurduğu müşteri kaybı modelinin doğrulama setinde yalnızca yüzde 81 AUC vermesi ve ekip lideri Yasemin'in bunun ekip hedefinin altında kaldığını belirtmesiyle açılır. Yasemin'in itirazı teknik bir gözleme dayanır: rastgele orman her ağacı birbirinden bağımsız kurduğu için hiçbir ağaç zor müşteri segmentine özel olarak odaklanmaz. Bu durum, bagging ile boosting arasındaki temel farkı gündeme getirir — bagging paralel ve bağımsız oylama yaparken, boosting ağaçları sırayla kurar ve her yeni ağaç bir öncekinin bıraktığı hataya (artığa) odaklanır; bu, art arda düzeltme yapan bir editör zincirine benzetilir. Bölümün hedefi, boosting ailesinin mantığını AdaBoost'tan Gradient Boosting'e kadar kavramak, XGBoost ve LightGBM'in mimari farklarını öğrenmek, hiperparametre optimizasyonunu GridSearch ve Optuna ile uçtan uca uygulamak ve sonunda üretim kalitesinde bir sınıflandırma modeli kurmaktır.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bölümün beş öğrenme hedefini ve her biri için somut başarı ölçütünü sıralar: boosting ile bagging arasındaki farkı hangi senaryoda hangisinin tercih edileceğine karar verecek şekilde ayırt etmek; Gradient Boosting'in artık döngüsünü numpy ve DecisionTreeRegressor ile beş iterasyonluk bir düzeltme döngüsü kurarak elle uygulamak; XGBoost ve LightGBM'in mimari farklarını Hessian bilgisi, regularizasyon ve yaprak-öncelikli büyüme kavramlarıyla doğru gerekçelendirerek açıklamak; öğrenme oranının etkisini beş farklı learning_rate değeri için doğrulama AUC'sini karşılaştırarak deneysel olarak göstermek; ve GridSearchCV ile Optuna'nın arama stratejilerini aynı hiperparametre uzayında en iyi AUC ve süre açısından ölçmek. Genel başarı ölçütü, laboratuvar görevlerinde kurulan XGBoost modelinin doğrulama AUC'sinin Random Forest referansına kıyasla en az iki puan artmasıdır — bu, Elif'in senaryosundaki yüzde 81'lik başlangıç skorunu doğrudan referans alır.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kavram haritası, bölümün altı temel fikrini gradyan artırma ailesi etrafında birbirine bağlar: merkezdeki gradyan artırma ailesinden beş dal çıkar — bagging karşılaştırması (paralel oylama ile sıralı düzeltme arasındaki fark), Gradient Boosting'in artık hesaplama döngüsü, Hessian bilgisi ve regularizasyon ile öne çıkan XGBoost, yaprak-öncelikli büyüme ve histogram tabanlı bölünme ile öne çıkan LightGBM, ve öğrenme oranı dengesiyle GridSearchCV/Optuna aramasını kapsayan hiperparametre optimizasyonu. Kesikli oklar, Gradient Boosting ile hiperparametre optimizasyonu arasında ve bagging karşılaştırması ile hiperparametre optimizasyonu arasında tamamlayıcı ilişkiler bulunduğunu gösterir; yani bu kavramlar birbirinden bağımsız değil, bölüm boyunca iç içe geçerek işlenecektir. Bu harita, sonraki sayfalarda tek tek derinleştirilecek kavramların genel iskeletini önceden sunar.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Boosting, zayıf öğrenicileri — genellikle sığ karar ağaçlarını — sıralı biçimde birleştiren ve her adımda bir öncekinin hatasını düzelten bir ansambl stratejisidir. Zincir mantığı üç adımla özetlenir: ilk ağaç kaba bir tahmin kurup belirgin hataları düzeltir, ikinci ağaç birincinin bıraktığı artığa (kalan hataya) odaklanır, ve zincir uzadıkça model kümülatif olarak iyileşir — ancak bu sıralılık nedeniyle süreç paralelleştirilemez. Tarihsel olarak fikir 1990'larda Schapire ve Freund'un teorik temeliyle başlamış, 1996'da AdaBoost örnek ağırlıklarını artırarak zayıf öğrenicileri zorlayan somut bir algoritmaya dönüşmüş, sonra Gradient Boosting bu fikri kayıp fonksiyonunun gradyanına genelleştirmiştir. Günlük hayattan bir analoji bu mantığı somutlaştırır: bir öğrenci önce deneme sınavı çözüp yanlışlarını işaretler (ilk model), sonra yalnızca o yanlışlara odaklanan bir tekrar seansı yapar (ikinci model) — önceki adımın hata haritası bilinmeden bu döngünün bir anlamı kalmaz.</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 bagging (örneğin Random Forest) ile boosting'i (örneğin XGBoost) altı boyutta karşılaştırır: ağaç kurma sırası bagging'de paralel ve bağımsızken boosting'de sıralı ve bağımlıdır; bagging varyansı azaltmaya odaklanırken boosting yanlılığı (bias) azaltmaya odaklanır; aşırı öğrenme eğilimi bagging'de düşükken boosting'de orta-yüksektir ve regularizasyon gerektirir; bagging doğası gereği kolayca paralelleştirilebilirken boosting'de paralelleştirme sınırlıdır ve yalnızca özellik düzeyinde mümkündür; bagging tipik olarak derin ağaçlar kullanırken boosting sığ ağaçlar (derinlik üç ila sekiz) tercih eder; ve bagging aykırı değerlere karşı daha az duyarlıyken boosting bu değerlere karşı yüksek duyarlılık gösterir. Bu farkların özündeki temel içgörü, bagging'in varyansı, boosting'in ise yanlılığı azaltmasıdır — yani ikisi aslında farklı hata türlerini hedefler ve bu nedenle birbirinin yerine değil, farklı senaryolarda tercih edilecek tamamlayıcı araçlardır.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l-GR" dirty="0"/>
              <a:t>Gradient Boosting'in matematiksel özü şu güncelleme kuralıyla ifade edilir: Fₘ(x) = Fₘ₋₁(x) + ν·hₘ(x), yani her yeni ağacın katkısı öğrenme oranı ν ile ölçeklenerek toplam tahmine eklenir. Döngü dört adımdan oluşur: önce artık rᵢ = yᵢ − Fₘ₋₁(xᵢ) olarak hesaplanır, yani mevcut modelin hatası bulunur; sonra genellikle derinlik iki ile üç arasında sığ bir ağaç bu artığa fit edilir; ardından bu ağacın çıktısı ν ile ölçeklenerek toplam tahmine kademeli olarak eklenir; son olarak ağaç sayısına ulaşılıp ulaşılmadığı ya da erken durdurma koşulunun sağlanıp sağlanmadığı kontrol edilir ve kriter sağlanmadıysa döngü yeni bir ağaçla tekrarlanır. Öğrenme oranı burada bir küçültme (shrinkage) katsayısı olarak işlev görür: kare hata kaybında artık, gerçek değer ile mevcut tahmin arasındaki farktır, ve öğrenme oranı her ağacın nihai tahmine katkısını sınırlayarak modelin tek bir ağaca aşırı güvenmesini engeller.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l-GR" dirty="0"/>
              <a:t>Bu sayfa, tek bir düzeltme adımını somut sayılarla elle izler: iki gözlemli bir veri setinde gerçek değerler [3, 5], başlangıç tahminleri [2, 4] olduğunda artık [1, 1] olarak hesaplanır. Öğrenme oranı ν = 0,1 alındığında ve zayıf öğrenicinin düzeltmesi [2, 0] olarak bulunduğunda, güncellenmiş tahmin [2 + 0,1·2, 4 + 0,1·0] işleminden [2,2 ; 4] çıkar. Bu, ilk gözlemde hatanın azaldığını ama ikinci gözlemin değişmediğini gösterir — sonraki ağaç, kalan hataya göre yeni bir düzeltme öğrenecektir, çünkü düzeltme tüm gözlemlere eşit uygulanmaz. Bu sürecin varsayımı, artıkların mevcut modelin eksik yönünü yeterince temsil ettiği ve doğrulama verisinin eğitimden bağımsız olduğudur; büyük öğrenme oranı gürültüyü de büyütebileceği için eğitim kaybının düşmesi tek başına yeni veride başarıyı garanti etmez — sık yapılan hata, öğrenme oranını ağaç sayısından bağımsız olarak tek başına ayarlamaktır, bu da modelin yeterince yakınsayamamasına (underfitting) yol açar.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XGBoost'u yalnızca "daha hızlı" bir uygulama olmaktan çıkaran iki mimari özellik vardır. Birincisi, kayıp fonksiyonunun Taylor açılımında yalnızca gradyanı değil eğriliği de (ikinci derece Hessian bilgisini) kullanmasıdır; bölünme kararı hem yönü hem eğriliği dikkate alarak alınır. İkincisi, yaprak sayısı ve yaprak ağırlıklarının L2 normu üzerinden model karmaşıklığını cezalandıran açık bir regularizasyon terimi içermesidir, bu da aşırı öğrenmeyi frenler. XGBoost varsayılan olarak seviye-öncelikli (level-wise) büyüme kullanır: her derinlik seviyesindeki tüm dallar bölünmeden bir sonraki seviyeye geçilmez, bu ağacı simetrik ve dengeli tutar ama düşük kazançlı dallarda da bölünme yapılmasına neden olabilir. Ayrıca XGBoost, öğrenilen bir varsayılan yönde eksik alanları otomatik işleyebilir — bu, telco churn gibi gerçek dünya verilerinde ayrı bir imputation adımını gereksiz kılabilir.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LightGBM'in temel mimari farkı yaprak-öncelikli (leaf-wise) büyümedir: tüm yapraklar arasından en yüksek kazancı sağlayacak yaprak seçilip bölünür, bu da aynı yaprak sayısı için genellikle XGBoost'un seviye-öncelikli yaklaşımından daha düşük kayıp elde eder. Bunu destekleyen ikinci özellik histogram tabanlı bölünmedir: sürekli özellikler önceden ayrık kovalara (bin) dönüştürülür ve arama bu kovalar üzerinden yapılır, bu da büyük veri setlerinde bellek ve hız avantajı sağlar. Ancak en yüksek kazançlı yaprağın öncelikle bölünmesi, diğer yaprakların o turda hiç bölünmeyebileceği anlamına gelir — bu yüzden ağaç dengesiz ve derin büyüyebilir, özellikle küçük veri setlerinde aşırı öğrenme riskini artırır. Bu nedenle num_leaves veya max_depth parametreleriyle sınırlama yapılması önemlidir; sınırlama yapılmazsa bu dengesiz büyüme kontrolsüz aşırı öğrenmeye yol açabilir.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XGBoost'un dengeli (level-wise) ve LightGBM'in yaprak-öncelikli (leaf-wise) ağaç büyütme stratejilerini yan yana görselleştirir. XGBoost'ta her seviye tam bölünür — bu daha yavaştır ama daha az aşırı öğrenme riski taşır; buna karşın LightGBM'de en yüksek kazançlı yaprak öncelikle bölünür — bu daha hızlıdır ama dikkatli sınırlama gerektirir. Bölünme arama stratejileri de farklıdır: XGBoost varsayılan olarak her özelliğin tüm olası eşik değerini (veya yaklaşık kova bazlı bir versiyonunu) tarar, LightGBM ise sürekli özellikleri önceden ayrık histogram kovalarına dönüştürüp aramayı bu kovalar üzerinden yapar. Aynı kök düğümden başlayan bu iki farklı büyütme kararı, sonuçta farklı hız ve aşırı öğrenme dengesine sahip ağaçlar üretir; bu fark, ilerleyen Kod 3 örneğinde eğitim süresi ölçümüyle somut olarak gösterilecektir.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Öğrenme oranı (learning_rate), her ağacın toplam tahmine katkısını ölçeklendiren küçültme katsayısıdır, tipik aralığı 0,01 ile 0,3 arasındadır, ve "büyük adımlarla mı küçük adımlarla mı hedefe yürüyorum" ödünleşimiyle örtüşür. Küçük bir öğrenme oranı (örneğin 0,01) genelde daha iyi genelleme sağlar ve hiçbir tek ağaç gürültüye aşırı ağırlık kazanmaz, ama daha fazla ağaca (n_estimators) ihtiyaç duyar; büyük bir öğrenme oranı (örneğin 0,5) daha az ağaçla hızlı yakınsama sağlar ama artıkları agresif biçimde kapatmaya çalıştığı için eğitim verisine aşırı uyum riski artar. Bu iki parametre birlikte ayarlanmalıdır: öğrenme oranı düşürüldüğünde ağaç sayısının da artırılması gerekir, aksi hâlde model yeterince yakınsayamaz (underfitting). Dikkat edilmesi gereken nokta, öğrenme oranını düşürüp ağaç sayısını sabit bırakmanın modelin yakınsamadan durmasına yol açacağıdır — iki parametre daima birlikte değerlendirilmelidir.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l-GR" dirty="0"/>
              <a:t>Bu ilk kod örneği, gradyan artırmayı sıfırdan, gürültü eklenmiş sinüs fonksiyonuna ait 80 gözlem üzerinde elle uygular. Kod, toplam tahmini hedef değerlerin ortalamasıyla başlatır, öğrenme oranını 0,3 ve ağaç sayısını 5 olarak sabitler; her adımda artık hata hesaplanır, derinlik ikiyle sınırlı sığ bir karar ağacı bu artığa fit edilir, ve toplam tahmin öğrenme oranıyla ölçeklenmiş ağaç çıktısı eklenerek güncellenir. Beş iterasyon boyunca ortalama kare hata sürekli azalır — birinci adımda 0,2952'den beşinci adımda 0,0933'e, yani hata yaklaşık üçte bire iner — bu da her ağacın toplam modele küçük ama tutarlı bir katkı yaptığını doğrular. Bu somut sayısal döngü, önceki sayfalarda kavramsal olarak anlatılan Fₘ(x) = Fₘ₋₁(x) + ν·hₘ(x) güncellemesinin gerçek kodda nasıl çalıştığını gösterir.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örnek, XGBoost'u gerçekçi bir dengesiz sınıflandırma probleminde (yüzde 75'e 25 sınıf oranıyla 2000 gözlem) uygular; model 200 ağaç, dördüncü derinlik ve subsample=0,8 ile kurulur — subsample, her ağacın verinin yalnızca yüzde 80'i üzerinde eğitilmesini zorunlu kılan bir satır örneklemesidir, ve stratify=hedefEtiket sınıf dengesizlik oranını hem eğitim hem test setinde korur. Test doğruluğu 0,9420 olarak ölçülür; sınıf 0 için precision 0,946 ve recall 0,979, sınıf 1 (azınlık sınıf) için ise precision 0,929 ve recall 0,833'tür — azınlık sınıftaki daha düşük recall, dengesiz verinin zorluğunu yansıtır. En önemli üç özellik feature_importances_ ile sıralanır (özellik_8 ve özellik_3 en yüksek katkıyı verirken özellik_11 onları izler); bu değer her özelliğin bölünmelere toplam katkısını gösterir ve pazarlama ekibine hangi müşteri özelliğinin churn'de etkili olduğunu somut biçimde ortaya koyar.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örnek, XGBoost ile LightGBM'i 20.000 gözlemlik aynı veri üzerinde, aynı n_estimators (300), max_depth (5) ve learning_rate (0,1) ayarlarıyla adil biçimde karşılaştırır — bu üç parametrenin bilinçli olarak eşitlenmesi, karşılaştırmayı anlamlı kılan kontrollü bir tasarımdır. Bu çalıştırmada her iki modelin doğruluğu 0,9673 ile aynı çıkarken, XGBoost'un eğitim süresi 0,29 saniye, LightGBM'in ise 2,46 saniye olarak ölçülmüştür — yani LightGBM bu çalıştırmada XGBoost'tan daha uzun sürmüştür. Bu sonuç, LightGBM'in histogram tabanlı hız avantajının evrensel bir kural olmadığını, veri büyüklüğü, bin sayısı ve donanım gibi koşullara bağlı olarak değiştiğini gösterir; buna karşın doğruluk farkı ihmal edilebilir düzeydedir, yani iki kütüphane arasındaki seçim yalnızca hıza değil, kullanılan veri ve donanım bağlamına göre yapılmalıdır.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deney, n_estimators=150'yi sabit tutarak learning_rate değerini 0,01; 0,05; 0,1; 0,3 ve 0,5 olarak değiştirip 3000 gözlemlik bir veri setinde doğrulama AUC'sinin nasıl değiştiğini gözlemler — yalnızca öğrenme oranı değişir, AUC olasılık tahminleri üzerinden hesaplanır. Sonuçlar bir eğri oluşturur: 0,01'de AUC 0,9261 ile en düşük değerdedir, 0,05'te 0,9625'e yükselir, 0,1'de 0,9713 ile zirve yapar, sonra 0,3'te 0,9711 ve 0,5'te 0,9693'e hafifçe geriler. Bu eğri, çok düşük öğrenme oranının sabit ağaç sayısıyla yeterince yakınsayamadığını, yüksek oranların ise aşırı öğrenmeye kaydığını somut biçimde gösterir — orta değerler (0,05 ile 0,1 arası) en iyi dengeyi kurar. Bu deneysel kanıt, önceki sayfada kavramsal olarak anlatılan öğrenme oranı-ağaç sayısı ödünleşimini sayılarla doğrular.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Hiperparametre optimizasyonu, model performansını doğrulama setinde maksimize eden hiperparametre kombinasyonunu sistematik biçimde arama sürecidir. GridSearchCV kaba kuvvet bir ızgara yaklaşımıdır: önceden tanımlı bir ızgaradaki tüm kombinasyonları dener, ancak kombinasyon sayısı parametre sayısıyla katlanarak arttığı için büyük arama uzaylarında hızla pahalılaşır. Optuna ise Bayes tabanlı sıralı bir arama stratejisi kullanır: her deneme öncekilerden öğrenerek umut vaat eden bölgeye yoğunlaşır, kötü giden denemeler ise pruning (budama) ile erken durdurulur. Sınav açısından kritik ayrım şudur: GridSearchCV yalnızca önceden tanımlı ayrık ızgara noktalarını dener, Optuna ise sürekli hiperparametre uzaylarından akıllıca örnekleyerek genellikle daha verimlidir.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örnek, 800 gözlemlik bir veri setinde GridSearchCV'yi 2×2×2'lik bir ızgara (max_depth, learning_rate, n_estimators için) ile ve Optuna'yı sekiz denemelik bir bütçeyle karşılaştırır; GridSearchCV cv=3 ile toplam 24 model eğitimi yaparken Optuna aynı sekiz deneme bütçesiyle önceki sonuçlardan öğrenerek arar. Sonuçlar yakındır ama Optuna hafifçe öndedir: GridSearch en iyi AUC olarak 0,9524'ü 1,1 saniyede bulurken, Optuna en iyi AUC olarak 0,9530'u yalnızca 0,9 saniyede bulur. Bu, aynı deneme bütçesiyle Optuna'nın GridSearch'e eşit ya da daha kısa sürede eşit ya da daha iyi bir AUC'ye ulaştığını gösterir; ancak bu bölümdeki ızgara ve deneme bütçesi kasıtlı olarak küçük tutulmuştur — Optuna'nın avantajı arama uzayı büyüdükçe çok daha belirgin hâle gelir.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l-GR" dirty="0"/>
              <a:t>Boosting modellerinin kuramsal çerçevesi tek bir amaç fonksiyonuyla özetlenebilir: L = Σᵢ ℓ(yᵢ, ŷᵢ) + Ω(f), burada kayıp terimi ℓ veriye uyumu, regularizasyon terimi Ω(f) ise modelin karmaşıklığını dengeler. Bu çerçevenin dört temel unsuru vardır: kayıp fonksiyonu tahmin ile gerçek değer arasındaki farkı ölçer ve görev tipine uymayan bir kayıp yanlış optimizasyon yönüne yol açar; öğrenme oranı ve tur sayısı her ağacın katkısının büyüklüğünü ölçekler ve yüksek oranla sabit tur sayısı aşırı öğrenmeye, düşük oranla yetersiz tur sayısı ise yetersiz uyuma yol açar; ağaç karmaşıklığı derinlik ve yaprak sayısıyla modelin ifade gücünü sınırlar ve aşırı derin ya da yaprak-öncelikli ağaçlar eğitim verisini ezberler; düzenlileştirme ve erken durdurma ise Ω(f) ve doğrulama izleme ile gereksiz karmaşıklığı cezalandırır, erken durdurma yoksa model gereğinden fazla tur eğitilip genelleme gücünü kaybeder. XGBoost ile LightGBM arasındaki seçim; veri büyüklüğü, bellek bütçesi, kategorik ve eksik değer temsili, kabul edilebilir eğitim süresi ve doğrulama performansı kriterlerine göre yapılır — tek bir algoritma her senaryoda üstün değildir.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sözlük sayfası bölümün on temel terimini iki sütunda tanımlar. Soldaki sütun boosting'i (zayıf öğrenicileri ardışık biçimde birleştirip her birinin bir öncekinin hatasını düzeltmesini sağlayan aile), artığı (mevcut model tahmini ile gerçek değer arasındaki fark, bir sonraki ağacın öğrenme hedefi), XGBoost'u (ikinci derece Hessian bilgi ve açık düzenlileştirme terimi kullanan seviye-öncelikli kütüphane), LightGBM'i (yaprak-öncelikli büyüme ve histogram tabanlı bölünme arayışı kullanan hıza odaklı kütüphane) ve öğrenme oranını (her ağacın katkısını ölçekleyen küçültme katsayısı) tanımlar. Sağdaki sütun seviye-öncelikli büyümeyi (XGBoost'un varsayılanı), yaprak-öncelikli büyümeyi (LightGBM'in varsayılanı, asimetrik ağaç üretir), hiperparametre optimizasyonunu, Optuna'yı (önceki denemelerden öğrenerek arama uzayını sıralı biçimde daraltan, pruning destekli kütüphane) ve erken durdurmayı (doğrulama skoru belirli sayıda turdur iyileşmediğinde eğitimi durdurma) tanımlar. AdaBoost, Bagging, GridSearchCV ve ağaç karmaşıklığı gibi kalan sözlük terimleri, bölüm boyunca işlendikleri sayfalarda bağlamıyla birlikte zaten tanımlanmıştır.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üç yaygın yanılgıyı, teknik gerçeğiyle ve doğru yaklaşımıyla karşılaştırır. Birincisi, "öğrenme oranını artırırsam model daha hızlı iyileşir" yanılgısıdır — oysa ağaç sayısı sabit kalıp öğrenme oranı artırıldığında model hızla aşırı öğrenmeye kayar ve doğrulama AUC'si düşmeye başlar; doğru yaklaşım, öğrenme oranı ve ağaç sayısını birlikte ayarlamak ve erken durdurma ile tur sayısını doğrulama setine göre sınırlamaktır. İkincisi, "LightGBM'de num_leaves'i büyük tutmak zararsızdır" yanılgısıdır — num_leaves, max_depth ile tutarsız bırakılırsa yaprak-öncelikli büyüme aşırı derin, dengesiz ağaçlar üretip aşırı öğrenmeye yol açar; doğru yaklaşım, num_leaves'i max_depth ile uyumlu seçmek ve ikisi arasındaki 2 üzeri derinlik ilişkisini kontrol ederek ağaç karmaşıklığını sınırlamaktır. Üçüncüsü, "model seçiminde accuracy_score her zaman yeterlidir" yanılgısıdır — dengesiz sınıflarda (örneğin yüzde 20 churn oranında) çoğunluk sınıfını tahmin eden bir model bile yüksek accuracy gösterebilir ve azınlık sınıf gözden kaçabilir; doğru yaklaşım, dengesiz sınıflarda AUC, precision, recall ve F1'i birlikte izlemektir. Genel bir yanlış anlama olarak, boosting'in her zaman bagging'den daha iyi performans vereceği düşünülür, ama gerçekte seçim gürültü düzeyine, veri büyüklüğüne ve aşırı öğrenme riskine bağlıdır — hiçbir yöntem her senaryoda üstün değildir.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hata ayıklama alıştırması, ChurnModelDebug adlı bir kod parçasında altı farklı hata türü barındırır ve her biri farklı bir hiperparametre ya da API kısıtını ihlal eder: veri bölmede stratify parametresinin eksik olması sınıf dengesini bozar; learning_rate=1,5 değeri geçerli aralığın (0,01-0,3) dışındadır; max_depth=-3 negatif bir derinlik değeridir ve geçersizdir; num_leaves parametresi XGBoost'ta mevcut değildir, yalnızca LightGBM'e özgüdür; bir float ile bir string'in toplanması TypeError'a yol açar; ve model.feature_importance_ yanlış yazılmıştır, doğrusu feature_importances_'tır. Bu altı hata; veri bölme, parametre aralığı, API uyumluluğu ve tip hatası olmak üzere dört farklı kategoriyi kapsar, ve her biri için düzeltme sırasıyla verilir — stratify=y eklenir, learning_rate 0,01-0,3 aralığına çekilir, max_depth pozitif bir tam sayı olarak (örneğin 4) belirlenir, num_leaves kaldırılır, eşikDegeri float'a dönüştürülür ve doğru öznitelik önemi API'si kullanılır — bu düzeltmelerin ardından model 0,9067 doğruluk verir. Bu alıştırmanın önemi, kütüphaneye özgü parametre adlarının ve geçerli aralıkların birbirine karıştırılması durumunda hatanın çalışma zamanına kadar fark edilmemesidir.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uçtan uca mini uygulama, ChurnBoostingPipeline adıyla dört adımlı bir işlem hattı kurar: önce temelModelleriKarsilastir fonksiyonu XGBoost'u LightGBM'e karşı karşılaştırır, sonra _hedefFonksiyon Optuna deneme skorunu hesaplar, ardından optunaIleOptimizeEt sıralı hiperparametre araması yapar, ve son olarak enIyiModeliEgit nihai modeli eğitip test AUC'sini üretir. Temel karşılaştırmada XGBoost 0,9749 AUC, 0,8662 F1 ve 0,141 saniye eğitim süresiyle; LightGBM ise 0,9705 AUC, 0,8531 F1 ve 1,575 saniye eğitim süresiyle ölçülür — XGBoost burada hem daha isabetli hem daha hızlıdır. Optuna araması max_depth=7, learning_rate≈0,191, n_estimators=196 ve subsample≈0,946 ile en iyi çapraz doğrulama AUC'si olarak 0,9542'yi bulur, ve bu ayarlarla eğitilen nihai model test setinde 0,9735 AUC verir. Bu sonuç, Elif'in bölüm başındaki yüzde 81'lik başlangıç AUC'sinin, boosting mimarisi seçimi, öğrenme oranı ayarı ve Optuna ile sistematik hiperparametre aramasının bir araya gelmesiyle yüzde 97'nin üzerine taşındığını gösterir; genişletme fikirleri arasında SHAP değerleriyle özellik katkısını açıklamak, Optuna deneme sayısını artırıp yakınsama eğrisini karşılaştırmak, CatBoost'u üçüncü aday olarak eklemek ve kalibrasyon eğrisiyle olasılık tahminlerinin güvenilirliğini sınamak sayılabilir.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l-GR" dirty="0"/>
              <a:t>Bölüm altı temel fikir etrafında özetlenir: boosting mantığında ağaçlar paralel değil ardışık eğitilir ve her biri bir öncekinin artığını hedefler; tarihsel olarak 1996'da AdaBoost'un ağırlıklandırma fikri gradyan iniş mantığıyla birleşerek Gradient Boosting'e evrilmiştir; XGBoost'un katkısı Hessian (ikinci derece) bilgi ve açık regularizasyon terimiyle daha kararlı, denetimli büyüme sağlamasıdır; LightGBM'in hız avantajı yaprak-öncelikli büyüme ve histogram tabanlı bölünmenin büyük veride hızlı arama sağlamasından gelir; öğrenme oranı dengesinde küçük ν yakınsamayı yavaşlatırken büyük ν genellemeyi bozar, ikisi ağaç sayısıyla birlikte ayarlanmalıdır; ve sistematik aramada GridSearchCV tüm ızgarayı denerken Optuna önceki denemelerden öğrenerek daha verimli arar. Sınav notu olarak vurgulanan temel mesaj şudur: boosting'in en önemli katkısı tek bir güçlü ağaç kurmak değil, zayıf öğrenicileri hatadan öğrenerek sıralı biçimde bir araya getirmektir.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Elif artık dengeli veride hangi boosting mimarisinin ve hangi öğrenme oranının daha iyi çalıştığını biliyor; sıradaki soru, sınıflar dengesizse ne değişeceğidir. Bu bölümde kazanılan beceriler arasında boosting ile bagging'i ayırmak, XGBoost ve LightGBM arasında seçim yapmak, öğrenme oranını dengelemek, GridSearch ile Optuna'yı kıyaslamak ve uçtan uca bir boosting hattı kurmak sayılır. Sonraki bölüm, dengesiz veri ve açıklanabilirlik konularına yönelecek: Bölüm 11'de SMOTE ve sınıf ağırlıklandırma teknikleriyle dengesiz churn verisi ele alınacak, Bölüm 13'te ise SHAP ve LIME yöntemleriyle model kararları açıklanacaktır. Kapanış mesajı olarak, kurulan her boosting modelinde sınıf dengesinin kontrol edilmesi ve en önemli özelliklerin iş bağlamında anlamlı olup olmadığının sorgulanması önerilir.</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h10_gradyan_artirma-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h10_gradyan_artirma-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10</a:t>
              </a:r>
            </a:p>
          </p:txBody>
        </p:sp>
      </p:grpSp>
      <p:grpSp>
        <p:nvGrpSpPr>
          <p:cNvPr id="8" name="cover-title"/>
          <p:cNvGrpSpPr/>
          <p:nvPr/>
        </p:nvGrpSpPr>
        <p:grpSpPr>
          <a:xfrm>
            <a:off x="4933950" y="1595438"/>
            <a:ext cx="4688681" cy="2505075"/>
            <a:chOff x="4933950" y="1595438"/>
            <a:chExt cx="4688681" cy="2505075"/>
          </a:xfrm>
        </p:grpSpPr>
        <p:sp>
          <p:nvSpPr>
            <p:cNvPr id="7" name="TextBox 7"/>
            <p:cNvSpPr txBox="1"/>
            <p:nvPr/>
          </p:nvSpPr>
          <p:spPr>
            <a:xfrm>
              <a:off x="4933950" y="1595438"/>
              <a:ext cx="4688681" cy="2505075"/>
            </a:xfrm>
            <a:prstGeom prst="rect">
              <a:avLst/>
            </a:prstGeom>
            <a:noFill/>
            <a:ln>
              <a:noFill/>
            </a:ln>
          </p:spPr>
          <p:txBody>
            <a:bodyPr wrap="none" lIns="0" tIns="0" rIns="0" bIns="0" anchor="t" anchorCtr="0">
              <a:spAutoFit/>
            </a:bodyPr>
            <a:lstStyle/>
            <a:p>
              <a:pPr algn="l">
                <a:lnSpc>
                  <a:spcPts val="4650"/>
                </a:lnSpc>
              </a:pPr>
              <a:r>
                <a:rPr lang="tr-TR" sz="3750" b="1" dirty="0">
                  <a:solidFill>
                    <a:srgbClr val="12355B"/>
                  </a:solidFill>
                  <a:latin typeface="+mj-lt"/>
                  <a:ea typeface="+mj-ea"/>
                  <a:cs typeface="+mj-cs"/>
                </a:rPr>
                <a:t>İleri Gradyan</a:t>
              </a:r>
              <a:br/>
              <a:r>
                <a:rPr lang="tr-TR" sz="3750" b="1" dirty="0">
                  <a:solidFill>
                    <a:srgbClr val="12355B"/>
                  </a:solidFill>
                  <a:latin typeface="+mj-lt"/>
                  <a:ea typeface="+mj-ea"/>
                  <a:cs typeface="+mj-cs"/>
                </a:rPr>
                <a:t>Artırma: XGBoost,</a:t>
              </a:r>
              <a:br/>
              <a:r>
                <a:rPr lang="tr-TR" sz="3750" b="1" dirty="0">
                  <a:solidFill>
                    <a:srgbClr val="12355B"/>
                  </a:solidFill>
                  <a:latin typeface="+mj-lt"/>
                  <a:ea typeface="+mj-ea"/>
                  <a:cs typeface="+mj-cs"/>
                </a:rPr>
                <a:t>LightGBM ve</a:t>
              </a:r>
              <a:br/>
              <a:r>
                <a:rPr lang="tr-TR" sz="3750" b="1" dirty="0">
                  <a:solidFill>
                    <a:srgbClr val="12355B"/>
                  </a:solidFill>
                  <a:latin typeface="+mj-lt"/>
                  <a:ea typeface="+mj-ea"/>
                  <a:cs typeface="+mj-cs"/>
                </a:rPr>
                <a:t>Optimizasyon</a:t>
              </a:r>
            </a:p>
          </p:txBody>
        </p:sp>
      </p:grpSp>
      <p:grpSp>
        <p:nvGrpSpPr>
          <p:cNvPr id="12" name="cover-subtitle"/>
          <p:cNvGrpSpPr/>
          <p:nvPr/>
        </p:nvGrpSpPr>
        <p:grpSpPr>
          <a:xfrm>
            <a:off x="4943094" y="4286250"/>
            <a:ext cx="3976056" cy="900018"/>
            <a:chOff x="4943094" y="4286250"/>
            <a:chExt cx="3976056" cy="900018"/>
          </a:xfrm>
        </p:grpSpPr>
        <p:sp>
          <p:nvSpPr>
            <p:cNvPr id="9" name="Rectangle 9"/>
            <p:cNvSpPr/>
            <p:nvPr/>
          </p:nvSpPr>
          <p:spPr>
            <a:xfrm>
              <a:off x="4953000" y="4286250"/>
              <a:ext cx="1143000" cy="38100"/>
            </a:xfrm>
            <a:prstGeom prst="rect">
              <a:avLst/>
            </a:prstGeom>
            <a:solidFill>
              <a:srgbClr val="00A6A6"/>
            </a:solidFill>
            <a:ln>
              <a:noFill/>
            </a:ln>
          </p:spPr>
        </p:sp>
        <p:sp>
          <p:nvSpPr>
            <p:cNvPr id="10" name="TextBox 10"/>
            <p:cNvSpPr txBox="1"/>
            <p:nvPr/>
          </p:nvSpPr>
          <p:spPr>
            <a:xfrm>
              <a:off x="4943094" y="4418648"/>
              <a:ext cx="3976056"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Veri Madenciliğine Giriş</a:t>
              </a:r>
            </a:p>
          </p:txBody>
        </p:sp>
        <p:sp>
          <p:nvSpPr>
            <p:cNvPr id="11" name="TextBox 11"/>
            <p:cNvSpPr txBox="1"/>
            <p:nvPr/>
          </p:nvSpPr>
          <p:spPr>
            <a:xfrm>
              <a:off x="4944999" y="48782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973434" cy="234696"/>
            <a:chOff x="4946904" y="6233160"/>
            <a:chExt cx="4973434" cy="234696"/>
          </a:xfrm>
        </p:grpSpPr>
        <p:sp>
          <p:nvSpPr>
            <p:cNvPr id="13" name="TextBox 13"/>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6646" y="315278"/>
            <a:ext cx="7943807" cy="498729"/>
            <a:chOff x="596646" y="315278"/>
            <a:chExt cx="7943807" cy="498729"/>
          </a:xfrm>
        </p:grpSpPr>
        <p:sp>
          <p:nvSpPr>
            <p:cNvPr id="4" name="TextBox 4"/>
            <p:cNvSpPr txBox="1"/>
            <p:nvPr/>
          </p:nvSpPr>
          <p:spPr>
            <a:xfrm>
              <a:off x="596646" y="315278"/>
              <a:ext cx="7943807" cy="498729"/>
            </a:xfrm>
            <a:prstGeom prst="rect">
              <a:avLst/>
            </a:prstGeom>
            <a:noFill/>
            <a:ln>
              <a:noFill/>
            </a:ln>
          </p:spPr>
          <p:txBody>
            <a:bodyPr wrap="none" lIns="0" tIns="0" rIns="0" bIns="0" anchor="t" anchorCtr="0">
              <a:spAutoFit/>
            </a:bodyPr>
            <a:lstStyle/>
            <a:p>
              <a:pPr algn="l"/>
              <a:r>
                <a:rPr lang="tr-TR" sz="2550" b="1" dirty="0">
                  <a:solidFill>
                    <a:srgbClr val="FFFFFF"/>
                  </a:solidFill>
                  <a:latin typeface="+mj-lt"/>
                  <a:ea typeface="+mj-ea"/>
                  <a:cs typeface="+mj-cs"/>
                </a:rPr>
                <a:t>Bölüm açılışı: Elif'in modeli neden yetersiz?</a:t>
              </a:r>
            </a:p>
          </p:txBody>
        </p:sp>
      </p:grpSp>
      <p:grpSp>
        <p:nvGrpSpPr>
          <p:cNvPr id="9" name="scenario-quote"/>
          <p:cNvGrpSpPr/>
          <p:nvPr/>
        </p:nvGrpSpPr>
        <p:grpSpPr>
          <a:xfrm>
            <a:off x="609600" y="1181100"/>
            <a:ext cx="10972800" cy="1219200"/>
            <a:chOff x="609600" y="1181100"/>
            <a:chExt cx="10972800" cy="1219200"/>
          </a:xfrm>
        </p:grpSpPr>
        <p:sp>
          <p:nvSpPr>
            <p:cNvPr id="6" name="Rectangle 6"/>
            <p:cNvSpPr/>
            <p:nvPr/>
          </p:nvSpPr>
          <p:spPr>
            <a:xfrm>
              <a:off x="609600" y="1181100"/>
              <a:ext cx="10972800" cy="1219200"/>
            </a:xfrm>
            <a:prstGeom prst="roundRect">
              <a:avLst>
                <a:gd name="adj" fmla="val 6250"/>
              </a:avLst>
            </a:prstGeom>
            <a:solidFill>
              <a:srgbClr val="FFFFFF"/>
            </a:solidFill>
            <a:ln w="14288">
              <a:solidFill>
                <a:srgbClr val="B8CBD3"/>
              </a:solidFill>
            </a:ln>
          </p:spPr>
        </p:sp>
        <p:sp>
          <p:nvSpPr>
            <p:cNvPr id="7" name="Rectangle 7"/>
            <p:cNvSpPr/>
            <p:nvPr/>
          </p:nvSpPr>
          <p:spPr>
            <a:xfrm>
              <a:off x="609600" y="1181100"/>
              <a:ext cx="57150" cy="1219200"/>
            </a:xfrm>
            <a:prstGeom prst="rect">
              <a:avLst/>
            </a:prstGeom>
            <a:solidFill>
              <a:srgbClr val="00A6A6"/>
            </a:solidFill>
            <a:ln>
              <a:noFill/>
            </a:ln>
          </p:spPr>
        </p:sp>
        <p:sp>
          <p:nvSpPr>
            <p:cNvPr id="8" name="TextBox 8"/>
            <p:cNvSpPr txBox="1"/>
            <p:nvPr/>
          </p:nvSpPr>
          <p:spPr>
            <a:xfrm>
              <a:off x="906399" y="1353979"/>
              <a:ext cx="9326626"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Elif'in Random Forest ile kurduğu müşteri kaybı (churn) modeli, doğrulama setinde %81 AUC</a:t>
              </a:r>
              <a:br/>
              <a:r>
                <a:rPr lang="tr-TR" sz="1580" dirty="0">
                  <a:solidFill>
                    <a:srgbClr val="172B3A"/>
                  </a:solidFill>
                  <a:latin typeface="+mn-lt"/>
                  <a:ea typeface="+mn-ea"/>
                  <a:cs typeface="+mn-cs"/>
                </a:rPr>
                <a:t>veriyor — ekip lideri Yasemin'in eşiğinin altında. Yasemin'in itirazı: "Rastgele orman her ağacı</a:t>
              </a:r>
              <a:br/>
              <a:r>
                <a:rPr lang="tr-TR" sz="1580" dirty="0">
                  <a:solidFill>
                    <a:srgbClr val="172B3A"/>
                  </a:solidFill>
                  <a:latin typeface="+mn-lt"/>
                  <a:ea typeface="+mn-ea"/>
                  <a:cs typeface="+mn-cs"/>
                </a:rPr>
                <a:t>birbirinden habersiz kuruyor; zor müşteri segmentini hiçbir ağaç özel olarak hedeflemiyor."</a:t>
              </a:r>
            </a:p>
          </p:txBody>
        </p:sp>
      </p:grpSp>
      <p:grpSp>
        <p:nvGrpSpPr>
          <p:cNvPr id="14" name="stat-card"/>
          <p:cNvGrpSpPr/>
          <p:nvPr/>
        </p:nvGrpSpPr>
        <p:grpSpPr>
          <a:xfrm>
            <a:off x="609600" y="2552700"/>
            <a:ext cx="2667000" cy="1981200"/>
            <a:chOff x="609600" y="2552700"/>
            <a:chExt cx="2667000" cy="1981200"/>
          </a:xfrm>
        </p:grpSpPr>
        <p:sp>
          <p:nvSpPr>
            <p:cNvPr id="10" name="Rectangle 10"/>
            <p:cNvSpPr/>
            <p:nvPr/>
          </p:nvSpPr>
          <p:spPr>
            <a:xfrm>
              <a:off x="609600" y="2552700"/>
              <a:ext cx="2667000" cy="1981200"/>
            </a:xfrm>
            <a:prstGeom prst="roundRect">
              <a:avLst>
                <a:gd name="adj" fmla="val 4808"/>
              </a:avLst>
            </a:prstGeom>
            <a:solidFill>
              <a:srgbClr val="12355B"/>
            </a:solidFill>
            <a:ln>
              <a:noFill/>
            </a:ln>
          </p:spPr>
        </p:sp>
        <p:sp>
          <p:nvSpPr>
            <p:cNvPr id="11" name="TextBox 11"/>
            <p:cNvSpPr txBox="1"/>
            <p:nvPr/>
          </p:nvSpPr>
          <p:spPr>
            <a:xfrm>
              <a:off x="895350" y="3070860"/>
              <a:ext cx="1136397" cy="819150"/>
            </a:xfrm>
            <a:prstGeom prst="rect">
              <a:avLst/>
            </a:prstGeom>
            <a:noFill/>
            <a:ln>
              <a:noFill/>
            </a:ln>
          </p:spPr>
          <p:txBody>
            <a:bodyPr wrap="none" lIns="0" tIns="0" rIns="0" bIns="0" anchor="t" anchorCtr="0">
              <a:spAutoFit/>
            </a:bodyPr>
            <a:lstStyle/>
            <a:p>
              <a:pPr algn="l"/>
              <a:r>
                <a:rPr lang="tr-TR" sz="4200" b="1" dirty="0">
                  <a:solidFill>
                    <a:srgbClr val="00A6A6"/>
                  </a:solidFill>
                  <a:latin typeface="+mj-lt"/>
                  <a:ea typeface="+mj-ea"/>
                  <a:cs typeface="+mj-cs"/>
                </a:rPr>
                <a:t>%81</a:t>
              </a:r>
            </a:p>
          </p:txBody>
        </p:sp>
        <p:sp>
          <p:nvSpPr>
            <p:cNvPr id="12" name="TextBox 12"/>
            <p:cNvSpPr txBox="1"/>
            <p:nvPr/>
          </p:nvSpPr>
          <p:spPr>
            <a:xfrm>
              <a:off x="906399" y="3639979"/>
              <a:ext cx="405363"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AUC</a:t>
              </a:r>
            </a:p>
          </p:txBody>
        </p:sp>
        <p:sp>
          <p:nvSpPr>
            <p:cNvPr id="13" name="TextBox 13"/>
            <p:cNvSpPr txBox="1"/>
            <p:nvPr/>
          </p:nvSpPr>
          <p:spPr>
            <a:xfrm>
              <a:off x="908304" y="3947160"/>
              <a:ext cx="22219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EAF4F6"/>
                  </a:solidFill>
                  <a:latin typeface="+mn-lt"/>
                  <a:ea typeface="+mn-ea"/>
                  <a:cs typeface="+mn-cs"/>
                </a:rPr>
                <a:t>Random Forest doğrulama</a:t>
              </a:r>
              <a:br/>
              <a:r>
                <a:rPr lang="tr-TR" sz="1200" dirty="0">
                  <a:solidFill>
                    <a:srgbClr val="EAF4F6"/>
                  </a:solidFill>
                  <a:latin typeface="+mn-lt"/>
                  <a:ea typeface="+mn-ea"/>
                  <a:cs typeface="+mn-cs"/>
                </a:rPr>
                <a:t>skoru — ekip hedefinin altında</a:t>
              </a:r>
            </a:p>
          </p:txBody>
        </p:sp>
      </p:grpSp>
      <p:grpSp>
        <p:nvGrpSpPr>
          <p:cNvPr id="18" name="reasoning-bagging"/>
          <p:cNvGrpSpPr/>
          <p:nvPr/>
        </p:nvGrpSpPr>
        <p:grpSpPr>
          <a:xfrm>
            <a:off x="3581400" y="2571750"/>
            <a:ext cx="5751576" cy="790956"/>
            <a:chOff x="3581400" y="2571750"/>
            <a:chExt cx="5751576" cy="790956"/>
          </a:xfrm>
        </p:grpSpPr>
        <p:sp>
          <p:nvSpPr>
            <p:cNvPr id="15" name="Rectangle 15"/>
            <p:cNvSpPr/>
            <p:nvPr/>
          </p:nvSpPr>
          <p:spPr>
            <a:xfrm>
              <a:off x="3581400" y="2571750"/>
              <a:ext cx="57150" cy="571500"/>
            </a:xfrm>
            <a:prstGeom prst="rect">
              <a:avLst/>
            </a:prstGeom>
            <a:solidFill>
              <a:srgbClr val="52616B"/>
            </a:solidFill>
            <a:ln>
              <a:noFill/>
            </a:ln>
          </p:spPr>
        </p:sp>
        <p:sp>
          <p:nvSpPr>
            <p:cNvPr id="16" name="TextBox 16"/>
            <p:cNvSpPr txBox="1"/>
            <p:nvPr/>
          </p:nvSpPr>
          <p:spPr>
            <a:xfrm>
              <a:off x="3840099" y="2611279"/>
              <a:ext cx="377560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Bagging: paralel, bağımsız oylama</a:t>
              </a:r>
            </a:p>
          </p:txBody>
        </p:sp>
        <p:sp>
          <p:nvSpPr>
            <p:cNvPr id="17" name="TextBox 17"/>
            <p:cNvSpPr txBox="1"/>
            <p:nvPr/>
          </p:nvSpPr>
          <p:spPr>
            <a:xfrm>
              <a:off x="3842004" y="2918460"/>
              <a:ext cx="54909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Her ağaç rastgele bir alt örneklem üzerinde bağımsız çalışır; sistematik</a:t>
              </a:r>
              <a:br/>
              <a:r>
                <a:rPr lang="tr-TR" sz="1200" dirty="0">
                  <a:solidFill>
                    <a:srgbClr val="52616B"/>
                  </a:solidFill>
                  <a:latin typeface="+mn-lt"/>
                  <a:ea typeface="+mn-ea"/>
                  <a:cs typeface="+mn-cs"/>
                </a:rPr>
                <a:t>olarak yanlış sınıflandırılan örneklere odaklanan bir düzeltme yoktur.</a:t>
              </a:r>
            </a:p>
          </p:txBody>
        </p:sp>
      </p:grpSp>
      <p:grpSp>
        <p:nvGrpSpPr>
          <p:cNvPr id="22" name="reasoning-boosting"/>
          <p:cNvGrpSpPr/>
          <p:nvPr/>
        </p:nvGrpSpPr>
        <p:grpSpPr>
          <a:xfrm>
            <a:off x="3581400" y="3638550"/>
            <a:ext cx="5446776" cy="790956"/>
            <a:chOff x="3581400" y="3638550"/>
            <a:chExt cx="5446776" cy="790956"/>
          </a:xfrm>
        </p:grpSpPr>
        <p:sp>
          <p:nvSpPr>
            <p:cNvPr id="19" name="Rectangle 19"/>
            <p:cNvSpPr/>
            <p:nvPr/>
          </p:nvSpPr>
          <p:spPr>
            <a:xfrm>
              <a:off x="3581400" y="3638550"/>
              <a:ext cx="57150" cy="571500"/>
            </a:xfrm>
            <a:prstGeom prst="rect">
              <a:avLst/>
            </a:prstGeom>
            <a:solidFill>
              <a:srgbClr val="00A6A6"/>
            </a:solidFill>
            <a:ln>
              <a:noFill/>
            </a:ln>
          </p:spPr>
        </p:sp>
        <p:sp>
          <p:nvSpPr>
            <p:cNvPr id="20" name="TextBox 20"/>
            <p:cNvSpPr txBox="1"/>
            <p:nvPr/>
          </p:nvSpPr>
          <p:spPr>
            <a:xfrm>
              <a:off x="3840099" y="3678079"/>
              <a:ext cx="303843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Boosting: ardışık düzeltme</a:t>
              </a:r>
            </a:p>
          </p:txBody>
        </p:sp>
        <p:sp>
          <p:nvSpPr>
            <p:cNvPr id="21" name="TextBox 21"/>
            <p:cNvSpPr txBox="1"/>
            <p:nvPr/>
          </p:nvSpPr>
          <p:spPr>
            <a:xfrm>
              <a:off x="3842004" y="3985260"/>
              <a:ext cx="51861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Ağaçlar sırayla kurulur; her yeni ağaç bir öncekinin bıraktığı hataya</a:t>
              </a:r>
              <a:br/>
              <a:r>
                <a:rPr lang="tr-TR" sz="1200" dirty="0">
                  <a:solidFill>
                    <a:srgbClr val="52616B"/>
                  </a:solidFill>
                  <a:latin typeface="+mn-lt"/>
                  <a:ea typeface="+mn-ea"/>
                  <a:cs typeface="+mn-cs"/>
                </a:rPr>
                <a:t>(artık) odaklanır — art arda düzeltme yapan bir editör zinciri gibi.</a:t>
              </a:r>
            </a:p>
          </p:txBody>
        </p:sp>
      </p:grpSp>
      <p:grpSp>
        <p:nvGrpSpPr>
          <p:cNvPr id="26" name="chapter-goal"/>
          <p:cNvGrpSpPr/>
          <p:nvPr/>
        </p:nvGrpSpPr>
        <p:grpSpPr>
          <a:xfrm>
            <a:off x="609600" y="4724400"/>
            <a:ext cx="10972800" cy="1314450"/>
            <a:chOff x="609600" y="4724400"/>
            <a:chExt cx="10972800" cy="1314450"/>
          </a:xfrm>
        </p:grpSpPr>
        <p:sp>
          <p:nvSpPr>
            <p:cNvPr id="23" name="Rectangle 23"/>
            <p:cNvSpPr/>
            <p:nvPr/>
          </p:nvSpPr>
          <p:spPr>
            <a:xfrm>
              <a:off x="609600" y="4724400"/>
              <a:ext cx="10972800" cy="1314450"/>
            </a:xfrm>
            <a:prstGeom prst="roundRect">
              <a:avLst>
                <a:gd name="adj" fmla="val 5797"/>
              </a:avLst>
            </a:prstGeom>
            <a:solidFill>
              <a:srgbClr val="EAF4F6"/>
            </a:solidFill>
            <a:ln>
              <a:noFill/>
            </a:ln>
          </p:spPr>
        </p:sp>
        <p:sp>
          <p:nvSpPr>
            <p:cNvPr id="24" name="TextBox 24"/>
            <p:cNvSpPr txBox="1"/>
            <p:nvPr/>
          </p:nvSpPr>
          <p:spPr>
            <a:xfrm>
              <a:off x="905256" y="4853940"/>
              <a:ext cx="156552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Bölüm hedefi</a:t>
              </a:r>
            </a:p>
          </p:txBody>
        </p:sp>
        <p:sp>
          <p:nvSpPr>
            <p:cNvPr id="25" name="TextBox 25"/>
            <p:cNvSpPr txBox="1"/>
            <p:nvPr/>
          </p:nvSpPr>
          <p:spPr>
            <a:xfrm>
              <a:off x="907161" y="5199221"/>
              <a:ext cx="7949438" cy="774002"/>
            </a:xfrm>
            <a:prstGeom prst="rect">
              <a:avLst/>
            </a:prstGeom>
            <a:noFill/>
            <a:ln>
              <a:noFill/>
            </a:ln>
          </p:spPr>
          <p:txBody>
            <a:bodyPr wrap="none" lIns="0" tIns="0" rIns="0" bIns="0" anchor="t" anchorCtr="0">
              <a:spAutoFit/>
            </a:bodyPr>
            <a:lstStyle/>
            <a:p>
              <a:pPr algn="l">
                <a:lnSpc>
                  <a:spcPts val="1950"/>
                </a:lnSpc>
              </a:pPr>
              <a:r>
                <a:rPr lang="tr-TR" sz="1420" dirty="0">
                  <a:solidFill>
                    <a:srgbClr val="172B3A"/>
                  </a:solidFill>
                  <a:latin typeface="+mn-lt"/>
                  <a:ea typeface="+mn-ea"/>
                  <a:cs typeface="+mn-cs"/>
                </a:rPr>
                <a:t>Boosting ailesinin mantığını (AdaBoost'tan Gradient Boosting'e), XGBoost ve LightGBM'in</a:t>
              </a:r>
              <a:br/>
              <a:r>
                <a:rPr lang="tr-TR" sz="1420" dirty="0">
                  <a:solidFill>
                    <a:srgbClr val="172B3A"/>
                  </a:solidFill>
                  <a:latin typeface="+mn-lt"/>
                  <a:ea typeface="+mn-ea"/>
                  <a:cs typeface="+mn-cs"/>
                </a:rPr>
                <a:t>mimari farklarını ve hiperparametre optimizasyonunu (GridSearch ve Optuna) uçtan uca</a:t>
              </a:r>
              <a:br/>
              <a:r>
                <a:rPr lang="tr-TR" sz="1420" dirty="0">
                  <a:solidFill>
                    <a:srgbClr val="172B3A"/>
                  </a:solidFill>
                  <a:latin typeface="+mn-lt"/>
                  <a:ea typeface="+mn-ea"/>
                  <a:cs typeface="+mn-cs"/>
                </a:rPr>
                <a:t>kavrayıp üretim kalitesinde bir sınıflandırma modeli kurmak.</a:t>
              </a:r>
            </a:p>
          </p:txBody>
        </p:sp>
      </p:grpSp>
      <p:sp>
        <p:nvSpPr>
          <p:cNvPr id="27" name="TextBox 2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25</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104135" cy="668845"/>
            <a:chOff x="609600" y="171450"/>
            <a:chExt cx="8104135"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12" name="objective-1"/>
          <p:cNvGrpSpPr/>
          <p:nvPr/>
        </p:nvGrpSpPr>
        <p:grpSpPr>
          <a:xfrm>
            <a:off x="685800" y="1291590"/>
            <a:ext cx="9689106" cy="637128"/>
            <a:chOff x="685800" y="1291590"/>
            <a:chExt cx="9689106" cy="637128"/>
          </a:xfrm>
        </p:grpSpPr>
        <p:sp>
          <p:nvSpPr>
            <p:cNvPr id="9" name="Rectangle 9"/>
            <p:cNvSpPr/>
            <p:nvPr/>
          </p:nvSpPr>
          <p:spPr>
            <a:xfrm>
              <a:off x="685800" y="1295400"/>
              <a:ext cx="57150" cy="495300"/>
            </a:xfrm>
            <a:prstGeom prst="rect">
              <a:avLst/>
            </a:prstGeom>
            <a:solidFill>
              <a:srgbClr val="00A6A6"/>
            </a:solidFill>
            <a:ln>
              <a:noFill/>
            </a:ln>
          </p:spPr>
        </p:sp>
        <p:sp>
          <p:nvSpPr>
            <p:cNvPr id="10" name="TextBox 10"/>
            <p:cNvSpPr txBox="1"/>
            <p:nvPr/>
          </p:nvSpPr>
          <p:spPr>
            <a:xfrm>
              <a:off x="981456" y="1291590"/>
              <a:ext cx="700616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Boosting ile Bagging arasındaki temel farkı ayırt etmek</a:t>
              </a:r>
            </a:p>
          </p:txBody>
        </p:sp>
        <p:sp>
          <p:nvSpPr>
            <p:cNvPr id="11" name="TextBox 11"/>
            <p:cNvSpPr txBox="1"/>
            <p:nvPr/>
          </p:nvSpPr>
          <p:spPr>
            <a:xfrm>
              <a:off x="982599" y="1620679"/>
              <a:ext cx="939230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sıralı düzeltme ile paralel oylamayı hangi senaryoda tercih edeceğine karar vermek</a:t>
              </a:r>
            </a:p>
          </p:txBody>
        </p:sp>
      </p:grpSp>
      <p:grpSp>
        <p:nvGrpSpPr>
          <p:cNvPr id="16" name="objective-2"/>
          <p:cNvGrpSpPr/>
          <p:nvPr/>
        </p:nvGrpSpPr>
        <p:grpSpPr>
          <a:xfrm>
            <a:off x="685800" y="2072640"/>
            <a:ext cx="9284945" cy="637128"/>
            <a:chOff x="685800" y="2072640"/>
            <a:chExt cx="9284945" cy="637128"/>
          </a:xfrm>
        </p:grpSpPr>
        <p:sp>
          <p:nvSpPr>
            <p:cNvPr id="13" name="Rectangle 13"/>
            <p:cNvSpPr/>
            <p:nvPr/>
          </p:nvSpPr>
          <p:spPr>
            <a:xfrm>
              <a:off x="685800" y="2076450"/>
              <a:ext cx="57150" cy="495300"/>
            </a:xfrm>
            <a:prstGeom prst="rect">
              <a:avLst/>
            </a:prstGeom>
            <a:solidFill>
              <a:srgbClr val="00A6A6"/>
            </a:solidFill>
            <a:ln>
              <a:noFill/>
            </a:ln>
          </p:spPr>
        </p:sp>
        <p:sp>
          <p:nvSpPr>
            <p:cNvPr id="14" name="TextBox 14"/>
            <p:cNvSpPr txBox="1"/>
            <p:nvPr/>
          </p:nvSpPr>
          <p:spPr>
            <a:xfrm>
              <a:off x="981456" y="2072640"/>
              <a:ext cx="787152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Gradient Boosting'in artık (residual) döngüsünü elle uygulamak</a:t>
              </a:r>
            </a:p>
          </p:txBody>
        </p:sp>
        <p:sp>
          <p:nvSpPr>
            <p:cNvPr id="15" name="TextBox 15"/>
            <p:cNvSpPr txBox="1"/>
            <p:nvPr/>
          </p:nvSpPr>
          <p:spPr>
            <a:xfrm>
              <a:off x="982599" y="2401729"/>
              <a:ext cx="898814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numpy ve DecisionTreeRegressor ile 5 iterasyonluk bir düzeltme döngüsü kurmak</a:t>
              </a:r>
            </a:p>
          </p:txBody>
        </p:sp>
      </p:grpSp>
      <p:grpSp>
        <p:nvGrpSpPr>
          <p:cNvPr id="20" name="objective-3"/>
          <p:cNvGrpSpPr/>
          <p:nvPr/>
        </p:nvGrpSpPr>
        <p:grpSpPr>
          <a:xfrm>
            <a:off x="685800" y="2853690"/>
            <a:ext cx="9716945" cy="637128"/>
            <a:chOff x="685800" y="2853690"/>
            <a:chExt cx="9716945" cy="637128"/>
          </a:xfrm>
        </p:grpSpPr>
        <p:sp>
          <p:nvSpPr>
            <p:cNvPr id="17" name="Rectangle 17"/>
            <p:cNvSpPr/>
            <p:nvPr/>
          </p:nvSpPr>
          <p:spPr>
            <a:xfrm>
              <a:off x="685800" y="2857500"/>
              <a:ext cx="57150" cy="495300"/>
            </a:xfrm>
            <a:prstGeom prst="rect">
              <a:avLst/>
            </a:prstGeom>
            <a:solidFill>
              <a:srgbClr val="00A6A6"/>
            </a:solidFill>
            <a:ln>
              <a:noFill/>
            </a:ln>
          </p:spPr>
        </p:sp>
        <p:sp>
          <p:nvSpPr>
            <p:cNvPr id="18" name="TextBox 18"/>
            <p:cNvSpPr txBox="1"/>
            <p:nvPr/>
          </p:nvSpPr>
          <p:spPr>
            <a:xfrm>
              <a:off x="981456" y="2853690"/>
              <a:ext cx="657756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XGBoost ve LightGBM'in mimari farklarını açıklamak</a:t>
              </a:r>
            </a:p>
          </p:txBody>
        </p:sp>
        <p:sp>
          <p:nvSpPr>
            <p:cNvPr id="19" name="TextBox 19"/>
            <p:cNvSpPr txBox="1"/>
            <p:nvPr/>
          </p:nvSpPr>
          <p:spPr>
            <a:xfrm>
              <a:off x="982599" y="3182779"/>
              <a:ext cx="942014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Hessian bilgisi, regularizasyon ve yaprak-öncelikli büyümeyi doğru gerekçelendirmek</a:t>
              </a:r>
            </a:p>
          </p:txBody>
        </p:sp>
      </p:grpSp>
      <p:grpSp>
        <p:nvGrpSpPr>
          <p:cNvPr id="24" name="objective-4"/>
          <p:cNvGrpSpPr/>
          <p:nvPr/>
        </p:nvGrpSpPr>
        <p:grpSpPr>
          <a:xfrm>
            <a:off x="685800" y="3634740"/>
            <a:ext cx="8423113" cy="637128"/>
            <a:chOff x="685800" y="3634740"/>
            <a:chExt cx="8423113" cy="637128"/>
          </a:xfrm>
        </p:grpSpPr>
        <p:sp>
          <p:nvSpPr>
            <p:cNvPr id="21" name="Rectangle 21"/>
            <p:cNvSpPr/>
            <p:nvPr/>
          </p:nvSpPr>
          <p:spPr>
            <a:xfrm>
              <a:off x="685800" y="3638550"/>
              <a:ext cx="57150" cy="495300"/>
            </a:xfrm>
            <a:prstGeom prst="rect">
              <a:avLst/>
            </a:prstGeom>
            <a:solidFill>
              <a:srgbClr val="00A6A6"/>
            </a:solidFill>
            <a:ln>
              <a:noFill/>
            </a:ln>
          </p:spPr>
        </p:sp>
        <p:sp>
          <p:nvSpPr>
            <p:cNvPr id="22" name="TextBox 22"/>
            <p:cNvSpPr txBox="1"/>
            <p:nvPr/>
          </p:nvSpPr>
          <p:spPr>
            <a:xfrm>
              <a:off x="981456" y="3634740"/>
              <a:ext cx="662891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Öğrenme oranının etkisini deneysel olarak göstermek</a:t>
              </a:r>
            </a:p>
          </p:txBody>
        </p:sp>
        <p:sp>
          <p:nvSpPr>
            <p:cNvPr id="23" name="TextBox 23"/>
            <p:cNvSpPr txBox="1"/>
            <p:nvPr/>
          </p:nvSpPr>
          <p:spPr>
            <a:xfrm>
              <a:off x="982599" y="3963829"/>
              <a:ext cx="8126314"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beş farklı learning_rate değeri için doğrulama AUC'sini karşılaştırmak</a:t>
              </a:r>
            </a:p>
          </p:txBody>
        </p:sp>
      </p:grpSp>
      <p:grpSp>
        <p:nvGrpSpPr>
          <p:cNvPr id="28" name="objective-5"/>
          <p:cNvGrpSpPr/>
          <p:nvPr/>
        </p:nvGrpSpPr>
        <p:grpSpPr>
          <a:xfrm>
            <a:off x="685800" y="4415790"/>
            <a:ext cx="8944328" cy="637128"/>
            <a:chOff x="685800" y="4415790"/>
            <a:chExt cx="8944328" cy="637128"/>
          </a:xfrm>
        </p:grpSpPr>
        <p:sp>
          <p:nvSpPr>
            <p:cNvPr id="25" name="Rectangle 25"/>
            <p:cNvSpPr/>
            <p:nvPr/>
          </p:nvSpPr>
          <p:spPr>
            <a:xfrm>
              <a:off x="685800" y="4419600"/>
              <a:ext cx="57150" cy="495300"/>
            </a:xfrm>
            <a:prstGeom prst="rect">
              <a:avLst/>
            </a:prstGeom>
            <a:solidFill>
              <a:srgbClr val="00A6A6"/>
            </a:solidFill>
            <a:ln>
              <a:noFill/>
            </a:ln>
          </p:spPr>
        </p:sp>
        <p:sp>
          <p:nvSpPr>
            <p:cNvPr id="26" name="TextBox 26"/>
            <p:cNvSpPr txBox="1"/>
            <p:nvPr/>
          </p:nvSpPr>
          <p:spPr>
            <a:xfrm>
              <a:off x="981456" y="4415790"/>
              <a:ext cx="680133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GridSearchCV ile Optuna'nın arama stratejisini ölçmek</a:t>
              </a:r>
            </a:p>
          </p:txBody>
        </p:sp>
        <p:sp>
          <p:nvSpPr>
            <p:cNvPr id="27" name="TextBox 27"/>
            <p:cNvSpPr txBox="1"/>
            <p:nvPr/>
          </p:nvSpPr>
          <p:spPr>
            <a:xfrm>
              <a:off x="982599" y="4744879"/>
              <a:ext cx="864752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aynı hiperparametre uzayında iki yöntemin en iyi AUC ve süresini kıyaslamak</a:t>
              </a:r>
            </a:p>
          </p:txBody>
        </p:sp>
      </p:grpSp>
      <p:grpSp>
        <p:nvGrpSpPr>
          <p:cNvPr id="32" name="objective-success"/>
          <p:cNvGrpSpPr/>
          <p:nvPr/>
        </p:nvGrpSpPr>
        <p:grpSpPr>
          <a:xfrm>
            <a:off x="609600" y="5295900"/>
            <a:ext cx="10972800" cy="952500"/>
            <a:chOff x="609600" y="5295900"/>
            <a:chExt cx="10972800" cy="952500"/>
          </a:xfrm>
        </p:grpSpPr>
        <p:sp>
          <p:nvSpPr>
            <p:cNvPr id="29" name="Rectangle 29"/>
            <p:cNvSpPr/>
            <p:nvPr/>
          </p:nvSpPr>
          <p:spPr>
            <a:xfrm>
              <a:off x="609600" y="5295900"/>
              <a:ext cx="10972800" cy="952500"/>
            </a:xfrm>
            <a:prstGeom prst="roundRect">
              <a:avLst>
                <a:gd name="adj" fmla="val 8000"/>
              </a:avLst>
            </a:prstGeom>
            <a:solidFill>
              <a:srgbClr val="EAF4F6"/>
            </a:solidFill>
            <a:ln>
              <a:noFill/>
            </a:ln>
          </p:spPr>
        </p:sp>
        <p:sp>
          <p:nvSpPr>
            <p:cNvPr id="30" name="TextBox 30"/>
            <p:cNvSpPr txBox="1"/>
            <p:nvPr/>
          </p:nvSpPr>
          <p:spPr>
            <a:xfrm>
              <a:off x="906399" y="5468779"/>
              <a:ext cx="150818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Başarı ölçütü</a:t>
              </a:r>
            </a:p>
          </p:txBody>
        </p:sp>
        <p:sp>
          <p:nvSpPr>
            <p:cNvPr id="31" name="TextBox 31"/>
            <p:cNvSpPr txBox="1"/>
            <p:nvPr/>
          </p:nvSpPr>
          <p:spPr>
            <a:xfrm>
              <a:off x="907161" y="5732621"/>
              <a:ext cx="6885432" cy="507302"/>
            </a:xfrm>
            <a:prstGeom prst="rect">
              <a:avLst/>
            </a:prstGeom>
            <a:noFill/>
            <a:ln>
              <a:noFill/>
            </a:ln>
          </p:spPr>
          <p:txBody>
            <a:bodyPr wrap="none" lIns="0" tIns="0" rIns="0" bIns="0" anchor="t" anchorCtr="0">
              <a:spAutoFit/>
            </a:bodyPr>
            <a:lstStyle/>
            <a:p>
              <a:pPr algn="l">
                <a:lnSpc>
                  <a:spcPts val="1800"/>
                </a:lnSpc>
              </a:pPr>
              <a:r>
                <a:rPr lang="tr-TR" sz="1420" dirty="0">
                  <a:solidFill>
                    <a:srgbClr val="172B3A"/>
                  </a:solidFill>
                  <a:latin typeface="+mn-lt"/>
                  <a:ea typeface="+mn-ea"/>
                  <a:cs typeface="+mn-cs"/>
                </a:rPr>
                <a:t>Laboratuvar görevlerinde, kurulan XGBoost modelinin doğrulama AUC'si Random</a:t>
              </a:r>
              <a:br/>
              <a:r>
                <a:rPr lang="tr-TR" sz="1420" dirty="0">
                  <a:solidFill>
                    <a:srgbClr val="172B3A"/>
                  </a:solidFill>
                  <a:latin typeface="+mn-lt"/>
                  <a:ea typeface="+mn-ea"/>
                  <a:cs typeface="+mn-cs"/>
                </a:rPr>
                <a:t>Forest referansına kıyasla en az 2 puan artmalıdır.</a:t>
              </a:r>
            </a:p>
          </p:txBody>
        </p:sp>
      </p:grpSp>
      <p:sp>
        <p:nvSpPr>
          <p:cNvPr id="33" name="TextBox 3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7803151" cy="668845"/>
            <a:chOff x="609600" y="171450"/>
            <a:chExt cx="7803151"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711277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altı temel kavram</a:t>
              </a:r>
            </a:p>
          </p:txBody>
        </p:sp>
      </p:grpSp>
      <p:grpSp>
        <p:nvGrpSpPr>
          <p:cNvPr id="50" name="concept-map"/>
          <p:cNvGrpSpPr/>
          <p:nvPr/>
        </p:nvGrpSpPr>
        <p:grpSpPr>
          <a:xfrm>
            <a:off x="685800" y="1219200"/>
            <a:ext cx="10896600" cy="4886706"/>
            <a:chOff x="685800" y="1219200"/>
            <a:chExt cx="10896600" cy="4886706"/>
          </a:xfrm>
        </p:grpSpPr>
        <p:grpSp>
          <p:nvGrpSpPr>
            <p:cNvPr id="21" name="Group 21"/>
            <p:cNvGrpSpPr/>
            <p:nvPr/>
          </p:nvGrpSpPr>
          <p:grpSpPr>
            <a:xfrm>
              <a:off x="3143250" y="1581150"/>
              <a:ext cx="6953250" cy="4038600"/>
              <a:chOff x="3143250" y="1581150"/>
              <a:chExt cx="6953250" cy="4038600"/>
            </a:xfrm>
          </p:grpSpPr>
          <p:sp>
            <p:nvSpPr>
              <p:cNvPr id="14" name="Line 14"/>
              <p:cNvSpPr/>
              <p:nvPr/>
            </p:nvSpPr>
            <p:spPr>
              <a:xfrm flipV="1">
                <a:off x="3143250" y="1581150"/>
                <a:ext cx="1352550" cy="1514475"/>
              </a:xfrm>
              <a:prstGeom prst="line">
                <a:avLst/>
              </a:prstGeom>
              <a:noFill/>
              <a:ln w="23812">
                <a:solidFill>
                  <a:srgbClr val="00A6A6"/>
                </a:solidFill>
                <a:tailEnd type="arrow" w="lg" len="lg"/>
              </a:ln>
            </p:spPr>
          </p:sp>
          <p:sp>
            <p:nvSpPr>
              <p:cNvPr id="15" name="Line 15"/>
              <p:cNvSpPr/>
              <p:nvPr/>
            </p:nvSpPr>
            <p:spPr>
              <a:xfrm flipV="1">
                <a:off x="3143250" y="2571750"/>
                <a:ext cx="1352550" cy="523875"/>
              </a:xfrm>
              <a:prstGeom prst="line">
                <a:avLst/>
              </a:prstGeom>
              <a:noFill/>
              <a:ln w="23812">
                <a:solidFill>
                  <a:srgbClr val="00A6A6"/>
                </a:solidFill>
                <a:tailEnd type="arrow" w="lg" len="lg"/>
              </a:ln>
            </p:spPr>
          </p:sp>
          <p:sp>
            <p:nvSpPr>
              <p:cNvPr id="16" name="Line 16"/>
              <p:cNvSpPr/>
              <p:nvPr/>
            </p:nvSpPr>
            <p:spPr>
              <a:xfrm>
                <a:off x="3143250" y="3095625"/>
                <a:ext cx="1352550" cy="466725"/>
              </a:xfrm>
              <a:prstGeom prst="line">
                <a:avLst/>
              </a:prstGeom>
              <a:noFill/>
              <a:ln w="23812">
                <a:solidFill>
                  <a:srgbClr val="00A6A6"/>
                </a:solidFill>
                <a:tailEnd type="arrow" w="lg" len="lg"/>
              </a:ln>
            </p:spPr>
          </p:sp>
          <p:sp>
            <p:nvSpPr>
              <p:cNvPr id="17" name="Line 17"/>
              <p:cNvSpPr/>
              <p:nvPr/>
            </p:nvSpPr>
            <p:spPr>
              <a:xfrm>
                <a:off x="3143250" y="3095625"/>
                <a:ext cx="1352550" cy="1457325"/>
              </a:xfrm>
              <a:prstGeom prst="line">
                <a:avLst/>
              </a:prstGeom>
              <a:noFill/>
              <a:ln w="23812">
                <a:solidFill>
                  <a:srgbClr val="00A6A6"/>
                </a:solidFill>
                <a:tailEnd type="arrow" w="lg" len="lg"/>
              </a:ln>
            </p:spPr>
          </p:sp>
          <p:sp>
            <p:nvSpPr>
              <p:cNvPr id="18" name="Line 18"/>
              <p:cNvSpPr/>
              <p:nvPr/>
            </p:nvSpPr>
            <p:spPr>
              <a:xfrm>
                <a:off x="3143250" y="3095625"/>
                <a:ext cx="1352550" cy="2524125"/>
              </a:xfrm>
              <a:prstGeom prst="line">
                <a:avLst/>
              </a:prstGeom>
              <a:noFill/>
              <a:ln w="23812">
                <a:solidFill>
                  <a:srgbClr val="00A6A6"/>
                </a:solidFill>
                <a:tailEnd type="arrow" w="lg" len="lg"/>
              </a:ln>
            </p:spPr>
          </p:sp>
          <p:sp>
            <p:nvSpPr>
              <p:cNvPr id="19" name="Line 19"/>
              <p:cNvSpPr/>
              <p:nvPr/>
            </p:nvSpPr>
            <p:spPr>
              <a:xfrm>
                <a:off x="6477000" y="3924300"/>
                <a:ext cx="1" cy="247650"/>
              </a:xfrm>
              <a:prstGeom prst="line">
                <a:avLst/>
              </a:prstGeom>
              <a:noFill/>
              <a:ln w="19050">
                <a:solidFill>
                  <a:srgbClr val="52616B"/>
                </a:solidFill>
                <a:custDash>
                  <a:ds d="300000" sp="200000"/>
                </a:custDash>
                <a:tailEnd type="arrow" w="lg" len="lg"/>
              </a:ln>
            </p:spPr>
          </p:sp>
          <p:sp>
            <p:nvSpPr>
              <p:cNvPr id="20" name="Line 20"/>
              <p:cNvSpPr/>
              <p:nvPr/>
            </p:nvSpPr>
            <p:spPr>
              <a:xfrm>
                <a:off x="8496300" y="1676400"/>
                <a:ext cx="1600200" cy="3581400"/>
              </a:xfrm>
              <a:prstGeom prst="line">
                <a:avLst/>
              </a:prstGeom>
              <a:noFill/>
              <a:ln w="19050">
                <a:solidFill>
                  <a:srgbClr val="52616B"/>
                </a:solidFill>
                <a:custDash>
                  <a:ds d="300000" sp="200000"/>
                </a:custDash>
                <a:tailEnd type="arrow" w="lg" len="lg"/>
              </a:ln>
            </p:spPr>
          </p:sp>
        </p:grpSp>
        <p:grpSp>
          <p:nvGrpSpPr>
            <p:cNvPr id="24" name="map-hub"/>
            <p:cNvGrpSpPr/>
            <p:nvPr/>
          </p:nvGrpSpPr>
          <p:grpSpPr>
            <a:xfrm>
              <a:off x="685800" y="2381250"/>
              <a:ext cx="2381250" cy="1435417"/>
              <a:chOff x="685800" y="2381250"/>
              <a:chExt cx="2381250" cy="1435417"/>
            </a:xfrm>
          </p:grpSpPr>
          <p:sp>
            <p:nvSpPr>
              <p:cNvPr id="22" name="Rectangle 22"/>
              <p:cNvSpPr/>
              <p:nvPr/>
            </p:nvSpPr>
            <p:spPr>
              <a:xfrm>
                <a:off x="685800" y="2381250"/>
                <a:ext cx="2381250" cy="1428750"/>
              </a:xfrm>
              <a:prstGeom prst="roundRect">
                <a:avLst>
                  <a:gd name="adj" fmla="val 6667"/>
                </a:avLst>
              </a:prstGeom>
              <a:solidFill>
                <a:srgbClr val="12355B"/>
              </a:solidFill>
              <a:ln>
                <a:noFill/>
              </a:ln>
            </p:spPr>
          </p:sp>
          <p:sp>
            <p:nvSpPr>
              <p:cNvPr id="23" name="TextBox 23"/>
              <p:cNvSpPr txBox="1"/>
              <p:nvPr/>
            </p:nvSpPr>
            <p:spPr>
              <a:xfrm>
                <a:off x="941070" y="2614612"/>
                <a:ext cx="1238012" cy="1202055"/>
              </a:xfrm>
              <a:prstGeom prst="rect">
                <a:avLst/>
              </a:prstGeom>
              <a:noFill/>
              <a:ln>
                <a:noFill/>
              </a:ln>
            </p:spPr>
            <p:txBody>
              <a:bodyPr wrap="none" lIns="0" tIns="0" rIns="0" bIns="0" anchor="t" anchorCtr="0">
                <a:spAutoFit/>
              </a:bodyPr>
              <a:lstStyle/>
              <a:p>
                <a:pPr algn="l">
                  <a:lnSpc>
                    <a:spcPts val="3000"/>
                  </a:lnSpc>
                </a:pPr>
                <a:r>
                  <a:rPr lang="tr-TR" sz="2250" b="1" dirty="0">
                    <a:solidFill>
                      <a:srgbClr val="FFFFFF"/>
                    </a:solidFill>
                    <a:latin typeface="+mn-lt"/>
                    <a:ea typeface="+mn-ea"/>
                    <a:cs typeface="+mn-cs"/>
                  </a:rPr>
                  <a:t>Gradyan</a:t>
                </a:r>
                <a:br/>
                <a:r>
                  <a:rPr lang="tr-TR" sz="2250" b="1" dirty="0">
                    <a:solidFill>
                      <a:srgbClr val="FFFFFF"/>
                    </a:solidFill>
                    <a:latin typeface="+mn-lt"/>
                    <a:ea typeface="+mn-ea"/>
                    <a:cs typeface="+mn-cs"/>
                  </a:rPr>
                  <a:t>Artırma</a:t>
                </a:r>
                <a:br/>
                <a:r>
                  <a:rPr lang="tr-TR" sz="2250" b="1" dirty="0">
                    <a:solidFill>
                      <a:srgbClr val="FFFFFF"/>
                    </a:solidFill>
                    <a:latin typeface="+mn-lt"/>
                    <a:ea typeface="+mn-ea"/>
                    <a:cs typeface="+mn-cs"/>
                  </a:rPr>
                  <a:t>ailesi</a:t>
                </a:r>
              </a:p>
            </p:txBody>
          </p:sp>
        </p:grpSp>
        <p:grpSp>
          <p:nvGrpSpPr>
            <p:cNvPr id="28" name="map-node-bagging"/>
            <p:cNvGrpSpPr/>
            <p:nvPr/>
          </p:nvGrpSpPr>
          <p:grpSpPr>
            <a:xfrm>
              <a:off x="4572000" y="1219200"/>
              <a:ext cx="3810000" cy="723900"/>
              <a:chOff x="4572000" y="1219200"/>
              <a:chExt cx="3810000" cy="723900"/>
            </a:xfrm>
          </p:grpSpPr>
          <p:sp>
            <p:nvSpPr>
              <p:cNvPr id="25" name="Rectangle 25"/>
              <p:cNvSpPr/>
              <p:nvPr/>
            </p:nvSpPr>
            <p:spPr>
              <a:xfrm>
                <a:off x="4572000" y="1219200"/>
                <a:ext cx="3810000" cy="723900"/>
              </a:xfrm>
              <a:prstGeom prst="roundRect">
                <a:avLst>
                  <a:gd name="adj" fmla="val 13158"/>
                </a:avLst>
              </a:prstGeom>
              <a:solidFill>
                <a:srgbClr val="FFFFFF"/>
              </a:solidFill>
              <a:ln w="14288">
                <a:solidFill>
                  <a:srgbClr val="2E86AB"/>
                </a:solidFill>
              </a:ln>
            </p:spPr>
          </p:sp>
          <p:sp>
            <p:nvSpPr>
              <p:cNvPr id="26" name="TextBox 26"/>
              <p:cNvSpPr txBox="1"/>
              <p:nvPr/>
            </p:nvSpPr>
            <p:spPr>
              <a:xfrm>
                <a:off x="4791456" y="1329690"/>
                <a:ext cx="310483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Bagging karşılaştırması</a:t>
                </a:r>
              </a:p>
            </p:txBody>
          </p:sp>
          <p:sp>
            <p:nvSpPr>
              <p:cNvPr id="27" name="TextBox 27"/>
              <p:cNvSpPr txBox="1"/>
              <p:nvPr/>
            </p:nvSpPr>
            <p:spPr>
              <a:xfrm>
                <a:off x="4792599" y="1601629"/>
                <a:ext cx="348300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paralel oylama vs sıralı düzeltme</a:t>
                </a:r>
              </a:p>
            </p:txBody>
          </p:sp>
        </p:grpSp>
        <p:grpSp>
          <p:nvGrpSpPr>
            <p:cNvPr id="32" name="map-node-gb"/>
            <p:cNvGrpSpPr/>
            <p:nvPr/>
          </p:nvGrpSpPr>
          <p:grpSpPr>
            <a:xfrm>
              <a:off x="4572000" y="2209800"/>
              <a:ext cx="3937574" cy="723900"/>
              <a:chOff x="4572000" y="2209800"/>
              <a:chExt cx="3937574" cy="723900"/>
            </a:xfrm>
          </p:grpSpPr>
          <p:sp>
            <p:nvSpPr>
              <p:cNvPr id="29" name="Rectangle 29"/>
              <p:cNvSpPr/>
              <p:nvPr/>
            </p:nvSpPr>
            <p:spPr>
              <a:xfrm>
                <a:off x="4572000" y="2209800"/>
                <a:ext cx="3810000" cy="723900"/>
              </a:xfrm>
              <a:prstGeom prst="roundRect">
                <a:avLst>
                  <a:gd name="adj" fmla="val 13158"/>
                </a:avLst>
              </a:prstGeom>
              <a:solidFill>
                <a:srgbClr val="FFFFFF"/>
              </a:solidFill>
              <a:ln w="14288">
                <a:solidFill>
                  <a:srgbClr val="2E86AB"/>
                </a:solidFill>
              </a:ln>
            </p:spPr>
          </p:sp>
          <p:sp>
            <p:nvSpPr>
              <p:cNvPr id="30" name="TextBox 30"/>
              <p:cNvSpPr txBox="1"/>
              <p:nvPr/>
            </p:nvSpPr>
            <p:spPr>
              <a:xfrm>
                <a:off x="4791456" y="2320290"/>
                <a:ext cx="222188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Gradient Boosting</a:t>
                </a:r>
              </a:p>
            </p:txBody>
          </p:sp>
          <p:sp>
            <p:nvSpPr>
              <p:cNvPr id="31" name="TextBox 31"/>
              <p:cNvSpPr txBox="1"/>
              <p:nvPr/>
            </p:nvSpPr>
            <p:spPr>
              <a:xfrm>
                <a:off x="4792599" y="2592229"/>
                <a:ext cx="371697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artık (residual) hesaplama döngüsü</a:t>
                </a:r>
              </a:p>
            </p:txBody>
          </p:sp>
        </p:grpSp>
        <p:grpSp>
          <p:nvGrpSpPr>
            <p:cNvPr id="36" name="map-node-xgb"/>
            <p:cNvGrpSpPr/>
            <p:nvPr/>
          </p:nvGrpSpPr>
          <p:grpSpPr>
            <a:xfrm>
              <a:off x="4572000" y="3200400"/>
              <a:ext cx="3810000" cy="723900"/>
              <a:chOff x="4572000" y="3200400"/>
              <a:chExt cx="3810000" cy="723900"/>
            </a:xfrm>
          </p:grpSpPr>
          <p:sp>
            <p:nvSpPr>
              <p:cNvPr id="33" name="Rectangle 33"/>
              <p:cNvSpPr/>
              <p:nvPr/>
            </p:nvSpPr>
            <p:spPr>
              <a:xfrm>
                <a:off x="4572000" y="3200400"/>
                <a:ext cx="3810000" cy="723900"/>
              </a:xfrm>
              <a:prstGeom prst="roundRect">
                <a:avLst>
                  <a:gd name="adj" fmla="val 13158"/>
                </a:avLst>
              </a:prstGeom>
              <a:solidFill>
                <a:srgbClr val="FFFFFF"/>
              </a:solidFill>
              <a:ln w="14288">
                <a:solidFill>
                  <a:srgbClr val="2E86AB"/>
                </a:solidFill>
              </a:ln>
            </p:spPr>
          </p:sp>
          <p:sp>
            <p:nvSpPr>
              <p:cNvPr id="34" name="TextBox 34"/>
              <p:cNvSpPr txBox="1"/>
              <p:nvPr/>
            </p:nvSpPr>
            <p:spPr>
              <a:xfrm>
                <a:off x="4791456" y="3310890"/>
                <a:ext cx="102161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XGBoost</a:t>
                </a:r>
              </a:p>
            </p:txBody>
          </p:sp>
          <p:sp>
            <p:nvSpPr>
              <p:cNvPr id="35" name="TextBox 35"/>
              <p:cNvSpPr txBox="1"/>
              <p:nvPr/>
            </p:nvSpPr>
            <p:spPr>
              <a:xfrm>
                <a:off x="4792599" y="3582829"/>
                <a:ext cx="323425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Hessian bilgisi + regularizasyon</a:t>
                </a:r>
              </a:p>
            </p:txBody>
          </p:sp>
        </p:grpSp>
        <p:grpSp>
          <p:nvGrpSpPr>
            <p:cNvPr id="40" name="map-node-lgbm"/>
            <p:cNvGrpSpPr/>
            <p:nvPr/>
          </p:nvGrpSpPr>
          <p:grpSpPr>
            <a:xfrm>
              <a:off x="4572000" y="4191000"/>
              <a:ext cx="4012019" cy="723900"/>
              <a:chOff x="4572000" y="4191000"/>
              <a:chExt cx="4012019" cy="723900"/>
            </a:xfrm>
          </p:grpSpPr>
          <p:sp>
            <p:nvSpPr>
              <p:cNvPr id="37" name="Rectangle 37"/>
              <p:cNvSpPr/>
              <p:nvPr/>
            </p:nvSpPr>
            <p:spPr>
              <a:xfrm>
                <a:off x="4572000" y="4191000"/>
                <a:ext cx="3810000" cy="723900"/>
              </a:xfrm>
              <a:prstGeom prst="roundRect">
                <a:avLst>
                  <a:gd name="adj" fmla="val 13158"/>
                </a:avLst>
              </a:prstGeom>
              <a:solidFill>
                <a:srgbClr val="FFFFFF"/>
              </a:solidFill>
              <a:ln w="14288">
                <a:solidFill>
                  <a:srgbClr val="2E86AB"/>
                </a:solidFill>
              </a:ln>
            </p:spPr>
          </p:sp>
          <p:sp>
            <p:nvSpPr>
              <p:cNvPr id="38" name="TextBox 38"/>
              <p:cNvSpPr txBox="1"/>
              <p:nvPr/>
            </p:nvSpPr>
            <p:spPr>
              <a:xfrm>
                <a:off x="4791456" y="4301490"/>
                <a:ext cx="115639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LightGBM</a:t>
                </a:r>
              </a:p>
            </p:txBody>
          </p:sp>
          <p:sp>
            <p:nvSpPr>
              <p:cNvPr id="39" name="TextBox 39"/>
              <p:cNvSpPr txBox="1"/>
              <p:nvPr/>
            </p:nvSpPr>
            <p:spPr>
              <a:xfrm>
                <a:off x="4792599" y="4573429"/>
                <a:ext cx="379142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yaprak-öncelikli + histogram tabanlı</a:t>
                </a:r>
              </a:p>
            </p:txBody>
          </p:sp>
        </p:grpSp>
        <p:grpSp>
          <p:nvGrpSpPr>
            <p:cNvPr id="44" name="map-node-tuning"/>
            <p:cNvGrpSpPr/>
            <p:nvPr/>
          </p:nvGrpSpPr>
          <p:grpSpPr>
            <a:xfrm>
              <a:off x="4572000" y="5334000"/>
              <a:ext cx="7010400" cy="723900"/>
              <a:chOff x="4572000" y="5334000"/>
              <a:chExt cx="7010400" cy="723900"/>
            </a:xfrm>
          </p:grpSpPr>
          <p:sp>
            <p:nvSpPr>
              <p:cNvPr id="41" name="Rectangle 41"/>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42" name="TextBox 42"/>
              <p:cNvSpPr txBox="1"/>
              <p:nvPr/>
            </p:nvSpPr>
            <p:spPr>
              <a:xfrm>
                <a:off x="4791456" y="5444490"/>
                <a:ext cx="603116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Öğrenme oranı ve hiperparametre optimizasyonu</a:t>
                </a:r>
              </a:p>
            </p:txBody>
          </p:sp>
          <p:sp>
            <p:nvSpPr>
              <p:cNvPr id="43" name="TextBox 43"/>
              <p:cNvSpPr txBox="1"/>
              <p:nvPr/>
            </p:nvSpPr>
            <p:spPr>
              <a:xfrm>
                <a:off x="4792599" y="5716429"/>
                <a:ext cx="544342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shrinkage dengesi, GridSearchCV ve Optuna araması</a:t>
                </a:r>
              </a:p>
            </p:txBody>
          </p:sp>
        </p:grpSp>
        <p:grpSp>
          <p:nvGrpSpPr>
            <p:cNvPr id="49" name="map-legend"/>
            <p:cNvGrpSpPr/>
            <p:nvPr/>
          </p:nvGrpSpPr>
          <p:grpSpPr>
            <a:xfrm>
              <a:off x="685800" y="5528310"/>
              <a:ext cx="3836118" cy="577596"/>
              <a:chOff x="685800" y="5528310"/>
              <a:chExt cx="3836118" cy="577596"/>
            </a:xfrm>
          </p:grpSpPr>
          <p:sp>
            <p:nvSpPr>
              <p:cNvPr id="45" name="Line 45"/>
              <p:cNvSpPr/>
              <p:nvPr/>
            </p:nvSpPr>
            <p:spPr>
              <a:xfrm>
                <a:off x="685800" y="5600700"/>
                <a:ext cx="304800" cy="1"/>
              </a:xfrm>
              <a:prstGeom prst="line">
                <a:avLst/>
              </a:prstGeom>
              <a:noFill/>
              <a:ln w="23812">
                <a:solidFill>
                  <a:srgbClr val="00A6A6"/>
                </a:solidFill>
                <a:tailEnd type="arrow" w="lg" len="lg"/>
              </a:ln>
            </p:spPr>
          </p:sp>
          <p:sp>
            <p:nvSpPr>
              <p:cNvPr id="46" name="TextBox 46"/>
              <p:cNvSpPr txBox="1"/>
              <p:nvPr/>
            </p:nvSpPr>
            <p:spPr>
              <a:xfrm>
                <a:off x="1079754" y="5528310"/>
                <a:ext cx="344216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Gradyan artırma ailesinden türeyen yöntem</a:t>
                </a:r>
              </a:p>
            </p:txBody>
          </p:sp>
          <p:sp>
            <p:nvSpPr>
              <p:cNvPr id="47" name="Line 47"/>
              <p:cNvSpPr/>
              <p:nvPr/>
            </p:nvSpPr>
            <p:spPr>
              <a:xfrm>
                <a:off x="685800" y="5943600"/>
                <a:ext cx="304800" cy="1"/>
              </a:xfrm>
              <a:prstGeom prst="line">
                <a:avLst/>
              </a:prstGeom>
              <a:noFill/>
              <a:ln w="19050">
                <a:solidFill>
                  <a:srgbClr val="52616B"/>
                </a:solidFill>
                <a:custDash>
                  <a:ds d="300000" sp="200000"/>
                </a:custDash>
                <a:tailEnd type="arrow" w="lg" len="lg"/>
              </a:ln>
            </p:spPr>
          </p:sp>
          <p:sp>
            <p:nvSpPr>
              <p:cNvPr id="48" name="TextBox 48"/>
              <p:cNvSpPr txBox="1"/>
              <p:nvPr/>
            </p:nvSpPr>
            <p:spPr>
              <a:xfrm>
                <a:off x="1079754" y="5871210"/>
                <a:ext cx="277154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Kavramlar arası tamamlayıcı ilişki</a:t>
                </a:r>
              </a:p>
            </p:txBody>
          </p:sp>
        </p:grpSp>
      </p:grpSp>
      <p:sp>
        <p:nvSpPr>
          <p:cNvPr id="51" name="TextBox 5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099376" cy="557403"/>
            <a:chOff x="595122" y="282892"/>
            <a:chExt cx="8099376" cy="557403"/>
          </a:xfrm>
        </p:grpSpPr>
        <p:sp>
          <p:nvSpPr>
            <p:cNvPr id="4" name="TextBox 4"/>
            <p:cNvSpPr txBox="1"/>
            <p:nvPr/>
          </p:nvSpPr>
          <p:spPr>
            <a:xfrm>
              <a:off x="595122" y="282892"/>
              <a:ext cx="809937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Boosting nedir ve neden ardışık çalışır?</a:t>
              </a:r>
            </a:p>
          </p:txBody>
        </p:sp>
      </p:grpSp>
      <p:grpSp>
        <p:nvGrpSpPr>
          <p:cNvPr id="7" name="definition"/>
          <p:cNvGrpSpPr/>
          <p:nvPr/>
        </p:nvGrpSpPr>
        <p:grpSpPr>
          <a:xfrm>
            <a:off x="601218" y="1269682"/>
            <a:ext cx="7749159" cy="627507"/>
            <a:chOff x="601218" y="1269682"/>
            <a:chExt cx="7749159" cy="627507"/>
          </a:xfrm>
        </p:grpSpPr>
        <p:sp>
          <p:nvSpPr>
            <p:cNvPr id="6" name="TextBox 6"/>
            <p:cNvSpPr txBox="1"/>
            <p:nvPr/>
          </p:nvSpPr>
          <p:spPr>
            <a:xfrm>
              <a:off x="601218" y="1269682"/>
              <a:ext cx="7749159" cy="627507"/>
            </a:xfrm>
            <a:prstGeom prst="rect">
              <a:avLst/>
            </a:prstGeom>
            <a:noFill/>
            <a:ln>
              <a:noFill/>
            </a:ln>
          </p:spPr>
          <p:txBody>
            <a:bodyPr wrap="none" lIns="0" tIns="0" rIns="0" bIns="0" anchor="t" anchorCtr="0">
              <a:spAutoFit/>
            </a:bodyPr>
            <a:lstStyle/>
            <a:p>
              <a:pPr algn="l">
                <a:lnSpc>
                  <a:spcPts val="2400"/>
                </a:lnSpc>
              </a:pPr>
              <a:r>
                <a:rPr lang="tr-TR" sz="1650" dirty="0">
                  <a:solidFill>
                    <a:srgbClr val="172B3A"/>
                  </a:solidFill>
                  <a:latin typeface="+mn-lt"/>
                  <a:ea typeface="+mn-ea"/>
                  <a:cs typeface="+mn-cs"/>
                </a:rPr>
                <a:t>Zayıf öğrenicileri (weak learner — sığ karar ağaçları) sıralı biçimde</a:t>
              </a:r>
              <a:br/>
              <a:r>
                <a:rPr lang="tr-TR" sz="1650" dirty="0">
                  <a:solidFill>
                    <a:srgbClr val="172B3A"/>
                  </a:solidFill>
                  <a:latin typeface="+mn-lt"/>
                  <a:ea typeface="+mn-ea"/>
                  <a:cs typeface="+mn-cs"/>
                </a:rPr>
                <a:t>birleştiren, her adımda bir öncekinin hatasını düzelten ansambl stratejisi.</a:t>
              </a:r>
            </a:p>
          </p:txBody>
        </p:sp>
      </p:grpSp>
      <p:grpSp>
        <p:nvGrpSpPr>
          <p:cNvPr id="19" name="chain-diagram"/>
          <p:cNvGrpSpPr/>
          <p:nvPr/>
        </p:nvGrpSpPr>
        <p:grpSpPr>
          <a:xfrm>
            <a:off x="609600" y="2286000"/>
            <a:ext cx="10591800" cy="1143000"/>
            <a:chOff x="609600" y="2286000"/>
            <a:chExt cx="10591800" cy="1143000"/>
          </a:xfrm>
        </p:grpSpPr>
        <p:sp>
          <p:nvSpPr>
            <p:cNvPr id="8" name="Rectangle 8"/>
            <p:cNvSpPr/>
            <p:nvPr/>
          </p:nvSpPr>
          <p:spPr>
            <a:xfrm>
              <a:off x="609600" y="2286000"/>
              <a:ext cx="3048000" cy="1143000"/>
            </a:xfrm>
            <a:prstGeom prst="roundRect">
              <a:avLst>
                <a:gd name="adj" fmla="val 8333"/>
              </a:avLst>
            </a:prstGeom>
            <a:solidFill>
              <a:srgbClr val="FFFFFF"/>
            </a:solidFill>
            <a:ln w="14288">
              <a:solidFill>
                <a:srgbClr val="2E86AB"/>
              </a:solidFill>
            </a:ln>
          </p:spPr>
        </p:sp>
        <p:sp>
          <p:nvSpPr>
            <p:cNvPr id="9" name="TextBox 9"/>
            <p:cNvSpPr txBox="1"/>
            <p:nvPr/>
          </p:nvSpPr>
          <p:spPr>
            <a:xfrm>
              <a:off x="829056" y="2434590"/>
              <a:ext cx="80528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Ağaç 1</a:t>
              </a:r>
            </a:p>
          </p:txBody>
        </p:sp>
        <p:sp>
          <p:nvSpPr>
            <p:cNvPr id="10" name="TextBox 10"/>
            <p:cNvSpPr txBox="1"/>
            <p:nvPr/>
          </p:nvSpPr>
          <p:spPr>
            <a:xfrm>
              <a:off x="832104" y="2766060"/>
              <a:ext cx="18867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İlk kaba tahmini kurar,</a:t>
              </a:r>
              <a:br/>
              <a:r>
                <a:rPr lang="tr-TR" sz="1200" dirty="0">
                  <a:solidFill>
                    <a:srgbClr val="52616B"/>
                  </a:solidFill>
                  <a:latin typeface="+mn-lt"/>
                  <a:ea typeface="+mn-ea"/>
                  <a:cs typeface="+mn-cs"/>
                </a:rPr>
                <a:t>belirgin hataları düzeltir</a:t>
              </a:r>
            </a:p>
          </p:txBody>
        </p:sp>
        <p:sp>
          <p:nvSpPr>
            <p:cNvPr id="11" name="Line 11"/>
            <p:cNvSpPr/>
            <p:nvPr/>
          </p:nvSpPr>
          <p:spPr>
            <a:xfrm>
              <a:off x="3733800" y="2857500"/>
              <a:ext cx="552450" cy="1"/>
            </a:xfrm>
            <a:prstGeom prst="line">
              <a:avLst/>
            </a:prstGeom>
            <a:noFill/>
            <a:ln w="23812">
              <a:solidFill>
                <a:srgbClr val="00A6A6"/>
              </a:solidFill>
              <a:tailEnd type="arrow" w="lg" len="lg"/>
            </a:ln>
          </p:spPr>
        </p:sp>
        <p:sp>
          <p:nvSpPr>
            <p:cNvPr id="12" name="Rectangle 12"/>
            <p:cNvSpPr/>
            <p:nvPr/>
          </p:nvSpPr>
          <p:spPr>
            <a:xfrm>
              <a:off x="4343400" y="2286000"/>
              <a:ext cx="3048000" cy="1143000"/>
            </a:xfrm>
            <a:prstGeom prst="roundRect">
              <a:avLst>
                <a:gd name="adj" fmla="val 8333"/>
              </a:avLst>
            </a:prstGeom>
            <a:solidFill>
              <a:srgbClr val="FFFFFF"/>
            </a:solidFill>
            <a:ln w="14288">
              <a:solidFill>
                <a:srgbClr val="2E86AB"/>
              </a:solidFill>
            </a:ln>
          </p:spPr>
        </p:sp>
        <p:sp>
          <p:nvSpPr>
            <p:cNvPr id="13" name="TextBox 13"/>
            <p:cNvSpPr txBox="1"/>
            <p:nvPr/>
          </p:nvSpPr>
          <p:spPr>
            <a:xfrm>
              <a:off x="4562856" y="2434590"/>
              <a:ext cx="80528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Ağaç 2</a:t>
              </a:r>
            </a:p>
          </p:txBody>
        </p:sp>
        <p:sp>
          <p:nvSpPr>
            <p:cNvPr id="14" name="TextBox 14"/>
            <p:cNvSpPr txBox="1"/>
            <p:nvPr/>
          </p:nvSpPr>
          <p:spPr>
            <a:xfrm>
              <a:off x="4565904" y="2766060"/>
              <a:ext cx="20391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Ağaç 1'in bıraktığı artığa</a:t>
              </a:r>
              <a:br/>
              <a:r>
                <a:rPr lang="tr-TR" sz="1200" dirty="0">
                  <a:solidFill>
                    <a:srgbClr val="52616B"/>
                  </a:solidFill>
                  <a:latin typeface="+mn-lt"/>
                  <a:ea typeface="+mn-ea"/>
                  <a:cs typeface="+mn-cs"/>
                </a:rPr>
                <a:t>(kalan hataya) odaklanır</a:t>
              </a:r>
            </a:p>
          </p:txBody>
        </p:sp>
        <p:sp>
          <p:nvSpPr>
            <p:cNvPr id="15" name="Line 15"/>
            <p:cNvSpPr/>
            <p:nvPr/>
          </p:nvSpPr>
          <p:spPr>
            <a:xfrm>
              <a:off x="7467600" y="2857500"/>
              <a:ext cx="552450" cy="1"/>
            </a:xfrm>
            <a:prstGeom prst="line">
              <a:avLst/>
            </a:prstGeom>
            <a:noFill/>
            <a:ln w="23812">
              <a:solidFill>
                <a:srgbClr val="00A6A6"/>
              </a:solidFill>
              <a:tailEnd type="arrow" w="lg" len="lg"/>
            </a:ln>
          </p:spPr>
        </p:sp>
        <p:sp>
          <p:nvSpPr>
            <p:cNvPr id="16" name="Rectangle 16"/>
            <p:cNvSpPr/>
            <p:nvPr/>
          </p:nvSpPr>
          <p:spPr>
            <a:xfrm>
              <a:off x="8077200" y="2286000"/>
              <a:ext cx="3124200" cy="1143000"/>
            </a:xfrm>
            <a:prstGeom prst="roundRect">
              <a:avLst>
                <a:gd name="adj" fmla="val 8333"/>
              </a:avLst>
            </a:prstGeom>
            <a:solidFill>
              <a:srgbClr val="EAF4F6"/>
            </a:solidFill>
            <a:ln w="14288">
              <a:solidFill>
                <a:srgbClr val="00A6A6"/>
              </a:solidFill>
            </a:ln>
          </p:spPr>
        </p:sp>
        <p:sp>
          <p:nvSpPr>
            <p:cNvPr id="17" name="TextBox 17"/>
            <p:cNvSpPr txBox="1"/>
            <p:nvPr/>
          </p:nvSpPr>
          <p:spPr>
            <a:xfrm>
              <a:off x="8296656" y="2434590"/>
              <a:ext cx="80309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Ağaç n</a:t>
              </a:r>
            </a:p>
          </p:txBody>
        </p:sp>
        <p:sp>
          <p:nvSpPr>
            <p:cNvPr id="18" name="TextBox 18"/>
            <p:cNvSpPr txBox="1"/>
            <p:nvPr/>
          </p:nvSpPr>
          <p:spPr>
            <a:xfrm>
              <a:off x="8299704" y="2766060"/>
              <a:ext cx="25648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Zincir uzadıkça model kümülatif</a:t>
              </a:r>
              <a:br/>
              <a:r>
                <a:rPr lang="tr-TR" sz="1200" dirty="0">
                  <a:solidFill>
                    <a:srgbClr val="52616B"/>
                  </a:solidFill>
                  <a:latin typeface="+mn-lt"/>
                  <a:ea typeface="+mn-ea"/>
                  <a:cs typeface="+mn-cs"/>
                </a:rPr>
                <a:t>olarak iyileşir; paralelleştirilemez</a:t>
              </a:r>
            </a:p>
          </p:txBody>
        </p:sp>
      </p:grpSp>
      <p:grpSp>
        <p:nvGrpSpPr>
          <p:cNvPr id="30" name="timeline"/>
          <p:cNvGrpSpPr/>
          <p:nvPr/>
        </p:nvGrpSpPr>
        <p:grpSpPr>
          <a:xfrm>
            <a:off x="762000" y="3870960"/>
            <a:ext cx="10727436" cy="749046"/>
            <a:chOff x="762000" y="3870960"/>
            <a:chExt cx="10727436" cy="749046"/>
          </a:xfrm>
        </p:grpSpPr>
        <p:sp>
          <p:nvSpPr>
            <p:cNvPr id="20" name="Line 20"/>
            <p:cNvSpPr/>
            <p:nvPr/>
          </p:nvSpPr>
          <p:spPr>
            <a:xfrm>
              <a:off x="762000" y="4095750"/>
              <a:ext cx="10668000" cy="9525"/>
            </a:xfrm>
            <a:custGeom>
              <a:avLst/>
              <a:gdLst/>
              <a:ahLst/>
              <a:cxnLst/>
              <a:rect l="l" t="t" r="r" b="b"/>
              <a:pathLst>
                <a:path w="10668000" h="9525">
                  <a:moveTo>
                    <a:pt x="0" y="0"/>
                  </a:moveTo>
                  <a:lnTo>
                    <a:pt x="10668000" y="0"/>
                  </a:lnTo>
                </a:path>
              </a:pathLst>
            </a:custGeom>
            <a:noFill/>
            <a:ln w="19050">
              <a:solidFill>
                <a:srgbClr val="B8CBD3"/>
              </a:solidFill>
            </a:ln>
          </p:spPr>
        </p:sp>
        <p:sp>
          <p:nvSpPr>
            <p:cNvPr id="21" name="Ellipse 21"/>
            <p:cNvSpPr/>
            <p:nvPr/>
          </p:nvSpPr>
          <p:spPr>
            <a:xfrm>
              <a:off x="1552575" y="4029075"/>
              <a:ext cx="133350" cy="133350"/>
            </a:xfrm>
            <a:prstGeom prst="ellipse">
              <a:avLst/>
            </a:prstGeom>
            <a:solidFill>
              <a:srgbClr val="2E86AB"/>
            </a:solidFill>
            <a:ln>
              <a:noFill/>
            </a:ln>
          </p:spPr>
        </p:sp>
        <p:sp>
          <p:nvSpPr>
            <p:cNvPr id="22" name="TextBox 22"/>
            <p:cNvSpPr txBox="1"/>
            <p:nvPr/>
          </p:nvSpPr>
          <p:spPr>
            <a:xfrm>
              <a:off x="1261190" y="3870960"/>
              <a:ext cx="716120"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1990'lar</a:t>
              </a:r>
            </a:p>
          </p:txBody>
        </p:sp>
        <p:sp>
          <p:nvSpPr>
            <p:cNvPr id="23" name="TextBox 23"/>
            <p:cNvSpPr txBox="1"/>
            <p:nvPr/>
          </p:nvSpPr>
          <p:spPr>
            <a:xfrm>
              <a:off x="957834" y="4213860"/>
              <a:ext cx="1322832" cy="406146"/>
            </a:xfrm>
            <a:prstGeom prst="rect">
              <a:avLst/>
            </a:prstGeom>
            <a:noFill/>
            <a:ln>
              <a:noFill/>
            </a:ln>
          </p:spPr>
          <p:txBody>
            <a:bodyPr wrap="none" lIns="0" tIns="0" rIns="0" bIns="0" anchor="t" anchorCtr="0">
              <a:spAutoFit/>
            </a:bodyPr>
            <a:lstStyle/>
            <a:p>
              <a:pPr algn="ctr">
                <a:lnSpc>
                  <a:spcPts val="1350"/>
                </a:lnSpc>
              </a:pPr>
              <a:r>
                <a:rPr lang="tr-TR" sz="1200" dirty="0">
                  <a:solidFill>
                    <a:srgbClr val="52616B"/>
                  </a:solidFill>
                  <a:latin typeface="+mn-lt"/>
                  <a:ea typeface="+mn-ea"/>
                  <a:cs typeface="+mn-cs"/>
                </a:rPr>
                <a:t>Schapire &amp; Freund</a:t>
              </a:r>
            </a:p>
            <a:p>
              <a:pPr algn="ctr">
                <a:lnSpc>
                  <a:spcPts val="1350"/>
                </a:lnSpc>
              </a:pPr>
              <a:r>
                <a:rPr lang="tr-TR" sz="1200" dirty="0">
                  <a:solidFill>
                    <a:srgbClr val="52616B"/>
                  </a:solidFill>
                  <a:latin typeface="+mn-lt"/>
                  <a:ea typeface="+mn-ea"/>
                  <a:cs typeface="+mn-cs"/>
                </a:rPr>
                <a:t>— teorik temel</a:t>
              </a:r>
            </a:p>
          </p:txBody>
        </p:sp>
        <p:sp>
          <p:nvSpPr>
            <p:cNvPr id="24" name="Ellipse 24"/>
            <p:cNvSpPr/>
            <p:nvPr/>
          </p:nvSpPr>
          <p:spPr>
            <a:xfrm>
              <a:off x="6029325" y="4029075"/>
              <a:ext cx="133350" cy="133350"/>
            </a:xfrm>
            <a:prstGeom prst="ellipse">
              <a:avLst/>
            </a:prstGeom>
            <a:solidFill>
              <a:srgbClr val="2E86AB"/>
            </a:solidFill>
            <a:ln>
              <a:noFill/>
            </a:ln>
          </p:spPr>
        </p:sp>
        <p:sp>
          <p:nvSpPr>
            <p:cNvPr id="25" name="TextBox 25"/>
            <p:cNvSpPr txBox="1"/>
            <p:nvPr/>
          </p:nvSpPr>
          <p:spPr>
            <a:xfrm>
              <a:off x="5423321" y="3870960"/>
              <a:ext cx="1345359"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1996 — AdaBoost</a:t>
              </a:r>
            </a:p>
          </p:txBody>
        </p:sp>
        <p:sp>
          <p:nvSpPr>
            <p:cNvPr id="26" name="TextBox 26"/>
            <p:cNvSpPr txBox="1"/>
            <p:nvPr/>
          </p:nvSpPr>
          <p:spPr>
            <a:xfrm>
              <a:off x="4035984" y="4221956"/>
              <a:ext cx="4120032"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örnek ağırlıklarını artırarak zayıf öğrenicileri zorlar</a:t>
              </a:r>
            </a:p>
          </p:txBody>
        </p:sp>
        <p:sp>
          <p:nvSpPr>
            <p:cNvPr id="27" name="Ellipse 27"/>
            <p:cNvSpPr/>
            <p:nvPr/>
          </p:nvSpPr>
          <p:spPr>
            <a:xfrm>
              <a:off x="10506075" y="4029075"/>
              <a:ext cx="133350" cy="133350"/>
            </a:xfrm>
            <a:prstGeom prst="ellipse">
              <a:avLst/>
            </a:prstGeom>
            <a:solidFill>
              <a:srgbClr val="00A6A6"/>
            </a:solidFill>
            <a:ln>
              <a:noFill/>
            </a:ln>
          </p:spPr>
        </p:sp>
        <p:sp>
          <p:nvSpPr>
            <p:cNvPr id="28" name="TextBox 28"/>
            <p:cNvSpPr txBox="1"/>
            <p:nvPr/>
          </p:nvSpPr>
          <p:spPr>
            <a:xfrm>
              <a:off x="9832122" y="3870960"/>
              <a:ext cx="1481256"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Gradient Boosting</a:t>
              </a:r>
            </a:p>
          </p:txBody>
        </p:sp>
        <p:sp>
          <p:nvSpPr>
            <p:cNvPr id="29" name="TextBox 29"/>
            <p:cNvSpPr txBox="1"/>
            <p:nvPr/>
          </p:nvSpPr>
          <p:spPr>
            <a:xfrm>
              <a:off x="9656064" y="4213860"/>
              <a:ext cx="1833372" cy="406146"/>
            </a:xfrm>
            <a:prstGeom prst="rect">
              <a:avLst/>
            </a:prstGeom>
            <a:noFill/>
            <a:ln>
              <a:noFill/>
            </a:ln>
          </p:spPr>
          <p:txBody>
            <a:bodyPr wrap="none" lIns="0" tIns="0" rIns="0" bIns="0" anchor="t" anchorCtr="0">
              <a:spAutoFit/>
            </a:bodyPr>
            <a:lstStyle/>
            <a:p>
              <a:pPr algn="ctr">
                <a:lnSpc>
                  <a:spcPts val="1350"/>
                </a:lnSpc>
              </a:pPr>
              <a:r>
                <a:rPr lang="tr-TR" sz="1200" dirty="0">
                  <a:solidFill>
                    <a:srgbClr val="52616B"/>
                  </a:solidFill>
                  <a:latin typeface="+mn-lt"/>
                  <a:ea typeface="+mn-ea"/>
                  <a:cs typeface="+mn-cs"/>
                </a:rPr>
                <a:t>kayıp fonksiyonunun</a:t>
              </a:r>
              <a:br/>
              <a:r>
                <a:rPr lang="tr-TR" sz="1200" dirty="0">
                  <a:solidFill>
                    <a:srgbClr val="52616B"/>
                  </a:solidFill>
                  <a:latin typeface="+mn-lt"/>
                  <a:ea typeface="+mn-ea"/>
                  <a:cs typeface="+mn-cs"/>
                </a:rPr>
                <a:t>gradyanına genelleştirir</a:t>
              </a:r>
            </a:p>
          </p:txBody>
        </p:sp>
      </p:grpSp>
      <p:grpSp>
        <p:nvGrpSpPr>
          <p:cNvPr id="34" name="analogy"/>
          <p:cNvGrpSpPr/>
          <p:nvPr/>
        </p:nvGrpSpPr>
        <p:grpSpPr>
          <a:xfrm>
            <a:off x="609600" y="4953000"/>
            <a:ext cx="10972800" cy="1204151"/>
            <a:chOff x="609600" y="4953000"/>
            <a:chExt cx="10972800" cy="1204151"/>
          </a:xfrm>
        </p:grpSpPr>
        <p:sp>
          <p:nvSpPr>
            <p:cNvPr id="31" name="Rectangle 31"/>
            <p:cNvSpPr/>
            <p:nvPr/>
          </p:nvSpPr>
          <p:spPr>
            <a:xfrm>
              <a:off x="609600" y="4953000"/>
              <a:ext cx="10972800" cy="1143000"/>
            </a:xfrm>
            <a:prstGeom prst="roundRect">
              <a:avLst>
                <a:gd name="adj" fmla="val 6667"/>
              </a:avLst>
            </a:prstGeom>
            <a:solidFill>
              <a:srgbClr val="EAF4F6"/>
            </a:solidFill>
            <a:ln>
              <a:noFill/>
            </a:ln>
          </p:spPr>
        </p:sp>
        <p:sp>
          <p:nvSpPr>
            <p:cNvPr id="32" name="TextBox 32"/>
            <p:cNvSpPr txBox="1"/>
            <p:nvPr/>
          </p:nvSpPr>
          <p:spPr>
            <a:xfrm>
              <a:off x="906399" y="5125879"/>
              <a:ext cx="406550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Günlük hayat analojisi: sınav tekrarı</a:t>
              </a:r>
            </a:p>
          </p:txBody>
        </p:sp>
        <p:sp>
          <p:nvSpPr>
            <p:cNvPr id="33" name="TextBox 33"/>
            <p:cNvSpPr txBox="1"/>
            <p:nvPr/>
          </p:nvSpPr>
          <p:spPr>
            <a:xfrm>
              <a:off x="907542" y="5435918"/>
              <a:ext cx="6957441" cy="7212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Bir öğrenci önce deneme sınavı çözer (ilk model), yanlışlarını işaretler, sadece o</a:t>
              </a:r>
              <a:br/>
              <a:r>
                <a:rPr lang="tr-TR" sz="1350" dirty="0">
                  <a:solidFill>
                    <a:srgbClr val="172B3A"/>
                  </a:solidFill>
                  <a:latin typeface="+mn-lt"/>
                  <a:ea typeface="+mn-ea"/>
                  <a:cs typeface="+mn-cs"/>
                </a:rPr>
                <a:t>yanlışlara odaklanan bir tekrar seansı yapar (ikinci model) — önceki adımın hata</a:t>
              </a:r>
              <a:br/>
              <a:r>
                <a:rPr lang="tr-TR" sz="1350" dirty="0">
                  <a:solidFill>
                    <a:srgbClr val="172B3A"/>
                  </a:solidFill>
                  <a:latin typeface="+mn-lt"/>
                  <a:ea typeface="+mn-ea"/>
                  <a:cs typeface="+mn-cs"/>
                </a:rPr>
                <a:t>haritasını bilmeden bu döngü anlamsızdır.</a:t>
              </a:r>
            </a:p>
          </p:txBody>
        </p:sp>
      </p:grpSp>
      <p:sp>
        <p:nvSpPr>
          <p:cNvPr id="35" name="TextBox 3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199156" cy="557403"/>
            <a:chOff x="595122" y="282892"/>
            <a:chExt cx="8199156" cy="557403"/>
          </a:xfrm>
        </p:grpSpPr>
        <p:sp>
          <p:nvSpPr>
            <p:cNvPr id="4" name="TextBox 4"/>
            <p:cNvSpPr txBox="1"/>
            <p:nvPr/>
          </p:nvSpPr>
          <p:spPr>
            <a:xfrm>
              <a:off x="595122" y="282892"/>
              <a:ext cx="819915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Bagging ile boosting'in karşılaştırılması</a:t>
              </a:r>
            </a:p>
          </p:txBody>
        </p:sp>
      </p:grpSp>
      <p:grpSp>
        <p:nvGrpSpPr>
          <p:cNvPr id="10" name="table-header"/>
          <p:cNvGrpSpPr/>
          <p:nvPr/>
        </p:nvGrpSpPr>
        <p:grpSpPr>
          <a:xfrm>
            <a:off x="609600" y="1257300"/>
            <a:ext cx="10972800" cy="419100"/>
            <a:chOff x="609600" y="1257300"/>
            <a:chExt cx="10972800" cy="419100"/>
          </a:xfrm>
        </p:grpSpPr>
        <p:sp>
          <p:nvSpPr>
            <p:cNvPr id="6" name="Rectangle 6"/>
            <p:cNvSpPr/>
            <p:nvPr/>
          </p:nvSpPr>
          <p:spPr>
            <a:xfrm>
              <a:off x="609600" y="1257300"/>
              <a:ext cx="10972800" cy="419100"/>
            </a:xfrm>
            <a:prstGeom prst="rect">
              <a:avLst/>
            </a:prstGeom>
            <a:solidFill>
              <a:srgbClr val="12355B"/>
            </a:solidFill>
            <a:ln>
              <a:noFill/>
            </a:ln>
          </p:spPr>
        </p:sp>
        <p:sp>
          <p:nvSpPr>
            <p:cNvPr id="7" name="TextBox 7"/>
            <p:cNvSpPr txBox="1"/>
            <p:nvPr/>
          </p:nvSpPr>
          <p:spPr>
            <a:xfrm>
              <a:off x="832104" y="1394460"/>
              <a:ext cx="76620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ÖZELLİK</a:t>
              </a:r>
            </a:p>
          </p:txBody>
        </p:sp>
        <p:sp>
          <p:nvSpPr>
            <p:cNvPr id="8" name="TextBox 8"/>
            <p:cNvSpPr txBox="1"/>
            <p:nvPr/>
          </p:nvSpPr>
          <p:spPr>
            <a:xfrm>
              <a:off x="4375404" y="1394460"/>
              <a:ext cx="2966821"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BAGGING (örn. RANDOM FOREST)</a:t>
              </a:r>
            </a:p>
          </p:txBody>
        </p:sp>
        <p:sp>
          <p:nvSpPr>
            <p:cNvPr id="9" name="TextBox 9"/>
            <p:cNvSpPr txBox="1"/>
            <p:nvPr/>
          </p:nvSpPr>
          <p:spPr>
            <a:xfrm>
              <a:off x="8185404" y="1394460"/>
              <a:ext cx="2500594"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BOOSTING (örn. XGBOOST)</a:t>
              </a:r>
            </a:p>
          </p:txBody>
        </p:sp>
      </p:grpSp>
      <p:grpSp>
        <p:nvGrpSpPr>
          <p:cNvPr id="15" name="row-1"/>
          <p:cNvGrpSpPr/>
          <p:nvPr/>
        </p:nvGrpSpPr>
        <p:grpSpPr>
          <a:xfrm>
            <a:off x="609600" y="1887379"/>
            <a:ext cx="10972800" cy="446246"/>
            <a:chOff x="609600" y="1887379"/>
            <a:chExt cx="10972800" cy="446246"/>
          </a:xfrm>
        </p:grpSpPr>
        <p:sp>
          <p:nvSpPr>
            <p:cNvPr id="11" name="TextBox 11"/>
            <p:cNvSpPr txBox="1"/>
            <p:nvPr/>
          </p:nvSpPr>
          <p:spPr>
            <a:xfrm>
              <a:off x="830199" y="1887379"/>
              <a:ext cx="204480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Ağaç kurma sırası</a:t>
              </a:r>
            </a:p>
          </p:txBody>
        </p:sp>
        <p:sp>
          <p:nvSpPr>
            <p:cNvPr id="12" name="TextBox 12"/>
            <p:cNvSpPr txBox="1"/>
            <p:nvPr/>
          </p:nvSpPr>
          <p:spPr>
            <a:xfrm>
              <a:off x="4373499" y="1887379"/>
              <a:ext cx="189482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Paralel, bağımsız</a:t>
              </a:r>
            </a:p>
          </p:txBody>
        </p:sp>
        <p:sp>
          <p:nvSpPr>
            <p:cNvPr id="13" name="TextBox 13"/>
            <p:cNvSpPr txBox="1"/>
            <p:nvPr/>
          </p:nvSpPr>
          <p:spPr>
            <a:xfrm>
              <a:off x="8183499" y="1887379"/>
              <a:ext cx="1660920"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Sıralı, bağımlı</a:t>
              </a:r>
            </a:p>
          </p:txBody>
        </p:sp>
        <p:sp>
          <p:nvSpPr>
            <p:cNvPr id="14" name="Line 14"/>
            <p:cNvSpPr/>
            <p:nvPr/>
          </p:nvSpPr>
          <p:spPr>
            <a:xfrm>
              <a:off x="609600" y="23241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1" name="row-2"/>
          <p:cNvGrpSpPr/>
          <p:nvPr/>
        </p:nvGrpSpPr>
        <p:grpSpPr>
          <a:xfrm>
            <a:off x="609600" y="2324100"/>
            <a:ext cx="10972800" cy="657225"/>
            <a:chOff x="609600" y="2324100"/>
            <a:chExt cx="10972800" cy="657225"/>
          </a:xfrm>
        </p:grpSpPr>
        <p:sp>
          <p:nvSpPr>
            <p:cNvPr id="16" name="Rectangle 16"/>
            <p:cNvSpPr/>
            <p:nvPr/>
          </p:nvSpPr>
          <p:spPr>
            <a:xfrm>
              <a:off x="609600" y="2324100"/>
              <a:ext cx="10972800" cy="647700"/>
            </a:xfrm>
            <a:prstGeom prst="rect">
              <a:avLst/>
            </a:prstGeom>
            <a:solidFill>
              <a:srgbClr val="EAF4F6"/>
            </a:solidFill>
            <a:ln>
              <a:noFill/>
            </a:ln>
          </p:spPr>
        </p:sp>
        <p:sp>
          <p:nvSpPr>
            <p:cNvPr id="17" name="TextBox 17"/>
            <p:cNvSpPr txBox="1"/>
            <p:nvPr/>
          </p:nvSpPr>
          <p:spPr>
            <a:xfrm>
              <a:off x="830199" y="2535079"/>
              <a:ext cx="192150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Odaklandığı hata</a:t>
              </a:r>
            </a:p>
          </p:txBody>
        </p:sp>
        <p:sp>
          <p:nvSpPr>
            <p:cNvPr id="18" name="TextBox 18"/>
            <p:cNvSpPr txBox="1"/>
            <p:nvPr/>
          </p:nvSpPr>
          <p:spPr>
            <a:xfrm>
              <a:off x="4373499" y="2535079"/>
              <a:ext cx="84151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Varyans</a:t>
              </a:r>
            </a:p>
          </p:txBody>
        </p:sp>
        <p:sp>
          <p:nvSpPr>
            <p:cNvPr id="19" name="TextBox 19"/>
            <p:cNvSpPr txBox="1"/>
            <p:nvPr/>
          </p:nvSpPr>
          <p:spPr>
            <a:xfrm>
              <a:off x="8183499" y="2535079"/>
              <a:ext cx="156534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Yanlılık (bias)</a:t>
              </a:r>
            </a:p>
          </p:txBody>
        </p:sp>
        <p:sp>
          <p:nvSpPr>
            <p:cNvPr id="20" name="Line 20"/>
            <p:cNvSpPr/>
            <p:nvPr/>
          </p:nvSpPr>
          <p:spPr>
            <a:xfrm>
              <a:off x="609600" y="29718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6" name="row-3"/>
          <p:cNvGrpSpPr/>
          <p:nvPr/>
        </p:nvGrpSpPr>
        <p:grpSpPr>
          <a:xfrm>
            <a:off x="609600" y="3182779"/>
            <a:ext cx="10972800" cy="446246"/>
            <a:chOff x="609600" y="3182779"/>
            <a:chExt cx="10972800" cy="446246"/>
          </a:xfrm>
        </p:grpSpPr>
        <p:sp>
          <p:nvSpPr>
            <p:cNvPr id="22" name="TextBox 22"/>
            <p:cNvSpPr txBox="1"/>
            <p:nvPr/>
          </p:nvSpPr>
          <p:spPr>
            <a:xfrm>
              <a:off x="830199" y="3182779"/>
              <a:ext cx="235680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Aşırı öğrenme eğilimi</a:t>
              </a:r>
            </a:p>
          </p:txBody>
        </p:sp>
        <p:sp>
          <p:nvSpPr>
            <p:cNvPr id="23" name="TextBox 23"/>
            <p:cNvSpPr txBox="1"/>
            <p:nvPr/>
          </p:nvSpPr>
          <p:spPr>
            <a:xfrm>
              <a:off x="4373499" y="3182779"/>
              <a:ext cx="60754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Düşük</a:t>
              </a:r>
            </a:p>
          </p:txBody>
        </p:sp>
        <p:sp>
          <p:nvSpPr>
            <p:cNvPr id="24" name="TextBox 24"/>
            <p:cNvSpPr txBox="1"/>
            <p:nvPr/>
          </p:nvSpPr>
          <p:spPr>
            <a:xfrm>
              <a:off x="8185404" y="3223260"/>
              <a:ext cx="304667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Orta-yüksek (regularizasyon gerekir)</a:t>
              </a:r>
            </a:p>
          </p:txBody>
        </p:sp>
        <p:sp>
          <p:nvSpPr>
            <p:cNvPr id="25" name="Line 25"/>
            <p:cNvSpPr/>
            <p:nvPr/>
          </p:nvSpPr>
          <p:spPr>
            <a:xfrm>
              <a:off x="609600" y="3619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2" name="row-4"/>
          <p:cNvGrpSpPr/>
          <p:nvPr/>
        </p:nvGrpSpPr>
        <p:grpSpPr>
          <a:xfrm>
            <a:off x="609600" y="3619500"/>
            <a:ext cx="10972800" cy="657225"/>
            <a:chOff x="609600" y="3619500"/>
            <a:chExt cx="10972800" cy="657225"/>
          </a:xfrm>
        </p:grpSpPr>
        <p:sp>
          <p:nvSpPr>
            <p:cNvPr id="27" name="Rectangle 27"/>
            <p:cNvSpPr/>
            <p:nvPr/>
          </p:nvSpPr>
          <p:spPr>
            <a:xfrm>
              <a:off x="609600" y="3619500"/>
              <a:ext cx="10972800" cy="647700"/>
            </a:xfrm>
            <a:prstGeom prst="rect">
              <a:avLst/>
            </a:prstGeom>
            <a:solidFill>
              <a:srgbClr val="EAF4F6"/>
            </a:solidFill>
            <a:ln>
              <a:noFill/>
            </a:ln>
          </p:spPr>
        </p:sp>
        <p:sp>
          <p:nvSpPr>
            <p:cNvPr id="28" name="TextBox 28"/>
            <p:cNvSpPr txBox="1"/>
            <p:nvPr/>
          </p:nvSpPr>
          <p:spPr>
            <a:xfrm>
              <a:off x="830199" y="3830479"/>
              <a:ext cx="168612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Paralelleştirme</a:t>
              </a:r>
            </a:p>
          </p:txBody>
        </p:sp>
        <p:sp>
          <p:nvSpPr>
            <p:cNvPr id="29" name="TextBox 29"/>
            <p:cNvSpPr txBox="1"/>
            <p:nvPr/>
          </p:nvSpPr>
          <p:spPr>
            <a:xfrm>
              <a:off x="4373499" y="3830479"/>
              <a:ext cx="144781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Doğal ve kolay</a:t>
              </a:r>
            </a:p>
          </p:txBody>
        </p:sp>
        <p:sp>
          <p:nvSpPr>
            <p:cNvPr id="30" name="TextBox 30"/>
            <p:cNvSpPr txBox="1"/>
            <p:nvPr/>
          </p:nvSpPr>
          <p:spPr>
            <a:xfrm>
              <a:off x="8183499" y="3830479"/>
              <a:ext cx="280922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Sınırlı (özellik düzeyinde)</a:t>
              </a:r>
            </a:p>
          </p:txBody>
        </p:sp>
        <p:sp>
          <p:nvSpPr>
            <p:cNvPr id="31" name="Line 31"/>
            <p:cNvSpPr/>
            <p:nvPr/>
          </p:nvSpPr>
          <p:spPr>
            <a:xfrm>
              <a:off x="609600" y="42672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7" name="row-5"/>
          <p:cNvGrpSpPr/>
          <p:nvPr/>
        </p:nvGrpSpPr>
        <p:grpSpPr>
          <a:xfrm>
            <a:off x="609600" y="4478179"/>
            <a:ext cx="10972800" cy="446246"/>
            <a:chOff x="609600" y="4478179"/>
            <a:chExt cx="10972800" cy="446246"/>
          </a:xfrm>
        </p:grpSpPr>
        <p:sp>
          <p:nvSpPr>
            <p:cNvPr id="33" name="TextBox 33"/>
            <p:cNvSpPr txBox="1"/>
            <p:nvPr/>
          </p:nvSpPr>
          <p:spPr>
            <a:xfrm>
              <a:off x="830199" y="4478179"/>
              <a:ext cx="309329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Tipik zayıf öğrenici derinliği</a:t>
              </a:r>
            </a:p>
          </p:txBody>
        </p:sp>
        <p:sp>
          <p:nvSpPr>
            <p:cNvPr id="34" name="TextBox 34"/>
            <p:cNvSpPr txBox="1"/>
            <p:nvPr/>
          </p:nvSpPr>
          <p:spPr>
            <a:xfrm>
              <a:off x="4373499" y="4478179"/>
              <a:ext cx="138370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Derin ağaçlar</a:t>
              </a:r>
            </a:p>
          </p:txBody>
        </p:sp>
        <p:sp>
          <p:nvSpPr>
            <p:cNvPr id="35" name="TextBox 35"/>
            <p:cNvSpPr txBox="1"/>
            <p:nvPr/>
          </p:nvSpPr>
          <p:spPr>
            <a:xfrm>
              <a:off x="8183499" y="4478179"/>
              <a:ext cx="269377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Sığ ağaçlar (derinlik 3-8)</a:t>
              </a:r>
            </a:p>
          </p:txBody>
        </p:sp>
        <p:sp>
          <p:nvSpPr>
            <p:cNvPr id="36" name="Line 36"/>
            <p:cNvSpPr/>
            <p:nvPr/>
          </p:nvSpPr>
          <p:spPr>
            <a:xfrm>
              <a:off x="609600" y="49149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2" name="row-6"/>
          <p:cNvGrpSpPr/>
          <p:nvPr/>
        </p:nvGrpSpPr>
        <p:grpSpPr>
          <a:xfrm>
            <a:off x="609600" y="4914900"/>
            <a:ext cx="10972800" cy="647700"/>
            <a:chOff x="609600" y="4914900"/>
            <a:chExt cx="10972800" cy="647700"/>
          </a:xfrm>
        </p:grpSpPr>
        <p:sp>
          <p:nvSpPr>
            <p:cNvPr id="38" name="Rectangle 38"/>
            <p:cNvSpPr/>
            <p:nvPr/>
          </p:nvSpPr>
          <p:spPr>
            <a:xfrm>
              <a:off x="609600" y="4914900"/>
              <a:ext cx="10972800" cy="647700"/>
            </a:xfrm>
            <a:prstGeom prst="rect">
              <a:avLst/>
            </a:prstGeom>
            <a:solidFill>
              <a:srgbClr val="EAF4F6"/>
            </a:solidFill>
            <a:ln>
              <a:noFill/>
            </a:ln>
          </p:spPr>
        </p:sp>
        <p:sp>
          <p:nvSpPr>
            <p:cNvPr id="39" name="TextBox 39"/>
            <p:cNvSpPr txBox="1"/>
            <p:nvPr/>
          </p:nvSpPr>
          <p:spPr>
            <a:xfrm>
              <a:off x="830199" y="5125879"/>
              <a:ext cx="306022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Aykırı değerlere duyarlılık</a:t>
              </a:r>
            </a:p>
          </p:txBody>
        </p:sp>
        <p:sp>
          <p:nvSpPr>
            <p:cNvPr id="40" name="TextBox 40"/>
            <p:cNvSpPr txBox="1"/>
            <p:nvPr/>
          </p:nvSpPr>
          <p:spPr>
            <a:xfrm>
              <a:off x="4373499" y="5125879"/>
              <a:ext cx="60754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Düşük</a:t>
              </a:r>
            </a:p>
          </p:txBody>
        </p:sp>
        <p:sp>
          <p:nvSpPr>
            <p:cNvPr id="41" name="TextBox 41"/>
            <p:cNvSpPr txBox="1"/>
            <p:nvPr/>
          </p:nvSpPr>
          <p:spPr>
            <a:xfrm>
              <a:off x="8183499" y="5125879"/>
              <a:ext cx="72453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Yüksek</a:t>
              </a:r>
            </a:p>
          </p:txBody>
        </p:sp>
      </p:grpSp>
      <p:grpSp>
        <p:nvGrpSpPr>
          <p:cNvPr id="44" name="key-insight"/>
          <p:cNvGrpSpPr/>
          <p:nvPr/>
        </p:nvGrpSpPr>
        <p:grpSpPr>
          <a:xfrm>
            <a:off x="601599" y="5811679"/>
            <a:ext cx="10168776" cy="308039"/>
            <a:chOff x="601599" y="5811679"/>
            <a:chExt cx="10168776" cy="308039"/>
          </a:xfrm>
        </p:grpSpPr>
        <p:sp>
          <p:nvSpPr>
            <p:cNvPr id="43" name="TextBox 43"/>
            <p:cNvSpPr txBox="1"/>
            <p:nvPr/>
          </p:nvSpPr>
          <p:spPr>
            <a:xfrm>
              <a:off x="601599" y="5811679"/>
              <a:ext cx="1016877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Bagging varyansı azaltır; boosting yanlılığı (bias) azaltır — ikisi farklı hata türlerini hedefler.</a:t>
              </a:r>
            </a:p>
          </p:txBody>
        </p:sp>
      </p:grpSp>
      <p:sp>
        <p:nvSpPr>
          <p:cNvPr id="45" name="TextBox 4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25</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8" name="page-title"/>
          <p:cNvGrpSpPr/>
          <p:nvPr/>
        </p:nvGrpSpPr>
        <p:grpSpPr>
          <a:xfrm>
            <a:off x="609600" y="171450"/>
            <a:ext cx="9508132" cy="668845"/>
            <a:chOff x="609600" y="171450"/>
            <a:chExt cx="9508132" cy="668845"/>
          </a:xfrm>
        </p:grpSpPr>
        <p:grpSp>
          <p:nvGrpSpPr>
            <p:cNvPr id="1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5" name="Group 15"/>
              <p:cNvGrpSpPr/>
              <p:nvPr/>
            </p:nvGrpSpPr>
            <p:grpSpPr>
              <a:xfrm>
                <a:off x="762476" y="324326"/>
                <a:ext cx="265748" cy="265748"/>
                <a:chOff x="762476" y="324326"/>
                <a:chExt cx="265748" cy="265748"/>
              </a:xfrm>
            </p:grpSpPr>
            <p:sp>
              <p:nvSpPr>
                <p:cNvPr id="5" name="Freeform 5"/>
                <p:cNvSpPr/>
                <p:nvPr/>
              </p:nvSpPr>
              <p:spPr>
                <a:xfrm>
                  <a:off x="792004" y="353854"/>
                  <a:ext cx="206693" cy="206692"/>
                </a:xfrm>
                <a:custGeom>
                  <a:avLst/>
                  <a:gdLst/>
                  <a:ahLst/>
                  <a:cxnLst/>
                  <a:rect l="l" t="t" r="r" b="b"/>
                  <a:pathLst>
                    <a:path w="206693" h="206692">
                      <a:moveTo>
                        <a:pt x="0" y="14764"/>
                      </a:moveTo>
                      <a:cubicBezTo>
                        <a:pt x="0" y="6610"/>
                        <a:pt x="6610" y="0"/>
                        <a:pt x="14764" y="0"/>
                      </a:cubicBezTo>
                      <a:lnTo>
                        <a:pt x="191929" y="0"/>
                      </a:lnTo>
                      <a:cubicBezTo>
                        <a:pt x="200083" y="0"/>
                        <a:pt x="206693" y="6610"/>
                        <a:pt x="206693" y="14764"/>
                      </a:cubicBezTo>
                      <a:lnTo>
                        <a:pt x="206693" y="191929"/>
                      </a:lnTo>
                      <a:cubicBezTo>
                        <a:pt x="206693" y="200083"/>
                        <a:pt x="200083" y="206692"/>
                        <a:pt x="191929" y="206692"/>
                      </a:cubicBezTo>
                      <a:lnTo>
                        <a:pt x="14764" y="206692"/>
                      </a:lnTo>
                      <a:cubicBezTo>
                        <a:pt x="6610" y="206692"/>
                        <a:pt x="0" y="200083"/>
                        <a:pt x="0" y="191929"/>
                      </a:cubicBezTo>
                      <a:lnTo>
                        <a:pt x="0" y="14764"/>
                      </a:lnTo>
                    </a:path>
                  </a:pathLst>
                </a:custGeom>
                <a:noFill/>
                <a:ln w="24759" cap="rnd">
                  <a:solidFill>
                    <a:srgbClr val="FFFFFF"/>
                  </a:solidFill>
                  <a:round/>
                </a:ln>
              </p:spPr>
            </p:sp>
            <p:sp>
              <p:nvSpPr>
                <p:cNvPr id="6" name="Freeform 6"/>
                <p:cNvSpPr/>
                <p:nvPr/>
              </p:nvSpPr>
              <p:spPr>
                <a:xfrm>
                  <a:off x="851059" y="412909"/>
                  <a:ext cx="88582" cy="88582"/>
                </a:xfrm>
                <a:custGeom>
                  <a:avLst/>
                  <a:gdLst/>
                  <a:ahLst/>
                  <a:cxnLst/>
                  <a:rect l="l" t="t" r="r" b="b"/>
                  <a:pathLst>
                    <a:path w="88582" h="88582">
                      <a:moveTo>
                        <a:pt x="0" y="0"/>
                      </a:moveTo>
                      <a:lnTo>
                        <a:pt x="88582" y="0"/>
                      </a:lnTo>
                      <a:lnTo>
                        <a:pt x="88582" y="88582"/>
                      </a:lnTo>
                      <a:lnTo>
                        <a:pt x="0" y="88582"/>
                      </a:lnTo>
                      <a:lnTo>
                        <a:pt x="0" y="0"/>
                      </a:lnTo>
                    </a:path>
                  </a:pathLst>
                </a:custGeom>
                <a:noFill/>
                <a:ln w="24759" cap="rnd">
                  <a:solidFill>
                    <a:srgbClr val="FFFFFF"/>
                  </a:solidFill>
                  <a:round/>
                </a:ln>
              </p:spPr>
            </p:sp>
            <p:sp>
              <p:nvSpPr>
                <p:cNvPr id="7" name="Freeform 7"/>
                <p:cNvSpPr/>
                <p:nvPr/>
              </p:nvSpPr>
              <p:spPr>
                <a:xfrm>
                  <a:off x="762476" y="427672"/>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8" name="Freeform 8"/>
                <p:cNvSpPr/>
                <p:nvPr/>
              </p:nvSpPr>
              <p:spPr>
                <a:xfrm>
                  <a:off x="762476" y="486727"/>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9" name="Freeform 9"/>
                <p:cNvSpPr/>
                <p:nvPr/>
              </p:nvSpPr>
              <p:spPr>
                <a:xfrm>
                  <a:off x="865822"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0" name="Freeform 10"/>
                <p:cNvSpPr/>
                <p:nvPr/>
              </p:nvSpPr>
              <p:spPr>
                <a:xfrm>
                  <a:off x="924878"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1" name="Freeform 11"/>
                <p:cNvSpPr/>
                <p:nvPr/>
              </p:nvSpPr>
              <p:spPr>
                <a:xfrm>
                  <a:off x="998696" y="427672"/>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2" name="Freeform 12"/>
                <p:cNvSpPr/>
                <p:nvPr/>
              </p:nvSpPr>
              <p:spPr>
                <a:xfrm>
                  <a:off x="998696" y="486727"/>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3" name="Freeform 13"/>
                <p:cNvSpPr/>
                <p:nvPr/>
              </p:nvSpPr>
              <p:spPr>
                <a:xfrm>
                  <a:off x="924878"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sp>
              <p:nvSpPr>
                <p:cNvPr id="14" name="Freeform 14"/>
                <p:cNvSpPr/>
                <p:nvPr/>
              </p:nvSpPr>
              <p:spPr>
                <a:xfrm>
                  <a:off x="865822"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grpSp>
        </p:grpSp>
        <p:sp>
          <p:nvSpPr>
            <p:cNvPr id="17" name="TextBox 17"/>
            <p:cNvSpPr txBox="1"/>
            <p:nvPr/>
          </p:nvSpPr>
          <p:spPr>
            <a:xfrm>
              <a:off x="1299972" y="282892"/>
              <a:ext cx="881776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Gradient Boosting: artık hesaplama mantığı</a:t>
              </a:r>
            </a:p>
          </p:txBody>
        </p:sp>
      </p:grpSp>
      <p:grpSp>
        <p:nvGrpSpPr>
          <p:cNvPr id="22" name="formula-box"/>
          <p:cNvGrpSpPr/>
          <p:nvPr/>
        </p:nvGrpSpPr>
        <p:grpSpPr>
          <a:xfrm>
            <a:off x="609600" y="1162050"/>
            <a:ext cx="10972800" cy="628650"/>
            <a:chOff x="609600" y="1162050"/>
            <a:chExt cx="10972800" cy="628650"/>
          </a:xfrm>
        </p:grpSpPr>
        <p:sp>
          <p:nvSpPr>
            <p:cNvPr id="19" name="Rectangle 19"/>
            <p:cNvSpPr/>
            <p:nvPr/>
          </p:nvSpPr>
          <p:spPr>
            <a:xfrm>
              <a:off x="609600" y="1162050"/>
              <a:ext cx="10972800" cy="628650"/>
            </a:xfrm>
            <a:prstGeom prst="roundRect">
              <a:avLst>
                <a:gd name="adj" fmla="val 12121"/>
              </a:avLst>
            </a:prstGeom>
            <a:solidFill>
              <a:srgbClr val="12355B"/>
            </a:solidFill>
            <a:ln>
              <a:noFill/>
            </a:ln>
          </p:spPr>
        </p:sp>
        <p:sp>
          <p:nvSpPr>
            <p:cNvPr id="20" name="TextBox 20"/>
            <p:cNvSpPr txBox="1"/>
            <p:nvPr/>
          </p:nvSpPr>
          <p:spPr>
            <a:xfrm>
              <a:off x="904494" y="1342072"/>
              <a:ext cx="3759042" cy="381381"/>
            </a:xfrm>
            <a:prstGeom prst="rect">
              <a:avLst/>
            </a:prstGeom>
            <a:noFill/>
            <a:ln>
              <a:noFill/>
            </a:ln>
          </p:spPr>
          <p:txBody>
            <a:bodyPr wrap="none" lIns="0" tIns="0" rIns="0" bIns="0" anchor="t" anchorCtr="0">
              <a:spAutoFit/>
            </a:bodyPr>
            <a:lstStyle/>
            <a:p>
              <a:pPr algn="l"/>
              <a:r>
                <a:rPr lang="el-GR" sz="1950" b="1" dirty="0">
                  <a:solidFill>
                    <a:srgbClr val="00A6A6"/>
                  </a:solidFill>
                  <a:latin typeface="+mn-lt"/>
                  <a:ea typeface="+mn-ea"/>
                  <a:cs typeface="+mn-cs"/>
                </a:rPr>
                <a:t>Fₘ(x) = Fₘ₋₁(x) + ν · hₘ(x)</a:t>
              </a:r>
            </a:p>
          </p:txBody>
        </p:sp>
        <p:sp>
          <p:nvSpPr>
            <p:cNvPr id="21" name="TextBox 21"/>
            <p:cNvSpPr txBox="1"/>
            <p:nvPr/>
          </p:nvSpPr>
          <p:spPr>
            <a:xfrm>
              <a:off x="5327142" y="1406842"/>
              <a:ext cx="5747518" cy="264033"/>
            </a:xfrm>
            <a:prstGeom prst="rect">
              <a:avLst/>
            </a:prstGeom>
            <a:noFill/>
            <a:ln>
              <a:noFill/>
            </a:ln>
          </p:spPr>
          <p:txBody>
            <a:bodyPr wrap="none" lIns="0" tIns="0" rIns="0" bIns="0" anchor="t" anchorCtr="0">
              <a:spAutoFit/>
            </a:bodyPr>
            <a:lstStyle/>
            <a:p>
              <a:pPr algn="l"/>
              <a:r>
                <a:rPr lang="el-GR" sz="1350" dirty="0">
                  <a:solidFill>
                    <a:srgbClr val="EAF4F6"/>
                  </a:solidFill>
                  <a:latin typeface="+mn-lt"/>
                  <a:ea typeface="+mn-ea"/>
                  <a:cs typeface="+mn-cs"/>
                </a:rPr>
                <a:t>her ağaç öğrenme oranı ν ile ölçeklenerek toplam tahmine eklenir</a:t>
              </a:r>
            </a:p>
          </p:txBody>
        </p:sp>
      </p:grpSp>
      <p:grpSp>
        <p:nvGrpSpPr>
          <p:cNvPr id="44" name="loop-diagram"/>
          <p:cNvGrpSpPr/>
          <p:nvPr/>
        </p:nvGrpSpPr>
        <p:grpSpPr>
          <a:xfrm>
            <a:off x="666750" y="2286000"/>
            <a:ext cx="10858500" cy="1698784"/>
            <a:chOff x="666750" y="2286000"/>
            <a:chExt cx="10858500" cy="1698784"/>
          </a:xfrm>
        </p:grpSpPr>
        <p:sp>
          <p:nvSpPr>
            <p:cNvPr id="23" name="Rectangle 23"/>
            <p:cNvSpPr/>
            <p:nvPr/>
          </p:nvSpPr>
          <p:spPr>
            <a:xfrm>
              <a:off x="666750" y="2286000"/>
              <a:ext cx="2457450" cy="1333500"/>
            </a:xfrm>
            <a:prstGeom prst="roundRect">
              <a:avLst>
                <a:gd name="adj" fmla="val 7143"/>
              </a:avLst>
            </a:prstGeom>
            <a:solidFill>
              <a:srgbClr val="FFFFFF"/>
            </a:solidFill>
            <a:ln w="14288">
              <a:solidFill>
                <a:srgbClr val="2E86AB"/>
              </a:solidFill>
            </a:ln>
          </p:spPr>
        </p:sp>
        <p:sp>
          <p:nvSpPr>
            <p:cNvPr id="24" name="TextBox 24"/>
            <p:cNvSpPr txBox="1"/>
            <p:nvPr/>
          </p:nvSpPr>
          <p:spPr>
            <a:xfrm>
              <a:off x="887349" y="2420779"/>
              <a:ext cx="194504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1. Artığı hesapla</a:t>
              </a:r>
            </a:p>
          </p:txBody>
        </p:sp>
        <p:sp>
          <p:nvSpPr>
            <p:cNvPr id="25" name="TextBox 25"/>
            <p:cNvSpPr txBox="1"/>
            <p:nvPr/>
          </p:nvSpPr>
          <p:spPr>
            <a:xfrm>
              <a:off x="889254" y="2708910"/>
              <a:ext cx="147027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rᵢ = yᵢ − Fₘ₋₁(xᵢ)</a:t>
              </a:r>
            </a:p>
          </p:txBody>
        </p:sp>
        <p:sp>
          <p:nvSpPr>
            <p:cNvPr id="26" name="TextBox 26"/>
            <p:cNvSpPr txBox="1"/>
            <p:nvPr/>
          </p:nvSpPr>
          <p:spPr>
            <a:xfrm>
              <a:off x="889254" y="2918460"/>
              <a:ext cx="178109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mevcut modelin hatası</a:t>
              </a:r>
            </a:p>
          </p:txBody>
        </p:sp>
        <p:sp>
          <p:nvSpPr>
            <p:cNvPr id="27" name="Line 27"/>
            <p:cNvSpPr/>
            <p:nvPr/>
          </p:nvSpPr>
          <p:spPr>
            <a:xfrm>
              <a:off x="3124200" y="2952750"/>
              <a:ext cx="266700" cy="1"/>
            </a:xfrm>
            <a:prstGeom prst="line">
              <a:avLst/>
            </a:prstGeom>
            <a:noFill/>
            <a:ln w="23812">
              <a:solidFill>
                <a:srgbClr val="00A6A6"/>
              </a:solidFill>
              <a:tailEnd type="arrow" w="lg" len="lg"/>
            </a:ln>
          </p:spPr>
        </p:sp>
        <p:sp>
          <p:nvSpPr>
            <p:cNvPr id="28" name="Rectangle 28"/>
            <p:cNvSpPr/>
            <p:nvPr/>
          </p:nvSpPr>
          <p:spPr>
            <a:xfrm>
              <a:off x="3467100" y="2286000"/>
              <a:ext cx="2457450" cy="1333500"/>
            </a:xfrm>
            <a:prstGeom prst="roundRect">
              <a:avLst>
                <a:gd name="adj" fmla="val 7143"/>
              </a:avLst>
            </a:prstGeom>
            <a:solidFill>
              <a:srgbClr val="FFFFFF"/>
            </a:solidFill>
            <a:ln w="14288">
              <a:solidFill>
                <a:srgbClr val="2E86AB"/>
              </a:solidFill>
            </a:ln>
          </p:spPr>
        </p:sp>
        <p:sp>
          <p:nvSpPr>
            <p:cNvPr id="29" name="TextBox 29"/>
            <p:cNvSpPr txBox="1"/>
            <p:nvPr/>
          </p:nvSpPr>
          <p:spPr>
            <a:xfrm>
              <a:off x="3687699" y="2420779"/>
              <a:ext cx="195695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2. Sığ ağaç fit et</a:t>
              </a:r>
            </a:p>
          </p:txBody>
        </p:sp>
        <p:sp>
          <p:nvSpPr>
            <p:cNvPr id="30" name="TextBox 30"/>
            <p:cNvSpPr txBox="1"/>
            <p:nvPr/>
          </p:nvSpPr>
          <p:spPr>
            <a:xfrm>
              <a:off x="3689604" y="2708910"/>
              <a:ext cx="186187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hₘ(x), artığa fit edilir</a:t>
              </a:r>
            </a:p>
          </p:txBody>
        </p:sp>
        <p:sp>
          <p:nvSpPr>
            <p:cNvPr id="31" name="TextBox 31"/>
            <p:cNvSpPr txBox="1"/>
            <p:nvPr/>
          </p:nvSpPr>
          <p:spPr>
            <a:xfrm>
              <a:off x="3689604" y="2918460"/>
              <a:ext cx="150647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(derinlik 2-3 tipik)</a:t>
              </a:r>
            </a:p>
          </p:txBody>
        </p:sp>
        <p:sp>
          <p:nvSpPr>
            <p:cNvPr id="32" name="Line 32"/>
            <p:cNvSpPr/>
            <p:nvPr/>
          </p:nvSpPr>
          <p:spPr>
            <a:xfrm>
              <a:off x="5924550" y="2952750"/>
              <a:ext cx="266700" cy="1"/>
            </a:xfrm>
            <a:prstGeom prst="line">
              <a:avLst/>
            </a:prstGeom>
            <a:noFill/>
            <a:ln w="23812">
              <a:solidFill>
                <a:srgbClr val="00A6A6"/>
              </a:solidFill>
              <a:tailEnd type="arrow" w="lg" len="lg"/>
            </a:ln>
          </p:spPr>
        </p:sp>
        <p:sp>
          <p:nvSpPr>
            <p:cNvPr id="33" name="Rectangle 33"/>
            <p:cNvSpPr/>
            <p:nvPr/>
          </p:nvSpPr>
          <p:spPr>
            <a:xfrm>
              <a:off x="6267450" y="2286000"/>
              <a:ext cx="2457450" cy="1333500"/>
            </a:xfrm>
            <a:prstGeom prst="roundRect">
              <a:avLst>
                <a:gd name="adj" fmla="val 7143"/>
              </a:avLst>
            </a:prstGeom>
            <a:solidFill>
              <a:srgbClr val="FFFFFF"/>
            </a:solidFill>
            <a:ln w="14288">
              <a:solidFill>
                <a:srgbClr val="2E86AB"/>
              </a:solidFill>
            </a:ln>
          </p:spPr>
        </p:sp>
        <p:sp>
          <p:nvSpPr>
            <p:cNvPr id="34" name="TextBox 34"/>
            <p:cNvSpPr txBox="1"/>
            <p:nvPr/>
          </p:nvSpPr>
          <p:spPr>
            <a:xfrm>
              <a:off x="6488049" y="2420779"/>
              <a:ext cx="190018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3. Ölçekle ve ekle</a:t>
              </a:r>
            </a:p>
          </p:txBody>
        </p:sp>
        <p:sp>
          <p:nvSpPr>
            <p:cNvPr id="35" name="TextBox 35"/>
            <p:cNvSpPr txBox="1"/>
            <p:nvPr/>
          </p:nvSpPr>
          <p:spPr>
            <a:xfrm>
              <a:off x="6489954" y="2708910"/>
              <a:ext cx="1869948" cy="234696"/>
            </a:xfrm>
            <a:prstGeom prst="rect">
              <a:avLst/>
            </a:prstGeom>
            <a:noFill/>
            <a:ln>
              <a:noFill/>
            </a:ln>
          </p:spPr>
          <p:txBody>
            <a:bodyPr wrap="none" lIns="0" tIns="0" rIns="0" bIns="0" anchor="t" anchorCtr="0">
              <a:spAutoFit/>
            </a:bodyPr>
            <a:lstStyle/>
            <a:p>
              <a:pPr algn="l"/>
              <a:r>
                <a:rPr lang="el-GR" sz="1200" dirty="0">
                  <a:solidFill>
                    <a:srgbClr val="52616B"/>
                  </a:solidFill>
                  <a:latin typeface="+mn-lt"/>
                  <a:ea typeface="+mn-ea"/>
                  <a:cs typeface="+mn-cs"/>
                </a:rPr>
                <a:t>ν·hₘ(x) toplam tahmine</a:t>
              </a:r>
            </a:p>
          </p:txBody>
        </p:sp>
        <p:sp>
          <p:nvSpPr>
            <p:cNvPr id="36" name="TextBox 36"/>
            <p:cNvSpPr txBox="1"/>
            <p:nvPr/>
          </p:nvSpPr>
          <p:spPr>
            <a:xfrm>
              <a:off x="6489954" y="2918460"/>
              <a:ext cx="180533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kademeli olarak eklenir</a:t>
              </a:r>
            </a:p>
          </p:txBody>
        </p:sp>
        <p:sp>
          <p:nvSpPr>
            <p:cNvPr id="37" name="Line 37"/>
            <p:cNvSpPr/>
            <p:nvPr/>
          </p:nvSpPr>
          <p:spPr>
            <a:xfrm>
              <a:off x="8724900" y="2952750"/>
              <a:ext cx="266700" cy="1"/>
            </a:xfrm>
            <a:prstGeom prst="line">
              <a:avLst/>
            </a:prstGeom>
            <a:noFill/>
            <a:ln w="23812">
              <a:solidFill>
                <a:srgbClr val="00A6A6"/>
              </a:solidFill>
              <a:tailEnd type="arrow" w="lg" len="lg"/>
            </a:ln>
          </p:spPr>
        </p:sp>
        <p:sp>
          <p:nvSpPr>
            <p:cNvPr id="38" name="Rectangle 38"/>
            <p:cNvSpPr/>
            <p:nvPr/>
          </p:nvSpPr>
          <p:spPr>
            <a:xfrm>
              <a:off x="9067800" y="2286000"/>
              <a:ext cx="2457450" cy="1333500"/>
            </a:xfrm>
            <a:prstGeom prst="roundRect">
              <a:avLst>
                <a:gd name="adj" fmla="val 7143"/>
              </a:avLst>
            </a:prstGeom>
            <a:solidFill>
              <a:srgbClr val="EAF4F6"/>
            </a:solidFill>
            <a:ln w="14288">
              <a:solidFill>
                <a:srgbClr val="00A6A6"/>
              </a:solidFill>
            </a:ln>
          </p:spPr>
        </p:sp>
        <p:sp>
          <p:nvSpPr>
            <p:cNvPr id="39" name="TextBox 39"/>
            <p:cNvSpPr txBox="1"/>
            <p:nvPr/>
          </p:nvSpPr>
          <p:spPr>
            <a:xfrm>
              <a:off x="9288399" y="2420779"/>
              <a:ext cx="181110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4. Durma kriteri</a:t>
              </a:r>
            </a:p>
          </p:txBody>
        </p:sp>
        <p:sp>
          <p:nvSpPr>
            <p:cNvPr id="40" name="TextBox 40"/>
            <p:cNvSpPr txBox="1"/>
            <p:nvPr/>
          </p:nvSpPr>
          <p:spPr>
            <a:xfrm>
              <a:off x="9290685" y="2717006"/>
              <a:ext cx="1926265"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ağaç sayısına ulaşıldı mı</a:t>
              </a:r>
            </a:p>
          </p:txBody>
        </p:sp>
        <p:sp>
          <p:nvSpPr>
            <p:cNvPr id="41" name="TextBox 41"/>
            <p:cNvSpPr txBox="1"/>
            <p:nvPr/>
          </p:nvSpPr>
          <p:spPr>
            <a:xfrm>
              <a:off x="9290685" y="2926556"/>
              <a:ext cx="2009191"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ya da erken durduruldu mu?</a:t>
              </a:r>
            </a:p>
          </p:txBody>
        </p:sp>
        <p:sp>
          <p:nvSpPr>
            <p:cNvPr id="42" name="Freeform 42"/>
            <p:cNvSpPr/>
            <p:nvPr/>
          </p:nvSpPr>
          <p:spPr>
            <a:xfrm>
              <a:off x="1895475" y="3619500"/>
              <a:ext cx="8401050" cy="304800"/>
            </a:xfrm>
            <a:custGeom>
              <a:avLst/>
              <a:gdLst/>
              <a:ahLst/>
              <a:cxnLst/>
              <a:rect l="l" t="t" r="r" b="b"/>
              <a:pathLst>
                <a:path w="8401050" h="304800">
                  <a:moveTo>
                    <a:pt x="8401050" y="0"/>
                  </a:moveTo>
                  <a:cubicBezTo>
                    <a:pt x="8401050" y="304800"/>
                    <a:pt x="0" y="304800"/>
                    <a:pt x="0" y="0"/>
                  </a:cubicBezTo>
                </a:path>
              </a:pathLst>
            </a:custGeom>
            <a:noFill/>
            <a:ln w="19050">
              <a:solidFill>
                <a:srgbClr val="52616B"/>
              </a:solidFill>
              <a:custDash>
                <a:ds d="300000" sp="200000"/>
              </a:custDash>
              <a:tailEnd type="arrow" w="lg" len="lg"/>
            </a:ln>
          </p:spPr>
        </p:sp>
        <p:sp>
          <p:nvSpPr>
            <p:cNvPr id="43" name="TextBox 43"/>
            <p:cNvSpPr txBox="1"/>
            <p:nvPr/>
          </p:nvSpPr>
          <p:spPr>
            <a:xfrm>
              <a:off x="4062369" y="3764756"/>
              <a:ext cx="4067261"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kriter sağlanmadıysa yeni bir ağaçla döngü tekrarlanır</a:t>
              </a:r>
            </a:p>
          </p:txBody>
        </p:sp>
      </p:grpSp>
      <p:grpSp>
        <p:nvGrpSpPr>
          <p:cNvPr id="48" name="explanation"/>
          <p:cNvGrpSpPr/>
          <p:nvPr/>
        </p:nvGrpSpPr>
        <p:grpSpPr>
          <a:xfrm>
            <a:off x="609600" y="4267200"/>
            <a:ext cx="10972800" cy="1238250"/>
            <a:chOff x="609600" y="4267200"/>
            <a:chExt cx="10972800" cy="1238250"/>
          </a:xfrm>
        </p:grpSpPr>
        <p:sp>
          <p:nvSpPr>
            <p:cNvPr id="45" name="Rectangle 45"/>
            <p:cNvSpPr/>
            <p:nvPr/>
          </p:nvSpPr>
          <p:spPr>
            <a:xfrm>
              <a:off x="609600" y="4267200"/>
              <a:ext cx="10972800" cy="1238250"/>
            </a:xfrm>
            <a:prstGeom prst="roundRect">
              <a:avLst>
                <a:gd name="adj" fmla="val 6154"/>
              </a:avLst>
            </a:prstGeom>
            <a:solidFill>
              <a:srgbClr val="EAF4F6"/>
            </a:solidFill>
            <a:ln>
              <a:noFill/>
            </a:ln>
          </p:spPr>
        </p:sp>
        <p:sp>
          <p:nvSpPr>
            <p:cNvPr id="46" name="TextBox 46"/>
            <p:cNvSpPr txBox="1"/>
            <p:nvPr/>
          </p:nvSpPr>
          <p:spPr>
            <a:xfrm>
              <a:off x="906399" y="4421029"/>
              <a:ext cx="593080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Öğrenme oranı bir küçültme (shrinkage) katsayısıdır</a:t>
              </a:r>
            </a:p>
          </p:txBody>
        </p:sp>
        <p:sp>
          <p:nvSpPr>
            <p:cNvPr id="47" name="TextBox 47"/>
            <p:cNvSpPr txBox="1"/>
            <p:nvPr/>
          </p:nvSpPr>
          <p:spPr>
            <a:xfrm>
              <a:off x="906399" y="4706779"/>
              <a:ext cx="9768078"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Kare hata kaybında artık, gerçek değer ile mevcut tahmin arasındaki farktır. Öğrenme oranı, her</a:t>
              </a:r>
              <a:br/>
              <a:r>
                <a:rPr lang="tr-TR" sz="1580" dirty="0">
                  <a:solidFill>
                    <a:srgbClr val="172B3A"/>
                  </a:solidFill>
                  <a:latin typeface="+mn-lt"/>
                  <a:ea typeface="+mn-ea"/>
                  <a:cs typeface="+mn-cs"/>
                </a:rPr>
                <a:t>ağacın nihai tahmine katkısını sınırlayarak modelin tek bir ağaca aşırı güvenmesini engeller.</a:t>
              </a:r>
            </a:p>
          </p:txBody>
        </p:sp>
      </p:grpSp>
      <p:sp>
        <p:nvSpPr>
          <p:cNvPr id="49" name="TextBox 4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25</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10924858" cy="668845"/>
            <a:chOff x="609600" y="171450"/>
            <a:chExt cx="10924858"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68618"/>
                <a:ext cx="206693" cy="177164"/>
                <a:chOff x="792004" y="368618"/>
                <a:chExt cx="206693" cy="177164"/>
              </a:xfrm>
            </p:grpSpPr>
            <p:sp>
              <p:nvSpPr>
                <p:cNvPr id="5" name="Freeform 5"/>
                <p:cNvSpPr/>
                <p:nvPr/>
              </p:nvSpPr>
              <p:spPr>
                <a:xfrm>
                  <a:off x="792004" y="457200"/>
                  <a:ext cx="206693" cy="9525"/>
                </a:xfrm>
                <a:custGeom>
                  <a:avLst/>
                  <a:gdLst/>
                  <a:ahLst/>
                  <a:cxnLst/>
                  <a:rect l="l" t="t" r="r" b="b"/>
                  <a:pathLst>
                    <a:path w="206693" h="9525">
                      <a:moveTo>
                        <a:pt x="0" y="0"/>
                      </a:moveTo>
                      <a:lnTo>
                        <a:pt x="206693" y="0"/>
                      </a:lnTo>
                    </a:path>
                  </a:pathLst>
                </a:custGeom>
                <a:noFill/>
                <a:ln w="24759" cap="rnd">
                  <a:solidFill>
                    <a:srgbClr val="FFFFFF"/>
                  </a:solidFill>
                  <a:round/>
                </a:ln>
              </p:spPr>
            </p:sp>
            <p:sp>
              <p:nvSpPr>
                <p:cNvPr id="6" name="Freeform 6"/>
                <p:cNvSpPr/>
                <p:nvPr/>
              </p:nvSpPr>
              <p:spPr>
                <a:xfrm>
                  <a:off x="910114" y="457200"/>
                  <a:ext cx="88582" cy="88582"/>
                </a:xfrm>
                <a:custGeom>
                  <a:avLst/>
                  <a:gdLst/>
                  <a:ahLst/>
                  <a:cxnLst/>
                  <a:rect l="l" t="t" r="r" b="b"/>
                  <a:pathLst>
                    <a:path w="88582" h="88582">
                      <a:moveTo>
                        <a:pt x="0" y="88582"/>
                      </a:moveTo>
                      <a:lnTo>
                        <a:pt x="88582" y="0"/>
                      </a:lnTo>
                    </a:path>
                  </a:pathLst>
                </a:custGeom>
                <a:noFill/>
                <a:ln w="24759" cap="rnd">
                  <a:solidFill>
                    <a:srgbClr val="FFFFFF"/>
                  </a:solidFill>
                  <a:round/>
                </a:ln>
              </p:spPr>
            </p:sp>
            <p:sp>
              <p:nvSpPr>
                <p:cNvPr id="7" name="Freeform 7"/>
                <p:cNvSpPr/>
                <p:nvPr/>
              </p:nvSpPr>
              <p:spPr>
                <a:xfrm>
                  <a:off x="910114" y="368618"/>
                  <a:ext cx="88582" cy="88582"/>
                </a:xfrm>
                <a:custGeom>
                  <a:avLst/>
                  <a:gdLst/>
                  <a:ahLst/>
                  <a:cxnLst/>
                  <a:rect l="l" t="t" r="r" b="b"/>
                  <a:pathLst>
                    <a:path w="88582" h="88582">
                      <a:moveTo>
                        <a:pt x="0" y="0"/>
                      </a:moveTo>
                      <a:lnTo>
                        <a:pt x="88582" y="88582"/>
                      </a:lnTo>
                    </a:path>
                  </a:pathLst>
                </a:custGeom>
                <a:noFill/>
                <a:ln w="24759" cap="rnd">
                  <a:solidFill>
                    <a:srgbClr val="FFFFFF"/>
                  </a:solidFill>
                  <a:round/>
                </a:ln>
              </p:spPr>
            </p:sp>
          </p:grpSp>
        </p:grpSp>
        <p:sp>
          <p:nvSpPr>
            <p:cNvPr id="10" name="TextBox 10"/>
            <p:cNvSpPr txBox="1"/>
            <p:nvPr/>
          </p:nvSpPr>
          <p:spPr>
            <a:xfrm>
              <a:off x="1299972" y="282892"/>
              <a:ext cx="1023448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Kavramdan karara: bir düzeltme adımını elle izleme</a:t>
              </a:r>
            </a:p>
          </p:txBody>
        </p:sp>
      </p:grpSp>
      <p:grpSp>
        <p:nvGrpSpPr>
          <p:cNvPr id="25" name="data-table"/>
          <p:cNvGrpSpPr/>
          <p:nvPr/>
        </p:nvGrpSpPr>
        <p:grpSpPr>
          <a:xfrm>
            <a:off x="609600" y="1219200"/>
            <a:ext cx="4953000" cy="1600200"/>
            <a:chOff x="609600" y="1219200"/>
            <a:chExt cx="4953000" cy="1600200"/>
          </a:xfrm>
        </p:grpSpPr>
        <p:sp>
          <p:nvSpPr>
            <p:cNvPr id="12" name="Rectangle 12"/>
            <p:cNvSpPr/>
            <p:nvPr/>
          </p:nvSpPr>
          <p:spPr>
            <a:xfrm>
              <a:off x="609600" y="1219200"/>
              <a:ext cx="4953000" cy="1600200"/>
            </a:xfrm>
            <a:prstGeom prst="roundRect">
              <a:avLst>
                <a:gd name="adj" fmla="val 4762"/>
              </a:avLst>
            </a:prstGeom>
            <a:solidFill>
              <a:srgbClr val="FFFFFF"/>
            </a:solidFill>
            <a:ln w="14288">
              <a:solidFill>
                <a:srgbClr val="B8CBD3"/>
              </a:solidFill>
            </a:ln>
          </p:spPr>
        </p:sp>
        <p:sp>
          <p:nvSpPr>
            <p:cNvPr id="13" name="Rectangle 13"/>
            <p:cNvSpPr/>
            <p:nvPr/>
          </p:nvSpPr>
          <p:spPr>
            <a:xfrm>
              <a:off x="609600" y="1219200"/>
              <a:ext cx="4953000" cy="381000"/>
            </a:xfrm>
            <a:prstGeom prst="rect">
              <a:avLst/>
            </a:prstGeom>
            <a:solidFill>
              <a:srgbClr val="12355B"/>
            </a:solidFill>
            <a:ln>
              <a:noFill/>
            </a:ln>
          </p:spPr>
        </p:sp>
        <p:sp>
          <p:nvSpPr>
            <p:cNvPr id="14" name="TextBox 14"/>
            <p:cNvSpPr txBox="1"/>
            <p:nvPr/>
          </p:nvSpPr>
          <p:spPr>
            <a:xfrm>
              <a:off x="832104" y="1337310"/>
              <a:ext cx="639470"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GÖZLEM</a:t>
              </a:r>
            </a:p>
          </p:txBody>
        </p:sp>
        <p:sp>
          <p:nvSpPr>
            <p:cNvPr id="15" name="TextBox 15"/>
            <p:cNvSpPr txBox="1"/>
            <p:nvPr/>
          </p:nvSpPr>
          <p:spPr>
            <a:xfrm>
              <a:off x="2546604" y="1337310"/>
              <a:ext cx="603626"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GERÇEK</a:t>
              </a:r>
            </a:p>
          </p:txBody>
        </p:sp>
        <p:sp>
          <p:nvSpPr>
            <p:cNvPr id="16" name="TextBox 16"/>
            <p:cNvSpPr txBox="1"/>
            <p:nvPr/>
          </p:nvSpPr>
          <p:spPr>
            <a:xfrm>
              <a:off x="3842004" y="1337310"/>
              <a:ext cx="854537"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BAŞLANGIÇ</a:t>
              </a:r>
            </a:p>
          </p:txBody>
        </p:sp>
        <p:sp>
          <p:nvSpPr>
            <p:cNvPr id="17" name="TextBox 17"/>
            <p:cNvSpPr txBox="1"/>
            <p:nvPr/>
          </p:nvSpPr>
          <p:spPr>
            <a:xfrm>
              <a:off x="830199" y="1734979"/>
              <a:ext cx="13298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1</a:t>
              </a:r>
            </a:p>
          </p:txBody>
        </p:sp>
        <p:sp>
          <p:nvSpPr>
            <p:cNvPr id="18" name="TextBox 18"/>
            <p:cNvSpPr txBox="1"/>
            <p:nvPr/>
          </p:nvSpPr>
          <p:spPr>
            <a:xfrm>
              <a:off x="2544699" y="1734979"/>
              <a:ext cx="13298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3</a:t>
              </a:r>
            </a:p>
          </p:txBody>
        </p:sp>
        <p:sp>
          <p:nvSpPr>
            <p:cNvPr id="19" name="TextBox 19"/>
            <p:cNvSpPr txBox="1"/>
            <p:nvPr/>
          </p:nvSpPr>
          <p:spPr>
            <a:xfrm>
              <a:off x="3840099" y="1734979"/>
              <a:ext cx="13298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2</a:t>
              </a:r>
            </a:p>
          </p:txBody>
        </p:sp>
        <p:sp>
          <p:nvSpPr>
            <p:cNvPr id="20" name="TextBox 20"/>
            <p:cNvSpPr txBox="1"/>
            <p:nvPr/>
          </p:nvSpPr>
          <p:spPr>
            <a:xfrm>
              <a:off x="830199" y="2115979"/>
              <a:ext cx="13298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2</a:t>
              </a:r>
            </a:p>
          </p:txBody>
        </p:sp>
        <p:sp>
          <p:nvSpPr>
            <p:cNvPr id="21" name="TextBox 21"/>
            <p:cNvSpPr txBox="1"/>
            <p:nvPr/>
          </p:nvSpPr>
          <p:spPr>
            <a:xfrm>
              <a:off x="2544699" y="2115979"/>
              <a:ext cx="13298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5</a:t>
              </a:r>
            </a:p>
          </p:txBody>
        </p:sp>
        <p:sp>
          <p:nvSpPr>
            <p:cNvPr id="22" name="TextBox 22"/>
            <p:cNvSpPr txBox="1"/>
            <p:nvPr/>
          </p:nvSpPr>
          <p:spPr>
            <a:xfrm>
              <a:off x="3840099" y="2115979"/>
              <a:ext cx="13298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4</a:t>
              </a:r>
            </a:p>
          </p:txBody>
        </p:sp>
        <p:sp>
          <p:nvSpPr>
            <p:cNvPr id="23" name="Line 23"/>
            <p:cNvSpPr/>
            <p:nvPr/>
          </p:nvSpPr>
          <p:spPr>
            <a:xfrm>
              <a:off x="762000" y="2438400"/>
              <a:ext cx="4648200" cy="9525"/>
            </a:xfrm>
            <a:custGeom>
              <a:avLst/>
              <a:gdLst/>
              <a:ahLst/>
              <a:cxnLst/>
              <a:rect l="l" t="t" r="r" b="b"/>
              <a:pathLst>
                <a:path w="4648200" h="9525">
                  <a:moveTo>
                    <a:pt x="0" y="0"/>
                  </a:moveTo>
                  <a:lnTo>
                    <a:pt x="4648200" y="0"/>
                  </a:lnTo>
                </a:path>
              </a:pathLst>
            </a:custGeom>
            <a:noFill/>
            <a:ln w="9525">
              <a:solidFill>
                <a:srgbClr val="B8CBD3"/>
              </a:solidFill>
            </a:ln>
          </p:spPr>
        </p:sp>
        <p:sp>
          <p:nvSpPr>
            <p:cNvPr id="24" name="TextBox 24"/>
            <p:cNvSpPr txBox="1"/>
            <p:nvPr/>
          </p:nvSpPr>
          <p:spPr>
            <a:xfrm>
              <a:off x="832104" y="2537460"/>
              <a:ext cx="282248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Artık = Gerçek − Başlangıç → [1, 1]</a:t>
              </a:r>
            </a:p>
          </p:txBody>
        </p:sp>
      </p:grpSp>
      <p:grpSp>
        <p:nvGrpSpPr>
          <p:cNvPr id="31" name="computation"/>
          <p:cNvGrpSpPr/>
          <p:nvPr/>
        </p:nvGrpSpPr>
        <p:grpSpPr>
          <a:xfrm>
            <a:off x="5867400" y="1219200"/>
            <a:ext cx="5715000" cy="1600200"/>
            <a:chOff x="5867400" y="1219200"/>
            <a:chExt cx="5715000" cy="1600200"/>
          </a:xfrm>
        </p:grpSpPr>
        <p:sp>
          <p:nvSpPr>
            <p:cNvPr id="26" name="Rectangle 26"/>
            <p:cNvSpPr/>
            <p:nvPr/>
          </p:nvSpPr>
          <p:spPr>
            <a:xfrm>
              <a:off x="5867400" y="1219200"/>
              <a:ext cx="5715000" cy="1600200"/>
            </a:xfrm>
            <a:prstGeom prst="roundRect">
              <a:avLst>
                <a:gd name="adj" fmla="val 4762"/>
              </a:avLst>
            </a:prstGeom>
            <a:solidFill>
              <a:srgbClr val="12355B"/>
            </a:solidFill>
            <a:ln>
              <a:noFill/>
            </a:ln>
          </p:spPr>
        </p:sp>
        <p:sp>
          <p:nvSpPr>
            <p:cNvPr id="27" name="TextBox 27"/>
            <p:cNvSpPr txBox="1"/>
            <p:nvPr/>
          </p:nvSpPr>
          <p:spPr>
            <a:xfrm>
              <a:off x="6164199" y="1392079"/>
              <a:ext cx="2427302" cy="308039"/>
            </a:xfrm>
            <a:prstGeom prst="rect">
              <a:avLst/>
            </a:prstGeom>
            <a:noFill/>
            <a:ln>
              <a:noFill/>
            </a:ln>
          </p:spPr>
          <p:txBody>
            <a:bodyPr wrap="none" lIns="0" tIns="0" rIns="0" bIns="0" anchor="t" anchorCtr="0">
              <a:spAutoFit/>
            </a:bodyPr>
            <a:lstStyle/>
            <a:p>
              <a:pPr algn="l"/>
              <a:r>
                <a:rPr lang="el-GR" sz="1580" b="1" dirty="0">
                  <a:solidFill>
                    <a:srgbClr val="00A6A6"/>
                  </a:solidFill>
                  <a:latin typeface="+mn-lt"/>
                  <a:ea typeface="+mn-ea"/>
                  <a:cs typeface="+mn-cs"/>
                </a:rPr>
                <a:t>Öğrenme oranı ν = 0,1</a:t>
              </a:r>
            </a:p>
          </p:txBody>
        </p:sp>
        <p:sp>
          <p:nvSpPr>
            <p:cNvPr id="28" name="TextBox 28"/>
            <p:cNvSpPr txBox="1"/>
            <p:nvPr/>
          </p:nvSpPr>
          <p:spPr>
            <a:xfrm>
              <a:off x="6164199" y="1715929"/>
              <a:ext cx="3566166" cy="308039"/>
            </a:xfrm>
            <a:prstGeom prst="rect">
              <a:avLst/>
            </a:prstGeom>
            <a:noFill/>
            <a:ln>
              <a:noFill/>
            </a:ln>
          </p:spPr>
          <p:txBody>
            <a:bodyPr wrap="none" lIns="0" tIns="0" rIns="0" bIns="0" anchor="t" anchorCtr="0">
              <a:spAutoFit/>
            </a:bodyPr>
            <a:lstStyle/>
            <a:p>
              <a:pPr algn="l"/>
              <a:r>
                <a:rPr lang="tr-TR" sz="1580" dirty="0">
                  <a:solidFill>
                    <a:srgbClr val="FFFFFF"/>
                  </a:solidFill>
                  <a:latin typeface="+mn-lt"/>
                  <a:ea typeface="+mn-ea"/>
                  <a:cs typeface="+mn-cs"/>
                </a:rPr>
                <a:t>Zayıf öğrenici düzeltmesi = [2, 0]</a:t>
              </a:r>
            </a:p>
          </p:txBody>
        </p:sp>
        <p:sp>
          <p:nvSpPr>
            <p:cNvPr id="29" name="TextBox 29"/>
            <p:cNvSpPr txBox="1"/>
            <p:nvPr/>
          </p:nvSpPr>
          <p:spPr>
            <a:xfrm>
              <a:off x="6164199" y="2039779"/>
              <a:ext cx="4624761" cy="308039"/>
            </a:xfrm>
            <a:prstGeom prst="rect">
              <a:avLst/>
            </a:prstGeom>
            <a:noFill/>
            <a:ln>
              <a:noFill/>
            </a:ln>
          </p:spPr>
          <p:txBody>
            <a:bodyPr wrap="none" lIns="0" tIns="0" rIns="0" bIns="0" anchor="t" anchorCtr="0">
              <a:spAutoFit/>
            </a:bodyPr>
            <a:lstStyle/>
            <a:p>
              <a:pPr algn="l"/>
              <a:r>
                <a:rPr lang="tr-TR" sz="1580" dirty="0">
                  <a:solidFill>
                    <a:srgbClr val="FFFFFF"/>
                  </a:solidFill>
                  <a:latin typeface="+mn-lt"/>
                  <a:ea typeface="+mn-ea"/>
                  <a:cs typeface="+mn-cs"/>
                </a:rPr>
                <a:t>Güncellenmiş tahmin = [2 + 0,1·2, 4 + 0,1·0]</a:t>
              </a:r>
            </a:p>
          </p:txBody>
        </p:sp>
        <p:sp>
          <p:nvSpPr>
            <p:cNvPr id="30" name="TextBox 30"/>
            <p:cNvSpPr txBox="1"/>
            <p:nvPr/>
          </p:nvSpPr>
          <p:spPr>
            <a:xfrm>
              <a:off x="6163056" y="2339340"/>
              <a:ext cx="1366777" cy="352044"/>
            </a:xfrm>
            <a:prstGeom prst="rect">
              <a:avLst/>
            </a:prstGeom>
            <a:noFill/>
            <a:ln>
              <a:noFill/>
            </a:ln>
          </p:spPr>
          <p:txBody>
            <a:bodyPr wrap="none" lIns="0" tIns="0" rIns="0" bIns="0" anchor="t" anchorCtr="0">
              <a:spAutoFit/>
            </a:bodyPr>
            <a:lstStyle/>
            <a:p>
              <a:pPr algn="l"/>
              <a:r>
                <a:rPr lang="tr-TR" sz="1800" b="1" dirty="0">
                  <a:solidFill>
                    <a:srgbClr val="00A6A6"/>
                  </a:solidFill>
                  <a:latin typeface="+mn-lt"/>
                  <a:ea typeface="+mn-ea"/>
                  <a:cs typeface="+mn-cs"/>
                </a:rPr>
                <a:t>= [2,2 ; 4]</a:t>
              </a:r>
            </a:p>
          </p:txBody>
        </p:sp>
      </p:grpSp>
      <p:grpSp>
        <p:nvGrpSpPr>
          <p:cNvPr id="35" name="interpretation"/>
          <p:cNvGrpSpPr/>
          <p:nvPr/>
        </p:nvGrpSpPr>
        <p:grpSpPr>
          <a:xfrm>
            <a:off x="609600" y="2971800"/>
            <a:ext cx="10972800" cy="800100"/>
            <a:chOff x="609600" y="2971800"/>
            <a:chExt cx="10972800" cy="800100"/>
          </a:xfrm>
        </p:grpSpPr>
        <p:sp>
          <p:nvSpPr>
            <p:cNvPr id="32" name="Rectangle 32"/>
            <p:cNvSpPr/>
            <p:nvPr/>
          </p:nvSpPr>
          <p:spPr>
            <a:xfrm>
              <a:off x="609600" y="2971800"/>
              <a:ext cx="10972800" cy="800100"/>
            </a:xfrm>
            <a:prstGeom prst="roundRect">
              <a:avLst>
                <a:gd name="adj" fmla="val 9524"/>
              </a:avLst>
            </a:prstGeom>
            <a:solidFill>
              <a:srgbClr val="EAF4F6"/>
            </a:solidFill>
            <a:ln>
              <a:noFill/>
            </a:ln>
          </p:spPr>
        </p:sp>
        <p:sp>
          <p:nvSpPr>
            <p:cNvPr id="33" name="TextBox 33"/>
            <p:cNvSpPr txBox="1"/>
            <p:nvPr/>
          </p:nvSpPr>
          <p:spPr>
            <a:xfrm>
              <a:off x="906399" y="3125629"/>
              <a:ext cx="9583877"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İlk gözlemde hata azalırken ikinci gözlem değişmez; sonraki ağaç, kalan hataya göre yeni bir</a:t>
              </a:r>
            </a:p>
          </p:txBody>
        </p:sp>
        <p:sp>
          <p:nvSpPr>
            <p:cNvPr id="34" name="TextBox 34"/>
            <p:cNvSpPr txBox="1"/>
            <p:nvPr/>
          </p:nvSpPr>
          <p:spPr>
            <a:xfrm>
              <a:off x="906399" y="3392329"/>
              <a:ext cx="638635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düzeltme öğrenir — düzeltme tüm gözlemlere eşit uygulanmaz.</a:t>
              </a:r>
            </a:p>
          </p:txBody>
        </p:sp>
      </p:grpSp>
      <p:grpSp>
        <p:nvGrpSpPr>
          <p:cNvPr id="38" name="assumption"/>
          <p:cNvGrpSpPr/>
          <p:nvPr/>
        </p:nvGrpSpPr>
        <p:grpSpPr>
          <a:xfrm>
            <a:off x="601980" y="3990975"/>
            <a:ext cx="6163056" cy="933831"/>
            <a:chOff x="601980" y="3990975"/>
            <a:chExt cx="6163056" cy="933831"/>
          </a:xfrm>
        </p:grpSpPr>
        <p:sp>
          <p:nvSpPr>
            <p:cNvPr id="36" name="TextBox 36"/>
            <p:cNvSpPr txBox="1"/>
            <p:nvPr/>
          </p:nvSpPr>
          <p:spPr>
            <a:xfrm>
              <a:off x="601980" y="3990975"/>
              <a:ext cx="1941321"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Varsayım ve sınır</a:t>
              </a:r>
            </a:p>
          </p:txBody>
        </p:sp>
        <p:sp>
          <p:nvSpPr>
            <p:cNvPr id="37" name="TextBox 37"/>
            <p:cNvSpPr txBox="1"/>
            <p:nvPr/>
          </p:nvSpPr>
          <p:spPr>
            <a:xfrm>
              <a:off x="603504" y="4290060"/>
              <a:ext cx="6161532" cy="634746"/>
            </a:xfrm>
            <a:prstGeom prst="rect">
              <a:avLst/>
            </a:prstGeom>
            <a:noFill/>
            <a:ln>
              <a:noFill/>
            </a:ln>
          </p:spPr>
          <p:txBody>
            <a:bodyPr wrap="none" lIns="0" tIns="0" rIns="0" bIns="0" anchor="t" anchorCtr="0">
              <a:spAutoFit/>
            </a:bodyPr>
            <a:lstStyle/>
            <a:p>
              <a:pPr algn="l">
                <a:lnSpc>
                  <a:spcPts val="1575"/>
                </a:lnSpc>
              </a:pPr>
              <a:r>
                <a:rPr lang="tr-TR" sz="1200" dirty="0">
                  <a:solidFill>
                    <a:srgbClr val="52616B"/>
                  </a:solidFill>
                  <a:latin typeface="+mn-lt"/>
                  <a:ea typeface="+mn-ea"/>
                  <a:cs typeface="+mn-cs"/>
                </a:rPr>
                <a:t>Artıkların mevcut modelin eksik yönünü yeterince temsil ettiği ve doğrulama</a:t>
              </a:r>
              <a:br/>
              <a:r>
                <a:rPr lang="tr-TR" sz="1200" dirty="0">
                  <a:solidFill>
                    <a:srgbClr val="52616B"/>
                  </a:solidFill>
                  <a:latin typeface="+mn-lt"/>
                  <a:ea typeface="+mn-ea"/>
                  <a:cs typeface="+mn-cs"/>
                </a:rPr>
                <a:t>verisinin eğitimden bağımsız olduğu varsayılır. Büyük öğrenme oranı gürültüyü de</a:t>
              </a:r>
              <a:br/>
              <a:r>
                <a:rPr lang="tr-TR" sz="1200" dirty="0">
                  <a:solidFill>
                    <a:srgbClr val="52616B"/>
                  </a:solidFill>
                  <a:latin typeface="+mn-lt"/>
                  <a:ea typeface="+mn-ea"/>
                  <a:cs typeface="+mn-cs"/>
                </a:rPr>
                <a:t>büyütebilir; eğitim kaybının düşmesi tek başına yeni veride başarıyı göstermez.</a:t>
              </a:r>
            </a:p>
          </p:txBody>
        </p:sp>
      </p:grpSp>
      <p:grpSp>
        <p:nvGrpSpPr>
          <p:cNvPr id="47" name="common-mistake"/>
          <p:cNvGrpSpPr/>
          <p:nvPr/>
        </p:nvGrpSpPr>
        <p:grpSpPr>
          <a:xfrm>
            <a:off x="609600" y="5086350"/>
            <a:ext cx="10972800" cy="952500"/>
            <a:chOff x="609600" y="5086350"/>
            <a:chExt cx="10972800" cy="952500"/>
          </a:xfrm>
        </p:grpSpPr>
        <p:sp>
          <p:nvSpPr>
            <p:cNvPr id="39" name="Rectangle 39"/>
            <p:cNvSpPr/>
            <p:nvPr/>
          </p:nvSpPr>
          <p:spPr>
            <a:xfrm>
              <a:off x="609600" y="5086350"/>
              <a:ext cx="10972800" cy="952500"/>
            </a:xfrm>
            <a:prstGeom prst="roundRect">
              <a:avLst>
                <a:gd name="adj" fmla="val 8000"/>
              </a:avLst>
            </a:prstGeom>
            <a:solidFill>
              <a:srgbClr val="FFFFFF"/>
            </a:solidFill>
            <a:ln w="14288">
              <a:solidFill>
                <a:srgbClr val="B8CBD3"/>
              </a:solidFill>
            </a:ln>
          </p:spPr>
        </p:sp>
        <p:sp>
          <p:nvSpPr>
            <p:cNvPr id="40" name="Rectangle 40"/>
            <p:cNvSpPr/>
            <p:nvPr/>
          </p:nvSpPr>
          <p:spPr>
            <a:xfrm>
              <a:off x="609600" y="5086350"/>
              <a:ext cx="57150" cy="952500"/>
            </a:xfrm>
            <a:prstGeom prst="rect">
              <a:avLst/>
            </a:prstGeom>
            <a:solidFill>
              <a:srgbClr val="52616B"/>
            </a:solidFill>
            <a:ln>
              <a:noFill/>
            </a:ln>
          </p:spPr>
        </p:sp>
        <p:grpSp>
          <p:nvGrpSpPr>
            <p:cNvPr id="44" name="icon-warn"/>
            <p:cNvGrpSpPr/>
            <p:nvPr/>
          </p:nvGrpSpPr>
          <p:grpSpPr>
            <a:xfrm>
              <a:off x="935680" y="5287447"/>
              <a:ext cx="224139" cy="192565"/>
              <a:chOff x="935680" y="5287447"/>
              <a:chExt cx="224139" cy="192565"/>
            </a:xfrm>
          </p:grpSpPr>
          <p:sp>
            <p:nvSpPr>
              <p:cNvPr id="41" name="Freeform 41"/>
              <p:cNvSpPr/>
              <p:nvPr/>
            </p:nvSpPr>
            <p:spPr>
              <a:xfrm>
                <a:off x="1047754" y="5357815"/>
                <a:ext cx="9525" cy="44451"/>
              </a:xfrm>
              <a:custGeom>
                <a:avLst/>
                <a:gdLst/>
                <a:ahLst/>
                <a:cxnLst/>
                <a:rect l="l" t="t" r="r" b="b"/>
                <a:pathLst>
                  <a:path w="9525" h="44451">
                    <a:moveTo>
                      <a:pt x="0" y="0"/>
                    </a:moveTo>
                    <a:lnTo>
                      <a:pt x="0" y="44451"/>
                    </a:lnTo>
                  </a:path>
                </a:pathLst>
              </a:custGeom>
              <a:noFill/>
              <a:ln w="19047" cap="rnd">
                <a:solidFill>
                  <a:srgbClr val="12355B"/>
                </a:solidFill>
                <a:round/>
              </a:ln>
            </p:spPr>
          </p:sp>
          <p:sp>
            <p:nvSpPr>
              <p:cNvPr id="42" name="Freeform 42"/>
              <p:cNvSpPr/>
              <p:nvPr/>
            </p:nvSpPr>
            <p:spPr>
              <a:xfrm>
                <a:off x="935680" y="5287447"/>
                <a:ext cx="224139" cy="192565"/>
              </a:xfrm>
              <a:custGeom>
                <a:avLst/>
                <a:gdLst/>
                <a:ahLst/>
                <a:cxnLst/>
                <a:rect l="l" t="t" r="r" b="b"/>
                <a:pathLst>
                  <a:path w="224139" h="192565">
                    <a:moveTo>
                      <a:pt x="93882" y="10260"/>
                    </a:moveTo>
                    <a:lnTo>
                      <a:pt x="3802" y="160660"/>
                    </a:lnTo>
                    <a:cubicBezTo>
                      <a:pt x="23" y="167204"/>
                      <a:pt x="0" y="175262"/>
                      <a:pt x="3741" y="181827"/>
                    </a:cubicBezTo>
                    <a:cubicBezTo>
                      <a:pt x="7483" y="188393"/>
                      <a:pt x="14426" y="192480"/>
                      <a:pt x="21982" y="192565"/>
                    </a:cubicBezTo>
                    <a:lnTo>
                      <a:pt x="202166" y="192565"/>
                    </a:lnTo>
                    <a:cubicBezTo>
                      <a:pt x="209718" y="192478"/>
                      <a:pt x="216658" y="188392"/>
                      <a:pt x="220399" y="181830"/>
                    </a:cubicBezTo>
                    <a:cubicBezTo>
                      <a:pt x="224139" y="175268"/>
                      <a:pt x="224119" y="167215"/>
                      <a:pt x="220346" y="160672"/>
                    </a:cubicBezTo>
                    <a:lnTo>
                      <a:pt x="130266" y="10248"/>
                    </a:lnTo>
                    <a:cubicBezTo>
                      <a:pt x="126411" y="3886"/>
                      <a:pt x="119513" y="0"/>
                      <a:pt x="112074" y="0"/>
                    </a:cubicBezTo>
                    <a:cubicBezTo>
                      <a:pt x="104635" y="0"/>
                      <a:pt x="97737" y="3886"/>
                      <a:pt x="93882" y="10248"/>
                    </a:cubicBezTo>
                  </a:path>
                </a:pathLst>
              </a:custGeom>
              <a:noFill/>
              <a:ln w="19047" cap="rnd">
                <a:solidFill>
                  <a:srgbClr val="12355B"/>
                </a:solidFill>
                <a:round/>
              </a:ln>
            </p:spPr>
          </p:sp>
          <p:sp>
            <p:nvSpPr>
              <p:cNvPr id="43" name="Freeform 43"/>
              <p:cNvSpPr/>
              <p:nvPr/>
            </p:nvSpPr>
            <p:spPr>
              <a:xfrm>
                <a:off x="1047754" y="5435605"/>
                <a:ext cx="9525" cy="9525"/>
              </a:xfrm>
              <a:custGeom>
                <a:avLst/>
                <a:gdLst/>
                <a:ahLst/>
                <a:cxnLst/>
                <a:rect l="l" t="t" r="r" b="b"/>
                <a:pathLst>
                  <a:path w="9525" h="9525">
                    <a:moveTo>
                      <a:pt x="0" y="0"/>
                    </a:moveTo>
                    <a:lnTo>
                      <a:pt x="111" y="0"/>
                    </a:lnTo>
                  </a:path>
                </a:pathLst>
              </a:custGeom>
              <a:noFill/>
              <a:ln w="19047" cap="rnd">
                <a:solidFill>
                  <a:srgbClr val="12355B"/>
                </a:solidFill>
                <a:round/>
              </a:ln>
            </p:spPr>
          </p:sp>
        </p:grpSp>
        <p:sp>
          <p:nvSpPr>
            <p:cNvPr id="45" name="TextBox 45"/>
            <p:cNvSpPr txBox="1"/>
            <p:nvPr/>
          </p:nvSpPr>
          <p:spPr>
            <a:xfrm>
              <a:off x="1439799" y="5259229"/>
              <a:ext cx="537262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Sık hata: öğrenme oranını tek başına ayarlamak</a:t>
              </a:r>
            </a:p>
          </p:txBody>
        </p:sp>
        <p:sp>
          <p:nvSpPr>
            <p:cNvPr id="46" name="TextBox 46"/>
            <p:cNvSpPr txBox="1"/>
            <p:nvPr/>
          </p:nvSpPr>
          <p:spPr>
            <a:xfrm>
              <a:off x="1440942" y="5550218"/>
              <a:ext cx="9252032"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mn-lt"/>
                  <a:ea typeface="+mn-ea"/>
                  <a:cs typeface="+mn-cs"/>
                </a:rPr>
                <a:t>Öğrenme oranı düşürülürken ağaç sayısı sabit tutulursa model yeterince yakınsayamaz (underfitting).</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25</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9341672" cy="668845"/>
            <a:chOff x="609600" y="171450"/>
            <a:chExt cx="9341672"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865130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XGBoost mimarisi: sadece "daha hızlı" değil</a:t>
              </a:r>
            </a:p>
          </p:txBody>
        </p:sp>
      </p:grpSp>
      <p:grpSp>
        <p:nvGrpSpPr>
          <p:cNvPr id="16" name="card-hessian"/>
          <p:cNvGrpSpPr/>
          <p:nvPr/>
        </p:nvGrpSpPr>
        <p:grpSpPr>
          <a:xfrm>
            <a:off x="609600" y="1257300"/>
            <a:ext cx="4953000" cy="1524000"/>
            <a:chOff x="609600" y="1257300"/>
            <a:chExt cx="4953000" cy="1524000"/>
          </a:xfrm>
        </p:grpSpPr>
        <p:sp>
          <p:nvSpPr>
            <p:cNvPr id="13" name="Rectangle 13"/>
            <p:cNvSpPr/>
            <p:nvPr/>
          </p:nvSpPr>
          <p:spPr>
            <a:xfrm>
              <a:off x="609600" y="1257300"/>
              <a:ext cx="4953000" cy="1524000"/>
            </a:xfrm>
            <a:prstGeom prst="roundRect">
              <a:avLst>
                <a:gd name="adj" fmla="val 6250"/>
              </a:avLst>
            </a:prstGeom>
            <a:solidFill>
              <a:srgbClr val="FFFFFF"/>
            </a:solidFill>
            <a:ln w="14288">
              <a:solidFill>
                <a:srgbClr val="2E86AB"/>
              </a:solidFill>
            </a:ln>
          </p:spPr>
        </p:sp>
        <p:sp>
          <p:nvSpPr>
            <p:cNvPr id="14" name="TextBox 14"/>
            <p:cNvSpPr txBox="1"/>
            <p:nvPr/>
          </p:nvSpPr>
          <p:spPr>
            <a:xfrm>
              <a:off x="829056" y="1405890"/>
              <a:ext cx="352044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İkinci derece (Hessian) bilgi</a:t>
              </a:r>
            </a:p>
          </p:txBody>
        </p:sp>
        <p:sp>
          <p:nvSpPr>
            <p:cNvPr id="15" name="TextBox 15"/>
            <p:cNvSpPr txBox="1"/>
            <p:nvPr/>
          </p:nvSpPr>
          <p:spPr>
            <a:xfrm>
              <a:off x="831342" y="1759268"/>
              <a:ext cx="4214241" cy="7212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Kayıp fonksiyonunun Taylor açılımında yalnızca</a:t>
              </a:r>
              <a:br/>
              <a:r>
                <a:rPr lang="tr-TR" sz="1350" dirty="0">
                  <a:solidFill>
                    <a:srgbClr val="172B3A"/>
                  </a:solidFill>
                  <a:latin typeface="+mn-lt"/>
                  <a:ea typeface="+mn-ea"/>
                  <a:cs typeface="+mn-cs"/>
                </a:rPr>
                <a:t>gradyanı değil eğriliği de kullanır; bölünme kararı</a:t>
              </a:r>
              <a:br/>
              <a:r>
                <a:rPr lang="tr-TR" sz="1350" dirty="0">
                  <a:solidFill>
                    <a:srgbClr val="172B3A"/>
                  </a:solidFill>
                  <a:latin typeface="+mn-lt"/>
                  <a:ea typeface="+mn-ea"/>
                  <a:cs typeface="+mn-cs"/>
                </a:rPr>
                <a:t>hem yönü hem eğriliği dikkate alarak alınır.</a:t>
              </a:r>
            </a:p>
          </p:txBody>
        </p:sp>
      </p:grpSp>
      <p:grpSp>
        <p:nvGrpSpPr>
          <p:cNvPr id="20" name="card-regularization"/>
          <p:cNvGrpSpPr/>
          <p:nvPr/>
        </p:nvGrpSpPr>
        <p:grpSpPr>
          <a:xfrm>
            <a:off x="609600" y="2895600"/>
            <a:ext cx="4953000" cy="1524000"/>
            <a:chOff x="609600" y="2895600"/>
            <a:chExt cx="4953000" cy="1524000"/>
          </a:xfrm>
        </p:grpSpPr>
        <p:sp>
          <p:nvSpPr>
            <p:cNvPr id="17" name="Rectangle 17"/>
            <p:cNvSpPr/>
            <p:nvPr/>
          </p:nvSpPr>
          <p:spPr>
            <a:xfrm>
              <a:off x="609600" y="2895600"/>
              <a:ext cx="4953000" cy="1524000"/>
            </a:xfrm>
            <a:prstGeom prst="roundRect">
              <a:avLst>
                <a:gd name="adj" fmla="val 6250"/>
              </a:avLst>
            </a:prstGeom>
            <a:solidFill>
              <a:srgbClr val="FFFFFF"/>
            </a:solidFill>
            <a:ln w="14288">
              <a:solidFill>
                <a:srgbClr val="2E86AB"/>
              </a:solidFill>
            </a:ln>
          </p:spPr>
        </p:sp>
        <p:sp>
          <p:nvSpPr>
            <p:cNvPr id="18" name="TextBox 18"/>
            <p:cNvSpPr txBox="1"/>
            <p:nvPr/>
          </p:nvSpPr>
          <p:spPr>
            <a:xfrm>
              <a:off x="829056" y="3044190"/>
              <a:ext cx="333370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Açık regularizasyon terimi</a:t>
              </a:r>
            </a:p>
          </p:txBody>
        </p:sp>
        <p:sp>
          <p:nvSpPr>
            <p:cNvPr id="19" name="TextBox 19"/>
            <p:cNvSpPr txBox="1"/>
            <p:nvPr/>
          </p:nvSpPr>
          <p:spPr>
            <a:xfrm>
              <a:off x="831342" y="3397568"/>
              <a:ext cx="4137089" cy="7212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Yaprak sayısı ve yaprak ağırlıklarının L2 normu</a:t>
              </a:r>
              <a:br/>
              <a:r>
                <a:rPr lang="tr-TR" sz="1350" dirty="0">
                  <a:solidFill>
                    <a:srgbClr val="172B3A"/>
                  </a:solidFill>
                  <a:latin typeface="+mn-lt"/>
                  <a:ea typeface="+mn-ea"/>
                  <a:cs typeface="+mn-cs"/>
                </a:rPr>
                <a:t>üzerinden model karmaşıklığını cezalandırır;</a:t>
              </a:r>
              <a:br/>
              <a:r>
                <a:rPr lang="tr-TR" sz="1350" dirty="0">
                  <a:solidFill>
                    <a:srgbClr val="172B3A"/>
                  </a:solidFill>
                  <a:latin typeface="+mn-lt"/>
                  <a:ea typeface="+mn-ea"/>
                  <a:cs typeface="+mn-cs"/>
                </a:rPr>
                <a:t>aşırı öğrenmeyi frenler.</a:t>
              </a:r>
            </a:p>
          </p:txBody>
        </p:sp>
      </p:grpSp>
      <p:grpSp>
        <p:nvGrpSpPr>
          <p:cNvPr id="37" name="tree-diagram"/>
          <p:cNvGrpSpPr/>
          <p:nvPr/>
        </p:nvGrpSpPr>
        <p:grpSpPr>
          <a:xfrm>
            <a:off x="5867400" y="1257300"/>
            <a:ext cx="5715000" cy="3162300"/>
            <a:chOff x="5867400" y="1257300"/>
            <a:chExt cx="5715000" cy="3162300"/>
          </a:xfrm>
        </p:grpSpPr>
        <p:sp>
          <p:nvSpPr>
            <p:cNvPr id="21" name="Rectangle 21"/>
            <p:cNvSpPr/>
            <p:nvPr/>
          </p:nvSpPr>
          <p:spPr>
            <a:xfrm>
              <a:off x="5867400" y="1257300"/>
              <a:ext cx="5715000" cy="3162300"/>
            </a:xfrm>
            <a:prstGeom prst="roundRect">
              <a:avLst>
                <a:gd name="adj" fmla="val 3012"/>
              </a:avLst>
            </a:prstGeom>
            <a:solidFill>
              <a:srgbClr val="FFFFFF"/>
            </a:solidFill>
            <a:ln w="14288">
              <a:solidFill>
                <a:srgbClr val="B8CBD3"/>
              </a:solidFill>
            </a:ln>
          </p:spPr>
        </p:sp>
        <p:sp>
          <p:nvSpPr>
            <p:cNvPr id="22" name="TextBox 22"/>
            <p:cNvSpPr txBox="1"/>
            <p:nvPr/>
          </p:nvSpPr>
          <p:spPr>
            <a:xfrm>
              <a:off x="6145149" y="1392079"/>
              <a:ext cx="397648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Seviye-öncelikli (level-wise) büyüme</a:t>
              </a:r>
            </a:p>
          </p:txBody>
        </p:sp>
        <p:sp>
          <p:nvSpPr>
            <p:cNvPr id="23" name="Line 23"/>
            <p:cNvSpPr/>
            <p:nvPr/>
          </p:nvSpPr>
          <p:spPr>
            <a:xfrm>
              <a:off x="7962900" y="1885950"/>
              <a:ext cx="762000" cy="571500"/>
            </a:xfrm>
            <a:custGeom>
              <a:avLst/>
              <a:gdLst/>
              <a:ahLst/>
              <a:cxnLst/>
              <a:rect l="l" t="t" r="r" b="b"/>
              <a:pathLst>
                <a:path w="762000" h="571500">
                  <a:moveTo>
                    <a:pt x="762000" y="0"/>
                  </a:moveTo>
                  <a:lnTo>
                    <a:pt x="0" y="571500"/>
                  </a:lnTo>
                </a:path>
              </a:pathLst>
            </a:custGeom>
            <a:noFill/>
            <a:ln w="19050">
              <a:solidFill>
                <a:srgbClr val="52616B"/>
              </a:solidFill>
            </a:ln>
          </p:spPr>
        </p:sp>
        <p:sp>
          <p:nvSpPr>
            <p:cNvPr id="24" name="Line 24"/>
            <p:cNvSpPr/>
            <p:nvPr/>
          </p:nvSpPr>
          <p:spPr>
            <a:xfrm>
              <a:off x="8724900" y="1885950"/>
              <a:ext cx="762000" cy="571500"/>
            </a:xfrm>
            <a:custGeom>
              <a:avLst/>
              <a:gdLst/>
              <a:ahLst/>
              <a:cxnLst/>
              <a:rect l="l" t="t" r="r" b="b"/>
              <a:pathLst>
                <a:path w="762000" h="571500">
                  <a:moveTo>
                    <a:pt x="0" y="0"/>
                  </a:moveTo>
                  <a:lnTo>
                    <a:pt x="762000" y="571500"/>
                  </a:lnTo>
                </a:path>
              </a:pathLst>
            </a:custGeom>
            <a:noFill/>
            <a:ln w="19050">
              <a:solidFill>
                <a:srgbClr val="52616B"/>
              </a:solidFill>
            </a:ln>
          </p:spPr>
        </p:sp>
        <p:sp>
          <p:nvSpPr>
            <p:cNvPr id="25" name="Line 25"/>
            <p:cNvSpPr/>
            <p:nvPr/>
          </p:nvSpPr>
          <p:spPr>
            <a:xfrm>
              <a:off x="7486650" y="2457450"/>
              <a:ext cx="476250" cy="647700"/>
            </a:xfrm>
            <a:custGeom>
              <a:avLst/>
              <a:gdLst/>
              <a:ahLst/>
              <a:cxnLst/>
              <a:rect l="l" t="t" r="r" b="b"/>
              <a:pathLst>
                <a:path w="476250" h="647700">
                  <a:moveTo>
                    <a:pt x="476250" y="0"/>
                  </a:moveTo>
                  <a:lnTo>
                    <a:pt x="0" y="647700"/>
                  </a:lnTo>
                </a:path>
              </a:pathLst>
            </a:custGeom>
            <a:noFill/>
            <a:ln w="19050">
              <a:solidFill>
                <a:srgbClr val="52616B"/>
              </a:solidFill>
            </a:ln>
          </p:spPr>
        </p:sp>
        <p:sp>
          <p:nvSpPr>
            <p:cNvPr id="26" name="Line 26"/>
            <p:cNvSpPr/>
            <p:nvPr/>
          </p:nvSpPr>
          <p:spPr>
            <a:xfrm>
              <a:off x="7962900" y="2457450"/>
              <a:ext cx="476250" cy="647700"/>
            </a:xfrm>
            <a:custGeom>
              <a:avLst/>
              <a:gdLst/>
              <a:ahLst/>
              <a:cxnLst/>
              <a:rect l="l" t="t" r="r" b="b"/>
              <a:pathLst>
                <a:path w="476250" h="647700">
                  <a:moveTo>
                    <a:pt x="0" y="0"/>
                  </a:moveTo>
                  <a:lnTo>
                    <a:pt x="476250" y="647700"/>
                  </a:lnTo>
                </a:path>
              </a:pathLst>
            </a:custGeom>
            <a:noFill/>
            <a:ln w="19050">
              <a:solidFill>
                <a:srgbClr val="52616B"/>
              </a:solidFill>
            </a:ln>
          </p:spPr>
        </p:sp>
        <p:sp>
          <p:nvSpPr>
            <p:cNvPr id="27" name="Line 27"/>
            <p:cNvSpPr/>
            <p:nvPr/>
          </p:nvSpPr>
          <p:spPr>
            <a:xfrm>
              <a:off x="9010650" y="2457450"/>
              <a:ext cx="476250" cy="647700"/>
            </a:xfrm>
            <a:custGeom>
              <a:avLst/>
              <a:gdLst/>
              <a:ahLst/>
              <a:cxnLst/>
              <a:rect l="l" t="t" r="r" b="b"/>
              <a:pathLst>
                <a:path w="476250" h="647700">
                  <a:moveTo>
                    <a:pt x="476250" y="0"/>
                  </a:moveTo>
                  <a:lnTo>
                    <a:pt x="0" y="647700"/>
                  </a:lnTo>
                </a:path>
              </a:pathLst>
            </a:custGeom>
            <a:noFill/>
            <a:ln w="19050">
              <a:solidFill>
                <a:srgbClr val="52616B"/>
              </a:solidFill>
            </a:ln>
          </p:spPr>
        </p:sp>
        <p:sp>
          <p:nvSpPr>
            <p:cNvPr id="28" name="Line 28"/>
            <p:cNvSpPr/>
            <p:nvPr/>
          </p:nvSpPr>
          <p:spPr>
            <a:xfrm>
              <a:off x="9486900" y="2457450"/>
              <a:ext cx="476250" cy="647700"/>
            </a:xfrm>
            <a:custGeom>
              <a:avLst/>
              <a:gdLst/>
              <a:ahLst/>
              <a:cxnLst/>
              <a:rect l="l" t="t" r="r" b="b"/>
              <a:pathLst>
                <a:path w="476250" h="647700">
                  <a:moveTo>
                    <a:pt x="0" y="0"/>
                  </a:moveTo>
                  <a:lnTo>
                    <a:pt x="476250" y="647700"/>
                  </a:lnTo>
                </a:path>
              </a:pathLst>
            </a:custGeom>
            <a:noFill/>
            <a:ln w="19050">
              <a:solidFill>
                <a:srgbClr val="52616B"/>
              </a:solidFill>
            </a:ln>
          </p:spPr>
        </p:sp>
        <p:sp>
          <p:nvSpPr>
            <p:cNvPr id="29" name="Ellipse 29"/>
            <p:cNvSpPr/>
            <p:nvPr/>
          </p:nvSpPr>
          <p:spPr>
            <a:xfrm>
              <a:off x="8572500" y="1733550"/>
              <a:ext cx="304800" cy="304800"/>
            </a:xfrm>
            <a:prstGeom prst="ellipse">
              <a:avLst/>
            </a:prstGeom>
            <a:solidFill>
              <a:srgbClr val="12355B"/>
            </a:solidFill>
            <a:ln>
              <a:noFill/>
            </a:ln>
          </p:spPr>
        </p:sp>
        <p:sp>
          <p:nvSpPr>
            <p:cNvPr id="30" name="Ellipse 30"/>
            <p:cNvSpPr/>
            <p:nvPr/>
          </p:nvSpPr>
          <p:spPr>
            <a:xfrm>
              <a:off x="7829550" y="2324100"/>
              <a:ext cx="266700" cy="266700"/>
            </a:xfrm>
            <a:prstGeom prst="ellipse">
              <a:avLst/>
            </a:prstGeom>
            <a:solidFill>
              <a:srgbClr val="2E86AB"/>
            </a:solidFill>
            <a:ln>
              <a:noFill/>
            </a:ln>
          </p:spPr>
        </p:sp>
        <p:sp>
          <p:nvSpPr>
            <p:cNvPr id="31" name="Ellipse 31"/>
            <p:cNvSpPr/>
            <p:nvPr/>
          </p:nvSpPr>
          <p:spPr>
            <a:xfrm>
              <a:off x="9353550" y="2324100"/>
              <a:ext cx="266700" cy="266700"/>
            </a:xfrm>
            <a:prstGeom prst="ellipse">
              <a:avLst/>
            </a:prstGeom>
            <a:solidFill>
              <a:srgbClr val="2E86AB"/>
            </a:solidFill>
            <a:ln>
              <a:noFill/>
            </a:ln>
          </p:spPr>
        </p:sp>
        <p:sp>
          <p:nvSpPr>
            <p:cNvPr id="32" name="Ellipse 32"/>
            <p:cNvSpPr/>
            <p:nvPr/>
          </p:nvSpPr>
          <p:spPr>
            <a:xfrm>
              <a:off x="7372350" y="2990850"/>
              <a:ext cx="228600" cy="228600"/>
            </a:xfrm>
            <a:prstGeom prst="ellipse">
              <a:avLst/>
            </a:prstGeom>
            <a:solidFill>
              <a:srgbClr val="00A6A6"/>
            </a:solidFill>
            <a:ln>
              <a:noFill/>
            </a:ln>
          </p:spPr>
        </p:sp>
        <p:sp>
          <p:nvSpPr>
            <p:cNvPr id="33" name="Ellipse 33"/>
            <p:cNvSpPr/>
            <p:nvPr/>
          </p:nvSpPr>
          <p:spPr>
            <a:xfrm>
              <a:off x="8324850" y="2990850"/>
              <a:ext cx="228600" cy="228600"/>
            </a:xfrm>
            <a:prstGeom prst="ellipse">
              <a:avLst/>
            </a:prstGeom>
            <a:solidFill>
              <a:srgbClr val="00A6A6"/>
            </a:solidFill>
            <a:ln>
              <a:noFill/>
            </a:ln>
          </p:spPr>
        </p:sp>
        <p:sp>
          <p:nvSpPr>
            <p:cNvPr id="34" name="Ellipse 34"/>
            <p:cNvSpPr/>
            <p:nvPr/>
          </p:nvSpPr>
          <p:spPr>
            <a:xfrm>
              <a:off x="8896350" y="2990850"/>
              <a:ext cx="228600" cy="228600"/>
            </a:xfrm>
            <a:prstGeom prst="ellipse">
              <a:avLst/>
            </a:prstGeom>
            <a:solidFill>
              <a:srgbClr val="00A6A6"/>
            </a:solidFill>
            <a:ln>
              <a:noFill/>
            </a:ln>
          </p:spPr>
        </p:sp>
        <p:sp>
          <p:nvSpPr>
            <p:cNvPr id="35" name="Ellipse 35"/>
            <p:cNvSpPr/>
            <p:nvPr/>
          </p:nvSpPr>
          <p:spPr>
            <a:xfrm>
              <a:off x="9848850" y="2990850"/>
              <a:ext cx="228600" cy="228600"/>
            </a:xfrm>
            <a:prstGeom prst="ellipse">
              <a:avLst/>
            </a:prstGeom>
            <a:solidFill>
              <a:srgbClr val="00A6A6"/>
            </a:solidFill>
            <a:ln>
              <a:noFill/>
            </a:ln>
          </p:spPr>
        </p:sp>
        <p:sp>
          <p:nvSpPr>
            <p:cNvPr id="36" name="TextBox 36"/>
            <p:cNvSpPr txBox="1"/>
            <p:nvPr/>
          </p:nvSpPr>
          <p:spPr>
            <a:xfrm>
              <a:off x="6147054" y="3718560"/>
              <a:ext cx="43708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Her derinlik seviyesindeki tüm dallar bölünmeden bir</a:t>
              </a:r>
              <a:br/>
              <a:r>
                <a:rPr lang="tr-TR" sz="1200" dirty="0">
                  <a:solidFill>
                    <a:srgbClr val="52616B"/>
                  </a:solidFill>
                  <a:latin typeface="+mn-lt"/>
                  <a:ea typeface="+mn-ea"/>
                  <a:cs typeface="+mn-cs"/>
                </a:rPr>
                <a:t>sonraki seviyeye geçilmez — ağaç simetrik ve dengeli kalır,</a:t>
              </a:r>
              <a:br/>
              <a:r>
                <a:rPr lang="tr-TR" sz="1200" dirty="0">
                  <a:solidFill>
                    <a:srgbClr val="52616B"/>
                  </a:solidFill>
                  <a:latin typeface="+mn-lt"/>
                  <a:ea typeface="+mn-ea"/>
                  <a:cs typeface="+mn-cs"/>
                </a:rPr>
                <a:t>ama düşük kazançlı dallarda da bölünme yapılabilir.</a:t>
              </a:r>
            </a:p>
          </p:txBody>
        </p:sp>
      </p:grpSp>
      <p:grpSp>
        <p:nvGrpSpPr>
          <p:cNvPr id="41" name="missing-values"/>
          <p:cNvGrpSpPr/>
          <p:nvPr/>
        </p:nvGrpSpPr>
        <p:grpSpPr>
          <a:xfrm>
            <a:off x="609600" y="4572000"/>
            <a:ext cx="10972800" cy="952500"/>
            <a:chOff x="609600" y="4572000"/>
            <a:chExt cx="10972800" cy="952500"/>
          </a:xfrm>
        </p:grpSpPr>
        <p:sp>
          <p:nvSpPr>
            <p:cNvPr id="38" name="Rectangle 38"/>
            <p:cNvSpPr/>
            <p:nvPr/>
          </p:nvSpPr>
          <p:spPr>
            <a:xfrm>
              <a:off x="609600" y="4572000"/>
              <a:ext cx="10972800" cy="952500"/>
            </a:xfrm>
            <a:prstGeom prst="roundRect">
              <a:avLst>
                <a:gd name="adj" fmla="val 8000"/>
              </a:avLst>
            </a:prstGeom>
            <a:solidFill>
              <a:srgbClr val="EAF4F6"/>
            </a:solidFill>
            <a:ln>
              <a:noFill/>
            </a:ln>
          </p:spPr>
        </p:sp>
        <p:sp>
          <p:nvSpPr>
            <p:cNvPr id="39" name="TextBox 39"/>
            <p:cNvSpPr txBox="1"/>
            <p:nvPr/>
          </p:nvSpPr>
          <p:spPr>
            <a:xfrm>
              <a:off x="906399" y="4706779"/>
              <a:ext cx="324995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Eksik değerleri otomatik işler</a:t>
              </a:r>
            </a:p>
          </p:txBody>
        </p:sp>
        <p:sp>
          <p:nvSpPr>
            <p:cNvPr id="40" name="TextBox 40"/>
            <p:cNvSpPr txBox="1"/>
            <p:nvPr/>
          </p:nvSpPr>
          <p:spPr>
            <a:xfrm>
              <a:off x="908304" y="5033010"/>
              <a:ext cx="59786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Öğrenilen bir varsayılan yönde eksik alanları işleyebilir — telco churn gibi gerçek</a:t>
              </a:r>
              <a:br/>
              <a:r>
                <a:rPr lang="tr-TR" sz="1200" dirty="0">
                  <a:solidFill>
                    <a:srgbClr val="172B3A"/>
                  </a:solidFill>
                  <a:latin typeface="+mn-lt"/>
                  <a:ea typeface="+mn-ea"/>
                  <a:cs typeface="+mn-cs"/>
                </a:rPr>
                <a:t>dünya verilerinde ayrı bir imputation adımını gereksiz kılabilir.</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25</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9291751" cy="668845"/>
            <a:chOff x="609600" y="171450"/>
            <a:chExt cx="9291751"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860137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LightGBM mimarisi: yaprak-öncelikli büyüme</a:t>
              </a:r>
            </a:p>
          </p:txBody>
        </p:sp>
      </p:grpSp>
      <p:grpSp>
        <p:nvGrpSpPr>
          <p:cNvPr id="16" name="card-leafwise"/>
          <p:cNvGrpSpPr/>
          <p:nvPr/>
        </p:nvGrpSpPr>
        <p:grpSpPr>
          <a:xfrm>
            <a:off x="609600" y="1257300"/>
            <a:ext cx="4953000" cy="1524000"/>
            <a:chOff x="609600" y="1257300"/>
            <a:chExt cx="4953000" cy="1524000"/>
          </a:xfrm>
        </p:grpSpPr>
        <p:sp>
          <p:nvSpPr>
            <p:cNvPr id="13" name="Rectangle 13"/>
            <p:cNvSpPr/>
            <p:nvPr/>
          </p:nvSpPr>
          <p:spPr>
            <a:xfrm>
              <a:off x="609600" y="1257300"/>
              <a:ext cx="4953000" cy="1524000"/>
            </a:xfrm>
            <a:prstGeom prst="roundRect">
              <a:avLst>
                <a:gd name="adj" fmla="val 6250"/>
              </a:avLst>
            </a:prstGeom>
            <a:solidFill>
              <a:srgbClr val="FFFFFF"/>
            </a:solidFill>
            <a:ln w="14288">
              <a:solidFill>
                <a:srgbClr val="2E86AB"/>
              </a:solidFill>
            </a:ln>
          </p:spPr>
        </p:sp>
        <p:sp>
          <p:nvSpPr>
            <p:cNvPr id="14" name="TextBox 14"/>
            <p:cNvSpPr txBox="1"/>
            <p:nvPr/>
          </p:nvSpPr>
          <p:spPr>
            <a:xfrm>
              <a:off x="829056" y="1405890"/>
              <a:ext cx="297765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Yaprak-öncelikli büyüme</a:t>
              </a:r>
            </a:p>
          </p:txBody>
        </p:sp>
        <p:sp>
          <p:nvSpPr>
            <p:cNvPr id="15" name="TextBox 15"/>
            <p:cNvSpPr txBox="1"/>
            <p:nvPr/>
          </p:nvSpPr>
          <p:spPr>
            <a:xfrm>
              <a:off x="832104" y="1775460"/>
              <a:ext cx="36697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Tüm yapraklar arasından en yüksek kazancı</a:t>
              </a:r>
              <a:br/>
              <a:r>
                <a:rPr lang="tr-TR" sz="1200" dirty="0">
                  <a:solidFill>
                    <a:srgbClr val="172B3A"/>
                  </a:solidFill>
                  <a:latin typeface="+mn-lt"/>
                  <a:ea typeface="+mn-ea"/>
                  <a:cs typeface="+mn-cs"/>
                </a:rPr>
                <a:t>sağlayacak yaprak seçilip bölünür; aynı yaprak</a:t>
              </a:r>
              <a:br/>
              <a:r>
                <a:rPr lang="tr-TR" sz="1200" dirty="0">
                  <a:solidFill>
                    <a:srgbClr val="172B3A"/>
                  </a:solidFill>
                  <a:latin typeface="+mn-lt"/>
                  <a:ea typeface="+mn-ea"/>
                  <a:cs typeface="+mn-cs"/>
                </a:rPr>
                <a:t>sayısı için genellikle daha düşük kayıp elde eder.</a:t>
              </a:r>
            </a:p>
          </p:txBody>
        </p:sp>
      </p:grpSp>
      <p:grpSp>
        <p:nvGrpSpPr>
          <p:cNvPr id="20" name="card-histogram"/>
          <p:cNvGrpSpPr/>
          <p:nvPr/>
        </p:nvGrpSpPr>
        <p:grpSpPr>
          <a:xfrm>
            <a:off x="609600" y="2895600"/>
            <a:ext cx="4953000" cy="1524000"/>
            <a:chOff x="609600" y="2895600"/>
            <a:chExt cx="4953000" cy="1524000"/>
          </a:xfrm>
        </p:grpSpPr>
        <p:sp>
          <p:nvSpPr>
            <p:cNvPr id="17" name="Rectangle 17"/>
            <p:cNvSpPr/>
            <p:nvPr/>
          </p:nvSpPr>
          <p:spPr>
            <a:xfrm>
              <a:off x="609600" y="2895600"/>
              <a:ext cx="4953000" cy="1524000"/>
            </a:xfrm>
            <a:prstGeom prst="roundRect">
              <a:avLst>
                <a:gd name="adj" fmla="val 6250"/>
              </a:avLst>
            </a:prstGeom>
            <a:solidFill>
              <a:srgbClr val="FFFFFF"/>
            </a:solidFill>
            <a:ln w="14288">
              <a:solidFill>
                <a:srgbClr val="2E86AB"/>
              </a:solidFill>
            </a:ln>
          </p:spPr>
        </p:sp>
        <p:sp>
          <p:nvSpPr>
            <p:cNvPr id="18" name="TextBox 18"/>
            <p:cNvSpPr txBox="1"/>
            <p:nvPr/>
          </p:nvSpPr>
          <p:spPr>
            <a:xfrm>
              <a:off x="829056" y="3044190"/>
              <a:ext cx="330853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Histogram tabanlı bölünme</a:t>
              </a:r>
            </a:p>
          </p:txBody>
        </p:sp>
        <p:sp>
          <p:nvSpPr>
            <p:cNvPr id="19" name="TextBox 19"/>
            <p:cNvSpPr txBox="1"/>
            <p:nvPr/>
          </p:nvSpPr>
          <p:spPr>
            <a:xfrm>
              <a:off x="831342" y="3397568"/>
              <a:ext cx="4334256" cy="7212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Sürekli özellikler önceden ayrık kovalara (bin)</a:t>
              </a:r>
              <a:br/>
              <a:r>
                <a:rPr lang="tr-TR" sz="1350" dirty="0">
                  <a:solidFill>
                    <a:srgbClr val="172B3A"/>
                  </a:solidFill>
                  <a:latin typeface="+mn-lt"/>
                  <a:ea typeface="+mn-ea"/>
                  <a:cs typeface="+mn-cs"/>
                </a:rPr>
                <a:t>dönüştürülür; arama bu kovalar üzerinden yapılır —</a:t>
              </a:r>
              <a:br/>
              <a:r>
                <a:rPr lang="tr-TR" sz="1350" dirty="0">
                  <a:solidFill>
                    <a:srgbClr val="172B3A"/>
                  </a:solidFill>
                  <a:latin typeface="+mn-lt"/>
                  <a:ea typeface="+mn-ea"/>
                  <a:cs typeface="+mn-cs"/>
                </a:rPr>
                <a:t>büyük veri setlerinde bellek/hız avantajı sağlar.</a:t>
              </a:r>
            </a:p>
          </p:txBody>
        </p:sp>
      </p:grpSp>
      <p:grpSp>
        <p:nvGrpSpPr>
          <p:cNvPr id="37" name="tree-diagram"/>
          <p:cNvGrpSpPr/>
          <p:nvPr/>
        </p:nvGrpSpPr>
        <p:grpSpPr>
          <a:xfrm>
            <a:off x="5867400" y="1257300"/>
            <a:ext cx="5715000" cy="3162300"/>
            <a:chOff x="5867400" y="1257300"/>
            <a:chExt cx="5715000" cy="3162300"/>
          </a:xfrm>
        </p:grpSpPr>
        <p:sp>
          <p:nvSpPr>
            <p:cNvPr id="21" name="Rectangle 21"/>
            <p:cNvSpPr/>
            <p:nvPr/>
          </p:nvSpPr>
          <p:spPr>
            <a:xfrm>
              <a:off x="5867400" y="1257300"/>
              <a:ext cx="5715000" cy="3162300"/>
            </a:xfrm>
            <a:prstGeom prst="roundRect">
              <a:avLst>
                <a:gd name="adj" fmla="val 3012"/>
              </a:avLst>
            </a:prstGeom>
            <a:solidFill>
              <a:srgbClr val="FFFFFF"/>
            </a:solidFill>
            <a:ln w="14288">
              <a:solidFill>
                <a:srgbClr val="B8CBD3"/>
              </a:solidFill>
            </a:ln>
          </p:spPr>
        </p:sp>
        <p:sp>
          <p:nvSpPr>
            <p:cNvPr id="22" name="TextBox 22"/>
            <p:cNvSpPr txBox="1"/>
            <p:nvPr/>
          </p:nvSpPr>
          <p:spPr>
            <a:xfrm>
              <a:off x="6145149" y="1392079"/>
              <a:ext cx="318364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Dengesiz, derin büyüyen ağaç</a:t>
              </a:r>
            </a:p>
          </p:txBody>
        </p:sp>
        <p:sp>
          <p:nvSpPr>
            <p:cNvPr id="23" name="Line 23"/>
            <p:cNvSpPr/>
            <p:nvPr/>
          </p:nvSpPr>
          <p:spPr>
            <a:xfrm>
              <a:off x="7962900" y="1885950"/>
              <a:ext cx="762000" cy="552450"/>
            </a:xfrm>
            <a:custGeom>
              <a:avLst/>
              <a:gdLst/>
              <a:ahLst/>
              <a:cxnLst/>
              <a:rect l="l" t="t" r="r" b="b"/>
              <a:pathLst>
                <a:path w="762000" h="552450">
                  <a:moveTo>
                    <a:pt x="762000" y="0"/>
                  </a:moveTo>
                  <a:lnTo>
                    <a:pt x="0" y="552450"/>
                  </a:lnTo>
                </a:path>
              </a:pathLst>
            </a:custGeom>
            <a:noFill/>
            <a:ln w="19050">
              <a:solidFill>
                <a:srgbClr val="52616B"/>
              </a:solidFill>
            </a:ln>
          </p:spPr>
        </p:sp>
        <p:sp>
          <p:nvSpPr>
            <p:cNvPr id="24" name="Line 24"/>
            <p:cNvSpPr/>
            <p:nvPr/>
          </p:nvSpPr>
          <p:spPr>
            <a:xfrm>
              <a:off x="8724900" y="1885950"/>
              <a:ext cx="762000" cy="552450"/>
            </a:xfrm>
            <a:custGeom>
              <a:avLst/>
              <a:gdLst/>
              <a:ahLst/>
              <a:cxnLst/>
              <a:rect l="l" t="t" r="r" b="b"/>
              <a:pathLst>
                <a:path w="762000" h="552450">
                  <a:moveTo>
                    <a:pt x="0" y="0"/>
                  </a:moveTo>
                  <a:lnTo>
                    <a:pt x="762000" y="552450"/>
                  </a:lnTo>
                </a:path>
              </a:pathLst>
            </a:custGeom>
            <a:noFill/>
            <a:ln w="19050">
              <a:solidFill>
                <a:srgbClr val="52616B"/>
              </a:solidFill>
            </a:ln>
          </p:spPr>
        </p:sp>
        <p:sp>
          <p:nvSpPr>
            <p:cNvPr id="25" name="Line 25"/>
            <p:cNvSpPr/>
            <p:nvPr/>
          </p:nvSpPr>
          <p:spPr>
            <a:xfrm>
              <a:off x="9010650" y="2438400"/>
              <a:ext cx="476250" cy="533400"/>
            </a:xfrm>
            <a:custGeom>
              <a:avLst/>
              <a:gdLst/>
              <a:ahLst/>
              <a:cxnLst/>
              <a:rect l="l" t="t" r="r" b="b"/>
              <a:pathLst>
                <a:path w="476250" h="533400">
                  <a:moveTo>
                    <a:pt x="476250" y="0"/>
                  </a:moveTo>
                  <a:lnTo>
                    <a:pt x="0" y="533400"/>
                  </a:lnTo>
                </a:path>
              </a:pathLst>
            </a:custGeom>
            <a:noFill/>
            <a:ln w="19050">
              <a:solidFill>
                <a:srgbClr val="52616B"/>
              </a:solidFill>
            </a:ln>
          </p:spPr>
        </p:sp>
        <p:sp>
          <p:nvSpPr>
            <p:cNvPr id="26" name="Line 26"/>
            <p:cNvSpPr/>
            <p:nvPr/>
          </p:nvSpPr>
          <p:spPr>
            <a:xfrm>
              <a:off x="9486900" y="2438400"/>
              <a:ext cx="476250" cy="533400"/>
            </a:xfrm>
            <a:custGeom>
              <a:avLst/>
              <a:gdLst/>
              <a:ahLst/>
              <a:cxnLst/>
              <a:rect l="l" t="t" r="r" b="b"/>
              <a:pathLst>
                <a:path w="476250" h="533400">
                  <a:moveTo>
                    <a:pt x="0" y="0"/>
                  </a:moveTo>
                  <a:lnTo>
                    <a:pt x="476250" y="533400"/>
                  </a:lnTo>
                </a:path>
              </a:pathLst>
            </a:custGeom>
            <a:noFill/>
            <a:ln w="19050">
              <a:solidFill>
                <a:srgbClr val="52616B"/>
              </a:solidFill>
            </a:ln>
          </p:spPr>
        </p:sp>
        <p:sp>
          <p:nvSpPr>
            <p:cNvPr id="27" name="Line 27"/>
            <p:cNvSpPr/>
            <p:nvPr/>
          </p:nvSpPr>
          <p:spPr>
            <a:xfrm>
              <a:off x="9677400" y="2971800"/>
              <a:ext cx="285750" cy="533400"/>
            </a:xfrm>
            <a:custGeom>
              <a:avLst/>
              <a:gdLst/>
              <a:ahLst/>
              <a:cxnLst/>
              <a:rect l="l" t="t" r="r" b="b"/>
              <a:pathLst>
                <a:path w="285750" h="533400">
                  <a:moveTo>
                    <a:pt x="285750" y="0"/>
                  </a:moveTo>
                  <a:lnTo>
                    <a:pt x="0" y="533400"/>
                  </a:lnTo>
                </a:path>
              </a:pathLst>
            </a:custGeom>
            <a:noFill/>
            <a:ln w="19050">
              <a:solidFill>
                <a:srgbClr val="52616B"/>
              </a:solidFill>
            </a:ln>
          </p:spPr>
        </p:sp>
        <p:sp>
          <p:nvSpPr>
            <p:cNvPr id="28" name="Line 28"/>
            <p:cNvSpPr/>
            <p:nvPr/>
          </p:nvSpPr>
          <p:spPr>
            <a:xfrm>
              <a:off x="9963150" y="2971800"/>
              <a:ext cx="285750" cy="533400"/>
            </a:xfrm>
            <a:custGeom>
              <a:avLst/>
              <a:gdLst/>
              <a:ahLst/>
              <a:cxnLst/>
              <a:rect l="l" t="t" r="r" b="b"/>
              <a:pathLst>
                <a:path w="285750" h="533400">
                  <a:moveTo>
                    <a:pt x="0" y="0"/>
                  </a:moveTo>
                  <a:lnTo>
                    <a:pt x="285750" y="533400"/>
                  </a:lnTo>
                </a:path>
              </a:pathLst>
            </a:custGeom>
            <a:noFill/>
            <a:ln w="19050">
              <a:solidFill>
                <a:srgbClr val="52616B"/>
              </a:solidFill>
            </a:ln>
          </p:spPr>
        </p:sp>
        <p:sp>
          <p:nvSpPr>
            <p:cNvPr id="29" name="Ellipse 29"/>
            <p:cNvSpPr/>
            <p:nvPr/>
          </p:nvSpPr>
          <p:spPr>
            <a:xfrm>
              <a:off x="8572500" y="1733550"/>
              <a:ext cx="304800" cy="304800"/>
            </a:xfrm>
            <a:prstGeom prst="ellipse">
              <a:avLst/>
            </a:prstGeom>
            <a:solidFill>
              <a:srgbClr val="12355B"/>
            </a:solidFill>
            <a:ln>
              <a:noFill/>
            </a:ln>
          </p:spPr>
        </p:sp>
        <p:sp>
          <p:nvSpPr>
            <p:cNvPr id="30" name="Ellipse 30"/>
            <p:cNvSpPr/>
            <p:nvPr/>
          </p:nvSpPr>
          <p:spPr>
            <a:xfrm>
              <a:off x="7848600" y="2324100"/>
              <a:ext cx="228600" cy="228600"/>
            </a:xfrm>
            <a:prstGeom prst="ellipse">
              <a:avLst/>
            </a:prstGeom>
            <a:solidFill>
              <a:srgbClr val="B8CBD3"/>
            </a:solidFill>
            <a:ln>
              <a:noFill/>
            </a:ln>
          </p:spPr>
        </p:sp>
        <p:sp>
          <p:nvSpPr>
            <p:cNvPr id="31" name="Ellipse 31"/>
            <p:cNvSpPr/>
            <p:nvPr/>
          </p:nvSpPr>
          <p:spPr>
            <a:xfrm>
              <a:off x="9353550" y="2305050"/>
              <a:ext cx="266700" cy="266700"/>
            </a:xfrm>
            <a:prstGeom prst="ellipse">
              <a:avLst/>
            </a:prstGeom>
            <a:solidFill>
              <a:srgbClr val="2E86AB"/>
            </a:solidFill>
            <a:ln>
              <a:noFill/>
            </a:ln>
          </p:spPr>
        </p:sp>
        <p:sp>
          <p:nvSpPr>
            <p:cNvPr id="32" name="Ellipse 32"/>
            <p:cNvSpPr/>
            <p:nvPr/>
          </p:nvSpPr>
          <p:spPr>
            <a:xfrm>
              <a:off x="8896350" y="2857500"/>
              <a:ext cx="228600" cy="228600"/>
            </a:xfrm>
            <a:prstGeom prst="ellipse">
              <a:avLst/>
            </a:prstGeom>
            <a:solidFill>
              <a:srgbClr val="B8CBD3"/>
            </a:solidFill>
            <a:ln>
              <a:noFill/>
            </a:ln>
          </p:spPr>
        </p:sp>
        <p:sp>
          <p:nvSpPr>
            <p:cNvPr id="33" name="Ellipse 33"/>
            <p:cNvSpPr/>
            <p:nvPr/>
          </p:nvSpPr>
          <p:spPr>
            <a:xfrm>
              <a:off x="9829800" y="2838450"/>
              <a:ext cx="266700" cy="266700"/>
            </a:xfrm>
            <a:prstGeom prst="ellipse">
              <a:avLst/>
            </a:prstGeom>
            <a:solidFill>
              <a:srgbClr val="00A6A6"/>
            </a:solidFill>
            <a:ln>
              <a:noFill/>
            </a:ln>
          </p:spPr>
        </p:sp>
        <p:sp>
          <p:nvSpPr>
            <p:cNvPr id="34" name="Ellipse 34"/>
            <p:cNvSpPr/>
            <p:nvPr/>
          </p:nvSpPr>
          <p:spPr>
            <a:xfrm>
              <a:off x="9563100" y="3390900"/>
              <a:ext cx="228600" cy="228600"/>
            </a:xfrm>
            <a:prstGeom prst="ellipse">
              <a:avLst/>
            </a:prstGeom>
            <a:solidFill>
              <a:srgbClr val="00A6A6"/>
            </a:solidFill>
            <a:ln>
              <a:noFill/>
            </a:ln>
          </p:spPr>
        </p:sp>
        <p:sp>
          <p:nvSpPr>
            <p:cNvPr id="35" name="Ellipse 35"/>
            <p:cNvSpPr/>
            <p:nvPr/>
          </p:nvSpPr>
          <p:spPr>
            <a:xfrm>
              <a:off x="10134600" y="3390900"/>
              <a:ext cx="228600" cy="228600"/>
            </a:xfrm>
            <a:prstGeom prst="ellipse">
              <a:avLst/>
            </a:prstGeom>
            <a:solidFill>
              <a:srgbClr val="00A6A6"/>
            </a:solidFill>
            <a:ln>
              <a:noFill/>
            </a:ln>
          </p:spPr>
        </p:sp>
        <p:sp>
          <p:nvSpPr>
            <p:cNvPr id="36" name="TextBox 36"/>
            <p:cNvSpPr txBox="1"/>
            <p:nvPr/>
          </p:nvSpPr>
          <p:spPr>
            <a:xfrm>
              <a:off x="6147054" y="3718560"/>
              <a:ext cx="45841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En yüksek kazançlı yaprak öncelikle bölünür; diğer</a:t>
              </a:r>
              <a:br/>
              <a:r>
                <a:rPr lang="tr-TR" sz="1200" dirty="0">
                  <a:solidFill>
                    <a:srgbClr val="52616B"/>
                  </a:solidFill>
                  <a:latin typeface="+mn-lt"/>
                  <a:ea typeface="+mn-ea"/>
                  <a:cs typeface="+mn-cs"/>
                </a:rPr>
                <a:t>yapraklar o turda bölünmeyebilir — ağaç dengesiz ve derin</a:t>
              </a:r>
              <a:br/>
              <a:r>
                <a:rPr lang="tr-TR" sz="1200" dirty="0">
                  <a:solidFill>
                    <a:srgbClr val="52616B"/>
                  </a:solidFill>
                  <a:latin typeface="+mn-lt"/>
                  <a:ea typeface="+mn-ea"/>
                  <a:cs typeface="+mn-cs"/>
                </a:rPr>
                <a:t>büyüyebilir, küçük veri setlerinde aşırı öğrenme riski artar.</a:t>
              </a:r>
            </a:p>
          </p:txBody>
        </p:sp>
      </p:grpSp>
      <p:grpSp>
        <p:nvGrpSpPr>
          <p:cNvPr id="41" name="caution"/>
          <p:cNvGrpSpPr/>
          <p:nvPr/>
        </p:nvGrpSpPr>
        <p:grpSpPr>
          <a:xfrm>
            <a:off x="609600" y="4572000"/>
            <a:ext cx="10972800" cy="800100"/>
            <a:chOff x="609600" y="4572000"/>
            <a:chExt cx="10972800" cy="800100"/>
          </a:xfrm>
        </p:grpSpPr>
        <p:sp>
          <p:nvSpPr>
            <p:cNvPr id="38" name="Rectangle 38"/>
            <p:cNvSpPr/>
            <p:nvPr/>
          </p:nvSpPr>
          <p:spPr>
            <a:xfrm>
              <a:off x="609600" y="4572000"/>
              <a:ext cx="10972800" cy="800100"/>
            </a:xfrm>
            <a:prstGeom prst="roundRect">
              <a:avLst>
                <a:gd name="adj" fmla="val 9524"/>
              </a:avLst>
            </a:prstGeom>
            <a:solidFill>
              <a:srgbClr val="EAF4F6"/>
            </a:solidFill>
            <a:ln>
              <a:noFill/>
            </a:ln>
          </p:spPr>
        </p:sp>
        <p:sp>
          <p:nvSpPr>
            <p:cNvPr id="39" name="TextBox 39"/>
            <p:cNvSpPr txBox="1"/>
            <p:nvPr/>
          </p:nvSpPr>
          <p:spPr>
            <a:xfrm>
              <a:off x="906399" y="4725829"/>
              <a:ext cx="216675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Sınırlama önemlidir</a:t>
              </a:r>
            </a:p>
          </p:txBody>
        </p:sp>
        <p:sp>
          <p:nvSpPr>
            <p:cNvPr id="40" name="TextBox 40"/>
            <p:cNvSpPr txBox="1"/>
            <p:nvPr/>
          </p:nvSpPr>
          <p:spPr>
            <a:xfrm>
              <a:off x="907542" y="5035868"/>
              <a:ext cx="1016372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num_leaves veya max_depth parametreleriyle sınırlama yapılmazsa dengesiz büyüme aşırı öğrenmeye yol açabilir.</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25</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138980" cy="557403"/>
            <a:chOff x="595122" y="282892"/>
            <a:chExt cx="8138980" cy="557403"/>
          </a:xfrm>
        </p:grpSpPr>
        <p:sp>
          <p:nvSpPr>
            <p:cNvPr id="4" name="TextBox 4"/>
            <p:cNvSpPr txBox="1"/>
            <p:nvPr/>
          </p:nvSpPr>
          <p:spPr>
            <a:xfrm>
              <a:off x="595122" y="282892"/>
              <a:ext cx="813898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Ağaç büyütme stratejisi karşılaştırması</a:t>
              </a:r>
            </a:p>
          </p:txBody>
        </p:sp>
      </p:grpSp>
      <p:grpSp>
        <p:nvGrpSpPr>
          <p:cNvPr id="22" name="panel-xgb"/>
          <p:cNvGrpSpPr/>
          <p:nvPr/>
        </p:nvGrpSpPr>
        <p:grpSpPr>
          <a:xfrm>
            <a:off x="609600" y="1219200"/>
            <a:ext cx="5295900" cy="2476500"/>
            <a:chOff x="609600" y="1219200"/>
            <a:chExt cx="5295900" cy="2476500"/>
          </a:xfrm>
        </p:grpSpPr>
        <p:sp>
          <p:nvSpPr>
            <p:cNvPr id="6" name="Rectangle 6"/>
            <p:cNvSpPr/>
            <p:nvPr/>
          </p:nvSpPr>
          <p:spPr>
            <a:xfrm>
              <a:off x="609600" y="1219200"/>
              <a:ext cx="5295900" cy="2476500"/>
            </a:xfrm>
            <a:prstGeom prst="roundRect">
              <a:avLst>
                <a:gd name="adj" fmla="val 3846"/>
              </a:avLst>
            </a:prstGeom>
            <a:solidFill>
              <a:srgbClr val="FFFFFF"/>
            </a:solidFill>
            <a:ln w="14288">
              <a:solidFill>
                <a:srgbClr val="2E86AB"/>
              </a:solidFill>
            </a:ln>
          </p:spPr>
        </p:sp>
        <p:sp>
          <p:nvSpPr>
            <p:cNvPr id="7" name="TextBox 7"/>
            <p:cNvSpPr txBox="1"/>
            <p:nvPr/>
          </p:nvSpPr>
          <p:spPr>
            <a:xfrm>
              <a:off x="849249" y="1353979"/>
              <a:ext cx="332325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XGBoost — dengeli (level-wise)</a:t>
              </a:r>
            </a:p>
          </p:txBody>
        </p:sp>
        <p:sp>
          <p:nvSpPr>
            <p:cNvPr id="8" name="Line 8"/>
            <p:cNvSpPr/>
            <p:nvPr/>
          </p:nvSpPr>
          <p:spPr>
            <a:xfrm>
              <a:off x="2781300" y="1866900"/>
              <a:ext cx="476250" cy="381000"/>
            </a:xfrm>
            <a:custGeom>
              <a:avLst/>
              <a:gdLst/>
              <a:ahLst/>
              <a:cxnLst/>
              <a:rect l="l" t="t" r="r" b="b"/>
              <a:pathLst>
                <a:path w="476250" h="381000">
                  <a:moveTo>
                    <a:pt x="476250" y="0"/>
                  </a:moveTo>
                  <a:lnTo>
                    <a:pt x="0" y="381000"/>
                  </a:lnTo>
                </a:path>
              </a:pathLst>
            </a:custGeom>
            <a:noFill/>
            <a:ln w="19050">
              <a:solidFill>
                <a:srgbClr val="52616B"/>
              </a:solidFill>
            </a:ln>
          </p:spPr>
        </p:sp>
        <p:sp>
          <p:nvSpPr>
            <p:cNvPr id="9" name="Line 9"/>
            <p:cNvSpPr/>
            <p:nvPr/>
          </p:nvSpPr>
          <p:spPr>
            <a:xfrm>
              <a:off x="3257550" y="1866900"/>
              <a:ext cx="476250" cy="381000"/>
            </a:xfrm>
            <a:custGeom>
              <a:avLst/>
              <a:gdLst/>
              <a:ahLst/>
              <a:cxnLst/>
              <a:rect l="l" t="t" r="r" b="b"/>
              <a:pathLst>
                <a:path w="476250" h="381000">
                  <a:moveTo>
                    <a:pt x="0" y="0"/>
                  </a:moveTo>
                  <a:lnTo>
                    <a:pt x="476250" y="381000"/>
                  </a:lnTo>
                </a:path>
              </a:pathLst>
            </a:custGeom>
            <a:noFill/>
            <a:ln w="19050">
              <a:solidFill>
                <a:srgbClr val="52616B"/>
              </a:solidFill>
            </a:ln>
          </p:spPr>
        </p:sp>
        <p:sp>
          <p:nvSpPr>
            <p:cNvPr id="10" name="Line 10"/>
            <p:cNvSpPr/>
            <p:nvPr/>
          </p:nvSpPr>
          <p:spPr>
            <a:xfrm>
              <a:off x="2543175" y="2247900"/>
              <a:ext cx="238125" cy="381000"/>
            </a:xfrm>
            <a:custGeom>
              <a:avLst/>
              <a:gdLst/>
              <a:ahLst/>
              <a:cxnLst/>
              <a:rect l="l" t="t" r="r" b="b"/>
              <a:pathLst>
                <a:path w="238125" h="381000">
                  <a:moveTo>
                    <a:pt x="238125" y="0"/>
                  </a:moveTo>
                  <a:lnTo>
                    <a:pt x="0" y="381000"/>
                  </a:lnTo>
                </a:path>
              </a:pathLst>
            </a:custGeom>
            <a:noFill/>
            <a:ln w="19050">
              <a:solidFill>
                <a:srgbClr val="52616B"/>
              </a:solidFill>
            </a:ln>
          </p:spPr>
        </p:sp>
        <p:sp>
          <p:nvSpPr>
            <p:cNvPr id="11" name="Line 11"/>
            <p:cNvSpPr/>
            <p:nvPr/>
          </p:nvSpPr>
          <p:spPr>
            <a:xfrm>
              <a:off x="2781300" y="2247900"/>
              <a:ext cx="238125" cy="381000"/>
            </a:xfrm>
            <a:custGeom>
              <a:avLst/>
              <a:gdLst/>
              <a:ahLst/>
              <a:cxnLst/>
              <a:rect l="l" t="t" r="r" b="b"/>
              <a:pathLst>
                <a:path w="238125" h="381000">
                  <a:moveTo>
                    <a:pt x="0" y="0"/>
                  </a:moveTo>
                  <a:lnTo>
                    <a:pt x="238125" y="381000"/>
                  </a:lnTo>
                </a:path>
              </a:pathLst>
            </a:custGeom>
            <a:noFill/>
            <a:ln w="19050">
              <a:solidFill>
                <a:srgbClr val="52616B"/>
              </a:solidFill>
            </a:ln>
          </p:spPr>
        </p:sp>
        <p:sp>
          <p:nvSpPr>
            <p:cNvPr id="12" name="Line 12"/>
            <p:cNvSpPr/>
            <p:nvPr/>
          </p:nvSpPr>
          <p:spPr>
            <a:xfrm>
              <a:off x="3495675" y="2247900"/>
              <a:ext cx="238125" cy="381000"/>
            </a:xfrm>
            <a:custGeom>
              <a:avLst/>
              <a:gdLst/>
              <a:ahLst/>
              <a:cxnLst/>
              <a:rect l="l" t="t" r="r" b="b"/>
              <a:pathLst>
                <a:path w="238125" h="381000">
                  <a:moveTo>
                    <a:pt x="238125" y="0"/>
                  </a:moveTo>
                  <a:lnTo>
                    <a:pt x="0" y="381000"/>
                  </a:lnTo>
                </a:path>
              </a:pathLst>
            </a:custGeom>
            <a:noFill/>
            <a:ln w="19050">
              <a:solidFill>
                <a:srgbClr val="52616B"/>
              </a:solidFill>
            </a:ln>
          </p:spPr>
        </p:sp>
        <p:sp>
          <p:nvSpPr>
            <p:cNvPr id="13" name="Line 13"/>
            <p:cNvSpPr/>
            <p:nvPr/>
          </p:nvSpPr>
          <p:spPr>
            <a:xfrm>
              <a:off x="3733800" y="2247900"/>
              <a:ext cx="238125" cy="381000"/>
            </a:xfrm>
            <a:custGeom>
              <a:avLst/>
              <a:gdLst/>
              <a:ahLst/>
              <a:cxnLst/>
              <a:rect l="l" t="t" r="r" b="b"/>
              <a:pathLst>
                <a:path w="238125" h="381000">
                  <a:moveTo>
                    <a:pt x="0" y="0"/>
                  </a:moveTo>
                  <a:lnTo>
                    <a:pt x="238125" y="381000"/>
                  </a:lnTo>
                </a:path>
              </a:pathLst>
            </a:custGeom>
            <a:noFill/>
            <a:ln w="19050">
              <a:solidFill>
                <a:srgbClr val="52616B"/>
              </a:solidFill>
            </a:ln>
          </p:spPr>
        </p:sp>
        <p:sp>
          <p:nvSpPr>
            <p:cNvPr id="14" name="Ellipse 14"/>
            <p:cNvSpPr/>
            <p:nvPr/>
          </p:nvSpPr>
          <p:spPr>
            <a:xfrm>
              <a:off x="3124200" y="1733550"/>
              <a:ext cx="266700" cy="266700"/>
            </a:xfrm>
            <a:prstGeom prst="ellipse">
              <a:avLst/>
            </a:prstGeom>
            <a:solidFill>
              <a:srgbClr val="12355B"/>
            </a:solidFill>
            <a:ln>
              <a:noFill/>
            </a:ln>
          </p:spPr>
        </p:sp>
        <p:sp>
          <p:nvSpPr>
            <p:cNvPr id="15" name="Ellipse 15"/>
            <p:cNvSpPr/>
            <p:nvPr/>
          </p:nvSpPr>
          <p:spPr>
            <a:xfrm>
              <a:off x="2676525" y="2143125"/>
              <a:ext cx="209550" cy="209550"/>
            </a:xfrm>
            <a:prstGeom prst="ellipse">
              <a:avLst/>
            </a:prstGeom>
            <a:solidFill>
              <a:srgbClr val="2E86AB"/>
            </a:solidFill>
            <a:ln>
              <a:noFill/>
            </a:ln>
          </p:spPr>
        </p:sp>
        <p:sp>
          <p:nvSpPr>
            <p:cNvPr id="16" name="Ellipse 16"/>
            <p:cNvSpPr/>
            <p:nvPr/>
          </p:nvSpPr>
          <p:spPr>
            <a:xfrm>
              <a:off x="3629025" y="2143125"/>
              <a:ext cx="209550" cy="209550"/>
            </a:xfrm>
            <a:prstGeom prst="ellipse">
              <a:avLst/>
            </a:prstGeom>
            <a:solidFill>
              <a:srgbClr val="2E86AB"/>
            </a:solidFill>
            <a:ln>
              <a:noFill/>
            </a:ln>
          </p:spPr>
        </p:sp>
        <p:sp>
          <p:nvSpPr>
            <p:cNvPr id="17" name="Ellipse 17"/>
            <p:cNvSpPr/>
            <p:nvPr/>
          </p:nvSpPr>
          <p:spPr>
            <a:xfrm>
              <a:off x="2457450" y="2543175"/>
              <a:ext cx="171450" cy="171450"/>
            </a:xfrm>
            <a:prstGeom prst="ellipse">
              <a:avLst/>
            </a:prstGeom>
            <a:solidFill>
              <a:srgbClr val="00A6A6"/>
            </a:solidFill>
            <a:ln>
              <a:noFill/>
            </a:ln>
          </p:spPr>
        </p:sp>
        <p:sp>
          <p:nvSpPr>
            <p:cNvPr id="18" name="Ellipse 18"/>
            <p:cNvSpPr/>
            <p:nvPr/>
          </p:nvSpPr>
          <p:spPr>
            <a:xfrm>
              <a:off x="2933700" y="2543175"/>
              <a:ext cx="171450" cy="171450"/>
            </a:xfrm>
            <a:prstGeom prst="ellipse">
              <a:avLst/>
            </a:prstGeom>
            <a:solidFill>
              <a:srgbClr val="00A6A6"/>
            </a:solidFill>
            <a:ln>
              <a:noFill/>
            </a:ln>
          </p:spPr>
        </p:sp>
        <p:sp>
          <p:nvSpPr>
            <p:cNvPr id="19" name="Ellipse 19"/>
            <p:cNvSpPr/>
            <p:nvPr/>
          </p:nvSpPr>
          <p:spPr>
            <a:xfrm>
              <a:off x="3409950" y="2543175"/>
              <a:ext cx="171450" cy="171450"/>
            </a:xfrm>
            <a:prstGeom prst="ellipse">
              <a:avLst/>
            </a:prstGeom>
            <a:solidFill>
              <a:srgbClr val="00A6A6"/>
            </a:solidFill>
            <a:ln>
              <a:noFill/>
            </a:ln>
          </p:spPr>
        </p:sp>
        <p:sp>
          <p:nvSpPr>
            <p:cNvPr id="20" name="Ellipse 20"/>
            <p:cNvSpPr/>
            <p:nvPr/>
          </p:nvSpPr>
          <p:spPr>
            <a:xfrm>
              <a:off x="3886200" y="2543175"/>
              <a:ext cx="171450" cy="171450"/>
            </a:xfrm>
            <a:prstGeom prst="ellipse">
              <a:avLst/>
            </a:prstGeom>
            <a:solidFill>
              <a:srgbClr val="00A6A6"/>
            </a:solidFill>
            <a:ln>
              <a:noFill/>
            </a:ln>
          </p:spPr>
        </p:sp>
        <p:sp>
          <p:nvSpPr>
            <p:cNvPr id="21" name="TextBox 21"/>
            <p:cNvSpPr txBox="1"/>
            <p:nvPr/>
          </p:nvSpPr>
          <p:spPr>
            <a:xfrm>
              <a:off x="850392" y="3207068"/>
              <a:ext cx="3322701" cy="473583"/>
            </a:xfrm>
            <a:prstGeom prst="rect">
              <a:avLst/>
            </a:prstGeom>
            <a:noFill/>
            <a:ln>
              <a:noFill/>
            </a:ln>
          </p:spPr>
          <p:txBody>
            <a:bodyPr wrap="none" lIns="0" tIns="0" rIns="0" bIns="0" anchor="t" anchorCtr="0">
              <a:spAutoFit/>
            </a:bodyPr>
            <a:lstStyle/>
            <a:p>
              <a:pPr algn="l">
                <a:lnSpc>
                  <a:spcPts val="1650"/>
                </a:lnSpc>
              </a:pPr>
              <a:r>
                <a:rPr lang="tr-TR" sz="1350" dirty="0">
                  <a:solidFill>
                    <a:srgbClr val="52616B"/>
                  </a:solidFill>
                  <a:latin typeface="+mn-lt"/>
                  <a:ea typeface="+mn-ea"/>
                  <a:cs typeface="+mn-cs"/>
                </a:rPr>
                <a:t>Her seviye tam bölünür — daha yavaş,</a:t>
              </a:r>
              <a:br/>
              <a:r>
                <a:rPr lang="tr-TR" sz="1350" dirty="0">
                  <a:solidFill>
                    <a:srgbClr val="52616B"/>
                  </a:solidFill>
                  <a:latin typeface="+mn-lt"/>
                  <a:ea typeface="+mn-ea"/>
                  <a:cs typeface="+mn-cs"/>
                </a:rPr>
                <a:t>ama daha az aşırı öğrenme riski taşır.</a:t>
              </a:r>
            </a:p>
          </p:txBody>
        </p:sp>
      </p:grpSp>
      <p:grpSp>
        <p:nvGrpSpPr>
          <p:cNvPr id="39" name="panel-lgbm"/>
          <p:cNvGrpSpPr/>
          <p:nvPr/>
        </p:nvGrpSpPr>
        <p:grpSpPr>
          <a:xfrm>
            <a:off x="6286500" y="1219200"/>
            <a:ext cx="5295900" cy="2476500"/>
            <a:chOff x="6286500" y="1219200"/>
            <a:chExt cx="5295900" cy="2476500"/>
          </a:xfrm>
        </p:grpSpPr>
        <p:sp>
          <p:nvSpPr>
            <p:cNvPr id="23" name="Rectangle 23"/>
            <p:cNvSpPr/>
            <p:nvPr/>
          </p:nvSpPr>
          <p:spPr>
            <a:xfrm>
              <a:off x="6286500" y="1219200"/>
              <a:ext cx="5295900" cy="2476500"/>
            </a:xfrm>
            <a:prstGeom prst="roundRect">
              <a:avLst>
                <a:gd name="adj" fmla="val 3846"/>
              </a:avLst>
            </a:prstGeom>
            <a:solidFill>
              <a:srgbClr val="FFFFFF"/>
            </a:solidFill>
            <a:ln w="14288">
              <a:solidFill>
                <a:srgbClr val="2E86AB"/>
              </a:solidFill>
            </a:ln>
          </p:spPr>
        </p:sp>
        <p:sp>
          <p:nvSpPr>
            <p:cNvPr id="24" name="TextBox 24"/>
            <p:cNvSpPr txBox="1"/>
            <p:nvPr/>
          </p:nvSpPr>
          <p:spPr>
            <a:xfrm>
              <a:off x="6526149" y="1353979"/>
              <a:ext cx="436908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LightGBM — yaprak-öncelikli (leaf-wise)</a:t>
              </a:r>
            </a:p>
          </p:txBody>
        </p:sp>
        <p:sp>
          <p:nvSpPr>
            <p:cNvPr id="25" name="Line 25"/>
            <p:cNvSpPr/>
            <p:nvPr/>
          </p:nvSpPr>
          <p:spPr>
            <a:xfrm>
              <a:off x="8458200" y="1866900"/>
              <a:ext cx="476250" cy="381000"/>
            </a:xfrm>
            <a:custGeom>
              <a:avLst/>
              <a:gdLst/>
              <a:ahLst/>
              <a:cxnLst/>
              <a:rect l="l" t="t" r="r" b="b"/>
              <a:pathLst>
                <a:path w="476250" h="381000">
                  <a:moveTo>
                    <a:pt x="476250" y="0"/>
                  </a:moveTo>
                  <a:lnTo>
                    <a:pt x="0" y="381000"/>
                  </a:lnTo>
                </a:path>
              </a:pathLst>
            </a:custGeom>
            <a:noFill/>
            <a:ln w="19050">
              <a:solidFill>
                <a:srgbClr val="52616B"/>
              </a:solidFill>
            </a:ln>
          </p:spPr>
        </p:sp>
        <p:sp>
          <p:nvSpPr>
            <p:cNvPr id="26" name="Line 26"/>
            <p:cNvSpPr/>
            <p:nvPr/>
          </p:nvSpPr>
          <p:spPr>
            <a:xfrm>
              <a:off x="8934450" y="1866900"/>
              <a:ext cx="476250" cy="381000"/>
            </a:xfrm>
            <a:custGeom>
              <a:avLst/>
              <a:gdLst/>
              <a:ahLst/>
              <a:cxnLst/>
              <a:rect l="l" t="t" r="r" b="b"/>
              <a:pathLst>
                <a:path w="476250" h="381000">
                  <a:moveTo>
                    <a:pt x="0" y="0"/>
                  </a:moveTo>
                  <a:lnTo>
                    <a:pt x="476250" y="381000"/>
                  </a:lnTo>
                </a:path>
              </a:pathLst>
            </a:custGeom>
            <a:noFill/>
            <a:ln w="19050">
              <a:solidFill>
                <a:srgbClr val="52616B"/>
              </a:solidFill>
            </a:ln>
          </p:spPr>
        </p:sp>
        <p:sp>
          <p:nvSpPr>
            <p:cNvPr id="27" name="Line 27"/>
            <p:cNvSpPr/>
            <p:nvPr/>
          </p:nvSpPr>
          <p:spPr>
            <a:xfrm>
              <a:off x="9172575" y="2247900"/>
              <a:ext cx="238125" cy="342900"/>
            </a:xfrm>
            <a:custGeom>
              <a:avLst/>
              <a:gdLst/>
              <a:ahLst/>
              <a:cxnLst/>
              <a:rect l="l" t="t" r="r" b="b"/>
              <a:pathLst>
                <a:path w="238125" h="342900">
                  <a:moveTo>
                    <a:pt x="238125" y="0"/>
                  </a:moveTo>
                  <a:lnTo>
                    <a:pt x="0" y="342900"/>
                  </a:lnTo>
                </a:path>
              </a:pathLst>
            </a:custGeom>
            <a:noFill/>
            <a:ln w="19050">
              <a:solidFill>
                <a:srgbClr val="52616B"/>
              </a:solidFill>
            </a:ln>
          </p:spPr>
        </p:sp>
        <p:sp>
          <p:nvSpPr>
            <p:cNvPr id="28" name="Line 28"/>
            <p:cNvSpPr/>
            <p:nvPr/>
          </p:nvSpPr>
          <p:spPr>
            <a:xfrm>
              <a:off x="9410700" y="2247900"/>
              <a:ext cx="238125" cy="342900"/>
            </a:xfrm>
            <a:custGeom>
              <a:avLst/>
              <a:gdLst/>
              <a:ahLst/>
              <a:cxnLst/>
              <a:rect l="l" t="t" r="r" b="b"/>
              <a:pathLst>
                <a:path w="238125" h="342900">
                  <a:moveTo>
                    <a:pt x="0" y="0"/>
                  </a:moveTo>
                  <a:lnTo>
                    <a:pt x="238125" y="342900"/>
                  </a:lnTo>
                </a:path>
              </a:pathLst>
            </a:custGeom>
            <a:noFill/>
            <a:ln w="19050">
              <a:solidFill>
                <a:srgbClr val="52616B"/>
              </a:solidFill>
            </a:ln>
          </p:spPr>
        </p:sp>
        <p:sp>
          <p:nvSpPr>
            <p:cNvPr id="29" name="Line 29"/>
            <p:cNvSpPr/>
            <p:nvPr/>
          </p:nvSpPr>
          <p:spPr>
            <a:xfrm>
              <a:off x="9458325" y="2590800"/>
              <a:ext cx="190500" cy="381000"/>
            </a:xfrm>
            <a:custGeom>
              <a:avLst/>
              <a:gdLst/>
              <a:ahLst/>
              <a:cxnLst/>
              <a:rect l="l" t="t" r="r" b="b"/>
              <a:pathLst>
                <a:path w="190500" h="381000">
                  <a:moveTo>
                    <a:pt x="190500" y="0"/>
                  </a:moveTo>
                  <a:lnTo>
                    <a:pt x="0" y="381000"/>
                  </a:lnTo>
                </a:path>
              </a:pathLst>
            </a:custGeom>
            <a:noFill/>
            <a:ln w="19050">
              <a:solidFill>
                <a:srgbClr val="52616B"/>
              </a:solidFill>
            </a:ln>
          </p:spPr>
        </p:sp>
        <p:sp>
          <p:nvSpPr>
            <p:cNvPr id="30" name="Line 30"/>
            <p:cNvSpPr/>
            <p:nvPr/>
          </p:nvSpPr>
          <p:spPr>
            <a:xfrm>
              <a:off x="9648825" y="2590800"/>
              <a:ext cx="190500" cy="381000"/>
            </a:xfrm>
            <a:custGeom>
              <a:avLst/>
              <a:gdLst/>
              <a:ahLst/>
              <a:cxnLst/>
              <a:rect l="l" t="t" r="r" b="b"/>
              <a:pathLst>
                <a:path w="190500" h="381000">
                  <a:moveTo>
                    <a:pt x="0" y="0"/>
                  </a:moveTo>
                  <a:lnTo>
                    <a:pt x="190500" y="381000"/>
                  </a:lnTo>
                </a:path>
              </a:pathLst>
            </a:custGeom>
            <a:noFill/>
            <a:ln w="19050">
              <a:solidFill>
                <a:srgbClr val="52616B"/>
              </a:solidFill>
            </a:ln>
          </p:spPr>
        </p:sp>
        <p:sp>
          <p:nvSpPr>
            <p:cNvPr id="31" name="Ellipse 31"/>
            <p:cNvSpPr/>
            <p:nvPr/>
          </p:nvSpPr>
          <p:spPr>
            <a:xfrm>
              <a:off x="8801100" y="1733550"/>
              <a:ext cx="266700" cy="266700"/>
            </a:xfrm>
            <a:prstGeom prst="ellipse">
              <a:avLst/>
            </a:prstGeom>
            <a:solidFill>
              <a:srgbClr val="12355B"/>
            </a:solidFill>
            <a:ln>
              <a:noFill/>
            </a:ln>
          </p:spPr>
        </p:sp>
        <p:sp>
          <p:nvSpPr>
            <p:cNvPr id="32" name="Ellipse 32"/>
            <p:cNvSpPr/>
            <p:nvPr/>
          </p:nvSpPr>
          <p:spPr>
            <a:xfrm>
              <a:off x="8362950" y="2152650"/>
              <a:ext cx="190500" cy="190500"/>
            </a:xfrm>
            <a:prstGeom prst="ellipse">
              <a:avLst/>
            </a:prstGeom>
            <a:solidFill>
              <a:srgbClr val="B8CBD3"/>
            </a:solidFill>
            <a:ln>
              <a:noFill/>
            </a:ln>
          </p:spPr>
        </p:sp>
        <p:sp>
          <p:nvSpPr>
            <p:cNvPr id="33" name="Ellipse 33"/>
            <p:cNvSpPr/>
            <p:nvPr/>
          </p:nvSpPr>
          <p:spPr>
            <a:xfrm>
              <a:off x="9296400" y="2133600"/>
              <a:ext cx="228600" cy="228600"/>
            </a:xfrm>
            <a:prstGeom prst="ellipse">
              <a:avLst/>
            </a:prstGeom>
            <a:solidFill>
              <a:srgbClr val="2E86AB"/>
            </a:solidFill>
            <a:ln>
              <a:noFill/>
            </a:ln>
          </p:spPr>
        </p:sp>
        <p:sp>
          <p:nvSpPr>
            <p:cNvPr id="34" name="Ellipse 34"/>
            <p:cNvSpPr/>
            <p:nvPr/>
          </p:nvSpPr>
          <p:spPr>
            <a:xfrm>
              <a:off x="9086850" y="2505075"/>
              <a:ext cx="171450" cy="171450"/>
            </a:xfrm>
            <a:prstGeom prst="ellipse">
              <a:avLst/>
            </a:prstGeom>
            <a:solidFill>
              <a:srgbClr val="B8CBD3"/>
            </a:solidFill>
            <a:ln>
              <a:noFill/>
            </a:ln>
          </p:spPr>
        </p:sp>
        <p:sp>
          <p:nvSpPr>
            <p:cNvPr id="35" name="Ellipse 35"/>
            <p:cNvSpPr/>
            <p:nvPr/>
          </p:nvSpPr>
          <p:spPr>
            <a:xfrm>
              <a:off x="9544050" y="2486025"/>
              <a:ext cx="209550" cy="209550"/>
            </a:xfrm>
            <a:prstGeom prst="ellipse">
              <a:avLst/>
            </a:prstGeom>
            <a:solidFill>
              <a:srgbClr val="00A6A6"/>
            </a:solidFill>
            <a:ln>
              <a:noFill/>
            </a:ln>
          </p:spPr>
        </p:sp>
        <p:sp>
          <p:nvSpPr>
            <p:cNvPr id="36" name="Ellipse 36"/>
            <p:cNvSpPr/>
            <p:nvPr/>
          </p:nvSpPr>
          <p:spPr>
            <a:xfrm>
              <a:off x="9372600" y="2886075"/>
              <a:ext cx="171450" cy="171450"/>
            </a:xfrm>
            <a:prstGeom prst="ellipse">
              <a:avLst/>
            </a:prstGeom>
            <a:solidFill>
              <a:srgbClr val="00A6A6"/>
            </a:solidFill>
            <a:ln>
              <a:noFill/>
            </a:ln>
          </p:spPr>
        </p:sp>
        <p:sp>
          <p:nvSpPr>
            <p:cNvPr id="37" name="Ellipse 37"/>
            <p:cNvSpPr/>
            <p:nvPr/>
          </p:nvSpPr>
          <p:spPr>
            <a:xfrm>
              <a:off x="9753600" y="2886075"/>
              <a:ext cx="171450" cy="171450"/>
            </a:xfrm>
            <a:prstGeom prst="ellipse">
              <a:avLst/>
            </a:prstGeom>
            <a:solidFill>
              <a:srgbClr val="00A6A6"/>
            </a:solidFill>
            <a:ln>
              <a:noFill/>
            </a:ln>
          </p:spPr>
        </p:sp>
        <p:sp>
          <p:nvSpPr>
            <p:cNvPr id="38" name="TextBox 38"/>
            <p:cNvSpPr txBox="1"/>
            <p:nvPr/>
          </p:nvSpPr>
          <p:spPr>
            <a:xfrm>
              <a:off x="6527292" y="3207068"/>
              <a:ext cx="4351401" cy="473583"/>
            </a:xfrm>
            <a:prstGeom prst="rect">
              <a:avLst/>
            </a:prstGeom>
            <a:noFill/>
            <a:ln>
              <a:noFill/>
            </a:ln>
          </p:spPr>
          <p:txBody>
            <a:bodyPr wrap="none" lIns="0" tIns="0" rIns="0" bIns="0" anchor="t" anchorCtr="0">
              <a:spAutoFit/>
            </a:bodyPr>
            <a:lstStyle/>
            <a:p>
              <a:pPr algn="l">
                <a:lnSpc>
                  <a:spcPts val="1650"/>
                </a:lnSpc>
              </a:pPr>
              <a:r>
                <a:rPr lang="tr-TR" sz="1350" dirty="0">
                  <a:solidFill>
                    <a:srgbClr val="52616B"/>
                  </a:solidFill>
                  <a:latin typeface="+mn-lt"/>
                  <a:ea typeface="+mn-ea"/>
                  <a:cs typeface="+mn-cs"/>
                </a:rPr>
                <a:t>En yüksek kazançlı yaprak öncelikle</a:t>
              </a:r>
              <a:br/>
              <a:r>
                <a:rPr lang="tr-TR" sz="1350" dirty="0">
                  <a:solidFill>
                    <a:srgbClr val="52616B"/>
                  </a:solidFill>
                  <a:latin typeface="+mn-lt"/>
                  <a:ea typeface="+mn-ea"/>
                  <a:cs typeface="+mn-cs"/>
                </a:rPr>
                <a:t>bölünür — daha hızlı, dikkatli sınırlama gerektirir.</a:t>
              </a:r>
            </a:p>
          </p:txBody>
        </p:sp>
      </p:grpSp>
      <p:grpSp>
        <p:nvGrpSpPr>
          <p:cNvPr id="43" name="search-xgb"/>
          <p:cNvGrpSpPr/>
          <p:nvPr/>
        </p:nvGrpSpPr>
        <p:grpSpPr>
          <a:xfrm>
            <a:off x="609600" y="3848100"/>
            <a:ext cx="5295900" cy="1333500"/>
            <a:chOff x="609600" y="3848100"/>
            <a:chExt cx="5295900" cy="1333500"/>
          </a:xfrm>
        </p:grpSpPr>
        <p:sp>
          <p:nvSpPr>
            <p:cNvPr id="40" name="Rectangle 40"/>
            <p:cNvSpPr/>
            <p:nvPr/>
          </p:nvSpPr>
          <p:spPr>
            <a:xfrm>
              <a:off x="609600" y="3848100"/>
              <a:ext cx="5295900" cy="1333500"/>
            </a:xfrm>
            <a:prstGeom prst="roundRect">
              <a:avLst>
                <a:gd name="adj" fmla="val 5714"/>
              </a:avLst>
            </a:prstGeom>
            <a:solidFill>
              <a:srgbClr val="EAF4F6"/>
            </a:solidFill>
            <a:ln>
              <a:noFill/>
            </a:ln>
          </p:spPr>
        </p:sp>
        <p:sp>
          <p:nvSpPr>
            <p:cNvPr id="41" name="TextBox 41"/>
            <p:cNvSpPr txBox="1"/>
            <p:nvPr/>
          </p:nvSpPr>
          <p:spPr>
            <a:xfrm>
              <a:off x="849249" y="3982879"/>
              <a:ext cx="301638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Bölünme arama: tüm eşikler</a:t>
              </a:r>
            </a:p>
          </p:txBody>
        </p:sp>
        <p:sp>
          <p:nvSpPr>
            <p:cNvPr id="42" name="TextBox 42"/>
            <p:cNvSpPr txBox="1"/>
            <p:nvPr/>
          </p:nvSpPr>
          <p:spPr>
            <a:xfrm>
              <a:off x="850392" y="4292918"/>
              <a:ext cx="3742754" cy="7212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XGBoost varsayılan olarak her özelliğin tüm</a:t>
              </a:r>
              <a:br/>
              <a:r>
                <a:rPr lang="tr-TR" sz="1350" dirty="0">
                  <a:solidFill>
                    <a:srgbClr val="172B3A"/>
                  </a:solidFill>
                  <a:latin typeface="+mn-lt"/>
                  <a:ea typeface="+mn-ea"/>
                  <a:cs typeface="+mn-cs"/>
                </a:rPr>
                <a:t>olası eşik değerini (veya yaklaşık kova bazlı</a:t>
              </a:r>
              <a:br/>
              <a:r>
                <a:rPr lang="tr-TR" sz="1350" dirty="0">
                  <a:solidFill>
                    <a:srgbClr val="172B3A"/>
                  </a:solidFill>
                  <a:latin typeface="+mn-lt"/>
                  <a:ea typeface="+mn-ea"/>
                  <a:cs typeface="+mn-cs"/>
                </a:rPr>
                <a:t>bir versiyonunu) tarar.</a:t>
              </a:r>
            </a:p>
          </p:txBody>
        </p:sp>
      </p:grpSp>
      <p:grpSp>
        <p:nvGrpSpPr>
          <p:cNvPr id="47" name="search-lgbm"/>
          <p:cNvGrpSpPr/>
          <p:nvPr/>
        </p:nvGrpSpPr>
        <p:grpSpPr>
          <a:xfrm>
            <a:off x="6286500" y="3848100"/>
            <a:ext cx="5295900" cy="1333500"/>
            <a:chOff x="6286500" y="3848100"/>
            <a:chExt cx="5295900" cy="1333500"/>
          </a:xfrm>
        </p:grpSpPr>
        <p:sp>
          <p:nvSpPr>
            <p:cNvPr id="44" name="Rectangle 44"/>
            <p:cNvSpPr/>
            <p:nvPr/>
          </p:nvSpPr>
          <p:spPr>
            <a:xfrm>
              <a:off x="6286500" y="3848100"/>
              <a:ext cx="5295900" cy="1333500"/>
            </a:xfrm>
            <a:prstGeom prst="roundRect">
              <a:avLst>
                <a:gd name="adj" fmla="val 5714"/>
              </a:avLst>
            </a:prstGeom>
            <a:solidFill>
              <a:srgbClr val="EAF4F6"/>
            </a:solidFill>
            <a:ln>
              <a:noFill/>
            </a:ln>
          </p:spPr>
        </p:sp>
        <p:sp>
          <p:nvSpPr>
            <p:cNvPr id="45" name="TextBox 45"/>
            <p:cNvSpPr txBox="1"/>
            <p:nvPr/>
          </p:nvSpPr>
          <p:spPr>
            <a:xfrm>
              <a:off x="6526149" y="3982879"/>
              <a:ext cx="387604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Bölünme arama: histogram kovaları</a:t>
              </a:r>
            </a:p>
          </p:txBody>
        </p:sp>
        <p:sp>
          <p:nvSpPr>
            <p:cNvPr id="46" name="TextBox 46"/>
            <p:cNvSpPr txBox="1"/>
            <p:nvPr/>
          </p:nvSpPr>
          <p:spPr>
            <a:xfrm>
              <a:off x="6527292" y="4292918"/>
              <a:ext cx="3691318" cy="7212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LightGBM sürekli özellikleri önceden ayrık</a:t>
              </a:r>
              <a:br/>
              <a:r>
                <a:rPr lang="tr-TR" sz="1350" dirty="0">
                  <a:solidFill>
                    <a:srgbClr val="172B3A"/>
                  </a:solidFill>
                  <a:latin typeface="+mn-lt"/>
                  <a:ea typeface="+mn-ea"/>
                  <a:cs typeface="+mn-cs"/>
                </a:rPr>
                <a:t>histogram kovalarına dönüştürür; arama bu</a:t>
              </a:r>
              <a:br/>
              <a:r>
                <a:rPr lang="tr-TR" sz="1350" dirty="0">
                  <a:solidFill>
                    <a:srgbClr val="172B3A"/>
                  </a:solidFill>
                  <a:latin typeface="+mn-lt"/>
                  <a:ea typeface="+mn-ea"/>
                  <a:cs typeface="+mn-cs"/>
                </a:rPr>
                <a:t>kovalar üzerinden yapılır.</a:t>
              </a:r>
            </a:p>
          </p:txBody>
        </p:sp>
      </p:grpSp>
      <p:grpSp>
        <p:nvGrpSpPr>
          <p:cNvPr id="50" name="summary-note"/>
          <p:cNvGrpSpPr/>
          <p:nvPr/>
        </p:nvGrpSpPr>
        <p:grpSpPr>
          <a:xfrm>
            <a:off x="601599" y="5544979"/>
            <a:ext cx="10424192" cy="574739"/>
            <a:chOff x="601599" y="5544979"/>
            <a:chExt cx="10424192" cy="574739"/>
          </a:xfrm>
        </p:grpSpPr>
        <p:sp>
          <p:nvSpPr>
            <p:cNvPr id="48" name="TextBox 48"/>
            <p:cNvSpPr txBox="1"/>
            <p:nvPr/>
          </p:nvSpPr>
          <p:spPr>
            <a:xfrm>
              <a:off x="601599" y="5544979"/>
              <a:ext cx="1042419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Aynı kök düğümden başlayan iki farklı büyütme kararı, sonuçta farklı hız/aşırı öğrenme dengesine</a:t>
              </a:r>
            </a:p>
          </p:txBody>
        </p:sp>
        <p:sp>
          <p:nvSpPr>
            <p:cNvPr id="49" name="TextBox 49"/>
            <p:cNvSpPr txBox="1"/>
            <p:nvPr/>
          </p:nvSpPr>
          <p:spPr>
            <a:xfrm>
              <a:off x="601599" y="5811679"/>
              <a:ext cx="993499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sahip ağaçlar üretir; bu fark, Kod 3'teki eğitim süresi ölçümüyle somut olarak gösterilecektir.</a:t>
              </a:r>
            </a:p>
          </p:txBody>
        </p:sp>
      </p:grpSp>
      <p:sp>
        <p:nvSpPr>
          <p:cNvPr id="51" name="TextBox 5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25</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717268" cy="557403"/>
            <a:chOff x="595122" y="282892"/>
            <a:chExt cx="7717268" cy="557403"/>
          </a:xfrm>
        </p:grpSpPr>
        <p:sp>
          <p:nvSpPr>
            <p:cNvPr id="4" name="TextBox 4"/>
            <p:cNvSpPr txBox="1"/>
            <p:nvPr/>
          </p:nvSpPr>
          <p:spPr>
            <a:xfrm>
              <a:off x="595122" y="282892"/>
              <a:ext cx="771726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oranının (learning_rate) rolü</a:t>
              </a:r>
            </a:p>
          </p:txBody>
        </p:sp>
      </p:grpSp>
      <p:grpSp>
        <p:nvGrpSpPr>
          <p:cNvPr id="8" name="intro"/>
          <p:cNvGrpSpPr/>
          <p:nvPr/>
        </p:nvGrpSpPr>
        <p:grpSpPr>
          <a:xfrm>
            <a:off x="601599" y="1258729"/>
            <a:ext cx="10084602" cy="574739"/>
            <a:chOff x="601599" y="1258729"/>
            <a:chExt cx="10084602" cy="574739"/>
          </a:xfrm>
        </p:grpSpPr>
        <p:sp>
          <p:nvSpPr>
            <p:cNvPr id="6" name="TextBox 6"/>
            <p:cNvSpPr txBox="1"/>
            <p:nvPr/>
          </p:nvSpPr>
          <p:spPr>
            <a:xfrm>
              <a:off x="601599" y="1258729"/>
              <a:ext cx="1008460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Her ağacın toplam tahmine katkısını ölçeklendiren küçültme katsayısı (tipik aralık 0,01-0,3) —</a:t>
              </a:r>
            </a:p>
          </p:txBody>
        </p:sp>
        <p:sp>
          <p:nvSpPr>
            <p:cNvPr id="7" name="TextBox 7"/>
            <p:cNvSpPr txBox="1"/>
            <p:nvPr/>
          </p:nvSpPr>
          <p:spPr>
            <a:xfrm>
              <a:off x="601599" y="1525429"/>
              <a:ext cx="872605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"büyük adımlarla mı, küçük adımlarla mı hedefe yürüyorum" ödünleşimiyle örtüşür.</a:t>
              </a:r>
            </a:p>
          </p:txBody>
        </p:sp>
      </p:grpSp>
      <p:grpSp>
        <p:nvGrpSpPr>
          <p:cNvPr id="17" name="card-small"/>
          <p:cNvGrpSpPr/>
          <p:nvPr/>
        </p:nvGrpSpPr>
        <p:grpSpPr>
          <a:xfrm>
            <a:off x="609600" y="1924050"/>
            <a:ext cx="5295900" cy="1600200"/>
            <a:chOff x="609600" y="1924050"/>
            <a:chExt cx="5295900" cy="1600200"/>
          </a:xfrm>
        </p:grpSpPr>
        <p:sp>
          <p:nvSpPr>
            <p:cNvPr id="9" name="Rectangle 9"/>
            <p:cNvSpPr/>
            <p:nvPr/>
          </p:nvSpPr>
          <p:spPr>
            <a:xfrm>
              <a:off x="609600" y="1924050"/>
              <a:ext cx="5295900" cy="1600200"/>
            </a:xfrm>
            <a:prstGeom prst="roundRect">
              <a:avLst>
                <a:gd name="adj" fmla="val 5952"/>
              </a:avLst>
            </a:prstGeom>
            <a:solidFill>
              <a:srgbClr val="FFFFFF"/>
            </a:solidFill>
            <a:ln w="14288">
              <a:solidFill>
                <a:srgbClr val="2E86AB"/>
              </a:solidFill>
            </a:ln>
          </p:spPr>
        </p:sp>
        <p:sp>
          <p:nvSpPr>
            <p:cNvPr id="10" name="TextBox 10"/>
            <p:cNvSpPr txBox="1"/>
            <p:nvPr/>
          </p:nvSpPr>
          <p:spPr>
            <a:xfrm>
              <a:off x="848106" y="2034540"/>
              <a:ext cx="402476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Küçük öğrenme oranı (ör. 0,01)</a:t>
              </a:r>
            </a:p>
          </p:txBody>
        </p:sp>
        <p:sp>
          <p:nvSpPr>
            <p:cNvPr id="11" name="Rectangle 11"/>
            <p:cNvSpPr/>
            <p:nvPr/>
          </p:nvSpPr>
          <p:spPr>
            <a:xfrm>
              <a:off x="857250" y="2400300"/>
              <a:ext cx="57150" cy="228600"/>
            </a:xfrm>
            <a:prstGeom prst="rect">
              <a:avLst/>
            </a:prstGeom>
            <a:solidFill>
              <a:srgbClr val="00A6A6"/>
            </a:solidFill>
            <a:ln>
              <a:noFill/>
            </a:ln>
          </p:spPr>
        </p:sp>
        <p:sp>
          <p:nvSpPr>
            <p:cNvPr id="12" name="TextBox 12"/>
            <p:cNvSpPr txBox="1"/>
            <p:nvPr/>
          </p:nvSpPr>
          <p:spPr>
            <a:xfrm>
              <a:off x="1002792" y="2426018"/>
              <a:ext cx="289987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Genelde daha iyi genelleme sağlar</a:t>
              </a:r>
            </a:p>
          </p:txBody>
        </p:sp>
        <p:sp>
          <p:nvSpPr>
            <p:cNvPr id="13" name="Rectangle 13"/>
            <p:cNvSpPr/>
            <p:nvPr/>
          </p:nvSpPr>
          <p:spPr>
            <a:xfrm>
              <a:off x="857250" y="2705100"/>
              <a:ext cx="57150" cy="228600"/>
            </a:xfrm>
            <a:prstGeom prst="rect">
              <a:avLst/>
            </a:prstGeom>
            <a:solidFill>
              <a:srgbClr val="00A6A6"/>
            </a:solidFill>
            <a:ln>
              <a:noFill/>
            </a:ln>
          </p:spPr>
        </p:sp>
        <p:sp>
          <p:nvSpPr>
            <p:cNvPr id="14" name="TextBox 14"/>
            <p:cNvSpPr txBox="1"/>
            <p:nvPr/>
          </p:nvSpPr>
          <p:spPr>
            <a:xfrm>
              <a:off x="1002792" y="2730818"/>
              <a:ext cx="439948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Hiçbir tek ağaç gürültüye aşırı ağırlık kazanmaz</a:t>
              </a:r>
            </a:p>
          </p:txBody>
        </p:sp>
        <p:sp>
          <p:nvSpPr>
            <p:cNvPr id="15" name="Rectangle 15"/>
            <p:cNvSpPr/>
            <p:nvPr/>
          </p:nvSpPr>
          <p:spPr>
            <a:xfrm>
              <a:off x="857250" y="3009900"/>
              <a:ext cx="57150" cy="228600"/>
            </a:xfrm>
            <a:prstGeom prst="rect">
              <a:avLst/>
            </a:prstGeom>
            <a:solidFill>
              <a:srgbClr val="52616B"/>
            </a:solidFill>
            <a:ln>
              <a:noFill/>
            </a:ln>
          </p:spPr>
        </p:sp>
        <p:sp>
          <p:nvSpPr>
            <p:cNvPr id="16" name="TextBox 16"/>
            <p:cNvSpPr txBox="1"/>
            <p:nvPr/>
          </p:nvSpPr>
          <p:spPr>
            <a:xfrm>
              <a:off x="1002792" y="3035618"/>
              <a:ext cx="414545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Daha fazla ağaca (n_estimators) ihtiyaç duyar</a:t>
              </a:r>
            </a:p>
          </p:txBody>
        </p:sp>
      </p:grpSp>
      <p:grpSp>
        <p:nvGrpSpPr>
          <p:cNvPr id="26" name="card-large"/>
          <p:cNvGrpSpPr/>
          <p:nvPr/>
        </p:nvGrpSpPr>
        <p:grpSpPr>
          <a:xfrm>
            <a:off x="6286500" y="1924050"/>
            <a:ext cx="5295900" cy="1600200"/>
            <a:chOff x="6286500" y="1924050"/>
            <a:chExt cx="5295900" cy="1600200"/>
          </a:xfrm>
        </p:grpSpPr>
        <p:sp>
          <p:nvSpPr>
            <p:cNvPr id="18" name="Rectangle 18"/>
            <p:cNvSpPr/>
            <p:nvPr/>
          </p:nvSpPr>
          <p:spPr>
            <a:xfrm>
              <a:off x="6286500" y="1924050"/>
              <a:ext cx="5295900" cy="1600200"/>
            </a:xfrm>
            <a:prstGeom prst="roundRect">
              <a:avLst>
                <a:gd name="adj" fmla="val 5952"/>
              </a:avLst>
            </a:prstGeom>
            <a:solidFill>
              <a:srgbClr val="FFFFFF"/>
            </a:solidFill>
            <a:ln w="14288">
              <a:solidFill>
                <a:srgbClr val="2E86AB"/>
              </a:solidFill>
            </a:ln>
          </p:spPr>
        </p:sp>
        <p:sp>
          <p:nvSpPr>
            <p:cNvPr id="19" name="TextBox 19"/>
            <p:cNvSpPr txBox="1"/>
            <p:nvPr/>
          </p:nvSpPr>
          <p:spPr>
            <a:xfrm>
              <a:off x="6525006" y="2034540"/>
              <a:ext cx="388441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Büyük öğrenme oranı (ör. 0,5)</a:t>
              </a:r>
            </a:p>
          </p:txBody>
        </p:sp>
        <p:sp>
          <p:nvSpPr>
            <p:cNvPr id="20" name="Rectangle 20"/>
            <p:cNvSpPr/>
            <p:nvPr/>
          </p:nvSpPr>
          <p:spPr>
            <a:xfrm>
              <a:off x="6534150" y="2400300"/>
              <a:ext cx="57150" cy="228600"/>
            </a:xfrm>
            <a:prstGeom prst="rect">
              <a:avLst/>
            </a:prstGeom>
            <a:solidFill>
              <a:srgbClr val="00A6A6"/>
            </a:solidFill>
            <a:ln>
              <a:noFill/>
            </a:ln>
          </p:spPr>
        </p:sp>
        <p:sp>
          <p:nvSpPr>
            <p:cNvPr id="21" name="TextBox 21"/>
            <p:cNvSpPr txBox="1"/>
            <p:nvPr/>
          </p:nvSpPr>
          <p:spPr>
            <a:xfrm>
              <a:off x="6679692" y="2426018"/>
              <a:ext cx="339090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Daha az ağaçla hızlı yakınsama sağlar</a:t>
              </a:r>
            </a:p>
          </p:txBody>
        </p:sp>
        <p:sp>
          <p:nvSpPr>
            <p:cNvPr id="22" name="Rectangle 22"/>
            <p:cNvSpPr/>
            <p:nvPr/>
          </p:nvSpPr>
          <p:spPr>
            <a:xfrm>
              <a:off x="6534150" y="2705100"/>
              <a:ext cx="57150" cy="228600"/>
            </a:xfrm>
            <a:prstGeom prst="rect">
              <a:avLst/>
            </a:prstGeom>
            <a:solidFill>
              <a:srgbClr val="52616B"/>
            </a:solidFill>
            <a:ln>
              <a:noFill/>
            </a:ln>
          </p:spPr>
        </p:sp>
        <p:sp>
          <p:nvSpPr>
            <p:cNvPr id="23" name="TextBox 23"/>
            <p:cNvSpPr txBox="1"/>
            <p:nvPr/>
          </p:nvSpPr>
          <p:spPr>
            <a:xfrm>
              <a:off x="6679692" y="2730818"/>
              <a:ext cx="398133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Artıkları agresif biçimde kapatmaya çalışır</a:t>
              </a:r>
            </a:p>
          </p:txBody>
        </p:sp>
        <p:sp>
          <p:nvSpPr>
            <p:cNvPr id="24" name="Rectangle 24"/>
            <p:cNvSpPr/>
            <p:nvPr/>
          </p:nvSpPr>
          <p:spPr>
            <a:xfrm>
              <a:off x="6534150" y="3009900"/>
              <a:ext cx="57150" cy="228600"/>
            </a:xfrm>
            <a:prstGeom prst="rect">
              <a:avLst/>
            </a:prstGeom>
            <a:solidFill>
              <a:srgbClr val="52616B"/>
            </a:solidFill>
            <a:ln>
              <a:noFill/>
            </a:ln>
          </p:spPr>
        </p:sp>
        <p:sp>
          <p:nvSpPr>
            <p:cNvPr id="25" name="TextBox 25"/>
            <p:cNvSpPr txBox="1"/>
            <p:nvPr/>
          </p:nvSpPr>
          <p:spPr>
            <a:xfrm>
              <a:off x="6679692" y="3035618"/>
              <a:ext cx="465397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Eğitim verisine aşırı uyum (overfitting) riski artar</a:t>
              </a:r>
            </a:p>
          </p:txBody>
        </p:sp>
      </p:grpSp>
      <p:grpSp>
        <p:nvGrpSpPr>
          <p:cNvPr id="30" name="relationship"/>
          <p:cNvGrpSpPr/>
          <p:nvPr/>
        </p:nvGrpSpPr>
        <p:grpSpPr>
          <a:xfrm>
            <a:off x="609600" y="3752850"/>
            <a:ext cx="10972800" cy="876300"/>
            <a:chOff x="609600" y="3752850"/>
            <a:chExt cx="10972800" cy="876300"/>
          </a:xfrm>
        </p:grpSpPr>
        <p:sp>
          <p:nvSpPr>
            <p:cNvPr id="27" name="Rectangle 27"/>
            <p:cNvSpPr/>
            <p:nvPr/>
          </p:nvSpPr>
          <p:spPr>
            <a:xfrm>
              <a:off x="609600" y="3752850"/>
              <a:ext cx="10972800" cy="876300"/>
            </a:xfrm>
            <a:prstGeom prst="roundRect">
              <a:avLst>
                <a:gd name="adj" fmla="val 8696"/>
              </a:avLst>
            </a:prstGeom>
            <a:solidFill>
              <a:srgbClr val="EAF4F6"/>
            </a:solidFill>
            <a:ln>
              <a:noFill/>
            </a:ln>
          </p:spPr>
        </p:sp>
        <p:sp>
          <p:nvSpPr>
            <p:cNvPr id="28" name="TextBox 28"/>
            <p:cNvSpPr txBox="1"/>
            <p:nvPr/>
          </p:nvSpPr>
          <p:spPr>
            <a:xfrm>
              <a:off x="906780" y="3876675"/>
              <a:ext cx="3371797"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İki parametre birlikte ayarlanır</a:t>
              </a:r>
            </a:p>
          </p:txBody>
        </p:sp>
        <p:sp>
          <p:nvSpPr>
            <p:cNvPr id="29" name="TextBox 29"/>
            <p:cNvSpPr txBox="1"/>
            <p:nvPr/>
          </p:nvSpPr>
          <p:spPr>
            <a:xfrm>
              <a:off x="908304" y="4137660"/>
              <a:ext cx="5856732" cy="434721"/>
            </a:xfrm>
            <a:prstGeom prst="rect">
              <a:avLst/>
            </a:prstGeom>
            <a:noFill/>
            <a:ln>
              <a:noFill/>
            </a:ln>
          </p:spPr>
          <p:txBody>
            <a:bodyPr wrap="none" lIns="0" tIns="0" rIns="0" bIns="0" anchor="t" anchorCtr="0">
              <a:spAutoFit/>
            </a:bodyPr>
            <a:lstStyle/>
            <a:p>
              <a:pPr algn="l">
                <a:lnSpc>
                  <a:spcPts val="1575"/>
                </a:lnSpc>
              </a:pPr>
              <a:r>
                <a:rPr lang="tr-TR" sz="1200" dirty="0">
                  <a:solidFill>
                    <a:srgbClr val="172B3A"/>
                  </a:solidFill>
                  <a:latin typeface="+mn-lt"/>
                  <a:ea typeface="+mn-ea"/>
                  <a:cs typeface="+mn-cs"/>
                </a:rPr>
                <a:t>Öğrenme oranı düşürüldüğünde ağaç sayısının artırılması, aksi hâlde modelin</a:t>
              </a:r>
              <a:br/>
              <a:r>
                <a:rPr lang="tr-TR" sz="1200" dirty="0">
                  <a:solidFill>
                    <a:srgbClr val="172B3A"/>
                  </a:solidFill>
                  <a:latin typeface="+mn-lt"/>
                  <a:ea typeface="+mn-ea"/>
                  <a:cs typeface="+mn-cs"/>
                </a:rPr>
                <a:t>yeterince yakınsayamamasını (underfitting) önler.</a:t>
              </a:r>
            </a:p>
          </p:txBody>
        </p:sp>
      </p:grpSp>
      <p:grpSp>
        <p:nvGrpSpPr>
          <p:cNvPr id="35" name="caution"/>
          <p:cNvGrpSpPr/>
          <p:nvPr/>
        </p:nvGrpSpPr>
        <p:grpSpPr>
          <a:xfrm>
            <a:off x="609600" y="4705350"/>
            <a:ext cx="10972800" cy="975551"/>
            <a:chOff x="609600" y="4705350"/>
            <a:chExt cx="10972800" cy="975551"/>
          </a:xfrm>
        </p:grpSpPr>
        <p:sp>
          <p:nvSpPr>
            <p:cNvPr id="31" name="Rectangle 31"/>
            <p:cNvSpPr/>
            <p:nvPr/>
          </p:nvSpPr>
          <p:spPr>
            <a:xfrm>
              <a:off x="609600" y="4705350"/>
              <a:ext cx="10972800" cy="952500"/>
            </a:xfrm>
            <a:prstGeom prst="roundRect">
              <a:avLst>
                <a:gd name="adj" fmla="val 8000"/>
              </a:avLst>
            </a:prstGeom>
            <a:solidFill>
              <a:srgbClr val="FFFFFF"/>
            </a:solidFill>
            <a:ln w="14288">
              <a:solidFill>
                <a:srgbClr val="B8CBD3"/>
              </a:solidFill>
            </a:ln>
          </p:spPr>
        </p:sp>
        <p:sp>
          <p:nvSpPr>
            <p:cNvPr id="32" name="Rectangle 32"/>
            <p:cNvSpPr/>
            <p:nvPr/>
          </p:nvSpPr>
          <p:spPr>
            <a:xfrm>
              <a:off x="609600" y="4705350"/>
              <a:ext cx="57150" cy="952500"/>
            </a:xfrm>
            <a:prstGeom prst="rect">
              <a:avLst/>
            </a:prstGeom>
            <a:solidFill>
              <a:srgbClr val="52616B"/>
            </a:solidFill>
            <a:ln>
              <a:noFill/>
            </a:ln>
          </p:spPr>
        </p:sp>
        <p:sp>
          <p:nvSpPr>
            <p:cNvPr id="33" name="TextBox 33"/>
            <p:cNvSpPr txBox="1"/>
            <p:nvPr/>
          </p:nvSpPr>
          <p:spPr>
            <a:xfrm>
              <a:off x="906399" y="4878229"/>
              <a:ext cx="70359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Dikkat</a:t>
              </a:r>
            </a:p>
          </p:txBody>
        </p:sp>
        <p:sp>
          <p:nvSpPr>
            <p:cNvPr id="34" name="TextBox 34"/>
            <p:cNvSpPr txBox="1"/>
            <p:nvPr/>
          </p:nvSpPr>
          <p:spPr>
            <a:xfrm>
              <a:off x="907542" y="5188268"/>
              <a:ext cx="7591806" cy="4926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Öğrenme oranını düşürüp ağaç sayısını sabit bırakmak, modelin yakınsamadan durmasına</a:t>
              </a:r>
              <a:br/>
              <a:r>
                <a:rPr lang="tr-TR" sz="1350" dirty="0">
                  <a:solidFill>
                    <a:srgbClr val="172B3A"/>
                  </a:solidFill>
                  <a:latin typeface="+mn-lt"/>
                  <a:ea typeface="+mn-ea"/>
                  <a:cs typeface="+mn-cs"/>
                </a:rPr>
                <a:t>(underfitting) yol açar; iki parametre daima birlikte değerlendirilmelidir.</a:t>
              </a:r>
            </a:p>
          </p:txBody>
        </p:sp>
      </p:grpSp>
      <p:sp>
        <p:nvSpPr>
          <p:cNvPr id="36" name="TextBox 3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25</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865480" cy="668845"/>
            <a:chOff x="609600" y="171450"/>
            <a:chExt cx="886548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817510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 — Gradyan artırmayı elle uygulamak</a:t>
              </a:r>
            </a:p>
          </p:txBody>
        </p:sp>
      </p:grpSp>
      <p:grpSp>
        <p:nvGrpSpPr>
          <p:cNvPr id="13" name="meta-strip"/>
          <p:cNvGrpSpPr/>
          <p:nvPr/>
        </p:nvGrpSpPr>
        <p:grpSpPr>
          <a:xfrm>
            <a:off x="603504" y="1203960"/>
            <a:ext cx="9118311" cy="234696"/>
            <a:chOff x="603504" y="1203960"/>
            <a:chExt cx="9118311" cy="234696"/>
          </a:xfrm>
        </p:grpSpPr>
        <p:sp>
          <p:nvSpPr>
            <p:cNvPr id="12" name="TextBox 12"/>
            <p:cNvSpPr txBox="1"/>
            <p:nvPr/>
          </p:nvSpPr>
          <p:spPr>
            <a:xfrm>
              <a:off x="603504" y="1203960"/>
              <a:ext cx="911831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Girdi: sin fonksiyonuna gürültü eklenmiş 80 gözlem · Beklenen çıktı: 5 iterasyon boyunca azalan ortalama kare hata</a:t>
              </a:r>
            </a:p>
          </p:txBody>
        </p:sp>
      </p:grpSp>
      <p:grpSp>
        <p:nvGrpSpPr>
          <p:cNvPr id="27" name="code-panel"/>
          <p:cNvGrpSpPr/>
          <p:nvPr/>
        </p:nvGrpSpPr>
        <p:grpSpPr>
          <a:xfrm>
            <a:off x="609600" y="1638300"/>
            <a:ext cx="6477000" cy="4114800"/>
            <a:chOff x="609600" y="1638300"/>
            <a:chExt cx="6477000" cy="4114800"/>
          </a:xfrm>
        </p:grpSpPr>
        <p:sp>
          <p:nvSpPr>
            <p:cNvPr id="14" name="Rectangle 14"/>
            <p:cNvSpPr/>
            <p:nvPr/>
          </p:nvSpPr>
          <p:spPr>
            <a:xfrm>
              <a:off x="609600" y="1638300"/>
              <a:ext cx="6477000" cy="4114800"/>
            </a:xfrm>
            <a:prstGeom prst="roundRect">
              <a:avLst>
                <a:gd name="adj" fmla="val 2315"/>
              </a:avLst>
            </a:prstGeom>
            <a:solidFill>
              <a:srgbClr val="12355B"/>
            </a:solidFill>
            <a:ln>
              <a:noFill/>
            </a:ln>
          </p:spPr>
        </p:sp>
        <p:sp>
          <p:nvSpPr>
            <p:cNvPr id="15" name="TextBox 15"/>
            <p:cNvSpPr txBox="1"/>
            <p:nvPr/>
          </p:nvSpPr>
          <p:spPr>
            <a:xfrm>
              <a:off x="870204" y="1870710"/>
              <a:ext cx="5538492" cy="234696"/>
            </a:xfrm>
            <a:prstGeom prst="rect">
              <a:avLst/>
            </a:prstGeom>
            <a:noFill/>
            <a:ln>
              <a:noFill/>
            </a:ln>
          </p:spPr>
          <p:txBody>
            <a:bodyPr wrap="none" lIns="0" tIns="0" rIns="0" bIns="0" anchor="t" anchorCtr="0">
              <a:spAutoFit/>
            </a:bodyPr>
            <a:lstStyle/>
            <a:p>
              <a:pPr algn="l"/>
              <a:r>
                <a:rPr lang="tr-TR" sz="1200" dirty="0">
                  <a:solidFill>
                    <a:srgbClr val="2E86AB"/>
                  </a:solidFill>
                  <a:latin typeface="+mn-lt"/>
                  <a:ea typeface="+mn-ea"/>
                  <a:cs typeface="+mn-cs"/>
                </a:rPr>
                <a:t>toplamTahmin = np.full(hedefDegerler.shape, hedefDegerler.mean())</a:t>
              </a:r>
            </a:p>
          </p:txBody>
        </p:sp>
        <p:sp>
          <p:nvSpPr>
            <p:cNvPr id="16" name="TextBox 16"/>
            <p:cNvSpPr txBox="1"/>
            <p:nvPr/>
          </p:nvSpPr>
          <p:spPr>
            <a:xfrm>
              <a:off x="870204" y="2156460"/>
              <a:ext cx="1562214"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mn-lt"/>
                  <a:ea typeface="+mn-ea"/>
                  <a:cs typeface="+mn-cs"/>
                </a:rPr>
                <a:t>ogrenmeOrani = 0.3</a:t>
              </a:r>
            </a:p>
          </p:txBody>
        </p:sp>
        <p:sp>
          <p:nvSpPr>
            <p:cNvPr id="17" name="TextBox 17"/>
            <p:cNvSpPr txBox="1"/>
            <p:nvPr/>
          </p:nvSpPr>
          <p:spPr>
            <a:xfrm>
              <a:off x="870204" y="2442210"/>
              <a:ext cx="1100663"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mn-lt"/>
                  <a:ea typeface="+mn-ea"/>
                  <a:cs typeface="+mn-cs"/>
                </a:rPr>
                <a:t>agacSayisi = 5</a:t>
              </a:r>
            </a:p>
          </p:txBody>
        </p:sp>
        <p:sp>
          <p:nvSpPr>
            <p:cNvPr id="18" name="TextBox 18"/>
            <p:cNvSpPr txBox="1"/>
            <p:nvPr/>
          </p:nvSpPr>
          <p:spPr>
            <a:xfrm>
              <a:off x="870204" y="2823210"/>
              <a:ext cx="2432971"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for adim in range(agacSayisi):</a:t>
              </a:r>
            </a:p>
          </p:txBody>
        </p:sp>
        <p:sp>
          <p:nvSpPr>
            <p:cNvPr id="19" name="TextBox 19"/>
            <p:cNvSpPr txBox="1"/>
            <p:nvPr/>
          </p:nvSpPr>
          <p:spPr>
            <a:xfrm>
              <a:off x="1098804" y="3108960"/>
              <a:ext cx="332414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artikHata = hedefDegerler - toplamTahmin</a:t>
              </a:r>
            </a:p>
          </p:txBody>
        </p:sp>
        <p:sp>
          <p:nvSpPr>
            <p:cNvPr id="20" name="TextBox 20"/>
            <p:cNvSpPr txBox="1"/>
            <p:nvPr/>
          </p:nvSpPr>
          <p:spPr>
            <a:xfrm>
              <a:off x="1098804" y="3394710"/>
              <a:ext cx="377545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sigAgac = DecisionTreeRegressor(max_depth=2)</a:t>
              </a:r>
            </a:p>
          </p:txBody>
        </p:sp>
        <p:sp>
          <p:nvSpPr>
            <p:cNvPr id="21" name="TextBox 21"/>
            <p:cNvSpPr txBox="1"/>
            <p:nvPr/>
          </p:nvSpPr>
          <p:spPr>
            <a:xfrm>
              <a:off x="1098804" y="3680460"/>
              <a:ext cx="308108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sigAgac.fit(girisDegerleri, artikHata)</a:t>
              </a:r>
            </a:p>
          </p:txBody>
        </p:sp>
        <p:sp>
          <p:nvSpPr>
            <p:cNvPr id="22" name="TextBox 22"/>
            <p:cNvSpPr txBox="1"/>
            <p:nvPr/>
          </p:nvSpPr>
          <p:spPr>
            <a:xfrm>
              <a:off x="1098804" y="3966210"/>
              <a:ext cx="514732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toplamTahmin += ogrenmeOrani * sigAgac.predict(girisDegerleri)</a:t>
              </a:r>
            </a:p>
          </p:txBody>
        </p:sp>
        <p:sp>
          <p:nvSpPr>
            <p:cNvPr id="23" name="TextBox 23"/>
            <p:cNvSpPr txBox="1"/>
            <p:nvPr/>
          </p:nvSpPr>
          <p:spPr>
            <a:xfrm>
              <a:off x="1098804" y="4251960"/>
              <a:ext cx="519892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kalanHataKaresi = np.mean((hedefDegerler - toplamTahmin) ** 2)</a:t>
              </a:r>
            </a:p>
          </p:txBody>
        </p:sp>
        <p:sp>
          <p:nvSpPr>
            <p:cNvPr id="24" name="TextBox 24"/>
            <p:cNvSpPr txBox="1"/>
            <p:nvPr/>
          </p:nvSpPr>
          <p:spPr>
            <a:xfrm>
              <a:off x="1098804" y="4537710"/>
              <a:ext cx="563846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print(f"Adım {adim+1}: ortalama kare hata = {kalanHataKaresi:.4f}")</a:t>
              </a:r>
            </a:p>
          </p:txBody>
        </p:sp>
        <p:sp>
          <p:nvSpPr>
            <p:cNvPr id="25" name="TextBox 25"/>
            <p:cNvSpPr txBox="1"/>
            <p:nvPr/>
          </p:nvSpPr>
          <p:spPr>
            <a:xfrm>
              <a:off x="870204" y="5204460"/>
              <a:ext cx="612970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Her adımda artık, mevcut modelin ne kadar yanıldığını gösterir; sığAgac bu</a:t>
              </a:r>
            </a:p>
          </p:txBody>
        </p:sp>
        <p:sp>
          <p:nvSpPr>
            <p:cNvPr id="26" name="TextBox 26"/>
            <p:cNvSpPr txBox="1"/>
            <p:nvPr/>
          </p:nvSpPr>
          <p:spPr>
            <a:xfrm>
              <a:off x="870204" y="5452110"/>
              <a:ext cx="565007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artığa fit edilerek toplam tahmine öğrenme oranıyla ölçeklenip eklenir.</a:t>
              </a:r>
            </a:p>
          </p:txBody>
        </p:sp>
      </p:grpSp>
      <p:grpSp>
        <p:nvGrpSpPr>
          <p:cNvPr id="36" name="output-panel"/>
          <p:cNvGrpSpPr/>
          <p:nvPr/>
        </p:nvGrpSpPr>
        <p:grpSpPr>
          <a:xfrm>
            <a:off x="7239000" y="1638300"/>
            <a:ext cx="4343400" cy="1981200"/>
            <a:chOff x="7239000" y="1638300"/>
            <a:chExt cx="4343400" cy="1981200"/>
          </a:xfrm>
        </p:grpSpPr>
        <p:sp>
          <p:nvSpPr>
            <p:cNvPr id="28" name="Rectangle 28"/>
            <p:cNvSpPr/>
            <p:nvPr/>
          </p:nvSpPr>
          <p:spPr>
            <a:xfrm>
              <a:off x="7239000" y="1638300"/>
              <a:ext cx="4343400" cy="1981200"/>
            </a:xfrm>
            <a:prstGeom prst="roundRect">
              <a:avLst>
                <a:gd name="adj" fmla="val 4808"/>
              </a:avLst>
            </a:prstGeom>
            <a:solidFill>
              <a:srgbClr val="FFFFFF"/>
            </a:solidFill>
            <a:ln w="14288">
              <a:solidFill>
                <a:srgbClr val="B8CBD3"/>
              </a:solidFill>
            </a:ln>
          </p:spPr>
        </p:sp>
        <p:sp>
          <p:nvSpPr>
            <p:cNvPr id="29" name="Rectangle 29"/>
            <p:cNvSpPr/>
            <p:nvPr/>
          </p:nvSpPr>
          <p:spPr>
            <a:xfrm>
              <a:off x="7239000" y="1638300"/>
              <a:ext cx="4343400" cy="323850"/>
            </a:xfrm>
            <a:prstGeom prst="rect">
              <a:avLst/>
            </a:prstGeom>
            <a:solidFill>
              <a:srgbClr val="EAF4F6"/>
            </a:solidFill>
            <a:ln>
              <a:noFill/>
            </a:ln>
          </p:spPr>
        </p:sp>
        <p:sp>
          <p:nvSpPr>
            <p:cNvPr id="30" name="TextBox 30"/>
            <p:cNvSpPr txBox="1"/>
            <p:nvPr/>
          </p:nvSpPr>
          <p:spPr>
            <a:xfrm>
              <a:off x="7461504" y="1727835"/>
              <a:ext cx="458114" cy="234696"/>
            </a:xfrm>
            <a:prstGeom prst="rect">
              <a:avLst/>
            </a:prstGeom>
            <a:noFill/>
            <a:ln>
              <a:noFill/>
            </a:ln>
          </p:spPr>
          <p:txBody>
            <a:bodyPr wrap="none" lIns="0" tIns="0" rIns="0" bIns="0" anchor="t" anchorCtr="0">
              <a:spAutoFit/>
            </a:bodyPr>
            <a:lstStyle/>
            <a:p>
              <a:pPr algn="l"/>
              <a:r>
                <a:rPr lang="tr-TR" sz="1200" b="1" spc="75" dirty="0">
                  <a:solidFill>
                    <a:srgbClr val="12355B"/>
                  </a:solidFill>
                  <a:latin typeface="+mn-lt"/>
                  <a:ea typeface="+mn-ea"/>
                  <a:cs typeface="+mn-cs"/>
                </a:rPr>
                <a:t>ÇIKTI</a:t>
              </a:r>
            </a:p>
          </p:txBody>
        </p:sp>
        <p:sp>
          <p:nvSpPr>
            <p:cNvPr id="31" name="TextBox 31"/>
            <p:cNvSpPr txBox="1"/>
            <p:nvPr/>
          </p:nvSpPr>
          <p:spPr>
            <a:xfrm>
              <a:off x="7461504" y="2080260"/>
              <a:ext cx="291201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Adım 1: ortalama kare hata = 0,2952</a:t>
              </a:r>
            </a:p>
          </p:txBody>
        </p:sp>
        <p:sp>
          <p:nvSpPr>
            <p:cNvPr id="32" name="TextBox 32"/>
            <p:cNvSpPr txBox="1"/>
            <p:nvPr/>
          </p:nvSpPr>
          <p:spPr>
            <a:xfrm>
              <a:off x="7461504" y="2346960"/>
              <a:ext cx="291201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Adım 2: ortalama kare hata = 0,2138</a:t>
              </a:r>
            </a:p>
          </p:txBody>
        </p:sp>
        <p:sp>
          <p:nvSpPr>
            <p:cNvPr id="33" name="TextBox 33"/>
            <p:cNvSpPr txBox="1"/>
            <p:nvPr/>
          </p:nvSpPr>
          <p:spPr>
            <a:xfrm>
              <a:off x="7461504" y="2613660"/>
              <a:ext cx="291201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Adım 3: ortalama kare hata = 0,1587</a:t>
              </a:r>
            </a:p>
          </p:txBody>
        </p:sp>
        <p:sp>
          <p:nvSpPr>
            <p:cNvPr id="34" name="TextBox 34"/>
            <p:cNvSpPr txBox="1"/>
            <p:nvPr/>
          </p:nvSpPr>
          <p:spPr>
            <a:xfrm>
              <a:off x="7461504" y="2880360"/>
              <a:ext cx="291201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Adım 4: ortalama kare hata = 0,1201</a:t>
              </a:r>
            </a:p>
          </p:txBody>
        </p:sp>
        <p:sp>
          <p:nvSpPr>
            <p:cNvPr id="35" name="TextBox 35"/>
            <p:cNvSpPr txBox="1"/>
            <p:nvPr/>
          </p:nvSpPr>
          <p:spPr>
            <a:xfrm>
              <a:off x="7461504" y="3147060"/>
              <a:ext cx="291201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Adım 5: ortalama kare hata = 0,0933</a:t>
              </a:r>
            </a:p>
          </p:txBody>
        </p:sp>
      </p:grpSp>
      <p:grpSp>
        <p:nvGrpSpPr>
          <p:cNvPr id="40" name="interpretation"/>
          <p:cNvGrpSpPr/>
          <p:nvPr/>
        </p:nvGrpSpPr>
        <p:grpSpPr>
          <a:xfrm>
            <a:off x="7239000" y="3771900"/>
            <a:ext cx="4343400" cy="1981200"/>
            <a:chOff x="7239000" y="3771900"/>
            <a:chExt cx="4343400" cy="1981200"/>
          </a:xfrm>
        </p:grpSpPr>
        <p:sp>
          <p:nvSpPr>
            <p:cNvPr id="37" name="Rectangle 37"/>
            <p:cNvSpPr/>
            <p:nvPr/>
          </p:nvSpPr>
          <p:spPr>
            <a:xfrm>
              <a:off x="7239000" y="3771900"/>
              <a:ext cx="4343400" cy="1981200"/>
            </a:xfrm>
            <a:prstGeom prst="roundRect">
              <a:avLst>
                <a:gd name="adj" fmla="val 4808"/>
              </a:avLst>
            </a:prstGeom>
            <a:solidFill>
              <a:srgbClr val="EAF4F6"/>
            </a:solidFill>
            <a:ln>
              <a:noFill/>
            </a:ln>
          </p:spPr>
        </p:sp>
        <p:sp>
          <p:nvSpPr>
            <p:cNvPr id="38" name="TextBox 38"/>
            <p:cNvSpPr txBox="1"/>
            <p:nvPr/>
          </p:nvSpPr>
          <p:spPr>
            <a:xfrm>
              <a:off x="7459599" y="3925729"/>
              <a:ext cx="250281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Bu çıktı ne anlatıyor?</a:t>
              </a:r>
            </a:p>
          </p:txBody>
        </p:sp>
        <p:sp>
          <p:nvSpPr>
            <p:cNvPr id="39" name="TextBox 39"/>
            <p:cNvSpPr txBox="1"/>
            <p:nvPr/>
          </p:nvSpPr>
          <p:spPr>
            <a:xfrm>
              <a:off x="7461504" y="4251960"/>
              <a:ext cx="2763012" cy="10728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Azalan hata dizisi, her ağacın toplam</a:t>
              </a:r>
              <a:br/>
              <a:r>
                <a:rPr lang="tr-TR" sz="1200" dirty="0">
                  <a:solidFill>
                    <a:srgbClr val="172B3A"/>
                  </a:solidFill>
                  <a:latin typeface="+mn-lt"/>
                  <a:ea typeface="+mn-ea"/>
                  <a:cs typeface="+mn-cs"/>
                </a:rPr>
                <a:t>modele küçük ama tutarlı bir katkı</a:t>
              </a:r>
              <a:br/>
              <a:r>
                <a:rPr lang="tr-TR" sz="1200" dirty="0">
                  <a:solidFill>
                    <a:srgbClr val="172B3A"/>
                  </a:solidFill>
                  <a:latin typeface="+mn-lt"/>
                  <a:ea typeface="+mn-ea"/>
                  <a:cs typeface="+mn-cs"/>
                </a:rPr>
                <a:t>yaptığını doğrular — beşinci adımda</a:t>
              </a:r>
              <a:br/>
              <a:r>
                <a:rPr lang="tr-TR" sz="1200" dirty="0">
                  <a:solidFill>
                    <a:srgbClr val="172B3A"/>
                  </a:solidFill>
                  <a:latin typeface="+mn-lt"/>
                  <a:ea typeface="+mn-ea"/>
                  <a:cs typeface="+mn-cs"/>
                </a:rPr>
                <a:t>hata, birinci adımın yaklaşık üçte</a:t>
              </a:r>
              <a:br/>
              <a:r>
                <a:rPr lang="tr-TR" sz="1200" dirty="0">
                  <a:solidFill>
                    <a:srgbClr val="172B3A"/>
                  </a:solidFill>
                  <a:latin typeface="+mn-lt"/>
                  <a:ea typeface="+mn-ea"/>
                  <a:cs typeface="+mn-cs"/>
                </a:rPr>
                <a:t>birine inmiştir.</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25</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363289" cy="668845"/>
            <a:chOff x="609600" y="171450"/>
            <a:chExt cx="7363289"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667291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2 — XGBoost ile sınıflandırma</a:t>
              </a:r>
            </a:p>
          </p:txBody>
        </p:sp>
      </p:grpSp>
      <p:grpSp>
        <p:nvGrpSpPr>
          <p:cNvPr id="13" name="meta-strip"/>
          <p:cNvGrpSpPr/>
          <p:nvPr/>
        </p:nvGrpSpPr>
        <p:grpSpPr>
          <a:xfrm>
            <a:off x="603504" y="1203960"/>
            <a:ext cx="9759528" cy="234696"/>
            <a:chOff x="603504" y="1203960"/>
            <a:chExt cx="9759528" cy="234696"/>
          </a:xfrm>
        </p:grpSpPr>
        <p:sp>
          <p:nvSpPr>
            <p:cNvPr id="12" name="TextBox 12"/>
            <p:cNvSpPr txBox="1"/>
            <p:nvPr/>
          </p:nvSpPr>
          <p:spPr>
            <a:xfrm>
              <a:off x="603504" y="1203960"/>
              <a:ext cx="975952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Girdi: weights=[0.75, 0.25] ile 2000 gözlem, n_estimators=200, max_depth=4 · Beklenen çıktı: doğruluk ve öznitelik önemi</a:t>
              </a:r>
            </a:p>
          </p:txBody>
        </p:sp>
      </p:grpSp>
      <p:grpSp>
        <p:nvGrpSpPr>
          <p:cNvPr id="28" name="code-panel"/>
          <p:cNvGrpSpPr/>
          <p:nvPr/>
        </p:nvGrpSpPr>
        <p:grpSpPr>
          <a:xfrm>
            <a:off x="609600" y="1638300"/>
            <a:ext cx="6477000" cy="4114800"/>
            <a:chOff x="609600" y="1638300"/>
            <a:chExt cx="6477000" cy="4114800"/>
          </a:xfrm>
        </p:grpSpPr>
        <p:sp>
          <p:nvSpPr>
            <p:cNvPr id="14" name="Rectangle 14"/>
            <p:cNvSpPr/>
            <p:nvPr/>
          </p:nvSpPr>
          <p:spPr>
            <a:xfrm>
              <a:off x="609600" y="1638300"/>
              <a:ext cx="6477000" cy="4114800"/>
            </a:xfrm>
            <a:prstGeom prst="roundRect">
              <a:avLst>
                <a:gd name="adj" fmla="val 2315"/>
              </a:avLst>
            </a:prstGeom>
            <a:solidFill>
              <a:srgbClr val="12355B"/>
            </a:solidFill>
            <a:ln>
              <a:noFill/>
            </a:ln>
          </p:spPr>
        </p:sp>
        <p:sp>
          <p:nvSpPr>
            <p:cNvPr id="15" name="TextBox 15"/>
            <p:cNvSpPr txBox="1"/>
            <p:nvPr/>
          </p:nvSpPr>
          <p:spPr>
            <a:xfrm>
              <a:off x="870204" y="1870710"/>
              <a:ext cx="4004735" cy="234696"/>
            </a:xfrm>
            <a:prstGeom prst="rect">
              <a:avLst/>
            </a:prstGeom>
            <a:noFill/>
            <a:ln>
              <a:noFill/>
            </a:ln>
          </p:spPr>
          <p:txBody>
            <a:bodyPr wrap="none" lIns="0" tIns="0" rIns="0" bIns="0" anchor="t" anchorCtr="0">
              <a:spAutoFit/>
            </a:bodyPr>
            <a:lstStyle/>
            <a:p>
              <a:pPr algn="l"/>
              <a:r>
                <a:rPr lang="tr-TR" sz="1200" dirty="0">
                  <a:solidFill>
                    <a:srgbClr val="2E86AB"/>
                  </a:solidFill>
                  <a:latin typeface="+mn-lt"/>
                  <a:ea typeface="+mn-ea"/>
                  <a:cs typeface="+mn-cs"/>
                </a:rPr>
                <a:t>ozellikMatrisi, hedefEtiket = make_classification(</a:t>
              </a:r>
            </a:p>
          </p:txBody>
        </p:sp>
        <p:sp>
          <p:nvSpPr>
            <p:cNvPr id="16" name="TextBox 16"/>
            <p:cNvSpPr txBox="1"/>
            <p:nvPr/>
          </p:nvSpPr>
          <p:spPr>
            <a:xfrm>
              <a:off x="1098804" y="2137410"/>
              <a:ext cx="320268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n_samples=2000, weights=[0.75, 0.25])</a:t>
              </a:r>
            </a:p>
          </p:txBody>
        </p:sp>
        <p:sp>
          <p:nvSpPr>
            <p:cNvPr id="17" name="TextBox 17"/>
            <p:cNvSpPr txBox="1"/>
            <p:nvPr/>
          </p:nvSpPr>
          <p:spPr>
            <a:xfrm>
              <a:off x="870204" y="2442210"/>
              <a:ext cx="2050520"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xgbModel = XGBClassifier(</a:t>
              </a:r>
            </a:p>
          </p:txBody>
        </p:sp>
        <p:sp>
          <p:nvSpPr>
            <p:cNvPr id="18" name="TextBox 18"/>
            <p:cNvSpPr txBox="1"/>
            <p:nvPr/>
          </p:nvSpPr>
          <p:spPr>
            <a:xfrm>
              <a:off x="1098804" y="2708910"/>
              <a:ext cx="2661514"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n_estimators=200, max_depth=4,</a:t>
              </a:r>
            </a:p>
          </p:txBody>
        </p:sp>
        <p:sp>
          <p:nvSpPr>
            <p:cNvPr id="19" name="TextBox 19"/>
            <p:cNvSpPr txBox="1"/>
            <p:nvPr/>
          </p:nvSpPr>
          <p:spPr>
            <a:xfrm>
              <a:off x="1098804" y="2975610"/>
              <a:ext cx="281498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learning_rate=0.1, subsample=0.8)</a:t>
              </a:r>
            </a:p>
          </p:txBody>
        </p:sp>
        <p:sp>
          <p:nvSpPr>
            <p:cNvPr id="20" name="TextBox 20"/>
            <p:cNvSpPr txBox="1"/>
            <p:nvPr/>
          </p:nvSpPr>
          <p:spPr>
            <a:xfrm>
              <a:off x="870204" y="3280410"/>
              <a:ext cx="250873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xgbModel.fit(egitimX, egitimY)</a:t>
              </a:r>
            </a:p>
          </p:txBody>
        </p:sp>
        <p:sp>
          <p:nvSpPr>
            <p:cNvPr id="21" name="TextBox 21"/>
            <p:cNvSpPr txBox="1"/>
            <p:nvPr/>
          </p:nvSpPr>
          <p:spPr>
            <a:xfrm>
              <a:off x="870204" y="3585210"/>
              <a:ext cx="345354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tahminSonuclari = xgbModel.predict(testX)</a:t>
              </a:r>
            </a:p>
          </p:txBody>
        </p:sp>
        <p:sp>
          <p:nvSpPr>
            <p:cNvPr id="22" name="TextBox 22"/>
            <p:cNvSpPr txBox="1"/>
            <p:nvPr/>
          </p:nvSpPr>
          <p:spPr>
            <a:xfrm>
              <a:off x="870204" y="3890010"/>
              <a:ext cx="362564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siraIndeksi = xgbModel.feature_importances_</a:t>
              </a:r>
            </a:p>
          </p:txBody>
        </p:sp>
        <p:sp>
          <p:nvSpPr>
            <p:cNvPr id="23" name="TextBox 23"/>
            <p:cNvSpPr txBox="1"/>
            <p:nvPr/>
          </p:nvSpPr>
          <p:spPr>
            <a:xfrm>
              <a:off x="1098804" y="4156710"/>
              <a:ext cx="178917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.argsort()[::-1][:3]</a:t>
              </a:r>
            </a:p>
          </p:txBody>
        </p:sp>
        <p:sp>
          <p:nvSpPr>
            <p:cNvPr id="24" name="TextBox 24"/>
            <p:cNvSpPr txBox="1"/>
            <p:nvPr/>
          </p:nvSpPr>
          <p:spPr>
            <a:xfrm>
              <a:off x="870204" y="4537710"/>
              <a:ext cx="393771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subsample=0.8, her ağacın verinin yalnızca %80'i</a:t>
              </a:r>
            </a:p>
          </p:txBody>
        </p:sp>
        <p:sp>
          <p:nvSpPr>
            <p:cNvPr id="25" name="TextBox 25"/>
            <p:cNvSpPr txBox="1"/>
            <p:nvPr/>
          </p:nvSpPr>
          <p:spPr>
            <a:xfrm>
              <a:off x="870204" y="4785360"/>
              <a:ext cx="444657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üzerinde eğitilmesini zorunlu kılar (satır örneklemesi).</a:t>
              </a:r>
            </a:p>
          </p:txBody>
        </p:sp>
        <p:sp>
          <p:nvSpPr>
            <p:cNvPr id="26" name="TextBox 26"/>
            <p:cNvSpPr txBox="1"/>
            <p:nvPr/>
          </p:nvSpPr>
          <p:spPr>
            <a:xfrm>
              <a:off x="870204" y="5204460"/>
              <a:ext cx="421761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stratify=hedefEtiket, sınıf dengesizlik oranını hem</a:t>
              </a:r>
            </a:p>
          </p:txBody>
        </p:sp>
        <p:sp>
          <p:nvSpPr>
            <p:cNvPr id="27" name="TextBox 27"/>
            <p:cNvSpPr txBox="1"/>
            <p:nvPr/>
          </p:nvSpPr>
          <p:spPr>
            <a:xfrm>
              <a:off x="870204" y="5452110"/>
              <a:ext cx="245958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eğitim hem test setinde korur.</a:t>
              </a:r>
            </a:p>
          </p:txBody>
        </p:sp>
      </p:grpSp>
      <p:grpSp>
        <p:nvGrpSpPr>
          <p:cNvPr id="39" name="output-panel"/>
          <p:cNvGrpSpPr/>
          <p:nvPr/>
        </p:nvGrpSpPr>
        <p:grpSpPr>
          <a:xfrm>
            <a:off x="7239000" y="1638300"/>
            <a:ext cx="4343400" cy="2476500"/>
            <a:chOff x="7239000" y="1638300"/>
            <a:chExt cx="4343400" cy="2476500"/>
          </a:xfrm>
        </p:grpSpPr>
        <p:sp>
          <p:nvSpPr>
            <p:cNvPr id="29" name="Rectangle 29"/>
            <p:cNvSpPr/>
            <p:nvPr/>
          </p:nvSpPr>
          <p:spPr>
            <a:xfrm>
              <a:off x="7239000" y="1638300"/>
              <a:ext cx="4343400" cy="2476500"/>
            </a:xfrm>
            <a:prstGeom prst="roundRect">
              <a:avLst>
                <a:gd name="adj" fmla="val 3846"/>
              </a:avLst>
            </a:prstGeom>
            <a:solidFill>
              <a:srgbClr val="FFFFFF"/>
            </a:solidFill>
            <a:ln w="14288">
              <a:solidFill>
                <a:srgbClr val="B8CBD3"/>
              </a:solidFill>
            </a:ln>
          </p:spPr>
        </p:sp>
        <p:sp>
          <p:nvSpPr>
            <p:cNvPr id="30" name="Rectangle 30"/>
            <p:cNvSpPr/>
            <p:nvPr/>
          </p:nvSpPr>
          <p:spPr>
            <a:xfrm>
              <a:off x="7239000" y="1638300"/>
              <a:ext cx="4343400" cy="323850"/>
            </a:xfrm>
            <a:prstGeom prst="rect">
              <a:avLst/>
            </a:prstGeom>
            <a:solidFill>
              <a:srgbClr val="EAF4F6"/>
            </a:solidFill>
            <a:ln>
              <a:noFill/>
            </a:ln>
          </p:spPr>
        </p:sp>
        <p:sp>
          <p:nvSpPr>
            <p:cNvPr id="31" name="TextBox 31"/>
            <p:cNvSpPr txBox="1"/>
            <p:nvPr/>
          </p:nvSpPr>
          <p:spPr>
            <a:xfrm>
              <a:off x="7461504" y="1727835"/>
              <a:ext cx="458114" cy="234696"/>
            </a:xfrm>
            <a:prstGeom prst="rect">
              <a:avLst/>
            </a:prstGeom>
            <a:noFill/>
            <a:ln>
              <a:noFill/>
            </a:ln>
          </p:spPr>
          <p:txBody>
            <a:bodyPr wrap="none" lIns="0" tIns="0" rIns="0" bIns="0" anchor="t" anchorCtr="0">
              <a:spAutoFit/>
            </a:bodyPr>
            <a:lstStyle/>
            <a:p>
              <a:pPr algn="l"/>
              <a:r>
                <a:rPr lang="tr-TR" sz="1200" b="1" spc="75" dirty="0">
                  <a:solidFill>
                    <a:srgbClr val="12355B"/>
                  </a:solidFill>
                  <a:latin typeface="+mn-lt"/>
                  <a:ea typeface="+mn-ea"/>
                  <a:cs typeface="+mn-cs"/>
                </a:rPr>
                <a:t>ÇIKTI</a:t>
              </a:r>
            </a:p>
          </p:txBody>
        </p:sp>
        <p:sp>
          <p:nvSpPr>
            <p:cNvPr id="32" name="TextBox 32"/>
            <p:cNvSpPr txBox="1"/>
            <p:nvPr/>
          </p:nvSpPr>
          <p:spPr>
            <a:xfrm>
              <a:off x="7461504" y="2042160"/>
              <a:ext cx="185370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Test doğruluğu: 0,9420</a:t>
              </a:r>
            </a:p>
          </p:txBody>
        </p:sp>
        <p:sp>
          <p:nvSpPr>
            <p:cNvPr id="33" name="TextBox 33"/>
            <p:cNvSpPr txBox="1"/>
            <p:nvPr/>
          </p:nvSpPr>
          <p:spPr>
            <a:xfrm>
              <a:off x="7461504" y="2289810"/>
              <a:ext cx="308211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Sınıf 0: precision 0,946 · recall 0,979</a:t>
              </a:r>
            </a:p>
          </p:txBody>
        </p:sp>
        <p:sp>
          <p:nvSpPr>
            <p:cNvPr id="34" name="TextBox 34"/>
            <p:cNvSpPr txBox="1"/>
            <p:nvPr/>
          </p:nvSpPr>
          <p:spPr>
            <a:xfrm>
              <a:off x="7461504" y="2537460"/>
              <a:ext cx="308211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Sınıf 1: precision 0,929 · recall 0,833</a:t>
              </a:r>
            </a:p>
          </p:txBody>
        </p:sp>
        <p:sp>
          <p:nvSpPr>
            <p:cNvPr id="35" name="Line 35"/>
            <p:cNvSpPr/>
            <p:nvPr/>
          </p:nvSpPr>
          <p:spPr>
            <a:xfrm>
              <a:off x="7467600" y="2819400"/>
              <a:ext cx="3886200" cy="9525"/>
            </a:xfrm>
            <a:custGeom>
              <a:avLst/>
              <a:gdLst/>
              <a:ahLst/>
              <a:cxnLst/>
              <a:rect l="l" t="t" r="r" b="b"/>
              <a:pathLst>
                <a:path w="3886200" h="9525">
                  <a:moveTo>
                    <a:pt x="0" y="0"/>
                  </a:moveTo>
                  <a:lnTo>
                    <a:pt x="3886200" y="0"/>
                  </a:lnTo>
                </a:path>
              </a:pathLst>
            </a:custGeom>
            <a:noFill/>
            <a:ln w="9525">
              <a:solidFill>
                <a:srgbClr val="B8CBD3"/>
              </a:solidFill>
            </a:ln>
          </p:spPr>
        </p:sp>
        <p:sp>
          <p:nvSpPr>
            <p:cNvPr id="36" name="TextBox 36"/>
            <p:cNvSpPr txBox="1"/>
            <p:nvPr/>
          </p:nvSpPr>
          <p:spPr>
            <a:xfrm>
              <a:off x="7461504" y="2956560"/>
              <a:ext cx="167150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En önemli 3 öznitelik</a:t>
              </a:r>
            </a:p>
          </p:txBody>
        </p:sp>
        <p:sp>
          <p:nvSpPr>
            <p:cNvPr id="37" name="TextBox 37"/>
            <p:cNvSpPr txBox="1"/>
            <p:nvPr/>
          </p:nvSpPr>
          <p:spPr>
            <a:xfrm>
              <a:off x="7461885" y="3212306"/>
              <a:ext cx="270275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özellik_8: 0,2629 · özellik_3: 0,2628</a:t>
              </a:r>
            </a:p>
          </p:txBody>
        </p:sp>
        <p:sp>
          <p:nvSpPr>
            <p:cNvPr id="38" name="TextBox 38"/>
            <p:cNvSpPr txBox="1"/>
            <p:nvPr/>
          </p:nvSpPr>
          <p:spPr>
            <a:xfrm>
              <a:off x="7461885" y="3421856"/>
              <a:ext cx="135332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özellik_11: 0,0963</a:t>
              </a:r>
            </a:p>
          </p:txBody>
        </p:sp>
      </p:grpSp>
      <p:grpSp>
        <p:nvGrpSpPr>
          <p:cNvPr id="43" name="interpretation"/>
          <p:cNvGrpSpPr/>
          <p:nvPr/>
        </p:nvGrpSpPr>
        <p:grpSpPr>
          <a:xfrm>
            <a:off x="7239000" y="4267200"/>
            <a:ext cx="4343400" cy="1485900"/>
            <a:chOff x="7239000" y="4267200"/>
            <a:chExt cx="4343400" cy="1485900"/>
          </a:xfrm>
        </p:grpSpPr>
        <p:sp>
          <p:nvSpPr>
            <p:cNvPr id="40" name="Rectangle 40"/>
            <p:cNvSpPr/>
            <p:nvPr/>
          </p:nvSpPr>
          <p:spPr>
            <a:xfrm>
              <a:off x="7239000" y="4267200"/>
              <a:ext cx="4343400" cy="1485900"/>
            </a:xfrm>
            <a:prstGeom prst="roundRect">
              <a:avLst>
                <a:gd name="adj" fmla="val 6410"/>
              </a:avLst>
            </a:prstGeom>
            <a:solidFill>
              <a:srgbClr val="EAF4F6"/>
            </a:solidFill>
            <a:ln>
              <a:noFill/>
            </a:ln>
          </p:spPr>
        </p:sp>
        <p:sp>
          <p:nvSpPr>
            <p:cNvPr id="41" name="TextBox 41"/>
            <p:cNvSpPr txBox="1"/>
            <p:nvPr/>
          </p:nvSpPr>
          <p:spPr>
            <a:xfrm>
              <a:off x="7459599" y="4421029"/>
              <a:ext cx="250281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Bu çıktı ne anlatıyor?</a:t>
              </a:r>
            </a:p>
          </p:txBody>
        </p:sp>
        <p:sp>
          <p:nvSpPr>
            <p:cNvPr id="42" name="TextBox 42"/>
            <p:cNvSpPr txBox="1"/>
            <p:nvPr/>
          </p:nvSpPr>
          <p:spPr>
            <a:xfrm>
              <a:off x="7461504" y="4747260"/>
              <a:ext cx="33345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feature_importances_, her özelliğin</a:t>
              </a:r>
              <a:br/>
              <a:r>
                <a:rPr lang="tr-TR" sz="1200" dirty="0">
                  <a:solidFill>
                    <a:srgbClr val="172B3A"/>
                  </a:solidFill>
                  <a:latin typeface="+mn-lt"/>
                  <a:ea typeface="+mn-ea"/>
                  <a:cs typeface="+mn-cs"/>
                </a:rPr>
                <a:t>bölünmelere toplam katkısını verir —</a:t>
              </a:r>
              <a:br/>
              <a:r>
                <a:rPr lang="tr-TR" sz="1200" dirty="0">
                  <a:solidFill>
                    <a:srgbClr val="172B3A"/>
                  </a:solidFill>
                  <a:latin typeface="+mn-lt"/>
                  <a:ea typeface="+mn-ea"/>
                  <a:cs typeface="+mn-cs"/>
                </a:rPr>
                <a:t>pazarlama ekibine hangi müşteri</a:t>
              </a:r>
              <a:br/>
              <a:r>
                <a:rPr lang="tr-TR" sz="1200" dirty="0">
                  <a:solidFill>
                    <a:srgbClr val="172B3A"/>
                  </a:solidFill>
                  <a:latin typeface="+mn-lt"/>
                  <a:ea typeface="+mn-ea"/>
                  <a:cs typeface="+mn-cs"/>
                </a:rPr>
                <a:t>özelliğinin churn'de etkili olduğunu gösterir.</a:t>
              </a:r>
            </a:p>
          </p:txBody>
        </p:sp>
      </p:grpSp>
      <p:sp>
        <p:nvSpPr>
          <p:cNvPr id="44" name="TextBox 4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25</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734308" cy="668845"/>
            <a:chOff x="609600" y="171450"/>
            <a:chExt cx="9734308"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904393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3 — LightGBM ile XGBoost karşılaştırması</a:t>
              </a:r>
            </a:p>
          </p:txBody>
        </p:sp>
      </p:grpSp>
      <p:grpSp>
        <p:nvGrpSpPr>
          <p:cNvPr id="13" name="meta-strip"/>
          <p:cNvGrpSpPr/>
          <p:nvPr/>
        </p:nvGrpSpPr>
        <p:grpSpPr>
          <a:xfrm>
            <a:off x="603504" y="1203960"/>
            <a:ext cx="10388571" cy="234696"/>
            <a:chOff x="603504" y="1203960"/>
            <a:chExt cx="10388571" cy="234696"/>
          </a:xfrm>
        </p:grpSpPr>
        <p:sp>
          <p:nvSpPr>
            <p:cNvPr id="12" name="TextBox 12"/>
            <p:cNvSpPr txBox="1"/>
            <p:nvPr/>
          </p:nvSpPr>
          <p:spPr>
            <a:xfrm>
              <a:off x="603504" y="1203960"/>
              <a:ext cx="1038857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Girdi: 20.000 gözlem, her iki model n_estimators=300, max_depth=5, learning_rate=0.1 · Beklenen çıktı: doğruluk ve eğitim süresi</a:t>
              </a:r>
            </a:p>
          </p:txBody>
        </p:sp>
      </p:grpSp>
      <p:grpSp>
        <p:nvGrpSpPr>
          <p:cNvPr id="28" name="code-panel"/>
          <p:cNvGrpSpPr/>
          <p:nvPr/>
        </p:nvGrpSpPr>
        <p:grpSpPr>
          <a:xfrm>
            <a:off x="609600" y="1638300"/>
            <a:ext cx="6477000" cy="4114800"/>
            <a:chOff x="609600" y="1638300"/>
            <a:chExt cx="6477000" cy="4114800"/>
          </a:xfrm>
        </p:grpSpPr>
        <p:sp>
          <p:nvSpPr>
            <p:cNvPr id="14" name="Rectangle 14"/>
            <p:cNvSpPr/>
            <p:nvPr/>
          </p:nvSpPr>
          <p:spPr>
            <a:xfrm>
              <a:off x="609600" y="1638300"/>
              <a:ext cx="6477000" cy="4114800"/>
            </a:xfrm>
            <a:prstGeom prst="roundRect">
              <a:avLst>
                <a:gd name="adj" fmla="val 2315"/>
              </a:avLst>
            </a:prstGeom>
            <a:solidFill>
              <a:srgbClr val="12355B"/>
            </a:solidFill>
            <a:ln>
              <a:noFill/>
            </a:ln>
          </p:spPr>
        </p:sp>
        <p:sp>
          <p:nvSpPr>
            <p:cNvPr id="15" name="TextBox 15"/>
            <p:cNvSpPr txBox="1"/>
            <p:nvPr/>
          </p:nvSpPr>
          <p:spPr>
            <a:xfrm>
              <a:off x="870204" y="1870710"/>
              <a:ext cx="1310640"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modelSozlugu = {</a:t>
              </a:r>
            </a:p>
          </p:txBody>
        </p:sp>
        <p:sp>
          <p:nvSpPr>
            <p:cNvPr id="16" name="TextBox 16"/>
            <p:cNvSpPr txBox="1"/>
            <p:nvPr/>
          </p:nvSpPr>
          <p:spPr>
            <a:xfrm>
              <a:off x="1098804" y="2137410"/>
              <a:ext cx="361976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"XGBoost": XGBClassifier(n_estimators=300,</a:t>
              </a:r>
            </a:p>
          </p:txBody>
        </p:sp>
        <p:sp>
          <p:nvSpPr>
            <p:cNvPr id="17" name="TextBox 17"/>
            <p:cNvSpPr txBox="1"/>
            <p:nvPr/>
          </p:nvSpPr>
          <p:spPr>
            <a:xfrm>
              <a:off x="1327404" y="2404110"/>
              <a:ext cx="276651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max_depth=5, learning_rate=0.1),</a:t>
              </a:r>
            </a:p>
          </p:txBody>
        </p:sp>
        <p:sp>
          <p:nvSpPr>
            <p:cNvPr id="18" name="TextBox 18"/>
            <p:cNvSpPr txBox="1"/>
            <p:nvPr/>
          </p:nvSpPr>
          <p:spPr>
            <a:xfrm>
              <a:off x="1098804" y="2689860"/>
              <a:ext cx="383427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"LightGBM": LGBMClassifier(n_estimators=300,</a:t>
              </a:r>
            </a:p>
          </p:txBody>
        </p:sp>
        <p:sp>
          <p:nvSpPr>
            <p:cNvPr id="19" name="TextBox 19"/>
            <p:cNvSpPr txBox="1"/>
            <p:nvPr/>
          </p:nvSpPr>
          <p:spPr>
            <a:xfrm>
              <a:off x="1327404" y="2956560"/>
              <a:ext cx="276651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max_depth=5, learning_rate=0.1),</a:t>
              </a:r>
            </a:p>
          </p:txBody>
        </p:sp>
        <p:sp>
          <p:nvSpPr>
            <p:cNvPr id="20" name="TextBox 20"/>
            <p:cNvSpPr txBox="1"/>
            <p:nvPr/>
          </p:nvSpPr>
          <p:spPr>
            <a:xfrm>
              <a:off x="870204" y="3204210"/>
              <a:ext cx="101041"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a:t>
              </a:r>
            </a:p>
          </p:txBody>
        </p:sp>
        <p:sp>
          <p:nvSpPr>
            <p:cNvPr id="21" name="TextBox 21"/>
            <p:cNvSpPr txBox="1"/>
            <p:nvPr/>
          </p:nvSpPr>
          <p:spPr>
            <a:xfrm>
              <a:off x="870204" y="3528060"/>
              <a:ext cx="3618172" cy="234696"/>
            </a:xfrm>
            <a:prstGeom prst="rect">
              <a:avLst/>
            </a:prstGeom>
            <a:noFill/>
            <a:ln>
              <a:noFill/>
            </a:ln>
          </p:spPr>
          <p:txBody>
            <a:bodyPr wrap="none" lIns="0" tIns="0" rIns="0" bIns="0" anchor="t" anchorCtr="0">
              <a:spAutoFit/>
            </a:bodyPr>
            <a:lstStyle/>
            <a:p>
              <a:pPr algn="l"/>
              <a:r>
                <a:rPr lang="tr-TR" sz="1200" dirty="0">
                  <a:solidFill>
                    <a:srgbClr val="2E86AB"/>
                  </a:solidFill>
                  <a:latin typeface="+mn-lt"/>
                  <a:ea typeface="+mn-ea"/>
                  <a:cs typeface="+mn-cs"/>
                </a:rPr>
                <a:t>for modelAdi, model in modelSozlugu.items():</a:t>
              </a:r>
            </a:p>
          </p:txBody>
        </p:sp>
        <p:sp>
          <p:nvSpPr>
            <p:cNvPr id="22" name="TextBox 22"/>
            <p:cNvSpPr txBox="1"/>
            <p:nvPr/>
          </p:nvSpPr>
          <p:spPr>
            <a:xfrm>
              <a:off x="1098804" y="3794760"/>
              <a:ext cx="240892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baslangicZamani = time.time()</a:t>
              </a:r>
            </a:p>
          </p:txBody>
        </p:sp>
        <p:sp>
          <p:nvSpPr>
            <p:cNvPr id="23" name="TextBox 23"/>
            <p:cNvSpPr txBox="1"/>
            <p:nvPr/>
          </p:nvSpPr>
          <p:spPr>
            <a:xfrm>
              <a:off x="1098804" y="4061460"/>
              <a:ext cx="223673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model.fit(egitimX, egitimY)</a:t>
              </a:r>
            </a:p>
          </p:txBody>
        </p:sp>
        <p:sp>
          <p:nvSpPr>
            <p:cNvPr id="24" name="TextBox 24"/>
            <p:cNvSpPr txBox="1"/>
            <p:nvPr/>
          </p:nvSpPr>
          <p:spPr>
            <a:xfrm>
              <a:off x="1098804" y="4328160"/>
              <a:ext cx="357765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egitimSuresi = time.time() - baslangicZamani</a:t>
              </a:r>
            </a:p>
          </p:txBody>
        </p:sp>
        <p:sp>
          <p:nvSpPr>
            <p:cNvPr id="25" name="TextBox 25"/>
            <p:cNvSpPr txBox="1"/>
            <p:nvPr/>
          </p:nvSpPr>
          <p:spPr>
            <a:xfrm>
              <a:off x="870204" y="4728210"/>
              <a:ext cx="393562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Aynı n_estimators, max_depth ve learning_rate —</a:t>
              </a:r>
            </a:p>
          </p:txBody>
        </p:sp>
        <p:sp>
          <p:nvSpPr>
            <p:cNvPr id="26" name="TextBox 26"/>
            <p:cNvSpPr txBox="1"/>
            <p:nvPr/>
          </p:nvSpPr>
          <p:spPr>
            <a:xfrm>
              <a:off x="870204" y="4975860"/>
              <a:ext cx="410733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karşılaştırmayı adil kılmak için bilinçli bir kontrol.</a:t>
              </a:r>
            </a:p>
          </p:txBody>
        </p:sp>
        <p:sp>
          <p:nvSpPr>
            <p:cNvPr id="27" name="TextBox 27"/>
            <p:cNvSpPr txBox="1"/>
            <p:nvPr/>
          </p:nvSpPr>
          <p:spPr>
            <a:xfrm>
              <a:off x="870204" y="5394960"/>
              <a:ext cx="503508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verbose=-1, LightGBM'in ayrıntılı günlük çıktısını bastırır.</a:t>
              </a:r>
            </a:p>
          </p:txBody>
        </p:sp>
      </p:grpSp>
      <p:grpSp>
        <p:nvGrpSpPr>
          <p:cNvPr id="37" name="output-panel"/>
          <p:cNvGrpSpPr/>
          <p:nvPr/>
        </p:nvGrpSpPr>
        <p:grpSpPr>
          <a:xfrm>
            <a:off x="7239000" y="1638300"/>
            <a:ext cx="4343400" cy="1905000"/>
            <a:chOff x="7239000" y="1638300"/>
            <a:chExt cx="4343400" cy="1905000"/>
          </a:xfrm>
        </p:grpSpPr>
        <p:sp>
          <p:nvSpPr>
            <p:cNvPr id="29" name="Rectangle 29"/>
            <p:cNvSpPr/>
            <p:nvPr/>
          </p:nvSpPr>
          <p:spPr>
            <a:xfrm>
              <a:off x="7239000" y="1638300"/>
              <a:ext cx="4343400" cy="1905000"/>
            </a:xfrm>
            <a:prstGeom prst="roundRect">
              <a:avLst>
                <a:gd name="adj" fmla="val 5000"/>
              </a:avLst>
            </a:prstGeom>
            <a:solidFill>
              <a:srgbClr val="FFFFFF"/>
            </a:solidFill>
            <a:ln w="14288">
              <a:solidFill>
                <a:srgbClr val="B8CBD3"/>
              </a:solidFill>
            </a:ln>
          </p:spPr>
        </p:sp>
        <p:sp>
          <p:nvSpPr>
            <p:cNvPr id="30" name="Rectangle 30"/>
            <p:cNvSpPr/>
            <p:nvPr/>
          </p:nvSpPr>
          <p:spPr>
            <a:xfrm>
              <a:off x="7239000" y="1638300"/>
              <a:ext cx="4343400" cy="323850"/>
            </a:xfrm>
            <a:prstGeom prst="rect">
              <a:avLst/>
            </a:prstGeom>
            <a:solidFill>
              <a:srgbClr val="EAF4F6"/>
            </a:solidFill>
            <a:ln>
              <a:noFill/>
            </a:ln>
          </p:spPr>
        </p:sp>
        <p:sp>
          <p:nvSpPr>
            <p:cNvPr id="31" name="TextBox 31"/>
            <p:cNvSpPr txBox="1"/>
            <p:nvPr/>
          </p:nvSpPr>
          <p:spPr>
            <a:xfrm>
              <a:off x="7461504" y="1727835"/>
              <a:ext cx="458114" cy="234696"/>
            </a:xfrm>
            <a:prstGeom prst="rect">
              <a:avLst/>
            </a:prstGeom>
            <a:noFill/>
            <a:ln>
              <a:noFill/>
            </a:ln>
          </p:spPr>
          <p:txBody>
            <a:bodyPr wrap="none" lIns="0" tIns="0" rIns="0" bIns="0" anchor="t" anchorCtr="0">
              <a:spAutoFit/>
            </a:bodyPr>
            <a:lstStyle/>
            <a:p>
              <a:pPr algn="l"/>
              <a:r>
                <a:rPr lang="tr-TR" sz="1200" b="1" spc="75" dirty="0">
                  <a:solidFill>
                    <a:srgbClr val="12355B"/>
                  </a:solidFill>
                  <a:latin typeface="+mn-lt"/>
                  <a:ea typeface="+mn-ea"/>
                  <a:cs typeface="+mn-cs"/>
                </a:rPr>
                <a:t>ÇIKTI</a:t>
              </a:r>
            </a:p>
          </p:txBody>
        </p:sp>
        <p:sp>
          <p:nvSpPr>
            <p:cNvPr id="32" name="TextBox 32"/>
            <p:cNvSpPr txBox="1"/>
            <p:nvPr/>
          </p:nvSpPr>
          <p:spPr>
            <a:xfrm>
              <a:off x="7460742" y="2045018"/>
              <a:ext cx="234790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XGBoost: doğruluk=0,9673</a:t>
              </a:r>
            </a:p>
          </p:txBody>
        </p:sp>
        <p:sp>
          <p:nvSpPr>
            <p:cNvPr id="33" name="TextBox 33"/>
            <p:cNvSpPr txBox="1"/>
            <p:nvPr/>
          </p:nvSpPr>
          <p:spPr>
            <a:xfrm>
              <a:off x="7460742" y="2273618"/>
              <a:ext cx="181291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eğitim_süresi=0,29s</a:t>
              </a:r>
            </a:p>
          </p:txBody>
        </p:sp>
        <p:sp>
          <p:nvSpPr>
            <p:cNvPr id="34" name="Line 34"/>
            <p:cNvSpPr/>
            <p:nvPr/>
          </p:nvSpPr>
          <p:spPr>
            <a:xfrm>
              <a:off x="7467600" y="2590800"/>
              <a:ext cx="3886200" cy="9525"/>
            </a:xfrm>
            <a:custGeom>
              <a:avLst/>
              <a:gdLst/>
              <a:ahLst/>
              <a:cxnLst/>
              <a:rect l="l" t="t" r="r" b="b"/>
              <a:pathLst>
                <a:path w="3886200" h="9525">
                  <a:moveTo>
                    <a:pt x="0" y="0"/>
                  </a:moveTo>
                  <a:lnTo>
                    <a:pt x="3886200" y="0"/>
                  </a:lnTo>
                </a:path>
              </a:pathLst>
            </a:custGeom>
            <a:noFill/>
            <a:ln w="9525">
              <a:solidFill>
                <a:srgbClr val="B8CBD3"/>
              </a:solidFill>
            </a:ln>
          </p:spPr>
        </p:sp>
        <p:sp>
          <p:nvSpPr>
            <p:cNvPr id="35" name="TextBox 35"/>
            <p:cNvSpPr txBox="1"/>
            <p:nvPr/>
          </p:nvSpPr>
          <p:spPr>
            <a:xfrm>
              <a:off x="7460742" y="2711768"/>
              <a:ext cx="244659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LightGBM: doğruluk=0,9673</a:t>
              </a:r>
            </a:p>
          </p:txBody>
        </p:sp>
        <p:sp>
          <p:nvSpPr>
            <p:cNvPr id="36" name="TextBox 36"/>
            <p:cNvSpPr txBox="1"/>
            <p:nvPr/>
          </p:nvSpPr>
          <p:spPr>
            <a:xfrm>
              <a:off x="7460742" y="2940368"/>
              <a:ext cx="181291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eğitim_süresi=2,46s</a:t>
              </a:r>
            </a:p>
          </p:txBody>
        </p:sp>
      </p:grpSp>
      <p:grpSp>
        <p:nvGrpSpPr>
          <p:cNvPr id="41" name="interpretation"/>
          <p:cNvGrpSpPr/>
          <p:nvPr/>
        </p:nvGrpSpPr>
        <p:grpSpPr>
          <a:xfrm>
            <a:off x="7239000" y="3695700"/>
            <a:ext cx="4343400" cy="2057400"/>
            <a:chOff x="7239000" y="3695700"/>
            <a:chExt cx="4343400" cy="2057400"/>
          </a:xfrm>
        </p:grpSpPr>
        <p:sp>
          <p:nvSpPr>
            <p:cNvPr id="38" name="Rectangle 38"/>
            <p:cNvSpPr/>
            <p:nvPr/>
          </p:nvSpPr>
          <p:spPr>
            <a:xfrm>
              <a:off x="7239000" y="3695700"/>
              <a:ext cx="4343400" cy="2057400"/>
            </a:xfrm>
            <a:prstGeom prst="roundRect">
              <a:avLst>
                <a:gd name="adj" fmla="val 4630"/>
              </a:avLst>
            </a:prstGeom>
            <a:solidFill>
              <a:srgbClr val="EAF4F6"/>
            </a:solidFill>
            <a:ln>
              <a:noFill/>
            </a:ln>
          </p:spPr>
        </p:sp>
        <p:sp>
          <p:nvSpPr>
            <p:cNvPr id="39" name="TextBox 39"/>
            <p:cNvSpPr txBox="1"/>
            <p:nvPr/>
          </p:nvSpPr>
          <p:spPr>
            <a:xfrm>
              <a:off x="7459599" y="3849529"/>
              <a:ext cx="250281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Bu çıktı ne anlatıyor?</a:t>
              </a:r>
            </a:p>
          </p:txBody>
        </p:sp>
        <p:sp>
          <p:nvSpPr>
            <p:cNvPr id="40" name="TextBox 40"/>
            <p:cNvSpPr txBox="1"/>
            <p:nvPr/>
          </p:nvSpPr>
          <p:spPr>
            <a:xfrm>
              <a:off x="7461504" y="4175760"/>
              <a:ext cx="2945892" cy="12824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Bu çalıştırmada LightGBM'in eğitim</a:t>
              </a:r>
              <a:br/>
              <a:r>
                <a:rPr lang="tr-TR" sz="1200" dirty="0">
                  <a:solidFill>
                    <a:srgbClr val="172B3A"/>
                  </a:solidFill>
                  <a:latin typeface="+mn-lt"/>
                  <a:ea typeface="+mn-ea"/>
                  <a:cs typeface="+mn-cs"/>
                </a:rPr>
                <a:t>süresi XGBoost'tan uzun ölçülmüştür;</a:t>
              </a:r>
              <a:br/>
              <a:r>
                <a:rPr lang="tr-TR" sz="1200" dirty="0">
                  <a:solidFill>
                    <a:srgbClr val="172B3A"/>
                  </a:solidFill>
                  <a:latin typeface="+mn-lt"/>
                  <a:ea typeface="+mn-ea"/>
                  <a:cs typeface="+mn-cs"/>
                </a:rPr>
                <a:t>histogram tabanlı hız avantajı veri</a:t>
              </a:r>
              <a:br/>
              <a:r>
                <a:rPr lang="tr-TR" sz="1200" dirty="0">
                  <a:solidFill>
                    <a:srgbClr val="172B3A"/>
                  </a:solidFill>
                  <a:latin typeface="+mn-lt"/>
                  <a:ea typeface="+mn-ea"/>
                  <a:cs typeface="+mn-cs"/>
                </a:rPr>
                <a:t>büyüklüğü, bin sayısı ve donanım gibi</a:t>
              </a:r>
              <a:br/>
              <a:r>
                <a:rPr lang="tr-TR" sz="1200" dirty="0">
                  <a:solidFill>
                    <a:srgbClr val="172B3A"/>
                  </a:solidFill>
                  <a:latin typeface="+mn-lt"/>
                  <a:ea typeface="+mn-ea"/>
                  <a:cs typeface="+mn-cs"/>
                </a:rPr>
                <a:t>koşullara bağlı değişir — doğruluk farkı</a:t>
              </a:r>
              <a:br/>
              <a:r>
                <a:rPr lang="tr-TR" sz="1200" dirty="0">
                  <a:solidFill>
                    <a:srgbClr val="172B3A"/>
                  </a:solidFill>
                  <a:latin typeface="+mn-lt"/>
                  <a:ea typeface="+mn-ea"/>
                  <a:cs typeface="+mn-cs"/>
                </a:rPr>
                <a:t>ise ihmal edilebilir düzeydedir.</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851602" cy="668845"/>
            <a:chOff x="609600" y="171450"/>
            <a:chExt cx="9851602"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916123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4 — Öğrenme oranının etkisini gözlemlemek</a:t>
              </a:r>
            </a:p>
          </p:txBody>
        </p:sp>
      </p:grpSp>
      <p:grpSp>
        <p:nvGrpSpPr>
          <p:cNvPr id="13" name="meta-strip"/>
          <p:cNvGrpSpPr/>
          <p:nvPr/>
        </p:nvGrpSpPr>
        <p:grpSpPr>
          <a:xfrm>
            <a:off x="603504" y="1203960"/>
            <a:ext cx="10214392" cy="234696"/>
            <a:chOff x="603504" y="1203960"/>
            <a:chExt cx="10214392" cy="234696"/>
          </a:xfrm>
        </p:grpSpPr>
        <p:sp>
          <p:nvSpPr>
            <p:cNvPr id="12" name="TextBox 12"/>
            <p:cNvSpPr txBox="1"/>
            <p:nvPr/>
          </p:nvSpPr>
          <p:spPr>
            <a:xfrm>
              <a:off x="603504" y="1203960"/>
              <a:ext cx="1021439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Girdi: 3000 gözlem, n_estimators=150 sabit, learning_rate ∈ {0.01, 0.05, 0.1, 0.3, 0.5} · Beklenen çıktı: doğrulama AUC eğrisi</a:t>
              </a:r>
            </a:p>
          </p:txBody>
        </p:sp>
      </p:grpSp>
      <p:grpSp>
        <p:nvGrpSpPr>
          <p:cNvPr id="28" name="code-panel"/>
          <p:cNvGrpSpPr/>
          <p:nvPr/>
        </p:nvGrpSpPr>
        <p:grpSpPr>
          <a:xfrm>
            <a:off x="609600" y="1638300"/>
            <a:ext cx="4572000" cy="4114800"/>
            <a:chOff x="609600" y="1638300"/>
            <a:chExt cx="4572000" cy="4114800"/>
          </a:xfrm>
        </p:grpSpPr>
        <p:sp>
          <p:nvSpPr>
            <p:cNvPr id="14" name="Rectangle 14"/>
            <p:cNvSpPr/>
            <p:nvPr/>
          </p:nvSpPr>
          <p:spPr>
            <a:xfrm>
              <a:off x="609600" y="1638300"/>
              <a:ext cx="4572000" cy="4114800"/>
            </a:xfrm>
            <a:prstGeom prst="roundRect">
              <a:avLst>
                <a:gd name="adj" fmla="val 2315"/>
              </a:avLst>
            </a:prstGeom>
            <a:solidFill>
              <a:srgbClr val="12355B"/>
            </a:solidFill>
            <a:ln>
              <a:noFill/>
            </a:ln>
          </p:spPr>
        </p:sp>
        <p:sp>
          <p:nvSpPr>
            <p:cNvPr id="15" name="TextBox 15"/>
            <p:cNvSpPr txBox="1"/>
            <p:nvPr/>
          </p:nvSpPr>
          <p:spPr>
            <a:xfrm>
              <a:off x="870204" y="1870710"/>
              <a:ext cx="2872307"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ogrenmeOraniListesi = [0.01, 0.05,</a:t>
              </a:r>
            </a:p>
          </p:txBody>
        </p:sp>
        <p:sp>
          <p:nvSpPr>
            <p:cNvPr id="16" name="TextBox 16"/>
            <p:cNvSpPr txBox="1"/>
            <p:nvPr/>
          </p:nvSpPr>
          <p:spPr>
            <a:xfrm>
              <a:off x="1098804" y="2137410"/>
              <a:ext cx="117530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0.1, 0.3, 0.5]</a:t>
              </a:r>
            </a:p>
          </p:txBody>
        </p:sp>
        <p:sp>
          <p:nvSpPr>
            <p:cNvPr id="17" name="TextBox 17"/>
            <p:cNvSpPr txBox="1"/>
            <p:nvPr/>
          </p:nvSpPr>
          <p:spPr>
            <a:xfrm>
              <a:off x="870204" y="2442210"/>
              <a:ext cx="2647896" cy="234696"/>
            </a:xfrm>
            <a:prstGeom prst="rect">
              <a:avLst/>
            </a:prstGeom>
            <a:noFill/>
            <a:ln>
              <a:noFill/>
            </a:ln>
          </p:spPr>
          <p:txBody>
            <a:bodyPr wrap="none" lIns="0" tIns="0" rIns="0" bIns="0" anchor="t" anchorCtr="0">
              <a:spAutoFit/>
            </a:bodyPr>
            <a:lstStyle/>
            <a:p>
              <a:pPr algn="l"/>
              <a:r>
                <a:rPr lang="tr-TR" sz="1200" dirty="0">
                  <a:solidFill>
                    <a:srgbClr val="2E86AB"/>
                  </a:solidFill>
                  <a:latin typeface="+mn-lt"/>
                  <a:ea typeface="+mn-ea"/>
                  <a:cs typeface="+mn-cs"/>
                </a:rPr>
                <a:t>for oran in ogrenmeOraniListesi:</a:t>
              </a:r>
            </a:p>
          </p:txBody>
        </p:sp>
        <p:sp>
          <p:nvSpPr>
            <p:cNvPr id="18" name="TextBox 18"/>
            <p:cNvSpPr txBox="1"/>
            <p:nvPr/>
          </p:nvSpPr>
          <p:spPr>
            <a:xfrm>
              <a:off x="1098804" y="2708910"/>
              <a:ext cx="328457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model = XGBClassifier(n_estimators=150,</a:t>
              </a:r>
            </a:p>
          </p:txBody>
        </p:sp>
        <p:sp>
          <p:nvSpPr>
            <p:cNvPr id="19" name="TextBox 19"/>
            <p:cNvSpPr txBox="1"/>
            <p:nvPr/>
          </p:nvSpPr>
          <p:spPr>
            <a:xfrm>
              <a:off x="1327404" y="2975610"/>
              <a:ext cx="276651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max_depth=4, learning_rate=oran)</a:t>
              </a:r>
            </a:p>
          </p:txBody>
        </p:sp>
        <p:sp>
          <p:nvSpPr>
            <p:cNvPr id="20" name="TextBox 20"/>
            <p:cNvSpPr txBox="1"/>
            <p:nvPr/>
          </p:nvSpPr>
          <p:spPr>
            <a:xfrm>
              <a:off x="1098804" y="3261360"/>
              <a:ext cx="223673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model.fit(egitimX, egitimY)</a:t>
              </a:r>
            </a:p>
          </p:txBody>
        </p:sp>
        <p:sp>
          <p:nvSpPr>
            <p:cNvPr id="21" name="TextBox 21"/>
            <p:cNvSpPr txBox="1"/>
            <p:nvPr/>
          </p:nvSpPr>
          <p:spPr>
            <a:xfrm>
              <a:off x="1098804" y="3547110"/>
              <a:ext cx="305459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olasilikTahmini = model.predict_proba(</a:t>
              </a:r>
            </a:p>
          </p:txBody>
        </p:sp>
        <p:sp>
          <p:nvSpPr>
            <p:cNvPr id="22" name="TextBox 22"/>
            <p:cNvSpPr txBox="1"/>
            <p:nvPr/>
          </p:nvSpPr>
          <p:spPr>
            <a:xfrm>
              <a:off x="1327404" y="3813810"/>
              <a:ext cx="148244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dogrulamaX)[:, 1]</a:t>
              </a:r>
            </a:p>
          </p:txBody>
        </p:sp>
        <p:sp>
          <p:nvSpPr>
            <p:cNvPr id="23" name="TextBox 23"/>
            <p:cNvSpPr txBox="1"/>
            <p:nvPr/>
          </p:nvSpPr>
          <p:spPr>
            <a:xfrm>
              <a:off x="1098804" y="4099560"/>
              <a:ext cx="313405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aucSkoru = roc_auc_score(dogrulamaY,</a:t>
              </a:r>
            </a:p>
          </p:txBody>
        </p:sp>
        <p:sp>
          <p:nvSpPr>
            <p:cNvPr id="24" name="TextBox 24"/>
            <p:cNvSpPr txBox="1"/>
            <p:nvPr/>
          </p:nvSpPr>
          <p:spPr>
            <a:xfrm>
              <a:off x="1327404" y="4366260"/>
              <a:ext cx="1228344"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olasilikTahmini)</a:t>
              </a:r>
            </a:p>
          </p:txBody>
        </p:sp>
        <p:sp>
          <p:nvSpPr>
            <p:cNvPr id="25" name="TextBox 25"/>
            <p:cNvSpPr txBox="1"/>
            <p:nvPr/>
          </p:nvSpPr>
          <p:spPr>
            <a:xfrm>
              <a:off x="870204" y="4823460"/>
              <a:ext cx="399425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n_estimators sabit tutulup yalnızca learning_rate</a:t>
              </a:r>
            </a:p>
          </p:txBody>
        </p:sp>
        <p:sp>
          <p:nvSpPr>
            <p:cNvPr id="26" name="TextBox 26"/>
            <p:cNvSpPr txBox="1"/>
            <p:nvPr/>
          </p:nvSpPr>
          <p:spPr>
            <a:xfrm>
              <a:off x="870585" y="5079206"/>
              <a:ext cx="3387293"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değiştirilir; AUC olasılık tahminleri üzerinden</a:t>
              </a:r>
            </a:p>
          </p:txBody>
        </p:sp>
        <p:sp>
          <p:nvSpPr>
            <p:cNvPr id="27" name="TextBox 27"/>
            <p:cNvSpPr txBox="1"/>
            <p:nvPr/>
          </p:nvSpPr>
          <p:spPr>
            <a:xfrm>
              <a:off x="870585" y="5288756"/>
              <a:ext cx="885922"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hesaplanır.</a:t>
              </a:r>
            </a:p>
          </p:txBody>
        </p:sp>
      </p:grpSp>
      <p:grpSp>
        <p:nvGrpSpPr>
          <p:cNvPr id="53" name="chart-panel"/>
          <p:cNvGrpSpPr/>
          <p:nvPr/>
        </p:nvGrpSpPr>
        <p:grpSpPr>
          <a:xfrm>
            <a:off x="5410200" y="1638300"/>
            <a:ext cx="6172200" cy="4149661"/>
            <a:chOff x="5410200" y="1638300"/>
            <a:chExt cx="6172200" cy="4149661"/>
          </a:xfrm>
        </p:grpSpPr>
        <p:sp>
          <p:nvSpPr>
            <p:cNvPr id="29" name="Rectangle 29"/>
            <p:cNvSpPr/>
            <p:nvPr/>
          </p:nvSpPr>
          <p:spPr>
            <a:xfrm>
              <a:off x="5410200" y="1638300"/>
              <a:ext cx="6172200" cy="4114800"/>
            </a:xfrm>
            <a:prstGeom prst="roundRect">
              <a:avLst>
                <a:gd name="adj" fmla="val 2315"/>
              </a:avLst>
            </a:prstGeom>
            <a:solidFill>
              <a:srgbClr val="FFFFFF"/>
            </a:solidFill>
            <a:ln w="14288">
              <a:solidFill>
                <a:srgbClr val="B8CBD3"/>
              </a:solidFill>
            </a:ln>
          </p:spPr>
        </p:sp>
        <p:sp>
          <p:nvSpPr>
            <p:cNvPr id="30" name="TextBox 30"/>
            <p:cNvSpPr txBox="1"/>
            <p:nvPr/>
          </p:nvSpPr>
          <p:spPr>
            <a:xfrm>
              <a:off x="5670042" y="1797368"/>
              <a:ext cx="360905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Doğrulama AUC — öğrenme oranına göre</a:t>
              </a:r>
            </a:p>
          </p:txBody>
        </p:sp>
        <p:sp>
          <p:nvSpPr>
            <p:cNvPr id="31" name="Line 31"/>
            <p:cNvSpPr/>
            <p:nvPr/>
          </p:nvSpPr>
          <p:spPr>
            <a:xfrm>
              <a:off x="5905500" y="2000250"/>
              <a:ext cx="9525" cy="2667000"/>
            </a:xfrm>
            <a:custGeom>
              <a:avLst/>
              <a:gdLst/>
              <a:ahLst/>
              <a:cxnLst/>
              <a:rect l="l" t="t" r="r" b="b"/>
              <a:pathLst>
                <a:path w="9525" h="2667000">
                  <a:moveTo>
                    <a:pt x="0" y="0"/>
                  </a:moveTo>
                  <a:lnTo>
                    <a:pt x="0" y="2667000"/>
                  </a:lnTo>
                </a:path>
              </a:pathLst>
            </a:custGeom>
            <a:noFill/>
            <a:ln w="14288">
              <a:solidFill>
                <a:srgbClr val="B8CBD3"/>
              </a:solidFill>
            </a:ln>
          </p:spPr>
        </p:sp>
        <p:sp>
          <p:nvSpPr>
            <p:cNvPr id="32" name="Line 32"/>
            <p:cNvSpPr/>
            <p:nvPr/>
          </p:nvSpPr>
          <p:spPr>
            <a:xfrm>
              <a:off x="5905500" y="4667250"/>
              <a:ext cx="5334000" cy="9525"/>
            </a:xfrm>
            <a:custGeom>
              <a:avLst/>
              <a:gdLst/>
              <a:ahLst/>
              <a:cxnLst/>
              <a:rect l="l" t="t" r="r" b="b"/>
              <a:pathLst>
                <a:path w="5334000" h="9525">
                  <a:moveTo>
                    <a:pt x="0" y="0"/>
                  </a:moveTo>
                  <a:lnTo>
                    <a:pt x="5334000" y="0"/>
                  </a:lnTo>
                </a:path>
              </a:pathLst>
            </a:custGeom>
            <a:noFill/>
            <a:ln w="14288">
              <a:solidFill>
                <a:srgbClr val="B8CBD3"/>
              </a:solidFill>
            </a:ln>
          </p:spPr>
        </p:sp>
        <p:sp>
          <p:nvSpPr>
            <p:cNvPr id="33" name="Polyline 33"/>
            <p:cNvSpPr/>
            <p:nvPr/>
          </p:nvSpPr>
          <p:spPr>
            <a:xfrm>
              <a:off x="6286500" y="2181225"/>
              <a:ext cx="4572000" cy="2190750"/>
            </a:xfrm>
            <a:custGeom>
              <a:avLst/>
              <a:gdLst/>
              <a:ahLst/>
              <a:cxnLst/>
              <a:rect l="l" t="t" r="r" b="b"/>
              <a:pathLst>
                <a:path w="4572000" h="2190750">
                  <a:moveTo>
                    <a:pt x="0" y="2190750"/>
                  </a:moveTo>
                  <a:lnTo>
                    <a:pt x="1143000" y="428625"/>
                  </a:lnTo>
                  <a:lnTo>
                    <a:pt x="2286000" y="0"/>
                  </a:lnTo>
                  <a:lnTo>
                    <a:pt x="3429000" y="9525"/>
                  </a:lnTo>
                  <a:lnTo>
                    <a:pt x="4572000" y="95250"/>
                  </a:lnTo>
                </a:path>
              </a:pathLst>
            </a:custGeom>
            <a:noFill/>
            <a:ln w="28575">
              <a:solidFill>
                <a:srgbClr val="00A6A6"/>
              </a:solidFill>
            </a:ln>
          </p:spPr>
        </p:sp>
        <p:sp>
          <p:nvSpPr>
            <p:cNvPr id="34" name="Ellipse 34"/>
            <p:cNvSpPr/>
            <p:nvPr/>
          </p:nvSpPr>
          <p:spPr>
            <a:xfrm>
              <a:off x="6229350" y="4314825"/>
              <a:ext cx="114300" cy="114300"/>
            </a:xfrm>
            <a:prstGeom prst="ellipse">
              <a:avLst/>
            </a:prstGeom>
            <a:solidFill>
              <a:srgbClr val="2E86AB"/>
            </a:solidFill>
            <a:ln>
              <a:noFill/>
            </a:ln>
          </p:spPr>
        </p:sp>
        <p:sp>
          <p:nvSpPr>
            <p:cNvPr id="35" name="Ellipse 35"/>
            <p:cNvSpPr/>
            <p:nvPr/>
          </p:nvSpPr>
          <p:spPr>
            <a:xfrm>
              <a:off x="7372350" y="2552700"/>
              <a:ext cx="114300" cy="114300"/>
            </a:xfrm>
            <a:prstGeom prst="ellipse">
              <a:avLst/>
            </a:prstGeom>
            <a:solidFill>
              <a:srgbClr val="2E86AB"/>
            </a:solidFill>
            <a:ln>
              <a:noFill/>
            </a:ln>
          </p:spPr>
        </p:sp>
        <p:sp>
          <p:nvSpPr>
            <p:cNvPr id="36" name="Ellipse 36"/>
            <p:cNvSpPr/>
            <p:nvPr/>
          </p:nvSpPr>
          <p:spPr>
            <a:xfrm>
              <a:off x="8496300" y="2105025"/>
              <a:ext cx="152400" cy="152400"/>
            </a:xfrm>
            <a:prstGeom prst="ellipse">
              <a:avLst/>
            </a:prstGeom>
            <a:solidFill>
              <a:srgbClr val="00A6A6"/>
            </a:solidFill>
            <a:ln>
              <a:noFill/>
            </a:ln>
          </p:spPr>
        </p:sp>
        <p:sp>
          <p:nvSpPr>
            <p:cNvPr id="37" name="Ellipse 37"/>
            <p:cNvSpPr/>
            <p:nvPr/>
          </p:nvSpPr>
          <p:spPr>
            <a:xfrm>
              <a:off x="9658350" y="2133600"/>
              <a:ext cx="114300" cy="114300"/>
            </a:xfrm>
            <a:prstGeom prst="ellipse">
              <a:avLst/>
            </a:prstGeom>
            <a:solidFill>
              <a:srgbClr val="2E86AB"/>
            </a:solidFill>
            <a:ln>
              <a:noFill/>
            </a:ln>
          </p:spPr>
        </p:sp>
        <p:sp>
          <p:nvSpPr>
            <p:cNvPr id="38" name="Ellipse 38"/>
            <p:cNvSpPr/>
            <p:nvPr/>
          </p:nvSpPr>
          <p:spPr>
            <a:xfrm>
              <a:off x="10801350" y="2219325"/>
              <a:ext cx="114300" cy="114300"/>
            </a:xfrm>
            <a:prstGeom prst="ellipse">
              <a:avLst/>
            </a:prstGeom>
            <a:solidFill>
              <a:srgbClr val="2E86AB"/>
            </a:solidFill>
            <a:ln>
              <a:noFill/>
            </a:ln>
          </p:spPr>
        </p:sp>
        <p:sp>
          <p:nvSpPr>
            <p:cNvPr id="39" name="TextBox 39"/>
            <p:cNvSpPr txBox="1"/>
            <p:nvPr/>
          </p:nvSpPr>
          <p:spPr>
            <a:xfrm>
              <a:off x="6047937" y="4077652"/>
              <a:ext cx="477126"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0,9261</a:t>
              </a:r>
            </a:p>
          </p:txBody>
        </p:sp>
        <p:sp>
          <p:nvSpPr>
            <p:cNvPr id="40" name="TextBox 40"/>
            <p:cNvSpPr txBox="1"/>
            <p:nvPr/>
          </p:nvSpPr>
          <p:spPr>
            <a:xfrm>
              <a:off x="7190937" y="2325052"/>
              <a:ext cx="477126"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0,9625</a:t>
              </a:r>
            </a:p>
          </p:txBody>
        </p:sp>
        <p:sp>
          <p:nvSpPr>
            <p:cNvPr id="41" name="TextBox 41"/>
            <p:cNvSpPr txBox="1"/>
            <p:nvPr/>
          </p:nvSpPr>
          <p:spPr>
            <a:xfrm>
              <a:off x="8322275" y="1896428"/>
              <a:ext cx="500449" cy="205359"/>
            </a:xfrm>
            <a:prstGeom prst="rect">
              <a:avLst/>
            </a:prstGeom>
            <a:noFill/>
            <a:ln>
              <a:noFill/>
            </a:ln>
          </p:spPr>
          <p:txBody>
            <a:bodyPr wrap="none" lIns="0" tIns="0" rIns="0" bIns="0" anchor="t" anchorCtr="0">
              <a:spAutoFit/>
            </a:bodyPr>
            <a:lstStyle/>
            <a:p>
              <a:pPr algn="ctr"/>
              <a:r>
                <a:rPr lang="tr-TR" sz="1050" b="1" dirty="0">
                  <a:solidFill>
                    <a:srgbClr val="12355B"/>
                  </a:solidFill>
                  <a:latin typeface="+mn-lt"/>
                  <a:ea typeface="+mn-ea"/>
                  <a:cs typeface="+mn-cs"/>
                </a:rPr>
                <a:t>0,9713</a:t>
              </a:r>
            </a:p>
          </p:txBody>
        </p:sp>
        <p:sp>
          <p:nvSpPr>
            <p:cNvPr id="42" name="TextBox 42"/>
            <p:cNvSpPr txBox="1"/>
            <p:nvPr/>
          </p:nvSpPr>
          <p:spPr>
            <a:xfrm>
              <a:off x="9476937" y="1905952"/>
              <a:ext cx="477126"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0,9711</a:t>
              </a:r>
            </a:p>
          </p:txBody>
        </p:sp>
        <p:sp>
          <p:nvSpPr>
            <p:cNvPr id="43" name="TextBox 43"/>
            <p:cNvSpPr txBox="1"/>
            <p:nvPr/>
          </p:nvSpPr>
          <p:spPr>
            <a:xfrm>
              <a:off x="10619937" y="1991678"/>
              <a:ext cx="477126"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0,9693</a:t>
              </a:r>
            </a:p>
          </p:txBody>
        </p:sp>
        <p:sp>
          <p:nvSpPr>
            <p:cNvPr id="44" name="TextBox 44"/>
            <p:cNvSpPr txBox="1"/>
            <p:nvPr/>
          </p:nvSpPr>
          <p:spPr>
            <a:xfrm>
              <a:off x="6102706" y="4747260"/>
              <a:ext cx="367589"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0,01</a:t>
              </a:r>
            </a:p>
          </p:txBody>
        </p:sp>
        <p:sp>
          <p:nvSpPr>
            <p:cNvPr id="45" name="TextBox 45"/>
            <p:cNvSpPr txBox="1"/>
            <p:nvPr/>
          </p:nvSpPr>
          <p:spPr>
            <a:xfrm>
              <a:off x="7245706" y="4747260"/>
              <a:ext cx="367589"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0,05</a:t>
              </a:r>
            </a:p>
          </p:txBody>
        </p:sp>
        <p:sp>
          <p:nvSpPr>
            <p:cNvPr id="46" name="TextBox 46"/>
            <p:cNvSpPr txBox="1"/>
            <p:nvPr/>
          </p:nvSpPr>
          <p:spPr>
            <a:xfrm>
              <a:off x="8426467" y="4747260"/>
              <a:ext cx="292067"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0,1</a:t>
              </a:r>
            </a:p>
          </p:txBody>
        </p:sp>
        <p:sp>
          <p:nvSpPr>
            <p:cNvPr id="47" name="TextBox 47"/>
            <p:cNvSpPr txBox="1"/>
            <p:nvPr/>
          </p:nvSpPr>
          <p:spPr>
            <a:xfrm>
              <a:off x="9576130" y="4747260"/>
              <a:ext cx="278740"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0,3</a:t>
              </a:r>
            </a:p>
          </p:txBody>
        </p:sp>
        <p:sp>
          <p:nvSpPr>
            <p:cNvPr id="48" name="TextBox 48"/>
            <p:cNvSpPr txBox="1"/>
            <p:nvPr/>
          </p:nvSpPr>
          <p:spPr>
            <a:xfrm>
              <a:off x="10719130" y="4747260"/>
              <a:ext cx="278740"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0,5</a:t>
              </a:r>
            </a:p>
          </p:txBody>
        </p:sp>
        <p:sp>
          <p:nvSpPr>
            <p:cNvPr id="49" name="TextBox 49"/>
            <p:cNvSpPr txBox="1"/>
            <p:nvPr/>
          </p:nvSpPr>
          <p:spPr>
            <a:xfrm>
              <a:off x="5899404" y="5013960"/>
              <a:ext cx="108646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learning_rate</a:t>
              </a:r>
            </a:p>
          </p:txBody>
        </p:sp>
        <p:sp>
          <p:nvSpPr>
            <p:cNvPr id="50" name="TextBox 50"/>
            <p:cNvSpPr txBox="1"/>
            <p:nvPr/>
          </p:nvSpPr>
          <p:spPr>
            <a:xfrm>
              <a:off x="5671566" y="5239702"/>
              <a:ext cx="319568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Çok düşük oran sabit ağaç sayısıyla yeterince</a:t>
              </a:r>
            </a:p>
          </p:txBody>
        </p:sp>
        <p:sp>
          <p:nvSpPr>
            <p:cNvPr id="51" name="TextBox 51"/>
            <p:cNvSpPr txBox="1"/>
            <p:nvPr/>
          </p:nvSpPr>
          <p:spPr>
            <a:xfrm>
              <a:off x="5671566" y="5411152"/>
              <a:ext cx="386248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yakınsayamaz; yüksek oranlar aşırı öğrenmeye kayar —</a:t>
              </a:r>
            </a:p>
          </p:txBody>
        </p:sp>
        <p:sp>
          <p:nvSpPr>
            <p:cNvPr id="52" name="TextBox 52"/>
            <p:cNvSpPr txBox="1"/>
            <p:nvPr/>
          </p:nvSpPr>
          <p:spPr>
            <a:xfrm>
              <a:off x="5671566" y="5582602"/>
              <a:ext cx="323347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orta değerler (0,05-0,1) en iyi dengeyi kurar.</a:t>
              </a:r>
            </a:p>
          </p:txBody>
        </p:sp>
      </p:grpSp>
      <p:sp>
        <p:nvSpPr>
          <p:cNvPr id="54" name="TextBox 5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25</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10328692" cy="629412"/>
            <a:chOff x="609600" y="171450"/>
            <a:chExt cx="10328692" cy="629412"/>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55995" y="317845"/>
                <a:ext cx="278710" cy="278710"/>
                <a:chOff x="755995" y="317845"/>
                <a:chExt cx="278710" cy="278710"/>
              </a:xfrm>
            </p:grpSpPr>
            <p:sp>
              <p:nvSpPr>
                <p:cNvPr id="5" name="Freeform 5"/>
                <p:cNvSpPr/>
                <p:nvPr/>
              </p:nvSpPr>
              <p:spPr>
                <a:xfrm>
                  <a:off x="755995" y="317845"/>
                  <a:ext cx="278710" cy="278710"/>
                </a:xfrm>
                <a:custGeom>
                  <a:avLst/>
                  <a:gdLst/>
                  <a:ahLst/>
                  <a:cxnLst/>
                  <a:rect l="l" t="t" r="r" b="b"/>
                  <a:pathLst>
                    <a:path w="278710" h="278710">
                      <a:moveTo>
                        <a:pt x="114626" y="25925"/>
                      </a:moveTo>
                      <a:cubicBezTo>
                        <a:pt x="120915" y="0"/>
                        <a:pt x="157795" y="0"/>
                        <a:pt x="164084" y="25925"/>
                      </a:cubicBezTo>
                      <a:cubicBezTo>
                        <a:pt x="165998" y="33825"/>
                        <a:pt x="171570" y="40335"/>
                        <a:pt x="179079" y="43446"/>
                      </a:cubicBezTo>
                      <a:cubicBezTo>
                        <a:pt x="186588" y="46557"/>
                        <a:pt x="195132" y="45895"/>
                        <a:pt x="202071" y="41663"/>
                      </a:cubicBezTo>
                      <a:cubicBezTo>
                        <a:pt x="224852" y="27785"/>
                        <a:pt x="250939" y="53858"/>
                        <a:pt x="237062" y="76653"/>
                      </a:cubicBezTo>
                      <a:cubicBezTo>
                        <a:pt x="232836" y="83590"/>
                        <a:pt x="232176" y="92127"/>
                        <a:pt x="235283" y="99631"/>
                      </a:cubicBezTo>
                      <a:cubicBezTo>
                        <a:pt x="238390" y="107136"/>
                        <a:pt x="244893" y="112706"/>
                        <a:pt x="252785" y="114626"/>
                      </a:cubicBezTo>
                      <a:cubicBezTo>
                        <a:pt x="278710" y="120915"/>
                        <a:pt x="278710" y="157795"/>
                        <a:pt x="252785" y="164084"/>
                      </a:cubicBezTo>
                      <a:cubicBezTo>
                        <a:pt x="244885" y="165998"/>
                        <a:pt x="238375" y="171570"/>
                        <a:pt x="235264" y="179079"/>
                      </a:cubicBezTo>
                      <a:cubicBezTo>
                        <a:pt x="232153" y="186588"/>
                        <a:pt x="232815" y="195132"/>
                        <a:pt x="237047" y="202071"/>
                      </a:cubicBezTo>
                      <a:cubicBezTo>
                        <a:pt x="250925" y="224852"/>
                        <a:pt x="224852" y="250939"/>
                        <a:pt x="202057" y="237062"/>
                      </a:cubicBezTo>
                      <a:cubicBezTo>
                        <a:pt x="195120" y="232836"/>
                        <a:pt x="186583" y="232176"/>
                        <a:pt x="179079" y="235283"/>
                      </a:cubicBezTo>
                      <a:cubicBezTo>
                        <a:pt x="171574" y="238390"/>
                        <a:pt x="166004" y="244893"/>
                        <a:pt x="164084" y="252785"/>
                      </a:cubicBezTo>
                      <a:cubicBezTo>
                        <a:pt x="157795" y="278710"/>
                        <a:pt x="120915" y="278710"/>
                        <a:pt x="114626" y="252785"/>
                      </a:cubicBezTo>
                      <a:cubicBezTo>
                        <a:pt x="112712" y="244885"/>
                        <a:pt x="107140" y="238375"/>
                        <a:pt x="99631" y="235264"/>
                      </a:cubicBezTo>
                      <a:cubicBezTo>
                        <a:pt x="92122" y="232153"/>
                        <a:pt x="83578" y="232815"/>
                        <a:pt x="76639" y="237047"/>
                      </a:cubicBezTo>
                      <a:cubicBezTo>
                        <a:pt x="53858" y="250925"/>
                        <a:pt x="27771" y="224852"/>
                        <a:pt x="41649" y="202057"/>
                      </a:cubicBezTo>
                      <a:cubicBezTo>
                        <a:pt x="45874" y="195120"/>
                        <a:pt x="46535" y="186583"/>
                        <a:pt x="43427" y="179079"/>
                      </a:cubicBezTo>
                      <a:cubicBezTo>
                        <a:pt x="40320" y="171574"/>
                        <a:pt x="33817" y="166004"/>
                        <a:pt x="25925" y="164084"/>
                      </a:cubicBezTo>
                      <a:cubicBezTo>
                        <a:pt x="0" y="157795"/>
                        <a:pt x="0" y="120915"/>
                        <a:pt x="25925" y="114626"/>
                      </a:cubicBezTo>
                      <a:cubicBezTo>
                        <a:pt x="33825" y="112712"/>
                        <a:pt x="40335" y="107140"/>
                        <a:pt x="43446" y="99631"/>
                      </a:cubicBezTo>
                      <a:cubicBezTo>
                        <a:pt x="46557" y="92122"/>
                        <a:pt x="45895" y="83578"/>
                        <a:pt x="41663" y="76639"/>
                      </a:cubicBezTo>
                      <a:cubicBezTo>
                        <a:pt x="27785" y="53858"/>
                        <a:pt x="53858" y="27771"/>
                        <a:pt x="76653" y="41649"/>
                      </a:cubicBezTo>
                      <a:cubicBezTo>
                        <a:pt x="91417" y="50625"/>
                        <a:pt x="110551" y="42682"/>
                        <a:pt x="114626" y="25925"/>
                      </a:cubicBezTo>
                    </a:path>
                  </a:pathLst>
                </a:custGeom>
                <a:noFill/>
                <a:ln w="24759" cap="rnd">
                  <a:solidFill>
                    <a:srgbClr val="FFFFFF"/>
                  </a:solidFill>
                  <a:round/>
                </a:ln>
              </p:spPr>
            </p:sp>
            <p:sp>
              <p:nvSpPr>
                <p:cNvPr id="6" name="Freeform 6"/>
                <p:cNvSpPr/>
                <p:nvPr/>
              </p:nvSpPr>
              <p:spPr>
                <a:xfrm>
                  <a:off x="851059" y="412909"/>
                  <a:ext cx="88582" cy="88582"/>
                </a:xfrm>
                <a:custGeom>
                  <a:avLst/>
                  <a:gdLst/>
                  <a:ahLst/>
                  <a:cxnLst/>
                  <a:rect l="l" t="t" r="r" b="b"/>
                  <a:pathLst>
                    <a:path w="88582" h="88582">
                      <a:moveTo>
                        <a:pt x="0" y="44291"/>
                      </a:moveTo>
                      <a:cubicBezTo>
                        <a:pt x="0" y="68753"/>
                        <a:pt x="19830" y="88582"/>
                        <a:pt x="44291" y="88582"/>
                      </a:cubicBezTo>
                      <a:cubicBezTo>
                        <a:pt x="68753" y="88582"/>
                        <a:pt x="88582" y="68753"/>
                        <a:pt x="88582" y="44291"/>
                      </a:cubicBezTo>
                      <a:cubicBezTo>
                        <a:pt x="88582" y="19830"/>
                        <a:pt x="68753" y="0"/>
                        <a:pt x="44291" y="0"/>
                      </a:cubicBezTo>
                      <a:cubicBezTo>
                        <a:pt x="19830" y="0"/>
                        <a:pt x="0" y="19830"/>
                        <a:pt x="0" y="44291"/>
                      </a:cubicBezTo>
                    </a:path>
                  </a:pathLst>
                </a:custGeom>
                <a:noFill/>
                <a:ln w="24759" cap="rnd">
                  <a:solidFill>
                    <a:srgbClr val="FFFFFF"/>
                  </a:solidFill>
                  <a:round/>
                </a:ln>
              </p:spPr>
            </p:sp>
          </p:grpSp>
        </p:grpSp>
        <p:sp>
          <p:nvSpPr>
            <p:cNvPr id="9" name="TextBox 9"/>
            <p:cNvSpPr txBox="1"/>
            <p:nvPr/>
          </p:nvSpPr>
          <p:spPr>
            <a:xfrm>
              <a:off x="1302258" y="331470"/>
              <a:ext cx="9636034" cy="469392"/>
            </a:xfrm>
            <a:prstGeom prst="rect">
              <a:avLst/>
            </a:prstGeom>
            <a:noFill/>
            <a:ln>
              <a:noFill/>
            </a:ln>
          </p:spPr>
          <p:txBody>
            <a:bodyPr wrap="none" lIns="0" tIns="0" rIns="0" bIns="0" anchor="t" anchorCtr="0">
              <a:spAutoFit/>
            </a:bodyPr>
            <a:lstStyle/>
            <a:p>
              <a:pPr algn="l"/>
              <a:r>
                <a:rPr lang="tr-TR" sz="2400" b="1" dirty="0">
                  <a:solidFill>
                    <a:srgbClr val="FFFFFF"/>
                  </a:solidFill>
                  <a:latin typeface="+mj-lt"/>
                  <a:ea typeface="+mj-ea"/>
                  <a:cs typeface="+mj-cs"/>
                </a:rPr>
                <a:t>Hiperparametre optimizasyonu: ızgaradan sıralı aramaya</a:t>
              </a:r>
            </a:p>
          </p:txBody>
        </p:sp>
      </p:grpSp>
      <p:grpSp>
        <p:nvGrpSpPr>
          <p:cNvPr id="13" name="intro"/>
          <p:cNvGrpSpPr/>
          <p:nvPr/>
        </p:nvGrpSpPr>
        <p:grpSpPr>
          <a:xfrm>
            <a:off x="601599" y="1201579"/>
            <a:ext cx="9168988" cy="555689"/>
            <a:chOff x="601599" y="1201579"/>
            <a:chExt cx="9168988" cy="555689"/>
          </a:xfrm>
        </p:grpSpPr>
        <p:sp>
          <p:nvSpPr>
            <p:cNvPr id="11" name="TextBox 11"/>
            <p:cNvSpPr txBox="1"/>
            <p:nvPr/>
          </p:nvSpPr>
          <p:spPr>
            <a:xfrm>
              <a:off x="601599" y="1201579"/>
              <a:ext cx="916898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Model performansını doğrulama setinde maksimize eden hiperparametre kombinasyonunu</a:t>
              </a:r>
            </a:p>
          </p:txBody>
        </p:sp>
        <p:sp>
          <p:nvSpPr>
            <p:cNvPr id="12" name="TextBox 12"/>
            <p:cNvSpPr txBox="1"/>
            <p:nvPr/>
          </p:nvSpPr>
          <p:spPr>
            <a:xfrm>
              <a:off x="601599" y="1449229"/>
              <a:ext cx="346173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sistematik biçimde arama süreci.</a:t>
              </a:r>
            </a:p>
          </p:txBody>
        </p:sp>
      </p:grpSp>
      <p:grpSp>
        <p:nvGrpSpPr>
          <p:cNvPr id="42" name="panel-grid"/>
          <p:cNvGrpSpPr/>
          <p:nvPr/>
        </p:nvGrpSpPr>
        <p:grpSpPr>
          <a:xfrm>
            <a:off x="609600" y="1866900"/>
            <a:ext cx="5295900" cy="2759011"/>
            <a:chOff x="609600" y="1866900"/>
            <a:chExt cx="5295900" cy="2759011"/>
          </a:xfrm>
        </p:grpSpPr>
        <p:sp>
          <p:nvSpPr>
            <p:cNvPr id="14" name="Rectangle 14"/>
            <p:cNvSpPr/>
            <p:nvPr/>
          </p:nvSpPr>
          <p:spPr>
            <a:xfrm>
              <a:off x="609600" y="1866900"/>
              <a:ext cx="5295900" cy="2705100"/>
            </a:xfrm>
            <a:prstGeom prst="roundRect">
              <a:avLst>
                <a:gd name="adj" fmla="val 3521"/>
              </a:avLst>
            </a:prstGeom>
            <a:solidFill>
              <a:srgbClr val="FFFFFF"/>
            </a:solidFill>
            <a:ln w="14288">
              <a:solidFill>
                <a:srgbClr val="2E86AB"/>
              </a:solidFill>
            </a:ln>
          </p:spPr>
        </p:sp>
        <p:sp>
          <p:nvSpPr>
            <p:cNvPr id="15" name="TextBox 15"/>
            <p:cNvSpPr txBox="1"/>
            <p:nvPr/>
          </p:nvSpPr>
          <p:spPr>
            <a:xfrm>
              <a:off x="850011" y="2017871"/>
              <a:ext cx="3434049"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GridSearchCV — kaba kuvvet ızgara</a:t>
              </a:r>
            </a:p>
          </p:txBody>
        </p:sp>
        <p:sp>
          <p:nvSpPr>
            <p:cNvPr id="16" name="Ellipse 16"/>
            <p:cNvSpPr/>
            <p:nvPr/>
          </p:nvSpPr>
          <p:spPr>
            <a:xfrm>
              <a:off x="1285875" y="2524125"/>
              <a:ext cx="95250" cy="95250"/>
            </a:xfrm>
            <a:prstGeom prst="ellipse">
              <a:avLst/>
            </a:prstGeom>
            <a:solidFill>
              <a:srgbClr val="2E86AB"/>
            </a:solidFill>
            <a:ln>
              <a:noFill/>
            </a:ln>
          </p:spPr>
        </p:sp>
        <p:sp>
          <p:nvSpPr>
            <p:cNvPr id="17" name="Ellipse 17"/>
            <p:cNvSpPr/>
            <p:nvPr/>
          </p:nvSpPr>
          <p:spPr>
            <a:xfrm>
              <a:off x="2238375" y="2524125"/>
              <a:ext cx="95250" cy="95250"/>
            </a:xfrm>
            <a:prstGeom prst="ellipse">
              <a:avLst/>
            </a:prstGeom>
            <a:solidFill>
              <a:srgbClr val="2E86AB"/>
            </a:solidFill>
            <a:ln>
              <a:noFill/>
            </a:ln>
          </p:spPr>
        </p:sp>
        <p:sp>
          <p:nvSpPr>
            <p:cNvPr id="18" name="Ellipse 18"/>
            <p:cNvSpPr/>
            <p:nvPr/>
          </p:nvSpPr>
          <p:spPr>
            <a:xfrm>
              <a:off x="3190875" y="2524125"/>
              <a:ext cx="95250" cy="95250"/>
            </a:xfrm>
            <a:prstGeom prst="ellipse">
              <a:avLst/>
            </a:prstGeom>
            <a:solidFill>
              <a:srgbClr val="2E86AB"/>
            </a:solidFill>
            <a:ln>
              <a:noFill/>
            </a:ln>
          </p:spPr>
        </p:sp>
        <p:sp>
          <p:nvSpPr>
            <p:cNvPr id="19" name="Ellipse 19"/>
            <p:cNvSpPr/>
            <p:nvPr/>
          </p:nvSpPr>
          <p:spPr>
            <a:xfrm>
              <a:off x="4143375" y="2524125"/>
              <a:ext cx="95250" cy="95250"/>
            </a:xfrm>
            <a:prstGeom prst="ellipse">
              <a:avLst/>
            </a:prstGeom>
            <a:solidFill>
              <a:srgbClr val="2E86AB"/>
            </a:solidFill>
            <a:ln>
              <a:noFill/>
            </a:ln>
          </p:spPr>
        </p:sp>
        <p:sp>
          <p:nvSpPr>
            <p:cNvPr id="20" name="Ellipse 20"/>
            <p:cNvSpPr/>
            <p:nvPr/>
          </p:nvSpPr>
          <p:spPr>
            <a:xfrm>
              <a:off x="5095875" y="2524125"/>
              <a:ext cx="95250" cy="95250"/>
            </a:xfrm>
            <a:prstGeom prst="ellipse">
              <a:avLst/>
            </a:prstGeom>
            <a:solidFill>
              <a:srgbClr val="2E86AB"/>
            </a:solidFill>
            <a:ln>
              <a:noFill/>
            </a:ln>
          </p:spPr>
        </p:sp>
        <p:sp>
          <p:nvSpPr>
            <p:cNvPr id="21" name="Ellipse 21"/>
            <p:cNvSpPr/>
            <p:nvPr/>
          </p:nvSpPr>
          <p:spPr>
            <a:xfrm>
              <a:off x="1285875" y="2905125"/>
              <a:ext cx="95250" cy="95250"/>
            </a:xfrm>
            <a:prstGeom prst="ellipse">
              <a:avLst/>
            </a:prstGeom>
            <a:solidFill>
              <a:srgbClr val="2E86AB"/>
            </a:solidFill>
            <a:ln>
              <a:noFill/>
            </a:ln>
          </p:spPr>
        </p:sp>
        <p:sp>
          <p:nvSpPr>
            <p:cNvPr id="22" name="Ellipse 22"/>
            <p:cNvSpPr/>
            <p:nvPr/>
          </p:nvSpPr>
          <p:spPr>
            <a:xfrm>
              <a:off x="2238375" y="2905125"/>
              <a:ext cx="95250" cy="95250"/>
            </a:xfrm>
            <a:prstGeom prst="ellipse">
              <a:avLst/>
            </a:prstGeom>
            <a:solidFill>
              <a:srgbClr val="2E86AB"/>
            </a:solidFill>
            <a:ln>
              <a:noFill/>
            </a:ln>
          </p:spPr>
        </p:sp>
        <p:sp>
          <p:nvSpPr>
            <p:cNvPr id="23" name="Ellipse 23"/>
            <p:cNvSpPr/>
            <p:nvPr/>
          </p:nvSpPr>
          <p:spPr>
            <a:xfrm>
              <a:off x="3190875" y="2905125"/>
              <a:ext cx="95250" cy="95250"/>
            </a:xfrm>
            <a:prstGeom prst="ellipse">
              <a:avLst/>
            </a:prstGeom>
            <a:solidFill>
              <a:srgbClr val="2E86AB"/>
            </a:solidFill>
            <a:ln>
              <a:noFill/>
            </a:ln>
          </p:spPr>
        </p:sp>
        <p:sp>
          <p:nvSpPr>
            <p:cNvPr id="24" name="Ellipse 24"/>
            <p:cNvSpPr/>
            <p:nvPr/>
          </p:nvSpPr>
          <p:spPr>
            <a:xfrm>
              <a:off x="4143375" y="2905125"/>
              <a:ext cx="95250" cy="95250"/>
            </a:xfrm>
            <a:prstGeom prst="ellipse">
              <a:avLst/>
            </a:prstGeom>
            <a:solidFill>
              <a:srgbClr val="2E86AB"/>
            </a:solidFill>
            <a:ln>
              <a:noFill/>
            </a:ln>
          </p:spPr>
        </p:sp>
        <p:sp>
          <p:nvSpPr>
            <p:cNvPr id="25" name="Ellipse 25"/>
            <p:cNvSpPr/>
            <p:nvPr/>
          </p:nvSpPr>
          <p:spPr>
            <a:xfrm>
              <a:off x="5095875" y="2905125"/>
              <a:ext cx="95250" cy="95250"/>
            </a:xfrm>
            <a:prstGeom prst="ellipse">
              <a:avLst/>
            </a:prstGeom>
            <a:solidFill>
              <a:srgbClr val="2E86AB"/>
            </a:solidFill>
            <a:ln>
              <a:noFill/>
            </a:ln>
          </p:spPr>
        </p:sp>
        <p:sp>
          <p:nvSpPr>
            <p:cNvPr id="26" name="Ellipse 26"/>
            <p:cNvSpPr/>
            <p:nvPr/>
          </p:nvSpPr>
          <p:spPr>
            <a:xfrm>
              <a:off x="1285875" y="3286125"/>
              <a:ext cx="95250" cy="95250"/>
            </a:xfrm>
            <a:prstGeom prst="ellipse">
              <a:avLst/>
            </a:prstGeom>
            <a:solidFill>
              <a:srgbClr val="2E86AB"/>
            </a:solidFill>
            <a:ln>
              <a:noFill/>
            </a:ln>
          </p:spPr>
        </p:sp>
        <p:sp>
          <p:nvSpPr>
            <p:cNvPr id="27" name="Ellipse 27"/>
            <p:cNvSpPr/>
            <p:nvPr/>
          </p:nvSpPr>
          <p:spPr>
            <a:xfrm>
              <a:off x="2238375" y="3286125"/>
              <a:ext cx="95250" cy="95250"/>
            </a:xfrm>
            <a:prstGeom prst="ellipse">
              <a:avLst/>
            </a:prstGeom>
            <a:solidFill>
              <a:srgbClr val="2E86AB"/>
            </a:solidFill>
            <a:ln>
              <a:noFill/>
            </a:ln>
          </p:spPr>
        </p:sp>
        <p:sp>
          <p:nvSpPr>
            <p:cNvPr id="28" name="Ellipse 28"/>
            <p:cNvSpPr/>
            <p:nvPr/>
          </p:nvSpPr>
          <p:spPr>
            <a:xfrm>
              <a:off x="3190875" y="3286125"/>
              <a:ext cx="95250" cy="95250"/>
            </a:xfrm>
            <a:prstGeom prst="ellipse">
              <a:avLst/>
            </a:prstGeom>
            <a:solidFill>
              <a:srgbClr val="2E86AB"/>
            </a:solidFill>
            <a:ln>
              <a:noFill/>
            </a:ln>
          </p:spPr>
        </p:sp>
        <p:sp>
          <p:nvSpPr>
            <p:cNvPr id="29" name="Ellipse 29"/>
            <p:cNvSpPr/>
            <p:nvPr/>
          </p:nvSpPr>
          <p:spPr>
            <a:xfrm>
              <a:off x="4143375" y="3286125"/>
              <a:ext cx="95250" cy="95250"/>
            </a:xfrm>
            <a:prstGeom prst="ellipse">
              <a:avLst/>
            </a:prstGeom>
            <a:solidFill>
              <a:srgbClr val="2E86AB"/>
            </a:solidFill>
            <a:ln>
              <a:noFill/>
            </a:ln>
          </p:spPr>
        </p:sp>
        <p:sp>
          <p:nvSpPr>
            <p:cNvPr id="30" name="Ellipse 30"/>
            <p:cNvSpPr/>
            <p:nvPr/>
          </p:nvSpPr>
          <p:spPr>
            <a:xfrm>
              <a:off x="5095875" y="3286125"/>
              <a:ext cx="95250" cy="95250"/>
            </a:xfrm>
            <a:prstGeom prst="ellipse">
              <a:avLst/>
            </a:prstGeom>
            <a:solidFill>
              <a:srgbClr val="2E86AB"/>
            </a:solidFill>
            <a:ln>
              <a:noFill/>
            </a:ln>
          </p:spPr>
        </p:sp>
        <p:sp>
          <p:nvSpPr>
            <p:cNvPr id="31" name="Ellipse 31"/>
            <p:cNvSpPr/>
            <p:nvPr/>
          </p:nvSpPr>
          <p:spPr>
            <a:xfrm>
              <a:off x="1285875" y="3667125"/>
              <a:ext cx="95250" cy="95250"/>
            </a:xfrm>
            <a:prstGeom prst="ellipse">
              <a:avLst/>
            </a:prstGeom>
            <a:solidFill>
              <a:srgbClr val="2E86AB"/>
            </a:solidFill>
            <a:ln>
              <a:noFill/>
            </a:ln>
          </p:spPr>
        </p:sp>
        <p:sp>
          <p:nvSpPr>
            <p:cNvPr id="32" name="Ellipse 32"/>
            <p:cNvSpPr/>
            <p:nvPr/>
          </p:nvSpPr>
          <p:spPr>
            <a:xfrm>
              <a:off x="2238375" y="3667125"/>
              <a:ext cx="95250" cy="95250"/>
            </a:xfrm>
            <a:prstGeom prst="ellipse">
              <a:avLst/>
            </a:prstGeom>
            <a:solidFill>
              <a:srgbClr val="2E86AB"/>
            </a:solidFill>
            <a:ln>
              <a:noFill/>
            </a:ln>
          </p:spPr>
        </p:sp>
        <p:sp>
          <p:nvSpPr>
            <p:cNvPr id="33" name="Ellipse 33"/>
            <p:cNvSpPr/>
            <p:nvPr/>
          </p:nvSpPr>
          <p:spPr>
            <a:xfrm>
              <a:off x="3190875" y="3667125"/>
              <a:ext cx="95250" cy="95250"/>
            </a:xfrm>
            <a:prstGeom prst="ellipse">
              <a:avLst/>
            </a:prstGeom>
            <a:solidFill>
              <a:srgbClr val="2E86AB"/>
            </a:solidFill>
            <a:ln>
              <a:noFill/>
            </a:ln>
          </p:spPr>
        </p:sp>
        <p:sp>
          <p:nvSpPr>
            <p:cNvPr id="34" name="Ellipse 34"/>
            <p:cNvSpPr/>
            <p:nvPr/>
          </p:nvSpPr>
          <p:spPr>
            <a:xfrm>
              <a:off x="4143375" y="3667125"/>
              <a:ext cx="95250" cy="95250"/>
            </a:xfrm>
            <a:prstGeom prst="ellipse">
              <a:avLst/>
            </a:prstGeom>
            <a:solidFill>
              <a:srgbClr val="2E86AB"/>
            </a:solidFill>
            <a:ln>
              <a:noFill/>
            </a:ln>
          </p:spPr>
        </p:sp>
        <p:sp>
          <p:nvSpPr>
            <p:cNvPr id="35" name="Ellipse 35"/>
            <p:cNvSpPr/>
            <p:nvPr/>
          </p:nvSpPr>
          <p:spPr>
            <a:xfrm>
              <a:off x="5095875" y="3667125"/>
              <a:ext cx="95250" cy="95250"/>
            </a:xfrm>
            <a:prstGeom prst="ellipse">
              <a:avLst/>
            </a:prstGeom>
            <a:solidFill>
              <a:srgbClr val="2E86AB"/>
            </a:solidFill>
            <a:ln>
              <a:noFill/>
            </a:ln>
          </p:spPr>
        </p:sp>
        <p:sp>
          <p:nvSpPr>
            <p:cNvPr id="36" name="Ellipse 36"/>
            <p:cNvSpPr/>
            <p:nvPr/>
          </p:nvSpPr>
          <p:spPr>
            <a:xfrm>
              <a:off x="1285875" y="4048125"/>
              <a:ext cx="95250" cy="95250"/>
            </a:xfrm>
            <a:prstGeom prst="ellipse">
              <a:avLst/>
            </a:prstGeom>
            <a:solidFill>
              <a:srgbClr val="2E86AB"/>
            </a:solidFill>
            <a:ln>
              <a:noFill/>
            </a:ln>
          </p:spPr>
        </p:sp>
        <p:sp>
          <p:nvSpPr>
            <p:cNvPr id="37" name="Ellipse 37"/>
            <p:cNvSpPr/>
            <p:nvPr/>
          </p:nvSpPr>
          <p:spPr>
            <a:xfrm>
              <a:off x="2238375" y="4048125"/>
              <a:ext cx="95250" cy="95250"/>
            </a:xfrm>
            <a:prstGeom prst="ellipse">
              <a:avLst/>
            </a:prstGeom>
            <a:solidFill>
              <a:srgbClr val="2E86AB"/>
            </a:solidFill>
            <a:ln>
              <a:noFill/>
            </a:ln>
          </p:spPr>
        </p:sp>
        <p:sp>
          <p:nvSpPr>
            <p:cNvPr id="38" name="Ellipse 38"/>
            <p:cNvSpPr/>
            <p:nvPr/>
          </p:nvSpPr>
          <p:spPr>
            <a:xfrm>
              <a:off x="3190875" y="4048125"/>
              <a:ext cx="95250" cy="95250"/>
            </a:xfrm>
            <a:prstGeom prst="ellipse">
              <a:avLst/>
            </a:prstGeom>
            <a:solidFill>
              <a:srgbClr val="2E86AB"/>
            </a:solidFill>
            <a:ln>
              <a:noFill/>
            </a:ln>
          </p:spPr>
        </p:sp>
        <p:sp>
          <p:nvSpPr>
            <p:cNvPr id="39" name="Ellipse 39"/>
            <p:cNvSpPr/>
            <p:nvPr/>
          </p:nvSpPr>
          <p:spPr>
            <a:xfrm>
              <a:off x="4143375" y="4048125"/>
              <a:ext cx="95250" cy="95250"/>
            </a:xfrm>
            <a:prstGeom prst="ellipse">
              <a:avLst/>
            </a:prstGeom>
            <a:solidFill>
              <a:srgbClr val="2E86AB"/>
            </a:solidFill>
            <a:ln>
              <a:noFill/>
            </a:ln>
          </p:spPr>
        </p:sp>
        <p:sp>
          <p:nvSpPr>
            <p:cNvPr id="40" name="Ellipse 40"/>
            <p:cNvSpPr/>
            <p:nvPr/>
          </p:nvSpPr>
          <p:spPr>
            <a:xfrm>
              <a:off x="5095875" y="4048125"/>
              <a:ext cx="95250" cy="95250"/>
            </a:xfrm>
            <a:prstGeom prst="ellipse">
              <a:avLst/>
            </a:prstGeom>
            <a:solidFill>
              <a:srgbClr val="2E86AB"/>
            </a:solidFill>
            <a:ln>
              <a:noFill/>
            </a:ln>
          </p:spPr>
        </p:sp>
        <p:sp>
          <p:nvSpPr>
            <p:cNvPr id="41" name="TextBox 41"/>
            <p:cNvSpPr txBox="1"/>
            <p:nvPr/>
          </p:nvSpPr>
          <p:spPr>
            <a:xfrm>
              <a:off x="851916" y="4077652"/>
              <a:ext cx="2871026" cy="548259"/>
            </a:xfrm>
            <a:prstGeom prst="rect">
              <a:avLst/>
            </a:prstGeom>
            <a:noFill/>
            <a:ln>
              <a:noFill/>
            </a:ln>
          </p:spPr>
          <p:txBody>
            <a:bodyPr wrap="none" lIns="0" tIns="0" rIns="0" bIns="0" anchor="t" anchorCtr="0">
              <a:spAutoFit/>
            </a:bodyPr>
            <a:lstStyle/>
            <a:p>
              <a:pPr algn="l">
                <a:lnSpc>
                  <a:spcPts val="1350"/>
                </a:lnSpc>
              </a:pPr>
              <a:r>
                <a:rPr lang="tr-TR" sz="1050" dirty="0">
                  <a:solidFill>
                    <a:srgbClr val="52616B"/>
                  </a:solidFill>
                  <a:latin typeface="+mn-lt"/>
                  <a:ea typeface="+mn-ea"/>
                  <a:cs typeface="+mn-cs"/>
                </a:rPr>
                <a:t>Önceden tanımlı bir ızgaradaki tüm</a:t>
              </a:r>
              <a:br/>
              <a:r>
                <a:rPr lang="tr-TR" sz="1050" dirty="0">
                  <a:solidFill>
                    <a:srgbClr val="52616B"/>
                  </a:solidFill>
                  <a:latin typeface="+mn-lt"/>
                  <a:ea typeface="+mn-ea"/>
                  <a:cs typeface="+mn-cs"/>
                </a:rPr>
                <a:t>kombinasyonları dener; kombinasyon sayısı</a:t>
              </a:r>
              <a:br/>
              <a:r>
                <a:rPr lang="tr-TR" sz="1050" dirty="0">
                  <a:solidFill>
                    <a:srgbClr val="52616B"/>
                  </a:solidFill>
                  <a:latin typeface="+mn-lt"/>
                  <a:ea typeface="+mn-ea"/>
                  <a:cs typeface="+mn-cs"/>
                </a:rPr>
                <a:t>parametre sayısıyla katlanarak artar.</a:t>
              </a:r>
            </a:p>
          </p:txBody>
        </p:sp>
      </p:grpSp>
      <p:grpSp>
        <p:nvGrpSpPr>
          <p:cNvPr id="56" name="panel-optuna"/>
          <p:cNvGrpSpPr/>
          <p:nvPr/>
        </p:nvGrpSpPr>
        <p:grpSpPr>
          <a:xfrm>
            <a:off x="6286500" y="1866900"/>
            <a:ext cx="5295900" cy="2759011"/>
            <a:chOff x="6286500" y="1866900"/>
            <a:chExt cx="5295900" cy="2759011"/>
          </a:xfrm>
        </p:grpSpPr>
        <p:sp>
          <p:nvSpPr>
            <p:cNvPr id="43" name="Rectangle 43"/>
            <p:cNvSpPr/>
            <p:nvPr/>
          </p:nvSpPr>
          <p:spPr>
            <a:xfrm>
              <a:off x="6286500" y="1866900"/>
              <a:ext cx="5295900" cy="2705100"/>
            </a:xfrm>
            <a:prstGeom prst="roundRect">
              <a:avLst>
                <a:gd name="adj" fmla="val 3521"/>
              </a:avLst>
            </a:prstGeom>
            <a:solidFill>
              <a:srgbClr val="FFFFFF"/>
            </a:solidFill>
            <a:ln w="14288">
              <a:solidFill>
                <a:srgbClr val="2E86AB"/>
              </a:solidFill>
            </a:ln>
          </p:spPr>
        </p:sp>
        <p:sp>
          <p:nvSpPr>
            <p:cNvPr id="44" name="TextBox 44"/>
            <p:cNvSpPr txBox="1"/>
            <p:nvPr/>
          </p:nvSpPr>
          <p:spPr>
            <a:xfrm>
              <a:off x="6526911" y="2017871"/>
              <a:ext cx="3621363"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Optuna — Bayes tabanlı sıralı arama</a:t>
              </a:r>
            </a:p>
          </p:txBody>
        </p:sp>
        <p:sp>
          <p:nvSpPr>
            <p:cNvPr id="45" name="Ellipse 45"/>
            <p:cNvSpPr/>
            <p:nvPr/>
          </p:nvSpPr>
          <p:spPr>
            <a:xfrm>
              <a:off x="8515350" y="2705100"/>
              <a:ext cx="876300" cy="876300"/>
            </a:xfrm>
            <a:prstGeom prst="ellipse">
              <a:avLst/>
            </a:prstGeom>
            <a:noFill/>
            <a:ln w="14288">
              <a:solidFill>
                <a:srgbClr val="00A6A6"/>
              </a:solidFill>
              <a:custDash>
                <a:ds d="333333" sp="266667"/>
              </a:custDash>
            </a:ln>
          </p:spPr>
        </p:sp>
        <p:sp>
          <p:nvSpPr>
            <p:cNvPr id="46" name="Ellipse 46"/>
            <p:cNvSpPr/>
            <p:nvPr/>
          </p:nvSpPr>
          <p:spPr>
            <a:xfrm>
              <a:off x="6772275" y="2390775"/>
              <a:ext cx="95250" cy="95250"/>
            </a:xfrm>
            <a:prstGeom prst="ellipse">
              <a:avLst/>
            </a:prstGeom>
            <a:solidFill>
              <a:srgbClr val="B8CBD3"/>
            </a:solidFill>
            <a:ln>
              <a:noFill/>
            </a:ln>
          </p:spPr>
        </p:sp>
        <p:sp>
          <p:nvSpPr>
            <p:cNvPr id="47" name="Ellipse 47"/>
            <p:cNvSpPr/>
            <p:nvPr/>
          </p:nvSpPr>
          <p:spPr>
            <a:xfrm>
              <a:off x="10201275" y="3762375"/>
              <a:ext cx="95250" cy="95250"/>
            </a:xfrm>
            <a:prstGeom prst="ellipse">
              <a:avLst/>
            </a:prstGeom>
            <a:solidFill>
              <a:srgbClr val="B8CBD3"/>
            </a:solidFill>
            <a:ln>
              <a:noFill/>
            </a:ln>
          </p:spPr>
        </p:sp>
        <p:sp>
          <p:nvSpPr>
            <p:cNvPr id="48" name="Ellipse 48"/>
            <p:cNvSpPr/>
            <p:nvPr/>
          </p:nvSpPr>
          <p:spPr>
            <a:xfrm>
              <a:off x="7724775" y="3800475"/>
              <a:ext cx="95250" cy="95250"/>
            </a:xfrm>
            <a:prstGeom prst="ellipse">
              <a:avLst/>
            </a:prstGeom>
            <a:solidFill>
              <a:srgbClr val="B8CBD3"/>
            </a:solidFill>
            <a:ln>
              <a:noFill/>
            </a:ln>
          </p:spPr>
        </p:sp>
        <p:sp>
          <p:nvSpPr>
            <p:cNvPr id="49" name="Ellipse 49"/>
            <p:cNvSpPr/>
            <p:nvPr/>
          </p:nvSpPr>
          <p:spPr>
            <a:xfrm>
              <a:off x="7153275" y="3533775"/>
              <a:ext cx="95250" cy="95250"/>
            </a:xfrm>
            <a:prstGeom prst="ellipse">
              <a:avLst/>
            </a:prstGeom>
            <a:solidFill>
              <a:srgbClr val="52616B"/>
            </a:solidFill>
            <a:ln>
              <a:noFill/>
            </a:ln>
          </p:spPr>
        </p:sp>
        <p:sp>
          <p:nvSpPr>
            <p:cNvPr id="50" name="TextBox 50"/>
            <p:cNvSpPr txBox="1"/>
            <p:nvPr/>
          </p:nvSpPr>
          <p:spPr>
            <a:xfrm>
              <a:off x="7086619" y="3408045"/>
              <a:ext cx="76162" cy="176212"/>
            </a:xfrm>
            <a:prstGeom prst="rect">
              <a:avLst/>
            </a:prstGeom>
            <a:noFill/>
            <a:ln>
              <a:noFill/>
            </a:ln>
          </p:spPr>
          <p:txBody>
            <a:bodyPr wrap="none" lIns="0" tIns="0" rIns="0" bIns="0" anchor="t" anchorCtr="0">
              <a:spAutoFit/>
            </a:bodyPr>
            <a:lstStyle/>
            <a:p>
              <a:pPr algn="ctr"/>
              <a:r>
                <a:rPr lang="tr-TR" sz="900" dirty="0">
                  <a:solidFill>
                    <a:srgbClr val="52616B"/>
                  </a:solidFill>
                  <a:latin typeface="+mn-lt"/>
                  <a:ea typeface="+mn-ea"/>
                  <a:cs typeface="+mn-cs"/>
                </a:rPr>
                <a:t>×</a:t>
              </a:r>
            </a:p>
          </p:txBody>
        </p:sp>
        <p:sp>
          <p:nvSpPr>
            <p:cNvPr id="51" name="Ellipse 51"/>
            <p:cNvSpPr/>
            <p:nvPr/>
          </p:nvSpPr>
          <p:spPr>
            <a:xfrm>
              <a:off x="9429750" y="2609850"/>
              <a:ext cx="114300" cy="114300"/>
            </a:xfrm>
            <a:prstGeom prst="ellipse">
              <a:avLst/>
            </a:prstGeom>
            <a:solidFill>
              <a:srgbClr val="2E86AB"/>
            </a:solidFill>
            <a:ln>
              <a:noFill/>
            </a:ln>
          </p:spPr>
        </p:sp>
        <p:sp>
          <p:nvSpPr>
            <p:cNvPr id="52" name="Ellipse 52"/>
            <p:cNvSpPr/>
            <p:nvPr/>
          </p:nvSpPr>
          <p:spPr>
            <a:xfrm>
              <a:off x="8515350" y="3467100"/>
              <a:ext cx="114300" cy="114300"/>
            </a:xfrm>
            <a:prstGeom prst="ellipse">
              <a:avLst/>
            </a:prstGeom>
            <a:solidFill>
              <a:srgbClr val="2E86AB"/>
            </a:solidFill>
            <a:ln>
              <a:noFill/>
            </a:ln>
          </p:spPr>
        </p:sp>
        <p:sp>
          <p:nvSpPr>
            <p:cNvPr id="53" name="Ellipse 53"/>
            <p:cNvSpPr/>
            <p:nvPr/>
          </p:nvSpPr>
          <p:spPr>
            <a:xfrm>
              <a:off x="8982075" y="3219450"/>
              <a:ext cx="133350" cy="133350"/>
            </a:xfrm>
            <a:prstGeom prst="ellipse">
              <a:avLst/>
            </a:prstGeom>
            <a:solidFill>
              <a:srgbClr val="00A6A6"/>
            </a:solidFill>
            <a:ln>
              <a:noFill/>
            </a:ln>
          </p:spPr>
        </p:sp>
        <p:sp>
          <p:nvSpPr>
            <p:cNvPr id="54" name="Ellipse 54"/>
            <p:cNvSpPr/>
            <p:nvPr/>
          </p:nvSpPr>
          <p:spPr>
            <a:xfrm>
              <a:off x="8896350" y="3133725"/>
              <a:ext cx="114300" cy="114300"/>
            </a:xfrm>
            <a:prstGeom prst="ellipse">
              <a:avLst/>
            </a:prstGeom>
            <a:solidFill>
              <a:srgbClr val="00A6A6"/>
            </a:solidFill>
            <a:ln>
              <a:noFill/>
            </a:ln>
          </p:spPr>
        </p:sp>
        <p:sp>
          <p:nvSpPr>
            <p:cNvPr id="55" name="TextBox 55"/>
            <p:cNvSpPr txBox="1"/>
            <p:nvPr/>
          </p:nvSpPr>
          <p:spPr>
            <a:xfrm>
              <a:off x="6528816" y="4077652"/>
              <a:ext cx="3037713" cy="548259"/>
            </a:xfrm>
            <a:prstGeom prst="rect">
              <a:avLst/>
            </a:prstGeom>
            <a:noFill/>
            <a:ln>
              <a:noFill/>
            </a:ln>
          </p:spPr>
          <p:txBody>
            <a:bodyPr wrap="none" lIns="0" tIns="0" rIns="0" bIns="0" anchor="t" anchorCtr="0">
              <a:spAutoFit/>
            </a:bodyPr>
            <a:lstStyle/>
            <a:p>
              <a:pPr algn="l">
                <a:lnSpc>
                  <a:spcPts val="1350"/>
                </a:lnSpc>
              </a:pPr>
              <a:r>
                <a:rPr lang="tr-TR" sz="1050" dirty="0">
                  <a:solidFill>
                    <a:srgbClr val="52616B"/>
                  </a:solidFill>
                  <a:latin typeface="+mn-lt"/>
                  <a:ea typeface="+mn-ea"/>
                  <a:cs typeface="+mn-cs"/>
                </a:rPr>
                <a:t>Her deneme öncekilerden öğrenerek umut vaat</a:t>
              </a:r>
              <a:br/>
              <a:r>
                <a:rPr lang="tr-TR" sz="1050" dirty="0">
                  <a:solidFill>
                    <a:srgbClr val="52616B"/>
                  </a:solidFill>
                  <a:latin typeface="+mn-lt"/>
                  <a:ea typeface="+mn-ea"/>
                  <a:cs typeface="+mn-cs"/>
                </a:rPr>
                <a:t>eden bölgeye yoğunlaşır; kötü giden denemeler</a:t>
              </a:r>
              <a:br/>
              <a:r>
                <a:rPr lang="tr-TR" sz="1050" dirty="0">
                  <a:solidFill>
                    <a:srgbClr val="52616B"/>
                  </a:solidFill>
                  <a:latin typeface="+mn-lt"/>
                  <a:ea typeface="+mn-ea"/>
                  <a:cs typeface="+mn-cs"/>
                </a:rPr>
                <a:t>pruning ile erken durur.</a:t>
              </a:r>
            </a:p>
          </p:txBody>
        </p:sp>
      </p:grpSp>
      <p:grpSp>
        <p:nvGrpSpPr>
          <p:cNvPr id="61" name="exam-note"/>
          <p:cNvGrpSpPr/>
          <p:nvPr/>
        </p:nvGrpSpPr>
        <p:grpSpPr>
          <a:xfrm>
            <a:off x="609600" y="4762500"/>
            <a:ext cx="10972800" cy="952500"/>
            <a:chOff x="609600" y="4762500"/>
            <a:chExt cx="10972800" cy="952500"/>
          </a:xfrm>
        </p:grpSpPr>
        <p:sp>
          <p:nvSpPr>
            <p:cNvPr id="57" name="Rectangle 57"/>
            <p:cNvSpPr/>
            <p:nvPr/>
          </p:nvSpPr>
          <p:spPr>
            <a:xfrm>
              <a:off x="609600" y="4762500"/>
              <a:ext cx="10972800" cy="952500"/>
            </a:xfrm>
            <a:prstGeom prst="roundRect">
              <a:avLst>
                <a:gd name="adj" fmla="val 8000"/>
              </a:avLst>
            </a:prstGeom>
            <a:solidFill>
              <a:srgbClr val="EAF4F6"/>
            </a:solidFill>
            <a:ln>
              <a:noFill/>
            </a:ln>
          </p:spPr>
        </p:sp>
        <p:sp>
          <p:nvSpPr>
            <p:cNvPr id="58" name="TextBox 58"/>
            <p:cNvSpPr txBox="1"/>
            <p:nvPr/>
          </p:nvSpPr>
          <p:spPr>
            <a:xfrm>
              <a:off x="906780" y="4886325"/>
              <a:ext cx="1135380"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Sınav notu</a:t>
              </a:r>
            </a:p>
          </p:txBody>
        </p:sp>
        <p:sp>
          <p:nvSpPr>
            <p:cNvPr id="59" name="TextBox 59"/>
            <p:cNvSpPr txBox="1"/>
            <p:nvPr/>
          </p:nvSpPr>
          <p:spPr>
            <a:xfrm>
              <a:off x="907923" y="5177314"/>
              <a:ext cx="742483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GridSearchCV yalnızca önceden tanımlı ayrık ızgara noktalarını dener; Optuna sürekli</a:t>
              </a:r>
            </a:p>
          </p:txBody>
        </p:sp>
        <p:sp>
          <p:nvSpPr>
            <p:cNvPr id="60" name="TextBox 60"/>
            <p:cNvSpPr txBox="1"/>
            <p:nvPr/>
          </p:nvSpPr>
          <p:spPr>
            <a:xfrm>
              <a:off x="907923" y="5405914"/>
              <a:ext cx="656087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hiperparametre uzaylarından akıllıca örnekleyerek genellikle daha verimlidir.</a:t>
              </a:r>
            </a:p>
          </p:txBody>
        </p:sp>
      </p:grpSp>
      <p:sp>
        <p:nvSpPr>
          <p:cNvPr id="62" name="TextBox 6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25</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10352212" cy="668845"/>
            <a:chOff x="609600" y="171450"/>
            <a:chExt cx="10352212"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966184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5 — GridSearchCV ve Optuna karşılaştırması</a:t>
              </a:r>
            </a:p>
          </p:txBody>
        </p:sp>
      </p:grpSp>
      <p:grpSp>
        <p:nvGrpSpPr>
          <p:cNvPr id="13" name="meta-strip"/>
          <p:cNvGrpSpPr/>
          <p:nvPr/>
        </p:nvGrpSpPr>
        <p:grpSpPr>
          <a:xfrm>
            <a:off x="603504" y="1203960"/>
            <a:ext cx="9274864" cy="234696"/>
            <a:chOff x="603504" y="1203960"/>
            <a:chExt cx="9274864" cy="234696"/>
          </a:xfrm>
        </p:grpSpPr>
        <p:sp>
          <p:nvSpPr>
            <p:cNvPr id="12" name="TextBox 12"/>
            <p:cNvSpPr txBox="1"/>
            <p:nvPr/>
          </p:nvSpPr>
          <p:spPr>
            <a:xfrm>
              <a:off x="603504" y="1203960"/>
              <a:ext cx="927486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Girdi: 800 gözlem · GridSearchCV için 2×2×2 ızgara, Optuna için 8 deneme bütçesi · Beklenen çıktı: en iyi AUC ve süre</a:t>
              </a:r>
            </a:p>
          </p:txBody>
        </p:sp>
      </p:grpSp>
      <p:grpSp>
        <p:nvGrpSpPr>
          <p:cNvPr id="27" name="code-panel"/>
          <p:cNvGrpSpPr/>
          <p:nvPr/>
        </p:nvGrpSpPr>
        <p:grpSpPr>
          <a:xfrm>
            <a:off x="609600" y="1638300"/>
            <a:ext cx="6477000" cy="4114800"/>
            <a:chOff x="609600" y="1638300"/>
            <a:chExt cx="6477000" cy="4114800"/>
          </a:xfrm>
        </p:grpSpPr>
        <p:sp>
          <p:nvSpPr>
            <p:cNvPr id="14" name="Rectangle 14"/>
            <p:cNvSpPr/>
            <p:nvPr/>
          </p:nvSpPr>
          <p:spPr>
            <a:xfrm>
              <a:off x="609600" y="1638300"/>
              <a:ext cx="6477000" cy="4114800"/>
            </a:xfrm>
            <a:prstGeom prst="roundRect">
              <a:avLst>
                <a:gd name="adj" fmla="val 2315"/>
              </a:avLst>
            </a:prstGeom>
            <a:solidFill>
              <a:srgbClr val="12355B"/>
            </a:solidFill>
            <a:ln>
              <a:noFill/>
            </a:ln>
          </p:spPr>
        </p:sp>
        <p:sp>
          <p:nvSpPr>
            <p:cNvPr id="15" name="TextBox 15"/>
            <p:cNvSpPr txBox="1"/>
            <p:nvPr/>
          </p:nvSpPr>
          <p:spPr>
            <a:xfrm>
              <a:off x="870204" y="1870710"/>
              <a:ext cx="3485156"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parametreIzgarasi = {"max_depth": [3, 5],</a:t>
              </a:r>
            </a:p>
          </p:txBody>
        </p:sp>
        <p:sp>
          <p:nvSpPr>
            <p:cNvPr id="16" name="TextBox 16"/>
            <p:cNvSpPr txBox="1"/>
            <p:nvPr/>
          </p:nvSpPr>
          <p:spPr>
            <a:xfrm>
              <a:off x="1098804" y="2137410"/>
              <a:ext cx="242727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"learning_rate": [0.05, 0.1],</a:t>
              </a:r>
            </a:p>
          </p:txBody>
        </p:sp>
        <p:sp>
          <p:nvSpPr>
            <p:cNvPr id="17" name="TextBox 17"/>
            <p:cNvSpPr txBox="1"/>
            <p:nvPr/>
          </p:nvSpPr>
          <p:spPr>
            <a:xfrm>
              <a:off x="1098804" y="2404110"/>
              <a:ext cx="232227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"n_estimators": [100, 150]}</a:t>
              </a:r>
            </a:p>
          </p:txBody>
        </p:sp>
        <p:sp>
          <p:nvSpPr>
            <p:cNvPr id="18" name="TextBox 18"/>
            <p:cNvSpPr txBox="1"/>
            <p:nvPr/>
          </p:nvSpPr>
          <p:spPr>
            <a:xfrm>
              <a:off x="870204" y="2689860"/>
              <a:ext cx="345544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gridArama = GridSearchCV(XGBClassifier(),</a:t>
              </a:r>
            </a:p>
          </p:txBody>
        </p:sp>
        <p:sp>
          <p:nvSpPr>
            <p:cNvPr id="19" name="TextBox 19"/>
            <p:cNvSpPr txBox="1"/>
            <p:nvPr/>
          </p:nvSpPr>
          <p:spPr>
            <a:xfrm>
              <a:off x="1098804" y="2956560"/>
              <a:ext cx="3669544"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parametreIzgarasi, scoring="roc_auc", cv=3)</a:t>
              </a:r>
            </a:p>
          </p:txBody>
        </p:sp>
        <p:sp>
          <p:nvSpPr>
            <p:cNvPr id="20" name="TextBox 20"/>
            <p:cNvSpPr txBox="1"/>
            <p:nvPr/>
          </p:nvSpPr>
          <p:spPr>
            <a:xfrm>
              <a:off x="870204" y="3299460"/>
              <a:ext cx="2166255" cy="234696"/>
            </a:xfrm>
            <a:prstGeom prst="rect">
              <a:avLst/>
            </a:prstGeom>
            <a:noFill/>
            <a:ln>
              <a:noFill/>
            </a:ln>
          </p:spPr>
          <p:txBody>
            <a:bodyPr wrap="none" lIns="0" tIns="0" rIns="0" bIns="0" anchor="t" anchorCtr="0">
              <a:spAutoFit/>
            </a:bodyPr>
            <a:lstStyle/>
            <a:p>
              <a:pPr algn="l"/>
              <a:r>
                <a:rPr lang="tr-TR" sz="1200" dirty="0">
                  <a:solidFill>
                    <a:srgbClr val="2E86AB"/>
                  </a:solidFill>
                  <a:latin typeface="+mn-lt"/>
                  <a:ea typeface="+mn-ea"/>
                  <a:cs typeface="+mn-cs"/>
                </a:rPr>
                <a:t>def hedefFonksiyon(trial):</a:t>
              </a:r>
            </a:p>
          </p:txBody>
        </p:sp>
        <p:sp>
          <p:nvSpPr>
            <p:cNvPr id="21" name="TextBox 21"/>
            <p:cNvSpPr txBox="1"/>
            <p:nvPr/>
          </p:nvSpPr>
          <p:spPr>
            <a:xfrm>
              <a:off x="1098804" y="3566160"/>
              <a:ext cx="292806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learning_rate = trial.suggest_float(</a:t>
              </a:r>
            </a:p>
          </p:txBody>
        </p:sp>
        <p:sp>
          <p:nvSpPr>
            <p:cNvPr id="22" name="TextBox 22"/>
            <p:cNvSpPr txBox="1"/>
            <p:nvPr/>
          </p:nvSpPr>
          <p:spPr>
            <a:xfrm>
              <a:off x="1327404" y="3832860"/>
              <a:ext cx="306636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"learning_rate", 0.05, 0.1, log=True)</a:t>
              </a:r>
            </a:p>
          </p:txBody>
        </p:sp>
        <p:sp>
          <p:nvSpPr>
            <p:cNvPr id="23" name="TextBox 23"/>
            <p:cNvSpPr txBox="1"/>
            <p:nvPr/>
          </p:nvSpPr>
          <p:spPr>
            <a:xfrm>
              <a:off x="1098804" y="4099560"/>
              <a:ext cx="355808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return cross_val_score(model, ...).mean()</a:t>
              </a:r>
            </a:p>
          </p:txBody>
        </p:sp>
        <p:sp>
          <p:nvSpPr>
            <p:cNvPr id="24" name="TextBox 24"/>
            <p:cNvSpPr txBox="1"/>
            <p:nvPr/>
          </p:nvSpPr>
          <p:spPr>
            <a:xfrm>
              <a:off x="870204" y="4385310"/>
              <a:ext cx="3668827"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calisma.optimize(hedefFonksiyon, n_trials=8)</a:t>
              </a:r>
            </a:p>
          </p:txBody>
        </p:sp>
        <p:sp>
          <p:nvSpPr>
            <p:cNvPr id="25" name="TextBox 25"/>
            <p:cNvSpPr txBox="1"/>
            <p:nvPr/>
          </p:nvSpPr>
          <p:spPr>
            <a:xfrm>
              <a:off x="870204" y="4804410"/>
              <a:ext cx="420294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8 kombinasyon × cv=3 = 24 model eğitimi; Optuna aynı</a:t>
              </a:r>
            </a:p>
          </p:txBody>
        </p:sp>
        <p:sp>
          <p:nvSpPr>
            <p:cNvPr id="26" name="TextBox 26"/>
            <p:cNvSpPr txBox="1"/>
            <p:nvPr/>
          </p:nvSpPr>
          <p:spPr>
            <a:xfrm>
              <a:off x="870204" y="5052060"/>
              <a:ext cx="443849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8 deneme bütçesiyle önceki sonuçlardan öğrenerek arar.</a:t>
              </a:r>
            </a:p>
          </p:txBody>
        </p:sp>
      </p:grpSp>
      <p:grpSp>
        <p:nvGrpSpPr>
          <p:cNvPr id="36" name="output-panel"/>
          <p:cNvGrpSpPr/>
          <p:nvPr/>
        </p:nvGrpSpPr>
        <p:grpSpPr>
          <a:xfrm>
            <a:off x="7239000" y="1638300"/>
            <a:ext cx="4343400" cy="1600200"/>
            <a:chOff x="7239000" y="1638300"/>
            <a:chExt cx="4343400" cy="1600200"/>
          </a:xfrm>
        </p:grpSpPr>
        <p:sp>
          <p:nvSpPr>
            <p:cNvPr id="28" name="Rectangle 28"/>
            <p:cNvSpPr/>
            <p:nvPr/>
          </p:nvSpPr>
          <p:spPr>
            <a:xfrm>
              <a:off x="7239000" y="1638300"/>
              <a:ext cx="4343400" cy="1600200"/>
            </a:xfrm>
            <a:prstGeom prst="roundRect">
              <a:avLst>
                <a:gd name="adj" fmla="val 5952"/>
              </a:avLst>
            </a:prstGeom>
            <a:solidFill>
              <a:srgbClr val="FFFFFF"/>
            </a:solidFill>
            <a:ln w="14288">
              <a:solidFill>
                <a:srgbClr val="B8CBD3"/>
              </a:solidFill>
            </a:ln>
          </p:spPr>
        </p:sp>
        <p:sp>
          <p:nvSpPr>
            <p:cNvPr id="29" name="Rectangle 29"/>
            <p:cNvSpPr/>
            <p:nvPr/>
          </p:nvSpPr>
          <p:spPr>
            <a:xfrm>
              <a:off x="7239000" y="1638300"/>
              <a:ext cx="4343400" cy="323850"/>
            </a:xfrm>
            <a:prstGeom prst="rect">
              <a:avLst/>
            </a:prstGeom>
            <a:solidFill>
              <a:srgbClr val="EAF4F6"/>
            </a:solidFill>
            <a:ln>
              <a:noFill/>
            </a:ln>
          </p:spPr>
        </p:sp>
        <p:sp>
          <p:nvSpPr>
            <p:cNvPr id="30" name="TextBox 30"/>
            <p:cNvSpPr txBox="1"/>
            <p:nvPr/>
          </p:nvSpPr>
          <p:spPr>
            <a:xfrm>
              <a:off x="7461504" y="1727835"/>
              <a:ext cx="458114" cy="234696"/>
            </a:xfrm>
            <a:prstGeom prst="rect">
              <a:avLst/>
            </a:prstGeom>
            <a:noFill/>
            <a:ln>
              <a:noFill/>
            </a:ln>
          </p:spPr>
          <p:txBody>
            <a:bodyPr wrap="none" lIns="0" tIns="0" rIns="0" bIns="0" anchor="t" anchorCtr="0">
              <a:spAutoFit/>
            </a:bodyPr>
            <a:lstStyle/>
            <a:p>
              <a:pPr algn="l"/>
              <a:r>
                <a:rPr lang="tr-TR" sz="1200" b="1" spc="75" dirty="0">
                  <a:solidFill>
                    <a:srgbClr val="12355B"/>
                  </a:solidFill>
                  <a:latin typeface="+mn-lt"/>
                  <a:ea typeface="+mn-ea"/>
                  <a:cs typeface="+mn-cs"/>
                </a:rPr>
                <a:t>ÇIKTI</a:t>
              </a:r>
            </a:p>
          </p:txBody>
        </p:sp>
        <p:sp>
          <p:nvSpPr>
            <p:cNvPr id="31" name="TextBox 31"/>
            <p:cNvSpPr txBox="1"/>
            <p:nvPr/>
          </p:nvSpPr>
          <p:spPr>
            <a:xfrm>
              <a:off x="7460742" y="2045018"/>
              <a:ext cx="268110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GridSearch: en iyi AUC=0,9524</a:t>
              </a:r>
            </a:p>
          </p:txBody>
        </p:sp>
        <p:sp>
          <p:nvSpPr>
            <p:cNvPr id="32" name="TextBox 32"/>
            <p:cNvSpPr txBox="1"/>
            <p:nvPr/>
          </p:nvSpPr>
          <p:spPr>
            <a:xfrm>
              <a:off x="7460742" y="2273618"/>
              <a:ext cx="91331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süre=1,1s</a:t>
              </a:r>
            </a:p>
          </p:txBody>
        </p:sp>
        <p:sp>
          <p:nvSpPr>
            <p:cNvPr id="33" name="Line 33"/>
            <p:cNvSpPr/>
            <p:nvPr/>
          </p:nvSpPr>
          <p:spPr>
            <a:xfrm>
              <a:off x="7467600" y="2571750"/>
              <a:ext cx="3886200" cy="9525"/>
            </a:xfrm>
            <a:custGeom>
              <a:avLst/>
              <a:gdLst/>
              <a:ahLst/>
              <a:cxnLst/>
              <a:rect l="l" t="t" r="r" b="b"/>
              <a:pathLst>
                <a:path w="3886200" h="9525">
                  <a:moveTo>
                    <a:pt x="0" y="0"/>
                  </a:moveTo>
                  <a:lnTo>
                    <a:pt x="3886200" y="0"/>
                  </a:lnTo>
                </a:path>
              </a:pathLst>
            </a:custGeom>
            <a:noFill/>
            <a:ln w="9525">
              <a:solidFill>
                <a:srgbClr val="B8CBD3"/>
              </a:solidFill>
            </a:ln>
          </p:spPr>
        </p:sp>
        <p:sp>
          <p:nvSpPr>
            <p:cNvPr id="34" name="TextBox 34"/>
            <p:cNvSpPr txBox="1"/>
            <p:nvPr/>
          </p:nvSpPr>
          <p:spPr>
            <a:xfrm>
              <a:off x="7460742" y="2692718"/>
              <a:ext cx="235910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Optuna: en iyi AUC=0,9530</a:t>
              </a:r>
            </a:p>
          </p:txBody>
        </p:sp>
        <p:sp>
          <p:nvSpPr>
            <p:cNvPr id="35" name="TextBox 35"/>
            <p:cNvSpPr txBox="1"/>
            <p:nvPr/>
          </p:nvSpPr>
          <p:spPr>
            <a:xfrm>
              <a:off x="7460742" y="2902268"/>
              <a:ext cx="91331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süre=0,9s</a:t>
              </a:r>
            </a:p>
          </p:txBody>
        </p:sp>
      </p:grpSp>
      <p:grpSp>
        <p:nvGrpSpPr>
          <p:cNvPr id="40" name="interpretation"/>
          <p:cNvGrpSpPr/>
          <p:nvPr/>
        </p:nvGrpSpPr>
        <p:grpSpPr>
          <a:xfrm>
            <a:off x="7239000" y="3390900"/>
            <a:ext cx="4343400" cy="2362200"/>
            <a:chOff x="7239000" y="3390900"/>
            <a:chExt cx="4343400" cy="2362200"/>
          </a:xfrm>
        </p:grpSpPr>
        <p:sp>
          <p:nvSpPr>
            <p:cNvPr id="37" name="Rectangle 37"/>
            <p:cNvSpPr/>
            <p:nvPr/>
          </p:nvSpPr>
          <p:spPr>
            <a:xfrm>
              <a:off x="7239000" y="3390900"/>
              <a:ext cx="4343400" cy="2362200"/>
            </a:xfrm>
            <a:prstGeom prst="roundRect">
              <a:avLst>
                <a:gd name="adj" fmla="val 4032"/>
              </a:avLst>
            </a:prstGeom>
            <a:solidFill>
              <a:srgbClr val="EAF4F6"/>
            </a:solidFill>
            <a:ln>
              <a:noFill/>
            </a:ln>
          </p:spPr>
        </p:sp>
        <p:sp>
          <p:nvSpPr>
            <p:cNvPr id="38" name="TextBox 38"/>
            <p:cNvSpPr txBox="1"/>
            <p:nvPr/>
          </p:nvSpPr>
          <p:spPr>
            <a:xfrm>
              <a:off x="7459599" y="3544729"/>
              <a:ext cx="250281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Bu çıktı ne anlatıyor?</a:t>
              </a:r>
            </a:p>
          </p:txBody>
        </p:sp>
        <p:sp>
          <p:nvSpPr>
            <p:cNvPr id="39" name="TextBox 39"/>
            <p:cNvSpPr txBox="1"/>
            <p:nvPr/>
          </p:nvSpPr>
          <p:spPr>
            <a:xfrm>
              <a:off x="7461504" y="3870960"/>
              <a:ext cx="2869692" cy="14919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Aynı 8 deneme bütçesiyle Optuna,</a:t>
              </a:r>
              <a:br/>
              <a:r>
                <a:rPr lang="tr-TR" sz="1200" dirty="0">
                  <a:solidFill>
                    <a:srgbClr val="172B3A"/>
                  </a:solidFill>
                  <a:latin typeface="+mn-lt"/>
                  <a:ea typeface="+mn-ea"/>
                  <a:cs typeface="+mn-cs"/>
                </a:rPr>
                <a:t>GridSearch'e eşit ya da daha kısa</a:t>
              </a:r>
              <a:br/>
              <a:r>
                <a:rPr lang="tr-TR" sz="1200" dirty="0">
                  <a:solidFill>
                    <a:srgbClr val="172B3A"/>
                  </a:solidFill>
                  <a:latin typeface="+mn-lt"/>
                  <a:ea typeface="+mn-ea"/>
                  <a:cs typeface="+mn-cs"/>
                </a:rPr>
                <a:t>sürede eşit ya da daha iyi bir AUC'ye</a:t>
              </a:r>
              <a:br/>
              <a:r>
                <a:rPr lang="tr-TR" sz="1200" dirty="0">
                  <a:solidFill>
                    <a:srgbClr val="172B3A"/>
                  </a:solidFill>
                  <a:latin typeface="+mn-lt"/>
                  <a:ea typeface="+mn-ea"/>
                  <a:cs typeface="+mn-cs"/>
                </a:rPr>
                <a:t>ulaşır. Bu bölümdeki ızgara ve deneme</a:t>
              </a:r>
              <a:br/>
              <a:r>
                <a:rPr lang="tr-TR" sz="1200" dirty="0">
                  <a:solidFill>
                    <a:srgbClr val="172B3A"/>
                  </a:solidFill>
                  <a:latin typeface="+mn-lt"/>
                  <a:ea typeface="+mn-ea"/>
                  <a:cs typeface="+mn-cs"/>
                </a:rPr>
                <a:t>bütçesi kasıtlı küçük tutulmuştur;</a:t>
              </a:r>
              <a:br/>
              <a:r>
                <a:rPr lang="tr-TR" sz="1200" dirty="0">
                  <a:solidFill>
                    <a:srgbClr val="172B3A"/>
                  </a:solidFill>
                  <a:latin typeface="+mn-lt"/>
                  <a:ea typeface="+mn-ea"/>
                  <a:cs typeface="+mn-cs"/>
                </a:rPr>
                <a:t>Optuna'nın avantajı arama uzayı</a:t>
              </a:r>
              <a:br/>
              <a:r>
                <a:rPr lang="tr-TR" sz="1200" dirty="0">
                  <a:solidFill>
                    <a:srgbClr val="172B3A"/>
                  </a:solidFill>
                  <a:latin typeface="+mn-lt"/>
                  <a:ea typeface="+mn-ea"/>
                  <a:cs typeface="+mn-cs"/>
                </a:rPr>
                <a:t>büyüdükçe daha belirgin hâle gelir.</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25</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258697" cy="668845"/>
            <a:chOff x="609600" y="171450"/>
            <a:chExt cx="7258697"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656832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Kuramsal çerçeve ve varsayımlar</a:t>
              </a:r>
            </a:p>
          </p:txBody>
        </p:sp>
      </p:grpSp>
      <p:grpSp>
        <p:nvGrpSpPr>
          <p:cNvPr id="16" name="objective-strip"/>
          <p:cNvGrpSpPr/>
          <p:nvPr/>
        </p:nvGrpSpPr>
        <p:grpSpPr>
          <a:xfrm>
            <a:off x="609600" y="1104900"/>
            <a:ext cx="10972800" cy="647700"/>
            <a:chOff x="609600" y="1104900"/>
            <a:chExt cx="10972800" cy="647700"/>
          </a:xfrm>
        </p:grpSpPr>
        <p:sp>
          <p:nvSpPr>
            <p:cNvPr id="13" name="Rectangle 13"/>
            <p:cNvSpPr/>
            <p:nvPr/>
          </p:nvSpPr>
          <p:spPr>
            <a:xfrm>
              <a:off x="609600" y="1104900"/>
              <a:ext cx="10972800" cy="647700"/>
            </a:xfrm>
            <a:prstGeom prst="roundRect">
              <a:avLst>
                <a:gd name="adj" fmla="val 11765"/>
              </a:avLst>
            </a:prstGeom>
            <a:solidFill>
              <a:srgbClr val="EAF4F6"/>
            </a:solidFill>
            <a:ln>
              <a:noFill/>
            </a:ln>
          </p:spPr>
        </p:sp>
        <p:sp>
          <p:nvSpPr>
            <p:cNvPr id="14" name="TextBox 14"/>
            <p:cNvSpPr txBox="1"/>
            <p:nvPr/>
          </p:nvSpPr>
          <p:spPr>
            <a:xfrm>
              <a:off x="850392" y="1206818"/>
              <a:ext cx="7686113" cy="264033"/>
            </a:xfrm>
            <a:prstGeom prst="rect">
              <a:avLst/>
            </a:prstGeom>
            <a:noFill/>
            <a:ln>
              <a:noFill/>
            </a:ln>
          </p:spPr>
          <p:txBody>
            <a:bodyPr wrap="none" lIns="0" tIns="0" rIns="0" bIns="0" anchor="t" anchorCtr="0">
              <a:spAutoFit/>
            </a:bodyPr>
            <a:lstStyle/>
            <a:p>
              <a:pPr algn="l"/>
              <a:r>
                <a:rPr lang="el-GR" sz="1350" dirty="0">
                  <a:solidFill>
                    <a:srgbClr val="12355B"/>
                  </a:solidFill>
                  <a:latin typeface="+mn-lt"/>
                  <a:ea typeface="+mn-ea"/>
                  <a:cs typeface="+mn-cs"/>
                </a:rPr>
                <a:t>Amaç fonksiyonu: L = Σᵢ ℓ(yᵢ, ŷᵢ) + Ω(f) — kayıp terimi veriye uyumu, düzenlileştirme</a:t>
              </a:r>
            </a:p>
          </p:txBody>
        </p:sp>
        <p:sp>
          <p:nvSpPr>
            <p:cNvPr id="15" name="TextBox 15"/>
            <p:cNvSpPr txBox="1"/>
            <p:nvPr/>
          </p:nvSpPr>
          <p:spPr>
            <a:xfrm>
              <a:off x="850392" y="1435418"/>
              <a:ext cx="4072651" cy="264033"/>
            </a:xfrm>
            <a:prstGeom prst="rect">
              <a:avLst/>
            </a:prstGeom>
            <a:noFill/>
            <a:ln>
              <a:noFill/>
            </a:ln>
          </p:spPr>
          <p:txBody>
            <a:bodyPr wrap="none" lIns="0" tIns="0" rIns="0" bIns="0" anchor="t" anchorCtr="0">
              <a:spAutoFit/>
            </a:bodyPr>
            <a:lstStyle/>
            <a:p>
              <a:pPr algn="l"/>
              <a:r>
                <a:rPr lang="el-GR" sz="1350" dirty="0">
                  <a:solidFill>
                    <a:srgbClr val="12355B"/>
                  </a:solidFill>
                  <a:latin typeface="+mn-lt"/>
                  <a:ea typeface="+mn-ea"/>
                  <a:cs typeface="+mn-cs"/>
                </a:rPr>
                <a:t>terimi Ω(f) modelin karmaşıklığını dengeler.</a:t>
              </a:r>
            </a:p>
          </p:txBody>
        </p:sp>
      </p:grpSp>
      <p:grpSp>
        <p:nvGrpSpPr>
          <p:cNvPr id="50" name="framework-table"/>
          <p:cNvGrpSpPr/>
          <p:nvPr/>
        </p:nvGrpSpPr>
        <p:grpSpPr>
          <a:xfrm>
            <a:off x="609600" y="1828800"/>
            <a:ext cx="10972800" cy="3543300"/>
            <a:chOff x="609600" y="1828800"/>
            <a:chExt cx="10972800" cy="3543300"/>
          </a:xfrm>
        </p:grpSpPr>
        <p:sp>
          <p:nvSpPr>
            <p:cNvPr id="17" name="Rectangle 17"/>
            <p:cNvSpPr/>
            <p:nvPr/>
          </p:nvSpPr>
          <p:spPr>
            <a:xfrm>
              <a:off x="609600" y="1828800"/>
              <a:ext cx="10972800" cy="571500"/>
            </a:xfrm>
            <a:prstGeom prst="rect">
              <a:avLst/>
            </a:prstGeom>
            <a:solidFill>
              <a:srgbClr val="12355B"/>
            </a:solidFill>
            <a:ln>
              <a:noFill/>
            </a:ln>
          </p:spPr>
        </p:sp>
        <p:sp>
          <p:nvSpPr>
            <p:cNvPr id="18" name="TextBox 18"/>
            <p:cNvSpPr txBox="1"/>
            <p:nvPr/>
          </p:nvSpPr>
          <p:spPr>
            <a:xfrm>
              <a:off x="850392" y="2025968"/>
              <a:ext cx="568185"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UNSUR</a:t>
              </a:r>
            </a:p>
          </p:txBody>
        </p:sp>
        <p:sp>
          <p:nvSpPr>
            <p:cNvPr id="19" name="TextBox 19"/>
            <p:cNvSpPr txBox="1"/>
            <p:nvPr/>
          </p:nvSpPr>
          <p:spPr>
            <a:xfrm>
              <a:off x="4184142" y="2025968"/>
              <a:ext cx="2120699"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MODELLEMEDEKİ ROLÜ</a:t>
              </a:r>
            </a:p>
          </p:txBody>
        </p:sp>
        <p:sp>
          <p:nvSpPr>
            <p:cNvPr id="20" name="TextBox 20"/>
            <p:cNvSpPr txBox="1"/>
            <p:nvPr/>
          </p:nvSpPr>
          <p:spPr>
            <a:xfrm>
              <a:off x="7994142" y="2025968"/>
              <a:ext cx="3239719"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KONTROL EDİLMEZSE TİPİK SONUÇ</a:t>
              </a:r>
            </a:p>
          </p:txBody>
        </p:sp>
        <p:sp>
          <p:nvSpPr>
            <p:cNvPr id="21" name="Rectangle 21"/>
            <p:cNvSpPr/>
            <p:nvPr/>
          </p:nvSpPr>
          <p:spPr>
            <a:xfrm>
              <a:off x="609600" y="2400300"/>
              <a:ext cx="10972800" cy="762000"/>
            </a:xfrm>
            <a:prstGeom prst="rect">
              <a:avLst/>
            </a:prstGeom>
            <a:solidFill>
              <a:srgbClr val="FFFFFF"/>
            </a:solidFill>
            <a:ln>
              <a:noFill/>
            </a:ln>
          </p:spPr>
        </p:sp>
        <p:sp>
          <p:nvSpPr>
            <p:cNvPr id="22" name="Rectangle 22"/>
            <p:cNvSpPr/>
            <p:nvPr/>
          </p:nvSpPr>
          <p:spPr>
            <a:xfrm>
              <a:off x="609600" y="2400300"/>
              <a:ext cx="57150" cy="762000"/>
            </a:xfrm>
            <a:prstGeom prst="rect">
              <a:avLst/>
            </a:prstGeom>
            <a:solidFill>
              <a:srgbClr val="00A6A6"/>
            </a:solidFill>
            <a:ln>
              <a:noFill/>
            </a:ln>
          </p:spPr>
        </p:sp>
        <p:sp>
          <p:nvSpPr>
            <p:cNvPr id="23" name="TextBox 23"/>
            <p:cNvSpPr txBox="1"/>
            <p:nvPr/>
          </p:nvSpPr>
          <p:spPr>
            <a:xfrm>
              <a:off x="850392" y="2559368"/>
              <a:ext cx="1603531" cy="264033"/>
            </a:xfrm>
            <a:prstGeom prst="rect">
              <a:avLst/>
            </a:prstGeom>
            <a:noFill/>
            <a:ln>
              <a:noFill/>
            </a:ln>
          </p:spPr>
          <p:txBody>
            <a:bodyPr wrap="none" lIns="0" tIns="0" rIns="0" bIns="0" anchor="t" anchorCtr="0">
              <a:spAutoFit/>
            </a:bodyPr>
            <a:lstStyle/>
            <a:p>
              <a:pPr algn="l"/>
              <a:r>
                <a:rPr lang="tr-TR" sz="1350" b="1" dirty="0">
                  <a:solidFill>
                    <a:srgbClr val="172B3A"/>
                  </a:solidFill>
                  <a:latin typeface="+mn-lt"/>
                  <a:ea typeface="+mn-ea"/>
                  <a:cs typeface="+mn-cs"/>
                </a:rPr>
                <a:t>Kayıp fonksiyonu</a:t>
              </a:r>
            </a:p>
          </p:txBody>
        </p:sp>
        <p:sp>
          <p:nvSpPr>
            <p:cNvPr id="24" name="TextBox 24"/>
            <p:cNvSpPr txBox="1"/>
            <p:nvPr/>
          </p:nvSpPr>
          <p:spPr>
            <a:xfrm>
              <a:off x="4184904" y="2575560"/>
              <a:ext cx="18509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Tahmin ile gerçek değer</a:t>
              </a:r>
            </a:p>
          </p:txBody>
        </p:sp>
        <p:sp>
          <p:nvSpPr>
            <p:cNvPr id="25" name="TextBox 25"/>
            <p:cNvSpPr txBox="1"/>
            <p:nvPr/>
          </p:nvSpPr>
          <p:spPr>
            <a:xfrm>
              <a:off x="4184904" y="2785110"/>
              <a:ext cx="180533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arasındaki farkı ölçer</a:t>
              </a:r>
            </a:p>
          </p:txBody>
        </p:sp>
        <p:sp>
          <p:nvSpPr>
            <p:cNvPr id="26" name="TextBox 26"/>
            <p:cNvSpPr txBox="1"/>
            <p:nvPr/>
          </p:nvSpPr>
          <p:spPr>
            <a:xfrm>
              <a:off x="7994904" y="2575560"/>
              <a:ext cx="322434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Görev tipine (regresyon/sınıflandırma)</a:t>
              </a:r>
            </a:p>
          </p:txBody>
        </p:sp>
        <p:sp>
          <p:nvSpPr>
            <p:cNvPr id="27" name="TextBox 27"/>
            <p:cNvSpPr txBox="1"/>
            <p:nvPr/>
          </p:nvSpPr>
          <p:spPr>
            <a:xfrm>
              <a:off x="7994904" y="2785110"/>
              <a:ext cx="325922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uymayan kayıp, yanlış optimizasyon yönü</a:t>
              </a:r>
            </a:p>
          </p:txBody>
        </p:sp>
        <p:sp>
          <p:nvSpPr>
            <p:cNvPr id="28" name="Rectangle 28"/>
            <p:cNvSpPr/>
            <p:nvPr/>
          </p:nvSpPr>
          <p:spPr>
            <a:xfrm>
              <a:off x="609600" y="3162300"/>
              <a:ext cx="10972800" cy="762000"/>
            </a:xfrm>
            <a:prstGeom prst="rect">
              <a:avLst/>
            </a:prstGeom>
            <a:solidFill>
              <a:srgbClr val="EAF4F6"/>
            </a:solidFill>
            <a:ln>
              <a:noFill/>
            </a:ln>
          </p:spPr>
        </p:sp>
        <p:sp>
          <p:nvSpPr>
            <p:cNvPr id="29" name="Rectangle 29"/>
            <p:cNvSpPr/>
            <p:nvPr/>
          </p:nvSpPr>
          <p:spPr>
            <a:xfrm>
              <a:off x="609600" y="3162300"/>
              <a:ext cx="57150" cy="762000"/>
            </a:xfrm>
            <a:prstGeom prst="rect">
              <a:avLst/>
            </a:prstGeom>
            <a:solidFill>
              <a:srgbClr val="00A6A6"/>
            </a:solidFill>
            <a:ln>
              <a:noFill/>
            </a:ln>
          </p:spPr>
        </p:sp>
        <p:sp>
          <p:nvSpPr>
            <p:cNvPr id="30" name="TextBox 30"/>
            <p:cNvSpPr txBox="1"/>
            <p:nvPr/>
          </p:nvSpPr>
          <p:spPr>
            <a:xfrm>
              <a:off x="850392" y="3321368"/>
              <a:ext cx="2701389" cy="264033"/>
            </a:xfrm>
            <a:prstGeom prst="rect">
              <a:avLst/>
            </a:prstGeom>
            <a:noFill/>
            <a:ln>
              <a:noFill/>
            </a:ln>
          </p:spPr>
          <p:txBody>
            <a:bodyPr wrap="none" lIns="0" tIns="0" rIns="0" bIns="0" anchor="t" anchorCtr="0">
              <a:spAutoFit/>
            </a:bodyPr>
            <a:lstStyle/>
            <a:p>
              <a:pPr algn="l"/>
              <a:r>
                <a:rPr lang="tr-TR" sz="1350" b="1" dirty="0">
                  <a:solidFill>
                    <a:srgbClr val="172B3A"/>
                  </a:solidFill>
                  <a:latin typeface="+mn-lt"/>
                  <a:ea typeface="+mn-ea"/>
                  <a:cs typeface="+mn-cs"/>
                </a:rPr>
                <a:t>Öğrenme oranı ve tur sayısı</a:t>
              </a:r>
            </a:p>
          </p:txBody>
        </p:sp>
        <p:sp>
          <p:nvSpPr>
            <p:cNvPr id="31" name="TextBox 31"/>
            <p:cNvSpPr txBox="1"/>
            <p:nvPr/>
          </p:nvSpPr>
          <p:spPr>
            <a:xfrm>
              <a:off x="4184904" y="3337560"/>
              <a:ext cx="180257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Her ağacın katkısının</a:t>
              </a:r>
            </a:p>
          </p:txBody>
        </p:sp>
        <p:sp>
          <p:nvSpPr>
            <p:cNvPr id="32" name="TextBox 32"/>
            <p:cNvSpPr txBox="1"/>
            <p:nvPr/>
          </p:nvSpPr>
          <p:spPr>
            <a:xfrm>
              <a:off x="4184904" y="3547110"/>
              <a:ext cx="162763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büyüklüğünü ölçekler</a:t>
              </a:r>
            </a:p>
          </p:txBody>
        </p:sp>
        <p:sp>
          <p:nvSpPr>
            <p:cNvPr id="33" name="TextBox 33"/>
            <p:cNvSpPr txBox="1"/>
            <p:nvPr/>
          </p:nvSpPr>
          <p:spPr>
            <a:xfrm>
              <a:off x="7995666" y="3353752"/>
              <a:ext cx="341522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Yüksek oran + sabit tur sayısı aşırı öğrenmeye,</a:t>
              </a:r>
            </a:p>
          </p:txBody>
        </p:sp>
        <p:sp>
          <p:nvSpPr>
            <p:cNvPr id="34" name="TextBox 34"/>
            <p:cNvSpPr txBox="1"/>
            <p:nvPr/>
          </p:nvSpPr>
          <p:spPr>
            <a:xfrm>
              <a:off x="7995666" y="3563302"/>
              <a:ext cx="243483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düşük oran yetersiz uyuma yol açar</a:t>
              </a:r>
            </a:p>
          </p:txBody>
        </p:sp>
        <p:sp>
          <p:nvSpPr>
            <p:cNvPr id="35" name="Rectangle 35"/>
            <p:cNvSpPr/>
            <p:nvPr/>
          </p:nvSpPr>
          <p:spPr>
            <a:xfrm>
              <a:off x="609600" y="3924300"/>
              <a:ext cx="10972800" cy="762000"/>
            </a:xfrm>
            <a:prstGeom prst="rect">
              <a:avLst/>
            </a:prstGeom>
            <a:solidFill>
              <a:srgbClr val="FFFFFF"/>
            </a:solidFill>
            <a:ln>
              <a:noFill/>
            </a:ln>
          </p:spPr>
        </p:sp>
        <p:sp>
          <p:nvSpPr>
            <p:cNvPr id="36" name="Rectangle 36"/>
            <p:cNvSpPr/>
            <p:nvPr/>
          </p:nvSpPr>
          <p:spPr>
            <a:xfrm>
              <a:off x="609600" y="3924300"/>
              <a:ext cx="57150" cy="762000"/>
            </a:xfrm>
            <a:prstGeom prst="rect">
              <a:avLst/>
            </a:prstGeom>
            <a:solidFill>
              <a:srgbClr val="00A6A6"/>
            </a:solidFill>
            <a:ln>
              <a:noFill/>
            </a:ln>
          </p:spPr>
        </p:sp>
        <p:sp>
          <p:nvSpPr>
            <p:cNvPr id="37" name="TextBox 37"/>
            <p:cNvSpPr txBox="1"/>
            <p:nvPr/>
          </p:nvSpPr>
          <p:spPr>
            <a:xfrm>
              <a:off x="850392" y="4083368"/>
              <a:ext cx="1746781" cy="264033"/>
            </a:xfrm>
            <a:prstGeom prst="rect">
              <a:avLst/>
            </a:prstGeom>
            <a:noFill/>
            <a:ln>
              <a:noFill/>
            </a:ln>
          </p:spPr>
          <p:txBody>
            <a:bodyPr wrap="none" lIns="0" tIns="0" rIns="0" bIns="0" anchor="t" anchorCtr="0">
              <a:spAutoFit/>
            </a:bodyPr>
            <a:lstStyle/>
            <a:p>
              <a:pPr algn="l"/>
              <a:r>
                <a:rPr lang="tr-TR" sz="1350" b="1" dirty="0">
                  <a:solidFill>
                    <a:srgbClr val="172B3A"/>
                  </a:solidFill>
                  <a:latin typeface="+mn-lt"/>
                  <a:ea typeface="+mn-ea"/>
                  <a:cs typeface="+mn-cs"/>
                </a:rPr>
                <a:t>Ağaç karmaşıklığı</a:t>
              </a:r>
            </a:p>
          </p:txBody>
        </p:sp>
        <p:sp>
          <p:nvSpPr>
            <p:cNvPr id="38" name="TextBox 38"/>
            <p:cNvSpPr txBox="1"/>
            <p:nvPr/>
          </p:nvSpPr>
          <p:spPr>
            <a:xfrm>
              <a:off x="4184904" y="4099560"/>
              <a:ext cx="204455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Derinlik/yaprak sayısı ile</a:t>
              </a:r>
            </a:p>
          </p:txBody>
        </p:sp>
        <p:sp>
          <p:nvSpPr>
            <p:cNvPr id="39" name="TextBox 39"/>
            <p:cNvSpPr txBox="1"/>
            <p:nvPr/>
          </p:nvSpPr>
          <p:spPr>
            <a:xfrm>
              <a:off x="4184904" y="4309110"/>
              <a:ext cx="233842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modelin ifade gücünü sınırlar</a:t>
              </a:r>
            </a:p>
          </p:txBody>
        </p:sp>
        <p:sp>
          <p:nvSpPr>
            <p:cNvPr id="40" name="TextBox 40"/>
            <p:cNvSpPr txBox="1"/>
            <p:nvPr/>
          </p:nvSpPr>
          <p:spPr>
            <a:xfrm>
              <a:off x="7994904" y="4099560"/>
              <a:ext cx="325624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Aşırı derin veya yaprak-öncelikli ağaçlar</a:t>
              </a:r>
            </a:p>
          </p:txBody>
        </p:sp>
        <p:sp>
          <p:nvSpPr>
            <p:cNvPr id="41" name="TextBox 41"/>
            <p:cNvSpPr txBox="1"/>
            <p:nvPr/>
          </p:nvSpPr>
          <p:spPr>
            <a:xfrm>
              <a:off x="7994904" y="4309110"/>
              <a:ext cx="18537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eğitim verisini ezberler</a:t>
              </a:r>
            </a:p>
          </p:txBody>
        </p:sp>
        <p:sp>
          <p:nvSpPr>
            <p:cNvPr id="42" name="Rectangle 42"/>
            <p:cNvSpPr/>
            <p:nvPr/>
          </p:nvSpPr>
          <p:spPr>
            <a:xfrm>
              <a:off x="609600" y="4686300"/>
              <a:ext cx="10972800" cy="685800"/>
            </a:xfrm>
            <a:prstGeom prst="rect">
              <a:avLst/>
            </a:prstGeom>
            <a:solidFill>
              <a:srgbClr val="EAF4F6"/>
            </a:solidFill>
            <a:ln>
              <a:noFill/>
            </a:ln>
          </p:spPr>
        </p:sp>
        <p:sp>
          <p:nvSpPr>
            <p:cNvPr id="43" name="Rectangle 43"/>
            <p:cNvSpPr/>
            <p:nvPr/>
          </p:nvSpPr>
          <p:spPr>
            <a:xfrm>
              <a:off x="609600" y="4686300"/>
              <a:ext cx="57150" cy="685800"/>
            </a:xfrm>
            <a:prstGeom prst="rect">
              <a:avLst/>
            </a:prstGeom>
            <a:solidFill>
              <a:srgbClr val="00A6A6"/>
            </a:solidFill>
            <a:ln>
              <a:noFill/>
            </a:ln>
          </p:spPr>
        </p:sp>
        <p:sp>
          <p:nvSpPr>
            <p:cNvPr id="44" name="TextBox 44"/>
            <p:cNvSpPr txBox="1"/>
            <p:nvPr/>
          </p:nvSpPr>
          <p:spPr>
            <a:xfrm>
              <a:off x="850392" y="4845368"/>
              <a:ext cx="1708130" cy="264033"/>
            </a:xfrm>
            <a:prstGeom prst="rect">
              <a:avLst/>
            </a:prstGeom>
            <a:noFill/>
            <a:ln>
              <a:noFill/>
            </a:ln>
          </p:spPr>
          <p:txBody>
            <a:bodyPr wrap="none" lIns="0" tIns="0" rIns="0" bIns="0" anchor="t" anchorCtr="0">
              <a:spAutoFit/>
            </a:bodyPr>
            <a:lstStyle/>
            <a:p>
              <a:pPr algn="l"/>
              <a:r>
                <a:rPr lang="tr-TR" sz="1350" b="1" dirty="0">
                  <a:solidFill>
                    <a:srgbClr val="172B3A"/>
                  </a:solidFill>
                  <a:latin typeface="+mn-lt"/>
                  <a:ea typeface="+mn-ea"/>
                  <a:cs typeface="+mn-cs"/>
                </a:rPr>
                <a:t>Düzenlileştirme ve</a:t>
              </a:r>
            </a:p>
          </p:txBody>
        </p:sp>
        <p:sp>
          <p:nvSpPr>
            <p:cNvPr id="45" name="TextBox 45"/>
            <p:cNvSpPr txBox="1"/>
            <p:nvPr/>
          </p:nvSpPr>
          <p:spPr>
            <a:xfrm>
              <a:off x="850392" y="5054918"/>
              <a:ext cx="1473518" cy="264033"/>
            </a:xfrm>
            <a:prstGeom prst="rect">
              <a:avLst/>
            </a:prstGeom>
            <a:noFill/>
            <a:ln>
              <a:noFill/>
            </a:ln>
          </p:spPr>
          <p:txBody>
            <a:bodyPr wrap="none" lIns="0" tIns="0" rIns="0" bIns="0" anchor="t" anchorCtr="0">
              <a:spAutoFit/>
            </a:bodyPr>
            <a:lstStyle/>
            <a:p>
              <a:pPr algn="l"/>
              <a:r>
                <a:rPr lang="tr-TR" sz="1350" b="1" dirty="0">
                  <a:solidFill>
                    <a:srgbClr val="172B3A"/>
                  </a:solidFill>
                  <a:latin typeface="+mn-lt"/>
                  <a:ea typeface="+mn-ea"/>
                  <a:cs typeface="+mn-cs"/>
                </a:rPr>
                <a:t>erken durdurma</a:t>
              </a:r>
            </a:p>
          </p:txBody>
        </p:sp>
        <p:sp>
          <p:nvSpPr>
            <p:cNvPr id="46" name="TextBox 46"/>
            <p:cNvSpPr txBox="1"/>
            <p:nvPr/>
          </p:nvSpPr>
          <p:spPr>
            <a:xfrm>
              <a:off x="4184904" y="4918710"/>
              <a:ext cx="2206745" cy="234696"/>
            </a:xfrm>
            <a:prstGeom prst="rect">
              <a:avLst/>
            </a:prstGeom>
            <a:noFill/>
            <a:ln>
              <a:noFill/>
            </a:ln>
          </p:spPr>
          <p:txBody>
            <a:bodyPr wrap="none" lIns="0" tIns="0" rIns="0" bIns="0" anchor="t" anchorCtr="0">
              <a:spAutoFit/>
            </a:bodyPr>
            <a:lstStyle/>
            <a:p>
              <a:pPr algn="l"/>
              <a:r>
                <a:rPr lang="el-GR" sz="1200" dirty="0">
                  <a:solidFill>
                    <a:srgbClr val="172B3A"/>
                  </a:solidFill>
                  <a:latin typeface="+mn-lt"/>
                  <a:ea typeface="+mn-ea"/>
                  <a:cs typeface="+mn-cs"/>
                </a:rPr>
                <a:t>Ω(f) ve doğrulama izleme ile</a:t>
              </a:r>
            </a:p>
          </p:txBody>
        </p:sp>
        <p:sp>
          <p:nvSpPr>
            <p:cNvPr id="47" name="TextBox 47"/>
            <p:cNvSpPr txBox="1"/>
            <p:nvPr/>
          </p:nvSpPr>
          <p:spPr>
            <a:xfrm>
              <a:off x="4184904" y="5128260"/>
              <a:ext cx="286344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gereksiz karmaşıklığı cezalandırır</a:t>
              </a:r>
            </a:p>
          </p:txBody>
        </p:sp>
        <p:sp>
          <p:nvSpPr>
            <p:cNvPr id="48" name="TextBox 48"/>
            <p:cNvSpPr txBox="1"/>
            <p:nvPr/>
          </p:nvSpPr>
          <p:spPr>
            <a:xfrm>
              <a:off x="7994904" y="4918710"/>
              <a:ext cx="312724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Erken durdurma yoksa model gereğinden</a:t>
              </a:r>
            </a:p>
          </p:txBody>
        </p:sp>
        <p:sp>
          <p:nvSpPr>
            <p:cNvPr id="49" name="TextBox 49"/>
            <p:cNvSpPr txBox="1"/>
            <p:nvPr/>
          </p:nvSpPr>
          <p:spPr>
            <a:xfrm>
              <a:off x="7994904" y="5128260"/>
              <a:ext cx="346923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fazla tur eğitilip genelleme gücünü kaybeder</a:t>
              </a:r>
            </a:p>
          </p:txBody>
        </p:sp>
      </p:grpSp>
      <p:grpSp>
        <p:nvGrpSpPr>
          <p:cNvPr id="55" name="selection-band"/>
          <p:cNvGrpSpPr/>
          <p:nvPr/>
        </p:nvGrpSpPr>
        <p:grpSpPr>
          <a:xfrm>
            <a:off x="609600" y="5524500"/>
            <a:ext cx="10972800" cy="952500"/>
            <a:chOff x="609600" y="5524500"/>
            <a:chExt cx="10972800" cy="952500"/>
          </a:xfrm>
        </p:grpSpPr>
        <p:sp>
          <p:nvSpPr>
            <p:cNvPr id="51" name="Rectangle 51"/>
            <p:cNvSpPr/>
            <p:nvPr/>
          </p:nvSpPr>
          <p:spPr>
            <a:xfrm>
              <a:off x="609600" y="5524500"/>
              <a:ext cx="10972800" cy="952500"/>
            </a:xfrm>
            <a:prstGeom prst="roundRect">
              <a:avLst>
                <a:gd name="adj" fmla="val 8000"/>
              </a:avLst>
            </a:prstGeom>
            <a:solidFill>
              <a:srgbClr val="EAF4F6"/>
            </a:solidFill>
            <a:ln>
              <a:noFill/>
            </a:ln>
          </p:spPr>
        </p:sp>
        <p:sp>
          <p:nvSpPr>
            <p:cNvPr id="52" name="TextBox 52"/>
            <p:cNvSpPr txBox="1"/>
            <p:nvPr/>
          </p:nvSpPr>
          <p:spPr>
            <a:xfrm>
              <a:off x="850392" y="5664518"/>
              <a:ext cx="2409797"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XGBoost mi, LightGBM mi?</a:t>
              </a:r>
            </a:p>
          </p:txBody>
        </p:sp>
        <p:sp>
          <p:nvSpPr>
            <p:cNvPr id="53" name="TextBox 53"/>
            <p:cNvSpPr txBox="1"/>
            <p:nvPr/>
          </p:nvSpPr>
          <p:spPr>
            <a:xfrm>
              <a:off x="851154" y="5928360"/>
              <a:ext cx="797347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Seçim; veri büyüklüğü, bellek bütçesi, kategorik/eksik değer temsili, kabul edilebilir eğitim süresi ve</a:t>
              </a:r>
            </a:p>
          </p:txBody>
        </p:sp>
        <p:sp>
          <p:nvSpPr>
            <p:cNvPr id="54" name="TextBox 54"/>
            <p:cNvSpPr txBox="1"/>
            <p:nvPr/>
          </p:nvSpPr>
          <p:spPr>
            <a:xfrm>
              <a:off x="851154" y="6137910"/>
              <a:ext cx="779861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doğrulama performansı kriterlerine göre yapılır — tek bir algoritma her senaryoda üstün değildir.</a:t>
              </a:r>
            </a:p>
          </p:txBody>
        </p:sp>
      </p:grpSp>
      <p:sp>
        <p:nvSpPr>
          <p:cNvPr id="56" name="TextBox 56"/>
          <p:cNvSpPr txBox="1"/>
          <p:nvPr/>
        </p:nvSpPr>
        <p:spPr>
          <a:xfrm>
            <a:off x="11035132" y="65951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25</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245857" cy="557403"/>
            <a:chOff x="595122" y="282892"/>
            <a:chExt cx="6245857" cy="557403"/>
          </a:xfrm>
        </p:grpSpPr>
        <p:sp>
          <p:nvSpPr>
            <p:cNvPr id="4" name="TextBox 4"/>
            <p:cNvSpPr txBox="1"/>
            <p:nvPr/>
          </p:nvSpPr>
          <p:spPr>
            <a:xfrm>
              <a:off x="595122" y="282892"/>
              <a:ext cx="624585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Sözlük: bölümün temel terimleri</a:t>
              </a:r>
            </a:p>
          </p:txBody>
        </p:sp>
      </p:grpSp>
      <p:grpSp>
        <p:nvGrpSpPr>
          <p:cNvPr id="31" name="term-col-1"/>
          <p:cNvGrpSpPr/>
          <p:nvPr/>
        </p:nvGrpSpPr>
        <p:grpSpPr>
          <a:xfrm>
            <a:off x="609600" y="1181100"/>
            <a:ext cx="5221224" cy="4105656"/>
            <a:chOff x="609600" y="1181100"/>
            <a:chExt cx="5221224" cy="4105656"/>
          </a:xfrm>
        </p:grpSpPr>
        <p:grpSp>
          <p:nvGrpSpPr>
            <p:cNvPr id="10" name="t1"/>
            <p:cNvGrpSpPr/>
            <p:nvPr/>
          </p:nvGrpSpPr>
          <p:grpSpPr>
            <a:xfrm>
              <a:off x="609600" y="1181100"/>
              <a:ext cx="4712360" cy="752856"/>
              <a:chOff x="609600" y="1181100"/>
              <a:chExt cx="4712360" cy="752856"/>
            </a:xfrm>
          </p:grpSpPr>
          <p:sp>
            <p:nvSpPr>
              <p:cNvPr id="6" name="Rectangle 6"/>
              <p:cNvSpPr/>
              <p:nvPr/>
            </p:nvSpPr>
            <p:spPr>
              <a:xfrm>
                <a:off x="609600" y="1181100"/>
                <a:ext cx="57150" cy="571500"/>
              </a:xfrm>
              <a:prstGeom prst="rect">
                <a:avLst/>
              </a:prstGeom>
              <a:solidFill>
                <a:srgbClr val="00A6A6"/>
              </a:solidFill>
              <a:ln>
                <a:noFill/>
              </a:ln>
            </p:spPr>
          </p:sp>
          <p:sp>
            <p:nvSpPr>
              <p:cNvPr id="7" name="TextBox 7"/>
              <p:cNvSpPr txBox="1"/>
              <p:nvPr/>
            </p:nvSpPr>
            <p:spPr>
              <a:xfrm>
                <a:off x="849249" y="1220629"/>
                <a:ext cx="9493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Boosting</a:t>
                </a:r>
              </a:p>
            </p:txBody>
          </p:sp>
          <p:sp>
            <p:nvSpPr>
              <p:cNvPr id="8" name="TextBox 8"/>
              <p:cNvSpPr txBox="1"/>
              <p:nvPr/>
            </p:nvSpPr>
            <p:spPr>
              <a:xfrm>
                <a:off x="851154" y="1508760"/>
                <a:ext cx="388603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Zayıf öğrenicileri ardışık biçimde birleştirip her</a:t>
                </a:r>
              </a:p>
            </p:txBody>
          </p:sp>
          <p:sp>
            <p:nvSpPr>
              <p:cNvPr id="9" name="TextBox 9"/>
              <p:cNvSpPr txBox="1"/>
              <p:nvPr/>
            </p:nvSpPr>
            <p:spPr>
              <a:xfrm>
                <a:off x="851154" y="1699260"/>
                <a:ext cx="44708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birinin bir öncekinin hatasını düzeltmesini sağlayan aile.</a:t>
                </a:r>
              </a:p>
            </p:txBody>
          </p:sp>
        </p:grpSp>
        <p:grpSp>
          <p:nvGrpSpPr>
            <p:cNvPr id="15" name="t2"/>
            <p:cNvGrpSpPr/>
            <p:nvPr/>
          </p:nvGrpSpPr>
          <p:grpSpPr>
            <a:xfrm>
              <a:off x="609600" y="2019300"/>
              <a:ext cx="4136027" cy="752856"/>
              <a:chOff x="609600" y="2019300"/>
              <a:chExt cx="4136027" cy="752856"/>
            </a:xfrm>
          </p:grpSpPr>
          <p:sp>
            <p:nvSpPr>
              <p:cNvPr id="11" name="Rectangle 11"/>
              <p:cNvSpPr/>
              <p:nvPr/>
            </p:nvSpPr>
            <p:spPr>
              <a:xfrm>
                <a:off x="609600" y="2019300"/>
                <a:ext cx="57150" cy="571500"/>
              </a:xfrm>
              <a:prstGeom prst="rect">
                <a:avLst/>
              </a:prstGeom>
              <a:solidFill>
                <a:srgbClr val="00A6A6"/>
              </a:solidFill>
              <a:ln>
                <a:noFill/>
              </a:ln>
            </p:spPr>
          </p:sp>
          <p:sp>
            <p:nvSpPr>
              <p:cNvPr id="12" name="TextBox 12"/>
              <p:cNvSpPr txBox="1"/>
              <p:nvPr/>
            </p:nvSpPr>
            <p:spPr>
              <a:xfrm>
                <a:off x="849249" y="2058829"/>
                <a:ext cx="182950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Artık (Residual)</a:t>
                </a:r>
              </a:p>
            </p:txBody>
          </p:sp>
          <p:sp>
            <p:nvSpPr>
              <p:cNvPr id="13" name="TextBox 13"/>
              <p:cNvSpPr txBox="1"/>
              <p:nvPr/>
            </p:nvSpPr>
            <p:spPr>
              <a:xfrm>
                <a:off x="851154" y="2346960"/>
                <a:ext cx="389447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Mevcut model tahmini ile gerçek değer arasındaki</a:t>
                </a:r>
              </a:p>
            </p:txBody>
          </p:sp>
          <p:sp>
            <p:nvSpPr>
              <p:cNvPr id="14" name="TextBox 14"/>
              <p:cNvSpPr txBox="1"/>
              <p:nvPr/>
            </p:nvSpPr>
            <p:spPr>
              <a:xfrm>
                <a:off x="851154" y="2537460"/>
                <a:ext cx="350154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fark; bir sonraki ağacın öğrenme hedefidir.</a:t>
                </a:r>
              </a:p>
            </p:txBody>
          </p:sp>
        </p:grpSp>
        <p:grpSp>
          <p:nvGrpSpPr>
            <p:cNvPr id="20" name="t3"/>
            <p:cNvGrpSpPr/>
            <p:nvPr/>
          </p:nvGrpSpPr>
          <p:grpSpPr>
            <a:xfrm>
              <a:off x="609600" y="2857500"/>
              <a:ext cx="5221224" cy="752856"/>
              <a:chOff x="609600" y="2857500"/>
              <a:chExt cx="5221224" cy="752856"/>
            </a:xfrm>
          </p:grpSpPr>
          <p:sp>
            <p:nvSpPr>
              <p:cNvPr id="16" name="Rectangle 16"/>
              <p:cNvSpPr/>
              <p:nvPr/>
            </p:nvSpPr>
            <p:spPr>
              <a:xfrm>
                <a:off x="609600" y="2857500"/>
                <a:ext cx="57150" cy="571500"/>
              </a:xfrm>
              <a:prstGeom prst="rect">
                <a:avLst/>
              </a:prstGeom>
              <a:solidFill>
                <a:srgbClr val="00A6A6"/>
              </a:solidFill>
              <a:ln>
                <a:noFill/>
              </a:ln>
            </p:spPr>
          </p:sp>
          <p:sp>
            <p:nvSpPr>
              <p:cNvPr id="17" name="TextBox 17"/>
              <p:cNvSpPr txBox="1"/>
              <p:nvPr/>
            </p:nvSpPr>
            <p:spPr>
              <a:xfrm>
                <a:off x="849249" y="2897029"/>
                <a:ext cx="89669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XGBoost</a:t>
                </a:r>
              </a:p>
            </p:txBody>
          </p:sp>
          <p:sp>
            <p:nvSpPr>
              <p:cNvPr id="18" name="TextBox 18"/>
              <p:cNvSpPr txBox="1"/>
              <p:nvPr/>
            </p:nvSpPr>
            <p:spPr>
              <a:xfrm>
                <a:off x="851154" y="3185160"/>
                <a:ext cx="411763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İkinci derece (Hessian) bilgi ve açık düzenlileştirme</a:t>
                </a:r>
              </a:p>
            </p:txBody>
          </p:sp>
          <p:sp>
            <p:nvSpPr>
              <p:cNvPr id="19" name="TextBox 19"/>
              <p:cNvSpPr txBox="1"/>
              <p:nvPr/>
            </p:nvSpPr>
            <p:spPr>
              <a:xfrm>
                <a:off x="851154" y="3375660"/>
                <a:ext cx="497967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terimi kullanan, seviye-öncelikli gradyan artırma kütüphanesi.</a:t>
                </a:r>
              </a:p>
            </p:txBody>
          </p:sp>
        </p:grpSp>
        <p:grpSp>
          <p:nvGrpSpPr>
            <p:cNvPr id="25" name="t4"/>
            <p:cNvGrpSpPr/>
            <p:nvPr/>
          </p:nvGrpSpPr>
          <p:grpSpPr>
            <a:xfrm>
              <a:off x="609600" y="3695700"/>
              <a:ext cx="4558894" cy="752856"/>
              <a:chOff x="609600" y="3695700"/>
              <a:chExt cx="4558894" cy="752856"/>
            </a:xfrm>
          </p:grpSpPr>
          <p:sp>
            <p:nvSpPr>
              <p:cNvPr id="21" name="Rectangle 21"/>
              <p:cNvSpPr/>
              <p:nvPr/>
            </p:nvSpPr>
            <p:spPr>
              <a:xfrm>
                <a:off x="609600" y="3695700"/>
                <a:ext cx="57150" cy="571500"/>
              </a:xfrm>
              <a:prstGeom prst="rect">
                <a:avLst/>
              </a:prstGeom>
              <a:solidFill>
                <a:srgbClr val="00A6A6"/>
              </a:solidFill>
              <a:ln>
                <a:noFill/>
              </a:ln>
            </p:spPr>
          </p:sp>
          <p:sp>
            <p:nvSpPr>
              <p:cNvPr id="22" name="TextBox 22"/>
              <p:cNvSpPr txBox="1"/>
              <p:nvPr/>
            </p:nvSpPr>
            <p:spPr>
              <a:xfrm>
                <a:off x="849249" y="3735229"/>
                <a:ext cx="101500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LightGBM</a:t>
                </a:r>
              </a:p>
            </p:txBody>
          </p:sp>
          <p:sp>
            <p:nvSpPr>
              <p:cNvPr id="23" name="TextBox 23"/>
              <p:cNvSpPr txBox="1"/>
              <p:nvPr/>
            </p:nvSpPr>
            <p:spPr>
              <a:xfrm>
                <a:off x="851154" y="4023360"/>
                <a:ext cx="424985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Yaprak-öncelikli büyüme ve histogram tabanlı bölünme</a:t>
                </a:r>
              </a:p>
            </p:txBody>
          </p:sp>
          <p:sp>
            <p:nvSpPr>
              <p:cNvPr id="24" name="TextBox 24"/>
              <p:cNvSpPr txBox="1"/>
              <p:nvPr/>
            </p:nvSpPr>
            <p:spPr>
              <a:xfrm>
                <a:off x="851154" y="4213860"/>
                <a:ext cx="431734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arayışı kullanan, büyük veride hıza odaklı kütüphane.</a:t>
                </a:r>
              </a:p>
            </p:txBody>
          </p:sp>
        </p:grpSp>
        <p:grpSp>
          <p:nvGrpSpPr>
            <p:cNvPr id="30" name="t5"/>
            <p:cNvGrpSpPr/>
            <p:nvPr/>
          </p:nvGrpSpPr>
          <p:grpSpPr>
            <a:xfrm>
              <a:off x="609600" y="4533900"/>
              <a:ext cx="4397350" cy="752856"/>
              <a:chOff x="609600" y="4533900"/>
              <a:chExt cx="4397350" cy="752856"/>
            </a:xfrm>
          </p:grpSpPr>
          <p:sp>
            <p:nvSpPr>
              <p:cNvPr id="26" name="Rectangle 26"/>
              <p:cNvSpPr/>
              <p:nvPr/>
            </p:nvSpPr>
            <p:spPr>
              <a:xfrm>
                <a:off x="609600" y="4533900"/>
                <a:ext cx="57150" cy="571500"/>
              </a:xfrm>
              <a:prstGeom prst="rect">
                <a:avLst/>
              </a:prstGeom>
              <a:solidFill>
                <a:srgbClr val="00A6A6"/>
              </a:solidFill>
              <a:ln>
                <a:noFill/>
              </a:ln>
            </p:spPr>
          </p:sp>
          <p:sp>
            <p:nvSpPr>
              <p:cNvPr id="27" name="TextBox 27"/>
              <p:cNvSpPr txBox="1"/>
              <p:nvPr/>
            </p:nvSpPr>
            <p:spPr>
              <a:xfrm>
                <a:off x="849249" y="4573429"/>
                <a:ext cx="2045980" cy="308039"/>
              </a:xfrm>
              <a:prstGeom prst="rect">
                <a:avLst/>
              </a:prstGeom>
              <a:noFill/>
              <a:ln>
                <a:noFill/>
              </a:ln>
            </p:spPr>
            <p:txBody>
              <a:bodyPr wrap="none" lIns="0" tIns="0" rIns="0" bIns="0" anchor="t" anchorCtr="0">
                <a:spAutoFit/>
              </a:bodyPr>
              <a:lstStyle/>
              <a:p>
                <a:pPr algn="l"/>
                <a:r>
                  <a:rPr lang="el-GR" sz="1580" b="1" dirty="0">
                    <a:solidFill>
                      <a:srgbClr val="12355B"/>
                    </a:solidFill>
                    <a:latin typeface="+mn-lt"/>
                    <a:ea typeface="+mn-ea"/>
                    <a:cs typeface="+mn-cs"/>
                  </a:rPr>
                  <a:t>Öğrenme oranı (ν)</a:t>
                </a:r>
              </a:p>
            </p:txBody>
          </p:sp>
          <p:sp>
            <p:nvSpPr>
              <p:cNvPr id="28" name="TextBox 28"/>
              <p:cNvSpPr txBox="1"/>
              <p:nvPr/>
            </p:nvSpPr>
            <p:spPr>
              <a:xfrm>
                <a:off x="851154" y="4861560"/>
                <a:ext cx="380562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Her ağacın toplam tahmine katkısını ölçekleyen</a:t>
                </a:r>
              </a:p>
            </p:txBody>
          </p:sp>
          <p:sp>
            <p:nvSpPr>
              <p:cNvPr id="29" name="TextBox 29"/>
              <p:cNvSpPr txBox="1"/>
              <p:nvPr/>
            </p:nvSpPr>
            <p:spPr>
              <a:xfrm>
                <a:off x="851154" y="5052060"/>
                <a:ext cx="415579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küçültme katsayısı; hız-genelleme dengesini kurar.</a:t>
                </a:r>
              </a:p>
            </p:txBody>
          </p:sp>
        </p:grpSp>
      </p:grpSp>
      <p:grpSp>
        <p:nvGrpSpPr>
          <p:cNvPr id="57" name="term-col-2"/>
          <p:cNvGrpSpPr/>
          <p:nvPr/>
        </p:nvGrpSpPr>
        <p:grpSpPr>
          <a:xfrm>
            <a:off x="6324600" y="1181100"/>
            <a:ext cx="5178373" cy="4105656"/>
            <a:chOff x="6324600" y="1181100"/>
            <a:chExt cx="5178373" cy="4105656"/>
          </a:xfrm>
        </p:grpSpPr>
        <p:grpSp>
          <p:nvGrpSpPr>
            <p:cNvPr id="36" name="t6"/>
            <p:cNvGrpSpPr/>
            <p:nvPr/>
          </p:nvGrpSpPr>
          <p:grpSpPr>
            <a:xfrm>
              <a:off x="6324600" y="1181100"/>
              <a:ext cx="4252298" cy="752856"/>
              <a:chOff x="6324600" y="1181100"/>
              <a:chExt cx="4252298" cy="752856"/>
            </a:xfrm>
          </p:grpSpPr>
          <p:sp>
            <p:nvSpPr>
              <p:cNvPr id="32" name="Rectangle 32"/>
              <p:cNvSpPr/>
              <p:nvPr/>
            </p:nvSpPr>
            <p:spPr>
              <a:xfrm>
                <a:off x="6324600" y="1181100"/>
                <a:ext cx="57150" cy="571500"/>
              </a:xfrm>
              <a:prstGeom prst="rect">
                <a:avLst/>
              </a:prstGeom>
              <a:solidFill>
                <a:srgbClr val="2E86AB"/>
              </a:solidFill>
              <a:ln>
                <a:noFill/>
              </a:ln>
            </p:spPr>
          </p:sp>
          <p:sp>
            <p:nvSpPr>
              <p:cNvPr id="33" name="TextBox 33"/>
              <p:cNvSpPr txBox="1"/>
              <p:nvPr/>
            </p:nvSpPr>
            <p:spPr>
              <a:xfrm>
                <a:off x="6564249" y="1220629"/>
                <a:ext cx="255768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Seviye-öncelikli büyüme</a:t>
                </a:r>
              </a:p>
            </p:txBody>
          </p:sp>
          <p:sp>
            <p:nvSpPr>
              <p:cNvPr id="34" name="TextBox 34"/>
              <p:cNvSpPr txBox="1"/>
              <p:nvPr/>
            </p:nvSpPr>
            <p:spPr>
              <a:xfrm>
                <a:off x="6566154" y="1508760"/>
                <a:ext cx="398331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Ağacın her seviyesini tamamen doldurduktan sonra</a:t>
                </a:r>
              </a:p>
            </p:txBody>
          </p:sp>
          <p:sp>
            <p:nvSpPr>
              <p:cNvPr id="35" name="TextBox 35"/>
              <p:cNvSpPr txBox="1"/>
              <p:nvPr/>
            </p:nvSpPr>
            <p:spPr>
              <a:xfrm>
                <a:off x="6566154" y="1699260"/>
                <a:ext cx="401074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bir alt seviyeye geçmesi; XGBoost'un varsayılanı.</a:t>
                </a:r>
              </a:p>
            </p:txBody>
          </p:sp>
        </p:grpSp>
        <p:grpSp>
          <p:nvGrpSpPr>
            <p:cNvPr id="41" name="t7"/>
            <p:cNvGrpSpPr/>
            <p:nvPr/>
          </p:nvGrpSpPr>
          <p:grpSpPr>
            <a:xfrm>
              <a:off x="6324600" y="2019300"/>
              <a:ext cx="5178373" cy="752856"/>
              <a:chOff x="6324600" y="2019300"/>
              <a:chExt cx="5178373" cy="752856"/>
            </a:xfrm>
          </p:grpSpPr>
          <p:sp>
            <p:nvSpPr>
              <p:cNvPr id="37" name="Rectangle 37"/>
              <p:cNvSpPr/>
              <p:nvPr/>
            </p:nvSpPr>
            <p:spPr>
              <a:xfrm>
                <a:off x="6324600" y="2019300"/>
                <a:ext cx="57150" cy="571500"/>
              </a:xfrm>
              <a:prstGeom prst="rect">
                <a:avLst/>
              </a:prstGeom>
              <a:solidFill>
                <a:srgbClr val="2E86AB"/>
              </a:solidFill>
              <a:ln>
                <a:noFill/>
              </a:ln>
            </p:spPr>
          </p:sp>
          <p:sp>
            <p:nvSpPr>
              <p:cNvPr id="38" name="TextBox 38"/>
              <p:cNvSpPr txBox="1"/>
              <p:nvPr/>
            </p:nvSpPr>
            <p:spPr>
              <a:xfrm>
                <a:off x="6564249" y="2058829"/>
                <a:ext cx="261366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Yaprak-öncelikli büyüme</a:t>
                </a:r>
              </a:p>
            </p:txBody>
          </p:sp>
          <p:sp>
            <p:nvSpPr>
              <p:cNvPr id="39" name="TextBox 39"/>
              <p:cNvSpPr txBox="1"/>
              <p:nvPr/>
            </p:nvSpPr>
            <p:spPr>
              <a:xfrm>
                <a:off x="6566154" y="2346960"/>
                <a:ext cx="333714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Kaybı en çok azaltacak yaprağın seçilerek</a:t>
                </a:r>
              </a:p>
            </p:txBody>
          </p:sp>
          <p:sp>
            <p:nvSpPr>
              <p:cNvPr id="40" name="TextBox 40"/>
              <p:cNvSpPr txBox="1"/>
              <p:nvPr/>
            </p:nvSpPr>
            <p:spPr>
              <a:xfrm>
                <a:off x="6566154" y="2537460"/>
                <a:ext cx="493681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büyütülmesi; LightGBM'in varsayılanı, asimetrik ağaç üretir.</a:t>
                </a:r>
              </a:p>
            </p:txBody>
          </p:sp>
        </p:grpSp>
        <p:grpSp>
          <p:nvGrpSpPr>
            <p:cNvPr id="46" name="t8"/>
            <p:cNvGrpSpPr/>
            <p:nvPr/>
          </p:nvGrpSpPr>
          <p:grpSpPr>
            <a:xfrm>
              <a:off x="6324600" y="2857500"/>
              <a:ext cx="4413504" cy="752856"/>
              <a:chOff x="6324600" y="2857500"/>
              <a:chExt cx="4413504" cy="752856"/>
            </a:xfrm>
          </p:grpSpPr>
          <p:sp>
            <p:nvSpPr>
              <p:cNvPr id="42" name="Rectangle 42"/>
              <p:cNvSpPr/>
              <p:nvPr/>
            </p:nvSpPr>
            <p:spPr>
              <a:xfrm>
                <a:off x="6324600" y="2857500"/>
                <a:ext cx="57150" cy="571500"/>
              </a:xfrm>
              <a:prstGeom prst="rect">
                <a:avLst/>
              </a:prstGeom>
              <a:solidFill>
                <a:srgbClr val="2E86AB"/>
              </a:solidFill>
              <a:ln>
                <a:noFill/>
              </a:ln>
            </p:spPr>
          </p:sp>
          <p:sp>
            <p:nvSpPr>
              <p:cNvPr id="43" name="TextBox 43"/>
              <p:cNvSpPr txBox="1"/>
              <p:nvPr/>
            </p:nvSpPr>
            <p:spPr>
              <a:xfrm>
                <a:off x="6564249" y="2897029"/>
                <a:ext cx="332828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Hiperparametre optimizasyonu</a:t>
                </a:r>
              </a:p>
            </p:txBody>
          </p:sp>
          <p:sp>
            <p:nvSpPr>
              <p:cNvPr id="44" name="TextBox 44"/>
              <p:cNvSpPr txBox="1"/>
              <p:nvPr/>
            </p:nvSpPr>
            <p:spPr>
              <a:xfrm>
                <a:off x="6566154" y="3185160"/>
                <a:ext cx="328065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Doğrulama performansını maksimize eden</a:t>
                </a:r>
              </a:p>
            </p:txBody>
          </p:sp>
          <p:sp>
            <p:nvSpPr>
              <p:cNvPr id="45" name="TextBox 45"/>
              <p:cNvSpPr txBox="1"/>
              <p:nvPr/>
            </p:nvSpPr>
            <p:spPr>
              <a:xfrm>
                <a:off x="6566154" y="3375660"/>
                <a:ext cx="417195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parametre kombinasyonunu sistematik arama süreci.</a:t>
                </a:r>
              </a:p>
            </p:txBody>
          </p:sp>
        </p:grpSp>
        <p:grpSp>
          <p:nvGrpSpPr>
            <p:cNvPr id="51" name="t9"/>
            <p:cNvGrpSpPr/>
            <p:nvPr/>
          </p:nvGrpSpPr>
          <p:grpSpPr>
            <a:xfrm>
              <a:off x="6324600" y="3695700"/>
              <a:ext cx="4143345" cy="746284"/>
              <a:chOff x="6324600" y="3695700"/>
              <a:chExt cx="4143345" cy="746284"/>
            </a:xfrm>
          </p:grpSpPr>
          <p:sp>
            <p:nvSpPr>
              <p:cNvPr id="47" name="Rectangle 47"/>
              <p:cNvSpPr/>
              <p:nvPr/>
            </p:nvSpPr>
            <p:spPr>
              <a:xfrm>
                <a:off x="6324600" y="3695700"/>
                <a:ext cx="57150" cy="571500"/>
              </a:xfrm>
              <a:prstGeom prst="rect">
                <a:avLst/>
              </a:prstGeom>
              <a:solidFill>
                <a:srgbClr val="2E86AB"/>
              </a:solidFill>
              <a:ln>
                <a:noFill/>
              </a:ln>
            </p:spPr>
          </p:sp>
          <p:sp>
            <p:nvSpPr>
              <p:cNvPr id="48" name="TextBox 48"/>
              <p:cNvSpPr txBox="1"/>
              <p:nvPr/>
            </p:nvSpPr>
            <p:spPr>
              <a:xfrm>
                <a:off x="6564249" y="3735229"/>
                <a:ext cx="80504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Optuna</a:t>
                </a:r>
              </a:p>
            </p:txBody>
          </p:sp>
          <p:sp>
            <p:nvSpPr>
              <p:cNvPr id="49" name="TextBox 49"/>
              <p:cNvSpPr txBox="1"/>
              <p:nvPr/>
            </p:nvSpPr>
            <p:spPr>
              <a:xfrm>
                <a:off x="6566535" y="4031456"/>
                <a:ext cx="341632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Önceki denemelerden öğrenerek arama uzayını</a:t>
                </a:r>
              </a:p>
            </p:txBody>
          </p:sp>
          <p:sp>
            <p:nvSpPr>
              <p:cNvPr id="50" name="TextBox 50"/>
              <p:cNvSpPr txBox="1"/>
              <p:nvPr/>
            </p:nvSpPr>
            <p:spPr>
              <a:xfrm>
                <a:off x="6566535" y="4221956"/>
                <a:ext cx="390141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sıralı biçimde daraltan, pruning destekli kütüphane.</a:t>
                </a:r>
              </a:p>
            </p:txBody>
          </p:sp>
        </p:grpSp>
        <p:grpSp>
          <p:nvGrpSpPr>
            <p:cNvPr id="56" name="t10"/>
            <p:cNvGrpSpPr/>
            <p:nvPr/>
          </p:nvGrpSpPr>
          <p:grpSpPr>
            <a:xfrm>
              <a:off x="6324600" y="4533900"/>
              <a:ext cx="4426496" cy="752856"/>
              <a:chOff x="6324600" y="4533900"/>
              <a:chExt cx="4426496" cy="752856"/>
            </a:xfrm>
          </p:grpSpPr>
          <p:sp>
            <p:nvSpPr>
              <p:cNvPr id="52" name="Rectangle 52"/>
              <p:cNvSpPr/>
              <p:nvPr/>
            </p:nvSpPr>
            <p:spPr>
              <a:xfrm>
                <a:off x="6324600" y="4533900"/>
                <a:ext cx="57150" cy="571500"/>
              </a:xfrm>
              <a:prstGeom prst="rect">
                <a:avLst/>
              </a:prstGeom>
              <a:solidFill>
                <a:srgbClr val="2E86AB"/>
              </a:solidFill>
              <a:ln>
                <a:noFill/>
              </a:ln>
            </p:spPr>
          </p:sp>
          <p:sp>
            <p:nvSpPr>
              <p:cNvPr id="53" name="TextBox 53"/>
              <p:cNvSpPr txBox="1"/>
              <p:nvPr/>
            </p:nvSpPr>
            <p:spPr>
              <a:xfrm>
                <a:off x="6564249" y="4573429"/>
                <a:ext cx="173195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Erken durdurma</a:t>
                </a:r>
              </a:p>
            </p:txBody>
          </p:sp>
          <p:sp>
            <p:nvSpPr>
              <p:cNvPr id="54" name="TextBox 54"/>
              <p:cNvSpPr txBox="1"/>
              <p:nvPr/>
            </p:nvSpPr>
            <p:spPr>
              <a:xfrm>
                <a:off x="6566154" y="4861560"/>
                <a:ext cx="418494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Doğrulama skoru belirli sayıda turdur iyileşmediğinde</a:t>
                </a:r>
              </a:p>
            </p:txBody>
          </p:sp>
          <p:sp>
            <p:nvSpPr>
              <p:cNvPr id="55" name="TextBox 55"/>
              <p:cNvSpPr txBox="1"/>
              <p:nvPr/>
            </p:nvSpPr>
            <p:spPr>
              <a:xfrm>
                <a:off x="6566154" y="5052060"/>
                <a:ext cx="401848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eğitimi durdurma; gereksiz aşırı öğrenmeyi önler.</a:t>
                </a:r>
              </a:p>
            </p:txBody>
          </p:sp>
        </p:grpSp>
      </p:grpSp>
      <p:grpSp>
        <p:nvGrpSpPr>
          <p:cNvPr id="61" name="footer-note"/>
          <p:cNvGrpSpPr/>
          <p:nvPr/>
        </p:nvGrpSpPr>
        <p:grpSpPr>
          <a:xfrm>
            <a:off x="609600" y="5753100"/>
            <a:ext cx="10972800" cy="723900"/>
            <a:chOff x="609600" y="5753100"/>
            <a:chExt cx="10972800" cy="723900"/>
          </a:xfrm>
        </p:grpSpPr>
        <p:sp>
          <p:nvSpPr>
            <p:cNvPr id="58" name="Rectangle 58"/>
            <p:cNvSpPr/>
            <p:nvPr/>
          </p:nvSpPr>
          <p:spPr>
            <a:xfrm>
              <a:off x="609600" y="5753100"/>
              <a:ext cx="10972800" cy="723900"/>
            </a:xfrm>
            <a:prstGeom prst="roundRect">
              <a:avLst>
                <a:gd name="adj" fmla="val 10526"/>
              </a:avLst>
            </a:prstGeom>
            <a:solidFill>
              <a:srgbClr val="EAF4F6"/>
            </a:solidFill>
            <a:ln>
              <a:noFill/>
            </a:ln>
          </p:spPr>
        </p:sp>
        <p:sp>
          <p:nvSpPr>
            <p:cNvPr id="59" name="TextBox 59"/>
            <p:cNvSpPr txBox="1"/>
            <p:nvPr/>
          </p:nvSpPr>
          <p:spPr>
            <a:xfrm>
              <a:off x="851154" y="5947410"/>
              <a:ext cx="770406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AdaBoost, Bagging, GridSearchCV ve Ağaç karmaşıklığı gibi kalan sözlük terimleri, bölüm boyunca</a:t>
              </a:r>
            </a:p>
          </p:txBody>
        </p:sp>
        <p:sp>
          <p:nvSpPr>
            <p:cNvPr id="60" name="TextBox 60"/>
            <p:cNvSpPr txBox="1"/>
            <p:nvPr/>
          </p:nvSpPr>
          <p:spPr>
            <a:xfrm>
              <a:off x="851154" y="6156960"/>
              <a:ext cx="470504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işlendikleri sayfalarda bağlamıyla birlikte tanımlanmıştır.</a:t>
              </a:r>
            </a:p>
          </p:txBody>
        </p:sp>
      </p:grpSp>
      <p:sp>
        <p:nvSpPr>
          <p:cNvPr id="62" name="TextBox 62"/>
          <p:cNvSpPr txBox="1"/>
          <p:nvPr/>
        </p:nvSpPr>
        <p:spPr>
          <a:xfrm>
            <a:off x="11035132" y="65951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25</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756273" cy="668845"/>
            <a:chOff x="609600" y="171450"/>
            <a:chExt cx="975627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906590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gerçek dünya tuzakları</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51296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DOĞRU YAKLAŞIM</a:t>
              </a:r>
            </a:p>
          </p:txBody>
        </p:sp>
      </p:grpSp>
      <p:grpSp>
        <p:nvGrpSpPr>
          <p:cNvPr id="21" name="fallacy-lr"/>
          <p:cNvGrpSpPr/>
          <p:nvPr/>
        </p:nvGrpSpPr>
        <p:grpSpPr>
          <a:xfrm>
            <a:off x="609600" y="1854518"/>
            <a:ext cx="10972800" cy="1193482"/>
            <a:chOff x="609600" y="1854518"/>
            <a:chExt cx="10972800" cy="1193482"/>
          </a:xfrm>
        </p:grpSpPr>
        <p:sp>
          <p:nvSpPr>
            <p:cNvPr id="17" name="TextBox 17"/>
            <p:cNvSpPr txBox="1"/>
            <p:nvPr/>
          </p:nvSpPr>
          <p:spPr>
            <a:xfrm>
              <a:off x="755142" y="1854518"/>
              <a:ext cx="2029968" cy="721233"/>
            </a:xfrm>
            <a:prstGeom prst="rect">
              <a:avLst/>
            </a:prstGeom>
            <a:noFill/>
            <a:ln>
              <a:noFill/>
            </a:ln>
          </p:spPr>
          <p:txBody>
            <a:bodyPr wrap="none" lIns="0" tIns="0" rIns="0" bIns="0" anchor="t" anchorCtr="0">
              <a:spAutoFit/>
            </a:bodyPr>
            <a:lstStyle/>
            <a:p>
              <a:pPr algn="l">
                <a:lnSpc>
                  <a:spcPts val="1800"/>
                </a:lnSpc>
              </a:pPr>
              <a:r>
                <a:rPr lang="tr-TR" sz="1350" b="1" dirty="0">
                  <a:solidFill>
                    <a:srgbClr val="12355B"/>
                  </a:solidFill>
                  <a:latin typeface="+mn-lt"/>
                  <a:ea typeface="+mn-ea"/>
                  <a:cs typeface="+mn-cs"/>
                </a:rPr>
                <a:t>"Öğrenme oranını</a:t>
              </a:r>
              <a:br/>
              <a:r>
                <a:rPr lang="tr-TR" sz="1350" b="1" dirty="0">
                  <a:solidFill>
                    <a:srgbClr val="12355B"/>
                  </a:solidFill>
                  <a:latin typeface="+mn-lt"/>
                  <a:ea typeface="+mn-ea"/>
                  <a:cs typeface="+mn-cs"/>
                </a:rPr>
                <a:t>artırırsam model daha</a:t>
              </a:r>
              <a:br/>
              <a:r>
                <a:rPr lang="tr-TR" sz="1350" b="1" dirty="0">
                  <a:solidFill>
                    <a:srgbClr val="12355B"/>
                  </a:solidFill>
                  <a:latin typeface="+mn-lt"/>
                  <a:ea typeface="+mn-ea"/>
                  <a:cs typeface="+mn-cs"/>
                </a:rPr>
                <a:t>hızlı iyileşir."</a:t>
              </a:r>
            </a:p>
          </p:txBody>
        </p:sp>
        <p:sp>
          <p:nvSpPr>
            <p:cNvPr id="18" name="TextBox 18"/>
            <p:cNvSpPr txBox="1"/>
            <p:nvPr/>
          </p:nvSpPr>
          <p:spPr>
            <a:xfrm>
              <a:off x="4375404" y="1870710"/>
              <a:ext cx="29611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Ağaç sayısı sabit kalıp öğrenme</a:t>
              </a:r>
              <a:br/>
              <a:r>
                <a:rPr lang="tr-TR" sz="1200" dirty="0">
                  <a:solidFill>
                    <a:srgbClr val="172B3A"/>
                  </a:solidFill>
                  <a:latin typeface="+mn-lt"/>
                  <a:ea typeface="+mn-ea"/>
                  <a:cs typeface="+mn-cs"/>
                </a:rPr>
                <a:t>oranı artırıldığında model hızla aşırı</a:t>
              </a:r>
              <a:br/>
              <a:r>
                <a:rPr lang="tr-TR" sz="1200" dirty="0">
                  <a:solidFill>
                    <a:srgbClr val="172B3A"/>
                  </a:solidFill>
                  <a:latin typeface="+mn-lt"/>
                  <a:ea typeface="+mn-ea"/>
                  <a:cs typeface="+mn-cs"/>
                </a:rPr>
                <a:t>öğrenmeye kayar; doğrulama AUC'si</a:t>
              </a:r>
              <a:br/>
              <a:r>
                <a:rPr lang="tr-TR" sz="1200" dirty="0">
                  <a:solidFill>
                    <a:srgbClr val="172B3A"/>
                  </a:solidFill>
                  <a:latin typeface="+mn-lt"/>
                  <a:ea typeface="+mn-ea"/>
                  <a:cs typeface="+mn-cs"/>
                </a:rPr>
                <a:t>düşmeye başlar.</a:t>
              </a:r>
            </a:p>
          </p:txBody>
        </p:sp>
        <p:sp>
          <p:nvSpPr>
            <p:cNvPr id="19" name="TextBox 19"/>
            <p:cNvSpPr txBox="1"/>
            <p:nvPr/>
          </p:nvSpPr>
          <p:spPr>
            <a:xfrm>
              <a:off x="8185404" y="1870710"/>
              <a:ext cx="28392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Öğrenme oranı ve ağaç sayısı birlikte</a:t>
              </a:r>
              <a:br/>
              <a:r>
                <a:rPr lang="tr-TR" sz="1200" dirty="0">
                  <a:solidFill>
                    <a:srgbClr val="172B3A"/>
                  </a:solidFill>
                  <a:latin typeface="+mn-lt"/>
                  <a:ea typeface="+mn-ea"/>
                  <a:cs typeface="+mn-cs"/>
                </a:rPr>
                <a:t>ayarlanmalı; oran artırılırken erken</a:t>
              </a:r>
              <a:br/>
              <a:r>
                <a:rPr lang="tr-TR" sz="1200" dirty="0">
                  <a:solidFill>
                    <a:srgbClr val="172B3A"/>
                  </a:solidFill>
                  <a:latin typeface="+mn-lt"/>
                  <a:ea typeface="+mn-ea"/>
                  <a:cs typeface="+mn-cs"/>
                </a:rPr>
                <a:t>durdurma ile tur sayısı doğrulama</a:t>
              </a:r>
              <a:br/>
              <a:r>
                <a:rPr lang="tr-TR" sz="1200" dirty="0">
                  <a:solidFill>
                    <a:srgbClr val="172B3A"/>
                  </a:solidFill>
                  <a:latin typeface="+mn-lt"/>
                  <a:ea typeface="+mn-ea"/>
                  <a:cs typeface="+mn-cs"/>
                </a:rPr>
                <a:t>setine göre sınırlandırılmalıdır.</a:t>
              </a:r>
            </a:p>
          </p:txBody>
        </p:sp>
        <p:sp>
          <p:nvSpPr>
            <p:cNvPr id="20" name="Line 20"/>
            <p:cNvSpPr/>
            <p:nvPr/>
          </p:nvSpPr>
          <p:spPr>
            <a:xfrm>
              <a:off x="609600" y="30384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leaves"/>
          <p:cNvGrpSpPr/>
          <p:nvPr/>
        </p:nvGrpSpPr>
        <p:grpSpPr>
          <a:xfrm>
            <a:off x="609600" y="3048000"/>
            <a:ext cx="10972800" cy="1333500"/>
            <a:chOff x="609600" y="3048000"/>
            <a:chExt cx="10972800" cy="1333500"/>
          </a:xfrm>
        </p:grpSpPr>
        <p:sp>
          <p:nvSpPr>
            <p:cNvPr id="22" name="Rectangle 22"/>
            <p:cNvSpPr/>
            <p:nvPr/>
          </p:nvSpPr>
          <p:spPr>
            <a:xfrm>
              <a:off x="609600" y="3048000"/>
              <a:ext cx="10972800" cy="1333500"/>
            </a:xfrm>
            <a:prstGeom prst="rect">
              <a:avLst/>
            </a:prstGeom>
            <a:solidFill>
              <a:srgbClr val="EAF4F6"/>
            </a:solidFill>
            <a:ln>
              <a:noFill/>
            </a:ln>
          </p:spPr>
        </p:sp>
        <p:sp>
          <p:nvSpPr>
            <p:cNvPr id="23" name="TextBox 23"/>
            <p:cNvSpPr txBox="1"/>
            <p:nvPr/>
          </p:nvSpPr>
          <p:spPr>
            <a:xfrm>
              <a:off x="755142" y="3188018"/>
              <a:ext cx="1984962" cy="721233"/>
            </a:xfrm>
            <a:prstGeom prst="rect">
              <a:avLst/>
            </a:prstGeom>
            <a:noFill/>
            <a:ln>
              <a:noFill/>
            </a:ln>
          </p:spPr>
          <p:txBody>
            <a:bodyPr wrap="none" lIns="0" tIns="0" rIns="0" bIns="0" anchor="t" anchorCtr="0">
              <a:spAutoFit/>
            </a:bodyPr>
            <a:lstStyle/>
            <a:p>
              <a:pPr algn="l">
                <a:lnSpc>
                  <a:spcPts val="1800"/>
                </a:lnSpc>
              </a:pPr>
              <a:r>
                <a:rPr lang="tr-TR" sz="1350" b="1" dirty="0">
                  <a:solidFill>
                    <a:srgbClr val="12355B"/>
                  </a:solidFill>
                  <a:latin typeface="+mn-lt"/>
                  <a:ea typeface="+mn-ea"/>
                  <a:cs typeface="+mn-cs"/>
                </a:rPr>
                <a:t>"LightGBM'de</a:t>
              </a:r>
              <a:br/>
              <a:r>
                <a:rPr lang="tr-TR" sz="1350" b="1" dirty="0">
                  <a:solidFill>
                    <a:srgbClr val="12355B"/>
                  </a:solidFill>
                  <a:latin typeface="+mn-lt"/>
                  <a:ea typeface="+mn-ea"/>
                  <a:cs typeface="+mn-cs"/>
                </a:rPr>
                <a:t>num_leaves'i büyük</a:t>
              </a:r>
              <a:br/>
              <a:r>
                <a:rPr lang="tr-TR" sz="1350" b="1" dirty="0">
                  <a:solidFill>
                    <a:srgbClr val="12355B"/>
                  </a:solidFill>
                  <a:latin typeface="+mn-lt"/>
                  <a:ea typeface="+mn-ea"/>
                  <a:cs typeface="+mn-cs"/>
                </a:rPr>
                <a:t>tutmak zararsızdır."</a:t>
              </a:r>
            </a:p>
          </p:txBody>
        </p:sp>
        <p:sp>
          <p:nvSpPr>
            <p:cNvPr id="24" name="TextBox 24"/>
            <p:cNvSpPr txBox="1"/>
            <p:nvPr/>
          </p:nvSpPr>
          <p:spPr>
            <a:xfrm>
              <a:off x="4375404" y="3204210"/>
              <a:ext cx="27249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num_leaves, max_depth ile tutarsız</a:t>
              </a:r>
              <a:br/>
              <a:r>
                <a:rPr lang="tr-TR" sz="1200" dirty="0">
                  <a:solidFill>
                    <a:srgbClr val="172B3A"/>
                  </a:solidFill>
                  <a:latin typeface="+mn-lt"/>
                  <a:ea typeface="+mn-ea"/>
                  <a:cs typeface="+mn-cs"/>
                </a:rPr>
                <a:t>bırakılırsa yaprak-öncelikli büyüme</a:t>
              </a:r>
              <a:br/>
              <a:r>
                <a:rPr lang="tr-TR" sz="1200" dirty="0">
                  <a:solidFill>
                    <a:srgbClr val="172B3A"/>
                  </a:solidFill>
                  <a:latin typeface="+mn-lt"/>
                  <a:ea typeface="+mn-ea"/>
                  <a:cs typeface="+mn-cs"/>
                </a:rPr>
                <a:t>aşırı derin, dengesiz ağaçlar üretip</a:t>
              </a:r>
              <a:br/>
              <a:r>
                <a:rPr lang="tr-TR" sz="1200" dirty="0">
                  <a:solidFill>
                    <a:srgbClr val="172B3A"/>
                  </a:solidFill>
                  <a:latin typeface="+mn-lt"/>
                  <a:ea typeface="+mn-ea"/>
                  <a:cs typeface="+mn-cs"/>
                </a:rPr>
                <a:t>aşırı öğrenmeye yol açar.</a:t>
              </a:r>
            </a:p>
          </p:txBody>
        </p:sp>
        <p:sp>
          <p:nvSpPr>
            <p:cNvPr id="25" name="TextBox 25"/>
            <p:cNvSpPr txBox="1"/>
            <p:nvPr/>
          </p:nvSpPr>
          <p:spPr>
            <a:xfrm>
              <a:off x="8185404" y="3204210"/>
              <a:ext cx="27934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num_leaves, max_depth ile birlikte ve</a:t>
              </a:r>
              <a:br/>
              <a:r>
                <a:rPr lang="tr-TR" sz="1200" dirty="0">
                  <a:solidFill>
                    <a:srgbClr val="172B3A"/>
                  </a:solidFill>
                  <a:latin typeface="+mn-lt"/>
                  <a:ea typeface="+mn-ea"/>
                  <a:cs typeface="+mn-cs"/>
                </a:rPr>
                <a:t>ona uyumlu seçilmeli; ikisi arasındaki</a:t>
              </a:r>
              <a:br/>
              <a:r>
                <a:rPr lang="tr-TR" sz="1200" dirty="0">
                  <a:solidFill>
                    <a:srgbClr val="172B3A"/>
                  </a:solidFill>
                  <a:latin typeface="+mn-lt"/>
                  <a:ea typeface="+mn-ea"/>
                  <a:cs typeface="+mn-cs"/>
                </a:rPr>
                <a:t>ilişki (2^derinlik) kontrol edilerek</a:t>
              </a:r>
              <a:br/>
              <a:r>
                <a:rPr lang="tr-TR" sz="1200" dirty="0">
                  <a:solidFill>
                    <a:srgbClr val="172B3A"/>
                  </a:solidFill>
                  <a:latin typeface="+mn-lt"/>
                  <a:ea typeface="+mn-ea"/>
                  <a:cs typeface="+mn-cs"/>
                </a:rPr>
                <a:t>ağaç karmaşıklığı sınırlanmalıdır.</a:t>
              </a:r>
            </a:p>
          </p:txBody>
        </p:sp>
        <p:sp>
          <p:nvSpPr>
            <p:cNvPr id="26" name="Line 26"/>
            <p:cNvSpPr/>
            <p:nvPr/>
          </p:nvSpPr>
          <p:spPr>
            <a:xfrm>
              <a:off x="609600" y="43719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accuracy"/>
          <p:cNvGrpSpPr/>
          <p:nvPr/>
        </p:nvGrpSpPr>
        <p:grpSpPr>
          <a:xfrm>
            <a:off x="755142" y="4521518"/>
            <a:ext cx="10117074" cy="879538"/>
            <a:chOff x="755142" y="4521518"/>
            <a:chExt cx="10117074" cy="879538"/>
          </a:xfrm>
        </p:grpSpPr>
        <p:sp>
          <p:nvSpPr>
            <p:cNvPr id="28" name="TextBox 28"/>
            <p:cNvSpPr txBox="1"/>
            <p:nvPr/>
          </p:nvSpPr>
          <p:spPr>
            <a:xfrm>
              <a:off x="755142" y="4521518"/>
              <a:ext cx="1750933" cy="721233"/>
            </a:xfrm>
            <a:prstGeom prst="rect">
              <a:avLst/>
            </a:prstGeom>
            <a:noFill/>
            <a:ln>
              <a:noFill/>
            </a:ln>
          </p:spPr>
          <p:txBody>
            <a:bodyPr wrap="none" lIns="0" tIns="0" rIns="0" bIns="0" anchor="t" anchorCtr="0">
              <a:spAutoFit/>
            </a:bodyPr>
            <a:lstStyle/>
            <a:p>
              <a:pPr algn="l">
                <a:lnSpc>
                  <a:spcPts val="1800"/>
                </a:lnSpc>
              </a:pPr>
              <a:r>
                <a:rPr lang="tr-TR" sz="1350" b="1" dirty="0">
                  <a:solidFill>
                    <a:srgbClr val="12355B"/>
                  </a:solidFill>
                  <a:latin typeface="+mn-lt"/>
                  <a:ea typeface="+mn-ea"/>
                  <a:cs typeface="+mn-cs"/>
                </a:rPr>
                <a:t>"Model seçiminde</a:t>
              </a:r>
              <a:br/>
              <a:r>
                <a:rPr lang="tr-TR" sz="1350" b="1" dirty="0">
                  <a:solidFill>
                    <a:srgbClr val="12355B"/>
                  </a:solidFill>
                  <a:latin typeface="+mn-lt"/>
                  <a:ea typeface="+mn-ea"/>
                  <a:cs typeface="+mn-cs"/>
                </a:rPr>
                <a:t>accuracy_score her</a:t>
              </a:r>
              <a:br/>
              <a:r>
                <a:rPr lang="tr-TR" sz="1350" b="1" dirty="0">
                  <a:solidFill>
                    <a:srgbClr val="12355B"/>
                  </a:solidFill>
                  <a:latin typeface="+mn-lt"/>
                  <a:ea typeface="+mn-ea"/>
                  <a:cs typeface="+mn-cs"/>
                </a:rPr>
                <a:t>zaman yeterlidir."</a:t>
              </a:r>
            </a:p>
          </p:txBody>
        </p:sp>
        <p:sp>
          <p:nvSpPr>
            <p:cNvPr id="29" name="TextBox 29"/>
            <p:cNvSpPr txBox="1"/>
            <p:nvPr/>
          </p:nvSpPr>
          <p:spPr>
            <a:xfrm>
              <a:off x="4375404" y="4537710"/>
              <a:ext cx="29992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Dengesiz sınıflarda (ör. %20 churn)</a:t>
              </a:r>
              <a:br/>
              <a:r>
                <a:rPr lang="tr-TR" sz="1200" dirty="0">
                  <a:solidFill>
                    <a:srgbClr val="172B3A"/>
                  </a:solidFill>
                  <a:latin typeface="+mn-lt"/>
                  <a:ea typeface="+mn-ea"/>
                  <a:cs typeface="+mn-cs"/>
                </a:rPr>
                <a:t>çoğunluk sınıfını tahmin eden bir model</a:t>
              </a:r>
              <a:br/>
              <a:r>
                <a:rPr lang="tr-TR" sz="1200" dirty="0">
                  <a:solidFill>
                    <a:srgbClr val="172B3A"/>
                  </a:solidFill>
                  <a:latin typeface="+mn-lt"/>
                  <a:ea typeface="+mn-ea"/>
                  <a:cs typeface="+mn-cs"/>
                </a:rPr>
                <a:t>bile yüksek accuracy gösterebilir;</a:t>
              </a:r>
              <a:br/>
              <a:r>
                <a:rPr lang="tr-TR" sz="1200" dirty="0">
                  <a:solidFill>
                    <a:srgbClr val="172B3A"/>
                  </a:solidFill>
                  <a:latin typeface="+mn-lt"/>
                  <a:ea typeface="+mn-ea"/>
                  <a:cs typeface="+mn-cs"/>
                </a:rPr>
                <a:t>azınlık sınıf gözden kaçar.</a:t>
              </a:r>
            </a:p>
          </p:txBody>
        </p:sp>
        <p:sp>
          <p:nvSpPr>
            <p:cNvPr id="30" name="TextBox 30"/>
            <p:cNvSpPr txBox="1"/>
            <p:nvPr/>
          </p:nvSpPr>
          <p:spPr>
            <a:xfrm>
              <a:off x="8185404" y="4537710"/>
              <a:ext cx="26868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Dengesiz sınıflarda AUC, precision,</a:t>
              </a:r>
              <a:br/>
              <a:r>
                <a:rPr lang="tr-TR" sz="1200" dirty="0">
                  <a:solidFill>
                    <a:srgbClr val="172B3A"/>
                  </a:solidFill>
                  <a:latin typeface="+mn-lt"/>
                  <a:ea typeface="+mn-ea"/>
                  <a:cs typeface="+mn-cs"/>
                </a:rPr>
                <a:t>recall ve F1 birlikte izlenmeli; model</a:t>
              </a:r>
              <a:br/>
              <a:r>
                <a:rPr lang="tr-TR" sz="1200" dirty="0">
                  <a:solidFill>
                    <a:srgbClr val="172B3A"/>
                  </a:solidFill>
                  <a:latin typeface="+mn-lt"/>
                  <a:ea typeface="+mn-ea"/>
                  <a:cs typeface="+mn-cs"/>
                </a:rPr>
                <a:t>seçimi tek bir metriğe değil hedefe</a:t>
              </a:r>
              <a:br/>
              <a:r>
                <a:rPr lang="tr-TR" sz="1200" dirty="0">
                  <a:solidFill>
                    <a:srgbClr val="172B3A"/>
                  </a:solidFill>
                  <a:latin typeface="+mn-lt"/>
                  <a:ea typeface="+mn-ea"/>
                  <a:cs typeface="+mn-cs"/>
                </a:rPr>
                <a:t>uygun metrik setine dayanmalıdır.</a:t>
              </a:r>
            </a:p>
          </p:txBody>
        </p:sp>
      </p:grpSp>
      <p:grpSp>
        <p:nvGrpSpPr>
          <p:cNvPr id="35" name="general-misconception"/>
          <p:cNvGrpSpPr/>
          <p:nvPr/>
        </p:nvGrpSpPr>
        <p:grpSpPr>
          <a:xfrm>
            <a:off x="609600" y="5810250"/>
            <a:ext cx="10972800" cy="571500"/>
            <a:chOff x="609600" y="5810250"/>
            <a:chExt cx="10972800" cy="571500"/>
          </a:xfrm>
        </p:grpSpPr>
        <p:sp>
          <p:nvSpPr>
            <p:cNvPr id="32" name="Rectangle 32"/>
            <p:cNvSpPr/>
            <p:nvPr/>
          </p:nvSpPr>
          <p:spPr>
            <a:xfrm>
              <a:off x="609600" y="5810250"/>
              <a:ext cx="10972800" cy="571500"/>
            </a:xfrm>
            <a:prstGeom prst="roundRect">
              <a:avLst>
                <a:gd name="adj" fmla="val 13333"/>
              </a:avLst>
            </a:prstGeom>
            <a:solidFill>
              <a:srgbClr val="EAF4F6"/>
            </a:solidFill>
            <a:ln>
              <a:noFill/>
            </a:ln>
          </p:spPr>
        </p:sp>
        <p:sp>
          <p:nvSpPr>
            <p:cNvPr id="33" name="TextBox 33"/>
            <p:cNvSpPr txBox="1"/>
            <p:nvPr/>
          </p:nvSpPr>
          <p:spPr>
            <a:xfrm>
              <a:off x="851154" y="5928360"/>
              <a:ext cx="668178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Sık yanlış anlama: "Boosting her zaman bagging'den daha iyi performans verir."</a:t>
              </a:r>
            </a:p>
          </p:txBody>
        </p:sp>
        <p:sp>
          <p:nvSpPr>
            <p:cNvPr id="34" name="TextBox 34"/>
            <p:cNvSpPr txBox="1"/>
            <p:nvPr/>
          </p:nvSpPr>
          <p:spPr>
            <a:xfrm>
              <a:off x="851154" y="6118860"/>
              <a:ext cx="1009797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Gerçekte seçim; gürültü düzeyi, veri büyüklüğü ve aşırı öğrenme riskine bağlıdır — hiçbir yöntem her senaryoda üstün değildir.</a:t>
              </a:r>
            </a:p>
          </p:txBody>
        </p:sp>
      </p:grpSp>
      <p:sp>
        <p:nvSpPr>
          <p:cNvPr id="36" name="TextBox 36"/>
          <p:cNvSpPr txBox="1"/>
          <p:nvPr/>
        </p:nvSpPr>
        <p:spPr>
          <a:xfrm>
            <a:off x="11035132" y="65951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25</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715892" cy="668845"/>
            <a:chOff x="609600" y="171450"/>
            <a:chExt cx="9715892"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902552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Hata ayıklama alıştırması: ChurnModelDebug</a:t>
              </a:r>
            </a:p>
          </p:txBody>
        </p:sp>
      </p:grpSp>
      <p:grpSp>
        <p:nvGrpSpPr>
          <p:cNvPr id="13" name="meta-strip"/>
          <p:cNvGrpSpPr/>
          <p:nvPr/>
        </p:nvGrpSpPr>
        <p:grpSpPr>
          <a:xfrm>
            <a:off x="603504" y="1203960"/>
            <a:ext cx="8272626" cy="234696"/>
            <a:chOff x="603504" y="1203960"/>
            <a:chExt cx="8272626" cy="234696"/>
          </a:xfrm>
        </p:grpSpPr>
        <p:sp>
          <p:nvSpPr>
            <p:cNvPr id="12" name="TextBox 12"/>
            <p:cNvSpPr txBox="1"/>
            <p:nvPr/>
          </p:nvSpPr>
          <p:spPr>
            <a:xfrm>
              <a:off x="603504" y="1203960"/>
              <a:ext cx="827262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Aşağıdaki kod 6 farklı hata türü içerir; her biri farklı bir hiperparametre ya da API kısıtını ihlal eder.</a:t>
              </a:r>
            </a:p>
          </p:txBody>
        </p:sp>
      </p:grpSp>
      <p:grpSp>
        <p:nvGrpSpPr>
          <p:cNvPr id="28" name="code-panel"/>
          <p:cNvGrpSpPr/>
          <p:nvPr/>
        </p:nvGrpSpPr>
        <p:grpSpPr>
          <a:xfrm>
            <a:off x="609600" y="1638300"/>
            <a:ext cx="6477000" cy="4114800"/>
            <a:chOff x="609600" y="1638300"/>
            <a:chExt cx="6477000" cy="4114800"/>
          </a:xfrm>
        </p:grpSpPr>
        <p:sp>
          <p:nvSpPr>
            <p:cNvPr id="14" name="Rectangle 14"/>
            <p:cNvSpPr/>
            <p:nvPr/>
          </p:nvSpPr>
          <p:spPr>
            <a:xfrm>
              <a:off x="609600" y="1638300"/>
              <a:ext cx="6477000" cy="4114800"/>
            </a:xfrm>
            <a:prstGeom prst="roundRect">
              <a:avLst>
                <a:gd name="adj" fmla="val 2315"/>
              </a:avLst>
            </a:prstGeom>
            <a:solidFill>
              <a:srgbClr val="12355B"/>
            </a:solidFill>
            <a:ln>
              <a:noFill/>
            </a:ln>
          </p:spPr>
        </p:sp>
        <p:sp>
          <p:nvSpPr>
            <p:cNvPr id="15" name="TextBox 15"/>
            <p:cNvSpPr txBox="1"/>
            <p:nvPr/>
          </p:nvSpPr>
          <p:spPr>
            <a:xfrm>
              <a:off x="870204" y="1851660"/>
              <a:ext cx="405860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egitimX, testX, egitimY, testY = train_test_split(</a:t>
              </a:r>
            </a:p>
          </p:txBody>
        </p:sp>
        <p:sp>
          <p:nvSpPr>
            <p:cNvPr id="16" name="TextBox 16"/>
            <p:cNvSpPr txBox="1"/>
            <p:nvPr/>
          </p:nvSpPr>
          <p:spPr>
            <a:xfrm>
              <a:off x="1098804" y="2099310"/>
              <a:ext cx="329960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X, y, test_size=0.2) # (1) stratify eksik</a:t>
              </a:r>
            </a:p>
          </p:txBody>
        </p:sp>
        <p:sp>
          <p:nvSpPr>
            <p:cNvPr id="17" name="TextBox 17"/>
            <p:cNvSpPr txBox="1"/>
            <p:nvPr/>
          </p:nvSpPr>
          <p:spPr>
            <a:xfrm>
              <a:off x="870204" y="2404110"/>
              <a:ext cx="177881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model = XGBClassifier(</a:t>
              </a:r>
            </a:p>
          </p:txBody>
        </p:sp>
        <p:sp>
          <p:nvSpPr>
            <p:cNvPr id="18" name="TextBox 18"/>
            <p:cNvSpPr txBox="1"/>
            <p:nvPr/>
          </p:nvSpPr>
          <p:spPr>
            <a:xfrm>
              <a:off x="1098804" y="2651760"/>
              <a:ext cx="324307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learning_rate=1.5, # (2) geçersiz aralık</a:t>
              </a:r>
            </a:p>
          </p:txBody>
        </p:sp>
        <p:sp>
          <p:nvSpPr>
            <p:cNvPr id="19" name="TextBox 19"/>
            <p:cNvSpPr txBox="1"/>
            <p:nvPr/>
          </p:nvSpPr>
          <p:spPr>
            <a:xfrm>
              <a:off x="1098804" y="2899410"/>
              <a:ext cx="291998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max_depth=-3, # (3) negatif derinlik</a:t>
              </a:r>
            </a:p>
          </p:txBody>
        </p:sp>
        <p:sp>
          <p:nvSpPr>
            <p:cNvPr id="20" name="TextBox 20"/>
            <p:cNvSpPr txBox="1"/>
            <p:nvPr/>
          </p:nvSpPr>
          <p:spPr>
            <a:xfrm>
              <a:off x="1098804" y="3147060"/>
              <a:ext cx="297606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num_leaves=31) # (4) XGBoost'ta yok</a:t>
              </a:r>
            </a:p>
          </p:txBody>
        </p:sp>
        <p:sp>
          <p:nvSpPr>
            <p:cNvPr id="21" name="TextBox 21"/>
            <p:cNvSpPr txBox="1"/>
            <p:nvPr/>
          </p:nvSpPr>
          <p:spPr>
            <a:xfrm>
              <a:off x="870204" y="3451860"/>
              <a:ext cx="145807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esikDegeri = "0.5"</a:t>
              </a:r>
            </a:p>
          </p:txBody>
        </p:sp>
        <p:sp>
          <p:nvSpPr>
            <p:cNvPr id="22" name="TextBox 22"/>
            <p:cNvSpPr txBox="1"/>
            <p:nvPr/>
          </p:nvSpPr>
          <p:spPr>
            <a:xfrm>
              <a:off x="870204" y="3699510"/>
              <a:ext cx="271239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skor = tahminOlasiligi + esikDegeri</a:t>
              </a:r>
            </a:p>
          </p:txBody>
        </p:sp>
        <p:sp>
          <p:nvSpPr>
            <p:cNvPr id="23" name="TextBox 23"/>
            <p:cNvSpPr txBox="1"/>
            <p:nvPr/>
          </p:nvSpPr>
          <p:spPr>
            <a:xfrm>
              <a:off x="870204" y="3890010"/>
              <a:ext cx="227260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 (5) TypeError: float + str</a:t>
              </a:r>
            </a:p>
          </p:txBody>
        </p:sp>
        <p:sp>
          <p:nvSpPr>
            <p:cNvPr id="24" name="TextBox 24"/>
            <p:cNvSpPr txBox="1"/>
            <p:nvPr/>
          </p:nvSpPr>
          <p:spPr>
            <a:xfrm>
              <a:off x="870204" y="4194810"/>
              <a:ext cx="307345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degerler = model.feature_importance_</a:t>
              </a:r>
            </a:p>
          </p:txBody>
        </p:sp>
        <p:sp>
          <p:nvSpPr>
            <p:cNvPr id="25" name="TextBox 25"/>
            <p:cNvSpPr txBox="1"/>
            <p:nvPr/>
          </p:nvSpPr>
          <p:spPr>
            <a:xfrm>
              <a:off x="870204" y="4423410"/>
              <a:ext cx="290383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 (6) doğrusu feature_importances_</a:t>
              </a:r>
            </a:p>
          </p:txBody>
        </p:sp>
        <p:sp>
          <p:nvSpPr>
            <p:cNvPr id="26" name="TextBox 26"/>
            <p:cNvSpPr txBox="1"/>
            <p:nvPr/>
          </p:nvSpPr>
          <p:spPr>
            <a:xfrm>
              <a:off x="870204" y="4823460"/>
              <a:ext cx="358808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altı hata; veri bölme, parametre aralığı,</a:t>
              </a:r>
            </a:p>
          </p:txBody>
        </p:sp>
        <p:sp>
          <p:nvSpPr>
            <p:cNvPr id="27" name="TextBox 27"/>
            <p:cNvSpPr txBox="1"/>
            <p:nvPr/>
          </p:nvSpPr>
          <p:spPr>
            <a:xfrm>
              <a:off x="870204" y="5052060"/>
              <a:ext cx="402583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API uyumluluğu ve tip hatası kategorilerini kapsar.</a:t>
              </a:r>
            </a:p>
          </p:txBody>
        </p:sp>
      </p:grpSp>
      <p:grpSp>
        <p:nvGrpSpPr>
          <p:cNvPr id="41" name="fix-panel"/>
          <p:cNvGrpSpPr/>
          <p:nvPr/>
        </p:nvGrpSpPr>
        <p:grpSpPr>
          <a:xfrm>
            <a:off x="7239000" y="1638300"/>
            <a:ext cx="4343400" cy="2743200"/>
            <a:chOff x="7239000" y="1638300"/>
            <a:chExt cx="4343400" cy="2743200"/>
          </a:xfrm>
        </p:grpSpPr>
        <p:sp>
          <p:nvSpPr>
            <p:cNvPr id="29" name="Rectangle 29"/>
            <p:cNvSpPr/>
            <p:nvPr/>
          </p:nvSpPr>
          <p:spPr>
            <a:xfrm>
              <a:off x="7239000" y="1638300"/>
              <a:ext cx="4343400" cy="2743200"/>
            </a:xfrm>
            <a:prstGeom prst="roundRect">
              <a:avLst>
                <a:gd name="adj" fmla="val 3472"/>
              </a:avLst>
            </a:prstGeom>
            <a:solidFill>
              <a:srgbClr val="FFFFFF"/>
            </a:solidFill>
            <a:ln w="14288">
              <a:solidFill>
                <a:srgbClr val="B8CBD3"/>
              </a:solidFill>
            </a:ln>
          </p:spPr>
        </p:sp>
        <p:sp>
          <p:nvSpPr>
            <p:cNvPr id="30" name="Rectangle 30"/>
            <p:cNvSpPr/>
            <p:nvPr/>
          </p:nvSpPr>
          <p:spPr>
            <a:xfrm>
              <a:off x="7239000" y="1638300"/>
              <a:ext cx="4343400" cy="323850"/>
            </a:xfrm>
            <a:prstGeom prst="rect">
              <a:avLst/>
            </a:prstGeom>
            <a:solidFill>
              <a:srgbClr val="EAF4F6"/>
            </a:solidFill>
            <a:ln>
              <a:noFill/>
            </a:ln>
          </p:spPr>
        </p:sp>
        <p:sp>
          <p:nvSpPr>
            <p:cNvPr id="31" name="TextBox 31"/>
            <p:cNvSpPr txBox="1"/>
            <p:nvPr/>
          </p:nvSpPr>
          <p:spPr>
            <a:xfrm>
              <a:off x="7461504" y="1727835"/>
              <a:ext cx="1239012" cy="234696"/>
            </a:xfrm>
            <a:prstGeom prst="rect">
              <a:avLst/>
            </a:prstGeom>
            <a:noFill/>
            <a:ln>
              <a:noFill/>
            </a:ln>
          </p:spPr>
          <p:txBody>
            <a:bodyPr wrap="none" lIns="0" tIns="0" rIns="0" bIns="0" anchor="t" anchorCtr="0">
              <a:spAutoFit/>
            </a:bodyPr>
            <a:lstStyle/>
            <a:p>
              <a:pPr algn="l"/>
              <a:r>
                <a:rPr lang="tr-TR" sz="1200" b="1" spc="75" dirty="0">
                  <a:solidFill>
                    <a:srgbClr val="12355B"/>
                  </a:solidFill>
                  <a:latin typeface="+mn-lt"/>
                  <a:ea typeface="+mn-ea"/>
                  <a:cs typeface="+mn-cs"/>
                </a:rPr>
                <a:t>DÜZELTMELER</a:t>
              </a:r>
            </a:p>
          </p:txBody>
        </p:sp>
        <p:sp>
          <p:nvSpPr>
            <p:cNvPr id="32" name="TextBox 32"/>
            <p:cNvSpPr txBox="1"/>
            <p:nvPr/>
          </p:nvSpPr>
          <p:spPr>
            <a:xfrm>
              <a:off x="7461504" y="2042160"/>
              <a:ext cx="167609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 stratify=y eklenir</a:t>
              </a:r>
            </a:p>
          </p:txBody>
        </p:sp>
        <p:sp>
          <p:nvSpPr>
            <p:cNvPr id="33" name="TextBox 33"/>
            <p:cNvSpPr txBox="1"/>
            <p:nvPr/>
          </p:nvSpPr>
          <p:spPr>
            <a:xfrm>
              <a:off x="7461504" y="2289810"/>
              <a:ext cx="342884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2. learning_rate 0,01-0,3 aralığına çekilir</a:t>
              </a:r>
            </a:p>
          </p:txBody>
        </p:sp>
        <p:sp>
          <p:nvSpPr>
            <p:cNvPr id="34" name="TextBox 34"/>
            <p:cNvSpPr txBox="1"/>
            <p:nvPr/>
          </p:nvSpPr>
          <p:spPr>
            <a:xfrm>
              <a:off x="7461504" y="2537460"/>
              <a:ext cx="384886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3. max_depth pozitif bir tam sayı olmalı (ör. 4)</a:t>
              </a:r>
            </a:p>
          </p:txBody>
        </p:sp>
        <p:sp>
          <p:nvSpPr>
            <p:cNvPr id="35" name="TextBox 35"/>
            <p:cNvSpPr txBox="1"/>
            <p:nvPr/>
          </p:nvSpPr>
          <p:spPr>
            <a:xfrm>
              <a:off x="7461504" y="2785110"/>
              <a:ext cx="369355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4. num_leaves yalnızca LightGBM'de kullanılır</a:t>
              </a:r>
            </a:p>
          </p:txBody>
        </p:sp>
        <p:sp>
          <p:nvSpPr>
            <p:cNvPr id="36" name="TextBox 36"/>
            <p:cNvSpPr txBox="1"/>
            <p:nvPr/>
          </p:nvSpPr>
          <p:spPr>
            <a:xfrm>
              <a:off x="7461504" y="3032760"/>
              <a:ext cx="263294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5. esikDegeri = float(esikDegeri)</a:t>
              </a:r>
            </a:p>
          </p:txBody>
        </p:sp>
        <p:sp>
          <p:nvSpPr>
            <p:cNvPr id="37" name="TextBox 37"/>
            <p:cNvSpPr txBox="1"/>
            <p:nvPr/>
          </p:nvSpPr>
          <p:spPr>
            <a:xfrm>
              <a:off x="7461504" y="3280410"/>
              <a:ext cx="334807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6. model.feature_importances_ kullanılır</a:t>
              </a:r>
            </a:p>
          </p:txBody>
        </p:sp>
        <p:sp>
          <p:nvSpPr>
            <p:cNvPr id="38" name="Line 38"/>
            <p:cNvSpPr/>
            <p:nvPr/>
          </p:nvSpPr>
          <p:spPr>
            <a:xfrm>
              <a:off x="7467600" y="3619500"/>
              <a:ext cx="3886200" cy="9525"/>
            </a:xfrm>
            <a:custGeom>
              <a:avLst/>
              <a:gdLst/>
              <a:ahLst/>
              <a:cxnLst/>
              <a:rect l="l" t="t" r="r" b="b"/>
              <a:pathLst>
                <a:path w="3886200" h="9525">
                  <a:moveTo>
                    <a:pt x="0" y="0"/>
                  </a:moveTo>
                  <a:lnTo>
                    <a:pt x="3886200" y="0"/>
                  </a:lnTo>
                </a:path>
              </a:pathLst>
            </a:custGeom>
            <a:noFill/>
            <a:ln w="9525">
              <a:solidFill>
                <a:srgbClr val="B8CBD3"/>
              </a:solidFill>
            </a:ln>
          </p:spPr>
        </p:sp>
        <p:sp>
          <p:nvSpPr>
            <p:cNvPr id="39" name="TextBox 39"/>
            <p:cNvSpPr txBox="1"/>
            <p:nvPr/>
          </p:nvSpPr>
          <p:spPr>
            <a:xfrm>
              <a:off x="7461504" y="3756660"/>
              <a:ext cx="142502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Düzeltilmiş çıktı</a:t>
              </a:r>
            </a:p>
          </p:txBody>
        </p:sp>
        <p:sp>
          <p:nvSpPr>
            <p:cNvPr id="40" name="TextBox 40"/>
            <p:cNvSpPr txBox="1"/>
            <p:nvPr/>
          </p:nvSpPr>
          <p:spPr>
            <a:xfrm>
              <a:off x="7461504" y="4004310"/>
              <a:ext cx="13624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Doğruluk: 0,9067</a:t>
              </a:r>
            </a:p>
          </p:txBody>
        </p:sp>
      </p:grpSp>
      <p:grpSp>
        <p:nvGrpSpPr>
          <p:cNvPr id="45" name="interpretation"/>
          <p:cNvGrpSpPr/>
          <p:nvPr/>
        </p:nvGrpSpPr>
        <p:grpSpPr>
          <a:xfrm>
            <a:off x="7239000" y="4533900"/>
            <a:ext cx="4343400" cy="1219200"/>
            <a:chOff x="7239000" y="4533900"/>
            <a:chExt cx="4343400" cy="1219200"/>
          </a:xfrm>
        </p:grpSpPr>
        <p:sp>
          <p:nvSpPr>
            <p:cNvPr id="42" name="Rectangle 42"/>
            <p:cNvSpPr/>
            <p:nvPr/>
          </p:nvSpPr>
          <p:spPr>
            <a:xfrm>
              <a:off x="7239000" y="4533900"/>
              <a:ext cx="4343400" cy="1219200"/>
            </a:xfrm>
            <a:prstGeom prst="roundRect">
              <a:avLst>
                <a:gd name="adj" fmla="val 7812"/>
              </a:avLst>
            </a:prstGeom>
            <a:solidFill>
              <a:srgbClr val="EAF4F6"/>
            </a:solidFill>
            <a:ln>
              <a:noFill/>
            </a:ln>
          </p:spPr>
        </p:sp>
        <p:sp>
          <p:nvSpPr>
            <p:cNvPr id="43" name="TextBox 43"/>
            <p:cNvSpPr txBox="1"/>
            <p:nvPr/>
          </p:nvSpPr>
          <p:spPr>
            <a:xfrm>
              <a:off x="7460742" y="4692968"/>
              <a:ext cx="1279634"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Neden önemli?</a:t>
              </a:r>
            </a:p>
          </p:txBody>
        </p:sp>
        <p:sp>
          <p:nvSpPr>
            <p:cNvPr id="44" name="TextBox 44"/>
            <p:cNvSpPr txBox="1"/>
            <p:nvPr/>
          </p:nvSpPr>
          <p:spPr>
            <a:xfrm>
              <a:off x="7461504" y="4956810"/>
              <a:ext cx="33268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Kütüphaneye özgü parametre adları</a:t>
              </a:r>
              <a:br/>
              <a:r>
                <a:rPr lang="tr-TR" sz="1200" dirty="0">
                  <a:solidFill>
                    <a:srgbClr val="172B3A"/>
                  </a:solidFill>
                  <a:latin typeface="+mn-lt"/>
                  <a:ea typeface="+mn-ea"/>
                  <a:cs typeface="+mn-cs"/>
                </a:rPr>
                <a:t>ve geçerli aralıklar birbirine karıştırılırsa</a:t>
              </a:r>
              <a:br/>
              <a:r>
                <a:rPr lang="tr-TR" sz="1200" dirty="0">
                  <a:solidFill>
                    <a:srgbClr val="172B3A"/>
                  </a:solidFill>
                  <a:latin typeface="+mn-lt"/>
                  <a:ea typeface="+mn-ea"/>
                  <a:cs typeface="+mn-cs"/>
                </a:rPr>
                <a:t>hata çalışma zamanına kadar fark edilmez.</a:t>
              </a:r>
            </a:p>
          </p:txBody>
        </p:sp>
      </p:grpSp>
      <p:sp>
        <p:nvSpPr>
          <p:cNvPr id="46" name="TextBox 4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25</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9325428" cy="557403"/>
            <a:chOff x="595122" y="282892"/>
            <a:chExt cx="9325428" cy="557403"/>
          </a:xfrm>
        </p:grpSpPr>
        <p:sp>
          <p:nvSpPr>
            <p:cNvPr id="4" name="TextBox 4"/>
            <p:cNvSpPr txBox="1"/>
            <p:nvPr/>
          </p:nvSpPr>
          <p:spPr>
            <a:xfrm>
              <a:off x="595122" y="282892"/>
              <a:ext cx="932542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Uçtan uca mini uygulama: ChurnBoostingPipeline</a:t>
              </a:r>
            </a:p>
          </p:txBody>
        </p:sp>
      </p:grpSp>
      <p:grpSp>
        <p:nvGrpSpPr>
          <p:cNvPr id="21" name="pipeline-flow"/>
          <p:cNvGrpSpPr/>
          <p:nvPr/>
        </p:nvGrpSpPr>
        <p:grpSpPr>
          <a:xfrm>
            <a:off x="609600" y="1238250"/>
            <a:ext cx="10458450" cy="723900"/>
            <a:chOff x="609600" y="1238250"/>
            <a:chExt cx="10458450" cy="723900"/>
          </a:xfrm>
        </p:grpSpPr>
        <p:sp>
          <p:nvSpPr>
            <p:cNvPr id="6" name="Rectangle 6"/>
            <p:cNvSpPr/>
            <p:nvPr/>
          </p:nvSpPr>
          <p:spPr>
            <a:xfrm>
              <a:off x="609600" y="1238250"/>
              <a:ext cx="2400300" cy="723900"/>
            </a:xfrm>
            <a:prstGeom prst="roundRect">
              <a:avLst>
                <a:gd name="adj" fmla="val 10526"/>
              </a:avLst>
            </a:prstGeom>
            <a:solidFill>
              <a:srgbClr val="FFFFFF"/>
            </a:solidFill>
            <a:ln w="14288">
              <a:solidFill>
                <a:srgbClr val="2E86AB"/>
              </a:solidFill>
            </a:ln>
          </p:spPr>
        </p:sp>
        <p:sp>
          <p:nvSpPr>
            <p:cNvPr id="7" name="TextBox 7"/>
            <p:cNvSpPr txBox="1"/>
            <p:nvPr/>
          </p:nvSpPr>
          <p:spPr>
            <a:xfrm>
              <a:off x="747240" y="1394460"/>
              <a:ext cx="2125019"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temelModelleriKarsilastir</a:t>
              </a:r>
            </a:p>
          </p:txBody>
        </p:sp>
        <p:sp>
          <p:nvSpPr>
            <p:cNvPr id="8" name="TextBox 8"/>
            <p:cNvSpPr txBox="1"/>
            <p:nvPr/>
          </p:nvSpPr>
          <p:spPr>
            <a:xfrm>
              <a:off x="1088421" y="1639252"/>
              <a:ext cx="1442659"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XGBoost vs LightGBM</a:t>
              </a:r>
            </a:p>
          </p:txBody>
        </p:sp>
        <p:sp>
          <p:nvSpPr>
            <p:cNvPr id="9" name="Rectangle 9"/>
            <p:cNvSpPr/>
            <p:nvPr/>
          </p:nvSpPr>
          <p:spPr>
            <a:xfrm>
              <a:off x="3295650" y="1238250"/>
              <a:ext cx="2400300" cy="723900"/>
            </a:xfrm>
            <a:prstGeom prst="roundRect">
              <a:avLst>
                <a:gd name="adj" fmla="val 10526"/>
              </a:avLst>
            </a:prstGeom>
            <a:solidFill>
              <a:srgbClr val="FFFFFF"/>
            </a:solidFill>
            <a:ln w="14288">
              <a:solidFill>
                <a:srgbClr val="2E86AB"/>
              </a:solidFill>
            </a:ln>
          </p:spPr>
        </p:sp>
        <p:sp>
          <p:nvSpPr>
            <p:cNvPr id="10" name="TextBox 10"/>
            <p:cNvSpPr txBox="1"/>
            <p:nvPr/>
          </p:nvSpPr>
          <p:spPr>
            <a:xfrm>
              <a:off x="3808476" y="1394460"/>
              <a:ext cx="1374648"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_hedefFonksiyon</a:t>
              </a:r>
            </a:p>
          </p:txBody>
        </p:sp>
        <p:sp>
          <p:nvSpPr>
            <p:cNvPr id="11" name="TextBox 11"/>
            <p:cNvSpPr txBox="1"/>
            <p:nvPr/>
          </p:nvSpPr>
          <p:spPr>
            <a:xfrm>
              <a:off x="3756539" y="1639252"/>
              <a:ext cx="1478522"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Optuna deneme skoru</a:t>
              </a:r>
            </a:p>
          </p:txBody>
        </p:sp>
        <p:sp>
          <p:nvSpPr>
            <p:cNvPr id="12" name="Rectangle 12"/>
            <p:cNvSpPr/>
            <p:nvPr/>
          </p:nvSpPr>
          <p:spPr>
            <a:xfrm>
              <a:off x="5981700" y="1238250"/>
              <a:ext cx="2400300" cy="723900"/>
            </a:xfrm>
            <a:prstGeom prst="roundRect">
              <a:avLst>
                <a:gd name="adj" fmla="val 10526"/>
              </a:avLst>
            </a:prstGeom>
            <a:solidFill>
              <a:srgbClr val="FFFFFF"/>
            </a:solidFill>
            <a:ln w="14288">
              <a:solidFill>
                <a:srgbClr val="2E86AB"/>
              </a:solidFill>
            </a:ln>
          </p:spPr>
        </p:sp>
        <p:sp>
          <p:nvSpPr>
            <p:cNvPr id="13" name="TextBox 13"/>
            <p:cNvSpPr txBox="1"/>
            <p:nvPr/>
          </p:nvSpPr>
          <p:spPr>
            <a:xfrm>
              <a:off x="6332903" y="1394460"/>
              <a:ext cx="1697893"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optunaIleOptimizeEt</a:t>
              </a:r>
            </a:p>
          </p:txBody>
        </p:sp>
        <p:sp>
          <p:nvSpPr>
            <p:cNvPr id="14" name="TextBox 14"/>
            <p:cNvSpPr txBox="1"/>
            <p:nvPr/>
          </p:nvSpPr>
          <p:spPr>
            <a:xfrm>
              <a:off x="6167110" y="1639252"/>
              <a:ext cx="2029480"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Sıralı hiperparametre arama</a:t>
              </a:r>
            </a:p>
          </p:txBody>
        </p:sp>
        <p:sp>
          <p:nvSpPr>
            <p:cNvPr id="15" name="Rectangle 15"/>
            <p:cNvSpPr/>
            <p:nvPr/>
          </p:nvSpPr>
          <p:spPr>
            <a:xfrm>
              <a:off x="8667750" y="1238250"/>
              <a:ext cx="2400300" cy="723900"/>
            </a:xfrm>
            <a:prstGeom prst="roundRect">
              <a:avLst>
                <a:gd name="adj" fmla="val 10526"/>
              </a:avLst>
            </a:prstGeom>
            <a:solidFill>
              <a:srgbClr val="12355B"/>
            </a:solidFill>
            <a:ln>
              <a:noFill/>
            </a:ln>
          </p:spPr>
        </p:sp>
        <p:sp>
          <p:nvSpPr>
            <p:cNvPr id="16" name="TextBox 16"/>
            <p:cNvSpPr txBox="1"/>
            <p:nvPr/>
          </p:nvSpPr>
          <p:spPr>
            <a:xfrm>
              <a:off x="9244255" y="1394460"/>
              <a:ext cx="1247290" cy="234696"/>
            </a:xfrm>
            <a:prstGeom prst="rect">
              <a:avLst/>
            </a:prstGeom>
            <a:noFill/>
            <a:ln>
              <a:noFill/>
            </a:ln>
          </p:spPr>
          <p:txBody>
            <a:bodyPr wrap="none" lIns="0" tIns="0" rIns="0" bIns="0" anchor="t" anchorCtr="0">
              <a:spAutoFit/>
            </a:bodyPr>
            <a:lstStyle/>
            <a:p>
              <a:pPr algn="ctr"/>
              <a:r>
                <a:rPr lang="tr-TR" sz="1200" b="1" dirty="0">
                  <a:solidFill>
                    <a:srgbClr val="FFFFFF"/>
                  </a:solidFill>
                  <a:latin typeface="+mn-lt"/>
                  <a:ea typeface="+mn-ea"/>
                  <a:cs typeface="+mn-cs"/>
                </a:rPr>
                <a:t>enIyiModeliEgit</a:t>
              </a:r>
            </a:p>
          </p:txBody>
        </p:sp>
        <p:sp>
          <p:nvSpPr>
            <p:cNvPr id="17" name="TextBox 17"/>
            <p:cNvSpPr txBox="1"/>
            <p:nvPr/>
          </p:nvSpPr>
          <p:spPr>
            <a:xfrm>
              <a:off x="9107009" y="1639252"/>
              <a:ext cx="1521782" cy="205359"/>
            </a:xfrm>
            <a:prstGeom prst="rect">
              <a:avLst/>
            </a:prstGeom>
            <a:noFill/>
            <a:ln>
              <a:noFill/>
            </a:ln>
          </p:spPr>
          <p:txBody>
            <a:bodyPr wrap="none" lIns="0" tIns="0" rIns="0" bIns="0" anchor="t" anchorCtr="0">
              <a:spAutoFit/>
            </a:bodyPr>
            <a:lstStyle/>
            <a:p>
              <a:pPr algn="ctr"/>
              <a:r>
                <a:rPr lang="tr-TR" sz="1050" dirty="0">
                  <a:solidFill>
                    <a:srgbClr val="EAF4F6"/>
                  </a:solidFill>
                  <a:latin typeface="+mn-lt"/>
                  <a:ea typeface="+mn-ea"/>
                  <a:cs typeface="+mn-cs"/>
                </a:rPr>
                <a:t>Nihai model + test AUC</a:t>
              </a:r>
            </a:p>
          </p:txBody>
        </p:sp>
        <p:sp>
          <p:nvSpPr>
            <p:cNvPr id="18" name="Freeform 18"/>
            <p:cNvSpPr/>
            <p:nvPr/>
          </p:nvSpPr>
          <p:spPr>
            <a:xfrm>
              <a:off x="3009900" y="1600200"/>
              <a:ext cx="266700" cy="9525"/>
            </a:xfrm>
            <a:custGeom>
              <a:avLst/>
              <a:gdLst/>
              <a:ahLst/>
              <a:cxnLst/>
              <a:rect l="l" t="t" r="r" b="b"/>
              <a:pathLst>
                <a:path w="266700" h="9525">
                  <a:moveTo>
                    <a:pt x="0" y="0"/>
                  </a:moveTo>
                  <a:lnTo>
                    <a:pt x="266700" y="0"/>
                  </a:lnTo>
                </a:path>
              </a:pathLst>
            </a:custGeom>
            <a:solidFill>
              <a:srgbClr val="000000"/>
            </a:solidFill>
            <a:ln w="23812">
              <a:solidFill>
                <a:srgbClr val="00A6A6"/>
              </a:solidFill>
              <a:tailEnd type="triangle" w="lg" len="lg"/>
            </a:ln>
          </p:spPr>
        </p:sp>
        <p:sp>
          <p:nvSpPr>
            <p:cNvPr id="19" name="Freeform 19"/>
            <p:cNvSpPr/>
            <p:nvPr/>
          </p:nvSpPr>
          <p:spPr>
            <a:xfrm>
              <a:off x="5695950" y="1600200"/>
              <a:ext cx="266700" cy="9525"/>
            </a:xfrm>
            <a:custGeom>
              <a:avLst/>
              <a:gdLst/>
              <a:ahLst/>
              <a:cxnLst/>
              <a:rect l="l" t="t" r="r" b="b"/>
              <a:pathLst>
                <a:path w="266700" h="9525">
                  <a:moveTo>
                    <a:pt x="0" y="0"/>
                  </a:moveTo>
                  <a:lnTo>
                    <a:pt x="266700" y="0"/>
                  </a:lnTo>
                </a:path>
              </a:pathLst>
            </a:custGeom>
            <a:solidFill>
              <a:srgbClr val="000000"/>
            </a:solidFill>
            <a:ln w="23812">
              <a:solidFill>
                <a:srgbClr val="00A6A6"/>
              </a:solidFill>
              <a:tailEnd type="triangle" w="lg" len="lg"/>
            </a:ln>
          </p:spPr>
        </p:sp>
        <p:sp>
          <p:nvSpPr>
            <p:cNvPr id="20" name="Freeform 20"/>
            <p:cNvSpPr/>
            <p:nvPr/>
          </p:nvSpPr>
          <p:spPr>
            <a:xfrm>
              <a:off x="8382000" y="1600200"/>
              <a:ext cx="266700" cy="9525"/>
            </a:xfrm>
            <a:custGeom>
              <a:avLst/>
              <a:gdLst/>
              <a:ahLst/>
              <a:cxnLst/>
              <a:rect l="l" t="t" r="r" b="b"/>
              <a:pathLst>
                <a:path w="266700" h="9525">
                  <a:moveTo>
                    <a:pt x="0" y="0"/>
                  </a:moveTo>
                  <a:lnTo>
                    <a:pt x="266700" y="0"/>
                  </a:lnTo>
                </a:path>
              </a:pathLst>
            </a:custGeom>
            <a:solidFill>
              <a:srgbClr val="000000"/>
            </a:solidFill>
            <a:ln w="23812">
              <a:solidFill>
                <a:srgbClr val="00A6A6"/>
              </a:solidFill>
              <a:tailEnd type="triangle" w="lg" len="lg"/>
            </a:ln>
          </p:spPr>
        </p:sp>
      </p:grpSp>
      <p:grpSp>
        <p:nvGrpSpPr>
          <p:cNvPr id="42" name="results-table"/>
          <p:cNvGrpSpPr/>
          <p:nvPr/>
        </p:nvGrpSpPr>
        <p:grpSpPr>
          <a:xfrm>
            <a:off x="609600" y="2209800"/>
            <a:ext cx="6477000" cy="2286000"/>
            <a:chOff x="609600" y="2209800"/>
            <a:chExt cx="6477000" cy="2286000"/>
          </a:xfrm>
        </p:grpSpPr>
        <p:sp>
          <p:nvSpPr>
            <p:cNvPr id="22" name="Rectangle 22"/>
            <p:cNvSpPr/>
            <p:nvPr/>
          </p:nvSpPr>
          <p:spPr>
            <a:xfrm>
              <a:off x="609600" y="2209800"/>
              <a:ext cx="6477000" cy="2286000"/>
            </a:xfrm>
            <a:prstGeom prst="roundRect">
              <a:avLst>
                <a:gd name="adj" fmla="val 4167"/>
              </a:avLst>
            </a:prstGeom>
            <a:solidFill>
              <a:srgbClr val="FFFFFF"/>
            </a:solidFill>
            <a:ln w="14288">
              <a:solidFill>
                <a:srgbClr val="B8CBD3"/>
              </a:solidFill>
            </a:ln>
          </p:spPr>
        </p:sp>
        <p:sp>
          <p:nvSpPr>
            <p:cNvPr id="23" name="Rectangle 23"/>
            <p:cNvSpPr/>
            <p:nvPr/>
          </p:nvSpPr>
          <p:spPr>
            <a:xfrm>
              <a:off x="609600" y="2209800"/>
              <a:ext cx="6477000" cy="342900"/>
            </a:xfrm>
            <a:prstGeom prst="rect">
              <a:avLst/>
            </a:prstGeom>
            <a:solidFill>
              <a:srgbClr val="EAF4F6"/>
            </a:solidFill>
            <a:ln>
              <a:noFill/>
            </a:ln>
          </p:spPr>
        </p:sp>
        <p:sp>
          <p:nvSpPr>
            <p:cNvPr id="24" name="TextBox 24"/>
            <p:cNvSpPr txBox="1"/>
            <p:nvPr/>
          </p:nvSpPr>
          <p:spPr>
            <a:xfrm>
              <a:off x="851154" y="2308860"/>
              <a:ext cx="57674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MODEL</a:t>
              </a:r>
            </a:p>
          </p:txBody>
        </p:sp>
        <p:sp>
          <p:nvSpPr>
            <p:cNvPr id="25" name="TextBox 25"/>
            <p:cNvSpPr txBox="1"/>
            <p:nvPr/>
          </p:nvSpPr>
          <p:spPr>
            <a:xfrm>
              <a:off x="3137154" y="2308860"/>
              <a:ext cx="30790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AUC</a:t>
              </a:r>
            </a:p>
          </p:txBody>
        </p:sp>
        <p:sp>
          <p:nvSpPr>
            <p:cNvPr id="26" name="TextBox 26"/>
            <p:cNvSpPr txBox="1"/>
            <p:nvPr/>
          </p:nvSpPr>
          <p:spPr>
            <a:xfrm>
              <a:off x="4470654" y="2308860"/>
              <a:ext cx="20933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F1</a:t>
              </a:r>
            </a:p>
          </p:txBody>
        </p:sp>
        <p:sp>
          <p:nvSpPr>
            <p:cNvPr id="27" name="TextBox 27"/>
            <p:cNvSpPr txBox="1"/>
            <p:nvPr/>
          </p:nvSpPr>
          <p:spPr>
            <a:xfrm>
              <a:off x="5804154" y="2308860"/>
              <a:ext cx="40648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SÜRE</a:t>
              </a:r>
            </a:p>
          </p:txBody>
        </p:sp>
        <p:sp>
          <p:nvSpPr>
            <p:cNvPr id="28" name="Line 28"/>
            <p:cNvSpPr/>
            <p:nvPr/>
          </p:nvSpPr>
          <p:spPr>
            <a:xfrm>
              <a:off x="609600" y="2895600"/>
              <a:ext cx="6477000" cy="9525"/>
            </a:xfrm>
            <a:custGeom>
              <a:avLst/>
              <a:gdLst/>
              <a:ahLst/>
              <a:cxnLst/>
              <a:rect l="l" t="t" r="r" b="b"/>
              <a:pathLst>
                <a:path w="6477000" h="9525">
                  <a:moveTo>
                    <a:pt x="0" y="0"/>
                  </a:moveTo>
                  <a:lnTo>
                    <a:pt x="6477000" y="0"/>
                  </a:lnTo>
                </a:path>
              </a:pathLst>
            </a:custGeom>
            <a:noFill/>
            <a:ln w="9525">
              <a:solidFill>
                <a:srgbClr val="B8CBD3"/>
              </a:solidFill>
            </a:ln>
          </p:spPr>
        </p:sp>
        <p:sp>
          <p:nvSpPr>
            <p:cNvPr id="29" name="TextBox 29"/>
            <p:cNvSpPr txBox="1"/>
            <p:nvPr/>
          </p:nvSpPr>
          <p:spPr>
            <a:xfrm>
              <a:off x="850773" y="2681764"/>
              <a:ext cx="692455"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XGBoost</a:t>
              </a:r>
            </a:p>
          </p:txBody>
        </p:sp>
        <p:sp>
          <p:nvSpPr>
            <p:cNvPr id="30" name="TextBox 30"/>
            <p:cNvSpPr txBox="1"/>
            <p:nvPr/>
          </p:nvSpPr>
          <p:spPr>
            <a:xfrm>
              <a:off x="3136773" y="2681764"/>
              <a:ext cx="581589"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0,9749</a:t>
              </a:r>
            </a:p>
          </p:txBody>
        </p:sp>
        <p:sp>
          <p:nvSpPr>
            <p:cNvPr id="31" name="TextBox 31"/>
            <p:cNvSpPr txBox="1"/>
            <p:nvPr/>
          </p:nvSpPr>
          <p:spPr>
            <a:xfrm>
              <a:off x="4470273" y="2681764"/>
              <a:ext cx="581589"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0,8662</a:t>
              </a:r>
            </a:p>
          </p:txBody>
        </p:sp>
        <p:sp>
          <p:nvSpPr>
            <p:cNvPr id="32" name="TextBox 32"/>
            <p:cNvSpPr txBox="1"/>
            <p:nvPr/>
          </p:nvSpPr>
          <p:spPr>
            <a:xfrm>
              <a:off x="5803773" y="2681764"/>
              <a:ext cx="581589"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0,141s</a:t>
              </a:r>
            </a:p>
          </p:txBody>
        </p:sp>
        <p:sp>
          <p:nvSpPr>
            <p:cNvPr id="33" name="TextBox 33"/>
            <p:cNvSpPr txBox="1"/>
            <p:nvPr/>
          </p:nvSpPr>
          <p:spPr>
            <a:xfrm>
              <a:off x="850773" y="3043714"/>
              <a:ext cx="783732"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LightGBM</a:t>
              </a:r>
            </a:p>
          </p:txBody>
        </p:sp>
        <p:sp>
          <p:nvSpPr>
            <p:cNvPr id="34" name="TextBox 34"/>
            <p:cNvSpPr txBox="1"/>
            <p:nvPr/>
          </p:nvSpPr>
          <p:spPr>
            <a:xfrm>
              <a:off x="3136773" y="3043714"/>
              <a:ext cx="581589"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0,9705</a:t>
              </a:r>
            </a:p>
          </p:txBody>
        </p:sp>
        <p:sp>
          <p:nvSpPr>
            <p:cNvPr id="35" name="TextBox 35"/>
            <p:cNvSpPr txBox="1"/>
            <p:nvPr/>
          </p:nvSpPr>
          <p:spPr>
            <a:xfrm>
              <a:off x="4470273" y="3043714"/>
              <a:ext cx="581589"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0,8531</a:t>
              </a:r>
            </a:p>
          </p:txBody>
        </p:sp>
        <p:sp>
          <p:nvSpPr>
            <p:cNvPr id="36" name="TextBox 36"/>
            <p:cNvSpPr txBox="1"/>
            <p:nvPr/>
          </p:nvSpPr>
          <p:spPr>
            <a:xfrm>
              <a:off x="5803773" y="3043714"/>
              <a:ext cx="581589"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1,575s</a:t>
              </a:r>
            </a:p>
          </p:txBody>
        </p:sp>
        <p:sp>
          <p:nvSpPr>
            <p:cNvPr id="37" name="Line 37"/>
            <p:cNvSpPr/>
            <p:nvPr/>
          </p:nvSpPr>
          <p:spPr>
            <a:xfrm>
              <a:off x="609600" y="3390900"/>
              <a:ext cx="6477000" cy="9525"/>
            </a:xfrm>
            <a:custGeom>
              <a:avLst/>
              <a:gdLst/>
              <a:ahLst/>
              <a:cxnLst/>
              <a:rect l="l" t="t" r="r" b="b"/>
              <a:pathLst>
                <a:path w="6477000" h="9525">
                  <a:moveTo>
                    <a:pt x="0" y="0"/>
                  </a:moveTo>
                  <a:lnTo>
                    <a:pt x="6477000" y="0"/>
                  </a:lnTo>
                </a:path>
              </a:pathLst>
            </a:custGeom>
            <a:noFill/>
            <a:ln w="9525">
              <a:solidFill>
                <a:srgbClr val="B8CBD3"/>
              </a:solidFill>
            </a:ln>
          </p:spPr>
        </p:sp>
        <p:sp>
          <p:nvSpPr>
            <p:cNvPr id="38" name="TextBox 38"/>
            <p:cNvSpPr txBox="1"/>
            <p:nvPr/>
          </p:nvSpPr>
          <p:spPr>
            <a:xfrm>
              <a:off x="850773" y="3577114"/>
              <a:ext cx="1805221"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Optuna en iyi CV AUC</a:t>
              </a:r>
            </a:p>
          </p:txBody>
        </p:sp>
        <p:sp>
          <p:nvSpPr>
            <p:cNvPr id="39" name="TextBox 39"/>
            <p:cNvSpPr txBox="1"/>
            <p:nvPr/>
          </p:nvSpPr>
          <p:spPr>
            <a:xfrm>
              <a:off x="4470273" y="3577114"/>
              <a:ext cx="610021"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0,9542</a:t>
              </a:r>
            </a:p>
          </p:txBody>
        </p:sp>
        <p:sp>
          <p:nvSpPr>
            <p:cNvPr id="40" name="TextBox 40"/>
            <p:cNvSpPr txBox="1"/>
            <p:nvPr/>
          </p:nvSpPr>
          <p:spPr>
            <a:xfrm>
              <a:off x="851154" y="3851910"/>
              <a:ext cx="592470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max_depth=7 · learning_rate≈0,191 · n_estimators=196 · subsample≈0,946</a:t>
              </a:r>
            </a:p>
          </p:txBody>
        </p:sp>
        <p:sp>
          <p:nvSpPr>
            <p:cNvPr id="41" name="TextBox 41"/>
            <p:cNvSpPr txBox="1"/>
            <p:nvPr/>
          </p:nvSpPr>
          <p:spPr>
            <a:xfrm>
              <a:off x="850773" y="4129564"/>
              <a:ext cx="2013076" cy="249364"/>
            </a:xfrm>
            <a:prstGeom prst="rect">
              <a:avLst/>
            </a:prstGeom>
            <a:noFill/>
            <a:ln>
              <a:noFill/>
            </a:ln>
          </p:spPr>
          <p:txBody>
            <a:bodyPr wrap="none" lIns="0" tIns="0" rIns="0" bIns="0" anchor="t" anchorCtr="0">
              <a:spAutoFit/>
            </a:bodyPr>
            <a:lstStyle/>
            <a:p>
              <a:pPr algn="l"/>
              <a:r>
                <a:rPr lang="tr-TR" sz="1280" b="1" dirty="0">
                  <a:solidFill>
                    <a:srgbClr val="00A6A6"/>
                  </a:solidFill>
                  <a:latin typeface="+mn-lt"/>
                  <a:ea typeface="+mn-ea"/>
                  <a:cs typeface="+mn-cs"/>
                </a:rPr>
                <a:t>Nihai test AUC: 0,9735</a:t>
              </a:r>
            </a:p>
          </p:txBody>
        </p:sp>
      </p:grpSp>
      <p:grpSp>
        <p:nvGrpSpPr>
          <p:cNvPr id="53" name="extension-panel"/>
          <p:cNvGrpSpPr/>
          <p:nvPr/>
        </p:nvGrpSpPr>
        <p:grpSpPr>
          <a:xfrm>
            <a:off x="7239000" y="2209800"/>
            <a:ext cx="4343400" cy="2286000"/>
            <a:chOff x="7239000" y="2209800"/>
            <a:chExt cx="4343400" cy="2286000"/>
          </a:xfrm>
        </p:grpSpPr>
        <p:sp>
          <p:nvSpPr>
            <p:cNvPr id="43" name="Rectangle 43"/>
            <p:cNvSpPr/>
            <p:nvPr/>
          </p:nvSpPr>
          <p:spPr>
            <a:xfrm>
              <a:off x="7239000" y="2209800"/>
              <a:ext cx="4343400" cy="2286000"/>
            </a:xfrm>
            <a:prstGeom prst="roundRect">
              <a:avLst>
                <a:gd name="adj" fmla="val 4167"/>
              </a:avLst>
            </a:prstGeom>
            <a:solidFill>
              <a:srgbClr val="EAF4F6"/>
            </a:solidFill>
            <a:ln>
              <a:noFill/>
            </a:ln>
          </p:spPr>
        </p:sp>
        <p:sp>
          <p:nvSpPr>
            <p:cNvPr id="44" name="TextBox 44"/>
            <p:cNvSpPr txBox="1"/>
            <p:nvPr/>
          </p:nvSpPr>
          <p:spPr>
            <a:xfrm>
              <a:off x="7459980" y="2314575"/>
              <a:ext cx="2364764"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Bu programı genişletin</a:t>
              </a:r>
            </a:p>
          </p:txBody>
        </p:sp>
        <p:sp>
          <p:nvSpPr>
            <p:cNvPr id="45" name="TextBox 45"/>
            <p:cNvSpPr txBox="1"/>
            <p:nvPr/>
          </p:nvSpPr>
          <p:spPr>
            <a:xfrm>
              <a:off x="7461885" y="2640806"/>
              <a:ext cx="2713634" cy="220028"/>
            </a:xfrm>
            <a:prstGeom prst="rect">
              <a:avLst/>
            </a:prstGeom>
            <a:noFill/>
            <a:ln>
              <a:noFill/>
            </a:ln>
          </p:spPr>
          <p:txBody>
            <a:bodyPr wrap="none" lIns="0" tIns="0" rIns="0" bIns="0" anchor="t" anchorCtr="0">
              <a:spAutoFit/>
            </a:bodyPr>
            <a:lstStyle/>
            <a:p>
              <a:pPr algn="l" marL="120904" indent="-120904">
                <a:buClr>
                  <a:srgbClr val="172B3A"/>
                </a:buClr>
                <a:buSzTx/>
                <a:buFontTx/>
                <a:buChar char="•"/>
              </a:pPr>
              <a:r>
                <a:rPr lang="tr-TR" sz="1120" dirty="0">
                  <a:solidFill>
                    <a:srgbClr val="172B3A"/>
                  </a:solidFill>
                  <a:latin typeface="+mn-lt"/>
                  <a:ea typeface="+mn-ea"/>
                  <a:cs typeface="+mn-cs"/>
                </a:rPr>
                <a:t>SHAP değerleriyle özellik katkısını</a:t>
              </a:r>
            </a:p>
          </p:txBody>
        </p:sp>
        <p:sp>
          <p:nvSpPr>
            <p:cNvPr id="46" name="TextBox 46"/>
            <p:cNvSpPr txBox="1"/>
            <p:nvPr/>
          </p:nvSpPr>
          <p:spPr>
            <a:xfrm>
              <a:off x="7614285" y="2831306"/>
              <a:ext cx="72007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açıklayın</a:t>
              </a:r>
            </a:p>
          </p:txBody>
        </p:sp>
        <p:sp>
          <p:nvSpPr>
            <p:cNvPr id="47" name="TextBox 47"/>
            <p:cNvSpPr txBox="1"/>
            <p:nvPr/>
          </p:nvSpPr>
          <p:spPr>
            <a:xfrm>
              <a:off x="7461885" y="3078956"/>
              <a:ext cx="2572445" cy="220028"/>
            </a:xfrm>
            <a:prstGeom prst="rect">
              <a:avLst/>
            </a:prstGeom>
            <a:noFill/>
            <a:ln>
              <a:noFill/>
            </a:ln>
          </p:spPr>
          <p:txBody>
            <a:bodyPr wrap="none" lIns="0" tIns="0" rIns="0" bIns="0" anchor="t" anchorCtr="0">
              <a:spAutoFit/>
            </a:bodyPr>
            <a:lstStyle/>
            <a:p>
              <a:pPr algn="l" marL="120904" indent="-120904">
                <a:buClr>
                  <a:srgbClr val="172B3A"/>
                </a:buClr>
                <a:buSzTx/>
                <a:buFontTx/>
                <a:buChar char="•"/>
              </a:pPr>
              <a:r>
                <a:rPr lang="tr-TR" sz="1120" dirty="0">
                  <a:solidFill>
                    <a:srgbClr val="172B3A"/>
                  </a:solidFill>
                  <a:latin typeface="+mn-lt"/>
                  <a:ea typeface="+mn-ea"/>
                  <a:cs typeface="+mn-cs"/>
                </a:rPr>
                <a:t>Optuna deneme sayısını artırıp</a:t>
              </a:r>
            </a:p>
          </p:txBody>
        </p:sp>
        <p:sp>
          <p:nvSpPr>
            <p:cNvPr id="48" name="TextBox 48"/>
            <p:cNvSpPr txBox="1"/>
            <p:nvPr/>
          </p:nvSpPr>
          <p:spPr>
            <a:xfrm>
              <a:off x="7614285" y="3269456"/>
              <a:ext cx="246905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yakınsama eğrisini karşılaştırın</a:t>
              </a:r>
            </a:p>
          </p:txBody>
        </p:sp>
        <p:sp>
          <p:nvSpPr>
            <p:cNvPr id="49" name="TextBox 49"/>
            <p:cNvSpPr txBox="1"/>
            <p:nvPr/>
          </p:nvSpPr>
          <p:spPr>
            <a:xfrm>
              <a:off x="7461885" y="3517106"/>
              <a:ext cx="2396618" cy="220028"/>
            </a:xfrm>
            <a:prstGeom prst="rect">
              <a:avLst/>
            </a:prstGeom>
            <a:noFill/>
            <a:ln>
              <a:noFill/>
            </a:ln>
          </p:spPr>
          <p:txBody>
            <a:bodyPr wrap="none" lIns="0" tIns="0" rIns="0" bIns="0" anchor="t" anchorCtr="0">
              <a:spAutoFit/>
            </a:bodyPr>
            <a:lstStyle/>
            <a:p>
              <a:pPr algn="l" marL="120904" indent="-120904">
                <a:buClr>
                  <a:srgbClr val="172B3A"/>
                </a:buClr>
                <a:buSzTx/>
                <a:buFontTx/>
                <a:buChar char="•"/>
              </a:pPr>
              <a:r>
                <a:rPr lang="tr-TR" sz="1120" dirty="0">
                  <a:solidFill>
                    <a:srgbClr val="172B3A"/>
                  </a:solidFill>
                  <a:latin typeface="+mn-lt"/>
                  <a:ea typeface="+mn-ea"/>
                  <a:cs typeface="+mn-cs"/>
                </a:rPr>
                <a:t>CatBoost'u üçüncü aday olarak</a:t>
              </a:r>
            </a:p>
          </p:txBody>
        </p:sp>
        <p:sp>
          <p:nvSpPr>
            <p:cNvPr id="50" name="TextBox 50"/>
            <p:cNvSpPr txBox="1"/>
            <p:nvPr/>
          </p:nvSpPr>
          <p:spPr>
            <a:xfrm>
              <a:off x="7614285" y="3707606"/>
              <a:ext cx="127793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pipeline'a ekleyin</a:t>
              </a:r>
            </a:p>
          </p:txBody>
        </p:sp>
        <p:sp>
          <p:nvSpPr>
            <p:cNvPr id="51" name="TextBox 51"/>
            <p:cNvSpPr txBox="1"/>
            <p:nvPr/>
          </p:nvSpPr>
          <p:spPr>
            <a:xfrm>
              <a:off x="7461885" y="3955256"/>
              <a:ext cx="2285213" cy="220028"/>
            </a:xfrm>
            <a:prstGeom prst="rect">
              <a:avLst/>
            </a:prstGeom>
            <a:noFill/>
            <a:ln>
              <a:noFill/>
            </a:ln>
          </p:spPr>
          <p:txBody>
            <a:bodyPr wrap="none" lIns="0" tIns="0" rIns="0" bIns="0" anchor="t" anchorCtr="0">
              <a:spAutoFit/>
            </a:bodyPr>
            <a:lstStyle/>
            <a:p>
              <a:pPr algn="l" marL="120904" indent="-120904">
                <a:buClr>
                  <a:srgbClr val="172B3A"/>
                </a:buClr>
                <a:buSzTx/>
                <a:buFontTx/>
                <a:buChar char="•"/>
              </a:pPr>
              <a:r>
                <a:rPr lang="tr-TR" sz="1120" dirty="0">
                  <a:solidFill>
                    <a:srgbClr val="172B3A"/>
                  </a:solidFill>
                  <a:latin typeface="+mn-lt"/>
                  <a:ea typeface="+mn-ea"/>
                  <a:cs typeface="+mn-cs"/>
                </a:rPr>
                <a:t>Kalibrasyon eğrisiyle olasılık</a:t>
              </a:r>
            </a:p>
          </p:txBody>
        </p:sp>
        <p:sp>
          <p:nvSpPr>
            <p:cNvPr id="52" name="TextBox 52"/>
            <p:cNvSpPr txBox="1"/>
            <p:nvPr/>
          </p:nvSpPr>
          <p:spPr>
            <a:xfrm>
              <a:off x="7614285" y="4145756"/>
              <a:ext cx="261982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tahminlerinin güvenilirliğini sınayın</a:t>
              </a:r>
            </a:p>
          </p:txBody>
        </p:sp>
      </p:grpSp>
      <p:grpSp>
        <p:nvGrpSpPr>
          <p:cNvPr id="58" name="closing-line"/>
          <p:cNvGrpSpPr/>
          <p:nvPr/>
        </p:nvGrpSpPr>
        <p:grpSpPr>
          <a:xfrm>
            <a:off x="609600" y="4724400"/>
            <a:ext cx="10972800" cy="1028700"/>
            <a:chOff x="609600" y="4724400"/>
            <a:chExt cx="10972800" cy="1028700"/>
          </a:xfrm>
        </p:grpSpPr>
        <p:sp>
          <p:nvSpPr>
            <p:cNvPr id="54" name="Rectangle 54"/>
            <p:cNvSpPr/>
            <p:nvPr/>
          </p:nvSpPr>
          <p:spPr>
            <a:xfrm>
              <a:off x="609600" y="4724400"/>
              <a:ext cx="10972800" cy="1028700"/>
            </a:xfrm>
            <a:prstGeom prst="roundRect">
              <a:avLst>
                <a:gd name="adj" fmla="val 7407"/>
              </a:avLst>
            </a:prstGeom>
            <a:solidFill>
              <a:srgbClr val="FFFFFF"/>
            </a:solidFill>
            <a:ln w="14288">
              <a:solidFill>
                <a:srgbClr val="B8CBD3"/>
              </a:solidFill>
            </a:ln>
          </p:spPr>
        </p:sp>
        <p:sp>
          <p:nvSpPr>
            <p:cNvPr id="55" name="TextBox 55"/>
            <p:cNvSpPr txBox="1"/>
            <p:nvPr/>
          </p:nvSpPr>
          <p:spPr>
            <a:xfrm>
              <a:off x="850392" y="4902518"/>
              <a:ext cx="401759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Sınıf içi karşılaştırmadan otomatik ayara</a:t>
              </a:r>
            </a:p>
          </p:txBody>
        </p:sp>
        <p:sp>
          <p:nvSpPr>
            <p:cNvPr id="56" name="TextBox 56"/>
            <p:cNvSpPr txBox="1"/>
            <p:nvPr/>
          </p:nvSpPr>
          <p:spPr>
            <a:xfrm>
              <a:off x="851154" y="5185410"/>
              <a:ext cx="802845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Elif'in başlangıçtaki %81 AUC'lik modeli; boosting mimarisi seçimi, öğrenme oranı ayarı ve Optuna ile</a:t>
              </a:r>
            </a:p>
          </p:txBody>
        </p:sp>
        <p:sp>
          <p:nvSpPr>
            <p:cNvPr id="57" name="TextBox 57"/>
            <p:cNvSpPr txBox="1"/>
            <p:nvPr/>
          </p:nvSpPr>
          <p:spPr>
            <a:xfrm>
              <a:off x="851154" y="5394960"/>
              <a:ext cx="716051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sistematik hiperparametre aramasının bir araya gelmesiyle %97'nin üzerine taşınmıştır.</a:t>
              </a:r>
            </a:p>
          </p:txBody>
        </p:sp>
      </p:grpSp>
      <p:sp>
        <p:nvSpPr>
          <p:cNvPr id="59" name="TextBox 5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25</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boosting"/>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218911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Boosting mantığı</a:t>
              </a:r>
            </a:p>
          </p:txBody>
        </p:sp>
        <p:sp>
          <p:nvSpPr>
            <p:cNvPr id="8" name="TextBox 8"/>
            <p:cNvSpPr txBox="1"/>
            <p:nvPr/>
          </p:nvSpPr>
          <p:spPr>
            <a:xfrm>
              <a:off x="832104" y="1908810"/>
              <a:ext cx="22524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Ağaçlar paralel değil ardışık</a:t>
              </a:r>
              <a:br/>
              <a:r>
                <a:rPr lang="tr-TR" sz="1200" dirty="0">
                  <a:solidFill>
                    <a:srgbClr val="172B3A"/>
                  </a:solidFill>
                  <a:latin typeface="+mn-lt"/>
                  <a:ea typeface="+mn-ea"/>
                  <a:cs typeface="+mn-cs"/>
                </a:rPr>
                <a:t>eğitilir; her biri bir öncekinin</a:t>
              </a:r>
              <a:br/>
              <a:r>
                <a:rPr lang="tr-TR" sz="1200" dirty="0">
                  <a:solidFill>
                    <a:srgbClr val="172B3A"/>
                  </a:solidFill>
                  <a:latin typeface="+mn-lt"/>
                  <a:ea typeface="+mn-ea"/>
                  <a:cs typeface="+mn-cs"/>
                </a:rPr>
                <a:t>artığını (residual) hedefler.</a:t>
              </a:r>
            </a:p>
          </p:txBody>
        </p:sp>
      </p:grpSp>
      <p:grpSp>
        <p:nvGrpSpPr>
          <p:cNvPr id="13" name="summary-tarihce"/>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263077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AdaBoost'tan bugüne</a:t>
              </a:r>
            </a:p>
          </p:txBody>
        </p:sp>
        <p:sp>
          <p:nvSpPr>
            <p:cNvPr id="12" name="TextBox 12"/>
            <p:cNvSpPr txBox="1"/>
            <p:nvPr/>
          </p:nvSpPr>
          <p:spPr>
            <a:xfrm>
              <a:off x="4566285" y="1916906"/>
              <a:ext cx="2906014" cy="639128"/>
            </a:xfrm>
            <a:prstGeom prst="rect">
              <a:avLst/>
            </a:prstGeom>
            <a:noFill/>
            <a:ln>
              <a:noFill/>
            </a:ln>
          </p:spPr>
          <p:txBody>
            <a:bodyPr wrap="none" lIns="0" tIns="0" rIns="0" bIns="0" anchor="t" anchorCtr="0">
              <a:spAutoFit/>
            </a:bodyPr>
            <a:lstStyle/>
            <a:p>
              <a:pPr algn="l">
                <a:lnSpc>
                  <a:spcPts val="1650"/>
                </a:lnSpc>
              </a:pPr>
              <a:r>
                <a:rPr lang="tr-TR" sz="1120" dirty="0">
                  <a:solidFill>
                    <a:srgbClr val="172B3A"/>
                  </a:solidFill>
                  <a:latin typeface="+mn-lt"/>
                  <a:ea typeface="+mn-ea"/>
                  <a:cs typeface="+mn-cs"/>
                </a:rPr>
                <a:t>1996 AdaBoost, ağırlıklandırma</a:t>
              </a:r>
              <a:br/>
              <a:r>
                <a:rPr lang="tr-TR" sz="1120" dirty="0">
                  <a:solidFill>
                    <a:srgbClr val="172B3A"/>
                  </a:solidFill>
                  <a:latin typeface="+mn-lt"/>
                  <a:ea typeface="+mn-ea"/>
                  <a:cs typeface="+mn-cs"/>
                </a:rPr>
                <a:t>fikrini gradyan iniş mantığıyla</a:t>
              </a:r>
              <a:br/>
              <a:r>
                <a:rPr lang="tr-TR" sz="1120" dirty="0">
                  <a:solidFill>
                    <a:srgbClr val="172B3A"/>
                  </a:solidFill>
                  <a:latin typeface="+mn-lt"/>
                  <a:ea typeface="+mn-ea"/>
                  <a:cs typeface="+mn-cs"/>
                </a:rPr>
                <a:t>birleştirerek Gradient Boosting'e evrildi.</a:t>
              </a:r>
            </a:p>
          </p:txBody>
        </p:sp>
      </p:grpSp>
      <p:grpSp>
        <p:nvGrpSpPr>
          <p:cNvPr id="17" name="summary-xgboost"/>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249961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XGBoost'un katkısı</a:t>
              </a:r>
            </a:p>
          </p:txBody>
        </p:sp>
        <p:sp>
          <p:nvSpPr>
            <p:cNvPr id="16" name="TextBox 16"/>
            <p:cNvSpPr txBox="1"/>
            <p:nvPr/>
          </p:nvSpPr>
          <p:spPr>
            <a:xfrm>
              <a:off x="8299704" y="1908810"/>
              <a:ext cx="29154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Hessian (ikinci derece) bilgi ve</a:t>
              </a:r>
              <a:br/>
              <a:r>
                <a:rPr lang="tr-TR" sz="1200" dirty="0">
                  <a:solidFill>
                    <a:srgbClr val="172B3A"/>
                  </a:solidFill>
                  <a:latin typeface="+mn-lt"/>
                  <a:ea typeface="+mn-ea"/>
                  <a:cs typeface="+mn-cs"/>
                </a:rPr>
                <a:t>açık regularizasyon terimiyle</a:t>
              </a:r>
              <a:br/>
              <a:r>
                <a:rPr lang="tr-TR" sz="1200" dirty="0">
                  <a:solidFill>
                    <a:srgbClr val="172B3A"/>
                  </a:solidFill>
                  <a:latin typeface="+mn-lt"/>
                  <a:ea typeface="+mn-ea"/>
                  <a:cs typeface="+mn-cs"/>
                </a:rPr>
                <a:t>daha kararlı, denetimli büyüme sağlar.</a:t>
              </a:r>
            </a:p>
          </p:txBody>
        </p:sp>
      </p:grpSp>
      <p:grpSp>
        <p:nvGrpSpPr>
          <p:cNvPr id="21" name="summary-lightgbm"/>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314296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LightGBM'in hız avantajı</a:t>
              </a:r>
            </a:p>
          </p:txBody>
        </p:sp>
        <p:sp>
          <p:nvSpPr>
            <p:cNvPr id="20" name="TextBox 20"/>
            <p:cNvSpPr txBox="1"/>
            <p:nvPr/>
          </p:nvSpPr>
          <p:spPr>
            <a:xfrm>
              <a:off x="832104" y="3718560"/>
              <a:ext cx="24582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Yaprak-öncelikli büyüme ve</a:t>
              </a:r>
              <a:br/>
              <a:r>
                <a:rPr lang="tr-TR" sz="1200" dirty="0">
                  <a:solidFill>
                    <a:srgbClr val="172B3A"/>
                  </a:solidFill>
                  <a:latin typeface="+mn-lt"/>
                  <a:ea typeface="+mn-ea"/>
                  <a:cs typeface="+mn-cs"/>
                </a:rPr>
                <a:t>histogram tabanlı bölünme,</a:t>
              </a:r>
              <a:br/>
              <a:r>
                <a:rPr lang="tr-TR" sz="1200" dirty="0">
                  <a:solidFill>
                    <a:srgbClr val="172B3A"/>
                  </a:solidFill>
                  <a:latin typeface="+mn-lt"/>
                  <a:ea typeface="+mn-ea"/>
                  <a:cs typeface="+mn-cs"/>
                </a:rPr>
                <a:t>büyük veride hızlı arama sağlar.</a:t>
              </a:r>
            </a:p>
          </p:txBody>
        </p:sp>
      </p:grpSp>
      <p:grpSp>
        <p:nvGrpSpPr>
          <p:cNvPr id="25" name="summary-ogrenmeorani"/>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282537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Öğrenme oranı dengesi</a:t>
              </a:r>
            </a:p>
          </p:txBody>
        </p:sp>
        <p:sp>
          <p:nvSpPr>
            <p:cNvPr id="24" name="TextBox 24"/>
            <p:cNvSpPr txBox="1"/>
            <p:nvPr/>
          </p:nvSpPr>
          <p:spPr>
            <a:xfrm>
              <a:off x="4565904" y="3718560"/>
              <a:ext cx="2907792" cy="653796"/>
            </a:xfrm>
            <a:prstGeom prst="rect">
              <a:avLst/>
            </a:prstGeom>
            <a:noFill/>
            <a:ln>
              <a:noFill/>
            </a:ln>
          </p:spPr>
          <p:txBody>
            <a:bodyPr wrap="none" lIns="0" tIns="0" rIns="0" bIns="0" anchor="t" anchorCtr="0">
              <a:spAutoFit/>
            </a:bodyPr>
            <a:lstStyle/>
            <a:p>
              <a:pPr algn="l">
                <a:lnSpc>
                  <a:spcPts val="1650"/>
                </a:lnSpc>
              </a:pPr>
              <a:r>
                <a:rPr lang="el-GR" sz="1200" dirty="0">
                  <a:solidFill>
                    <a:srgbClr val="172B3A"/>
                  </a:solidFill>
                  <a:latin typeface="+mn-lt"/>
                  <a:ea typeface="+mn-ea"/>
                  <a:cs typeface="+mn-cs"/>
                </a:rPr>
                <a:t>Küçük ν yakınsamayı yavaşlatır,</a:t>
              </a:r>
              <a:br/>
              <a:r>
                <a:rPr lang="el-GR" sz="1200" dirty="0">
                  <a:solidFill>
                    <a:srgbClr val="172B3A"/>
                  </a:solidFill>
                  <a:latin typeface="+mn-lt"/>
                  <a:ea typeface="+mn-ea"/>
                  <a:cs typeface="+mn-cs"/>
                </a:rPr>
                <a:t>büyük ν genellemeyi bozar;</a:t>
              </a:r>
              <a:br/>
              <a:r>
                <a:rPr lang="tr-TR" sz="1200" dirty="0">
                  <a:solidFill>
                    <a:srgbClr val="172B3A"/>
                  </a:solidFill>
                  <a:latin typeface="+mn-lt"/>
                  <a:ea typeface="+mn-ea"/>
                  <a:cs typeface="+mn-cs"/>
                </a:rPr>
                <a:t>ikisi ağaç sayısıyla birlikte ayarlanır.</a:t>
              </a:r>
            </a:p>
          </p:txBody>
        </p:sp>
      </p:grpSp>
      <p:grpSp>
        <p:nvGrpSpPr>
          <p:cNvPr id="29" name="summary-arama"/>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217635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Sistematik arama</a:t>
              </a:r>
            </a:p>
          </p:txBody>
        </p:sp>
        <p:sp>
          <p:nvSpPr>
            <p:cNvPr id="28" name="TextBox 28"/>
            <p:cNvSpPr txBox="1"/>
            <p:nvPr/>
          </p:nvSpPr>
          <p:spPr>
            <a:xfrm>
              <a:off x="8299704" y="3718560"/>
              <a:ext cx="25725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GridSearchCV tüm ızgarayı dener;</a:t>
              </a:r>
              <a:br/>
              <a:r>
                <a:rPr lang="tr-TR" sz="1200" dirty="0">
                  <a:solidFill>
                    <a:srgbClr val="172B3A"/>
                  </a:solidFill>
                  <a:latin typeface="+mn-lt"/>
                  <a:ea typeface="+mn-ea"/>
                  <a:cs typeface="+mn-cs"/>
                </a:rPr>
                <a:t>Optuna önceki denemelerden</a:t>
              </a:r>
              <a:br/>
              <a:r>
                <a:rPr lang="tr-TR" sz="1200" dirty="0">
                  <a:solidFill>
                    <a:srgbClr val="172B3A"/>
                  </a:solidFill>
                  <a:latin typeface="+mn-lt"/>
                  <a:ea typeface="+mn-ea"/>
                  <a:cs typeface="+mn-cs"/>
                </a:rPr>
                <a:t>öğrenerek daha verimli arar.</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821958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Boosting'in en önemli katkısı, tek bir güçlü ağaç kurmak değildir.</a:t>
              </a:r>
            </a:p>
          </p:txBody>
        </p:sp>
        <p:sp>
          <p:nvSpPr>
            <p:cNvPr id="32" name="TextBox 32"/>
            <p:cNvSpPr txBox="1"/>
            <p:nvPr/>
          </p:nvSpPr>
          <p:spPr>
            <a:xfrm>
              <a:off x="906399" y="5583079"/>
              <a:ext cx="780758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Zayıf öğrenicileri hatadan öğrenerek sıralı biçimde bir araya getirmektir.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25</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10297287" cy="724281"/>
            <a:chOff x="599694" y="1484948"/>
            <a:chExt cx="10297287" cy="724281"/>
          </a:xfrm>
        </p:grpSpPr>
        <p:sp>
          <p:nvSpPr>
            <p:cNvPr id="7" name="TextBox 7"/>
            <p:cNvSpPr txBox="1"/>
            <p:nvPr/>
          </p:nvSpPr>
          <p:spPr>
            <a:xfrm>
              <a:off x="599694" y="1484948"/>
              <a:ext cx="10297287"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Elif artık dengeli veride hangi boosting mimarisinin ve hangi öğrenme</a:t>
              </a:r>
              <a:br/>
              <a:r>
                <a:rPr lang="tr-TR" sz="1950" dirty="0">
                  <a:solidFill>
                    <a:srgbClr val="172B3A"/>
                  </a:solidFill>
                  <a:latin typeface="+mn-lt"/>
                  <a:ea typeface="+mn-ea"/>
                  <a:cs typeface="+mn-cs"/>
                </a:rPr>
                <a:t>oranının daha iyi çalıştığını biliyor. Sıradaki soru: sınıflar dengesizse ne değişir?</a:t>
              </a:r>
            </a:p>
          </p:txBody>
        </p:sp>
      </p:grpSp>
      <p:grpSp>
        <p:nvGrpSpPr>
          <p:cNvPr id="20" name="bridge-now"/>
          <p:cNvGrpSpPr/>
          <p:nvPr/>
        </p:nvGrpSpPr>
        <p:grpSpPr>
          <a:xfrm>
            <a:off x="599694" y="2799398"/>
            <a:ext cx="3171129" cy="2296858"/>
            <a:chOff x="599694" y="2799398"/>
            <a:chExt cx="3171129" cy="2296858"/>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200400"/>
              <a:ext cx="57150" cy="247650"/>
            </a:xfrm>
            <a:prstGeom prst="rect">
              <a:avLst/>
            </a:prstGeom>
            <a:solidFill>
              <a:srgbClr val="00A6A6"/>
            </a:solidFill>
            <a:ln>
              <a:noFill/>
            </a:ln>
          </p:spPr>
        </p:sp>
        <p:sp>
          <p:nvSpPr>
            <p:cNvPr id="11" name="TextBox 11"/>
            <p:cNvSpPr txBox="1"/>
            <p:nvPr/>
          </p:nvSpPr>
          <p:spPr>
            <a:xfrm>
              <a:off x="851154" y="3261360"/>
              <a:ext cx="239722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Boosting ile Bagging'i ayırmak</a:t>
              </a:r>
            </a:p>
          </p:txBody>
        </p:sp>
        <p:sp>
          <p:nvSpPr>
            <p:cNvPr id="12" name="Rectangle 12"/>
            <p:cNvSpPr/>
            <p:nvPr/>
          </p:nvSpPr>
          <p:spPr>
            <a:xfrm>
              <a:off x="609600" y="3600450"/>
              <a:ext cx="57150" cy="247650"/>
            </a:xfrm>
            <a:prstGeom prst="rect">
              <a:avLst/>
            </a:prstGeom>
            <a:solidFill>
              <a:srgbClr val="00A6A6"/>
            </a:solidFill>
            <a:ln>
              <a:noFill/>
            </a:ln>
          </p:spPr>
        </p:sp>
        <p:sp>
          <p:nvSpPr>
            <p:cNvPr id="13" name="TextBox 13"/>
            <p:cNvSpPr txBox="1"/>
            <p:nvPr/>
          </p:nvSpPr>
          <p:spPr>
            <a:xfrm>
              <a:off x="851154" y="3661410"/>
              <a:ext cx="226347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XGBoost ve LightGBM seçmek</a:t>
              </a:r>
            </a:p>
          </p:txBody>
        </p:sp>
        <p:sp>
          <p:nvSpPr>
            <p:cNvPr id="14" name="Rectangle 14"/>
            <p:cNvSpPr/>
            <p:nvPr/>
          </p:nvSpPr>
          <p:spPr>
            <a:xfrm>
              <a:off x="609600" y="4000500"/>
              <a:ext cx="57150" cy="247650"/>
            </a:xfrm>
            <a:prstGeom prst="rect">
              <a:avLst/>
            </a:prstGeom>
            <a:solidFill>
              <a:srgbClr val="00A6A6"/>
            </a:solidFill>
            <a:ln>
              <a:noFill/>
            </a:ln>
          </p:spPr>
        </p:sp>
        <p:sp>
          <p:nvSpPr>
            <p:cNvPr id="15" name="TextBox 15"/>
            <p:cNvSpPr txBox="1"/>
            <p:nvPr/>
          </p:nvSpPr>
          <p:spPr>
            <a:xfrm>
              <a:off x="851154" y="4061460"/>
              <a:ext cx="227104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Öğrenme oranını dengelemek</a:t>
              </a:r>
            </a:p>
          </p:txBody>
        </p:sp>
        <p:sp>
          <p:nvSpPr>
            <p:cNvPr id="16" name="Rectangle 16"/>
            <p:cNvSpPr/>
            <p:nvPr/>
          </p:nvSpPr>
          <p:spPr>
            <a:xfrm>
              <a:off x="609600" y="4400550"/>
              <a:ext cx="57150" cy="247650"/>
            </a:xfrm>
            <a:prstGeom prst="rect">
              <a:avLst/>
            </a:prstGeom>
            <a:solidFill>
              <a:srgbClr val="00A6A6"/>
            </a:solidFill>
            <a:ln>
              <a:noFill/>
            </a:ln>
          </p:spPr>
        </p:sp>
        <p:sp>
          <p:nvSpPr>
            <p:cNvPr id="17" name="TextBox 17"/>
            <p:cNvSpPr txBox="1"/>
            <p:nvPr/>
          </p:nvSpPr>
          <p:spPr>
            <a:xfrm>
              <a:off x="851154" y="4461510"/>
              <a:ext cx="291966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GridSearch ile Optuna'yı kıyaslamak</a:t>
              </a:r>
            </a:p>
          </p:txBody>
        </p:sp>
        <p:sp>
          <p:nvSpPr>
            <p:cNvPr id="18" name="Rectangle 18"/>
            <p:cNvSpPr/>
            <p:nvPr/>
          </p:nvSpPr>
          <p:spPr>
            <a:xfrm>
              <a:off x="609600" y="4800600"/>
              <a:ext cx="57150" cy="247650"/>
            </a:xfrm>
            <a:prstGeom prst="rect">
              <a:avLst/>
            </a:prstGeom>
            <a:solidFill>
              <a:srgbClr val="00A6A6"/>
            </a:solidFill>
            <a:ln>
              <a:noFill/>
            </a:ln>
          </p:spPr>
        </p:sp>
        <p:sp>
          <p:nvSpPr>
            <p:cNvPr id="19" name="TextBox 19"/>
            <p:cNvSpPr txBox="1"/>
            <p:nvPr/>
          </p:nvSpPr>
          <p:spPr>
            <a:xfrm>
              <a:off x="851154" y="4861560"/>
              <a:ext cx="260231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Uçtan uca boosting hattı kurmak</a:t>
              </a:r>
            </a:p>
          </p:txBody>
        </p:sp>
      </p:grpSp>
      <p:grpSp>
        <p:nvGrpSpPr>
          <p:cNvPr id="25" name="bridge-next"/>
          <p:cNvGrpSpPr/>
          <p:nvPr/>
        </p:nvGrpSpPr>
        <p:grpSpPr>
          <a:xfrm>
            <a:off x="7010400" y="2667000"/>
            <a:ext cx="4572000" cy="2476500"/>
            <a:chOff x="7010400" y="2667000"/>
            <a:chExt cx="4572000" cy="2476500"/>
          </a:xfrm>
        </p:grpSpPr>
        <p:sp>
          <p:nvSpPr>
            <p:cNvPr id="21" name="Rectangle 21"/>
            <p:cNvSpPr/>
            <p:nvPr/>
          </p:nvSpPr>
          <p:spPr>
            <a:xfrm>
              <a:off x="7010400" y="2667000"/>
              <a:ext cx="4572000" cy="2476500"/>
            </a:xfrm>
            <a:prstGeom prst="roundRect">
              <a:avLst>
                <a:gd name="adj" fmla="val 3846"/>
              </a:avLst>
            </a:prstGeom>
            <a:solidFill>
              <a:srgbClr val="12355B"/>
            </a:solidFill>
            <a:ln>
              <a:noFill/>
            </a:ln>
          </p:spPr>
        </p:sp>
        <p:sp>
          <p:nvSpPr>
            <p:cNvPr id="22" name="TextBox 22"/>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23" name="TextBox 23"/>
            <p:cNvSpPr txBox="1"/>
            <p:nvPr/>
          </p:nvSpPr>
          <p:spPr>
            <a:xfrm>
              <a:off x="7303770" y="3319462"/>
              <a:ext cx="2363152"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Dengesiz veri ve</a:t>
              </a:r>
              <a:br/>
              <a:r>
                <a:rPr lang="tr-TR" sz="2250" b="1" dirty="0">
                  <a:solidFill>
                    <a:srgbClr val="FFFFFF"/>
                  </a:solidFill>
                  <a:latin typeface="+mn-lt"/>
                  <a:ea typeface="+mn-ea"/>
                  <a:cs typeface="+mn-cs"/>
                </a:rPr>
                <a:t>açıklanabilirlik</a:t>
              </a:r>
            </a:p>
          </p:txBody>
        </p:sp>
        <p:sp>
          <p:nvSpPr>
            <p:cNvPr id="24" name="TextBox 24"/>
            <p:cNvSpPr txBox="1"/>
            <p:nvPr/>
          </p:nvSpPr>
          <p:spPr>
            <a:xfrm>
              <a:off x="7308723" y="4148614"/>
              <a:ext cx="3418586" cy="935165"/>
            </a:xfrm>
            <a:prstGeom prst="rect">
              <a:avLst/>
            </a:prstGeom>
            <a:noFill/>
            <a:ln>
              <a:noFill/>
            </a:ln>
          </p:spPr>
          <p:txBody>
            <a:bodyPr wrap="none" lIns="0" tIns="0" rIns="0" bIns="0" anchor="t" anchorCtr="0">
              <a:spAutoFit/>
            </a:bodyPr>
            <a:lstStyle/>
            <a:p>
              <a:pPr algn="l">
                <a:lnSpc>
                  <a:spcPts val="1800"/>
                </a:lnSpc>
              </a:pPr>
              <a:r>
                <a:rPr lang="tr-TR" sz="1280" dirty="0">
                  <a:solidFill>
                    <a:srgbClr val="EAF4F6"/>
                  </a:solidFill>
                  <a:latin typeface="+mn-lt"/>
                  <a:ea typeface="+mn-ea"/>
                  <a:cs typeface="+mn-cs"/>
                </a:rPr>
                <a:t>Bölüm 11: SMOTE ve sınıf ağırlıklandırma</a:t>
              </a:r>
              <a:br/>
              <a:r>
                <a:rPr lang="tr-TR" sz="1280" dirty="0">
                  <a:solidFill>
                    <a:srgbClr val="EAF4F6"/>
                  </a:solidFill>
                  <a:latin typeface="+mn-lt"/>
                  <a:ea typeface="+mn-ea"/>
                  <a:cs typeface="+mn-cs"/>
                </a:rPr>
                <a:t>ile dengesiz churn verisini ele alacaksınız.</a:t>
              </a:r>
              <a:br/>
              <a:r>
                <a:rPr lang="tr-TR" sz="1280" dirty="0">
                  <a:solidFill>
                    <a:srgbClr val="EAF4F6"/>
                  </a:solidFill>
                  <a:latin typeface="+mn-lt"/>
                  <a:ea typeface="+mn-ea"/>
                  <a:cs typeface="+mn-cs"/>
                </a:rPr>
                <a:t>Bölüm 13: SHAP ve LIME ile model</a:t>
              </a:r>
              <a:br/>
              <a:r>
                <a:rPr lang="tr-TR" sz="1280" dirty="0">
                  <a:solidFill>
                    <a:srgbClr val="EAF4F6"/>
                  </a:solidFill>
                  <a:latin typeface="+mn-lt"/>
                  <a:ea typeface="+mn-ea"/>
                  <a:cs typeface="+mn-cs"/>
                </a:rPr>
                <a:t>kararlarını açıklayacaksınız.</a:t>
              </a:r>
            </a:p>
          </p:txBody>
        </p:sp>
      </p:grpSp>
      <p:grpSp>
        <p:nvGrpSpPr>
          <p:cNvPr id="28" name="bridge-closing"/>
          <p:cNvGrpSpPr/>
          <p:nvPr/>
        </p:nvGrpSpPr>
        <p:grpSpPr>
          <a:xfrm>
            <a:off x="609600" y="5429250"/>
            <a:ext cx="10972800" cy="729234"/>
            <a:chOff x="609600" y="5429250"/>
            <a:chExt cx="10972800" cy="729234"/>
          </a:xfrm>
        </p:grpSpPr>
        <p:sp>
          <p:nvSpPr>
            <p:cNvPr id="26" name="Rectangle 26"/>
            <p:cNvSpPr/>
            <p:nvPr/>
          </p:nvSpPr>
          <p:spPr>
            <a:xfrm>
              <a:off x="609600" y="5429250"/>
              <a:ext cx="10972800" cy="666750"/>
            </a:xfrm>
            <a:prstGeom prst="roundRect">
              <a:avLst>
                <a:gd name="adj" fmla="val 11429"/>
              </a:avLst>
            </a:prstGeom>
            <a:solidFill>
              <a:srgbClr val="EAF4F6"/>
            </a:solidFill>
            <a:ln>
              <a:noFill/>
            </a:ln>
          </p:spPr>
        </p:sp>
        <p:sp>
          <p:nvSpPr>
            <p:cNvPr id="27" name="TextBox 27"/>
            <p:cNvSpPr txBox="1"/>
            <p:nvPr/>
          </p:nvSpPr>
          <p:spPr>
            <a:xfrm>
              <a:off x="905256" y="5520690"/>
              <a:ext cx="8395335" cy="637794"/>
            </a:xfrm>
            <a:prstGeom prst="rect">
              <a:avLst/>
            </a:prstGeom>
            <a:noFill/>
            <a:ln>
              <a:noFill/>
            </a:ln>
          </p:spPr>
          <p:txBody>
            <a:bodyPr wrap="none" lIns="0" tIns="0" rIns="0" bIns="0" anchor="t" anchorCtr="0">
              <a:spAutoFit/>
            </a:bodyPr>
            <a:lstStyle/>
            <a:p>
              <a:pPr algn="l">
                <a:lnSpc>
                  <a:spcPts val="2250"/>
                </a:lnSpc>
              </a:pPr>
              <a:r>
                <a:rPr lang="tr-TR" sz="1800" b="1" dirty="0">
                  <a:solidFill>
                    <a:srgbClr val="12355B"/>
                  </a:solidFill>
                  <a:latin typeface="+mn-lt"/>
                  <a:ea typeface="+mn-ea"/>
                  <a:cs typeface="+mn-cs"/>
                </a:rPr>
                <a:t>Kurduğunuz her boosting modelinde sınıf dengesini kontrol edin ve</a:t>
              </a:r>
              <a:br/>
              <a:r>
                <a:rPr lang="tr-TR" sz="1800" b="1" dirty="0">
                  <a:solidFill>
                    <a:srgbClr val="12355B"/>
                  </a:solidFill>
                  <a:latin typeface="+mn-lt"/>
                  <a:ea typeface="+mn-ea"/>
                  <a:cs typeface="+mn-cs"/>
                </a:rPr>
                <a:t>en önemli özelliklerin iş bağlamında anlamlı olup olmadığını sorgulayın.</a:t>
              </a:r>
            </a:p>
          </p:txBody>
        </p:sp>
      </p:grpSp>
      <p:sp>
        <p:nvSpPr>
          <p:cNvPr id="29" name="TextBox 2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h10_gradyan_artirma-20260916">
  <a:themeElements>
    <a:clrScheme name="ch10_gradyan_artirma-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10_gradyan_artirma-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10_gradyan_artirma-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10_gradyan_artirma-20260916">
  <a:themeElements>
    <a:clrScheme name="ch10_gradyan_artirma-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10_gradyan_artirma-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10_gradyan_artirma-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2026-09-19T21:22:47Z</dcterms:created>
  <dcterms:modified xsi:type="dcterms:W3CDTF">2026-09-19T21:22:47Z</dcterms:modified>
  <cp:category/>
  <cp:contentStatus/>
</cp:coreProperties>
</file>