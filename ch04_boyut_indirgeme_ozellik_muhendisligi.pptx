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Modern Veri Madenciliğine Giriş dersinin dördüncü bölümü olan Özellik Mühendisliği ve Boyut İndirgeme konusunu ele alıyor. Üçüncü bölümde temizlenip standart bir forma kavuşturulan veri, burada modelin daha güçlü sinyal görebileceği bir temsile dönüştürülecek. Dört ana başlık işlenecek: ham sütunlardan yeni öznitelik türetme, PCA ile boyut indirgeme, filtre ve sarmalayıcı yöntemlerle özellik seçimi ve yalnızca görselleştirme amaçlı t-SNE. Bu dört teknik birbirinin yerine geçmez, sırayla ve birbirini tamamlayacak şekilde kullanılır.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Roadmap'teki beş soru, bölümün tamamının iskeletini oluşturuyor. İlk soru, ham verinin neden doğrudan modele verilmediğini sorguluyor — çünkü oran, kıdem gibi ilişkisel bilgiler ham sütunlarda örtük kalır ve model bunları kendiliğinden keşfedemez. İkinci ve üçüncü sorular boyutun laneti ile PCA'nın varyansı nasıl koruyarak boyutu azalttığını, dördüncü soru filtre ve sarmalayıcı özellik seçim yöntemlerinin ne zaman tercih edildiğini, beşinci soru ise PCA ile t-SNE'nin amaç farkını gündeme getiriyor. Bölüm hedefi net: öğrenci, bu dört tekniği ayrı ayrı uygulayabilmeli ve her birinin hangi veri sızıntısı riskine açık olduğunu bir kod parçasında gösterebilmelidir.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Beş öğrenme hedefi, roadmap sorularının doğrudan karşılığı. Dikkat edilmesi gereken nokta, her hedefin yalnızca "yapabilmek" değil, aynı zamanda "ne zaman kullanılmayacağını bilmek" içermesi — örneğin PCA'yı ne zaman tercih etmeyeceğini bilmek de hedefin bir parçası. Başarı ölçütü de bunu teyit ediyor: öğrenci yalnızca dört tekniği uygulamakla kalmamalı, bu adımların hangisinin veri sızıntısına yol açabileceğini bir kod parçasında gösterebilmelidir. Bu, bölüm boyunca tekrarlanan ortak bir tema — fit/transform disiplini — ile doğrudan bağlantılı.</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Kavram haritası, Bölüm 3'ün çıktısı olan ön işlenmiş veriden başlayarak dört ana dala ayrılıyor: özellik mühendisliği yeni sütun üretirken, PCA ve özellik seçimi sütun sayısını azaltıyor, t-SNE ise bu ana akışın dışında kalan bir görselleştirme dalı. Katı oklar türetilen doğrudan yeteneği, kesikli oklar ise tamamlayıcı veya sıralı ilişkiyi gösteriyor — örneğin özellik mühendisliğinin ürettiği sütunlar hem PCA'ya hem özellik seçimine girdi olabilir. t-SNE'nin haritada ayrı ve geniş bir kutuda gösterilmesi bilinçli bir tercih: bu teknik model girdisi üretmediği için diğer üçünden yapısal olarak farklı bir konumda duruyor.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Elif'in Telco Churn verisi artık temiz, ama temiz olması en iyi tahmini garanti etmiyor. Yirmi ham sütun var; kimlik, ücret, sözleşme, hizmet sayısı gibi alanlar model tarafından olduğu gibi kullanılabilir, fakat en güçlü sinyal genellikle sütunlar arasındaki ilişkide gizli — örneğin "aylık ücret bölü toplam ücret" oranı hiçbir sütunda doğrudan yer almıyor. Üç problem birbirini besliyor: örtük ilişkiler modelin göremediği bilgiyi saklıyor, öznitelik türetimi bu ilişkileri açığa çıkarırken boyutu 40-50 sütuna kadar büyütebiliyor, ve bu büyümenin bir kısmı da aylık/toplam ücret gibi birbiriyle yüksek korelasyonlu, yani tekrar eden bilgi taşıyan sütunlardan geliyor. Bölüm bu üç sorunu türetme, sıkıştırma ve eleme olmak üzere üç ayrı disiplinle çözüyor; bunlar birbirinin yerine geçmiyor, birbirini tamamlıyor.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Özellik mühendisliği, ham veride bulunmayan, alan bilgisi ve istatistiksel akıl yürütmeyle ham sütunlardan türetilen yeni değişkenler oluşturma sürecidir. Sezgisel olarak bu, modele "bunu da hesaba kat" demenin bir yolu — çünkü model kendi başına iki sütunu bölmeyi veya çarpmayı öğrenemez, özellikle doğrusal modeller yalnızca girdilerin ağırlıklı toplamını hesaplar. Bankacı örneği bunu somutlaştırıyor: kredi analisti "aylık gelir" yerine "borç/gelir oranını" hesaplar, çünkü karar tek bir sütunda değil, ilişkide saklıdır. Bu ihtiyacın kökeninde veri tabanı şemalarının operasyonel kayıt için tasarlanmış olması yatıyor — modelin ihtiyacına göre değil. 2000'ler ortasından 2010'lar ortasına kadar Kaggle yarışmalarında kazanan takımların model seçiminden çok öznitelik kalitesiyle ayrıştığı tarihsel bir gerçek; bugün derin öğrenme görüntü ve seste otomatik öznitelik öğrenirken, XGBoost gibi tablo verisi modellerinde elle türetim hâlâ kazandırıyor.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Üç örnek öznitelik türü gösteriliyor: tarih ayrıştırma ile kıdem hesaplama, oran özniteliği ile harcama yoğunluğu, ve etkileşim özniteliği ile hizmet sayısı ile aylık ücretin çarpımı. Kıdem hesabında kritik bir ayrıntı var — referansTarih donmuş bir sabittir; üretim ortamında bu değer veri çekim zamanına eşitlenmezse kıdem her çalıştırmada farklı çıkar, bu da modelin tutarsız girdi almasına yol açar. Sonuç tablosundaki üç müşteri örneği, aynı ham verinin nasıl farklı sinyallere dönüştüğünü gösteriyor: M001'in kısa kıdemi ve yüksek ücret oranı, M004'ün uzun kıdemi ve düşük oranıyla tezat oluşturuyor — bu tür karşıtlıklar tam olarak modelin yakalamasını istediğimiz örüntüler.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Dört farklı yaklaşım karşılaştırılıyor. Manuel mühendislik yorumlanabilir ve güçlü sinyal üretir ama zaman ve alan bilgisi gerektirir. Otomatik üretim araçları (featuretools gibi) hızlıdır ve gözden kaçanı yakalayabilir, fakat sütun patlamasına yol açar ve üretilen sütunların çoğu gürültüdür. Ham sütunu bırakmak en basit yoldur ama doğrusal modelde ilişki tamamen kaybolur. Gömülü temsil öğrenme insan müdahalesini azaltır ama tablo verisinde zayıf kalır ve yorumsuzdur. Buradaki kilit mesaj şu: doğrusal modeller çarpımsal etkileşimi elle sunulmadan asla öğrenemez; ağaç tabanlı modeller bunu kabaca taklit edebilir ama çok daha fazla bölünme gerektirir. Pratikte yüzlerce rastgele kombinasyon üretmek yerine, az sayıda iş mantığına dayanan öznitelik daha güvenilir sonuç verir.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Üç hata da aynı kök nedene, dikkatsizliğe dayanıyor ama farklı biçimlerde ortaya çıkıyor. İlki en tehlikelisi: ortalamayı test kümesi dahil tüm veriden hesaplamak, veri sızıntısına yol açar çünkü model gerçek dünyada asla göremeyeceği bir bilgiyle eğitilir — çözüm, istatistiği yalnızca eğitim kümesinden hesaplayıp aynı sabit değeri teste uygulamak. İkincisi daha sinsi: Python sıfıra bölmede hata fırlatmaz, bunun yerine inf veya NaN üretir, bu da fark edilmezse gradyan tabanlı modellerin eğitimini sessizce bozar; np.where ile koşullu güvenli varsayılan eklemek bunu önler. Üçüncüsü istatistiksel bir tuzak: türetilmiş oran veya etkileşim sütununu, kaynağı olan ham sütunla birlikte bırakmak yüksek korelasyona, dolayısıyla doğrusal modelde katsayı kararsızlığına yol açar; ağaç modellerinde de bu fazlalık değerlendirilmelidir.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Boyutun laneti, sütun sayısı arttıkça veri noktaları arasındaki hacmin katlanarak büyümesi ve sabit örneklemin bu uzayda giderek seyrekleşmesi anlamına geliyor. Bunun somut sonucu, uzaklık ölçütlerinin anlamını yitirmesi — en yakın komşu ile en uzağı ayırt etmek zorlaşıyor. Öznitelik mühendisliği bu sorunu büyütebilir çünkü her yeni türetilen sütun boyutu artırıyor; 40-50 türetilmiş öznitelikle kNN veya kümeleme performansının düşmesi tipik bir belirti. Boyut indirgeme bu noktada devreye giriyor: değişken sayısını azaltırken bilginin büyük kısmını koruyan bir dönüşüm süreci. İki aile var — PCA gibi öznitelik çıkarımı yeni bileşik eksenler üretirken, öznitelik seçimi var olan sütunlardan bir alt küme seçer, yeni eksen üretmez. t-SNE ise bunların ikisinden de farklı; yalnızca görselleştirme amaçlıdır, modele hiç girmez.</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Boyut indirgeme, öznitelik sayısı örneklem sayısına yaklaştığında veya geçtiğinde, sütunlar arası yüksek korelasyon olduğunda, görselleştirme veya gürültü azaltma amaçlandığında ya da hesaplama kısıtları öznitelik sayısını sınırladığında tercih ediliyor. Ancak yorumlanabilirlik kritikse — örneğin tıbbi karar desteği gibi alanlarda — önce öznitelik seçimi denenmeli, çünkü PCA'nın ürettiği bileşenler artık doğrudan bir iş kavramına karşılık gelmez. Üç yöntemin karşılaştırması net bir ayrım çiziyor: PCA yeni bileşik eksenler üretip modele girer, öznitelik seçimi var olan sütunların alt kümesini seçip yine modele girer, ama t-SNE yalnızca 2-3 boyutlu görsel bir izdüşüm üretir ve hiçbir zaman modele girmez. Bu üç yöntem aynı probleme farklı çözümler sunuyor: PCA sıkıştırır, öznitelik seçimi eler, t-SNE yalnızca gösterir — bu bölümün sonunda tekrar karşımıza çıkacak özet cümle.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PCA, veriyi orijinal eksenlerinden bağımsız, birbirine dik yeni eksenlere izdüşüren ve bu eksenleri verideki varyansı en çok açıklayacak sırayla düzenleyen doğrusal bir yöntemdir. Teknik temelinde, verinin kovaryans matrisinin özdeğer ayrışımı yatıyor: C çarpı v_i eşittir lambda_i çarpı v_i denklemi, her özvektörün bir eksen yönünü, her özdeğerin o yöndeki varyans miktarını temsil ettiğini gösteriyor. En büyük özdeğere sahip özvektör birinci temel bileşeni oluşturuyor. Açıklanan varyans oranı formülü, bir bileşenin özdeğerinin tüm özdeğerlerin toplamına oranı — yani o bileşenin atılması durumunda ne kadar bilgi kaybedileceğinin bir ölçüsü. Orkestra şefi benzetmesi bu fikri güzel özetliyor: onlarca çalgıyı tek tek dinlemek yerine şef birkaç ana grup üzerinden orkestrayı yönetir; PCA bileşenleri de onlarca ham sütunun taşıdığı bilgiyi böyle özetliyor. PCA'nin kökeni 1933'te Hotelling'in formülasyonuna kadar uzanıyor ve bugün sinyal işleme, genetik, finans gibi çok farklı alanlarda kullanılıyor.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önce StandardScaler ile veriyi ölçekliyor — bu adım atlanırsa büyük sayısal aralığa sahip bir sütun (örneğin toplam ücret) varyansı yapay şekilde domine eder ve PCA yanlış yönleri önemli sanır. PCA(random_state=42) çağrısında n_components belirtilmediği için tüm bileşenler hesaplanıyor, böylece explained_variance_ratio_ dizisi tam varyans dağılımını gösteriyor. components_ matrisinin şekli (12, 12) — her satır bir temel bileşenin özvektörünü, yani orijinal 12 öznitelik uzayındaki yönünü temsil ediyor ve bu satırların normu birdir çünkü özvektörler birim vektör olarak normalize edilir. Grafikteki kümülatif eğri, ilk üç bileşenin zaten yaklaşık yüzde 94 varyansı açıkladığını, kalan dokuz bileşenin toplamda yalnızca yüzde 6'lık ek bilgi taşıdığını gösteriyor — kesikli kırmızı çizgi yüzde 90 eşiğini işaretliyor. Sınav notu olarak vurgulanan kritik nokta: özdeğer büyüklüğü sıralaması bileşen sıralamasıyla birebir örtüşür, birinci bileşen her zaman en büyük özdeğere sahiptir; bu ilişkiyi tersten soran sorulara dikkat edilmeli.</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PCA, sütunlar arasında doğrusal korelasyon güçlüyse ve amaç modelin sayısal girdisini sıkıştırmaksa tercih ediliyor — özellikle lojistik regresyon gibi doğrusal modellerde çoklu doğrusal bağlantıyı gidermek için ideal. Ancak veri kümesindeki ilişkiler doğrusal değilse, örneğin iki öznitelik arasında halka biçiminde bir ilişki varsa, PCA bu yapıyı yakalayamaz çünkü yalnızca doğrusal izdüşümler üretir; bu durumda t-SNE veya UMAP gibi doğrusal olmayan yöntemler daha uygun sonuç verir. Ayrıca PCA'nın bileşenleri yorumlanamadığından, iş paydaşına "hangi orijinal özellik churn'ü artırıyor" sorusuna doğrudan cevap vermek gerekiyorsa PCA yerine özellik seçimi tercih edilmeli. Dört yöntemin karşılaştırması bu tercihleri özetliyor: PCA düşük yorumlanabilirlikle model girdisi ve gürültü azaltma sağlarken, otokodlayıcı gibi sinir ağı tabanlı yöntemler büyük ve karmaşık veri için, derin öğrenme hatlarında tercih ediliyor.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İki kritik hata PCA'nın en sık görülen tuzakları. Birincisi, ölçekleme yapmadan PCA uygulamak — toplam ücret gibi büyük ölçekli bir sütun varyansı yapay şekilde domine eder ve PCA yanlış yönleri önemli sanır; doğru yaklaşım StandardScaler ile tüm sütunları ortalama sıfır, standart sapma bir olacak şekilde eşitlemek. İkincisi, test verisinde ayrı fit çağırmak — bu, test kümesi için ayrı eksenler öğrenilmesine yol açar ve iki küme artık aynı uzayda olmaz; doğru yaklaşım, PCA'yı yalnızca eğitim verisiyle fit edip test verisine yalnızca transform uygulamak. Bu iki hata da aslında Ch03'te öğrenilen aynı fit/transform disiplininin PCA bağlamındaki yansıması — bölüm boyunca tekrar tekrar karşımıza çıkacak bir tema.</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Özellik seçimi, PCA'nin aksine yeni eksen üretmiyor; var olan sütunlardan bilgilendirici bir alt kümeyi seçiyor, bu yüzden orijinal sütun adları korunduğu için yorumlanabilirlik yüksek kalıyor. Üç aile var: filtre yöntemleri (VarianceThreshold, SelectKBest) modelden bağımsız, istatistiksel ölçütlerle sütun eliyor — çok hızlı ama sütunlar arası etkileşimi göremiyor. Sarmalayıcı yöntemler (RFE gibi) belirli bir modeli tekrar tekrar eğiterek en iyi alt kümeyi arıyor — yavaş ama etkileşimleri yakalayabiliyor. Gömülü yöntemler ise (Lasso katsayıları gibi) seçimi model eğitim sürecinin içine gömüyor; bu bölümde ayrıntılı işlenmiyor ama taksonominin tamamlayıcı üçüncü ayağı olarak belirtiliyor. Pratik sonuç: filtre hızlı ama kördür, sarmalayıcı yavaş ama etkileşimi görür, ikisinin kesişimine bakmak en güvenilir sonucu verir.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üç aracı bir arada kullanıyor: VarianceThreshold neredeyse sabit sütunları eliyor, SelectKBest hedefle istatistiksel ilişkisi en güçlü dört sütunu seçiyor, RFE ise lojistik regresyon modeliyle adım adım eleme yapıyor. Karşılaştırmadaki dikkat çekici nokta, RFE'nin tamamen rastgele üretilmiş "gurultuluOznitelik" sütununu seçmesi — bu, sarmalayıcı yöntemlerin de kusursuz olmadığını, kullanılan modelin (burada lojistik regresyon) özelliklerine bağlı garip sonuçlar üretebileceğini gösteriyor. Bu yüzden pratikte birden fazla yöntemin kesişimine, yani hem SelectKBest hem RFE tarafından ortak seçilen sütunlara bakmak daha güvenilir bir sonuç veriyor. Filtre ve sarmalayıcı arasındaki temel fark özetle şu: filtre bağımsız ve çok hızlı ama etkileşim yakalamıyor, sarmalayıcı bağımlı ve yavaş ama etkileşimi yakalayabiliyor.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Özellik seçimi, iş paydaşına "hangi özellik etkili" sorusu cevaplanacaksa, ya da sütun sayısı azaltılırken model performansı korunmak isteniyorsa tercih ediliyor. Hız önemliyse ve etkileşim aranmıyorsa filtre, hız önemli değilse sarmalayıcı daha uygun; finans veya sağlık gibi denetime tabi alanlarda yorumlanabilirlik şartsa özellik seçimi PCA'ya tercih edilmeli. En sık görülen hata, SelectKBest'i eğitim ve test birleşik tüm veriye fit etmek — SelectKBest hedef değişkenle ilişkiyi hesapladığından, test kümesinin hedef bilgisini kullanarak sütun seçmek doğrudan veri sızıntısıdır; model, gerçek dünyada asla göremeyeceği bir bilgiyle önceden seçilmiş sütunlara kavuşuyor. Doğru yaklaşım, seçiciyi yalnızca eğitim verisi ve eğitim etiketiyle fit edip, hem eğitim hem test verisine yalnızca transform uygulamak — yine aynı fit/transform disiplini.</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t-SNE, yüksek boyutlu veriyi yerel komşuluk yapısını koruyarak 2-3 boyuta indirgeyen doğrusal olmayan bir görselleştirme yöntemi; 2008 yılında van der Maaten ve Hinton'ın "t-Distributed Stochastic Neighbor Embedding" makalesiyle tanıtıldı. Perplexity parametresi her noktanın kaç komşusunun dikkate alınacağını kabaca belirliyor. PCA yalnızca doğrusal ilişkiyi yakaladığından, kümeler doğrusal olmayan bir yapıda dağılmışsa bu yapı gözden kaçabiliyor — t-SNE tam olarak bu boşluğu dolduruyor. Şehir plancısı benzetmesi işe yarıyor: binlerce insanın hareketini tek tek incelemek yerine bir yoğunluk haritasına dönüştürüp "hangi bölgeler benzer davranıyor" sorusuna görsel bir cevap üretmek gibi. Kritik sınır şu: t-SNE çıktısındaki eksen değerlerinin mutlak büyüklüğü anlamsız, yalnızca noktalar arası göreli yakınlık yorumlanabilir. Ve t-SNE nesnesinde transform metodu yok — her çalıştırma tüm veri kümesinin komşuluk yapısını birlikte optimize ediyor, bu yüzden öğrenilmiş bir dönüşümü yeni bir noktaya uygulamak matematiksel olarak tanımlı değil.</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Aynı veri kümesinin PCA ve t-SNE ile iki boyutlu izdüşümleri yan yana karşılaştırılıyor. PCA grafiğinde sınıflar kısmen örtüşüyor çünkü doğrusal izdüşüm sınırlı ayrım gösteriyor; t-SNE grafiğinde ise perplexity=30 ile kümeler belirgin biçimde ayrılıyor, ama yine sadece göreli yakınlık anlamlı. Kod, TSNE(n_components=2, perplexity=30, random_state=42, init="pca") ile çağrılıyor ve fit_transform her seferinde yeniden çalışıyor çünkü transform metodu yok. Pratik bir ipucu burada önemli: çok yüksek boyutlu veride doğrudan t-SNE çalıştırmak hem yavaş hem gürültüye duyarlı; yaygın pratik önce PCA ile 30-50 boyuta indirip ardından bu küçültülmüş veri üzerinde t-SNE çalıştırmak — bu hem hızı artırıyor hem de görselleştirmenin gürültüden daha az etkilenmesini sağlıyor. Ne zaman tercih edilir sorusuna cevap net: kümeleri gözle keşfetmek gerektiğinde t-SNE, model girdisi hazırlamak veya yeni veriye tutarlı dönüşüm uygulamak gerekiyorsa PCA kullanılır.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Diyagram, ham veriden başlayıp özellik mühendisliği, ölçekleme, ve sonrasında bir karar noktasına ulaşan akışı gösteriyor: amaç model girdisi mi yoksa keşifsel görselleştirme mi? Keşifsel görselleştirme dalı t-SNE'ye gidiyor ve bu dal pipeline'ın ana akışına geri dönmüyor — t-SNE yalnızca görselleştirme için bir yan çıktı üretiyor, model eğitimine giren asıl akış PCA ve özellik seçimi üzerinden ilerliyor. Eğitim ve test setlerinin her adımda ayrı işlenmesi, bölüm boyunca tekrarlanan fit/transform disiplinini görsel olarak pekiştiriyor. Bu bölümün üç tekniğindeki (özellik mühendisliği, PCA, özellik seçimi, t-SNE) hataların ortak kaynağı tek bir şey: bir dönüşümü test verisiyle yeniden fit etmek. Ortalamayı tüm veriden hesaplamak, PCA'yı test kümesine yeniden uydurmak, SelectKBest'i eğitim+test birleşik veriyle çalıştırmak — hepsi aynı hatanın farklı görünümleri ve Ch03'te öğrenilen kuralı ihlal ediyor: yalnızca eğitim verisiyle fit, geri kalana yalnızca transform. t-SNE'nin hiç transform metodu olmaması bu yüzden özel bir durum — model girdisi üretmesi zaten mümkün değil.</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Üç yanılgı da sınavlarda sıkça sorulan tipte. Birincisi, t-SNE'nin PCA'nın yerine geçebilecek daha gelişmiş bir yöntem olduğu yanılgısı — oysa t-SNE'nin transform metodu yok ve model girdisi hazırlamada kullanılamıyor; doğru kural "PCA sıkıştırır, öznitelik seçimi eler, t-SNE yalnızca gösterir" cümlesiyle özetleniyor. İkincisi, PCA'da küçük özdeğerli bileşenlerin en önemli bilgiyi taşıdığı yanılgısı — tam tersi doğru, büyük özdeğerli bileşen her zaman en yüksek varyansı açıklıyor, küçük özdeğerler genelde gürültüyü taşıyor; explained_variance_ratio_ dizisini büyükten küçüğe sıralı okumak bu karışıklığı önlüyor. Üçüncüsü, dönüşümü test verisiyle yeniden fit etmenin daha doğru sonuç vereceği yanılgısı — ortalamayı tüm veriden hesaplamak, PCA'yı test kümesine yeniden uydurmak, SelectKBest'i birleşik veriyle çalıştırmak, hepsi aynı veri sızıntısı hatası; tek kural yalnızca eğitim verisiyle fit, geri kalan her şeye yalnızca transform.</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OznitelikMuhendisligiPipeline sınıfı, bu bölümün dört tekniğini tek bir uçtan uca akışta birleştiriyor. ozellik_turet metodu ham sütunlardan kıdem ve ücret oranını türetiyor; egit metodu yalnızca eğitim verisiyle ölçekleme, özellik seçimi ve PCA'yı sırayla fit_transform ediyor; uygula metodu ise test verisine yalnızca öğrenilmiş dönüşümleri transform olarak uyguluyor, hiçbir yeniden fit yok. gorsellestirme_icin_izdusum metodu ayrı tutuluyor çünkü t-SNE eğitim/test ayrımı yapmadan tüm veriyi birlikte işliyor ve pipeline'ın model-hazır çıktısına asla karışmıyor. Beklenen çıktı, eğitim ve test PCA çıktılarının aynı sütun sayısına sahip olması ama satır sayısının (300 ve 100) farklı olması — çünkü test verisi eğitimde öğrenilen aynı eksenlere izdüşürülüyor. Bu sınıf, bölümün tüm teorik prensiplerinin (fit/transform disiplini, PCA'nin sıkıştırma rolü, t-SNE'nin ayrı yan dal olması) somut bir kod organizasyonuna nasıl dönüştüğünü gösteren en bütünsel örnek.</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ham Telco Churn verisinden modele daha güçlü sinyal sunan yeni öznitelikler türetmenin, yüksek boyutlu veriyi bilgi kaybını sınırlı tutarak küçültmenin ve gereksiz sütunları eleyerek yorumlanabilirliği koruma gerektiren durumlarda özellik seçiminin nasıl uygulandığı ele alındı. PCA'nın özdeğer ve özvektör temelli doğrusal izdüşümünün varyansı bileşenler arasında nasıl dağıttığı, filtre yöntemlerinin hızlı ama etkileşimsiz, sarmalayıcı yöntemlerin yavaş ama model-duyarlı olduğu, t-SNE'nin ise yalnızca görselleştirme amaçlı olup transform desteklemediği gösterildi. Tüm bu dönüşümlerin Ch03'te kurulan fit/transform disiplinine uyarak yalnızca eğitim verisiyle öğrenilip test verisine uygulanması gerektiği — aksi hâlde veri sızıntısı oluşacağı — bölüm boyunca tekrarlanan ortak ilke oldu. Sınav notu tek cümlede özetleniyor: "PCA sıkıştırır, özellik seçimi eler, t-SNE yalnızca gösterir." Ancak bu disiplin, verinin artık zenginleştirilmiş ve gereksiz boyutlardan arındırılmış olması, modelin karşılaşabileceği başka bir yapısal sorunu — sınıf dengesizliğini — çözdüğü anlamına gelmiyor.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Telco Churn veri kümesinde churn eden müşterilerin oranı genellikle azınlıktadır ve bu durum, özenle mühendislik edilmiş özniteliklerle bile modelin çoğunluk sınıfına yanlı öğrenmesine yol açabilir. Bölüm 11'de, Dengesiz Veri ve Tuzaklar başlığı altında, dengesiz veri kümelerinin nasıl tespit edileceği ve sınıflandırma modellerinin bu dengesizlik karşısında nasıl davrandığı ele alınacak. Bu bölümde kurulan öznitelik mühendisliği ve boyut indirgeme adımları, ilerideki sınıflandırma modelinin girdisini doğrudan besleyecek ve yine "yalnızca eğitim verisinden öğren" kuralının bu kez sınıf dengeleme teknikleri için de geçerli olduğu gösterilecek. Bölüm 5'e geçmeden önce bu bölümdeki fit/transform disiplinini pekiştirmek önemli; aynı disiplin bir sonraki bölümde sınıflandırma modelleri bağlamında tekrar karşımıza çıkacak.</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h04_boyut_indirgeme_ozellik_muhendisligi-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h04_boyut_indirgeme_ozellik_muhendisligi-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04</a:t>
              </a:r>
            </a:p>
          </p:txBody>
        </p:sp>
      </p:grpSp>
      <p:grpSp>
        <p:nvGrpSpPr>
          <p:cNvPr id="8" name="cover-title"/>
          <p:cNvGrpSpPr/>
          <p:nvPr/>
        </p:nvGrpSpPr>
        <p:grpSpPr>
          <a:xfrm>
            <a:off x="4935474" y="1799272"/>
            <a:ext cx="4267581" cy="1779651"/>
            <a:chOff x="4935474" y="1799272"/>
            <a:chExt cx="4267581" cy="1779651"/>
          </a:xfrm>
        </p:grpSpPr>
        <p:sp>
          <p:nvSpPr>
            <p:cNvPr id="7" name="TextBox 7"/>
            <p:cNvSpPr txBox="1"/>
            <p:nvPr/>
          </p:nvSpPr>
          <p:spPr>
            <a:xfrm>
              <a:off x="4935474" y="1799272"/>
              <a:ext cx="4267581" cy="1779651"/>
            </a:xfrm>
            <a:prstGeom prst="rect">
              <a:avLst/>
            </a:prstGeom>
            <a:noFill/>
            <a:ln>
              <a:noFill/>
            </a:ln>
          </p:spPr>
          <p:txBody>
            <a:bodyPr wrap="none" lIns="0" tIns="0" rIns="0" bIns="0" anchor="t" anchorCtr="0">
              <a:spAutoFit/>
            </a:bodyPr>
            <a:lstStyle/>
            <a:p>
              <a:pPr algn="l">
                <a:lnSpc>
                  <a:spcPts val="4350"/>
                </a:lnSpc>
              </a:pPr>
              <a:r>
                <a:rPr lang="tr-TR" sz="3450" b="1" dirty="0">
                  <a:solidFill>
                    <a:srgbClr val="12355B"/>
                  </a:solidFill>
                  <a:latin typeface="+mj-lt"/>
                  <a:ea typeface="+mj-ea"/>
                  <a:cs typeface="+mj-cs"/>
                </a:rPr>
                <a:t>Özellik Mühendisliği</a:t>
              </a:r>
              <a:br/>
              <a:r>
                <a:rPr lang="tr-TR" sz="3450" b="1" dirty="0">
                  <a:solidFill>
                    <a:srgbClr val="12355B"/>
                  </a:solidFill>
                  <a:latin typeface="+mj-lt"/>
                  <a:ea typeface="+mj-ea"/>
                  <a:cs typeface="+mj-cs"/>
                </a:rPr>
                <a:t>ve Boyut</a:t>
              </a:r>
              <a:br/>
              <a:r>
                <a:rPr lang="tr-TR" sz="3450" b="1" dirty="0">
                  <a:solidFill>
                    <a:srgbClr val="12355B"/>
                  </a:solidFill>
                  <a:latin typeface="+mj-lt"/>
                  <a:ea typeface="+mj-ea"/>
                  <a:cs typeface="+mj-cs"/>
                </a:rPr>
                <a:t>İndirgeme</a:t>
              </a:r>
            </a:p>
          </p:txBody>
        </p:sp>
      </p:grpSp>
      <p:grpSp>
        <p:nvGrpSpPr>
          <p:cNvPr id="12" name="cover-subtitle"/>
          <p:cNvGrpSpPr/>
          <p:nvPr/>
        </p:nvGrpSpPr>
        <p:grpSpPr>
          <a:xfrm>
            <a:off x="4943094" y="4095750"/>
            <a:ext cx="3976056" cy="842868"/>
            <a:chOff x="4943094" y="4095750"/>
            <a:chExt cx="3976056" cy="842868"/>
          </a:xfrm>
        </p:grpSpPr>
        <p:sp>
          <p:nvSpPr>
            <p:cNvPr id="9" name="Rectangle 9"/>
            <p:cNvSpPr/>
            <p:nvPr/>
          </p:nvSpPr>
          <p:spPr>
            <a:xfrm>
              <a:off x="4953000" y="4095750"/>
              <a:ext cx="1143000" cy="38100"/>
            </a:xfrm>
            <a:prstGeom prst="rect">
              <a:avLst/>
            </a:prstGeom>
            <a:solidFill>
              <a:srgbClr val="00A6A6"/>
            </a:solidFill>
            <a:ln>
              <a:noFill/>
            </a:ln>
          </p:spPr>
        </p:sp>
        <p:sp>
          <p:nvSpPr>
            <p:cNvPr id="10" name="TextBox 10"/>
            <p:cNvSpPr txBox="1"/>
            <p:nvPr/>
          </p:nvSpPr>
          <p:spPr>
            <a:xfrm>
              <a:off x="4943094" y="4228148"/>
              <a:ext cx="3976056"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Veri Madenciliğine Giriş</a:t>
              </a:r>
            </a:p>
          </p:txBody>
        </p:sp>
        <p:sp>
          <p:nvSpPr>
            <p:cNvPr id="11" name="TextBox 11"/>
            <p:cNvSpPr txBox="1"/>
            <p:nvPr/>
          </p:nvSpPr>
          <p:spPr>
            <a:xfrm>
              <a:off x="4944999" y="463057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433577" cy="234696"/>
            <a:chOff x="4946904" y="6233160"/>
            <a:chExt cx="4433577" cy="234696"/>
          </a:xfrm>
        </p:grpSpPr>
        <p:sp>
          <p:nvSpPr>
            <p:cNvPr id="13" name="TextBox 13"/>
            <p:cNvSpPr txBox="1"/>
            <p:nvPr/>
          </p:nvSpPr>
          <p:spPr>
            <a:xfrm>
              <a:off x="4946904" y="6233160"/>
              <a:ext cx="443357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Veri Madenciliği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roadmap-lead"/>
          <p:cNvGrpSpPr/>
          <p:nvPr/>
        </p:nvGrpSpPr>
        <p:grpSpPr>
          <a:xfrm>
            <a:off x="601599" y="1144429"/>
            <a:ext cx="5202566" cy="308039"/>
            <a:chOff x="601599" y="1144429"/>
            <a:chExt cx="5202566" cy="308039"/>
          </a:xfrm>
        </p:grpSpPr>
        <p:sp>
          <p:nvSpPr>
            <p:cNvPr id="6" name="TextBox 6"/>
            <p:cNvSpPr txBox="1"/>
            <p:nvPr/>
          </p:nvSpPr>
          <p:spPr>
            <a:xfrm>
              <a:off x="601599" y="1144429"/>
              <a:ext cx="520256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şu beş soruyu aklınızda tutun:</a:t>
              </a:r>
            </a:p>
          </p:txBody>
        </p:sp>
      </p:grpSp>
      <p:grpSp>
        <p:nvGrpSpPr>
          <p:cNvPr id="12" name="roadmap-q1"/>
          <p:cNvGrpSpPr/>
          <p:nvPr/>
        </p:nvGrpSpPr>
        <p:grpSpPr>
          <a:xfrm>
            <a:off x="704850" y="1619250"/>
            <a:ext cx="7524316" cy="538068"/>
            <a:chOff x="704850" y="1619250"/>
            <a:chExt cx="7524316" cy="538068"/>
          </a:xfrm>
        </p:grpSpPr>
        <p:sp>
          <p:nvSpPr>
            <p:cNvPr id="8" name="Ellipse 8"/>
            <p:cNvSpPr/>
            <p:nvPr/>
          </p:nvSpPr>
          <p:spPr>
            <a:xfrm>
              <a:off x="704850" y="1619250"/>
              <a:ext cx="419100" cy="419100"/>
            </a:xfrm>
            <a:prstGeom prst="ellipse">
              <a:avLst/>
            </a:prstGeom>
            <a:solidFill>
              <a:srgbClr val="12355B"/>
            </a:solidFill>
            <a:ln>
              <a:noFill/>
            </a:ln>
          </p:spPr>
        </p:sp>
        <p:sp>
          <p:nvSpPr>
            <p:cNvPr id="9" name="TextBox 9"/>
            <p:cNvSpPr txBox="1"/>
            <p:nvPr/>
          </p:nvSpPr>
          <p:spPr>
            <a:xfrm>
              <a:off x="841880" y="1726882"/>
              <a:ext cx="145040" cy="322707"/>
            </a:xfrm>
            <a:prstGeom prst="rect">
              <a:avLst/>
            </a:prstGeom>
            <a:noFill/>
            <a:ln>
              <a:noFill/>
            </a:ln>
          </p:spPr>
          <p:txBody>
            <a:bodyPr wrap="none" lIns="0" tIns="0" rIns="0" bIns="0" anchor="t" anchorCtr="0">
              <a:spAutoFit/>
            </a:bodyPr>
            <a:lstStyle/>
            <a:p>
              <a:pPr algn="ctr"/>
              <a:r>
                <a:rPr lang="tr-TR" sz="1650" b="1" dirty="0">
                  <a:solidFill>
                    <a:srgbClr val="FFFFFF"/>
                  </a:solidFill>
                  <a:latin typeface="+mn-lt"/>
                  <a:ea typeface="+mn-ea"/>
                  <a:cs typeface="+mn-cs"/>
                </a:rPr>
                <a:t>1</a:t>
              </a:r>
            </a:p>
          </p:txBody>
        </p:sp>
        <p:sp>
          <p:nvSpPr>
            <p:cNvPr id="10" name="TextBox 10"/>
            <p:cNvSpPr txBox="1"/>
            <p:nvPr/>
          </p:nvSpPr>
          <p:spPr>
            <a:xfrm>
              <a:off x="1325499" y="1620679"/>
              <a:ext cx="690366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Ham veri neden doğrudan modele verilmez; öznitelik mühendisliği bu</a:t>
              </a:r>
            </a:p>
          </p:txBody>
        </p:sp>
        <p:sp>
          <p:nvSpPr>
            <p:cNvPr id="11" name="TextBox 11"/>
            <p:cNvSpPr txBox="1"/>
            <p:nvPr/>
          </p:nvSpPr>
          <p:spPr>
            <a:xfrm>
              <a:off x="1325499" y="1849279"/>
              <a:ext cx="244077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boşluğu nasıl doldurur?</a:t>
              </a:r>
            </a:p>
          </p:txBody>
        </p:sp>
      </p:grpSp>
      <p:grpSp>
        <p:nvGrpSpPr>
          <p:cNvPr id="17" name="roadmap-q2"/>
          <p:cNvGrpSpPr/>
          <p:nvPr/>
        </p:nvGrpSpPr>
        <p:grpSpPr>
          <a:xfrm>
            <a:off x="704850" y="2305050"/>
            <a:ext cx="7885684" cy="538068"/>
            <a:chOff x="704850" y="2305050"/>
            <a:chExt cx="7885684" cy="538068"/>
          </a:xfrm>
        </p:grpSpPr>
        <p:sp>
          <p:nvSpPr>
            <p:cNvPr id="13" name="Ellipse 13"/>
            <p:cNvSpPr/>
            <p:nvPr/>
          </p:nvSpPr>
          <p:spPr>
            <a:xfrm>
              <a:off x="704850" y="2305050"/>
              <a:ext cx="419100" cy="419100"/>
            </a:xfrm>
            <a:prstGeom prst="ellipse">
              <a:avLst/>
            </a:prstGeom>
            <a:solidFill>
              <a:srgbClr val="12355B"/>
            </a:solidFill>
            <a:ln>
              <a:noFill/>
            </a:ln>
          </p:spPr>
        </p:sp>
        <p:sp>
          <p:nvSpPr>
            <p:cNvPr id="14" name="TextBox 14"/>
            <p:cNvSpPr txBox="1"/>
            <p:nvPr/>
          </p:nvSpPr>
          <p:spPr>
            <a:xfrm>
              <a:off x="841880" y="2412682"/>
              <a:ext cx="145040" cy="322707"/>
            </a:xfrm>
            <a:prstGeom prst="rect">
              <a:avLst/>
            </a:prstGeom>
            <a:noFill/>
            <a:ln>
              <a:noFill/>
            </a:ln>
          </p:spPr>
          <p:txBody>
            <a:bodyPr wrap="none" lIns="0" tIns="0" rIns="0" bIns="0" anchor="t" anchorCtr="0">
              <a:spAutoFit/>
            </a:bodyPr>
            <a:lstStyle/>
            <a:p>
              <a:pPr algn="ctr"/>
              <a:r>
                <a:rPr lang="tr-TR" sz="1650" b="1" dirty="0">
                  <a:solidFill>
                    <a:srgbClr val="FFFFFF"/>
                  </a:solidFill>
                  <a:latin typeface="+mn-lt"/>
                  <a:ea typeface="+mn-ea"/>
                  <a:cs typeface="+mn-cs"/>
                </a:rPr>
                <a:t>2</a:t>
              </a:r>
            </a:p>
          </p:txBody>
        </p:sp>
        <p:sp>
          <p:nvSpPr>
            <p:cNvPr id="15" name="TextBox 15"/>
            <p:cNvSpPr txBox="1"/>
            <p:nvPr/>
          </p:nvSpPr>
          <p:spPr>
            <a:xfrm>
              <a:off x="1325499" y="2306479"/>
              <a:ext cx="726503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Yüzlerce boyutlu veri neden model performansını ve yorumlanabilirliği</a:t>
              </a:r>
            </a:p>
          </p:txBody>
        </p:sp>
        <p:sp>
          <p:nvSpPr>
            <p:cNvPr id="16" name="TextBox 16"/>
            <p:cNvSpPr txBox="1"/>
            <p:nvPr/>
          </p:nvSpPr>
          <p:spPr>
            <a:xfrm>
              <a:off x="1325499" y="2535079"/>
              <a:ext cx="249395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bozar (boyutun laneti)?</a:t>
              </a:r>
            </a:p>
          </p:txBody>
        </p:sp>
      </p:grpSp>
      <p:grpSp>
        <p:nvGrpSpPr>
          <p:cNvPr id="22" name="roadmap-q3"/>
          <p:cNvGrpSpPr/>
          <p:nvPr/>
        </p:nvGrpSpPr>
        <p:grpSpPr>
          <a:xfrm>
            <a:off x="704850" y="2990850"/>
            <a:ext cx="7794362" cy="538068"/>
            <a:chOff x="704850" y="2990850"/>
            <a:chExt cx="7794362" cy="538068"/>
          </a:xfrm>
        </p:grpSpPr>
        <p:sp>
          <p:nvSpPr>
            <p:cNvPr id="18" name="Ellipse 18"/>
            <p:cNvSpPr/>
            <p:nvPr/>
          </p:nvSpPr>
          <p:spPr>
            <a:xfrm>
              <a:off x="704850" y="2990850"/>
              <a:ext cx="419100" cy="419100"/>
            </a:xfrm>
            <a:prstGeom prst="ellipse">
              <a:avLst/>
            </a:prstGeom>
            <a:solidFill>
              <a:srgbClr val="12355B"/>
            </a:solidFill>
            <a:ln>
              <a:noFill/>
            </a:ln>
          </p:spPr>
        </p:sp>
        <p:sp>
          <p:nvSpPr>
            <p:cNvPr id="19" name="TextBox 19"/>
            <p:cNvSpPr txBox="1"/>
            <p:nvPr/>
          </p:nvSpPr>
          <p:spPr>
            <a:xfrm>
              <a:off x="841880" y="3098482"/>
              <a:ext cx="145040" cy="322707"/>
            </a:xfrm>
            <a:prstGeom prst="rect">
              <a:avLst/>
            </a:prstGeom>
            <a:noFill/>
            <a:ln>
              <a:noFill/>
            </a:ln>
          </p:spPr>
          <p:txBody>
            <a:bodyPr wrap="none" lIns="0" tIns="0" rIns="0" bIns="0" anchor="t" anchorCtr="0">
              <a:spAutoFit/>
            </a:bodyPr>
            <a:lstStyle/>
            <a:p>
              <a:pPr algn="ctr"/>
              <a:r>
                <a:rPr lang="tr-TR" sz="1650" b="1" dirty="0">
                  <a:solidFill>
                    <a:srgbClr val="FFFFFF"/>
                  </a:solidFill>
                  <a:latin typeface="+mn-lt"/>
                  <a:ea typeface="+mn-ea"/>
                  <a:cs typeface="+mn-cs"/>
                </a:rPr>
                <a:t>3</a:t>
              </a:r>
            </a:p>
          </p:txBody>
        </p:sp>
        <p:sp>
          <p:nvSpPr>
            <p:cNvPr id="20" name="TextBox 20"/>
            <p:cNvSpPr txBox="1"/>
            <p:nvPr/>
          </p:nvSpPr>
          <p:spPr>
            <a:xfrm>
              <a:off x="1325499" y="2992279"/>
              <a:ext cx="717371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PCA varyansı korurken boyutu nasıl azaltır; özdeğer ve özvektör bu</a:t>
              </a:r>
            </a:p>
          </p:txBody>
        </p:sp>
        <p:sp>
          <p:nvSpPr>
            <p:cNvPr id="21" name="TextBox 21"/>
            <p:cNvSpPr txBox="1"/>
            <p:nvPr/>
          </p:nvSpPr>
          <p:spPr>
            <a:xfrm>
              <a:off x="1325499" y="3220879"/>
              <a:ext cx="219617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işlemde ne rol oynar?</a:t>
              </a:r>
            </a:p>
          </p:txBody>
        </p:sp>
      </p:grpSp>
      <p:grpSp>
        <p:nvGrpSpPr>
          <p:cNvPr id="27" name="roadmap-q4"/>
          <p:cNvGrpSpPr/>
          <p:nvPr/>
        </p:nvGrpSpPr>
        <p:grpSpPr>
          <a:xfrm>
            <a:off x="704850" y="3676650"/>
            <a:ext cx="7885684" cy="538068"/>
            <a:chOff x="704850" y="3676650"/>
            <a:chExt cx="7885684" cy="538068"/>
          </a:xfrm>
        </p:grpSpPr>
        <p:sp>
          <p:nvSpPr>
            <p:cNvPr id="23" name="Ellipse 23"/>
            <p:cNvSpPr/>
            <p:nvPr/>
          </p:nvSpPr>
          <p:spPr>
            <a:xfrm>
              <a:off x="704850" y="3676650"/>
              <a:ext cx="419100" cy="419100"/>
            </a:xfrm>
            <a:prstGeom prst="ellipse">
              <a:avLst/>
            </a:prstGeom>
            <a:solidFill>
              <a:srgbClr val="12355B"/>
            </a:solidFill>
            <a:ln>
              <a:noFill/>
            </a:ln>
          </p:spPr>
        </p:sp>
        <p:sp>
          <p:nvSpPr>
            <p:cNvPr id="24" name="TextBox 24"/>
            <p:cNvSpPr txBox="1"/>
            <p:nvPr/>
          </p:nvSpPr>
          <p:spPr>
            <a:xfrm>
              <a:off x="841880" y="3784282"/>
              <a:ext cx="145040" cy="322707"/>
            </a:xfrm>
            <a:prstGeom prst="rect">
              <a:avLst/>
            </a:prstGeom>
            <a:noFill/>
            <a:ln>
              <a:noFill/>
            </a:ln>
          </p:spPr>
          <p:txBody>
            <a:bodyPr wrap="none" lIns="0" tIns="0" rIns="0" bIns="0" anchor="t" anchorCtr="0">
              <a:spAutoFit/>
            </a:bodyPr>
            <a:lstStyle/>
            <a:p>
              <a:pPr algn="ctr"/>
              <a:r>
                <a:rPr lang="tr-TR" sz="1650" b="1" dirty="0">
                  <a:solidFill>
                    <a:srgbClr val="FFFFFF"/>
                  </a:solidFill>
                  <a:latin typeface="+mn-lt"/>
                  <a:ea typeface="+mn-ea"/>
                  <a:cs typeface="+mn-cs"/>
                </a:rPr>
                <a:t>4</a:t>
              </a:r>
            </a:p>
          </p:txBody>
        </p:sp>
        <p:sp>
          <p:nvSpPr>
            <p:cNvPr id="25" name="TextBox 25"/>
            <p:cNvSpPr txBox="1"/>
            <p:nvPr/>
          </p:nvSpPr>
          <p:spPr>
            <a:xfrm>
              <a:off x="1325499" y="3678079"/>
              <a:ext cx="726503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Filtre ve sarmalayıcı özellik seçim yöntemleri hangi durumda birbirine</a:t>
              </a:r>
            </a:p>
          </p:txBody>
        </p:sp>
        <p:sp>
          <p:nvSpPr>
            <p:cNvPr id="26" name="TextBox 26"/>
            <p:cNvSpPr txBox="1"/>
            <p:nvPr/>
          </p:nvSpPr>
          <p:spPr>
            <a:xfrm>
              <a:off x="1325499" y="3906679"/>
              <a:ext cx="138791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tercih edilir?</a:t>
              </a:r>
            </a:p>
          </p:txBody>
        </p:sp>
      </p:grpSp>
      <p:grpSp>
        <p:nvGrpSpPr>
          <p:cNvPr id="32" name="roadmap-q5"/>
          <p:cNvGrpSpPr/>
          <p:nvPr/>
        </p:nvGrpSpPr>
        <p:grpSpPr>
          <a:xfrm>
            <a:off x="704850" y="4362450"/>
            <a:ext cx="7398006" cy="538068"/>
            <a:chOff x="704850" y="4362450"/>
            <a:chExt cx="7398006" cy="538068"/>
          </a:xfrm>
        </p:grpSpPr>
        <p:sp>
          <p:nvSpPr>
            <p:cNvPr id="28" name="Ellipse 28"/>
            <p:cNvSpPr/>
            <p:nvPr/>
          </p:nvSpPr>
          <p:spPr>
            <a:xfrm>
              <a:off x="704850" y="4362450"/>
              <a:ext cx="419100" cy="419100"/>
            </a:xfrm>
            <a:prstGeom prst="ellipse">
              <a:avLst/>
            </a:prstGeom>
            <a:solidFill>
              <a:srgbClr val="12355B"/>
            </a:solidFill>
            <a:ln>
              <a:noFill/>
            </a:ln>
          </p:spPr>
        </p:sp>
        <p:sp>
          <p:nvSpPr>
            <p:cNvPr id="29" name="TextBox 29"/>
            <p:cNvSpPr txBox="1"/>
            <p:nvPr/>
          </p:nvSpPr>
          <p:spPr>
            <a:xfrm>
              <a:off x="841880" y="4470082"/>
              <a:ext cx="145040" cy="322707"/>
            </a:xfrm>
            <a:prstGeom prst="rect">
              <a:avLst/>
            </a:prstGeom>
            <a:noFill/>
            <a:ln>
              <a:noFill/>
            </a:ln>
          </p:spPr>
          <p:txBody>
            <a:bodyPr wrap="none" lIns="0" tIns="0" rIns="0" bIns="0" anchor="t" anchorCtr="0">
              <a:spAutoFit/>
            </a:bodyPr>
            <a:lstStyle/>
            <a:p>
              <a:pPr algn="ctr"/>
              <a:r>
                <a:rPr lang="tr-TR" sz="1650" b="1" dirty="0">
                  <a:solidFill>
                    <a:srgbClr val="FFFFFF"/>
                  </a:solidFill>
                  <a:latin typeface="+mn-lt"/>
                  <a:ea typeface="+mn-ea"/>
                  <a:cs typeface="+mn-cs"/>
                </a:rPr>
                <a:t>5</a:t>
              </a:r>
            </a:p>
          </p:txBody>
        </p:sp>
        <p:sp>
          <p:nvSpPr>
            <p:cNvPr id="30" name="TextBox 30"/>
            <p:cNvSpPr txBox="1"/>
            <p:nvPr/>
          </p:nvSpPr>
          <p:spPr>
            <a:xfrm>
              <a:off x="1325499" y="4363879"/>
              <a:ext cx="677735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PCA ile t-SNE hangi amaçla kullanılır, ikisi neden birbirinin yerine</a:t>
              </a:r>
            </a:p>
          </p:txBody>
        </p:sp>
        <p:sp>
          <p:nvSpPr>
            <p:cNvPr id="31" name="TextBox 31"/>
            <p:cNvSpPr txBox="1"/>
            <p:nvPr/>
          </p:nvSpPr>
          <p:spPr>
            <a:xfrm>
              <a:off x="1325499" y="4592479"/>
              <a:ext cx="87743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geçmez?</a:t>
              </a:r>
            </a:p>
          </p:txBody>
        </p:sp>
      </p:grpSp>
      <p:grpSp>
        <p:nvGrpSpPr>
          <p:cNvPr id="37" name="roadmap-goal"/>
          <p:cNvGrpSpPr/>
          <p:nvPr/>
        </p:nvGrpSpPr>
        <p:grpSpPr>
          <a:xfrm>
            <a:off x="609600" y="5143500"/>
            <a:ext cx="10972800" cy="1104900"/>
            <a:chOff x="609600" y="5143500"/>
            <a:chExt cx="10972800" cy="1104900"/>
          </a:xfrm>
        </p:grpSpPr>
        <p:sp>
          <p:nvSpPr>
            <p:cNvPr id="33" name="Rectangle 33"/>
            <p:cNvSpPr/>
            <p:nvPr/>
          </p:nvSpPr>
          <p:spPr>
            <a:xfrm>
              <a:off x="609600" y="5143500"/>
              <a:ext cx="10972800" cy="1104900"/>
            </a:xfrm>
            <a:prstGeom prst="roundRect">
              <a:avLst>
                <a:gd name="adj" fmla="val 8621"/>
              </a:avLst>
            </a:prstGeom>
            <a:solidFill>
              <a:srgbClr val="EAF4F6"/>
            </a:solidFill>
            <a:ln>
              <a:noFill/>
            </a:ln>
          </p:spPr>
        </p:sp>
        <p:sp>
          <p:nvSpPr>
            <p:cNvPr id="34" name="TextBox 34"/>
            <p:cNvSpPr txBox="1"/>
            <p:nvPr/>
          </p:nvSpPr>
          <p:spPr>
            <a:xfrm>
              <a:off x="906399" y="5297329"/>
              <a:ext cx="836089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Bölüm hedefi: Ham telekomünikasyon müşteri verisinden alan bilgisiyle yeni</a:t>
              </a:r>
            </a:p>
          </p:txBody>
        </p:sp>
        <p:sp>
          <p:nvSpPr>
            <p:cNvPr id="35" name="TextBox 35"/>
            <p:cNvSpPr txBox="1"/>
            <p:nvPr/>
          </p:nvSpPr>
          <p:spPr>
            <a:xfrm>
              <a:off x="906399" y="5564029"/>
              <a:ext cx="889499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öznitelikler türetip, PCA ile boyutu bilgi kaybını sınırlı tutarak indirgeyip, filtre ve</a:t>
              </a:r>
            </a:p>
          </p:txBody>
        </p:sp>
        <p:sp>
          <p:nvSpPr>
            <p:cNvPr id="36" name="TextBox 36"/>
            <p:cNvSpPr txBox="1"/>
            <p:nvPr/>
          </p:nvSpPr>
          <p:spPr>
            <a:xfrm>
              <a:off x="906399" y="5830729"/>
              <a:ext cx="942739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sarmalayıcı yöntemlerle en bilgilendirici alt kümeyi seçip, t-SNE ile 2 boyutlu haritalamak.</a:t>
              </a:r>
            </a:p>
          </p:txBody>
        </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104135" cy="668845"/>
            <a:chOff x="609600" y="171450"/>
            <a:chExt cx="8104135"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12" name="objective-1"/>
          <p:cNvGrpSpPr/>
          <p:nvPr/>
        </p:nvGrpSpPr>
        <p:grpSpPr>
          <a:xfrm>
            <a:off x="685800" y="1253490"/>
            <a:ext cx="9583204" cy="637128"/>
            <a:chOff x="685800" y="1253490"/>
            <a:chExt cx="9583204" cy="637128"/>
          </a:xfrm>
        </p:grpSpPr>
        <p:sp>
          <p:nvSpPr>
            <p:cNvPr id="9" name="Rectangle 9"/>
            <p:cNvSpPr/>
            <p:nvPr/>
          </p:nvSpPr>
          <p:spPr>
            <a:xfrm>
              <a:off x="685800" y="1257300"/>
              <a:ext cx="57150" cy="495300"/>
            </a:xfrm>
            <a:prstGeom prst="rect">
              <a:avLst/>
            </a:prstGeom>
            <a:solidFill>
              <a:srgbClr val="00A6A6"/>
            </a:solidFill>
            <a:ln>
              <a:noFill/>
            </a:ln>
          </p:spPr>
        </p:sp>
        <p:sp>
          <p:nvSpPr>
            <p:cNvPr id="10" name="TextBox 10"/>
            <p:cNvSpPr txBox="1"/>
            <p:nvPr/>
          </p:nvSpPr>
          <p:spPr>
            <a:xfrm>
              <a:off x="981456" y="1253490"/>
              <a:ext cx="928754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Alan bilgisiyle ham sütunlardan tarih, oran ve etkileşim özniteliği türetmek</a:t>
              </a:r>
            </a:p>
          </p:txBody>
        </p:sp>
        <p:sp>
          <p:nvSpPr>
            <p:cNvPr id="11" name="TextBox 11"/>
            <p:cNvSpPr txBox="1"/>
            <p:nvPr/>
          </p:nvSpPr>
          <p:spPr>
            <a:xfrm>
              <a:off x="982599" y="1582579"/>
              <a:ext cx="828692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kıdem (ay), ücret oranı ve hizmet-ücret etkileşim sütunlarını üretmek</a:t>
              </a:r>
            </a:p>
          </p:txBody>
        </p:sp>
      </p:grpSp>
      <p:grpSp>
        <p:nvGrpSpPr>
          <p:cNvPr id="16" name="objective-2"/>
          <p:cNvGrpSpPr/>
          <p:nvPr/>
        </p:nvGrpSpPr>
        <p:grpSpPr>
          <a:xfrm>
            <a:off x="685800" y="2015490"/>
            <a:ext cx="9174969" cy="637128"/>
            <a:chOff x="685800" y="2015490"/>
            <a:chExt cx="9174969" cy="637128"/>
          </a:xfrm>
        </p:grpSpPr>
        <p:sp>
          <p:nvSpPr>
            <p:cNvPr id="13" name="Rectangle 13"/>
            <p:cNvSpPr/>
            <p:nvPr/>
          </p:nvSpPr>
          <p:spPr>
            <a:xfrm>
              <a:off x="685800" y="2019300"/>
              <a:ext cx="57150" cy="495300"/>
            </a:xfrm>
            <a:prstGeom prst="rect">
              <a:avLst/>
            </a:prstGeom>
            <a:solidFill>
              <a:srgbClr val="00A6A6"/>
            </a:solidFill>
            <a:ln>
              <a:noFill/>
            </a:ln>
          </p:spPr>
        </p:sp>
        <p:sp>
          <p:nvSpPr>
            <p:cNvPr id="14" name="TextBox 14"/>
            <p:cNvSpPr txBox="1"/>
            <p:nvPr/>
          </p:nvSpPr>
          <p:spPr>
            <a:xfrm>
              <a:off x="981456" y="2015490"/>
              <a:ext cx="887931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Boyutun lanetini açıklayıp PCA ile varyansı koruyarak boyut indirgemek</a:t>
              </a:r>
            </a:p>
          </p:txBody>
        </p:sp>
        <p:sp>
          <p:nvSpPr>
            <p:cNvPr id="15" name="TextBox 15"/>
            <p:cNvSpPr txBox="1"/>
            <p:nvPr/>
          </p:nvSpPr>
          <p:spPr>
            <a:xfrm>
              <a:off x="982599" y="2344579"/>
              <a:ext cx="835012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özdeğer/özvektör ile bir varyans eşiğine gereken bileşen sayısını bulmak</a:t>
              </a:r>
            </a:p>
          </p:txBody>
        </p:sp>
      </p:grpSp>
      <p:grpSp>
        <p:nvGrpSpPr>
          <p:cNvPr id="20" name="objective-3"/>
          <p:cNvGrpSpPr/>
          <p:nvPr/>
        </p:nvGrpSpPr>
        <p:grpSpPr>
          <a:xfrm>
            <a:off x="685800" y="2777490"/>
            <a:ext cx="8781652" cy="637128"/>
            <a:chOff x="685800" y="2777490"/>
            <a:chExt cx="8781652" cy="637128"/>
          </a:xfrm>
        </p:grpSpPr>
        <p:sp>
          <p:nvSpPr>
            <p:cNvPr id="17" name="Rectangle 17"/>
            <p:cNvSpPr/>
            <p:nvPr/>
          </p:nvSpPr>
          <p:spPr>
            <a:xfrm>
              <a:off x="685800" y="2781300"/>
              <a:ext cx="57150" cy="495300"/>
            </a:xfrm>
            <a:prstGeom prst="rect">
              <a:avLst/>
            </a:prstGeom>
            <a:solidFill>
              <a:srgbClr val="00A6A6"/>
            </a:solidFill>
            <a:ln>
              <a:noFill/>
            </a:ln>
          </p:spPr>
        </p:sp>
        <p:sp>
          <p:nvSpPr>
            <p:cNvPr id="18" name="TextBox 18"/>
            <p:cNvSpPr txBox="1"/>
            <p:nvPr/>
          </p:nvSpPr>
          <p:spPr>
            <a:xfrm>
              <a:off x="981456" y="2777490"/>
              <a:ext cx="848599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Filtre ve sarmalayıcı yöntemlerle en bilgilendirici alt kümeyi seçmek</a:t>
              </a:r>
            </a:p>
          </p:txBody>
        </p:sp>
        <p:sp>
          <p:nvSpPr>
            <p:cNvPr id="19" name="TextBox 19"/>
            <p:cNvSpPr txBox="1"/>
            <p:nvPr/>
          </p:nvSpPr>
          <p:spPr>
            <a:xfrm>
              <a:off x="982599" y="3106579"/>
              <a:ext cx="767078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VarianceThreshold, SelectKBest ve RFE seçimlerini karşılaştırmak</a:t>
              </a:r>
            </a:p>
          </p:txBody>
        </p:sp>
      </p:grpSp>
      <p:grpSp>
        <p:nvGrpSpPr>
          <p:cNvPr id="24" name="objective-4"/>
          <p:cNvGrpSpPr/>
          <p:nvPr/>
        </p:nvGrpSpPr>
        <p:grpSpPr>
          <a:xfrm>
            <a:off x="685800" y="3539490"/>
            <a:ext cx="11242240" cy="637128"/>
            <a:chOff x="685800" y="3539490"/>
            <a:chExt cx="11242240" cy="637128"/>
          </a:xfrm>
        </p:grpSpPr>
        <p:sp>
          <p:nvSpPr>
            <p:cNvPr id="21" name="Rectangle 21"/>
            <p:cNvSpPr/>
            <p:nvPr/>
          </p:nvSpPr>
          <p:spPr>
            <a:xfrm>
              <a:off x="685800" y="3543300"/>
              <a:ext cx="57150" cy="495300"/>
            </a:xfrm>
            <a:prstGeom prst="rect">
              <a:avLst/>
            </a:prstGeom>
            <a:solidFill>
              <a:srgbClr val="00A6A6"/>
            </a:solidFill>
            <a:ln>
              <a:noFill/>
            </a:ln>
          </p:spPr>
        </p:sp>
        <p:sp>
          <p:nvSpPr>
            <p:cNvPr id="22" name="TextBox 22"/>
            <p:cNvSpPr txBox="1"/>
            <p:nvPr/>
          </p:nvSpPr>
          <p:spPr>
            <a:xfrm>
              <a:off x="981456" y="3539490"/>
              <a:ext cx="1094658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t-SNE ile PCA'nin amaç farkını ayırt edip t-SNE'yi yalnızca görselleştirmede kullanmak</a:t>
              </a:r>
            </a:p>
          </p:txBody>
        </p:sp>
        <p:sp>
          <p:nvSpPr>
            <p:cNvPr id="23" name="TextBox 23"/>
            <p:cNvSpPr txBox="1"/>
            <p:nvPr/>
          </p:nvSpPr>
          <p:spPr>
            <a:xfrm>
              <a:off x="982599" y="3868579"/>
              <a:ext cx="803069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t-SNE çıktısının neden model girdisi olamayacağını gerekçelendirmek</a:t>
              </a:r>
            </a:p>
          </p:txBody>
        </p:sp>
      </p:grpSp>
      <p:grpSp>
        <p:nvGrpSpPr>
          <p:cNvPr id="28" name="objective-5"/>
          <p:cNvGrpSpPr/>
          <p:nvPr/>
        </p:nvGrpSpPr>
        <p:grpSpPr>
          <a:xfrm>
            <a:off x="685800" y="4301490"/>
            <a:ext cx="9672332" cy="637128"/>
            <a:chOff x="685800" y="4301490"/>
            <a:chExt cx="9672332" cy="637128"/>
          </a:xfrm>
        </p:grpSpPr>
        <p:sp>
          <p:nvSpPr>
            <p:cNvPr id="25" name="Rectangle 25"/>
            <p:cNvSpPr/>
            <p:nvPr/>
          </p:nvSpPr>
          <p:spPr>
            <a:xfrm>
              <a:off x="685800" y="4305300"/>
              <a:ext cx="57150" cy="495300"/>
            </a:xfrm>
            <a:prstGeom prst="rect">
              <a:avLst/>
            </a:prstGeom>
            <a:solidFill>
              <a:srgbClr val="00A6A6"/>
            </a:solidFill>
            <a:ln>
              <a:noFill/>
            </a:ln>
          </p:spPr>
        </p:sp>
        <p:sp>
          <p:nvSpPr>
            <p:cNvPr id="26" name="TextBox 26"/>
            <p:cNvSpPr txBox="1"/>
            <p:nvPr/>
          </p:nvSpPr>
          <p:spPr>
            <a:xfrm>
              <a:off x="981456" y="4301490"/>
              <a:ext cx="937667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Tüm dönüşümleri yalnızca eğitim verisinden öğrenip test verisine uygulamak</a:t>
              </a:r>
            </a:p>
          </p:txBody>
        </p:sp>
        <p:sp>
          <p:nvSpPr>
            <p:cNvPr id="27" name="TextBox 27"/>
            <p:cNvSpPr txBox="1"/>
            <p:nvPr/>
          </p:nvSpPr>
          <p:spPr>
            <a:xfrm>
              <a:off x="982599" y="4630579"/>
              <a:ext cx="826203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Ch03'ün fit/transform disiplinini her adımda veri sızıntısız sürdürmek</a:t>
              </a:r>
            </a:p>
          </p:txBody>
        </p:sp>
      </p:grpSp>
      <p:grpSp>
        <p:nvGrpSpPr>
          <p:cNvPr id="33" name="success-criterion"/>
          <p:cNvGrpSpPr/>
          <p:nvPr/>
        </p:nvGrpSpPr>
        <p:grpSpPr>
          <a:xfrm>
            <a:off x="609600" y="5143500"/>
            <a:ext cx="10972800" cy="1104900"/>
            <a:chOff x="609600" y="5143500"/>
            <a:chExt cx="10972800" cy="1104900"/>
          </a:xfrm>
        </p:grpSpPr>
        <p:sp>
          <p:nvSpPr>
            <p:cNvPr id="29" name="Rectangle 29"/>
            <p:cNvSpPr/>
            <p:nvPr/>
          </p:nvSpPr>
          <p:spPr>
            <a:xfrm>
              <a:off x="609600" y="5143500"/>
              <a:ext cx="10972800" cy="1104900"/>
            </a:xfrm>
            <a:prstGeom prst="roundRect">
              <a:avLst>
                <a:gd name="adj" fmla="val 8621"/>
              </a:avLst>
            </a:prstGeom>
            <a:solidFill>
              <a:srgbClr val="EAF4F6"/>
            </a:solidFill>
            <a:ln>
              <a:noFill/>
            </a:ln>
          </p:spPr>
        </p:sp>
        <p:sp>
          <p:nvSpPr>
            <p:cNvPr id="30" name="TextBox 30"/>
            <p:cNvSpPr txBox="1"/>
            <p:nvPr/>
          </p:nvSpPr>
          <p:spPr>
            <a:xfrm>
              <a:off x="906399" y="5297329"/>
              <a:ext cx="821569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Başarı ölçütü: Öğrenci, ham bir müşteri veri kümesinden alan bilgisiyle yeni</a:t>
              </a:r>
            </a:p>
          </p:txBody>
        </p:sp>
        <p:sp>
          <p:nvSpPr>
            <p:cNvPr id="31" name="TextBox 31"/>
            <p:cNvSpPr txBox="1"/>
            <p:nvPr/>
          </p:nvSpPr>
          <p:spPr>
            <a:xfrm>
              <a:off x="906399" y="5564029"/>
              <a:ext cx="917186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öznitelikler türetip, PCA ile varyans kaybını kontrol ederek boyutu indirgeyip, filtre ve</a:t>
              </a:r>
            </a:p>
          </p:txBody>
        </p:sp>
        <p:sp>
          <p:nvSpPr>
            <p:cNvPr id="32" name="TextBox 32"/>
            <p:cNvSpPr txBox="1"/>
            <p:nvPr/>
          </p:nvSpPr>
          <p:spPr>
            <a:xfrm>
              <a:off x="906399" y="5830729"/>
              <a:ext cx="1022558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sarmalayıcı yöntemlerle sütun seçebiliyor ve veri sızıntısı riskini gösterebiliyorsa başarılıdır.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8467322" cy="668845"/>
            <a:chOff x="609600" y="171450"/>
            <a:chExt cx="8467322"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777695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üç teknik, bir disiplin</a:t>
              </a:r>
            </a:p>
          </p:txBody>
        </p:sp>
      </p:grpSp>
      <p:grpSp>
        <p:nvGrpSpPr>
          <p:cNvPr id="46" name="concept-map"/>
          <p:cNvGrpSpPr/>
          <p:nvPr/>
        </p:nvGrpSpPr>
        <p:grpSpPr>
          <a:xfrm>
            <a:off x="685800" y="1219200"/>
            <a:ext cx="10896600" cy="4886706"/>
            <a:chOff x="685800" y="1219200"/>
            <a:chExt cx="10896600" cy="4886706"/>
          </a:xfrm>
        </p:grpSpPr>
        <p:grpSp>
          <p:nvGrpSpPr>
            <p:cNvPr id="21" name="Group 21"/>
            <p:cNvGrpSpPr/>
            <p:nvPr/>
          </p:nvGrpSpPr>
          <p:grpSpPr>
            <a:xfrm>
              <a:off x="3143250" y="1581150"/>
              <a:ext cx="5429250" cy="4038600"/>
              <a:chOff x="3143250" y="1581150"/>
              <a:chExt cx="5429250" cy="4038600"/>
            </a:xfrm>
          </p:grpSpPr>
          <p:sp>
            <p:nvSpPr>
              <p:cNvPr id="14" name="Line 14"/>
              <p:cNvSpPr/>
              <p:nvPr/>
            </p:nvSpPr>
            <p:spPr>
              <a:xfrm flipV="1">
                <a:off x="3143250" y="1581150"/>
                <a:ext cx="1352550" cy="1514475"/>
              </a:xfrm>
              <a:prstGeom prst="line">
                <a:avLst/>
              </a:prstGeom>
              <a:noFill/>
              <a:ln w="23812">
                <a:solidFill>
                  <a:srgbClr val="00A6A6"/>
                </a:solidFill>
                <a:tailEnd type="arrow" w="lg" len="lg"/>
              </a:ln>
            </p:spPr>
          </p:sp>
          <p:sp>
            <p:nvSpPr>
              <p:cNvPr id="15" name="Line 15"/>
              <p:cNvSpPr/>
              <p:nvPr/>
            </p:nvSpPr>
            <p:spPr>
              <a:xfrm flipV="1">
                <a:off x="3143250" y="2571750"/>
                <a:ext cx="1352550" cy="523875"/>
              </a:xfrm>
              <a:prstGeom prst="line">
                <a:avLst/>
              </a:prstGeom>
              <a:noFill/>
              <a:ln w="23812">
                <a:solidFill>
                  <a:srgbClr val="00A6A6"/>
                </a:solidFill>
                <a:tailEnd type="arrow" w="lg" len="lg"/>
              </a:ln>
            </p:spPr>
          </p:sp>
          <p:sp>
            <p:nvSpPr>
              <p:cNvPr id="16" name="Line 16"/>
              <p:cNvSpPr/>
              <p:nvPr/>
            </p:nvSpPr>
            <p:spPr>
              <a:xfrm>
                <a:off x="3143250" y="3095625"/>
                <a:ext cx="1352550" cy="466725"/>
              </a:xfrm>
              <a:prstGeom prst="line">
                <a:avLst/>
              </a:prstGeom>
              <a:noFill/>
              <a:ln w="23812">
                <a:solidFill>
                  <a:srgbClr val="00A6A6"/>
                </a:solidFill>
                <a:tailEnd type="arrow" w="lg" len="lg"/>
              </a:ln>
            </p:spPr>
          </p:sp>
          <p:sp>
            <p:nvSpPr>
              <p:cNvPr id="17" name="Line 17"/>
              <p:cNvSpPr/>
              <p:nvPr/>
            </p:nvSpPr>
            <p:spPr>
              <a:xfrm>
                <a:off x="3143250" y="3095625"/>
                <a:ext cx="1352550" cy="2524125"/>
              </a:xfrm>
              <a:prstGeom prst="line">
                <a:avLst/>
              </a:prstGeom>
              <a:noFill/>
              <a:ln w="23812">
                <a:solidFill>
                  <a:srgbClr val="00A6A6"/>
                </a:solidFill>
                <a:tailEnd type="arrow" w="lg" len="lg"/>
              </a:ln>
            </p:spPr>
          </p:sp>
          <p:sp>
            <p:nvSpPr>
              <p:cNvPr id="18" name="Line 18"/>
              <p:cNvSpPr/>
              <p:nvPr/>
            </p:nvSpPr>
            <p:spPr>
              <a:xfrm>
                <a:off x="6477000" y="1943100"/>
                <a:ext cx="1" cy="266700"/>
              </a:xfrm>
              <a:prstGeom prst="line">
                <a:avLst/>
              </a:prstGeom>
              <a:noFill/>
              <a:ln w="19050">
                <a:solidFill>
                  <a:srgbClr val="52616B"/>
                </a:solidFill>
                <a:custDash>
                  <a:ds d="300000" sp="200000"/>
                </a:custDash>
                <a:tailEnd type="arrow" w="lg" len="lg"/>
              </a:ln>
            </p:spPr>
          </p:sp>
          <p:sp>
            <p:nvSpPr>
              <p:cNvPr id="19" name="Line 19"/>
              <p:cNvSpPr/>
              <p:nvPr/>
            </p:nvSpPr>
            <p:spPr>
              <a:xfrm>
                <a:off x="6477000" y="2933700"/>
                <a:ext cx="1" cy="266700"/>
              </a:xfrm>
              <a:prstGeom prst="line">
                <a:avLst/>
              </a:prstGeom>
              <a:noFill/>
              <a:ln w="19050">
                <a:solidFill>
                  <a:srgbClr val="52616B"/>
                </a:solidFill>
                <a:custDash>
                  <a:ds d="300000" sp="200000"/>
                </a:custDash>
                <a:tailEnd type="arrow" w="lg" len="lg"/>
              </a:ln>
            </p:spPr>
          </p:sp>
          <p:sp>
            <p:nvSpPr>
              <p:cNvPr id="20" name="Line 20"/>
              <p:cNvSpPr/>
              <p:nvPr/>
            </p:nvSpPr>
            <p:spPr>
              <a:xfrm>
                <a:off x="7048500" y="3924300"/>
                <a:ext cx="1524000" cy="1390650"/>
              </a:xfrm>
              <a:prstGeom prst="line">
                <a:avLst/>
              </a:prstGeom>
              <a:noFill/>
              <a:ln w="19050">
                <a:solidFill>
                  <a:srgbClr val="52616B"/>
                </a:solidFill>
                <a:custDash>
                  <a:ds d="300000" sp="200000"/>
                </a:custDash>
                <a:tailEnd type="arrow" w="lg" len="lg"/>
              </a:ln>
            </p:spPr>
          </p:sp>
        </p:grpSp>
        <p:grpSp>
          <p:nvGrpSpPr>
            <p:cNvPr id="24" name="map-hub"/>
            <p:cNvGrpSpPr/>
            <p:nvPr/>
          </p:nvGrpSpPr>
          <p:grpSpPr>
            <a:xfrm>
              <a:off x="685800" y="2381250"/>
              <a:ext cx="2381250" cy="1428750"/>
              <a:chOff x="685800" y="2381250"/>
              <a:chExt cx="2381250" cy="1428750"/>
            </a:xfrm>
          </p:grpSpPr>
          <p:sp>
            <p:nvSpPr>
              <p:cNvPr id="22" name="Rectangle 22"/>
              <p:cNvSpPr/>
              <p:nvPr/>
            </p:nvSpPr>
            <p:spPr>
              <a:xfrm>
                <a:off x="685800" y="2381250"/>
                <a:ext cx="2381250" cy="1428750"/>
              </a:xfrm>
              <a:prstGeom prst="roundRect">
                <a:avLst>
                  <a:gd name="adj" fmla="val 6667"/>
                </a:avLst>
              </a:prstGeom>
              <a:solidFill>
                <a:srgbClr val="12355B"/>
              </a:solidFill>
              <a:ln>
                <a:noFill/>
              </a:ln>
            </p:spPr>
          </p:sp>
          <p:sp>
            <p:nvSpPr>
              <p:cNvPr id="23" name="TextBox 23"/>
              <p:cNvSpPr txBox="1"/>
              <p:nvPr/>
            </p:nvSpPr>
            <p:spPr>
              <a:xfrm>
                <a:off x="942213" y="2638901"/>
                <a:ext cx="2027358" cy="1081850"/>
              </a:xfrm>
              <a:prstGeom prst="rect">
                <a:avLst/>
              </a:prstGeom>
              <a:noFill/>
              <a:ln>
                <a:noFill/>
              </a:ln>
            </p:spPr>
            <p:txBody>
              <a:bodyPr wrap="none" lIns="0" tIns="0" rIns="0" bIns="0" anchor="t" anchorCtr="0">
                <a:spAutoFit/>
              </a:bodyPr>
              <a:lstStyle/>
              <a:p>
                <a:pPr algn="l">
                  <a:lnSpc>
                    <a:spcPts val="2700"/>
                  </a:lnSpc>
                </a:pPr>
                <a:r>
                  <a:rPr lang="tr-TR" sz="2020" b="1" dirty="0">
                    <a:solidFill>
                      <a:srgbClr val="FFFFFF"/>
                    </a:solidFill>
                    <a:latin typeface="+mn-lt"/>
                    <a:ea typeface="+mn-ea"/>
                    <a:cs typeface="+mn-cs"/>
                  </a:rPr>
                  <a:t>Ön işlenmiş</a:t>
                </a:r>
                <a:br/>
                <a:r>
                  <a:rPr lang="tr-TR" sz="2020" b="1" dirty="0">
                    <a:solidFill>
                      <a:srgbClr val="FFFFFF"/>
                    </a:solidFill>
                    <a:latin typeface="+mn-lt"/>
                    <a:ea typeface="+mn-ea"/>
                    <a:cs typeface="+mn-cs"/>
                  </a:rPr>
                  <a:t>veri</a:t>
                </a:r>
                <a:br/>
                <a:r>
                  <a:rPr lang="tr-TR" sz="2020" b="1" dirty="0">
                    <a:solidFill>
                      <a:srgbClr val="FFFFFF"/>
                    </a:solidFill>
                    <a:latin typeface="+mn-lt"/>
                    <a:ea typeface="+mn-ea"/>
                    <a:cs typeface="+mn-cs"/>
                  </a:rPr>
                  <a:t>(Ch03 çıktısı)</a:t>
                </a:r>
              </a:p>
            </p:txBody>
          </p:sp>
        </p:grpSp>
        <p:grpSp>
          <p:nvGrpSpPr>
            <p:cNvPr id="28" name="map-node-fe"/>
            <p:cNvGrpSpPr/>
            <p:nvPr/>
          </p:nvGrpSpPr>
          <p:grpSpPr>
            <a:xfrm>
              <a:off x="4572000" y="1219200"/>
              <a:ext cx="3810000" cy="723900"/>
              <a:chOff x="4572000" y="1219200"/>
              <a:chExt cx="3810000" cy="723900"/>
            </a:xfrm>
          </p:grpSpPr>
          <p:sp>
            <p:nvSpPr>
              <p:cNvPr id="25" name="Rectangle 25"/>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6" name="TextBox 26"/>
              <p:cNvSpPr txBox="1"/>
              <p:nvPr/>
            </p:nvSpPr>
            <p:spPr>
              <a:xfrm>
                <a:off x="4791456" y="1329690"/>
                <a:ext cx="236603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Özellik mühendisliği</a:t>
                </a:r>
              </a:p>
            </p:txBody>
          </p:sp>
          <p:sp>
            <p:nvSpPr>
              <p:cNvPr id="27" name="TextBox 27"/>
              <p:cNvSpPr txBox="1"/>
              <p:nvPr/>
            </p:nvSpPr>
            <p:spPr>
              <a:xfrm>
                <a:off x="4792599" y="1601629"/>
                <a:ext cx="190902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yeni sütun türetir</a:t>
                </a:r>
              </a:p>
            </p:txBody>
          </p:sp>
        </p:grpSp>
        <p:grpSp>
          <p:nvGrpSpPr>
            <p:cNvPr id="32" name="map-node-pca"/>
            <p:cNvGrpSpPr/>
            <p:nvPr/>
          </p:nvGrpSpPr>
          <p:grpSpPr>
            <a:xfrm>
              <a:off x="4572000" y="2209800"/>
              <a:ext cx="3810000" cy="723900"/>
              <a:chOff x="4572000" y="2209800"/>
              <a:chExt cx="3810000" cy="723900"/>
            </a:xfrm>
          </p:grpSpPr>
          <p:sp>
            <p:nvSpPr>
              <p:cNvPr id="29" name="Rectangle 29"/>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30" name="TextBox 30"/>
              <p:cNvSpPr txBox="1"/>
              <p:nvPr/>
            </p:nvSpPr>
            <p:spPr>
              <a:xfrm>
                <a:off x="4791456" y="2320290"/>
                <a:ext cx="278985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Boyut indirgeme (PCA)</a:t>
                </a:r>
              </a:p>
            </p:txBody>
          </p:sp>
          <p:sp>
            <p:nvSpPr>
              <p:cNvPr id="31" name="TextBox 31"/>
              <p:cNvSpPr txBox="1"/>
              <p:nvPr/>
            </p:nvSpPr>
            <p:spPr>
              <a:xfrm>
                <a:off x="4792599" y="2592229"/>
                <a:ext cx="218553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varyansı sıkıştırır</a:t>
                </a:r>
              </a:p>
            </p:txBody>
          </p:sp>
        </p:grpSp>
        <p:grpSp>
          <p:nvGrpSpPr>
            <p:cNvPr id="36" name="map-node-select"/>
            <p:cNvGrpSpPr/>
            <p:nvPr/>
          </p:nvGrpSpPr>
          <p:grpSpPr>
            <a:xfrm>
              <a:off x="4572000" y="3200400"/>
              <a:ext cx="3810000" cy="723900"/>
              <a:chOff x="4572000" y="3200400"/>
              <a:chExt cx="3810000" cy="723900"/>
            </a:xfrm>
          </p:grpSpPr>
          <p:sp>
            <p:nvSpPr>
              <p:cNvPr id="33" name="Rectangle 33"/>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4" name="TextBox 34"/>
              <p:cNvSpPr txBox="1"/>
              <p:nvPr/>
            </p:nvSpPr>
            <p:spPr>
              <a:xfrm>
                <a:off x="4791456" y="3310890"/>
                <a:ext cx="165374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Özellik seçimi</a:t>
                </a:r>
              </a:p>
            </p:txBody>
          </p:sp>
          <p:sp>
            <p:nvSpPr>
              <p:cNvPr id="35" name="TextBox 35"/>
              <p:cNvSpPr txBox="1"/>
              <p:nvPr/>
            </p:nvSpPr>
            <p:spPr>
              <a:xfrm>
                <a:off x="4792599" y="3582829"/>
                <a:ext cx="214299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gereksiz sütunu eler</a:t>
                </a:r>
              </a:p>
            </p:txBody>
          </p:sp>
        </p:grpSp>
        <p:grpSp>
          <p:nvGrpSpPr>
            <p:cNvPr id="40" name="map-node-tsne"/>
            <p:cNvGrpSpPr/>
            <p:nvPr/>
          </p:nvGrpSpPr>
          <p:grpSpPr>
            <a:xfrm>
              <a:off x="4572000" y="5334000"/>
              <a:ext cx="7010400" cy="723900"/>
              <a:chOff x="4572000" y="5334000"/>
              <a:chExt cx="7010400" cy="723900"/>
            </a:xfrm>
          </p:grpSpPr>
          <p:sp>
            <p:nvSpPr>
              <p:cNvPr id="37" name="Rectangle 37"/>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38" name="TextBox 38"/>
              <p:cNvSpPr txBox="1"/>
              <p:nvPr/>
            </p:nvSpPr>
            <p:spPr>
              <a:xfrm>
                <a:off x="4791456" y="5444490"/>
                <a:ext cx="74767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t-SNE</a:t>
                </a:r>
              </a:p>
            </p:txBody>
          </p:sp>
          <p:sp>
            <p:nvSpPr>
              <p:cNvPr id="39" name="TextBox 39"/>
              <p:cNvSpPr txBox="1"/>
              <p:nvPr/>
            </p:nvSpPr>
            <p:spPr>
              <a:xfrm>
                <a:off x="4792599" y="5716429"/>
                <a:ext cx="485491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yalnızca görselleştirir — model girdisi üretmez</a:t>
                </a:r>
              </a:p>
            </p:txBody>
          </p:sp>
        </p:grpSp>
        <p:grpSp>
          <p:nvGrpSpPr>
            <p:cNvPr id="45" name="map-legend"/>
            <p:cNvGrpSpPr/>
            <p:nvPr/>
          </p:nvGrpSpPr>
          <p:grpSpPr>
            <a:xfrm>
              <a:off x="685800" y="5528310"/>
              <a:ext cx="3238167" cy="577596"/>
              <a:chOff x="685800" y="5528310"/>
              <a:chExt cx="3238167" cy="577596"/>
            </a:xfrm>
          </p:grpSpPr>
          <p:sp>
            <p:nvSpPr>
              <p:cNvPr id="41" name="Line 41"/>
              <p:cNvSpPr/>
              <p:nvPr/>
            </p:nvSpPr>
            <p:spPr>
              <a:xfrm>
                <a:off x="685800" y="5600700"/>
                <a:ext cx="304800" cy="1"/>
              </a:xfrm>
              <a:prstGeom prst="line">
                <a:avLst/>
              </a:prstGeom>
              <a:noFill/>
              <a:ln w="23812">
                <a:solidFill>
                  <a:srgbClr val="00A6A6"/>
                </a:solidFill>
                <a:tailEnd type="arrow" w="lg" len="lg"/>
              </a:ln>
            </p:spPr>
          </p:sp>
          <p:sp>
            <p:nvSpPr>
              <p:cNvPr id="42" name="TextBox 42"/>
              <p:cNvSpPr txBox="1"/>
              <p:nvPr/>
            </p:nvSpPr>
            <p:spPr>
              <a:xfrm>
                <a:off x="1079754" y="5528310"/>
                <a:ext cx="284421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Ön işlenmiş veriden uygulanan teknik</a:t>
                </a:r>
              </a:p>
            </p:txBody>
          </p:sp>
          <p:sp>
            <p:nvSpPr>
              <p:cNvPr id="43" name="Line 43"/>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4" name="TextBox 44"/>
              <p:cNvSpPr txBox="1"/>
              <p:nvPr/>
            </p:nvSpPr>
            <p:spPr>
              <a:xfrm>
                <a:off x="1079754" y="5871210"/>
                <a:ext cx="23436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Sıralama / amaç farkı ilişkisi</a:t>
                </a:r>
              </a:p>
            </p:txBody>
          </p:sp>
        </p:grpSp>
      </p:grpSp>
      <p:sp>
        <p:nvSpPr>
          <p:cNvPr id="47" name="TextBox 4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139729" cy="557403"/>
            <a:chOff x="595122" y="282892"/>
            <a:chExt cx="8139729" cy="557403"/>
          </a:xfrm>
        </p:grpSpPr>
        <p:sp>
          <p:nvSpPr>
            <p:cNvPr id="4" name="TextBox 4"/>
            <p:cNvSpPr txBox="1"/>
            <p:nvPr/>
          </p:nvSpPr>
          <p:spPr>
            <a:xfrm>
              <a:off x="595122" y="282892"/>
              <a:ext cx="813972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Temiz veri, en iyi tahmin anlamına gelmez</a:t>
              </a:r>
            </a:p>
          </p:txBody>
        </p:sp>
      </p:grpSp>
      <p:grpSp>
        <p:nvGrpSpPr>
          <p:cNvPr id="9" name="intro-text"/>
          <p:cNvGrpSpPr/>
          <p:nvPr/>
        </p:nvGrpSpPr>
        <p:grpSpPr>
          <a:xfrm>
            <a:off x="600456" y="1443990"/>
            <a:ext cx="3209544" cy="3875627"/>
            <a:chOff x="600456" y="1443990"/>
            <a:chExt cx="3209544" cy="3875627"/>
          </a:xfrm>
        </p:grpSpPr>
        <p:sp>
          <p:nvSpPr>
            <p:cNvPr id="6" name="TextBox 6"/>
            <p:cNvSpPr txBox="1"/>
            <p:nvPr/>
          </p:nvSpPr>
          <p:spPr>
            <a:xfrm>
              <a:off x="600456" y="1443990"/>
              <a:ext cx="2235708" cy="178079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Elif'in Telco Churn</a:t>
              </a:r>
              <a:br/>
              <a:r>
                <a:rPr lang="tr-TR" sz="1800" dirty="0">
                  <a:solidFill>
                    <a:srgbClr val="172B3A"/>
                  </a:solidFill>
                  <a:latin typeface="+mn-lt"/>
                  <a:ea typeface="+mn-ea"/>
                  <a:cs typeface="+mn-cs"/>
                </a:rPr>
                <a:t>verisi artık temiz —</a:t>
              </a:r>
              <a:br/>
              <a:r>
                <a:rPr lang="tr-TR" sz="1800" dirty="0">
                  <a:solidFill>
                    <a:srgbClr val="172B3A"/>
                  </a:solidFill>
                  <a:latin typeface="+mn-lt"/>
                  <a:ea typeface="+mn-ea"/>
                  <a:cs typeface="+mn-cs"/>
                </a:rPr>
                <a:t>20 ham sütun var:</a:t>
              </a:r>
              <a:br/>
              <a:r>
                <a:rPr lang="tr-TR" sz="1800" dirty="0">
                  <a:solidFill>
                    <a:srgbClr val="172B3A"/>
                  </a:solidFill>
                  <a:latin typeface="+mn-lt"/>
                  <a:ea typeface="+mn-ea"/>
                  <a:cs typeface="+mn-cs"/>
                </a:rPr>
                <a:t>kimlik, ücret,</a:t>
              </a:r>
              <a:br/>
              <a:r>
                <a:rPr lang="tr-TR" sz="1800" dirty="0">
                  <a:solidFill>
                    <a:srgbClr val="172B3A"/>
                  </a:solidFill>
                  <a:latin typeface="+mn-lt"/>
                  <a:ea typeface="+mn-ea"/>
                  <a:cs typeface="+mn-cs"/>
                </a:rPr>
                <a:t>sözleşme, hizmet</a:t>
              </a:r>
              <a:br/>
              <a:r>
                <a:rPr lang="tr-TR" sz="1800" dirty="0">
                  <a:solidFill>
                    <a:srgbClr val="172B3A"/>
                  </a:solidFill>
                  <a:latin typeface="+mn-lt"/>
                  <a:ea typeface="+mn-ea"/>
                  <a:cs typeface="+mn-cs"/>
                </a:rPr>
                <a:t>sayısı gibi alanlar.</a:t>
              </a:r>
            </a:p>
          </p:txBody>
        </p:sp>
        <p:sp>
          <p:nvSpPr>
            <p:cNvPr id="7" name="Rectangle 7"/>
            <p:cNvSpPr/>
            <p:nvPr/>
          </p:nvSpPr>
          <p:spPr>
            <a:xfrm>
              <a:off x="609600" y="4038600"/>
              <a:ext cx="3200400" cy="38100"/>
            </a:xfrm>
            <a:prstGeom prst="rect">
              <a:avLst/>
            </a:prstGeom>
            <a:solidFill>
              <a:srgbClr val="00A6A6"/>
            </a:solidFill>
            <a:ln>
              <a:noFill/>
            </a:ln>
          </p:spPr>
        </p:sp>
        <p:sp>
          <p:nvSpPr>
            <p:cNvPr id="8" name="TextBox 8"/>
            <p:cNvSpPr txBox="1"/>
            <p:nvPr/>
          </p:nvSpPr>
          <p:spPr>
            <a:xfrm>
              <a:off x="601599" y="4211479"/>
              <a:ext cx="2080793" cy="1108138"/>
            </a:xfrm>
            <a:prstGeom prst="rect">
              <a:avLst/>
            </a:prstGeom>
            <a:noFill/>
            <a:ln>
              <a:noFill/>
            </a:ln>
          </p:spPr>
          <p:txBody>
            <a:bodyPr wrap="none" lIns="0" tIns="0" rIns="0" bIns="0" anchor="t" anchorCtr="0">
              <a:spAutoFit/>
            </a:bodyPr>
            <a:lstStyle/>
            <a:p>
              <a:pPr algn="l">
                <a:lnSpc>
                  <a:spcPts val="2100"/>
                </a:lnSpc>
              </a:pPr>
              <a:r>
                <a:rPr lang="tr-TR" sz="1580" b="1" dirty="0">
                  <a:solidFill>
                    <a:srgbClr val="12355B"/>
                  </a:solidFill>
                  <a:latin typeface="+mn-lt"/>
                  <a:ea typeface="+mn-ea"/>
                  <a:cs typeface="+mn-cs"/>
                </a:rPr>
                <a:t>Model bu sütunları</a:t>
              </a:r>
              <a:br/>
              <a:r>
                <a:rPr lang="tr-TR" sz="1580" b="1" dirty="0">
                  <a:solidFill>
                    <a:srgbClr val="12355B"/>
                  </a:solidFill>
                  <a:latin typeface="+mn-lt"/>
                  <a:ea typeface="+mn-ea"/>
                  <a:cs typeface="+mn-cs"/>
                </a:rPr>
                <a:t>olduğu gibi kullanır,</a:t>
              </a:r>
              <a:br/>
              <a:r>
                <a:rPr lang="tr-TR" sz="1580" b="1" dirty="0">
                  <a:solidFill>
                    <a:srgbClr val="12355B"/>
                  </a:solidFill>
                  <a:latin typeface="+mn-lt"/>
                  <a:ea typeface="+mn-ea"/>
                  <a:cs typeface="+mn-cs"/>
                </a:rPr>
                <a:t>ama en güçlü sinyali</a:t>
              </a:r>
              <a:br/>
              <a:r>
                <a:rPr lang="tr-TR" sz="1580" b="1" dirty="0">
                  <a:solidFill>
                    <a:srgbClr val="12355B"/>
                  </a:solidFill>
                  <a:latin typeface="+mn-lt"/>
                  <a:ea typeface="+mn-ea"/>
                  <a:cs typeface="+mn-cs"/>
                </a:rPr>
                <a:t>kaçırabilir.</a:t>
              </a:r>
            </a:p>
          </p:txBody>
        </p:sp>
      </p:grpSp>
      <p:grpSp>
        <p:nvGrpSpPr>
          <p:cNvPr id="16" name="problem-gizli"/>
          <p:cNvGrpSpPr/>
          <p:nvPr/>
        </p:nvGrpSpPr>
        <p:grpSpPr>
          <a:xfrm>
            <a:off x="5257800" y="1333500"/>
            <a:ext cx="2476500" cy="1333500"/>
            <a:chOff x="5257800" y="1333500"/>
            <a:chExt cx="2476500" cy="1333500"/>
          </a:xfrm>
        </p:grpSpPr>
        <p:sp>
          <p:nvSpPr>
            <p:cNvPr id="10" name="Rectangle 10"/>
            <p:cNvSpPr/>
            <p:nvPr/>
          </p:nvSpPr>
          <p:spPr>
            <a:xfrm>
              <a:off x="5257800" y="1333500"/>
              <a:ext cx="2476500" cy="1333500"/>
            </a:xfrm>
            <a:prstGeom prst="roundRect">
              <a:avLst>
                <a:gd name="adj" fmla="val 7143"/>
              </a:avLst>
            </a:prstGeom>
            <a:solidFill>
              <a:srgbClr val="FFFFFF"/>
            </a:solidFill>
            <a:ln w="14288">
              <a:solidFill>
                <a:srgbClr val="B8CBD3"/>
              </a:solidFill>
            </a:ln>
          </p:spPr>
        </p:sp>
        <p:sp>
          <p:nvSpPr>
            <p:cNvPr id="11" name="Freeform 11"/>
            <p:cNvSpPr/>
            <p:nvPr/>
          </p:nvSpPr>
          <p:spPr>
            <a:xfrm>
              <a:off x="6286500" y="1504950"/>
              <a:ext cx="419100" cy="381000"/>
            </a:xfrm>
            <a:custGeom>
              <a:avLst/>
              <a:gdLst/>
              <a:ahLst/>
              <a:cxnLst/>
              <a:rect l="l" t="t" r="r" b="b"/>
              <a:pathLst>
                <a:path w="419100" h="381000">
                  <a:moveTo>
                    <a:pt x="209550" y="0"/>
                  </a:moveTo>
                  <a:lnTo>
                    <a:pt x="419100" y="381000"/>
                  </a:lnTo>
                  <a:lnTo>
                    <a:pt x="0" y="381000"/>
                  </a:lnTo>
                  <a:close/>
                </a:path>
              </a:pathLst>
            </a:custGeom>
            <a:noFill/>
            <a:ln w="23812">
              <a:solidFill>
                <a:srgbClr val="2E86AB"/>
              </a:solidFill>
              <a:round/>
            </a:ln>
          </p:spPr>
        </p:sp>
        <p:sp>
          <p:nvSpPr>
            <p:cNvPr id="12" name="Line 12"/>
            <p:cNvSpPr/>
            <p:nvPr/>
          </p:nvSpPr>
          <p:spPr>
            <a:xfrm>
              <a:off x="6496050" y="1638300"/>
              <a:ext cx="9525" cy="114300"/>
            </a:xfrm>
            <a:custGeom>
              <a:avLst/>
              <a:gdLst/>
              <a:ahLst/>
              <a:cxnLst/>
              <a:rect l="l" t="t" r="r" b="b"/>
              <a:pathLst>
                <a:path w="9525" h="114300">
                  <a:moveTo>
                    <a:pt x="0" y="0"/>
                  </a:moveTo>
                  <a:lnTo>
                    <a:pt x="0" y="114300"/>
                  </a:lnTo>
                </a:path>
              </a:pathLst>
            </a:custGeom>
            <a:noFill/>
            <a:ln w="23812">
              <a:solidFill>
                <a:srgbClr val="2E86AB"/>
              </a:solidFill>
            </a:ln>
          </p:spPr>
        </p:sp>
        <p:sp>
          <p:nvSpPr>
            <p:cNvPr id="13" name="Ellipse 13"/>
            <p:cNvSpPr/>
            <p:nvPr/>
          </p:nvSpPr>
          <p:spPr>
            <a:xfrm>
              <a:off x="6480810" y="1813560"/>
              <a:ext cx="30480" cy="30480"/>
            </a:xfrm>
            <a:prstGeom prst="ellipse">
              <a:avLst/>
            </a:prstGeom>
            <a:solidFill>
              <a:srgbClr val="2E86AB"/>
            </a:solidFill>
            <a:ln>
              <a:noFill/>
            </a:ln>
          </p:spPr>
        </p:sp>
        <p:sp>
          <p:nvSpPr>
            <p:cNvPr id="14" name="TextBox 14"/>
            <p:cNvSpPr txBox="1"/>
            <p:nvPr/>
          </p:nvSpPr>
          <p:spPr>
            <a:xfrm>
              <a:off x="5731247" y="2020729"/>
              <a:ext cx="1529605"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Örtük ilişkiler</a:t>
              </a:r>
            </a:p>
          </p:txBody>
        </p:sp>
        <p:sp>
          <p:nvSpPr>
            <p:cNvPr id="15" name="TextBox 15"/>
            <p:cNvSpPr txBox="1"/>
            <p:nvPr/>
          </p:nvSpPr>
          <p:spPr>
            <a:xfrm>
              <a:off x="5310683" y="2308860"/>
              <a:ext cx="2370734"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oran, kıdem ham sütunda gizli</a:t>
              </a:r>
            </a:p>
          </p:txBody>
        </p:sp>
      </p:grpSp>
      <p:grpSp>
        <p:nvGrpSpPr>
          <p:cNvPr id="23" name="problem-boyut"/>
          <p:cNvGrpSpPr/>
          <p:nvPr/>
        </p:nvGrpSpPr>
        <p:grpSpPr>
          <a:xfrm>
            <a:off x="8115300" y="1333500"/>
            <a:ext cx="2476500" cy="1333500"/>
            <a:chOff x="8115300" y="1333500"/>
            <a:chExt cx="2476500" cy="1333500"/>
          </a:xfrm>
        </p:grpSpPr>
        <p:sp>
          <p:nvSpPr>
            <p:cNvPr id="17" name="Rectangle 17"/>
            <p:cNvSpPr/>
            <p:nvPr/>
          </p:nvSpPr>
          <p:spPr>
            <a:xfrm>
              <a:off x="8115300" y="1333500"/>
              <a:ext cx="2476500" cy="1333500"/>
            </a:xfrm>
            <a:prstGeom prst="roundRect">
              <a:avLst>
                <a:gd name="adj" fmla="val 7143"/>
              </a:avLst>
            </a:prstGeom>
            <a:solidFill>
              <a:srgbClr val="FFFFFF"/>
            </a:solidFill>
            <a:ln w="14288">
              <a:solidFill>
                <a:srgbClr val="B8CBD3"/>
              </a:solidFill>
            </a:ln>
          </p:spPr>
        </p:sp>
        <p:sp>
          <p:nvSpPr>
            <p:cNvPr id="18" name="Freeform 18"/>
            <p:cNvSpPr/>
            <p:nvPr/>
          </p:nvSpPr>
          <p:spPr>
            <a:xfrm>
              <a:off x="9144000" y="1504950"/>
              <a:ext cx="419100" cy="381000"/>
            </a:xfrm>
            <a:custGeom>
              <a:avLst/>
              <a:gdLst/>
              <a:ahLst/>
              <a:cxnLst/>
              <a:rect l="l" t="t" r="r" b="b"/>
              <a:pathLst>
                <a:path w="419100" h="381000">
                  <a:moveTo>
                    <a:pt x="209550" y="0"/>
                  </a:moveTo>
                  <a:lnTo>
                    <a:pt x="419100" y="381000"/>
                  </a:lnTo>
                  <a:lnTo>
                    <a:pt x="0" y="381000"/>
                  </a:lnTo>
                  <a:close/>
                </a:path>
              </a:pathLst>
            </a:custGeom>
            <a:noFill/>
            <a:ln w="23812">
              <a:solidFill>
                <a:srgbClr val="2E86AB"/>
              </a:solidFill>
              <a:round/>
            </a:ln>
          </p:spPr>
        </p:sp>
        <p:sp>
          <p:nvSpPr>
            <p:cNvPr id="19" name="Line 19"/>
            <p:cNvSpPr/>
            <p:nvPr/>
          </p:nvSpPr>
          <p:spPr>
            <a:xfrm>
              <a:off x="9353550" y="1638300"/>
              <a:ext cx="9525" cy="114300"/>
            </a:xfrm>
            <a:custGeom>
              <a:avLst/>
              <a:gdLst/>
              <a:ahLst/>
              <a:cxnLst/>
              <a:rect l="l" t="t" r="r" b="b"/>
              <a:pathLst>
                <a:path w="9525" h="114300">
                  <a:moveTo>
                    <a:pt x="0" y="0"/>
                  </a:moveTo>
                  <a:lnTo>
                    <a:pt x="0" y="114300"/>
                  </a:lnTo>
                </a:path>
              </a:pathLst>
            </a:custGeom>
            <a:noFill/>
            <a:ln w="23812">
              <a:solidFill>
                <a:srgbClr val="2E86AB"/>
              </a:solidFill>
            </a:ln>
          </p:spPr>
        </p:sp>
        <p:sp>
          <p:nvSpPr>
            <p:cNvPr id="20" name="Ellipse 20"/>
            <p:cNvSpPr/>
            <p:nvPr/>
          </p:nvSpPr>
          <p:spPr>
            <a:xfrm>
              <a:off x="9338310" y="1813560"/>
              <a:ext cx="30480" cy="30480"/>
            </a:xfrm>
            <a:prstGeom prst="ellipse">
              <a:avLst/>
            </a:prstGeom>
            <a:solidFill>
              <a:srgbClr val="2E86AB"/>
            </a:solidFill>
            <a:ln>
              <a:noFill/>
            </a:ln>
          </p:spPr>
        </p:sp>
        <p:sp>
          <p:nvSpPr>
            <p:cNvPr id="21" name="TextBox 21"/>
            <p:cNvSpPr txBox="1"/>
            <p:nvPr/>
          </p:nvSpPr>
          <p:spPr>
            <a:xfrm>
              <a:off x="8571410" y="2020729"/>
              <a:ext cx="1564280"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Büyüyen boyut</a:t>
              </a:r>
            </a:p>
          </p:txBody>
        </p:sp>
        <p:sp>
          <p:nvSpPr>
            <p:cNvPr id="22" name="TextBox 22"/>
            <p:cNvSpPr txBox="1"/>
            <p:nvPr/>
          </p:nvSpPr>
          <p:spPr>
            <a:xfrm>
              <a:off x="8188376" y="2308860"/>
              <a:ext cx="2330348"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türetimle 40-50 sütuna çıkar</a:t>
              </a:r>
            </a:p>
          </p:txBody>
        </p:sp>
      </p:grpSp>
      <p:grpSp>
        <p:nvGrpSpPr>
          <p:cNvPr id="30" name="problem-tekrar"/>
          <p:cNvGrpSpPr/>
          <p:nvPr/>
        </p:nvGrpSpPr>
        <p:grpSpPr>
          <a:xfrm>
            <a:off x="4986680" y="2857500"/>
            <a:ext cx="5876239" cy="1333500"/>
            <a:chOff x="4986680" y="2857500"/>
            <a:chExt cx="5876239" cy="1333500"/>
          </a:xfrm>
        </p:grpSpPr>
        <p:sp>
          <p:nvSpPr>
            <p:cNvPr id="24" name="Rectangle 24"/>
            <p:cNvSpPr/>
            <p:nvPr/>
          </p:nvSpPr>
          <p:spPr>
            <a:xfrm>
              <a:off x="5257800" y="2857500"/>
              <a:ext cx="5334000" cy="1333500"/>
            </a:xfrm>
            <a:prstGeom prst="roundRect">
              <a:avLst>
                <a:gd name="adj" fmla="val 7143"/>
              </a:avLst>
            </a:prstGeom>
            <a:solidFill>
              <a:srgbClr val="FFFFFF"/>
            </a:solidFill>
            <a:ln w="14288">
              <a:solidFill>
                <a:srgbClr val="B8CBD3"/>
              </a:solidFill>
            </a:ln>
          </p:spPr>
        </p:sp>
        <p:sp>
          <p:nvSpPr>
            <p:cNvPr id="25" name="Freeform 25"/>
            <p:cNvSpPr/>
            <p:nvPr/>
          </p:nvSpPr>
          <p:spPr>
            <a:xfrm>
              <a:off x="7715250" y="3028950"/>
              <a:ext cx="419100" cy="381000"/>
            </a:xfrm>
            <a:custGeom>
              <a:avLst/>
              <a:gdLst/>
              <a:ahLst/>
              <a:cxnLst/>
              <a:rect l="l" t="t" r="r" b="b"/>
              <a:pathLst>
                <a:path w="419100" h="381000">
                  <a:moveTo>
                    <a:pt x="209550" y="0"/>
                  </a:moveTo>
                  <a:lnTo>
                    <a:pt x="419100" y="381000"/>
                  </a:lnTo>
                  <a:lnTo>
                    <a:pt x="0" y="381000"/>
                  </a:lnTo>
                  <a:close/>
                </a:path>
              </a:pathLst>
            </a:custGeom>
            <a:noFill/>
            <a:ln w="23812">
              <a:solidFill>
                <a:srgbClr val="2E86AB"/>
              </a:solidFill>
              <a:round/>
            </a:ln>
          </p:spPr>
        </p:sp>
        <p:sp>
          <p:nvSpPr>
            <p:cNvPr id="26" name="Line 26"/>
            <p:cNvSpPr/>
            <p:nvPr/>
          </p:nvSpPr>
          <p:spPr>
            <a:xfrm>
              <a:off x="7924800" y="3162300"/>
              <a:ext cx="9525" cy="114300"/>
            </a:xfrm>
            <a:custGeom>
              <a:avLst/>
              <a:gdLst/>
              <a:ahLst/>
              <a:cxnLst/>
              <a:rect l="l" t="t" r="r" b="b"/>
              <a:pathLst>
                <a:path w="9525" h="114300">
                  <a:moveTo>
                    <a:pt x="0" y="0"/>
                  </a:moveTo>
                  <a:lnTo>
                    <a:pt x="0" y="114300"/>
                  </a:lnTo>
                </a:path>
              </a:pathLst>
            </a:custGeom>
            <a:noFill/>
            <a:ln w="23812">
              <a:solidFill>
                <a:srgbClr val="2E86AB"/>
              </a:solidFill>
            </a:ln>
          </p:spPr>
        </p:sp>
        <p:sp>
          <p:nvSpPr>
            <p:cNvPr id="27" name="Ellipse 27"/>
            <p:cNvSpPr/>
            <p:nvPr/>
          </p:nvSpPr>
          <p:spPr>
            <a:xfrm>
              <a:off x="7909560" y="3337560"/>
              <a:ext cx="30480" cy="30480"/>
            </a:xfrm>
            <a:prstGeom prst="ellipse">
              <a:avLst/>
            </a:prstGeom>
            <a:solidFill>
              <a:srgbClr val="2E86AB"/>
            </a:solidFill>
            <a:ln>
              <a:noFill/>
            </a:ln>
          </p:spPr>
        </p:sp>
        <p:sp>
          <p:nvSpPr>
            <p:cNvPr id="28" name="TextBox 28"/>
            <p:cNvSpPr txBox="1"/>
            <p:nvPr/>
          </p:nvSpPr>
          <p:spPr>
            <a:xfrm>
              <a:off x="7008881" y="3544729"/>
              <a:ext cx="1831839"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Tekrar eden bilgi</a:t>
              </a:r>
            </a:p>
          </p:txBody>
        </p:sp>
        <p:sp>
          <p:nvSpPr>
            <p:cNvPr id="29" name="TextBox 29"/>
            <p:cNvSpPr txBox="1"/>
            <p:nvPr/>
          </p:nvSpPr>
          <p:spPr>
            <a:xfrm>
              <a:off x="4986680" y="3832860"/>
              <a:ext cx="5876239"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aylık/toplam ücret gibi korelasyonlu sütunlar katsayıyı kararsızlaştırır</a:t>
              </a:r>
            </a:p>
          </p:txBody>
        </p:sp>
      </p:grpSp>
      <p:sp>
        <p:nvSpPr>
          <p:cNvPr id="31" name="Line 31"/>
          <p:cNvSpPr/>
          <p:nvPr/>
        </p:nvSpPr>
        <p:spPr>
          <a:xfrm>
            <a:off x="6496050" y="2667000"/>
            <a:ext cx="552450" cy="952500"/>
          </a:xfrm>
          <a:prstGeom prst="line">
            <a:avLst/>
          </a:prstGeom>
          <a:noFill/>
          <a:ln w="19050">
            <a:solidFill>
              <a:srgbClr val="00A6A6"/>
            </a:solidFill>
            <a:custDash>
              <a:ds d="250000" sp="200000"/>
            </a:custDash>
            <a:tailEnd type="arrow" w="lg" len="lg"/>
          </a:ln>
        </p:spPr>
      </p:sp>
      <p:sp>
        <p:nvSpPr>
          <p:cNvPr id="32" name="Line 32"/>
          <p:cNvSpPr/>
          <p:nvPr/>
        </p:nvSpPr>
        <p:spPr>
          <a:xfrm flipH="1">
            <a:off x="8858250" y="2667000"/>
            <a:ext cx="495300" cy="952500"/>
          </a:xfrm>
          <a:prstGeom prst="line">
            <a:avLst/>
          </a:prstGeom>
          <a:noFill/>
          <a:ln w="19050">
            <a:solidFill>
              <a:srgbClr val="00A6A6"/>
            </a:solidFill>
            <a:custDash>
              <a:ds d="250000" sp="200000"/>
            </a:custDash>
            <a:tailEnd type="arrow" w="lg" len="lg"/>
          </a:ln>
        </p:spPr>
      </p:sp>
      <p:sp>
        <p:nvSpPr>
          <p:cNvPr id="33" name="Line 33"/>
          <p:cNvSpPr/>
          <p:nvPr/>
        </p:nvSpPr>
        <p:spPr>
          <a:xfrm>
            <a:off x="7924800" y="4191000"/>
            <a:ext cx="1" cy="381000"/>
          </a:xfrm>
          <a:prstGeom prst="line">
            <a:avLst/>
          </a:prstGeom>
          <a:noFill/>
          <a:ln w="19050">
            <a:solidFill>
              <a:srgbClr val="00A6A6"/>
            </a:solidFill>
            <a:custDash>
              <a:ds d="250000" sp="200000"/>
            </a:custDash>
            <a:tailEnd type="arrow" w="lg" len="lg"/>
          </a:ln>
        </p:spPr>
      </p:sp>
      <p:grpSp>
        <p:nvGrpSpPr>
          <p:cNvPr id="39" name="outcome-box"/>
          <p:cNvGrpSpPr/>
          <p:nvPr/>
        </p:nvGrpSpPr>
        <p:grpSpPr>
          <a:xfrm>
            <a:off x="5257800" y="4610100"/>
            <a:ext cx="5334000" cy="1485900"/>
            <a:chOff x="5257800" y="4610100"/>
            <a:chExt cx="5334000" cy="1485900"/>
          </a:xfrm>
        </p:grpSpPr>
        <p:sp>
          <p:nvSpPr>
            <p:cNvPr id="34" name="Rectangle 34"/>
            <p:cNvSpPr/>
            <p:nvPr/>
          </p:nvSpPr>
          <p:spPr>
            <a:xfrm>
              <a:off x="5257800" y="4610100"/>
              <a:ext cx="5334000" cy="1485900"/>
            </a:xfrm>
            <a:prstGeom prst="roundRect">
              <a:avLst>
                <a:gd name="adj" fmla="val 6410"/>
              </a:avLst>
            </a:prstGeom>
            <a:solidFill>
              <a:srgbClr val="12355B"/>
            </a:solidFill>
            <a:ln>
              <a:noFill/>
            </a:ln>
          </p:spPr>
        </p:sp>
        <p:sp>
          <p:nvSpPr>
            <p:cNvPr id="35" name="TextBox 35"/>
            <p:cNvSpPr txBox="1"/>
            <p:nvPr/>
          </p:nvSpPr>
          <p:spPr>
            <a:xfrm>
              <a:off x="6355207" y="4812982"/>
              <a:ext cx="3139185" cy="322707"/>
            </a:xfrm>
            <a:prstGeom prst="rect">
              <a:avLst/>
            </a:prstGeom>
            <a:noFill/>
            <a:ln>
              <a:noFill/>
            </a:ln>
          </p:spPr>
          <p:txBody>
            <a:bodyPr wrap="none" lIns="0" tIns="0" rIns="0" bIns="0" anchor="t" anchorCtr="0">
              <a:spAutoFit/>
            </a:bodyPr>
            <a:lstStyle/>
            <a:p>
              <a:pPr algn="ctr"/>
              <a:r>
                <a:rPr lang="tr-TR" sz="1650" b="1" dirty="0">
                  <a:solidFill>
                    <a:srgbClr val="FFFFFF"/>
                  </a:solidFill>
                  <a:latin typeface="+mn-lt"/>
                  <a:ea typeface="+mn-ea"/>
                  <a:cs typeface="+mn-cs"/>
                </a:rPr>
                <a:t>Türet, sıkıştır ya da ele —</a:t>
              </a:r>
            </a:p>
          </p:txBody>
        </p:sp>
        <p:sp>
          <p:nvSpPr>
            <p:cNvPr id="36" name="TextBox 36"/>
            <p:cNvSpPr txBox="1"/>
            <p:nvPr/>
          </p:nvSpPr>
          <p:spPr>
            <a:xfrm>
              <a:off x="6613979" y="5112068"/>
              <a:ext cx="2621642" cy="264033"/>
            </a:xfrm>
            <a:prstGeom prst="rect">
              <a:avLst/>
            </a:prstGeom>
            <a:noFill/>
            <a:ln>
              <a:noFill/>
            </a:ln>
          </p:spPr>
          <p:txBody>
            <a:bodyPr wrap="none" lIns="0" tIns="0" rIns="0" bIns="0" anchor="t" anchorCtr="0">
              <a:spAutoFit/>
            </a:bodyPr>
            <a:lstStyle/>
            <a:p>
              <a:pPr algn="ctr"/>
              <a:r>
                <a:rPr lang="tr-TR" sz="1350" dirty="0">
                  <a:solidFill>
                    <a:srgbClr val="EAF4F6"/>
                  </a:solidFill>
                  <a:latin typeface="+mn-lt"/>
                  <a:ea typeface="+mn-ea"/>
                  <a:cs typeface="+mn-cs"/>
                </a:rPr>
                <a:t>bu üç disiplin birbirinin yerine</a:t>
              </a:r>
            </a:p>
          </p:txBody>
        </p:sp>
        <p:sp>
          <p:nvSpPr>
            <p:cNvPr id="37" name="TextBox 37"/>
            <p:cNvSpPr txBox="1"/>
            <p:nvPr/>
          </p:nvSpPr>
          <p:spPr>
            <a:xfrm>
              <a:off x="6723021" y="5340668"/>
              <a:ext cx="2403558" cy="264033"/>
            </a:xfrm>
            <a:prstGeom prst="rect">
              <a:avLst/>
            </a:prstGeom>
            <a:noFill/>
            <a:ln>
              <a:noFill/>
            </a:ln>
          </p:spPr>
          <p:txBody>
            <a:bodyPr wrap="none" lIns="0" tIns="0" rIns="0" bIns="0" anchor="t" anchorCtr="0">
              <a:spAutoFit/>
            </a:bodyPr>
            <a:lstStyle/>
            <a:p>
              <a:pPr algn="ctr"/>
              <a:r>
                <a:rPr lang="tr-TR" sz="1350" dirty="0">
                  <a:solidFill>
                    <a:srgbClr val="EAF4F6"/>
                  </a:solidFill>
                  <a:latin typeface="+mn-lt"/>
                  <a:ea typeface="+mn-ea"/>
                  <a:cs typeface="+mn-cs"/>
                </a:rPr>
                <a:t>geçmez, birbirini tamamlar</a:t>
              </a:r>
            </a:p>
          </p:txBody>
        </p:sp>
        <p:sp>
          <p:nvSpPr>
            <p:cNvPr id="38" name="TextBox 38"/>
            <p:cNvSpPr txBox="1"/>
            <p:nvPr/>
          </p:nvSpPr>
          <p:spPr>
            <a:xfrm>
              <a:off x="6683644" y="5645468"/>
              <a:ext cx="2482313" cy="264033"/>
            </a:xfrm>
            <a:prstGeom prst="rect">
              <a:avLst/>
            </a:prstGeom>
            <a:noFill/>
            <a:ln>
              <a:noFill/>
            </a:ln>
          </p:spPr>
          <p:txBody>
            <a:bodyPr wrap="none" lIns="0" tIns="0" rIns="0" bIns="0" anchor="t" anchorCtr="0">
              <a:spAutoFit/>
            </a:bodyPr>
            <a:lstStyle/>
            <a:p>
              <a:pPr algn="ctr"/>
              <a:r>
                <a:rPr lang="tr-TR" sz="1350" dirty="0">
                  <a:solidFill>
                    <a:srgbClr val="00A6A6"/>
                  </a:solidFill>
                  <a:latin typeface="+mn-lt"/>
                  <a:ea typeface="+mn-ea"/>
                  <a:cs typeface="+mn-cs"/>
                </a:rPr>
                <a:t>Bu bölüm bu boşluğu kapatır</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8205020" cy="668845"/>
            <a:chOff x="609600" y="171450"/>
            <a:chExt cx="8205020"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751464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Özellik mühendisliği: tanım ve gerekçe</a:t>
              </a:r>
            </a:p>
          </p:txBody>
        </p:sp>
      </p:grpSp>
      <p:grpSp>
        <p:nvGrpSpPr>
          <p:cNvPr id="30" name="def-panel"/>
          <p:cNvGrpSpPr/>
          <p:nvPr/>
        </p:nvGrpSpPr>
        <p:grpSpPr>
          <a:xfrm>
            <a:off x="609600" y="1219200"/>
            <a:ext cx="5334000" cy="4000500"/>
            <a:chOff x="609600" y="1219200"/>
            <a:chExt cx="5334000" cy="4000500"/>
          </a:xfrm>
        </p:grpSpPr>
        <p:sp>
          <p:nvSpPr>
            <p:cNvPr id="13" name="Rectangle 13"/>
            <p:cNvSpPr/>
            <p:nvPr/>
          </p:nvSpPr>
          <p:spPr>
            <a:xfrm>
              <a:off x="609600" y="1219200"/>
              <a:ext cx="5334000" cy="4000500"/>
            </a:xfrm>
            <a:prstGeom prst="roundRect">
              <a:avLst>
                <a:gd name="adj" fmla="val 2381"/>
              </a:avLst>
            </a:prstGeom>
            <a:solidFill>
              <a:srgbClr val="FFFFFF"/>
            </a:solidFill>
            <a:ln w="14288">
              <a:solidFill>
                <a:srgbClr val="B8CBD3"/>
              </a:solidFill>
            </a:ln>
          </p:spPr>
        </p:sp>
        <p:sp>
          <p:nvSpPr>
            <p:cNvPr id="14" name="Rectangle 14"/>
            <p:cNvSpPr/>
            <p:nvPr/>
          </p:nvSpPr>
          <p:spPr>
            <a:xfrm>
              <a:off x="609600" y="1219200"/>
              <a:ext cx="5334000" cy="457200"/>
            </a:xfrm>
            <a:prstGeom prst="roundRect">
              <a:avLst>
                <a:gd name="adj" fmla="val 20833"/>
              </a:avLst>
            </a:prstGeom>
            <a:solidFill>
              <a:srgbClr val="12355B"/>
            </a:solidFill>
            <a:ln>
              <a:noFill/>
            </a:ln>
          </p:spPr>
        </p:sp>
        <p:sp>
          <p:nvSpPr>
            <p:cNvPr id="15" name="Rectangle 15"/>
            <p:cNvSpPr/>
            <p:nvPr/>
          </p:nvSpPr>
          <p:spPr>
            <a:xfrm>
              <a:off x="609600" y="1447800"/>
              <a:ext cx="5334000" cy="228600"/>
            </a:xfrm>
            <a:prstGeom prst="rect">
              <a:avLst/>
            </a:prstGeom>
            <a:solidFill>
              <a:srgbClr val="12355B"/>
            </a:solidFill>
            <a:ln>
              <a:noFill/>
            </a:ln>
          </p:spPr>
        </p:sp>
        <p:sp>
          <p:nvSpPr>
            <p:cNvPr id="16" name="TextBox 16"/>
            <p:cNvSpPr txBox="1"/>
            <p:nvPr/>
          </p:nvSpPr>
          <p:spPr>
            <a:xfrm>
              <a:off x="830199" y="1353979"/>
              <a:ext cx="682298"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Tanım</a:t>
              </a:r>
            </a:p>
          </p:txBody>
        </p:sp>
        <p:sp>
          <p:nvSpPr>
            <p:cNvPr id="17" name="TextBox 17"/>
            <p:cNvSpPr txBox="1"/>
            <p:nvPr/>
          </p:nvSpPr>
          <p:spPr>
            <a:xfrm>
              <a:off x="831342" y="1816418"/>
              <a:ext cx="251875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Ham veride bulunmayan, alan</a:t>
              </a:r>
            </a:p>
          </p:txBody>
        </p:sp>
        <p:sp>
          <p:nvSpPr>
            <p:cNvPr id="18" name="TextBox 18"/>
            <p:cNvSpPr txBox="1"/>
            <p:nvPr/>
          </p:nvSpPr>
          <p:spPr>
            <a:xfrm>
              <a:off x="831342" y="2045018"/>
              <a:ext cx="236721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bilgisi ve istatistiksel akıl</a:t>
              </a:r>
            </a:p>
          </p:txBody>
        </p:sp>
        <p:sp>
          <p:nvSpPr>
            <p:cNvPr id="19" name="TextBox 19"/>
            <p:cNvSpPr txBox="1"/>
            <p:nvPr/>
          </p:nvSpPr>
          <p:spPr>
            <a:xfrm>
              <a:off x="831342" y="2273618"/>
              <a:ext cx="250351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yürütmeyle ham sütunlardan</a:t>
              </a:r>
            </a:p>
          </p:txBody>
        </p:sp>
        <p:sp>
          <p:nvSpPr>
            <p:cNvPr id="20" name="TextBox 20"/>
            <p:cNvSpPr txBox="1"/>
            <p:nvPr/>
          </p:nvSpPr>
          <p:spPr>
            <a:xfrm>
              <a:off x="831342" y="2502218"/>
              <a:ext cx="229451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türetilen yeni değişkenler</a:t>
              </a:r>
            </a:p>
          </p:txBody>
        </p:sp>
        <p:sp>
          <p:nvSpPr>
            <p:cNvPr id="21" name="TextBox 21"/>
            <p:cNvSpPr txBox="1"/>
            <p:nvPr/>
          </p:nvSpPr>
          <p:spPr>
            <a:xfrm>
              <a:off x="831342" y="2730818"/>
              <a:ext cx="186743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oluşturma sürecidir.</a:t>
              </a:r>
            </a:p>
          </p:txBody>
        </p:sp>
        <p:sp>
          <p:nvSpPr>
            <p:cNvPr id="22" name="TextBox 22"/>
            <p:cNvSpPr txBox="1"/>
            <p:nvPr/>
          </p:nvSpPr>
          <p:spPr>
            <a:xfrm>
              <a:off x="832104" y="3128010"/>
              <a:ext cx="44104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Sezgi</a:t>
              </a:r>
            </a:p>
          </p:txBody>
        </p:sp>
        <p:sp>
          <p:nvSpPr>
            <p:cNvPr id="23" name="TextBox 23"/>
            <p:cNvSpPr txBox="1"/>
            <p:nvPr/>
          </p:nvSpPr>
          <p:spPr>
            <a:xfrm>
              <a:off x="832104" y="3356610"/>
              <a:ext cx="462198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Modele "bunu da hesaba kat" demenin bir yolu — model kendi</a:t>
              </a:r>
            </a:p>
          </p:txBody>
        </p:sp>
        <p:sp>
          <p:nvSpPr>
            <p:cNvPr id="24" name="TextBox 24"/>
            <p:cNvSpPr txBox="1"/>
            <p:nvPr/>
          </p:nvSpPr>
          <p:spPr>
            <a:xfrm>
              <a:off x="832104" y="3566160"/>
              <a:ext cx="29522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başına iki sütunu bölmeyi öğrenemez.</a:t>
              </a:r>
            </a:p>
          </p:txBody>
        </p:sp>
        <p:sp>
          <p:nvSpPr>
            <p:cNvPr id="25" name="Rectangle 25"/>
            <p:cNvSpPr/>
            <p:nvPr/>
          </p:nvSpPr>
          <p:spPr>
            <a:xfrm>
              <a:off x="838200" y="3962400"/>
              <a:ext cx="4876800" cy="1028700"/>
            </a:xfrm>
            <a:prstGeom prst="roundRect">
              <a:avLst>
                <a:gd name="adj" fmla="val 7407"/>
              </a:avLst>
            </a:prstGeom>
            <a:solidFill>
              <a:srgbClr val="EAF4F6"/>
            </a:solidFill>
            <a:ln>
              <a:noFill/>
            </a:ln>
          </p:spPr>
        </p:sp>
        <p:sp>
          <p:nvSpPr>
            <p:cNvPr id="26" name="TextBox 26"/>
            <p:cNvSpPr txBox="1"/>
            <p:nvPr/>
          </p:nvSpPr>
          <p:spPr>
            <a:xfrm>
              <a:off x="1060704" y="4118610"/>
              <a:ext cx="123878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Bankacı örneği</a:t>
              </a:r>
            </a:p>
          </p:txBody>
        </p:sp>
        <p:sp>
          <p:nvSpPr>
            <p:cNvPr id="27" name="TextBox 27"/>
            <p:cNvSpPr txBox="1"/>
            <p:nvPr/>
          </p:nvSpPr>
          <p:spPr>
            <a:xfrm>
              <a:off x="1060704" y="4347210"/>
              <a:ext cx="26424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Kredi analisti "aylık gelir" yerine</a:t>
              </a:r>
            </a:p>
          </p:txBody>
        </p:sp>
        <p:sp>
          <p:nvSpPr>
            <p:cNvPr id="28" name="TextBox 28"/>
            <p:cNvSpPr txBox="1"/>
            <p:nvPr/>
          </p:nvSpPr>
          <p:spPr>
            <a:xfrm>
              <a:off x="1060704" y="4556760"/>
              <a:ext cx="252420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"borç/gelir oranını" hesaplar —</a:t>
              </a:r>
            </a:p>
          </p:txBody>
        </p:sp>
        <p:sp>
          <p:nvSpPr>
            <p:cNvPr id="29" name="TextBox 29"/>
            <p:cNvSpPr txBox="1"/>
            <p:nvPr/>
          </p:nvSpPr>
          <p:spPr>
            <a:xfrm>
              <a:off x="1060704" y="4766310"/>
              <a:ext cx="285536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karar tek sütunda değil, ilişkidedir.</a:t>
              </a:r>
            </a:p>
          </p:txBody>
        </p:sp>
      </p:grpSp>
      <p:grpSp>
        <p:nvGrpSpPr>
          <p:cNvPr id="48" name="why-panel"/>
          <p:cNvGrpSpPr/>
          <p:nvPr/>
        </p:nvGrpSpPr>
        <p:grpSpPr>
          <a:xfrm>
            <a:off x="6248400" y="1219200"/>
            <a:ext cx="5426781" cy="4000500"/>
            <a:chOff x="6248400" y="1219200"/>
            <a:chExt cx="5426781" cy="4000500"/>
          </a:xfrm>
        </p:grpSpPr>
        <p:sp>
          <p:nvSpPr>
            <p:cNvPr id="31" name="Rectangle 31"/>
            <p:cNvSpPr/>
            <p:nvPr/>
          </p:nvSpPr>
          <p:spPr>
            <a:xfrm>
              <a:off x="6248400" y="1219200"/>
              <a:ext cx="5334000" cy="4000500"/>
            </a:xfrm>
            <a:prstGeom prst="roundRect">
              <a:avLst>
                <a:gd name="adj" fmla="val 2381"/>
              </a:avLst>
            </a:prstGeom>
            <a:solidFill>
              <a:srgbClr val="FFFFFF"/>
            </a:solidFill>
            <a:ln w="14288">
              <a:solidFill>
                <a:srgbClr val="B8CBD3"/>
              </a:solidFill>
            </a:ln>
          </p:spPr>
        </p:sp>
        <p:sp>
          <p:nvSpPr>
            <p:cNvPr id="32" name="Rectangle 32"/>
            <p:cNvSpPr/>
            <p:nvPr/>
          </p:nvSpPr>
          <p:spPr>
            <a:xfrm>
              <a:off x="6248400" y="1219200"/>
              <a:ext cx="5334000" cy="457200"/>
            </a:xfrm>
            <a:prstGeom prst="roundRect">
              <a:avLst>
                <a:gd name="adj" fmla="val 20833"/>
              </a:avLst>
            </a:prstGeom>
            <a:solidFill>
              <a:srgbClr val="00A6A6"/>
            </a:solidFill>
            <a:ln>
              <a:noFill/>
            </a:ln>
          </p:spPr>
        </p:sp>
        <p:sp>
          <p:nvSpPr>
            <p:cNvPr id="33" name="Rectangle 33"/>
            <p:cNvSpPr/>
            <p:nvPr/>
          </p:nvSpPr>
          <p:spPr>
            <a:xfrm>
              <a:off x="6248400" y="1447800"/>
              <a:ext cx="5334000" cy="228600"/>
            </a:xfrm>
            <a:prstGeom prst="rect">
              <a:avLst/>
            </a:prstGeom>
            <a:solidFill>
              <a:srgbClr val="00A6A6"/>
            </a:solidFill>
            <a:ln>
              <a:noFill/>
            </a:ln>
          </p:spPr>
        </p:sp>
        <p:sp>
          <p:nvSpPr>
            <p:cNvPr id="34" name="TextBox 34"/>
            <p:cNvSpPr txBox="1"/>
            <p:nvPr/>
          </p:nvSpPr>
          <p:spPr>
            <a:xfrm>
              <a:off x="6468999" y="1353979"/>
              <a:ext cx="119680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var?</a:t>
              </a:r>
            </a:p>
          </p:txBody>
        </p:sp>
        <p:sp>
          <p:nvSpPr>
            <p:cNvPr id="35" name="TextBox 35"/>
            <p:cNvSpPr txBox="1"/>
            <p:nvPr/>
          </p:nvSpPr>
          <p:spPr>
            <a:xfrm>
              <a:off x="6470142" y="1816418"/>
              <a:ext cx="282743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Veri tabanı şeması operasyonel</a:t>
              </a:r>
            </a:p>
          </p:txBody>
        </p:sp>
        <p:sp>
          <p:nvSpPr>
            <p:cNvPr id="36" name="TextBox 36"/>
            <p:cNvSpPr txBox="1"/>
            <p:nvPr/>
          </p:nvSpPr>
          <p:spPr>
            <a:xfrm>
              <a:off x="6470142" y="2045018"/>
              <a:ext cx="268525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kayıt için tasarlanır, modelin</a:t>
              </a:r>
            </a:p>
          </p:txBody>
        </p:sp>
        <p:sp>
          <p:nvSpPr>
            <p:cNvPr id="37" name="TextBox 37"/>
            <p:cNvSpPr txBox="1"/>
            <p:nvPr/>
          </p:nvSpPr>
          <p:spPr>
            <a:xfrm>
              <a:off x="6470142" y="2273618"/>
              <a:ext cx="244899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ihtiyacına göre değil — "kaç</a:t>
              </a:r>
            </a:p>
          </p:txBody>
        </p:sp>
        <p:sp>
          <p:nvSpPr>
            <p:cNvPr id="38" name="TextBox 38"/>
            <p:cNvSpPr txBox="1"/>
            <p:nvPr/>
          </p:nvSpPr>
          <p:spPr>
            <a:xfrm>
              <a:off x="6470142" y="2502218"/>
              <a:ext cx="296694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aydır müşterimiz" hiçbir sütunda</a:t>
              </a:r>
            </a:p>
          </p:txBody>
        </p:sp>
        <p:sp>
          <p:nvSpPr>
            <p:cNvPr id="39" name="TextBox 39"/>
            <p:cNvSpPr txBox="1"/>
            <p:nvPr/>
          </p:nvSpPr>
          <p:spPr>
            <a:xfrm>
              <a:off x="6470142" y="2730818"/>
              <a:ext cx="181291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doğrudan yer almaz.</a:t>
              </a:r>
            </a:p>
          </p:txBody>
        </p:sp>
        <p:sp>
          <p:nvSpPr>
            <p:cNvPr id="40" name="TextBox 40"/>
            <p:cNvSpPr txBox="1"/>
            <p:nvPr/>
          </p:nvSpPr>
          <p:spPr>
            <a:xfrm>
              <a:off x="6470904" y="3128010"/>
              <a:ext cx="62776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Tarihçe</a:t>
              </a:r>
            </a:p>
          </p:txBody>
        </p:sp>
        <p:sp>
          <p:nvSpPr>
            <p:cNvPr id="41" name="TextBox 41"/>
            <p:cNvSpPr txBox="1"/>
            <p:nvPr/>
          </p:nvSpPr>
          <p:spPr>
            <a:xfrm>
              <a:off x="6470904" y="3356610"/>
              <a:ext cx="520427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2000'ler ortası – 2010'lar ortası Kaggle yarışmalarında kazanan</a:t>
              </a:r>
            </a:p>
          </p:txBody>
        </p:sp>
        <p:sp>
          <p:nvSpPr>
            <p:cNvPr id="42" name="TextBox 42"/>
            <p:cNvSpPr txBox="1"/>
            <p:nvPr/>
          </p:nvSpPr>
          <p:spPr>
            <a:xfrm>
              <a:off x="6470904" y="3566160"/>
              <a:ext cx="440618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takımlar model değil, öznitelik kalitesiyle ayrışıyordu.</a:t>
              </a:r>
            </a:p>
          </p:txBody>
        </p:sp>
        <p:sp>
          <p:nvSpPr>
            <p:cNvPr id="43" name="Rectangle 43"/>
            <p:cNvSpPr/>
            <p:nvPr/>
          </p:nvSpPr>
          <p:spPr>
            <a:xfrm>
              <a:off x="6477000" y="3962400"/>
              <a:ext cx="4876800" cy="1028700"/>
            </a:xfrm>
            <a:prstGeom prst="roundRect">
              <a:avLst>
                <a:gd name="adj" fmla="val 7407"/>
              </a:avLst>
            </a:prstGeom>
            <a:solidFill>
              <a:srgbClr val="EAF4F6"/>
            </a:solidFill>
            <a:ln>
              <a:noFill/>
            </a:ln>
          </p:spPr>
        </p:sp>
        <p:sp>
          <p:nvSpPr>
            <p:cNvPr id="44" name="TextBox 44"/>
            <p:cNvSpPr txBox="1"/>
            <p:nvPr/>
          </p:nvSpPr>
          <p:spPr>
            <a:xfrm>
              <a:off x="6699504" y="4118610"/>
              <a:ext cx="215446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Tablo verisinde hâlâ kritik</a:t>
              </a:r>
            </a:p>
          </p:txBody>
        </p:sp>
        <p:sp>
          <p:nvSpPr>
            <p:cNvPr id="45" name="TextBox 45"/>
            <p:cNvSpPr txBox="1"/>
            <p:nvPr/>
          </p:nvSpPr>
          <p:spPr>
            <a:xfrm>
              <a:off x="6699504" y="4347210"/>
              <a:ext cx="232772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Derin öğrenme görüntü/sesde</a:t>
              </a:r>
            </a:p>
          </p:txBody>
        </p:sp>
        <p:sp>
          <p:nvSpPr>
            <p:cNvPr id="46" name="TextBox 46"/>
            <p:cNvSpPr txBox="1"/>
            <p:nvPr/>
          </p:nvSpPr>
          <p:spPr>
            <a:xfrm>
              <a:off x="6699504" y="4556760"/>
              <a:ext cx="279077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otomatik öğrenir, ama XGBoost gibi</a:t>
              </a:r>
            </a:p>
          </p:txBody>
        </p:sp>
        <p:sp>
          <p:nvSpPr>
            <p:cNvPr id="47" name="TextBox 47"/>
            <p:cNvSpPr txBox="1"/>
            <p:nvPr/>
          </p:nvSpPr>
          <p:spPr>
            <a:xfrm>
              <a:off x="6699504" y="4766310"/>
              <a:ext cx="322691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modellerde elle türetim hâlâ kazandırır.</a:t>
              </a:r>
            </a:p>
          </p:txBody>
        </p:sp>
      </p:grpSp>
      <p:grpSp>
        <p:nvGrpSpPr>
          <p:cNvPr id="52" name="bottom-note"/>
          <p:cNvGrpSpPr/>
          <p:nvPr/>
        </p:nvGrpSpPr>
        <p:grpSpPr>
          <a:xfrm>
            <a:off x="609600" y="5410200"/>
            <a:ext cx="10972800" cy="723900"/>
            <a:chOff x="609600" y="5410200"/>
            <a:chExt cx="10972800" cy="723900"/>
          </a:xfrm>
        </p:grpSpPr>
        <p:sp>
          <p:nvSpPr>
            <p:cNvPr id="49" name="Rectangle 49"/>
            <p:cNvSpPr/>
            <p:nvPr/>
          </p:nvSpPr>
          <p:spPr>
            <a:xfrm>
              <a:off x="609600" y="5410200"/>
              <a:ext cx="10972800" cy="723900"/>
            </a:xfrm>
            <a:prstGeom prst="roundRect">
              <a:avLst>
                <a:gd name="adj" fmla="val 10526"/>
              </a:avLst>
            </a:prstGeom>
            <a:solidFill>
              <a:srgbClr val="12355B"/>
            </a:solidFill>
            <a:ln>
              <a:noFill/>
            </a:ln>
          </p:spPr>
        </p:sp>
        <p:sp>
          <p:nvSpPr>
            <p:cNvPr id="50" name="TextBox 50"/>
            <p:cNvSpPr txBox="1"/>
            <p:nvPr/>
          </p:nvSpPr>
          <p:spPr>
            <a:xfrm>
              <a:off x="907161" y="5542121"/>
              <a:ext cx="8311049"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"Aylık ücret / toplam ücret" oranı, doğrusal modelde asla kendiliğinden öğrenilmez —</a:t>
              </a:r>
            </a:p>
          </p:txBody>
        </p:sp>
        <p:sp>
          <p:nvSpPr>
            <p:cNvPr id="51" name="TextBox 51"/>
            <p:cNvSpPr txBox="1"/>
            <p:nvPr/>
          </p:nvSpPr>
          <p:spPr>
            <a:xfrm>
              <a:off x="907161" y="5808821"/>
              <a:ext cx="6590396" cy="278702"/>
            </a:xfrm>
            <a:prstGeom prst="rect">
              <a:avLst/>
            </a:prstGeom>
            <a:noFill/>
            <a:ln>
              <a:noFill/>
            </a:ln>
          </p:spPr>
          <p:txBody>
            <a:bodyPr wrap="none" lIns="0" tIns="0" rIns="0" bIns="0" anchor="t" anchorCtr="0">
              <a:spAutoFit/>
            </a:bodyPr>
            <a:lstStyle/>
            <a:p>
              <a:pPr algn="l"/>
              <a:r>
                <a:rPr lang="tr-TR" sz="1420" dirty="0">
                  <a:solidFill>
                    <a:srgbClr val="EAF4F6"/>
                  </a:solidFill>
                  <a:latin typeface="+mn-lt"/>
                  <a:ea typeface="+mn-ea"/>
                  <a:cs typeface="+mn-cs"/>
                </a:rPr>
                <a:t>çünkü doğrusal model yalnızca girdilerin ağırlıklı toplamını hesaplar.</a:t>
              </a:r>
            </a:p>
          </p:txBody>
        </p:sp>
      </p:grpSp>
      <p:sp>
        <p:nvSpPr>
          <p:cNvPr id="53" name="TextBox 5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998898" cy="557403"/>
            <a:chOff x="595122" y="282892"/>
            <a:chExt cx="7998898" cy="557403"/>
          </a:xfrm>
        </p:grpSpPr>
        <p:sp>
          <p:nvSpPr>
            <p:cNvPr id="4" name="TextBox 4"/>
            <p:cNvSpPr txBox="1"/>
            <p:nvPr/>
          </p:nvSpPr>
          <p:spPr>
            <a:xfrm>
              <a:off x="595122" y="282892"/>
              <a:ext cx="799889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Üç öznitelik türü: tarih, oran, etkileşim</a:t>
              </a:r>
            </a:p>
          </p:txBody>
        </p:sp>
      </p:grpSp>
      <p:grpSp>
        <p:nvGrpSpPr>
          <p:cNvPr id="13" name="code-block"/>
          <p:cNvGrpSpPr/>
          <p:nvPr/>
        </p:nvGrpSpPr>
        <p:grpSpPr>
          <a:xfrm>
            <a:off x="609600" y="1219200"/>
            <a:ext cx="10972800" cy="1905000"/>
            <a:chOff x="609600" y="1219200"/>
            <a:chExt cx="10972800" cy="1905000"/>
          </a:xfrm>
        </p:grpSpPr>
        <p:sp>
          <p:nvSpPr>
            <p:cNvPr id="6" name="Rectangle 6"/>
            <p:cNvSpPr/>
            <p:nvPr/>
          </p:nvSpPr>
          <p:spPr>
            <a:xfrm>
              <a:off x="609600" y="1219200"/>
              <a:ext cx="10972800" cy="1905000"/>
            </a:xfrm>
            <a:prstGeom prst="roundRect">
              <a:avLst>
                <a:gd name="adj" fmla="val 5000"/>
              </a:avLst>
            </a:prstGeom>
            <a:solidFill>
              <a:srgbClr val="12355B"/>
            </a:solidFill>
            <a:ln>
              <a:noFill/>
            </a:ln>
          </p:spPr>
        </p:sp>
        <p:sp>
          <p:nvSpPr>
            <p:cNvPr id="7" name="TextBox 7"/>
            <p:cNvSpPr txBox="1"/>
            <p:nvPr/>
          </p:nvSpPr>
          <p:spPr>
            <a:xfrm>
              <a:off x="908304" y="1394460"/>
              <a:ext cx="2951759"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1) Tarih ayrıştırma: kıdem (ay)</a:t>
              </a:r>
            </a:p>
          </p:txBody>
        </p:sp>
        <p:sp>
          <p:nvSpPr>
            <p:cNvPr id="8" name="TextBox 8"/>
            <p:cNvSpPr txBox="1"/>
            <p:nvPr/>
          </p:nvSpPr>
          <p:spPr>
            <a:xfrm>
              <a:off x="908304" y="1623060"/>
              <a:ext cx="6343277"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df["kidemAy"] = (referansTarih - df["sozlesmeBaslangic"]).dt.days // 30</a:t>
              </a:r>
            </a:p>
          </p:txBody>
        </p:sp>
        <p:sp>
          <p:nvSpPr>
            <p:cNvPr id="9" name="TextBox 9"/>
            <p:cNvSpPr txBox="1"/>
            <p:nvPr/>
          </p:nvSpPr>
          <p:spPr>
            <a:xfrm>
              <a:off x="908304" y="1927860"/>
              <a:ext cx="3483849"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2) Oran özniteliği: harcama yoğunluğu</a:t>
              </a:r>
            </a:p>
          </p:txBody>
        </p:sp>
        <p:sp>
          <p:nvSpPr>
            <p:cNvPr id="10" name="TextBox 10"/>
            <p:cNvSpPr txBox="1"/>
            <p:nvPr/>
          </p:nvSpPr>
          <p:spPr>
            <a:xfrm>
              <a:off x="908304" y="2156460"/>
              <a:ext cx="4921326"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df["ucretOrani"] = df["aylikUcret"] / df["toplamUcret"]</a:t>
              </a:r>
            </a:p>
          </p:txBody>
        </p:sp>
        <p:sp>
          <p:nvSpPr>
            <p:cNvPr id="11" name="TextBox 11"/>
            <p:cNvSpPr txBox="1"/>
            <p:nvPr/>
          </p:nvSpPr>
          <p:spPr>
            <a:xfrm>
              <a:off x="908304" y="2461260"/>
              <a:ext cx="3661882"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3) Etkileşim özniteliği: hizmet × ücret</a:t>
              </a:r>
            </a:p>
          </p:txBody>
        </p:sp>
        <p:sp>
          <p:nvSpPr>
            <p:cNvPr id="12" name="TextBox 12"/>
            <p:cNvSpPr txBox="1"/>
            <p:nvPr/>
          </p:nvSpPr>
          <p:spPr>
            <a:xfrm>
              <a:off x="908304" y="2689860"/>
              <a:ext cx="5098648"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df["hizmetUcret"] = df["hizmetSayisi"] * df["aylikUcret"]</a:t>
              </a:r>
            </a:p>
          </p:txBody>
        </p:sp>
      </p:grpSp>
      <p:grpSp>
        <p:nvGrpSpPr>
          <p:cNvPr id="35" name="result-table"/>
          <p:cNvGrpSpPr/>
          <p:nvPr/>
        </p:nvGrpSpPr>
        <p:grpSpPr>
          <a:xfrm>
            <a:off x="609600" y="3314700"/>
            <a:ext cx="10972800" cy="2028825"/>
            <a:chOff x="609600" y="3314700"/>
            <a:chExt cx="10972800" cy="2028825"/>
          </a:xfrm>
        </p:grpSpPr>
        <p:sp>
          <p:nvSpPr>
            <p:cNvPr id="14" name="Rectangle 14"/>
            <p:cNvSpPr/>
            <p:nvPr/>
          </p:nvSpPr>
          <p:spPr>
            <a:xfrm>
              <a:off x="609600" y="3314700"/>
              <a:ext cx="10972800" cy="533400"/>
            </a:xfrm>
            <a:prstGeom prst="rect">
              <a:avLst/>
            </a:prstGeom>
            <a:solidFill>
              <a:srgbClr val="EAF4F6"/>
            </a:solidFill>
            <a:ln>
              <a:noFill/>
            </a:ln>
          </p:spPr>
        </p:sp>
        <p:sp>
          <p:nvSpPr>
            <p:cNvPr id="15" name="TextBox 15"/>
            <p:cNvSpPr txBox="1"/>
            <p:nvPr/>
          </p:nvSpPr>
          <p:spPr>
            <a:xfrm>
              <a:off x="907542" y="3492818"/>
              <a:ext cx="906628"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musteriId</a:t>
              </a:r>
            </a:p>
          </p:txBody>
        </p:sp>
        <p:sp>
          <p:nvSpPr>
            <p:cNvPr id="16" name="TextBox 16"/>
            <p:cNvSpPr txBox="1"/>
            <p:nvPr/>
          </p:nvSpPr>
          <p:spPr>
            <a:xfrm>
              <a:off x="3193542" y="3492818"/>
              <a:ext cx="744710"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kidemAy</a:t>
              </a:r>
            </a:p>
          </p:txBody>
        </p:sp>
        <p:sp>
          <p:nvSpPr>
            <p:cNvPr id="17" name="TextBox 17"/>
            <p:cNvSpPr txBox="1"/>
            <p:nvPr/>
          </p:nvSpPr>
          <p:spPr>
            <a:xfrm>
              <a:off x="5860542" y="3492818"/>
              <a:ext cx="105959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ucretOrani</a:t>
              </a:r>
            </a:p>
          </p:txBody>
        </p:sp>
        <p:sp>
          <p:nvSpPr>
            <p:cNvPr id="18" name="TextBox 18"/>
            <p:cNvSpPr txBox="1"/>
            <p:nvPr/>
          </p:nvSpPr>
          <p:spPr>
            <a:xfrm>
              <a:off x="8527542" y="3492818"/>
              <a:ext cx="116455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hizmetUcret</a:t>
              </a:r>
            </a:p>
          </p:txBody>
        </p:sp>
        <p:sp>
          <p:nvSpPr>
            <p:cNvPr id="19" name="Line 19"/>
            <p:cNvSpPr/>
            <p:nvPr/>
          </p:nvSpPr>
          <p:spPr>
            <a:xfrm>
              <a:off x="609600" y="38481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0" name="TextBox 20"/>
            <p:cNvSpPr txBox="1"/>
            <p:nvPr/>
          </p:nvSpPr>
          <p:spPr>
            <a:xfrm>
              <a:off x="907542" y="4007168"/>
              <a:ext cx="47457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M001</a:t>
              </a:r>
            </a:p>
          </p:txBody>
        </p:sp>
        <p:sp>
          <p:nvSpPr>
            <p:cNvPr id="21" name="TextBox 21"/>
            <p:cNvSpPr txBox="1"/>
            <p:nvPr/>
          </p:nvSpPr>
          <p:spPr>
            <a:xfrm>
              <a:off x="3193542" y="4007168"/>
              <a:ext cx="213627"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16</a:t>
              </a:r>
            </a:p>
          </p:txBody>
        </p:sp>
        <p:sp>
          <p:nvSpPr>
            <p:cNvPr id="22" name="TextBox 22"/>
            <p:cNvSpPr txBox="1"/>
            <p:nvPr/>
          </p:nvSpPr>
          <p:spPr>
            <a:xfrm>
              <a:off x="5860542" y="4007168"/>
              <a:ext cx="613448"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0.0833</a:t>
              </a:r>
            </a:p>
          </p:txBody>
        </p:sp>
        <p:sp>
          <p:nvSpPr>
            <p:cNvPr id="23" name="TextBox 23"/>
            <p:cNvSpPr txBox="1"/>
            <p:nvPr/>
          </p:nvSpPr>
          <p:spPr>
            <a:xfrm>
              <a:off x="8527542" y="4007168"/>
              <a:ext cx="513493"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196.5</a:t>
              </a:r>
            </a:p>
          </p:txBody>
        </p:sp>
        <p:sp>
          <p:nvSpPr>
            <p:cNvPr id="24" name="Line 24"/>
            <p:cNvSpPr/>
            <p:nvPr/>
          </p:nvSpPr>
          <p:spPr>
            <a:xfrm>
              <a:off x="609600" y="4343400"/>
              <a:ext cx="10972800" cy="9525"/>
            </a:xfrm>
            <a:custGeom>
              <a:avLst/>
              <a:gdLst/>
              <a:ahLst/>
              <a:cxnLst/>
              <a:rect l="l" t="t" r="r" b="b"/>
              <a:pathLst>
                <a:path w="10972800" h="9525">
                  <a:moveTo>
                    <a:pt x="0" y="0"/>
                  </a:moveTo>
                  <a:lnTo>
                    <a:pt x="10972800" y="0"/>
                  </a:lnTo>
                </a:path>
              </a:pathLst>
            </a:custGeom>
            <a:noFill/>
            <a:ln w="4762">
              <a:solidFill>
                <a:srgbClr val="B8CBD3"/>
              </a:solidFill>
            </a:ln>
          </p:spPr>
        </p:sp>
        <p:sp>
          <p:nvSpPr>
            <p:cNvPr id="25" name="TextBox 25"/>
            <p:cNvSpPr txBox="1"/>
            <p:nvPr/>
          </p:nvSpPr>
          <p:spPr>
            <a:xfrm>
              <a:off x="907542" y="4502468"/>
              <a:ext cx="47457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M002</a:t>
              </a:r>
            </a:p>
          </p:txBody>
        </p:sp>
        <p:sp>
          <p:nvSpPr>
            <p:cNvPr id="26" name="TextBox 26"/>
            <p:cNvSpPr txBox="1"/>
            <p:nvPr/>
          </p:nvSpPr>
          <p:spPr>
            <a:xfrm>
              <a:off x="3193542" y="4502468"/>
              <a:ext cx="213627"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36</a:t>
              </a:r>
            </a:p>
          </p:txBody>
        </p:sp>
        <p:sp>
          <p:nvSpPr>
            <p:cNvPr id="27" name="TextBox 27"/>
            <p:cNvSpPr txBox="1"/>
            <p:nvPr/>
          </p:nvSpPr>
          <p:spPr>
            <a:xfrm>
              <a:off x="5860542" y="4502468"/>
              <a:ext cx="613448"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0.0278</a:t>
              </a:r>
            </a:p>
          </p:txBody>
        </p:sp>
        <p:sp>
          <p:nvSpPr>
            <p:cNvPr id="28" name="TextBox 28"/>
            <p:cNvSpPr txBox="1"/>
            <p:nvPr/>
          </p:nvSpPr>
          <p:spPr>
            <a:xfrm>
              <a:off x="8527542" y="4502468"/>
              <a:ext cx="513493"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539.4</a:t>
              </a:r>
            </a:p>
          </p:txBody>
        </p:sp>
        <p:sp>
          <p:nvSpPr>
            <p:cNvPr id="29" name="Line 29"/>
            <p:cNvSpPr/>
            <p:nvPr/>
          </p:nvSpPr>
          <p:spPr>
            <a:xfrm>
              <a:off x="609600" y="4838700"/>
              <a:ext cx="10972800" cy="9525"/>
            </a:xfrm>
            <a:custGeom>
              <a:avLst/>
              <a:gdLst/>
              <a:ahLst/>
              <a:cxnLst/>
              <a:rect l="l" t="t" r="r" b="b"/>
              <a:pathLst>
                <a:path w="10972800" h="9525">
                  <a:moveTo>
                    <a:pt x="0" y="0"/>
                  </a:moveTo>
                  <a:lnTo>
                    <a:pt x="10972800" y="0"/>
                  </a:lnTo>
                </a:path>
              </a:pathLst>
            </a:custGeom>
            <a:noFill/>
            <a:ln w="4762">
              <a:solidFill>
                <a:srgbClr val="B8CBD3"/>
              </a:solidFill>
            </a:ln>
          </p:spPr>
        </p:sp>
        <p:sp>
          <p:nvSpPr>
            <p:cNvPr id="30" name="TextBox 30"/>
            <p:cNvSpPr txBox="1"/>
            <p:nvPr/>
          </p:nvSpPr>
          <p:spPr>
            <a:xfrm>
              <a:off x="907542" y="4997768"/>
              <a:ext cx="47457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M004</a:t>
              </a:r>
            </a:p>
          </p:txBody>
        </p:sp>
        <p:sp>
          <p:nvSpPr>
            <p:cNvPr id="31" name="TextBox 31"/>
            <p:cNvSpPr txBox="1"/>
            <p:nvPr/>
          </p:nvSpPr>
          <p:spPr>
            <a:xfrm>
              <a:off x="3193542" y="4997768"/>
              <a:ext cx="213627"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42</a:t>
              </a:r>
            </a:p>
          </p:txBody>
        </p:sp>
        <p:sp>
          <p:nvSpPr>
            <p:cNvPr id="32" name="TextBox 32"/>
            <p:cNvSpPr txBox="1"/>
            <p:nvPr/>
          </p:nvSpPr>
          <p:spPr>
            <a:xfrm>
              <a:off x="5860542" y="4997768"/>
              <a:ext cx="613448"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0.0192</a:t>
              </a:r>
            </a:p>
          </p:txBody>
        </p:sp>
        <p:sp>
          <p:nvSpPr>
            <p:cNvPr id="33" name="TextBox 33"/>
            <p:cNvSpPr txBox="1"/>
            <p:nvPr/>
          </p:nvSpPr>
          <p:spPr>
            <a:xfrm>
              <a:off x="8527542" y="4997768"/>
              <a:ext cx="513493"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882.0</a:t>
              </a:r>
            </a:p>
          </p:txBody>
        </p:sp>
        <p:sp>
          <p:nvSpPr>
            <p:cNvPr id="34" name="Line 34"/>
            <p:cNvSpPr/>
            <p:nvPr/>
          </p:nvSpPr>
          <p:spPr>
            <a:xfrm>
              <a:off x="609600" y="53340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9" name="interpret-note"/>
          <p:cNvGrpSpPr/>
          <p:nvPr/>
        </p:nvGrpSpPr>
        <p:grpSpPr>
          <a:xfrm>
            <a:off x="609600" y="5600700"/>
            <a:ext cx="10972800" cy="723900"/>
            <a:chOff x="609600" y="5600700"/>
            <a:chExt cx="10972800" cy="723900"/>
          </a:xfrm>
        </p:grpSpPr>
        <p:sp>
          <p:nvSpPr>
            <p:cNvPr id="36" name="Rectangle 36"/>
            <p:cNvSpPr/>
            <p:nvPr/>
          </p:nvSpPr>
          <p:spPr>
            <a:xfrm>
              <a:off x="609600" y="5600700"/>
              <a:ext cx="10972800" cy="723900"/>
            </a:xfrm>
            <a:prstGeom prst="roundRect">
              <a:avLst>
                <a:gd name="adj" fmla="val 13158"/>
              </a:avLst>
            </a:prstGeom>
            <a:solidFill>
              <a:srgbClr val="FFFFFF"/>
            </a:solidFill>
            <a:ln w="14288">
              <a:solidFill>
                <a:srgbClr val="B8CBD3"/>
              </a:solidFill>
            </a:ln>
          </p:spPr>
        </p:sp>
        <p:sp>
          <p:nvSpPr>
            <p:cNvPr id="37" name="TextBox 37"/>
            <p:cNvSpPr txBox="1"/>
            <p:nvPr/>
          </p:nvSpPr>
          <p:spPr>
            <a:xfrm>
              <a:off x="907542" y="5702618"/>
              <a:ext cx="334987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referansTarih donmuş bir sabittir —</a:t>
              </a:r>
            </a:p>
          </p:txBody>
        </p:sp>
        <p:sp>
          <p:nvSpPr>
            <p:cNvPr id="38" name="TextBox 38"/>
            <p:cNvSpPr txBox="1"/>
            <p:nvPr/>
          </p:nvSpPr>
          <p:spPr>
            <a:xfrm>
              <a:off x="907542" y="5950268"/>
              <a:ext cx="680159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üretimde veri çekim zamanına eşitlenmezse kıdem her çalıştırmada değişir.</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8568627" cy="668845"/>
            <a:chOff x="609600" y="171450"/>
            <a:chExt cx="8568627"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787825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Ne zaman tercih edilir, ne yerine geçer?</a:t>
              </a:r>
            </a:p>
          </p:txBody>
        </p:sp>
      </p:grpSp>
      <p:grpSp>
        <p:nvGrpSpPr>
          <p:cNvPr id="16" name="table-header"/>
          <p:cNvGrpSpPr/>
          <p:nvPr/>
        </p:nvGrpSpPr>
        <p:grpSpPr>
          <a:xfrm>
            <a:off x="609600" y="1143000"/>
            <a:ext cx="10972800" cy="457200"/>
            <a:chOff x="609600" y="1143000"/>
            <a:chExt cx="10972800" cy="457200"/>
          </a:xfrm>
        </p:grpSpPr>
        <p:sp>
          <p:nvSpPr>
            <p:cNvPr id="11" name="Rectangle 11"/>
            <p:cNvSpPr/>
            <p:nvPr/>
          </p:nvSpPr>
          <p:spPr>
            <a:xfrm>
              <a:off x="609600" y="1143000"/>
              <a:ext cx="10972800" cy="457200"/>
            </a:xfrm>
            <a:prstGeom prst="rect">
              <a:avLst/>
            </a:prstGeom>
            <a:solidFill>
              <a:srgbClr val="12355B"/>
            </a:solidFill>
            <a:ln>
              <a:noFill/>
            </a:ln>
          </p:spPr>
        </p:sp>
        <p:sp>
          <p:nvSpPr>
            <p:cNvPr id="12" name="TextBox 12"/>
            <p:cNvSpPr txBox="1"/>
            <p:nvPr/>
          </p:nvSpPr>
          <p:spPr>
            <a:xfrm>
              <a:off x="831342" y="1283018"/>
              <a:ext cx="849673"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Yaklaşım</a:t>
              </a:r>
            </a:p>
          </p:txBody>
        </p:sp>
        <p:sp>
          <p:nvSpPr>
            <p:cNvPr id="13" name="TextBox 13"/>
            <p:cNvSpPr txBox="1"/>
            <p:nvPr/>
          </p:nvSpPr>
          <p:spPr>
            <a:xfrm>
              <a:off x="3612642" y="1283018"/>
              <a:ext cx="812039"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Ne yapar</a:t>
              </a:r>
            </a:p>
          </p:txBody>
        </p:sp>
        <p:sp>
          <p:nvSpPr>
            <p:cNvPr id="14" name="TextBox 14"/>
            <p:cNvSpPr txBox="1"/>
            <p:nvPr/>
          </p:nvSpPr>
          <p:spPr>
            <a:xfrm>
              <a:off x="6660642" y="1283018"/>
              <a:ext cx="706237"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Avantaj</a:t>
              </a:r>
            </a:p>
          </p:txBody>
        </p:sp>
        <p:sp>
          <p:nvSpPr>
            <p:cNvPr id="15" name="TextBox 15"/>
            <p:cNvSpPr txBox="1"/>
            <p:nvPr/>
          </p:nvSpPr>
          <p:spPr>
            <a:xfrm>
              <a:off x="9137142" y="1283018"/>
              <a:ext cx="1021212"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Dezavantaj</a:t>
              </a:r>
            </a:p>
          </p:txBody>
        </p:sp>
      </p:grpSp>
      <p:grpSp>
        <p:nvGrpSpPr>
          <p:cNvPr id="23" name="row-1"/>
          <p:cNvGrpSpPr/>
          <p:nvPr/>
        </p:nvGrpSpPr>
        <p:grpSpPr>
          <a:xfrm>
            <a:off x="609600" y="1600200"/>
            <a:ext cx="10972800" cy="781050"/>
            <a:chOff x="609600" y="1600200"/>
            <a:chExt cx="10972800" cy="781050"/>
          </a:xfrm>
        </p:grpSpPr>
        <p:sp>
          <p:nvSpPr>
            <p:cNvPr id="17" name="Rectangle 17"/>
            <p:cNvSpPr/>
            <p:nvPr/>
          </p:nvSpPr>
          <p:spPr>
            <a:xfrm>
              <a:off x="609600" y="1600200"/>
              <a:ext cx="10972800" cy="781050"/>
            </a:xfrm>
            <a:prstGeom prst="rect">
              <a:avLst/>
            </a:prstGeom>
            <a:solidFill>
              <a:srgbClr val="FFFFFF"/>
            </a:solidFill>
            <a:ln>
              <a:noFill/>
            </a:ln>
          </p:spPr>
        </p:sp>
        <p:sp>
          <p:nvSpPr>
            <p:cNvPr id="18" name="TextBox 18"/>
            <p:cNvSpPr txBox="1"/>
            <p:nvPr/>
          </p:nvSpPr>
          <p:spPr>
            <a:xfrm>
              <a:off x="831342" y="1759268"/>
              <a:ext cx="1746422" cy="264033"/>
            </a:xfrm>
            <a:prstGeom prst="rect">
              <a:avLst/>
            </a:prstGeom>
            <a:noFill/>
            <a:ln>
              <a:noFill/>
            </a:ln>
          </p:spPr>
          <p:txBody>
            <a:bodyPr wrap="none" lIns="0" tIns="0" rIns="0" bIns="0" anchor="t" anchorCtr="0">
              <a:spAutoFit/>
            </a:bodyPr>
            <a:lstStyle/>
            <a:p>
              <a:pPr algn="l"/>
              <a:r>
                <a:rPr lang="tr-TR" sz="1350" b="1" dirty="0">
                  <a:solidFill>
                    <a:srgbClr val="00A6A6"/>
                  </a:solidFill>
                  <a:latin typeface="+mn-lt"/>
                  <a:ea typeface="+mn-ea"/>
                  <a:cs typeface="+mn-cs"/>
                </a:rPr>
                <a:t>Manuel mühendislik</a:t>
              </a:r>
            </a:p>
          </p:txBody>
        </p:sp>
        <p:sp>
          <p:nvSpPr>
            <p:cNvPr id="19" name="TextBox 19"/>
            <p:cNvSpPr txBox="1"/>
            <p:nvPr/>
          </p:nvSpPr>
          <p:spPr>
            <a:xfrm>
              <a:off x="3613404" y="1775460"/>
              <a:ext cx="19397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Elle oran/fark/etkileşim</a:t>
              </a:r>
            </a:p>
          </p:txBody>
        </p:sp>
        <p:sp>
          <p:nvSpPr>
            <p:cNvPr id="20" name="TextBox 20"/>
            <p:cNvSpPr txBox="1"/>
            <p:nvPr/>
          </p:nvSpPr>
          <p:spPr>
            <a:xfrm>
              <a:off x="3613404" y="1985010"/>
              <a:ext cx="12480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sütunu türetme</a:t>
              </a:r>
            </a:p>
          </p:txBody>
        </p:sp>
        <p:sp>
          <p:nvSpPr>
            <p:cNvPr id="21" name="TextBox 21"/>
            <p:cNvSpPr txBox="1"/>
            <p:nvPr/>
          </p:nvSpPr>
          <p:spPr>
            <a:xfrm>
              <a:off x="6661404" y="1775460"/>
              <a:ext cx="217368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Yorumlanabilir, güçlü sinyal</a:t>
              </a:r>
            </a:p>
          </p:txBody>
        </p:sp>
        <p:sp>
          <p:nvSpPr>
            <p:cNvPr id="22" name="TextBox 22"/>
            <p:cNvSpPr txBox="1"/>
            <p:nvPr/>
          </p:nvSpPr>
          <p:spPr>
            <a:xfrm>
              <a:off x="9137904" y="1775460"/>
              <a:ext cx="204455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Zaman ve alan bilgisi ister</a:t>
              </a:r>
            </a:p>
          </p:txBody>
        </p:sp>
      </p:grpSp>
      <p:sp>
        <p:nvSpPr>
          <p:cNvPr id="24" name="Line 24"/>
          <p:cNvSpPr/>
          <p:nvPr/>
        </p:nvSpPr>
        <p:spPr>
          <a:xfrm>
            <a:off x="609600" y="23812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nvGrpSpPr>
          <p:cNvPr id="31" name="row-2"/>
          <p:cNvGrpSpPr/>
          <p:nvPr/>
        </p:nvGrpSpPr>
        <p:grpSpPr>
          <a:xfrm>
            <a:off x="609600" y="2381250"/>
            <a:ext cx="10972800" cy="781050"/>
            <a:chOff x="609600" y="2381250"/>
            <a:chExt cx="10972800" cy="781050"/>
          </a:xfrm>
        </p:grpSpPr>
        <p:sp>
          <p:nvSpPr>
            <p:cNvPr id="25" name="Rectangle 25"/>
            <p:cNvSpPr/>
            <p:nvPr/>
          </p:nvSpPr>
          <p:spPr>
            <a:xfrm>
              <a:off x="609600" y="2381250"/>
              <a:ext cx="10972800" cy="781050"/>
            </a:xfrm>
            <a:prstGeom prst="rect">
              <a:avLst/>
            </a:prstGeom>
            <a:solidFill>
              <a:srgbClr val="FFFFFF"/>
            </a:solidFill>
            <a:ln>
              <a:noFill/>
            </a:ln>
          </p:spPr>
        </p:sp>
        <p:sp>
          <p:nvSpPr>
            <p:cNvPr id="26" name="TextBox 26"/>
            <p:cNvSpPr txBox="1"/>
            <p:nvPr/>
          </p:nvSpPr>
          <p:spPr>
            <a:xfrm>
              <a:off x="831342" y="2540318"/>
              <a:ext cx="1565639" cy="264033"/>
            </a:xfrm>
            <a:prstGeom prst="rect">
              <a:avLst/>
            </a:prstGeom>
            <a:noFill/>
            <a:ln>
              <a:noFill/>
            </a:ln>
          </p:spPr>
          <p:txBody>
            <a:bodyPr wrap="none" lIns="0" tIns="0" rIns="0" bIns="0" anchor="t" anchorCtr="0">
              <a:spAutoFit/>
            </a:bodyPr>
            <a:lstStyle/>
            <a:p>
              <a:pPr algn="l"/>
              <a:r>
                <a:rPr lang="tr-TR" sz="1350" b="1" dirty="0">
                  <a:solidFill>
                    <a:srgbClr val="00A6A6"/>
                  </a:solidFill>
                  <a:latin typeface="+mn-lt"/>
                  <a:ea typeface="+mn-ea"/>
                  <a:cs typeface="+mn-cs"/>
                </a:rPr>
                <a:t>Otomatik üretim</a:t>
              </a:r>
            </a:p>
          </p:txBody>
        </p:sp>
        <p:sp>
          <p:nvSpPr>
            <p:cNvPr id="27" name="TextBox 27"/>
            <p:cNvSpPr txBox="1"/>
            <p:nvPr/>
          </p:nvSpPr>
          <p:spPr>
            <a:xfrm>
              <a:off x="3613404" y="2556510"/>
              <a:ext cx="161955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featuretools ile tüm</a:t>
              </a:r>
            </a:p>
          </p:txBody>
        </p:sp>
        <p:sp>
          <p:nvSpPr>
            <p:cNvPr id="28" name="TextBox 28"/>
            <p:cNvSpPr txBox="1"/>
            <p:nvPr/>
          </p:nvSpPr>
          <p:spPr>
            <a:xfrm>
              <a:off x="3613404" y="2766060"/>
              <a:ext cx="168417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kombinasyonu üretme</a:t>
              </a:r>
            </a:p>
          </p:txBody>
        </p:sp>
        <p:sp>
          <p:nvSpPr>
            <p:cNvPr id="29" name="TextBox 29"/>
            <p:cNvSpPr txBox="1"/>
            <p:nvPr/>
          </p:nvSpPr>
          <p:spPr>
            <a:xfrm>
              <a:off x="6661404" y="2556510"/>
              <a:ext cx="230343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Hızlı, gözden kaçanı yakalar</a:t>
              </a:r>
            </a:p>
          </p:txBody>
        </p:sp>
        <p:sp>
          <p:nvSpPr>
            <p:cNvPr id="30" name="TextBox 30"/>
            <p:cNvSpPr txBox="1"/>
            <p:nvPr/>
          </p:nvSpPr>
          <p:spPr>
            <a:xfrm>
              <a:off x="9137904" y="2556510"/>
              <a:ext cx="24246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Sütun patlaması, çoğu gürültü</a:t>
              </a:r>
            </a:p>
          </p:txBody>
        </p:sp>
      </p:grpSp>
      <p:sp>
        <p:nvSpPr>
          <p:cNvPr id="32" name="Line 32"/>
          <p:cNvSpPr/>
          <p:nvPr/>
        </p:nvSpPr>
        <p:spPr>
          <a:xfrm>
            <a:off x="609600" y="3162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nvGrpSpPr>
          <p:cNvPr id="38" name="row-3"/>
          <p:cNvGrpSpPr/>
          <p:nvPr/>
        </p:nvGrpSpPr>
        <p:grpSpPr>
          <a:xfrm>
            <a:off x="609600" y="3162300"/>
            <a:ext cx="11016943" cy="781050"/>
            <a:chOff x="609600" y="3162300"/>
            <a:chExt cx="11016943" cy="781050"/>
          </a:xfrm>
        </p:grpSpPr>
        <p:sp>
          <p:nvSpPr>
            <p:cNvPr id="33" name="Rectangle 33"/>
            <p:cNvSpPr/>
            <p:nvPr/>
          </p:nvSpPr>
          <p:spPr>
            <a:xfrm>
              <a:off x="609600" y="3162300"/>
              <a:ext cx="10972800" cy="781050"/>
            </a:xfrm>
            <a:prstGeom prst="rect">
              <a:avLst/>
            </a:prstGeom>
            <a:solidFill>
              <a:srgbClr val="FFFFFF"/>
            </a:solidFill>
            <a:ln>
              <a:noFill/>
            </a:ln>
          </p:spPr>
        </p:sp>
        <p:sp>
          <p:nvSpPr>
            <p:cNvPr id="34" name="TextBox 34"/>
            <p:cNvSpPr txBox="1"/>
            <p:nvPr/>
          </p:nvSpPr>
          <p:spPr>
            <a:xfrm>
              <a:off x="831342" y="3321368"/>
              <a:ext cx="1785497" cy="264033"/>
            </a:xfrm>
            <a:prstGeom prst="rect">
              <a:avLst/>
            </a:prstGeom>
            <a:noFill/>
            <a:ln>
              <a:noFill/>
            </a:ln>
          </p:spPr>
          <p:txBody>
            <a:bodyPr wrap="none" lIns="0" tIns="0" rIns="0" bIns="0" anchor="t" anchorCtr="0">
              <a:spAutoFit/>
            </a:bodyPr>
            <a:lstStyle/>
            <a:p>
              <a:pPr algn="l"/>
              <a:r>
                <a:rPr lang="tr-TR" sz="1350" b="1" dirty="0">
                  <a:solidFill>
                    <a:srgbClr val="00A6A6"/>
                  </a:solidFill>
                  <a:latin typeface="+mn-lt"/>
                  <a:ea typeface="+mn-ea"/>
                  <a:cs typeface="+mn-cs"/>
                </a:rPr>
                <a:t>Ham sütun bırakma</a:t>
              </a:r>
            </a:p>
          </p:txBody>
        </p:sp>
        <p:sp>
          <p:nvSpPr>
            <p:cNvPr id="35" name="TextBox 35"/>
            <p:cNvSpPr txBox="1"/>
            <p:nvPr/>
          </p:nvSpPr>
          <p:spPr>
            <a:xfrm>
              <a:off x="3613404" y="3337560"/>
              <a:ext cx="18671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Hiçbir türetim yapmama</a:t>
              </a:r>
            </a:p>
          </p:txBody>
        </p:sp>
        <p:sp>
          <p:nvSpPr>
            <p:cNvPr id="36" name="TextBox 36"/>
            <p:cNvSpPr txBox="1"/>
            <p:nvPr/>
          </p:nvSpPr>
          <p:spPr>
            <a:xfrm>
              <a:off x="6661404" y="3337560"/>
              <a:ext cx="9625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Basit, hızlı</a:t>
              </a:r>
            </a:p>
          </p:txBody>
        </p:sp>
        <p:sp>
          <p:nvSpPr>
            <p:cNvPr id="37" name="TextBox 37"/>
            <p:cNvSpPr txBox="1"/>
            <p:nvPr/>
          </p:nvSpPr>
          <p:spPr>
            <a:xfrm>
              <a:off x="9137904" y="3337560"/>
              <a:ext cx="248863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Doğrusal modelde ilişki kaybolur</a:t>
              </a:r>
            </a:p>
          </p:txBody>
        </p:sp>
      </p:grpSp>
      <p:sp>
        <p:nvSpPr>
          <p:cNvPr id="39" name="Line 39"/>
          <p:cNvSpPr/>
          <p:nvPr/>
        </p:nvSpPr>
        <p:spPr>
          <a:xfrm>
            <a:off x="609600" y="39433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nvGrpSpPr>
          <p:cNvPr id="46" name="row-4"/>
          <p:cNvGrpSpPr/>
          <p:nvPr/>
        </p:nvGrpSpPr>
        <p:grpSpPr>
          <a:xfrm>
            <a:off x="609600" y="3943350"/>
            <a:ext cx="11090148" cy="781050"/>
            <a:chOff x="609600" y="3943350"/>
            <a:chExt cx="11090148" cy="781050"/>
          </a:xfrm>
        </p:grpSpPr>
        <p:sp>
          <p:nvSpPr>
            <p:cNvPr id="40" name="Rectangle 40"/>
            <p:cNvSpPr/>
            <p:nvPr/>
          </p:nvSpPr>
          <p:spPr>
            <a:xfrm>
              <a:off x="609600" y="3943350"/>
              <a:ext cx="10972800" cy="781050"/>
            </a:xfrm>
            <a:prstGeom prst="rect">
              <a:avLst/>
            </a:prstGeom>
            <a:solidFill>
              <a:srgbClr val="FFFFFF"/>
            </a:solidFill>
            <a:ln>
              <a:noFill/>
            </a:ln>
          </p:spPr>
        </p:sp>
        <p:sp>
          <p:nvSpPr>
            <p:cNvPr id="41" name="TextBox 41"/>
            <p:cNvSpPr txBox="1"/>
            <p:nvPr/>
          </p:nvSpPr>
          <p:spPr>
            <a:xfrm>
              <a:off x="831342" y="4102418"/>
              <a:ext cx="2099893" cy="264033"/>
            </a:xfrm>
            <a:prstGeom prst="rect">
              <a:avLst/>
            </a:prstGeom>
            <a:noFill/>
            <a:ln>
              <a:noFill/>
            </a:ln>
          </p:spPr>
          <p:txBody>
            <a:bodyPr wrap="none" lIns="0" tIns="0" rIns="0" bIns="0" anchor="t" anchorCtr="0">
              <a:spAutoFit/>
            </a:bodyPr>
            <a:lstStyle/>
            <a:p>
              <a:pPr algn="l"/>
              <a:r>
                <a:rPr lang="tr-TR" sz="1350" b="1" dirty="0">
                  <a:solidFill>
                    <a:srgbClr val="00A6A6"/>
                  </a:solidFill>
                  <a:latin typeface="+mn-lt"/>
                  <a:ea typeface="+mn-ea"/>
                  <a:cs typeface="+mn-cs"/>
                </a:rPr>
                <a:t>Gömülü temsil öğrenme</a:t>
              </a:r>
            </a:p>
          </p:txBody>
        </p:sp>
        <p:sp>
          <p:nvSpPr>
            <p:cNvPr id="42" name="TextBox 42"/>
            <p:cNvSpPr txBox="1"/>
            <p:nvPr/>
          </p:nvSpPr>
          <p:spPr>
            <a:xfrm>
              <a:off x="3613404" y="4118610"/>
              <a:ext cx="176966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Modelin kendi öznitelik</a:t>
              </a:r>
            </a:p>
          </p:txBody>
        </p:sp>
        <p:sp>
          <p:nvSpPr>
            <p:cNvPr id="43" name="TextBox 43"/>
            <p:cNvSpPr txBox="1"/>
            <p:nvPr/>
          </p:nvSpPr>
          <p:spPr>
            <a:xfrm>
              <a:off x="3613404" y="4328160"/>
              <a:ext cx="147416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uzayını öğrenmesi</a:t>
              </a:r>
            </a:p>
          </p:txBody>
        </p:sp>
        <p:sp>
          <p:nvSpPr>
            <p:cNvPr id="44" name="TextBox 44"/>
            <p:cNvSpPr txBox="1"/>
            <p:nvPr/>
          </p:nvSpPr>
          <p:spPr>
            <a:xfrm>
              <a:off x="6661404" y="4118610"/>
              <a:ext cx="157628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İnsan müdahalesi az</a:t>
              </a:r>
            </a:p>
          </p:txBody>
        </p:sp>
        <p:sp>
          <p:nvSpPr>
            <p:cNvPr id="45" name="TextBox 45"/>
            <p:cNvSpPr txBox="1"/>
            <p:nvPr/>
          </p:nvSpPr>
          <p:spPr>
            <a:xfrm>
              <a:off x="9137904" y="4118610"/>
              <a:ext cx="256184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Tablo verisinde zayıf, yorumsuz</a:t>
              </a:r>
            </a:p>
          </p:txBody>
        </p:sp>
      </p:grpSp>
      <p:sp>
        <p:nvSpPr>
          <p:cNvPr id="47" name="Line 47"/>
          <p:cNvSpPr/>
          <p:nvPr/>
        </p:nvSpPr>
        <p:spPr>
          <a:xfrm>
            <a:off x="609600" y="47244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nvGrpSpPr>
          <p:cNvPr id="52" name="key-takeaway"/>
          <p:cNvGrpSpPr/>
          <p:nvPr/>
        </p:nvGrpSpPr>
        <p:grpSpPr>
          <a:xfrm>
            <a:off x="609600" y="5105400"/>
            <a:ext cx="10972800" cy="1028700"/>
            <a:chOff x="609600" y="5105400"/>
            <a:chExt cx="10972800" cy="1028700"/>
          </a:xfrm>
        </p:grpSpPr>
        <p:sp>
          <p:nvSpPr>
            <p:cNvPr id="48" name="Rectangle 48"/>
            <p:cNvSpPr/>
            <p:nvPr/>
          </p:nvSpPr>
          <p:spPr>
            <a:xfrm>
              <a:off x="609600" y="5105400"/>
              <a:ext cx="10972800" cy="1028700"/>
            </a:xfrm>
            <a:prstGeom prst="roundRect">
              <a:avLst>
                <a:gd name="adj" fmla="val 9259"/>
              </a:avLst>
            </a:prstGeom>
            <a:solidFill>
              <a:srgbClr val="EAF4F6"/>
            </a:solidFill>
            <a:ln>
              <a:noFill/>
            </a:ln>
          </p:spPr>
        </p:sp>
        <p:sp>
          <p:nvSpPr>
            <p:cNvPr id="49" name="TextBox 49"/>
            <p:cNvSpPr txBox="1"/>
            <p:nvPr/>
          </p:nvSpPr>
          <p:spPr>
            <a:xfrm>
              <a:off x="906399" y="5259229"/>
              <a:ext cx="797374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Doğrusal modellerde çarpımsal etkileşim elle sunulmadan asla öğrenilmez;</a:t>
              </a:r>
            </a:p>
          </p:txBody>
        </p:sp>
        <p:sp>
          <p:nvSpPr>
            <p:cNvPr id="50" name="TextBox 50"/>
            <p:cNvSpPr txBox="1"/>
            <p:nvPr/>
          </p:nvSpPr>
          <p:spPr>
            <a:xfrm>
              <a:off x="906399" y="5525929"/>
              <a:ext cx="832192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ağaç tabanlı modeller kabaca taklit eder ama çok daha fazla bölünme gerektirir.</a:t>
              </a:r>
            </a:p>
          </p:txBody>
        </p:sp>
        <p:sp>
          <p:nvSpPr>
            <p:cNvPr id="51" name="TextBox 51"/>
            <p:cNvSpPr txBox="1"/>
            <p:nvPr/>
          </p:nvSpPr>
          <p:spPr>
            <a:xfrm>
              <a:off x="907542" y="5816918"/>
              <a:ext cx="8588531"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Yüzlerce rastgele kombinasyon yerine az sayıda, iş mantığına dayanan öznitelik daha güvenlidir.</a:t>
              </a:r>
            </a:p>
          </p:txBody>
        </p:sp>
      </p:grpSp>
      <p:sp>
        <p:nvSpPr>
          <p:cNvPr id="53" name="TextBox 5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459213" cy="668845"/>
            <a:chOff x="609600" y="171450"/>
            <a:chExt cx="745921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676884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Özellik mühendisliğinde üç sık hata</a:t>
              </a:r>
            </a:p>
          </p:txBody>
        </p:sp>
      </p:grpSp>
      <p:grpSp>
        <p:nvGrpSpPr>
          <p:cNvPr id="16" name="table-header"/>
          <p:cNvGrpSpPr/>
          <p:nvPr/>
        </p:nvGrpSpPr>
        <p:grpSpPr>
          <a:xfrm>
            <a:off x="609600" y="1219200"/>
            <a:ext cx="10972800" cy="381000"/>
            <a:chOff x="609600" y="1219200"/>
            <a:chExt cx="10972800" cy="381000"/>
          </a:xfrm>
        </p:grpSpPr>
        <p:sp>
          <p:nvSpPr>
            <p:cNvPr id="12" name="Rectangle 12"/>
            <p:cNvSpPr/>
            <p:nvPr/>
          </p:nvSpPr>
          <p:spPr>
            <a:xfrm>
              <a:off x="609600" y="1219200"/>
              <a:ext cx="10972800" cy="381000"/>
            </a:xfrm>
            <a:prstGeom prst="rect">
              <a:avLst/>
            </a:prstGeom>
            <a:solidFill>
              <a:srgbClr val="12355B"/>
            </a:solidFill>
            <a:ln>
              <a:noFill/>
            </a:ln>
          </p:spPr>
        </p:sp>
        <p:sp>
          <p:nvSpPr>
            <p:cNvPr id="13" name="TextBox 13"/>
            <p:cNvSpPr txBox="1"/>
            <p:nvPr/>
          </p:nvSpPr>
          <p:spPr>
            <a:xfrm>
              <a:off x="755904" y="1337310"/>
              <a:ext cx="43848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HATA</a:t>
              </a:r>
            </a:p>
          </p:txBody>
        </p:sp>
        <p:sp>
          <p:nvSpPr>
            <p:cNvPr id="14" name="TextBox 14"/>
            <p:cNvSpPr txBox="1"/>
            <p:nvPr/>
          </p:nvSpPr>
          <p:spPr>
            <a:xfrm>
              <a:off x="4375404" y="1337310"/>
              <a:ext cx="583570"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SORUN</a:t>
              </a:r>
            </a:p>
          </p:txBody>
        </p:sp>
        <p:sp>
          <p:nvSpPr>
            <p:cNvPr id="15" name="TextBox 15"/>
            <p:cNvSpPr txBox="1"/>
            <p:nvPr/>
          </p:nvSpPr>
          <p:spPr>
            <a:xfrm>
              <a:off x="8185404" y="1337310"/>
              <a:ext cx="151296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DOĞRU YAKLAŞIM</a:t>
              </a:r>
            </a:p>
          </p:txBody>
        </p:sp>
      </p:grpSp>
      <p:grpSp>
        <p:nvGrpSpPr>
          <p:cNvPr id="21" name="row-1"/>
          <p:cNvGrpSpPr/>
          <p:nvPr/>
        </p:nvGrpSpPr>
        <p:grpSpPr>
          <a:xfrm>
            <a:off x="609600" y="1743075"/>
            <a:ext cx="10972800" cy="1295400"/>
            <a:chOff x="609600" y="1743075"/>
            <a:chExt cx="10972800" cy="1295400"/>
          </a:xfrm>
        </p:grpSpPr>
        <p:sp>
          <p:nvSpPr>
            <p:cNvPr id="17" name="TextBox 17"/>
            <p:cNvSpPr txBox="1"/>
            <p:nvPr/>
          </p:nvSpPr>
          <p:spPr>
            <a:xfrm>
              <a:off x="754380" y="1743075"/>
              <a:ext cx="2765584" cy="1036320"/>
            </a:xfrm>
            <a:prstGeom prst="rect">
              <a:avLst/>
            </a:prstGeom>
            <a:noFill/>
            <a:ln>
              <a:noFill/>
            </a:ln>
          </p:spPr>
          <p:txBody>
            <a:bodyPr wrap="none" lIns="0" tIns="0" rIns="0" bIns="0" anchor="t" anchorCtr="0">
              <a:spAutoFit/>
            </a:bodyPr>
            <a:lstStyle/>
            <a:p>
              <a:pPr algn="l">
                <a:lnSpc>
                  <a:spcPts val="1950"/>
                </a:lnSpc>
              </a:pPr>
              <a:r>
                <a:rPr lang="tr-TR" sz="1500" b="1" dirty="0">
                  <a:solidFill>
                    <a:srgbClr val="12355B"/>
                  </a:solidFill>
                  <a:latin typeface="+mn-lt"/>
                  <a:ea typeface="+mn-ea"/>
                  <a:cs typeface="+mn-cs"/>
                </a:rPr>
                <a:t>Test bilgisiyle öznitelik</a:t>
              </a:r>
              <a:br/>
              <a:r>
                <a:rPr lang="tr-TR" sz="1500" b="1" dirty="0">
                  <a:solidFill>
                    <a:srgbClr val="12355B"/>
                  </a:solidFill>
                  <a:latin typeface="+mn-lt"/>
                  <a:ea typeface="+mn-ea"/>
                  <a:cs typeface="+mn-cs"/>
                </a:rPr>
                <a:t>türetmek (veri sızıntısı):</a:t>
              </a:r>
              <a:br/>
              <a:r>
                <a:rPr lang="tr-TR" sz="1500" b="1" dirty="0">
                  <a:solidFill>
                    <a:srgbClr val="12355B"/>
                  </a:solidFill>
                  <a:latin typeface="+mn-lt"/>
                  <a:ea typeface="+mn-ea"/>
                  <a:cs typeface="+mn-cs"/>
                </a:rPr>
                <a:t>ortalamayı tüm veriden</a:t>
              </a:r>
              <a:br/>
              <a:r>
                <a:rPr lang="tr-TR" sz="1500" b="1" dirty="0">
                  <a:solidFill>
                    <a:srgbClr val="12355B"/>
                  </a:solidFill>
                  <a:latin typeface="+mn-lt"/>
                  <a:ea typeface="+mn-ea"/>
                  <a:cs typeface="+mn-cs"/>
                </a:rPr>
                <a:t>hesaplamak</a:t>
              </a:r>
            </a:p>
          </p:txBody>
        </p:sp>
        <p:sp>
          <p:nvSpPr>
            <p:cNvPr id="18" name="TextBox 18"/>
            <p:cNvSpPr txBox="1"/>
            <p:nvPr/>
          </p:nvSpPr>
          <p:spPr>
            <a:xfrm>
              <a:off x="4375404" y="1775460"/>
              <a:ext cx="22296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Test kümesinin istatistiği</a:t>
              </a:r>
              <a:br/>
              <a:r>
                <a:rPr lang="tr-TR" sz="1200" dirty="0">
                  <a:solidFill>
                    <a:srgbClr val="172B3A"/>
                  </a:solidFill>
                  <a:latin typeface="+mn-lt"/>
                  <a:ea typeface="+mn-ea"/>
                  <a:cs typeface="+mn-cs"/>
                </a:rPr>
                <a:t>türetime sızar; model gerçek</a:t>
              </a:r>
              <a:br/>
              <a:r>
                <a:rPr lang="tr-TR" sz="1200" dirty="0">
                  <a:solidFill>
                    <a:srgbClr val="172B3A"/>
                  </a:solidFill>
                  <a:latin typeface="+mn-lt"/>
                  <a:ea typeface="+mn-ea"/>
                  <a:cs typeface="+mn-cs"/>
                </a:rPr>
                <a:t>dünyada göremeyeceği bilgiyi</a:t>
              </a:r>
              <a:br/>
              <a:r>
                <a:rPr lang="tr-TR" sz="1200" dirty="0">
                  <a:solidFill>
                    <a:srgbClr val="172B3A"/>
                  </a:solidFill>
                  <a:latin typeface="+mn-lt"/>
                  <a:ea typeface="+mn-ea"/>
                  <a:cs typeface="+mn-cs"/>
                </a:rPr>
                <a:t>eğitimde görür.</a:t>
              </a:r>
            </a:p>
          </p:txBody>
        </p:sp>
        <p:sp>
          <p:nvSpPr>
            <p:cNvPr id="19" name="TextBox 19"/>
            <p:cNvSpPr txBox="1"/>
            <p:nvPr/>
          </p:nvSpPr>
          <p:spPr>
            <a:xfrm>
              <a:off x="8185404" y="1775460"/>
              <a:ext cx="21534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Ortalama yalnızca eğitim</a:t>
              </a:r>
              <a:br/>
              <a:r>
                <a:rPr lang="tr-TR" sz="1200" dirty="0">
                  <a:solidFill>
                    <a:srgbClr val="172B3A"/>
                  </a:solidFill>
                  <a:latin typeface="+mn-lt"/>
                  <a:ea typeface="+mn-ea"/>
                  <a:cs typeface="+mn-cs"/>
                </a:rPr>
                <a:t>kümesinden hesaplanır, aynı</a:t>
              </a:r>
              <a:br/>
              <a:r>
                <a:rPr lang="tr-TR" sz="1200" dirty="0">
                  <a:solidFill>
                    <a:srgbClr val="172B3A"/>
                  </a:solidFill>
                  <a:latin typeface="+mn-lt"/>
                  <a:ea typeface="+mn-ea"/>
                  <a:cs typeface="+mn-cs"/>
                </a:rPr>
                <a:t>sabit değer test kümesine</a:t>
              </a:r>
              <a:br/>
              <a:r>
                <a:rPr lang="tr-TR" sz="1200" dirty="0">
                  <a:solidFill>
                    <a:srgbClr val="172B3A"/>
                  </a:solidFill>
                  <a:latin typeface="+mn-lt"/>
                  <a:ea typeface="+mn-ea"/>
                  <a:cs typeface="+mn-cs"/>
                </a:rPr>
                <a:t>uygulanır.</a:t>
              </a:r>
            </a:p>
          </p:txBody>
        </p:sp>
        <p:sp>
          <p:nvSpPr>
            <p:cNvPr id="20" name="Line 20"/>
            <p:cNvSpPr/>
            <p:nvPr/>
          </p:nvSpPr>
          <p:spPr>
            <a:xfrm>
              <a:off x="609600" y="30289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row-2"/>
          <p:cNvGrpSpPr/>
          <p:nvPr/>
        </p:nvGrpSpPr>
        <p:grpSpPr>
          <a:xfrm>
            <a:off x="609600" y="3048000"/>
            <a:ext cx="10972800" cy="1438275"/>
            <a:chOff x="609600" y="3048000"/>
            <a:chExt cx="10972800" cy="1438275"/>
          </a:xfrm>
        </p:grpSpPr>
        <p:sp>
          <p:nvSpPr>
            <p:cNvPr id="22" name="Rectangle 22"/>
            <p:cNvSpPr/>
            <p:nvPr/>
          </p:nvSpPr>
          <p:spPr>
            <a:xfrm>
              <a:off x="609600" y="3048000"/>
              <a:ext cx="10972800" cy="1428750"/>
            </a:xfrm>
            <a:prstGeom prst="rect">
              <a:avLst/>
            </a:prstGeom>
            <a:solidFill>
              <a:srgbClr val="EAF4F6"/>
            </a:solidFill>
            <a:ln>
              <a:noFill/>
            </a:ln>
          </p:spPr>
        </p:sp>
        <p:sp>
          <p:nvSpPr>
            <p:cNvPr id="23" name="TextBox 23"/>
            <p:cNvSpPr txBox="1"/>
            <p:nvPr/>
          </p:nvSpPr>
          <p:spPr>
            <a:xfrm>
              <a:off x="754380" y="3190875"/>
              <a:ext cx="2345531" cy="788670"/>
            </a:xfrm>
            <a:prstGeom prst="rect">
              <a:avLst/>
            </a:prstGeom>
            <a:noFill/>
            <a:ln>
              <a:noFill/>
            </a:ln>
          </p:spPr>
          <p:txBody>
            <a:bodyPr wrap="none" lIns="0" tIns="0" rIns="0" bIns="0" anchor="t" anchorCtr="0">
              <a:spAutoFit/>
            </a:bodyPr>
            <a:lstStyle/>
            <a:p>
              <a:pPr algn="l">
                <a:lnSpc>
                  <a:spcPts val="1950"/>
                </a:lnSpc>
              </a:pPr>
              <a:r>
                <a:rPr lang="tr-TR" sz="1500" b="1" dirty="0">
                  <a:solidFill>
                    <a:srgbClr val="12355B"/>
                  </a:solidFill>
                  <a:latin typeface="+mn-lt"/>
                  <a:ea typeface="+mn-ea"/>
                  <a:cs typeface="+mn-cs"/>
                </a:rPr>
                <a:t>Sıfıra bölme kontrolü</a:t>
              </a:r>
              <a:br/>
              <a:r>
                <a:rPr lang="tr-TR" sz="1500" b="1" dirty="0">
                  <a:solidFill>
                    <a:srgbClr val="12355B"/>
                  </a:solidFill>
                  <a:latin typeface="+mn-lt"/>
                  <a:ea typeface="+mn-ea"/>
                  <a:cs typeface="+mn-cs"/>
                </a:rPr>
                <a:t>yapmamak: toplamUcret</a:t>
              </a:r>
              <a:br/>
              <a:r>
                <a:rPr lang="tr-TR" sz="1500" b="1" dirty="0">
                  <a:solidFill>
                    <a:srgbClr val="12355B"/>
                  </a:solidFill>
                  <a:latin typeface="+mn-lt"/>
                  <a:ea typeface="+mn-ea"/>
                  <a:cs typeface="+mn-cs"/>
                </a:rPr>
                <a:t>sıfır olduğunda oran</a:t>
              </a:r>
            </a:p>
          </p:txBody>
        </p:sp>
        <p:sp>
          <p:nvSpPr>
            <p:cNvPr id="24" name="TextBox 24"/>
            <p:cNvSpPr txBox="1"/>
            <p:nvPr/>
          </p:nvSpPr>
          <p:spPr>
            <a:xfrm>
              <a:off x="4375404" y="3223260"/>
              <a:ext cx="20162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Python hata fırlatmaz ama</a:t>
              </a:r>
              <a:br/>
              <a:r>
                <a:rPr lang="tr-TR" sz="1200" dirty="0">
                  <a:solidFill>
                    <a:srgbClr val="172B3A"/>
                  </a:solidFill>
                  <a:latin typeface="+mn-lt"/>
                  <a:ea typeface="+mn-ea"/>
                  <a:cs typeface="+mn-cs"/>
                </a:rPr>
                <a:t>inf/NaN üretir; fark</a:t>
              </a:r>
              <a:br/>
              <a:r>
                <a:rPr lang="tr-TR" sz="1200" dirty="0">
                  <a:solidFill>
                    <a:srgbClr val="172B3A"/>
                  </a:solidFill>
                  <a:latin typeface="+mn-lt"/>
                  <a:ea typeface="+mn-ea"/>
                  <a:cs typeface="+mn-cs"/>
                </a:rPr>
                <a:t>edilmezse gradyan tabanlı</a:t>
              </a:r>
              <a:br/>
              <a:r>
                <a:rPr lang="tr-TR" sz="1200" dirty="0">
                  <a:solidFill>
                    <a:srgbClr val="172B3A"/>
                  </a:solidFill>
                  <a:latin typeface="+mn-lt"/>
                  <a:ea typeface="+mn-ea"/>
                  <a:cs typeface="+mn-cs"/>
                </a:rPr>
                <a:t>modelde eğitimi bozar.</a:t>
              </a:r>
            </a:p>
          </p:txBody>
        </p:sp>
        <p:sp>
          <p:nvSpPr>
            <p:cNvPr id="25" name="TextBox 25"/>
            <p:cNvSpPr txBox="1"/>
            <p:nvPr/>
          </p:nvSpPr>
          <p:spPr>
            <a:xfrm>
              <a:off x="8185404" y="3223260"/>
              <a:ext cx="20238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np.where(paydaKolonu &gt; 0,</a:t>
              </a:r>
              <a:br/>
              <a:r>
                <a:rPr lang="tr-TR" sz="1200" dirty="0">
                  <a:solidFill>
                    <a:srgbClr val="172B3A"/>
                  </a:solidFill>
                  <a:latin typeface="+mn-lt"/>
                  <a:ea typeface="+mn-ea"/>
                  <a:cs typeface="+mn-cs"/>
                </a:rPr>
                <a:t>oran, 0.0) ile koşullu</a:t>
              </a:r>
              <a:br/>
              <a:r>
                <a:rPr lang="tr-TR" sz="1200" dirty="0">
                  <a:solidFill>
                    <a:srgbClr val="172B3A"/>
                  </a:solidFill>
                  <a:latin typeface="+mn-lt"/>
                  <a:ea typeface="+mn-ea"/>
                  <a:cs typeface="+mn-cs"/>
                </a:rPr>
                <a:t>güvenli varsayılan değer</a:t>
              </a:r>
              <a:br/>
              <a:r>
                <a:rPr lang="tr-TR" sz="1200" dirty="0">
                  <a:solidFill>
                    <a:srgbClr val="172B3A"/>
                  </a:solidFill>
                  <a:latin typeface="+mn-lt"/>
                  <a:ea typeface="+mn-ea"/>
                  <a:cs typeface="+mn-cs"/>
                </a:rPr>
                <a:t>eklenir.</a:t>
              </a:r>
            </a:p>
          </p:txBody>
        </p:sp>
        <p:sp>
          <p:nvSpPr>
            <p:cNvPr id="26" name="Line 26"/>
            <p:cNvSpPr/>
            <p:nvPr/>
          </p:nvSpPr>
          <p:spPr>
            <a:xfrm>
              <a:off x="609600" y="44767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row-3"/>
          <p:cNvGrpSpPr/>
          <p:nvPr/>
        </p:nvGrpSpPr>
        <p:grpSpPr>
          <a:xfrm>
            <a:off x="754380" y="4638675"/>
            <a:ext cx="9302496" cy="895731"/>
            <a:chOff x="754380" y="4638675"/>
            <a:chExt cx="9302496" cy="895731"/>
          </a:xfrm>
        </p:grpSpPr>
        <p:sp>
          <p:nvSpPr>
            <p:cNvPr id="28" name="TextBox 28"/>
            <p:cNvSpPr txBox="1"/>
            <p:nvPr/>
          </p:nvSpPr>
          <p:spPr>
            <a:xfrm>
              <a:off x="754380" y="4638675"/>
              <a:ext cx="2515552" cy="788670"/>
            </a:xfrm>
            <a:prstGeom prst="rect">
              <a:avLst/>
            </a:prstGeom>
            <a:noFill/>
            <a:ln>
              <a:noFill/>
            </a:ln>
          </p:spPr>
          <p:txBody>
            <a:bodyPr wrap="none" lIns="0" tIns="0" rIns="0" bIns="0" anchor="t" anchorCtr="0">
              <a:spAutoFit/>
            </a:bodyPr>
            <a:lstStyle/>
            <a:p>
              <a:pPr algn="l">
                <a:lnSpc>
                  <a:spcPts val="1950"/>
                </a:lnSpc>
              </a:pPr>
              <a:r>
                <a:rPr lang="tr-TR" sz="1500" b="1" dirty="0">
                  <a:solidFill>
                    <a:srgbClr val="12355B"/>
                  </a:solidFill>
                  <a:latin typeface="+mn-lt"/>
                  <a:ea typeface="+mn-ea"/>
                  <a:cs typeface="+mn-cs"/>
                </a:rPr>
                <a:t>Türetilmiş sütunu ham</a:t>
              </a:r>
              <a:br/>
              <a:r>
                <a:rPr lang="tr-TR" sz="1500" b="1" dirty="0">
                  <a:solidFill>
                    <a:srgbClr val="12355B"/>
                  </a:solidFill>
                  <a:latin typeface="+mn-lt"/>
                  <a:ea typeface="+mn-ea"/>
                  <a:cs typeface="+mn-cs"/>
                </a:rPr>
                <a:t>sütunla birlikte bırakmak</a:t>
              </a:r>
              <a:br/>
              <a:r>
                <a:rPr lang="tr-TR" sz="1500" b="1" dirty="0">
                  <a:solidFill>
                    <a:srgbClr val="12355B"/>
                  </a:solidFill>
                  <a:latin typeface="+mn-lt"/>
                  <a:ea typeface="+mn-ea"/>
                  <a:cs typeface="+mn-cs"/>
                </a:rPr>
                <a:t>(çoklu doğrusal bağlantı)</a:t>
              </a:r>
            </a:p>
          </p:txBody>
        </p:sp>
        <p:sp>
          <p:nvSpPr>
            <p:cNvPr id="29" name="TextBox 29"/>
            <p:cNvSpPr txBox="1"/>
            <p:nvPr/>
          </p:nvSpPr>
          <p:spPr>
            <a:xfrm>
              <a:off x="4375404" y="4671060"/>
              <a:ext cx="18638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Oran/etkileşim sütunu,</a:t>
              </a:r>
              <a:br/>
              <a:r>
                <a:rPr lang="tr-TR" sz="1200" dirty="0">
                  <a:solidFill>
                    <a:srgbClr val="172B3A"/>
                  </a:solidFill>
                  <a:latin typeface="+mn-lt"/>
                  <a:ea typeface="+mn-ea"/>
                  <a:cs typeface="+mn-cs"/>
                </a:rPr>
                <a:t>kaynağı olan ham sütunla</a:t>
              </a:r>
              <a:br/>
              <a:r>
                <a:rPr lang="tr-TR" sz="1200" dirty="0">
                  <a:solidFill>
                    <a:srgbClr val="172B3A"/>
                  </a:solidFill>
                  <a:latin typeface="+mn-lt"/>
                  <a:ea typeface="+mn-ea"/>
                  <a:cs typeface="+mn-cs"/>
                </a:rPr>
                <a:t>yüksek korelasyonludur;</a:t>
              </a:r>
              <a:br/>
              <a:r>
                <a:rPr lang="tr-TR" sz="1200" dirty="0">
                  <a:solidFill>
                    <a:srgbClr val="172B3A"/>
                  </a:solidFill>
                  <a:latin typeface="+mn-lt"/>
                  <a:ea typeface="+mn-ea"/>
                  <a:cs typeface="+mn-cs"/>
                </a:rPr>
                <a:t>katsayı kararsızlaşır.</a:t>
              </a:r>
            </a:p>
          </p:txBody>
        </p:sp>
        <p:sp>
          <p:nvSpPr>
            <p:cNvPr id="30" name="TextBox 30"/>
            <p:cNvSpPr txBox="1"/>
            <p:nvPr/>
          </p:nvSpPr>
          <p:spPr>
            <a:xfrm>
              <a:off x="8185404" y="4671060"/>
              <a:ext cx="18714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Doğrusal modelde yüksek</a:t>
              </a:r>
              <a:br/>
              <a:r>
                <a:rPr lang="tr-TR" sz="1200" dirty="0">
                  <a:solidFill>
                    <a:srgbClr val="172B3A"/>
                  </a:solidFill>
                  <a:latin typeface="+mn-lt"/>
                  <a:ea typeface="+mn-ea"/>
                  <a:cs typeface="+mn-cs"/>
                </a:rPr>
                <a:t>korelasyonlu ham sütun</a:t>
              </a:r>
              <a:br/>
              <a:r>
                <a:rPr lang="tr-TR" sz="1200" dirty="0">
                  <a:solidFill>
                    <a:srgbClr val="172B3A"/>
                  </a:solidFill>
                  <a:latin typeface="+mn-lt"/>
                  <a:ea typeface="+mn-ea"/>
                  <a:cs typeface="+mn-cs"/>
                </a:rPr>
                <a:t>elenir; ağaç modelinde de</a:t>
              </a:r>
              <a:br/>
              <a:r>
                <a:rPr lang="tr-TR" sz="1200" dirty="0">
                  <a:solidFill>
                    <a:srgbClr val="172B3A"/>
                  </a:solidFill>
                  <a:latin typeface="+mn-lt"/>
                  <a:ea typeface="+mn-ea"/>
                  <a:cs typeface="+mn-cs"/>
                </a:rPr>
                <a:t>değerlendirilmelidir.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318787" cy="668845"/>
            <a:chOff x="609600" y="171450"/>
            <a:chExt cx="7318787"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662841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Boyutun laneti ve boyut indirgeme</a:t>
              </a:r>
            </a:p>
          </p:txBody>
        </p:sp>
      </p:grpSp>
      <p:grpSp>
        <p:nvGrpSpPr>
          <p:cNvPr id="29" name="left-panel"/>
          <p:cNvGrpSpPr/>
          <p:nvPr/>
        </p:nvGrpSpPr>
        <p:grpSpPr>
          <a:xfrm>
            <a:off x="609600" y="1219200"/>
            <a:ext cx="5334000" cy="4000500"/>
            <a:chOff x="609600" y="1219200"/>
            <a:chExt cx="5334000" cy="4000500"/>
          </a:xfrm>
        </p:grpSpPr>
        <p:sp>
          <p:nvSpPr>
            <p:cNvPr id="13" name="Rectangle 13"/>
            <p:cNvSpPr/>
            <p:nvPr/>
          </p:nvSpPr>
          <p:spPr>
            <a:xfrm>
              <a:off x="609600" y="1219200"/>
              <a:ext cx="5334000" cy="4000500"/>
            </a:xfrm>
            <a:prstGeom prst="roundRect">
              <a:avLst>
                <a:gd name="adj" fmla="val 2381"/>
              </a:avLst>
            </a:prstGeom>
            <a:solidFill>
              <a:srgbClr val="FFFFFF"/>
            </a:solidFill>
            <a:ln w="14288">
              <a:solidFill>
                <a:srgbClr val="B8CBD3"/>
              </a:solidFill>
            </a:ln>
          </p:spPr>
        </p:sp>
        <p:sp>
          <p:nvSpPr>
            <p:cNvPr id="14" name="Rectangle 14"/>
            <p:cNvSpPr/>
            <p:nvPr/>
          </p:nvSpPr>
          <p:spPr>
            <a:xfrm>
              <a:off x="609600" y="1219200"/>
              <a:ext cx="5334000" cy="457200"/>
            </a:xfrm>
            <a:prstGeom prst="roundRect">
              <a:avLst>
                <a:gd name="adj" fmla="val 20833"/>
              </a:avLst>
            </a:prstGeom>
            <a:solidFill>
              <a:srgbClr val="12355B"/>
            </a:solidFill>
            <a:ln>
              <a:noFill/>
            </a:ln>
          </p:spPr>
        </p:sp>
        <p:sp>
          <p:nvSpPr>
            <p:cNvPr id="15" name="Rectangle 15"/>
            <p:cNvSpPr/>
            <p:nvPr/>
          </p:nvSpPr>
          <p:spPr>
            <a:xfrm>
              <a:off x="609600" y="1447800"/>
              <a:ext cx="5334000" cy="228600"/>
            </a:xfrm>
            <a:prstGeom prst="rect">
              <a:avLst/>
            </a:prstGeom>
            <a:solidFill>
              <a:srgbClr val="12355B"/>
            </a:solidFill>
            <a:ln>
              <a:noFill/>
            </a:ln>
          </p:spPr>
        </p:sp>
        <p:sp>
          <p:nvSpPr>
            <p:cNvPr id="16" name="TextBox 16"/>
            <p:cNvSpPr txBox="1"/>
            <p:nvPr/>
          </p:nvSpPr>
          <p:spPr>
            <a:xfrm>
              <a:off x="830199" y="1353979"/>
              <a:ext cx="1574936"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Boyutun laneti</a:t>
              </a:r>
            </a:p>
          </p:txBody>
        </p:sp>
        <p:sp>
          <p:nvSpPr>
            <p:cNvPr id="17" name="TextBox 17"/>
            <p:cNvSpPr txBox="1"/>
            <p:nvPr/>
          </p:nvSpPr>
          <p:spPr>
            <a:xfrm>
              <a:off x="831342" y="1816418"/>
              <a:ext cx="243676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Sütun sayısı arttıkça veri</a:t>
              </a:r>
            </a:p>
          </p:txBody>
        </p:sp>
        <p:sp>
          <p:nvSpPr>
            <p:cNvPr id="18" name="TextBox 18"/>
            <p:cNvSpPr txBox="1"/>
            <p:nvPr/>
          </p:nvSpPr>
          <p:spPr>
            <a:xfrm>
              <a:off x="831342" y="2045018"/>
              <a:ext cx="242173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noktaları arasındaki hacim</a:t>
              </a:r>
            </a:p>
          </p:txBody>
        </p:sp>
        <p:sp>
          <p:nvSpPr>
            <p:cNvPr id="19" name="TextBox 19"/>
            <p:cNvSpPr txBox="1"/>
            <p:nvPr/>
          </p:nvSpPr>
          <p:spPr>
            <a:xfrm>
              <a:off x="831342" y="2273618"/>
              <a:ext cx="213095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katlanarak büyür; sabit</a:t>
              </a:r>
            </a:p>
          </p:txBody>
        </p:sp>
        <p:sp>
          <p:nvSpPr>
            <p:cNvPr id="20" name="TextBox 20"/>
            <p:cNvSpPr txBox="1"/>
            <p:nvPr/>
          </p:nvSpPr>
          <p:spPr>
            <a:xfrm>
              <a:off x="831342" y="2502218"/>
              <a:ext cx="242173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örneklem bu uzayda giderek</a:t>
              </a:r>
            </a:p>
          </p:txBody>
        </p:sp>
        <p:sp>
          <p:nvSpPr>
            <p:cNvPr id="21" name="TextBox 21"/>
            <p:cNvSpPr txBox="1"/>
            <p:nvPr/>
          </p:nvSpPr>
          <p:spPr>
            <a:xfrm>
              <a:off x="831342" y="2730818"/>
              <a:ext cx="112231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seyrekleşir.</a:t>
              </a:r>
            </a:p>
          </p:txBody>
        </p:sp>
        <p:sp>
          <p:nvSpPr>
            <p:cNvPr id="22" name="Rectangle 22"/>
            <p:cNvSpPr/>
            <p:nvPr/>
          </p:nvSpPr>
          <p:spPr>
            <a:xfrm>
              <a:off x="838200" y="3200400"/>
              <a:ext cx="4876800" cy="933450"/>
            </a:xfrm>
            <a:prstGeom prst="roundRect">
              <a:avLst>
                <a:gd name="adj" fmla="val 8163"/>
              </a:avLst>
            </a:prstGeom>
            <a:solidFill>
              <a:srgbClr val="EAF4F6"/>
            </a:solidFill>
            <a:ln>
              <a:noFill/>
            </a:ln>
          </p:spPr>
        </p:sp>
        <p:sp>
          <p:nvSpPr>
            <p:cNvPr id="23" name="TextBox 23"/>
            <p:cNvSpPr txBox="1"/>
            <p:nvPr/>
          </p:nvSpPr>
          <p:spPr>
            <a:xfrm>
              <a:off x="1060704" y="3356610"/>
              <a:ext cx="48393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Sonuç</a:t>
              </a:r>
            </a:p>
          </p:txBody>
        </p:sp>
        <p:sp>
          <p:nvSpPr>
            <p:cNvPr id="24" name="TextBox 24"/>
            <p:cNvSpPr txBox="1"/>
            <p:nvPr/>
          </p:nvSpPr>
          <p:spPr>
            <a:xfrm>
              <a:off x="1060704" y="3585210"/>
              <a:ext cx="271490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Uzaklık ölçütleri anlamını yitirir;</a:t>
              </a:r>
            </a:p>
          </p:txBody>
        </p:sp>
        <p:sp>
          <p:nvSpPr>
            <p:cNvPr id="25" name="TextBox 25"/>
            <p:cNvSpPr txBox="1"/>
            <p:nvPr/>
          </p:nvSpPr>
          <p:spPr>
            <a:xfrm>
              <a:off x="1060704" y="3794760"/>
              <a:ext cx="422849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en yakın komşu ile en uzağı ayırt edilemez hale gelir.</a:t>
              </a:r>
            </a:p>
          </p:txBody>
        </p:sp>
        <p:sp>
          <p:nvSpPr>
            <p:cNvPr id="26" name="TextBox 26"/>
            <p:cNvSpPr txBox="1"/>
            <p:nvPr/>
          </p:nvSpPr>
          <p:spPr>
            <a:xfrm>
              <a:off x="832104" y="4347210"/>
              <a:ext cx="111101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Pratik belirti</a:t>
              </a:r>
            </a:p>
          </p:txBody>
        </p:sp>
        <p:sp>
          <p:nvSpPr>
            <p:cNvPr id="27" name="TextBox 27"/>
            <p:cNvSpPr txBox="1"/>
            <p:nvPr/>
          </p:nvSpPr>
          <p:spPr>
            <a:xfrm>
              <a:off x="832104" y="4575810"/>
              <a:ext cx="495900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40-50 türetilmiş öznitelikle kNN/kümeleme performansı düşer.</a:t>
              </a:r>
            </a:p>
          </p:txBody>
        </p:sp>
        <p:sp>
          <p:nvSpPr>
            <p:cNvPr id="28" name="TextBox 28"/>
            <p:cNvSpPr txBox="1"/>
            <p:nvPr/>
          </p:nvSpPr>
          <p:spPr>
            <a:xfrm>
              <a:off x="832104" y="4785360"/>
              <a:ext cx="348221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Öznitelik mühendisliği bu sorunu büyütebilir.</a:t>
              </a:r>
            </a:p>
          </p:txBody>
        </p:sp>
      </p:grpSp>
      <p:grpSp>
        <p:nvGrpSpPr>
          <p:cNvPr id="45" name="right-panel"/>
          <p:cNvGrpSpPr/>
          <p:nvPr/>
        </p:nvGrpSpPr>
        <p:grpSpPr>
          <a:xfrm>
            <a:off x="6248400" y="1219200"/>
            <a:ext cx="5334000" cy="4000500"/>
            <a:chOff x="6248400" y="1219200"/>
            <a:chExt cx="5334000" cy="4000500"/>
          </a:xfrm>
        </p:grpSpPr>
        <p:sp>
          <p:nvSpPr>
            <p:cNvPr id="30" name="Rectangle 30"/>
            <p:cNvSpPr/>
            <p:nvPr/>
          </p:nvSpPr>
          <p:spPr>
            <a:xfrm>
              <a:off x="6248400" y="1219200"/>
              <a:ext cx="5334000" cy="4000500"/>
            </a:xfrm>
            <a:prstGeom prst="roundRect">
              <a:avLst>
                <a:gd name="adj" fmla="val 2381"/>
              </a:avLst>
            </a:prstGeom>
            <a:solidFill>
              <a:srgbClr val="FFFFFF"/>
            </a:solidFill>
            <a:ln w="14288">
              <a:solidFill>
                <a:srgbClr val="B8CBD3"/>
              </a:solidFill>
            </a:ln>
          </p:spPr>
        </p:sp>
        <p:sp>
          <p:nvSpPr>
            <p:cNvPr id="31" name="Rectangle 31"/>
            <p:cNvSpPr/>
            <p:nvPr/>
          </p:nvSpPr>
          <p:spPr>
            <a:xfrm>
              <a:off x="6248400" y="1219200"/>
              <a:ext cx="5334000" cy="457200"/>
            </a:xfrm>
            <a:prstGeom prst="roundRect">
              <a:avLst>
                <a:gd name="adj" fmla="val 20833"/>
              </a:avLst>
            </a:prstGeom>
            <a:solidFill>
              <a:srgbClr val="00A6A6"/>
            </a:solidFill>
            <a:ln>
              <a:noFill/>
            </a:ln>
          </p:spPr>
        </p:sp>
        <p:sp>
          <p:nvSpPr>
            <p:cNvPr id="32" name="Rectangle 32"/>
            <p:cNvSpPr/>
            <p:nvPr/>
          </p:nvSpPr>
          <p:spPr>
            <a:xfrm>
              <a:off x="6248400" y="1447800"/>
              <a:ext cx="5334000" cy="228600"/>
            </a:xfrm>
            <a:prstGeom prst="rect">
              <a:avLst/>
            </a:prstGeom>
            <a:solidFill>
              <a:srgbClr val="00A6A6"/>
            </a:solidFill>
            <a:ln>
              <a:noFill/>
            </a:ln>
          </p:spPr>
        </p:sp>
        <p:sp>
          <p:nvSpPr>
            <p:cNvPr id="33" name="TextBox 33"/>
            <p:cNvSpPr txBox="1"/>
            <p:nvPr/>
          </p:nvSpPr>
          <p:spPr>
            <a:xfrm>
              <a:off x="6468999" y="1353979"/>
              <a:ext cx="25920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Boyut indirgeme: tanım</a:t>
              </a:r>
            </a:p>
          </p:txBody>
        </p:sp>
        <p:sp>
          <p:nvSpPr>
            <p:cNvPr id="34" name="TextBox 34"/>
            <p:cNvSpPr txBox="1"/>
            <p:nvPr/>
          </p:nvSpPr>
          <p:spPr>
            <a:xfrm>
              <a:off x="6470142" y="1816418"/>
              <a:ext cx="263642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Değişken sayısını azaltırken</a:t>
              </a:r>
            </a:p>
          </p:txBody>
        </p:sp>
        <p:sp>
          <p:nvSpPr>
            <p:cNvPr id="35" name="TextBox 35"/>
            <p:cNvSpPr txBox="1"/>
            <p:nvPr/>
          </p:nvSpPr>
          <p:spPr>
            <a:xfrm>
              <a:off x="6470142" y="2045018"/>
              <a:ext cx="250351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veride bulunan bilginin büyük</a:t>
              </a:r>
            </a:p>
          </p:txBody>
        </p:sp>
        <p:sp>
          <p:nvSpPr>
            <p:cNvPr id="36" name="TextBox 36"/>
            <p:cNvSpPr txBox="1"/>
            <p:nvPr/>
          </p:nvSpPr>
          <p:spPr>
            <a:xfrm>
              <a:off x="6470142" y="2273618"/>
              <a:ext cx="229451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kısmını koruyan dönüşüm</a:t>
              </a:r>
            </a:p>
          </p:txBody>
        </p:sp>
        <p:sp>
          <p:nvSpPr>
            <p:cNvPr id="37" name="TextBox 37"/>
            <p:cNvSpPr txBox="1"/>
            <p:nvPr/>
          </p:nvSpPr>
          <p:spPr>
            <a:xfrm>
              <a:off x="6470142" y="2502218"/>
              <a:ext cx="66796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süreci.</a:t>
              </a:r>
            </a:p>
          </p:txBody>
        </p:sp>
        <p:sp>
          <p:nvSpPr>
            <p:cNvPr id="38" name="Rectangle 38"/>
            <p:cNvSpPr/>
            <p:nvPr/>
          </p:nvSpPr>
          <p:spPr>
            <a:xfrm>
              <a:off x="6477000" y="2971800"/>
              <a:ext cx="4876800" cy="933450"/>
            </a:xfrm>
            <a:prstGeom prst="roundRect">
              <a:avLst>
                <a:gd name="adj" fmla="val 8163"/>
              </a:avLst>
            </a:prstGeom>
            <a:solidFill>
              <a:srgbClr val="EAF4F6"/>
            </a:solidFill>
            <a:ln>
              <a:noFill/>
            </a:ln>
          </p:spPr>
        </p:sp>
        <p:sp>
          <p:nvSpPr>
            <p:cNvPr id="39" name="TextBox 39"/>
            <p:cNvSpPr txBox="1"/>
            <p:nvPr/>
          </p:nvSpPr>
          <p:spPr>
            <a:xfrm>
              <a:off x="6699504" y="3128010"/>
              <a:ext cx="59356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İki aile</a:t>
              </a:r>
            </a:p>
          </p:txBody>
        </p:sp>
        <p:sp>
          <p:nvSpPr>
            <p:cNvPr id="40" name="TextBox 40"/>
            <p:cNvSpPr txBox="1"/>
            <p:nvPr/>
          </p:nvSpPr>
          <p:spPr>
            <a:xfrm>
              <a:off x="6699504" y="3356610"/>
              <a:ext cx="245005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Öznitelik çıkarımı (PCA): yeni</a:t>
              </a:r>
            </a:p>
          </p:txBody>
        </p:sp>
        <p:sp>
          <p:nvSpPr>
            <p:cNvPr id="41" name="TextBox 41"/>
            <p:cNvSpPr txBox="1"/>
            <p:nvPr/>
          </p:nvSpPr>
          <p:spPr>
            <a:xfrm>
              <a:off x="6699504" y="3566160"/>
              <a:ext cx="186187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bileşik eksenler üretir.</a:t>
              </a:r>
            </a:p>
          </p:txBody>
        </p:sp>
        <p:sp>
          <p:nvSpPr>
            <p:cNvPr id="42" name="TextBox 42"/>
            <p:cNvSpPr txBox="1"/>
            <p:nvPr/>
          </p:nvSpPr>
          <p:spPr>
            <a:xfrm>
              <a:off x="6470904" y="4099560"/>
              <a:ext cx="128915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Öznitelik seçimi</a:t>
              </a:r>
            </a:p>
          </p:txBody>
        </p:sp>
        <p:sp>
          <p:nvSpPr>
            <p:cNvPr id="43" name="TextBox 43"/>
            <p:cNvSpPr txBox="1"/>
            <p:nvPr/>
          </p:nvSpPr>
          <p:spPr>
            <a:xfrm>
              <a:off x="6470904" y="4328160"/>
              <a:ext cx="484793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Var olan sütunlardan bir alt küme seçer, yeni eksen üretmez.</a:t>
              </a:r>
            </a:p>
          </p:txBody>
        </p:sp>
        <p:sp>
          <p:nvSpPr>
            <p:cNvPr id="44" name="TextBox 44"/>
            <p:cNvSpPr txBox="1"/>
            <p:nvPr/>
          </p:nvSpPr>
          <p:spPr>
            <a:xfrm>
              <a:off x="6470904" y="4632960"/>
              <a:ext cx="483444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t-SNE ise yalnızca görselleştirme amaçlıdır, modele girmez.</a:t>
              </a:r>
            </a:p>
          </p:txBody>
        </p:sp>
      </p:grpSp>
      <p:grpSp>
        <p:nvGrpSpPr>
          <p:cNvPr id="49" name="bottom-note"/>
          <p:cNvGrpSpPr/>
          <p:nvPr/>
        </p:nvGrpSpPr>
        <p:grpSpPr>
          <a:xfrm>
            <a:off x="609600" y="5410200"/>
            <a:ext cx="10972800" cy="723900"/>
            <a:chOff x="609600" y="5410200"/>
            <a:chExt cx="10972800" cy="723900"/>
          </a:xfrm>
        </p:grpSpPr>
        <p:sp>
          <p:nvSpPr>
            <p:cNvPr id="46" name="Rectangle 46"/>
            <p:cNvSpPr/>
            <p:nvPr/>
          </p:nvSpPr>
          <p:spPr>
            <a:xfrm>
              <a:off x="609600" y="5410200"/>
              <a:ext cx="10972800" cy="723900"/>
            </a:xfrm>
            <a:prstGeom prst="roundRect">
              <a:avLst>
                <a:gd name="adj" fmla="val 10526"/>
              </a:avLst>
            </a:prstGeom>
            <a:solidFill>
              <a:srgbClr val="12355B"/>
            </a:solidFill>
            <a:ln>
              <a:noFill/>
            </a:ln>
          </p:spPr>
        </p:sp>
        <p:sp>
          <p:nvSpPr>
            <p:cNvPr id="47" name="TextBox 47"/>
            <p:cNvSpPr txBox="1"/>
            <p:nvPr/>
          </p:nvSpPr>
          <p:spPr>
            <a:xfrm>
              <a:off x="907161" y="5542121"/>
              <a:ext cx="6544305"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Öznitelik mühendisliği sütun ekler, boyut indirgeme sütun azaltır —</a:t>
              </a:r>
            </a:p>
          </p:txBody>
        </p:sp>
        <p:sp>
          <p:nvSpPr>
            <p:cNvPr id="48" name="TextBox 48"/>
            <p:cNvSpPr txBox="1"/>
            <p:nvPr/>
          </p:nvSpPr>
          <p:spPr>
            <a:xfrm>
              <a:off x="907161" y="5808821"/>
              <a:ext cx="5424317" cy="278702"/>
            </a:xfrm>
            <a:prstGeom prst="rect">
              <a:avLst/>
            </a:prstGeom>
            <a:noFill/>
            <a:ln>
              <a:noFill/>
            </a:ln>
          </p:spPr>
          <p:txBody>
            <a:bodyPr wrap="none" lIns="0" tIns="0" rIns="0" bIns="0" anchor="t" anchorCtr="0">
              <a:spAutoFit/>
            </a:bodyPr>
            <a:lstStyle/>
            <a:p>
              <a:pPr algn="l"/>
              <a:r>
                <a:rPr lang="tr-TR" sz="1420" dirty="0">
                  <a:solidFill>
                    <a:srgbClr val="EAF4F6"/>
                  </a:solidFill>
                  <a:latin typeface="+mn-lt"/>
                  <a:ea typeface="+mn-ea"/>
                  <a:cs typeface="+mn-cs"/>
                </a:rPr>
                <a:t>ikisi genellikle art arda, birbirini dengeleyerek kullanılır.</a:t>
              </a:r>
            </a:p>
          </p:txBody>
        </p:sp>
      </p:grpSp>
      <p:sp>
        <p:nvSpPr>
          <p:cNvPr id="50" name="TextBox 5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9032725" cy="668845"/>
            <a:chOff x="609600" y="171450"/>
            <a:chExt cx="9032725"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834235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Boyut indirgeme: ne zaman, hangi yöntem?</a:t>
              </a:r>
            </a:p>
          </p:txBody>
        </p:sp>
      </p:grpSp>
      <p:grpSp>
        <p:nvGrpSpPr>
          <p:cNvPr id="18" name="when-panel"/>
          <p:cNvGrpSpPr/>
          <p:nvPr/>
        </p:nvGrpSpPr>
        <p:grpSpPr>
          <a:xfrm>
            <a:off x="609600" y="1219200"/>
            <a:ext cx="10972800" cy="1409700"/>
            <a:chOff x="609600" y="1219200"/>
            <a:chExt cx="10972800" cy="1409700"/>
          </a:xfrm>
        </p:grpSpPr>
        <p:sp>
          <p:nvSpPr>
            <p:cNvPr id="11" name="Rectangle 11"/>
            <p:cNvSpPr/>
            <p:nvPr/>
          </p:nvSpPr>
          <p:spPr>
            <a:xfrm>
              <a:off x="609600" y="1219200"/>
              <a:ext cx="10972800" cy="1409700"/>
            </a:xfrm>
            <a:prstGeom prst="roundRect">
              <a:avLst>
                <a:gd name="adj" fmla="val 6757"/>
              </a:avLst>
            </a:prstGeom>
            <a:solidFill>
              <a:srgbClr val="EAF4F6"/>
            </a:solidFill>
            <a:ln>
              <a:noFill/>
            </a:ln>
          </p:spPr>
        </p:sp>
        <p:sp>
          <p:nvSpPr>
            <p:cNvPr id="12" name="TextBox 12"/>
            <p:cNvSpPr txBox="1"/>
            <p:nvPr/>
          </p:nvSpPr>
          <p:spPr>
            <a:xfrm>
              <a:off x="906399" y="1373029"/>
              <a:ext cx="25024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 zaman tercih edilir?</a:t>
              </a:r>
            </a:p>
          </p:txBody>
        </p:sp>
        <p:sp>
          <p:nvSpPr>
            <p:cNvPr id="13" name="TextBox 13"/>
            <p:cNvSpPr txBox="1"/>
            <p:nvPr/>
          </p:nvSpPr>
          <p:spPr>
            <a:xfrm>
              <a:off x="907923" y="1729264"/>
              <a:ext cx="5696419" cy="249364"/>
            </a:xfrm>
            <a:prstGeom prst="rect">
              <a:avLst/>
            </a:prstGeom>
            <a:noFill/>
            <a:ln>
              <a:noFill/>
            </a:ln>
          </p:spPr>
          <p:txBody>
            <a:bodyPr wrap="none" lIns="0" tIns="0" rIns="0" bIns="0" anchor="t" anchorCtr="0">
              <a:spAutoFit/>
            </a:bodyPr>
            <a:lstStyle/>
            <a:p>
              <a:pPr algn="l" marL="138176" indent="-138176">
                <a:buClr>
                  <a:srgbClr val="172B3A"/>
                </a:buClr>
                <a:buSzTx/>
                <a:buFontTx/>
                <a:buChar char="•"/>
              </a:pPr>
              <a:r>
                <a:rPr lang="tr-TR" sz="1280" dirty="0">
                  <a:solidFill>
                    <a:srgbClr val="172B3A"/>
                  </a:solidFill>
                  <a:latin typeface="+mn-lt"/>
                  <a:ea typeface="+mn-ea"/>
                  <a:cs typeface="+mn-cs"/>
                </a:rPr>
                <a:t>Öznitelik sayısı örneklem sayısına yaklaştığında veya geçtiğinde</a:t>
              </a:r>
            </a:p>
          </p:txBody>
        </p:sp>
        <p:sp>
          <p:nvSpPr>
            <p:cNvPr id="14" name="TextBox 14"/>
            <p:cNvSpPr txBox="1"/>
            <p:nvPr/>
          </p:nvSpPr>
          <p:spPr>
            <a:xfrm>
              <a:off x="907923" y="1976914"/>
              <a:ext cx="6532201" cy="249364"/>
            </a:xfrm>
            <a:prstGeom prst="rect">
              <a:avLst/>
            </a:prstGeom>
            <a:noFill/>
            <a:ln>
              <a:noFill/>
            </a:ln>
          </p:spPr>
          <p:txBody>
            <a:bodyPr wrap="none" lIns="0" tIns="0" rIns="0" bIns="0" anchor="t" anchorCtr="0">
              <a:spAutoFit/>
            </a:bodyPr>
            <a:lstStyle/>
            <a:p>
              <a:pPr algn="l" marL="138176" indent="-138176">
                <a:buClr>
                  <a:srgbClr val="172B3A"/>
                </a:buClr>
                <a:buSzTx/>
                <a:buFontTx/>
                <a:buChar char="•"/>
              </a:pPr>
              <a:r>
                <a:rPr lang="tr-TR" sz="1280" dirty="0">
                  <a:solidFill>
                    <a:srgbClr val="172B3A"/>
                  </a:solidFill>
                  <a:latin typeface="+mn-lt"/>
                  <a:ea typeface="+mn-ea"/>
                  <a:cs typeface="+mn-cs"/>
                </a:rPr>
                <a:t>Öznitelikler arasında yüksek korelasyon / çoklu doğrusal bağlantı olduğunda</a:t>
              </a:r>
            </a:p>
          </p:txBody>
        </p:sp>
        <p:sp>
          <p:nvSpPr>
            <p:cNvPr id="15" name="TextBox 15"/>
            <p:cNvSpPr txBox="1"/>
            <p:nvPr/>
          </p:nvSpPr>
          <p:spPr>
            <a:xfrm>
              <a:off x="6241923" y="1729264"/>
              <a:ext cx="4567786" cy="249364"/>
            </a:xfrm>
            <a:prstGeom prst="rect">
              <a:avLst/>
            </a:prstGeom>
            <a:noFill/>
            <a:ln>
              <a:noFill/>
            </a:ln>
          </p:spPr>
          <p:txBody>
            <a:bodyPr wrap="none" lIns="0" tIns="0" rIns="0" bIns="0" anchor="t" anchorCtr="0">
              <a:spAutoFit/>
            </a:bodyPr>
            <a:lstStyle/>
            <a:p>
              <a:pPr algn="l" marL="138176" indent="-138176">
                <a:buClr>
                  <a:srgbClr val="172B3A"/>
                </a:buClr>
                <a:buSzTx/>
                <a:buFontTx/>
                <a:buChar char="•"/>
              </a:pPr>
              <a:r>
                <a:rPr lang="tr-TR" sz="1280" dirty="0">
                  <a:solidFill>
                    <a:srgbClr val="172B3A"/>
                  </a:solidFill>
                  <a:latin typeface="+mn-lt"/>
                  <a:ea typeface="+mn-ea"/>
                  <a:cs typeface="+mn-cs"/>
                </a:rPr>
                <a:t>Görselleştirme veya gürültü azaltma amaçlandığında</a:t>
              </a:r>
            </a:p>
          </p:txBody>
        </p:sp>
        <p:sp>
          <p:nvSpPr>
            <p:cNvPr id="16" name="TextBox 16"/>
            <p:cNvSpPr txBox="1"/>
            <p:nvPr/>
          </p:nvSpPr>
          <p:spPr>
            <a:xfrm>
              <a:off x="6241923" y="1976914"/>
              <a:ext cx="3792363" cy="249364"/>
            </a:xfrm>
            <a:prstGeom prst="rect">
              <a:avLst/>
            </a:prstGeom>
            <a:noFill/>
            <a:ln>
              <a:noFill/>
            </a:ln>
          </p:spPr>
          <p:txBody>
            <a:bodyPr wrap="none" lIns="0" tIns="0" rIns="0" bIns="0" anchor="t" anchorCtr="0">
              <a:spAutoFit/>
            </a:bodyPr>
            <a:lstStyle/>
            <a:p>
              <a:pPr algn="l" marL="138176" indent="-138176">
                <a:buClr>
                  <a:srgbClr val="172B3A"/>
                </a:buClr>
                <a:buSzTx/>
                <a:buFontTx/>
                <a:buChar char="•"/>
              </a:pPr>
              <a:r>
                <a:rPr lang="tr-TR" sz="1280" dirty="0">
                  <a:solidFill>
                    <a:srgbClr val="172B3A"/>
                  </a:solidFill>
                  <a:latin typeface="+mn-lt"/>
                  <a:ea typeface="+mn-ea"/>
                  <a:cs typeface="+mn-cs"/>
                </a:rPr>
                <a:t>Eğitim süresi veya bellek kısıtı sınırlıysa</a:t>
              </a:r>
            </a:p>
          </p:txBody>
        </p:sp>
        <p:sp>
          <p:nvSpPr>
            <p:cNvPr id="17" name="TextBox 17"/>
            <p:cNvSpPr txBox="1"/>
            <p:nvPr/>
          </p:nvSpPr>
          <p:spPr>
            <a:xfrm>
              <a:off x="907923" y="2262664"/>
              <a:ext cx="7298698" cy="249364"/>
            </a:xfrm>
            <a:prstGeom prst="rect">
              <a:avLst/>
            </a:prstGeom>
            <a:noFill/>
            <a:ln>
              <a:noFill/>
            </a:ln>
          </p:spPr>
          <p:txBody>
            <a:bodyPr wrap="none" lIns="0" tIns="0" rIns="0" bIns="0" anchor="t" anchorCtr="0">
              <a:spAutoFit/>
            </a:bodyPr>
            <a:lstStyle/>
            <a:p>
              <a:pPr algn="l"/>
              <a:r>
                <a:rPr lang="tr-TR" sz="1280" i="1" dirty="0">
                  <a:solidFill>
                    <a:srgbClr val="52616B"/>
                  </a:solidFill>
                  <a:latin typeface="+mn-lt"/>
                  <a:ea typeface="+mn-ea"/>
                  <a:cs typeface="+mn-cs"/>
                </a:rPr>
                <a:t>Yorumlanabilirlik kritikse (ör. tıbbi karar desteği) önce öznitelik seçimi denenmelidir.</a:t>
              </a:r>
            </a:p>
          </p:txBody>
        </p:sp>
      </p:grpSp>
      <p:grpSp>
        <p:nvGrpSpPr>
          <p:cNvPr id="24" name="table-header"/>
          <p:cNvGrpSpPr/>
          <p:nvPr/>
        </p:nvGrpSpPr>
        <p:grpSpPr>
          <a:xfrm>
            <a:off x="609600" y="2857500"/>
            <a:ext cx="10972800" cy="381000"/>
            <a:chOff x="609600" y="2857500"/>
            <a:chExt cx="10972800" cy="381000"/>
          </a:xfrm>
        </p:grpSpPr>
        <p:sp>
          <p:nvSpPr>
            <p:cNvPr id="19" name="Rectangle 19"/>
            <p:cNvSpPr/>
            <p:nvPr/>
          </p:nvSpPr>
          <p:spPr>
            <a:xfrm>
              <a:off x="609600" y="2857500"/>
              <a:ext cx="10972800" cy="381000"/>
            </a:xfrm>
            <a:prstGeom prst="rect">
              <a:avLst/>
            </a:prstGeom>
            <a:solidFill>
              <a:srgbClr val="12355B"/>
            </a:solidFill>
            <a:ln>
              <a:noFill/>
            </a:ln>
          </p:spPr>
        </p:sp>
        <p:sp>
          <p:nvSpPr>
            <p:cNvPr id="20" name="TextBox 20"/>
            <p:cNvSpPr txBox="1"/>
            <p:nvPr/>
          </p:nvSpPr>
          <p:spPr>
            <a:xfrm>
              <a:off x="832104" y="2975610"/>
              <a:ext cx="611467"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Yöntem</a:t>
              </a:r>
            </a:p>
          </p:txBody>
        </p:sp>
        <p:sp>
          <p:nvSpPr>
            <p:cNvPr id="21" name="TextBox 21"/>
            <p:cNvSpPr txBox="1"/>
            <p:nvPr/>
          </p:nvSpPr>
          <p:spPr>
            <a:xfrm>
              <a:off x="3613404" y="2975610"/>
              <a:ext cx="772347"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Ne üretir</a:t>
              </a:r>
            </a:p>
          </p:txBody>
        </p:sp>
        <p:sp>
          <p:nvSpPr>
            <p:cNvPr id="22" name="TextBox 22"/>
            <p:cNvSpPr txBox="1"/>
            <p:nvPr/>
          </p:nvSpPr>
          <p:spPr>
            <a:xfrm>
              <a:off x="6661404" y="2975610"/>
              <a:ext cx="1272854"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Modele girer mi</a:t>
              </a:r>
            </a:p>
          </p:txBody>
        </p:sp>
        <p:sp>
          <p:nvSpPr>
            <p:cNvPr id="23" name="TextBox 23"/>
            <p:cNvSpPr txBox="1"/>
            <p:nvPr/>
          </p:nvSpPr>
          <p:spPr>
            <a:xfrm>
              <a:off x="9137904" y="2975610"/>
              <a:ext cx="1145084"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Tipik kullanım</a:t>
              </a:r>
            </a:p>
          </p:txBody>
        </p:sp>
      </p:grpSp>
      <p:grpSp>
        <p:nvGrpSpPr>
          <p:cNvPr id="43" name="rows"/>
          <p:cNvGrpSpPr/>
          <p:nvPr/>
        </p:nvGrpSpPr>
        <p:grpSpPr>
          <a:xfrm>
            <a:off x="609600" y="3238500"/>
            <a:ext cx="10972800" cy="1724025"/>
            <a:chOff x="609600" y="3238500"/>
            <a:chExt cx="10972800" cy="1724025"/>
          </a:xfrm>
        </p:grpSpPr>
        <p:sp>
          <p:nvSpPr>
            <p:cNvPr id="25" name="Rectangle 25"/>
            <p:cNvSpPr/>
            <p:nvPr/>
          </p:nvSpPr>
          <p:spPr>
            <a:xfrm>
              <a:off x="609600" y="3238500"/>
              <a:ext cx="10972800" cy="571500"/>
            </a:xfrm>
            <a:prstGeom prst="rect">
              <a:avLst/>
            </a:prstGeom>
            <a:solidFill>
              <a:srgbClr val="FFFFFF"/>
            </a:solidFill>
            <a:ln>
              <a:noFill/>
            </a:ln>
          </p:spPr>
        </p:sp>
        <p:sp>
          <p:nvSpPr>
            <p:cNvPr id="26" name="TextBox 26"/>
            <p:cNvSpPr txBox="1"/>
            <p:nvPr/>
          </p:nvSpPr>
          <p:spPr>
            <a:xfrm>
              <a:off x="831723" y="3443764"/>
              <a:ext cx="328385" cy="249364"/>
            </a:xfrm>
            <a:prstGeom prst="rect">
              <a:avLst/>
            </a:prstGeom>
            <a:noFill/>
            <a:ln>
              <a:noFill/>
            </a:ln>
          </p:spPr>
          <p:txBody>
            <a:bodyPr wrap="none" lIns="0" tIns="0" rIns="0" bIns="0" anchor="t" anchorCtr="0">
              <a:spAutoFit/>
            </a:bodyPr>
            <a:lstStyle/>
            <a:p>
              <a:pPr algn="l"/>
              <a:r>
                <a:rPr lang="tr-TR" sz="1280" b="1" dirty="0">
                  <a:solidFill>
                    <a:srgbClr val="00A6A6"/>
                  </a:solidFill>
                  <a:latin typeface="+mn-lt"/>
                  <a:ea typeface="+mn-ea"/>
                  <a:cs typeface="+mn-cs"/>
                </a:rPr>
                <a:t>PCA</a:t>
              </a:r>
            </a:p>
          </p:txBody>
        </p:sp>
        <p:sp>
          <p:nvSpPr>
            <p:cNvPr id="27" name="TextBox 27"/>
            <p:cNvSpPr txBox="1"/>
            <p:nvPr/>
          </p:nvSpPr>
          <p:spPr>
            <a:xfrm>
              <a:off x="3613404" y="3451860"/>
              <a:ext cx="160004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Yeni bileşik eksenler</a:t>
              </a:r>
            </a:p>
          </p:txBody>
        </p:sp>
        <p:sp>
          <p:nvSpPr>
            <p:cNvPr id="28" name="TextBox 28"/>
            <p:cNvSpPr txBox="1"/>
            <p:nvPr/>
          </p:nvSpPr>
          <p:spPr>
            <a:xfrm>
              <a:off x="6661404" y="3451860"/>
              <a:ext cx="37261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Evet</a:t>
              </a:r>
            </a:p>
          </p:txBody>
        </p:sp>
        <p:sp>
          <p:nvSpPr>
            <p:cNvPr id="29" name="TextBox 29"/>
            <p:cNvSpPr txBox="1"/>
            <p:nvPr/>
          </p:nvSpPr>
          <p:spPr>
            <a:xfrm>
              <a:off x="9137904" y="3451860"/>
              <a:ext cx="231962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Sıkıştırma, gürültü azaltma</a:t>
              </a:r>
            </a:p>
          </p:txBody>
        </p:sp>
        <p:sp>
          <p:nvSpPr>
            <p:cNvPr id="30" name="Line 30"/>
            <p:cNvSpPr/>
            <p:nvPr/>
          </p:nvSpPr>
          <p:spPr>
            <a:xfrm>
              <a:off x="609600" y="38100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1" name="Rectangle 31"/>
            <p:cNvSpPr/>
            <p:nvPr/>
          </p:nvSpPr>
          <p:spPr>
            <a:xfrm>
              <a:off x="609600" y="3810000"/>
              <a:ext cx="10972800" cy="571500"/>
            </a:xfrm>
            <a:prstGeom prst="rect">
              <a:avLst/>
            </a:prstGeom>
            <a:solidFill>
              <a:srgbClr val="EAF4F6"/>
            </a:solidFill>
            <a:ln>
              <a:noFill/>
            </a:ln>
          </p:spPr>
        </p:sp>
        <p:sp>
          <p:nvSpPr>
            <p:cNvPr id="32" name="TextBox 32"/>
            <p:cNvSpPr txBox="1"/>
            <p:nvPr/>
          </p:nvSpPr>
          <p:spPr>
            <a:xfrm>
              <a:off x="831723" y="4015264"/>
              <a:ext cx="1375044" cy="249364"/>
            </a:xfrm>
            <a:prstGeom prst="rect">
              <a:avLst/>
            </a:prstGeom>
            <a:noFill/>
            <a:ln>
              <a:noFill/>
            </a:ln>
          </p:spPr>
          <p:txBody>
            <a:bodyPr wrap="none" lIns="0" tIns="0" rIns="0" bIns="0" anchor="t" anchorCtr="0">
              <a:spAutoFit/>
            </a:bodyPr>
            <a:lstStyle/>
            <a:p>
              <a:pPr algn="l"/>
              <a:r>
                <a:rPr lang="tr-TR" sz="1280" b="1" dirty="0">
                  <a:solidFill>
                    <a:srgbClr val="00A6A6"/>
                  </a:solidFill>
                  <a:latin typeface="+mn-lt"/>
                  <a:ea typeface="+mn-ea"/>
                  <a:cs typeface="+mn-cs"/>
                </a:rPr>
                <a:t>Öznitelik seçimi</a:t>
              </a:r>
            </a:p>
          </p:txBody>
        </p:sp>
        <p:sp>
          <p:nvSpPr>
            <p:cNvPr id="33" name="TextBox 33"/>
            <p:cNvSpPr txBox="1"/>
            <p:nvPr/>
          </p:nvSpPr>
          <p:spPr>
            <a:xfrm>
              <a:off x="3613404" y="4023360"/>
              <a:ext cx="239205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Var olan sütunların alt kümesi</a:t>
              </a:r>
            </a:p>
          </p:txBody>
        </p:sp>
        <p:sp>
          <p:nvSpPr>
            <p:cNvPr id="34" name="TextBox 34"/>
            <p:cNvSpPr txBox="1"/>
            <p:nvPr/>
          </p:nvSpPr>
          <p:spPr>
            <a:xfrm>
              <a:off x="6661404" y="4023360"/>
              <a:ext cx="37261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Evet</a:t>
              </a:r>
            </a:p>
          </p:txBody>
        </p:sp>
        <p:sp>
          <p:nvSpPr>
            <p:cNvPr id="35" name="TextBox 35"/>
            <p:cNvSpPr txBox="1"/>
            <p:nvPr/>
          </p:nvSpPr>
          <p:spPr>
            <a:xfrm>
              <a:off x="9137904" y="4023360"/>
              <a:ext cx="235105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Yorumlanabilirlik gerektiğinde</a:t>
              </a:r>
            </a:p>
          </p:txBody>
        </p:sp>
        <p:sp>
          <p:nvSpPr>
            <p:cNvPr id="36" name="Line 36"/>
            <p:cNvSpPr/>
            <p:nvPr/>
          </p:nvSpPr>
          <p:spPr>
            <a:xfrm>
              <a:off x="609600" y="43815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7" name="Rectangle 37"/>
            <p:cNvSpPr/>
            <p:nvPr/>
          </p:nvSpPr>
          <p:spPr>
            <a:xfrm>
              <a:off x="609600" y="4381500"/>
              <a:ext cx="10972800" cy="571500"/>
            </a:xfrm>
            <a:prstGeom prst="rect">
              <a:avLst/>
            </a:prstGeom>
            <a:solidFill>
              <a:srgbClr val="FFFFFF"/>
            </a:solidFill>
            <a:ln>
              <a:noFill/>
            </a:ln>
          </p:spPr>
        </p:sp>
        <p:sp>
          <p:nvSpPr>
            <p:cNvPr id="38" name="TextBox 38"/>
            <p:cNvSpPr txBox="1"/>
            <p:nvPr/>
          </p:nvSpPr>
          <p:spPr>
            <a:xfrm>
              <a:off x="831723" y="4586764"/>
              <a:ext cx="531632" cy="249364"/>
            </a:xfrm>
            <a:prstGeom prst="rect">
              <a:avLst/>
            </a:prstGeom>
            <a:noFill/>
            <a:ln>
              <a:noFill/>
            </a:ln>
          </p:spPr>
          <p:txBody>
            <a:bodyPr wrap="none" lIns="0" tIns="0" rIns="0" bIns="0" anchor="t" anchorCtr="0">
              <a:spAutoFit/>
            </a:bodyPr>
            <a:lstStyle/>
            <a:p>
              <a:pPr algn="l"/>
              <a:r>
                <a:rPr lang="tr-TR" sz="1280" b="1" dirty="0">
                  <a:solidFill>
                    <a:srgbClr val="00A6A6"/>
                  </a:solidFill>
                  <a:latin typeface="+mn-lt"/>
                  <a:ea typeface="+mn-ea"/>
                  <a:cs typeface="+mn-cs"/>
                </a:rPr>
                <a:t>t-SNE</a:t>
              </a:r>
            </a:p>
          </p:txBody>
        </p:sp>
        <p:sp>
          <p:nvSpPr>
            <p:cNvPr id="39" name="TextBox 39"/>
            <p:cNvSpPr txBox="1"/>
            <p:nvPr/>
          </p:nvSpPr>
          <p:spPr>
            <a:xfrm>
              <a:off x="3613404" y="4594860"/>
              <a:ext cx="21122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2-3 boyutlu görsel izdüşüm</a:t>
              </a:r>
            </a:p>
          </p:txBody>
        </p:sp>
        <p:sp>
          <p:nvSpPr>
            <p:cNvPr id="40" name="TextBox 40"/>
            <p:cNvSpPr txBox="1"/>
            <p:nvPr/>
          </p:nvSpPr>
          <p:spPr>
            <a:xfrm>
              <a:off x="6661404" y="4594860"/>
              <a:ext cx="46146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Hayır</a:t>
              </a:r>
            </a:p>
          </p:txBody>
        </p:sp>
        <p:sp>
          <p:nvSpPr>
            <p:cNvPr id="41" name="TextBox 41"/>
            <p:cNvSpPr txBox="1"/>
            <p:nvPr/>
          </p:nvSpPr>
          <p:spPr>
            <a:xfrm>
              <a:off x="9137904" y="4594860"/>
              <a:ext cx="20123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Kümeleri görsel keşfetme</a:t>
              </a:r>
            </a:p>
          </p:txBody>
        </p:sp>
        <p:sp>
          <p:nvSpPr>
            <p:cNvPr id="42" name="Line 42"/>
            <p:cNvSpPr/>
            <p:nvPr/>
          </p:nvSpPr>
          <p:spPr>
            <a:xfrm>
              <a:off x="609600" y="49530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7" name="bottom-note"/>
          <p:cNvGrpSpPr/>
          <p:nvPr/>
        </p:nvGrpSpPr>
        <p:grpSpPr>
          <a:xfrm>
            <a:off x="609600" y="5257800"/>
            <a:ext cx="10972800" cy="876300"/>
            <a:chOff x="609600" y="5257800"/>
            <a:chExt cx="10972800" cy="876300"/>
          </a:xfrm>
        </p:grpSpPr>
        <p:sp>
          <p:nvSpPr>
            <p:cNvPr id="44" name="Rectangle 44"/>
            <p:cNvSpPr/>
            <p:nvPr/>
          </p:nvSpPr>
          <p:spPr>
            <a:xfrm>
              <a:off x="609600" y="5257800"/>
              <a:ext cx="10972800" cy="876300"/>
            </a:xfrm>
            <a:prstGeom prst="roundRect">
              <a:avLst>
                <a:gd name="adj" fmla="val 8696"/>
              </a:avLst>
            </a:prstGeom>
            <a:solidFill>
              <a:srgbClr val="12355B"/>
            </a:solidFill>
            <a:ln>
              <a:noFill/>
            </a:ln>
          </p:spPr>
        </p:sp>
        <p:sp>
          <p:nvSpPr>
            <p:cNvPr id="45" name="TextBox 45"/>
            <p:cNvSpPr txBox="1"/>
            <p:nvPr/>
          </p:nvSpPr>
          <p:spPr>
            <a:xfrm>
              <a:off x="907161" y="5427821"/>
              <a:ext cx="4176476"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Üçü de aynı probleme farklı çözüm sunar —</a:t>
              </a:r>
            </a:p>
          </p:txBody>
        </p:sp>
        <p:sp>
          <p:nvSpPr>
            <p:cNvPr id="46" name="TextBox 46"/>
            <p:cNvSpPr txBox="1"/>
            <p:nvPr/>
          </p:nvSpPr>
          <p:spPr>
            <a:xfrm>
              <a:off x="907161" y="5694521"/>
              <a:ext cx="5998395" cy="278702"/>
            </a:xfrm>
            <a:prstGeom prst="rect">
              <a:avLst/>
            </a:prstGeom>
            <a:noFill/>
            <a:ln>
              <a:noFill/>
            </a:ln>
          </p:spPr>
          <p:txBody>
            <a:bodyPr wrap="none" lIns="0" tIns="0" rIns="0" bIns="0" anchor="t" anchorCtr="0">
              <a:spAutoFit/>
            </a:bodyPr>
            <a:lstStyle/>
            <a:p>
              <a:pPr algn="l"/>
              <a:r>
                <a:rPr lang="tr-TR" sz="1420" dirty="0">
                  <a:solidFill>
                    <a:srgbClr val="EAF4F6"/>
                  </a:solidFill>
                  <a:latin typeface="+mn-lt"/>
                  <a:ea typeface="+mn-ea"/>
                  <a:cs typeface="+mn-cs"/>
                </a:rPr>
                <a:t>PCA sıkıştırır, öznitelik seçimi eler, t-SNE yalnızca gösterir.</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6255586" cy="668845"/>
            <a:chOff x="609600" y="171450"/>
            <a:chExt cx="6255586"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556521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PCA: temel bileşenler analizi</a:t>
              </a:r>
            </a:p>
          </p:txBody>
        </p:sp>
      </p:grpSp>
      <p:grpSp>
        <p:nvGrpSpPr>
          <p:cNvPr id="16" name="def-text"/>
          <p:cNvGrpSpPr/>
          <p:nvPr/>
        </p:nvGrpSpPr>
        <p:grpSpPr>
          <a:xfrm>
            <a:off x="601980" y="1343025"/>
            <a:ext cx="11372732" cy="883253"/>
            <a:chOff x="601980" y="1343025"/>
            <a:chExt cx="11372732" cy="883253"/>
          </a:xfrm>
        </p:grpSpPr>
        <p:sp>
          <p:nvSpPr>
            <p:cNvPr id="13" name="TextBox 13"/>
            <p:cNvSpPr txBox="1"/>
            <p:nvPr/>
          </p:nvSpPr>
          <p:spPr>
            <a:xfrm>
              <a:off x="601980" y="1343025"/>
              <a:ext cx="9189349"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Veriyi orijinal eksenlerden bağımsız, birbirine dik (ortogonal) yeni eksenlere izdüşüren ve bu</a:t>
              </a:r>
            </a:p>
          </p:txBody>
        </p:sp>
        <p:sp>
          <p:nvSpPr>
            <p:cNvPr id="14" name="TextBox 14"/>
            <p:cNvSpPr txBox="1"/>
            <p:nvPr/>
          </p:nvSpPr>
          <p:spPr>
            <a:xfrm>
              <a:off x="601980" y="1609725"/>
              <a:ext cx="8375142"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eksenleri verideki varyansı en çok açıklayacak sırayla dizen doğrusal bir yöntemdir.</a:t>
              </a:r>
            </a:p>
          </p:txBody>
        </p:sp>
        <p:sp>
          <p:nvSpPr>
            <p:cNvPr id="15" name="TextBox 15"/>
            <p:cNvSpPr txBox="1"/>
            <p:nvPr/>
          </p:nvSpPr>
          <p:spPr>
            <a:xfrm>
              <a:off x="603123" y="1976914"/>
              <a:ext cx="11371589" cy="249364"/>
            </a:xfrm>
            <a:prstGeom prst="rect">
              <a:avLst/>
            </a:prstGeom>
            <a:noFill/>
            <a:ln>
              <a:noFill/>
            </a:ln>
          </p:spPr>
          <p:txBody>
            <a:bodyPr wrap="none" lIns="0" tIns="0" rIns="0" bIns="0" anchor="t" anchorCtr="0">
              <a:spAutoFit/>
            </a:bodyPr>
            <a:lstStyle/>
            <a:p>
              <a:pPr algn="l"/>
              <a:r>
                <a:rPr lang="tr-TR" sz="1280" dirty="0">
                  <a:solidFill>
                    <a:srgbClr val="52616B"/>
                  </a:solidFill>
                  <a:latin typeface="+mn-lt"/>
                  <a:ea typeface="+mn-ea"/>
                  <a:cs typeface="+mn-cs"/>
                </a:rPr>
                <a:t>Kovaryans matrisi C'nin özdeğer ayrışımı hesaplanır: her özvektör bir eksen yönünü, her özdeğer o yöndeki varyans miktarını verir.</a:t>
              </a:r>
            </a:p>
          </p:txBody>
        </p:sp>
      </p:grpSp>
      <p:grpSp>
        <p:nvGrpSpPr>
          <p:cNvPr id="23" name="formula-panel"/>
          <p:cNvGrpSpPr/>
          <p:nvPr/>
        </p:nvGrpSpPr>
        <p:grpSpPr>
          <a:xfrm>
            <a:off x="609600" y="2628900"/>
            <a:ext cx="5334000" cy="2095500"/>
            <a:chOff x="609600" y="2628900"/>
            <a:chExt cx="5334000" cy="2095500"/>
          </a:xfrm>
        </p:grpSpPr>
        <p:sp>
          <p:nvSpPr>
            <p:cNvPr id="17" name="Rectangle 17"/>
            <p:cNvSpPr/>
            <p:nvPr/>
          </p:nvSpPr>
          <p:spPr>
            <a:xfrm>
              <a:off x="609600" y="2628900"/>
              <a:ext cx="5334000" cy="2095500"/>
            </a:xfrm>
            <a:prstGeom prst="roundRect">
              <a:avLst>
                <a:gd name="adj" fmla="val 4545"/>
              </a:avLst>
            </a:prstGeom>
            <a:solidFill>
              <a:srgbClr val="12355B"/>
            </a:solidFill>
            <a:ln>
              <a:noFill/>
            </a:ln>
          </p:spPr>
        </p:sp>
        <p:sp>
          <p:nvSpPr>
            <p:cNvPr id="18" name="TextBox 18"/>
            <p:cNvSpPr txBox="1"/>
            <p:nvPr/>
          </p:nvSpPr>
          <p:spPr>
            <a:xfrm>
              <a:off x="2473604" y="2880360"/>
              <a:ext cx="1605991" cy="234696"/>
            </a:xfrm>
            <a:prstGeom prst="rect">
              <a:avLst/>
            </a:prstGeom>
            <a:noFill/>
            <a:ln>
              <a:noFill/>
            </a:ln>
          </p:spPr>
          <p:txBody>
            <a:bodyPr wrap="none" lIns="0" tIns="0" rIns="0" bIns="0" anchor="t" anchorCtr="0">
              <a:spAutoFit/>
            </a:bodyPr>
            <a:lstStyle/>
            <a:p>
              <a:pPr algn="ctr"/>
              <a:r>
                <a:rPr lang="tr-TR" sz="1200" b="1" spc="75" dirty="0">
                  <a:solidFill>
                    <a:srgbClr val="00A6A6"/>
                  </a:solidFill>
                  <a:latin typeface="+mn-lt"/>
                  <a:ea typeface="+mn-ea"/>
                  <a:cs typeface="+mn-cs"/>
                </a:rPr>
                <a:t>ÖZDEĞER AYRIŞIMI</a:t>
              </a:r>
            </a:p>
          </p:txBody>
        </p:sp>
        <p:sp>
          <p:nvSpPr>
            <p:cNvPr id="19" name="TextBox 19"/>
            <p:cNvSpPr txBox="1"/>
            <p:nvPr/>
          </p:nvSpPr>
          <p:spPr>
            <a:xfrm>
              <a:off x="1992940" y="3287078"/>
              <a:ext cx="2567321" cy="498729"/>
            </a:xfrm>
            <a:prstGeom prst="rect">
              <a:avLst/>
            </a:prstGeom>
            <a:noFill/>
            <a:ln>
              <a:noFill/>
            </a:ln>
          </p:spPr>
          <p:txBody>
            <a:bodyPr wrap="none" lIns="0" tIns="0" rIns="0" bIns="0" anchor="t" anchorCtr="0">
              <a:spAutoFit/>
            </a:bodyPr>
            <a:lstStyle/>
            <a:p>
              <a:pPr algn="ctr"/>
              <a:r>
                <a:rPr lang="el-GR" sz="2550" dirty="0">
                  <a:solidFill>
                    <a:srgbClr val="FFFFFF"/>
                  </a:solidFill>
                  <a:latin typeface="Cambria Math"/>
                  <a:ea typeface="Cambria Math"/>
                  <a:cs typeface="Cambria Math"/>
                </a:rPr>
                <a:t>C · vⁱ = λⁱ · vⁱ</a:t>
              </a:r>
            </a:p>
          </p:txBody>
        </p:sp>
        <p:sp>
          <p:nvSpPr>
            <p:cNvPr id="20" name="TextBox 20"/>
            <p:cNvSpPr txBox="1"/>
            <p:nvPr/>
          </p:nvSpPr>
          <p:spPr>
            <a:xfrm>
              <a:off x="908304" y="3909060"/>
              <a:ext cx="3598469" cy="234696"/>
            </a:xfrm>
            <a:prstGeom prst="rect">
              <a:avLst/>
            </a:prstGeom>
            <a:noFill/>
            <a:ln>
              <a:noFill/>
            </a:ln>
          </p:spPr>
          <p:txBody>
            <a:bodyPr wrap="none" lIns="0" tIns="0" rIns="0" bIns="0" anchor="t" anchorCtr="0">
              <a:spAutoFit/>
            </a:bodyPr>
            <a:lstStyle/>
            <a:p>
              <a:pPr algn="l"/>
              <a:r>
                <a:rPr lang="el-GR" sz="1200" dirty="0">
                  <a:solidFill>
                    <a:srgbClr val="EAF4F6"/>
                  </a:solidFill>
                  <a:latin typeface="+mn-lt"/>
                  <a:ea typeface="+mn-ea"/>
                  <a:cs typeface="+mn-cs"/>
                </a:rPr>
                <a:t>λⁱ : i. özdeğer — o eksendeki varyans miktarı</a:t>
              </a:r>
            </a:p>
          </p:txBody>
        </p:sp>
        <p:sp>
          <p:nvSpPr>
            <p:cNvPr id="21" name="TextBox 21"/>
            <p:cNvSpPr txBox="1"/>
            <p:nvPr/>
          </p:nvSpPr>
          <p:spPr>
            <a:xfrm>
              <a:off x="908304" y="4175760"/>
              <a:ext cx="321076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vⁱ : i. özvektör — i. temel bileşenin yönü</a:t>
              </a:r>
            </a:p>
          </p:txBody>
        </p:sp>
        <p:sp>
          <p:nvSpPr>
            <p:cNvPr id="22" name="TextBox 22"/>
            <p:cNvSpPr txBox="1"/>
            <p:nvPr/>
          </p:nvSpPr>
          <p:spPr>
            <a:xfrm>
              <a:off x="908304" y="4442460"/>
              <a:ext cx="2586126" cy="234696"/>
            </a:xfrm>
            <a:prstGeom prst="rect">
              <a:avLst/>
            </a:prstGeom>
            <a:noFill/>
            <a:ln>
              <a:noFill/>
            </a:ln>
          </p:spPr>
          <p:txBody>
            <a:bodyPr wrap="none" lIns="0" tIns="0" rIns="0" bIns="0" anchor="t" anchorCtr="0">
              <a:spAutoFit/>
            </a:bodyPr>
            <a:lstStyle/>
            <a:p>
              <a:pPr algn="l"/>
              <a:r>
                <a:rPr lang="el-GR" sz="1200" dirty="0">
                  <a:solidFill>
                    <a:srgbClr val="EAF4F6"/>
                  </a:solidFill>
                  <a:latin typeface="+mn-lt"/>
                  <a:ea typeface="+mn-ea"/>
                  <a:cs typeface="+mn-cs"/>
                </a:rPr>
                <a:t>En büyük λ → birinci temel bileşen</a:t>
              </a:r>
            </a:p>
          </p:txBody>
        </p:sp>
      </p:grpSp>
      <p:grpSp>
        <p:nvGrpSpPr>
          <p:cNvPr id="30" name="formula-panel-2"/>
          <p:cNvGrpSpPr/>
          <p:nvPr/>
        </p:nvGrpSpPr>
        <p:grpSpPr>
          <a:xfrm>
            <a:off x="6248400" y="2628900"/>
            <a:ext cx="5334000" cy="2095500"/>
            <a:chOff x="6248400" y="2628900"/>
            <a:chExt cx="5334000" cy="2095500"/>
          </a:xfrm>
        </p:grpSpPr>
        <p:sp>
          <p:nvSpPr>
            <p:cNvPr id="24" name="Rectangle 24"/>
            <p:cNvSpPr/>
            <p:nvPr/>
          </p:nvSpPr>
          <p:spPr>
            <a:xfrm>
              <a:off x="6248400" y="2628900"/>
              <a:ext cx="5334000" cy="2095500"/>
            </a:xfrm>
            <a:prstGeom prst="roundRect">
              <a:avLst>
                <a:gd name="adj" fmla="val 4545"/>
              </a:avLst>
            </a:prstGeom>
            <a:solidFill>
              <a:srgbClr val="FFFFFF"/>
            </a:solidFill>
            <a:ln w="14288">
              <a:solidFill>
                <a:srgbClr val="B8CBD3"/>
              </a:solidFill>
            </a:ln>
          </p:spPr>
        </p:sp>
        <p:sp>
          <p:nvSpPr>
            <p:cNvPr id="25" name="TextBox 25"/>
            <p:cNvSpPr txBox="1"/>
            <p:nvPr/>
          </p:nvSpPr>
          <p:spPr>
            <a:xfrm>
              <a:off x="7730063" y="2880360"/>
              <a:ext cx="2370673" cy="234696"/>
            </a:xfrm>
            <a:prstGeom prst="rect">
              <a:avLst/>
            </a:prstGeom>
            <a:noFill/>
            <a:ln>
              <a:noFill/>
            </a:ln>
          </p:spPr>
          <p:txBody>
            <a:bodyPr wrap="none" lIns="0" tIns="0" rIns="0" bIns="0" anchor="t" anchorCtr="0">
              <a:spAutoFit/>
            </a:bodyPr>
            <a:lstStyle/>
            <a:p>
              <a:pPr algn="ctr"/>
              <a:r>
                <a:rPr lang="tr-TR" sz="1200" b="1" spc="75" dirty="0">
                  <a:solidFill>
                    <a:srgbClr val="12355B"/>
                  </a:solidFill>
                  <a:latin typeface="+mn-lt"/>
                  <a:ea typeface="+mn-ea"/>
                  <a:cs typeface="+mn-cs"/>
                </a:rPr>
                <a:t>AÇIKLANAN VARYANS ORANI</a:t>
              </a:r>
            </a:p>
          </p:txBody>
        </p:sp>
        <p:sp>
          <p:nvSpPr>
            <p:cNvPr id="26" name="TextBox 26"/>
            <p:cNvSpPr txBox="1"/>
            <p:nvPr/>
          </p:nvSpPr>
          <p:spPr>
            <a:xfrm>
              <a:off x="7630954" y="3376612"/>
              <a:ext cx="2568892" cy="440055"/>
            </a:xfrm>
            <a:prstGeom prst="rect">
              <a:avLst/>
            </a:prstGeom>
            <a:noFill/>
            <a:ln>
              <a:noFill/>
            </a:ln>
          </p:spPr>
          <p:txBody>
            <a:bodyPr wrap="none" lIns="0" tIns="0" rIns="0" bIns="0" anchor="t" anchorCtr="0">
              <a:spAutoFit/>
            </a:bodyPr>
            <a:lstStyle/>
            <a:p>
              <a:pPr algn="ctr"/>
              <a:r>
                <a:rPr lang="el-GR" sz="2250" dirty="0">
                  <a:solidFill>
                    <a:srgbClr val="12355B"/>
                  </a:solidFill>
                  <a:latin typeface="Cambria Math"/>
                  <a:ea typeface="Cambria Math"/>
                  <a:cs typeface="Cambria Math"/>
                </a:rPr>
                <a:t>EVRⁱ = λⁱ / Σⱼ λⱼ</a:t>
              </a:r>
            </a:p>
          </p:txBody>
        </p:sp>
        <p:sp>
          <p:nvSpPr>
            <p:cNvPr id="27" name="TextBox 27"/>
            <p:cNvSpPr txBox="1"/>
            <p:nvPr/>
          </p:nvSpPr>
          <p:spPr>
            <a:xfrm>
              <a:off x="6547104" y="3947160"/>
              <a:ext cx="324815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 bileşenin özdeğerinin, tüm özdeğerler</a:t>
              </a:r>
            </a:p>
          </p:txBody>
        </p:sp>
        <p:sp>
          <p:nvSpPr>
            <p:cNvPr id="28" name="TextBox 28"/>
            <p:cNvSpPr txBox="1"/>
            <p:nvPr/>
          </p:nvSpPr>
          <p:spPr>
            <a:xfrm>
              <a:off x="6547104" y="4175760"/>
              <a:ext cx="337230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toplamına oranı — o bileşenin "kaçırılırsa</a:t>
              </a:r>
            </a:p>
          </p:txBody>
        </p:sp>
        <p:sp>
          <p:nvSpPr>
            <p:cNvPr id="29" name="TextBox 29"/>
            <p:cNvSpPr txBox="1"/>
            <p:nvPr/>
          </p:nvSpPr>
          <p:spPr>
            <a:xfrm>
              <a:off x="6547104" y="4404360"/>
              <a:ext cx="356616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ne kadar bilgi kaybedilir" sorusuna cevaptır.</a:t>
              </a:r>
            </a:p>
          </p:txBody>
        </p:sp>
      </p:grpSp>
      <p:grpSp>
        <p:nvGrpSpPr>
          <p:cNvPr id="35" name="analogy-box"/>
          <p:cNvGrpSpPr/>
          <p:nvPr/>
        </p:nvGrpSpPr>
        <p:grpSpPr>
          <a:xfrm>
            <a:off x="609600" y="5029200"/>
            <a:ext cx="10972800" cy="1104900"/>
            <a:chOff x="609600" y="5029200"/>
            <a:chExt cx="10972800" cy="1104900"/>
          </a:xfrm>
        </p:grpSpPr>
        <p:sp>
          <p:nvSpPr>
            <p:cNvPr id="31" name="Rectangle 31"/>
            <p:cNvSpPr/>
            <p:nvPr/>
          </p:nvSpPr>
          <p:spPr>
            <a:xfrm>
              <a:off x="609600" y="5029200"/>
              <a:ext cx="10972800" cy="1104900"/>
            </a:xfrm>
            <a:prstGeom prst="roundRect">
              <a:avLst>
                <a:gd name="adj" fmla="val 8621"/>
              </a:avLst>
            </a:prstGeom>
            <a:solidFill>
              <a:srgbClr val="EAF4F6"/>
            </a:solidFill>
            <a:ln>
              <a:noFill/>
            </a:ln>
          </p:spPr>
        </p:sp>
        <p:sp>
          <p:nvSpPr>
            <p:cNvPr id="32" name="TextBox 32"/>
            <p:cNvSpPr txBox="1"/>
            <p:nvPr/>
          </p:nvSpPr>
          <p:spPr>
            <a:xfrm>
              <a:off x="907542" y="5207318"/>
              <a:ext cx="242428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Orkestra şefi benzetmesi</a:t>
              </a:r>
            </a:p>
          </p:txBody>
        </p:sp>
        <p:sp>
          <p:nvSpPr>
            <p:cNvPr id="33" name="TextBox 33"/>
            <p:cNvSpPr txBox="1"/>
            <p:nvPr/>
          </p:nvSpPr>
          <p:spPr>
            <a:xfrm>
              <a:off x="907923" y="5482114"/>
              <a:ext cx="786753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Onlarca çalgıyı tek tek dinlemek yerine şef "yaylılar, nefesliler, vurmalılar" gibi birkaç ana</a:t>
              </a:r>
            </a:p>
          </p:txBody>
        </p:sp>
        <p:sp>
          <p:nvSpPr>
            <p:cNvPr id="34" name="TextBox 34"/>
            <p:cNvSpPr txBox="1"/>
            <p:nvPr/>
          </p:nvSpPr>
          <p:spPr>
            <a:xfrm>
              <a:off x="907923" y="5710714"/>
              <a:ext cx="7499890"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grup üzerinden orkestrayı yönetir — PCA bileşenleri de onlarca ham sütunu böyle özetler.</a:t>
              </a:r>
            </a:p>
          </p:txBody>
        </p:sp>
      </p:grpSp>
      <p:sp>
        <p:nvSpPr>
          <p:cNvPr id="36" name="TextBox 3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628146" cy="668845"/>
            <a:chOff x="609600" y="171450"/>
            <a:chExt cx="7628146"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69377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PCA uygulaması: kümülatif varyans</a:t>
              </a:r>
            </a:p>
          </p:txBody>
        </p:sp>
      </p:grpSp>
      <p:grpSp>
        <p:nvGrpSpPr>
          <p:cNvPr id="30" name="code-block"/>
          <p:cNvGrpSpPr/>
          <p:nvPr/>
        </p:nvGrpSpPr>
        <p:grpSpPr>
          <a:xfrm>
            <a:off x="609600" y="1219200"/>
            <a:ext cx="5334000" cy="4343400"/>
            <a:chOff x="609600" y="1219200"/>
            <a:chExt cx="5334000" cy="4343400"/>
          </a:xfrm>
        </p:grpSpPr>
        <p:sp>
          <p:nvSpPr>
            <p:cNvPr id="13" name="Rectangle 13"/>
            <p:cNvSpPr/>
            <p:nvPr/>
          </p:nvSpPr>
          <p:spPr>
            <a:xfrm>
              <a:off x="609600" y="1219200"/>
              <a:ext cx="5334000" cy="4343400"/>
            </a:xfrm>
            <a:prstGeom prst="roundRect">
              <a:avLst>
                <a:gd name="adj" fmla="val 2193"/>
              </a:avLst>
            </a:prstGeom>
            <a:solidFill>
              <a:srgbClr val="12355B"/>
            </a:solidFill>
            <a:ln>
              <a:noFill/>
            </a:ln>
          </p:spPr>
        </p:sp>
        <p:sp>
          <p:nvSpPr>
            <p:cNvPr id="14" name="TextBox 14"/>
            <p:cNvSpPr txBox="1"/>
            <p:nvPr/>
          </p:nvSpPr>
          <p:spPr>
            <a:xfrm>
              <a:off x="832866" y="1410652"/>
              <a:ext cx="3377272"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 1) Ölçekleme zorunlu (PCA ölçeğe duyarlı)</a:t>
              </a:r>
            </a:p>
          </p:txBody>
        </p:sp>
        <p:sp>
          <p:nvSpPr>
            <p:cNvPr id="15" name="TextBox 15"/>
            <p:cNvSpPr txBox="1"/>
            <p:nvPr/>
          </p:nvSpPr>
          <p:spPr>
            <a:xfrm>
              <a:off x="832866" y="1620202"/>
              <a:ext cx="2353521"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olcekleyici = StandardScaler()</a:t>
              </a:r>
            </a:p>
          </p:txBody>
        </p:sp>
        <p:sp>
          <p:nvSpPr>
            <p:cNvPr id="16" name="TextBox 16"/>
            <p:cNvSpPr txBox="1"/>
            <p:nvPr/>
          </p:nvSpPr>
          <p:spPr>
            <a:xfrm>
              <a:off x="832866" y="1829752"/>
              <a:ext cx="3131391"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X_olcekli = olcekleyici.fit_transform(X)</a:t>
              </a:r>
            </a:p>
          </p:txBody>
        </p:sp>
        <p:sp>
          <p:nvSpPr>
            <p:cNvPr id="17" name="TextBox 17"/>
            <p:cNvSpPr txBox="1"/>
            <p:nvPr/>
          </p:nvSpPr>
          <p:spPr>
            <a:xfrm>
              <a:off x="832866" y="2134552"/>
              <a:ext cx="2348699"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 2) Tüm bileşenler hesaplanır</a:t>
              </a:r>
            </a:p>
          </p:txBody>
        </p:sp>
        <p:sp>
          <p:nvSpPr>
            <p:cNvPr id="18" name="TextBox 18"/>
            <p:cNvSpPr txBox="1"/>
            <p:nvPr/>
          </p:nvSpPr>
          <p:spPr>
            <a:xfrm>
              <a:off x="832866" y="2344102"/>
              <a:ext cx="2522936"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pcaModeli = PCA(random_state=42)</a:t>
              </a:r>
            </a:p>
          </p:txBody>
        </p:sp>
        <p:sp>
          <p:nvSpPr>
            <p:cNvPr id="19" name="TextBox 19"/>
            <p:cNvSpPr txBox="1"/>
            <p:nvPr/>
          </p:nvSpPr>
          <p:spPr>
            <a:xfrm>
              <a:off x="832866" y="2553652"/>
              <a:ext cx="3675198"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bilesenler = pcaModeli.fit_transform(X_olcekli)</a:t>
              </a:r>
            </a:p>
          </p:txBody>
        </p:sp>
        <p:sp>
          <p:nvSpPr>
            <p:cNvPr id="20" name="TextBox 20"/>
            <p:cNvSpPr txBox="1"/>
            <p:nvPr/>
          </p:nvSpPr>
          <p:spPr>
            <a:xfrm>
              <a:off x="832866" y="2858452"/>
              <a:ext cx="3203771"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 3) Açıklanan varyans oranı ve kümülatif</a:t>
              </a:r>
            </a:p>
          </p:txBody>
        </p:sp>
        <p:sp>
          <p:nvSpPr>
            <p:cNvPr id="21" name="TextBox 21"/>
            <p:cNvSpPr txBox="1"/>
            <p:nvPr/>
          </p:nvSpPr>
          <p:spPr>
            <a:xfrm>
              <a:off x="832866" y="3068002"/>
              <a:ext cx="3281157"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oran = pcaModeli.explained_variance_ratio_</a:t>
              </a:r>
            </a:p>
          </p:txBody>
        </p:sp>
        <p:sp>
          <p:nvSpPr>
            <p:cNvPr id="22" name="TextBox 22"/>
            <p:cNvSpPr txBox="1"/>
            <p:nvPr/>
          </p:nvSpPr>
          <p:spPr>
            <a:xfrm>
              <a:off x="832866" y="3277552"/>
              <a:ext cx="2109730"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kumulatif = np.cumsum(oran)</a:t>
              </a:r>
            </a:p>
          </p:txBody>
        </p:sp>
        <p:sp>
          <p:nvSpPr>
            <p:cNvPr id="23" name="Line 23"/>
            <p:cNvSpPr/>
            <p:nvPr/>
          </p:nvSpPr>
          <p:spPr>
            <a:xfrm>
              <a:off x="838200" y="3619500"/>
              <a:ext cx="4876800" cy="9525"/>
            </a:xfrm>
            <a:custGeom>
              <a:avLst/>
              <a:gdLst/>
              <a:ahLst/>
              <a:cxnLst/>
              <a:rect l="l" t="t" r="r" b="b"/>
              <a:pathLst>
                <a:path w="4876800" h="9525">
                  <a:moveTo>
                    <a:pt x="0" y="0"/>
                  </a:moveTo>
                  <a:lnTo>
                    <a:pt x="4876800" y="0"/>
                  </a:lnTo>
                </a:path>
              </a:pathLst>
            </a:custGeom>
            <a:noFill/>
            <a:ln w="9525">
              <a:solidFill>
                <a:srgbClr val="2E86AB"/>
              </a:solidFill>
            </a:ln>
          </p:spPr>
        </p:sp>
        <p:sp>
          <p:nvSpPr>
            <p:cNvPr id="24" name="TextBox 24"/>
            <p:cNvSpPr txBox="1"/>
            <p:nvPr/>
          </p:nvSpPr>
          <p:spPr>
            <a:xfrm>
              <a:off x="832866" y="3772852"/>
              <a:ext cx="1882714"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 İlk 5 bileşenin oranı:</a:t>
              </a:r>
            </a:p>
          </p:txBody>
        </p:sp>
        <p:sp>
          <p:nvSpPr>
            <p:cNvPr id="25" name="TextBox 25"/>
            <p:cNvSpPr txBox="1"/>
            <p:nvPr/>
          </p:nvSpPr>
          <p:spPr>
            <a:xfrm>
              <a:off x="832866" y="3982402"/>
              <a:ext cx="2265216"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[0.441 0.31 0.188 0.02 0.012]</a:t>
              </a:r>
            </a:p>
          </p:txBody>
        </p:sp>
        <p:sp>
          <p:nvSpPr>
            <p:cNvPr id="26" name="TextBox 26"/>
            <p:cNvSpPr txBox="1"/>
            <p:nvPr/>
          </p:nvSpPr>
          <p:spPr>
            <a:xfrm>
              <a:off x="832866" y="4268152"/>
              <a:ext cx="3275876"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 components_.shape (bileşen × öznitelik):</a:t>
              </a:r>
            </a:p>
          </p:txBody>
        </p:sp>
        <p:sp>
          <p:nvSpPr>
            <p:cNvPr id="27" name="TextBox 27"/>
            <p:cNvSpPr txBox="1"/>
            <p:nvPr/>
          </p:nvSpPr>
          <p:spPr>
            <a:xfrm>
              <a:off x="832866" y="4477702"/>
              <a:ext cx="632612"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(12, 12)</a:t>
              </a:r>
            </a:p>
          </p:txBody>
        </p:sp>
        <p:sp>
          <p:nvSpPr>
            <p:cNvPr id="28" name="TextBox 28"/>
            <p:cNvSpPr txBox="1"/>
            <p:nvPr/>
          </p:nvSpPr>
          <p:spPr>
            <a:xfrm>
              <a:off x="832866" y="5087302"/>
              <a:ext cx="2300554"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12 öznitelikten ilk 3 bileşen ≈ %94</a:t>
              </a:r>
            </a:p>
          </p:txBody>
        </p:sp>
        <p:sp>
          <p:nvSpPr>
            <p:cNvPr id="29" name="TextBox 29"/>
            <p:cNvSpPr txBox="1"/>
            <p:nvPr/>
          </p:nvSpPr>
          <p:spPr>
            <a:xfrm>
              <a:off x="832866" y="5277802"/>
              <a:ext cx="2448973"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varyansı açıklıyor; kalan 9 bileşen</a:t>
              </a:r>
            </a:p>
          </p:txBody>
        </p:sp>
      </p:grpSp>
      <p:grpSp>
        <p:nvGrpSpPr>
          <p:cNvPr id="44" name="chart-panel"/>
          <p:cNvGrpSpPr/>
          <p:nvPr/>
        </p:nvGrpSpPr>
        <p:grpSpPr>
          <a:xfrm>
            <a:off x="6248400" y="1209675"/>
            <a:ext cx="5334000" cy="4352925"/>
            <a:chOff x="6248400" y="1209675"/>
            <a:chExt cx="5334000" cy="4352925"/>
          </a:xfrm>
        </p:grpSpPr>
        <p:sp>
          <p:nvSpPr>
            <p:cNvPr id="31" name="Rectangle 31"/>
            <p:cNvSpPr/>
            <p:nvPr/>
          </p:nvSpPr>
          <p:spPr>
            <a:xfrm>
              <a:off x="6248400" y="1219200"/>
              <a:ext cx="5334000" cy="4343400"/>
            </a:xfrm>
            <a:prstGeom prst="roundRect">
              <a:avLst>
                <a:gd name="adj" fmla="val 2193"/>
              </a:avLst>
            </a:prstGeom>
            <a:solidFill>
              <a:srgbClr val="FFFFFF"/>
            </a:solidFill>
            <a:ln w="14288">
              <a:solidFill>
                <a:srgbClr val="B8CBD3"/>
              </a:solidFill>
            </a:ln>
          </p:spPr>
        </p:sp>
        <p:sp>
          <p:nvSpPr>
            <p:cNvPr id="32" name="TextBox 32"/>
            <p:cNvSpPr txBox="1"/>
            <p:nvPr/>
          </p:nvSpPr>
          <p:spPr>
            <a:xfrm>
              <a:off x="7588876" y="1378268"/>
              <a:ext cx="2653047"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Kümülatif açıklanan varyans</a:t>
              </a:r>
            </a:p>
          </p:txBody>
        </p:sp>
        <p:sp>
          <p:nvSpPr>
            <p:cNvPr id="33" name="Line 33"/>
            <p:cNvSpPr/>
            <p:nvPr/>
          </p:nvSpPr>
          <p:spPr>
            <a:xfrm>
              <a:off x="6819900" y="4762500"/>
              <a:ext cx="3810000" cy="9525"/>
            </a:xfrm>
            <a:custGeom>
              <a:avLst/>
              <a:gdLst/>
              <a:ahLst/>
              <a:cxnLst/>
              <a:rect l="l" t="t" r="r" b="b"/>
              <a:pathLst>
                <a:path w="3810000" h="9525">
                  <a:moveTo>
                    <a:pt x="0" y="0"/>
                  </a:moveTo>
                  <a:lnTo>
                    <a:pt x="3810000" y="0"/>
                  </a:lnTo>
                </a:path>
              </a:pathLst>
            </a:custGeom>
            <a:noFill/>
            <a:ln w="14288">
              <a:solidFill>
                <a:srgbClr val="52616B"/>
              </a:solidFill>
            </a:ln>
          </p:spPr>
        </p:sp>
        <p:sp>
          <p:nvSpPr>
            <p:cNvPr id="34" name="Line 34"/>
            <p:cNvSpPr/>
            <p:nvPr/>
          </p:nvSpPr>
          <p:spPr>
            <a:xfrm>
              <a:off x="6819900" y="1905000"/>
              <a:ext cx="9525" cy="2857500"/>
            </a:xfrm>
            <a:custGeom>
              <a:avLst/>
              <a:gdLst/>
              <a:ahLst/>
              <a:cxnLst/>
              <a:rect l="l" t="t" r="r" b="b"/>
              <a:pathLst>
                <a:path w="9525" h="2857500">
                  <a:moveTo>
                    <a:pt x="0" y="0"/>
                  </a:moveTo>
                  <a:lnTo>
                    <a:pt x="0" y="2857500"/>
                  </a:lnTo>
                </a:path>
              </a:pathLst>
            </a:custGeom>
            <a:noFill/>
            <a:ln w="14288">
              <a:solidFill>
                <a:srgbClr val="52616B"/>
              </a:solidFill>
            </a:ln>
          </p:spPr>
        </p:sp>
        <p:sp>
          <p:nvSpPr>
            <p:cNvPr id="35" name="TextBox 35"/>
            <p:cNvSpPr txBox="1"/>
            <p:nvPr/>
          </p:nvSpPr>
          <p:spPr>
            <a:xfrm>
              <a:off x="6444866" y="1847374"/>
              <a:ext cx="227587" cy="190690"/>
            </a:xfrm>
            <a:prstGeom prst="rect">
              <a:avLst/>
            </a:prstGeom>
            <a:noFill/>
            <a:ln>
              <a:noFill/>
            </a:ln>
          </p:spPr>
          <p:txBody>
            <a:bodyPr wrap="none" lIns="0" tIns="0" rIns="0" bIns="0" anchor="t" anchorCtr="0">
              <a:spAutoFit/>
            </a:bodyPr>
            <a:lstStyle/>
            <a:p>
              <a:pPr algn="r"/>
              <a:r>
                <a:rPr lang="tr-TR" sz="980" dirty="0">
                  <a:solidFill>
                    <a:srgbClr val="52616B"/>
                  </a:solidFill>
                  <a:latin typeface="+mn-lt"/>
                  <a:ea typeface="+mn-ea"/>
                  <a:cs typeface="+mn-cs"/>
                </a:rPr>
                <a:t>1.0</a:t>
              </a:r>
            </a:p>
          </p:txBody>
        </p:sp>
        <p:sp>
          <p:nvSpPr>
            <p:cNvPr id="36" name="TextBox 36"/>
            <p:cNvSpPr txBox="1"/>
            <p:nvPr/>
          </p:nvSpPr>
          <p:spPr>
            <a:xfrm>
              <a:off x="6444866" y="3285649"/>
              <a:ext cx="227587" cy="190690"/>
            </a:xfrm>
            <a:prstGeom prst="rect">
              <a:avLst/>
            </a:prstGeom>
            <a:noFill/>
            <a:ln>
              <a:noFill/>
            </a:ln>
          </p:spPr>
          <p:txBody>
            <a:bodyPr wrap="none" lIns="0" tIns="0" rIns="0" bIns="0" anchor="t" anchorCtr="0">
              <a:spAutoFit/>
            </a:bodyPr>
            <a:lstStyle/>
            <a:p>
              <a:pPr algn="r"/>
              <a:r>
                <a:rPr lang="tr-TR" sz="980" dirty="0">
                  <a:solidFill>
                    <a:srgbClr val="52616B"/>
                  </a:solidFill>
                  <a:latin typeface="+mn-lt"/>
                  <a:ea typeface="+mn-ea"/>
                  <a:cs typeface="+mn-cs"/>
                </a:rPr>
                <a:t>0.5</a:t>
              </a:r>
            </a:p>
          </p:txBody>
        </p:sp>
        <p:sp>
          <p:nvSpPr>
            <p:cNvPr id="37" name="TextBox 37"/>
            <p:cNvSpPr txBox="1"/>
            <p:nvPr/>
          </p:nvSpPr>
          <p:spPr>
            <a:xfrm>
              <a:off x="6444866" y="4695349"/>
              <a:ext cx="227587" cy="190690"/>
            </a:xfrm>
            <a:prstGeom prst="rect">
              <a:avLst/>
            </a:prstGeom>
            <a:noFill/>
            <a:ln>
              <a:noFill/>
            </a:ln>
          </p:spPr>
          <p:txBody>
            <a:bodyPr wrap="none" lIns="0" tIns="0" rIns="0" bIns="0" anchor="t" anchorCtr="0">
              <a:spAutoFit/>
            </a:bodyPr>
            <a:lstStyle/>
            <a:p>
              <a:pPr algn="r"/>
              <a:r>
                <a:rPr lang="tr-TR" sz="980" dirty="0">
                  <a:solidFill>
                    <a:srgbClr val="52616B"/>
                  </a:solidFill>
                  <a:latin typeface="+mn-lt"/>
                  <a:ea typeface="+mn-ea"/>
                  <a:cs typeface="+mn-cs"/>
                </a:rPr>
                <a:t>0.0</a:t>
              </a:r>
            </a:p>
          </p:txBody>
        </p:sp>
        <p:sp>
          <p:nvSpPr>
            <p:cNvPr id="38" name="TextBox 38"/>
            <p:cNvSpPr txBox="1"/>
            <p:nvPr/>
          </p:nvSpPr>
          <p:spPr>
            <a:xfrm>
              <a:off x="8161193" y="4877752"/>
              <a:ext cx="1508414"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Bileşen sayısı (1–12)</a:t>
              </a:r>
            </a:p>
          </p:txBody>
        </p:sp>
        <p:sp>
          <p:nvSpPr>
            <p:cNvPr id="39" name="Line 39"/>
            <p:cNvSpPr/>
            <p:nvPr/>
          </p:nvSpPr>
          <p:spPr>
            <a:xfrm>
              <a:off x="6819900" y="2190750"/>
              <a:ext cx="3810000" cy="9525"/>
            </a:xfrm>
            <a:custGeom>
              <a:avLst/>
              <a:gdLst/>
              <a:ahLst/>
              <a:cxnLst/>
              <a:rect l="l" t="t" r="r" b="b"/>
              <a:pathLst>
                <a:path w="3810000" h="9525">
                  <a:moveTo>
                    <a:pt x="0" y="0"/>
                  </a:moveTo>
                  <a:lnTo>
                    <a:pt x="3810000" y="0"/>
                  </a:lnTo>
                </a:path>
              </a:pathLst>
            </a:custGeom>
            <a:noFill/>
            <a:ln w="9525">
              <a:solidFill>
                <a:srgbClr val="B8CBD3"/>
              </a:solidFill>
              <a:custDash>
                <a:ds d="300000" sp="300000"/>
              </a:custDash>
            </a:ln>
          </p:spPr>
        </p:sp>
        <p:sp>
          <p:nvSpPr>
            <p:cNvPr id="40" name="TextBox 40"/>
            <p:cNvSpPr txBox="1"/>
            <p:nvPr/>
          </p:nvSpPr>
          <p:spPr>
            <a:xfrm>
              <a:off x="10701338" y="2131695"/>
              <a:ext cx="506273" cy="176212"/>
            </a:xfrm>
            <a:prstGeom prst="rect">
              <a:avLst/>
            </a:prstGeom>
            <a:noFill/>
            <a:ln>
              <a:noFill/>
            </a:ln>
          </p:spPr>
          <p:txBody>
            <a:bodyPr wrap="none" lIns="0" tIns="0" rIns="0" bIns="0" anchor="t" anchorCtr="0">
              <a:spAutoFit/>
            </a:bodyPr>
            <a:lstStyle/>
            <a:p>
              <a:pPr algn="l"/>
              <a:r>
                <a:rPr lang="tr-TR" sz="900" dirty="0">
                  <a:solidFill>
                    <a:srgbClr val="2E86AB"/>
                  </a:solidFill>
                  <a:latin typeface="+mn-lt"/>
                  <a:ea typeface="+mn-ea"/>
                  <a:cs typeface="+mn-cs"/>
                </a:rPr>
                <a:t>%90 eşik</a:t>
              </a:r>
            </a:p>
          </p:txBody>
        </p:sp>
        <p:sp>
          <p:nvSpPr>
            <p:cNvPr id="41" name="Polyline 41"/>
            <p:cNvSpPr/>
            <p:nvPr/>
          </p:nvSpPr>
          <p:spPr>
            <a:xfrm>
              <a:off x="6819900" y="1209675"/>
              <a:ext cx="3771900" cy="3552825"/>
            </a:xfrm>
            <a:custGeom>
              <a:avLst/>
              <a:gdLst/>
              <a:ahLst/>
              <a:cxnLst/>
              <a:rect l="l" t="t" r="r" b="b"/>
              <a:pathLst>
                <a:path w="3771900" h="3552825">
                  <a:moveTo>
                    <a:pt x="0" y="3552825"/>
                  </a:moveTo>
                  <a:lnTo>
                    <a:pt x="314325" y="1143000"/>
                  </a:lnTo>
                  <a:lnTo>
                    <a:pt x="628650" y="533400"/>
                  </a:lnTo>
                  <a:lnTo>
                    <a:pt x="942975" y="352425"/>
                  </a:lnTo>
                  <a:lnTo>
                    <a:pt x="1257300" y="304800"/>
                  </a:lnTo>
                  <a:lnTo>
                    <a:pt x="1571625" y="266700"/>
                  </a:lnTo>
                  <a:lnTo>
                    <a:pt x="1885950" y="228600"/>
                  </a:lnTo>
                  <a:lnTo>
                    <a:pt x="2200275" y="190500"/>
                  </a:lnTo>
                  <a:lnTo>
                    <a:pt x="2514600" y="152400"/>
                  </a:lnTo>
                  <a:lnTo>
                    <a:pt x="2828925" y="114300"/>
                  </a:lnTo>
                  <a:lnTo>
                    <a:pt x="3143250" y="76200"/>
                  </a:lnTo>
                  <a:lnTo>
                    <a:pt x="3457575" y="38100"/>
                  </a:lnTo>
                  <a:lnTo>
                    <a:pt x="3771900" y="0"/>
                  </a:lnTo>
                </a:path>
              </a:pathLst>
            </a:custGeom>
            <a:noFill/>
            <a:ln w="28575">
              <a:solidFill>
                <a:srgbClr val="00A6A6"/>
              </a:solidFill>
            </a:ln>
          </p:spPr>
        </p:sp>
        <p:sp>
          <p:nvSpPr>
            <p:cNvPr id="42" name="Ellipse 42"/>
            <p:cNvSpPr/>
            <p:nvPr/>
          </p:nvSpPr>
          <p:spPr>
            <a:xfrm>
              <a:off x="7391400" y="1685925"/>
              <a:ext cx="114300" cy="114300"/>
            </a:xfrm>
            <a:prstGeom prst="ellipse">
              <a:avLst/>
            </a:prstGeom>
            <a:solidFill>
              <a:srgbClr val="12355B"/>
            </a:solidFill>
            <a:ln>
              <a:noFill/>
            </a:ln>
          </p:spPr>
        </p:sp>
        <p:sp>
          <p:nvSpPr>
            <p:cNvPr id="43" name="TextBox 43"/>
            <p:cNvSpPr txBox="1"/>
            <p:nvPr/>
          </p:nvSpPr>
          <p:spPr>
            <a:xfrm>
              <a:off x="7114603" y="1513999"/>
              <a:ext cx="667895" cy="190690"/>
            </a:xfrm>
            <a:prstGeom prst="rect">
              <a:avLst/>
            </a:prstGeom>
            <a:noFill/>
            <a:ln>
              <a:noFill/>
            </a:ln>
          </p:spPr>
          <p:txBody>
            <a:bodyPr wrap="none" lIns="0" tIns="0" rIns="0" bIns="0" anchor="t" anchorCtr="0">
              <a:spAutoFit/>
            </a:bodyPr>
            <a:lstStyle/>
            <a:p>
              <a:pPr algn="ctr"/>
              <a:r>
                <a:rPr lang="tr-TR" sz="980" b="1" dirty="0">
                  <a:solidFill>
                    <a:srgbClr val="12355B"/>
                  </a:solidFill>
                  <a:latin typeface="+mn-lt"/>
                  <a:ea typeface="+mn-ea"/>
                  <a:cs typeface="+mn-cs"/>
                </a:rPr>
                <a:t>3. bileşen</a:t>
              </a:r>
            </a:p>
          </p:txBody>
        </p:sp>
      </p:grpSp>
      <p:grpSp>
        <p:nvGrpSpPr>
          <p:cNvPr id="47" name="bottom-note"/>
          <p:cNvGrpSpPr/>
          <p:nvPr/>
        </p:nvGrpSpPr>
        <p:grpSpPr>
          <a:xfrm>
            <a:off x="609600" y="5676900"/>
            <a:ext cx="10972800" cy="457200"/>
            <a:chOff x="609600" y="5676900"/>
            <a:chExt cx="10972800" cy="457200"/>
          </a:xfrm>
        </p:grpSpPr>
        <p:sp>
          <p:nvSpPr>
            <p:cNvPr id="45" name="Rectangle 45"/>
            <p:cNvSpPr/>
            <p:nvPr/>
          </p:nvSpPr>
          <p:spPr>
            <a:xfrm>
              <a:off x="609600" y="5676900"/>
              <a:ext cx="10972800" cy="457200"/>
            </a:xfrm>
            <a:prstGeom prst="roundRect">
              <a:avLst>
                <a:gd name="adj" fmla="val 16667"/>
              </a:avLst>
            </a:prstGeom>
            <a:solidFill>
              <a:srgbClr val="EAF4F6"/>
            </a:solidFill>
            <a:ln>
              <a:noFill/>
            </a:ln>
          </p:spPr>
        </p:sp>
        <p:sp>
          <p:nvSpPr>
            <p:cNvPr id="46" name="TextBox 46"/>
            <p:cNvSpPr txBox="1"/>
            <p:nvPr/>
          </p:nvSpPr>
          <p:spPr>
            <a:xfrm>
              <a:off x="908304" y="5833110"/>
              <a:ext cx="70852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Eğri %90 çizgisini 3. bileşende keser — 12 orijinal öznitelik yerine 3 bileşen yeterli olabilir.</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9604795" cy="668845"/>
            <a:chOff x="609600" y="171450"/>
            <a:chExt cx="9604795"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89144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PCA: ne zaman tercih edilir, ne yerine geçer?</a:t>
              </a:r>
            </a:p>
          </p:txBody>
        </p:sp>
      </p:grpSp>
      <p:grpSp>
        <p:nvGrpSpPr>
          <p:cNvPr id="25" name="when-panel"/>
          <p:cNvGrpSpPr/>
          <p:nvPr/>
        </p:nvGrpSpPr>
        <p:grpSpPr>
          <a:xfrm>
            <a:off x="609600" y="1219200"/>
            <a:ext cx="10972800" cy="1638300"/>
            <a:chOff x="609600" y="1219200"/>
            <a:chExt cx="10972800" cy="1638300"/>
          </a:xfrm>
        </p:grpSpPr>
        <p:sp>
          <p:nvSpPr>
            <p:cNvPr id="11" name="Rectangle 11"/>
            <p:cNvSpPr/>
            <p:nvPr/>
          </p:nvSpPr>
          <p:spPr>
            <a:xfrm>
              <a:off x="609600" y="1219200"/>
              <a:ext cx="5334000" cy="1638300"/>
            </a:xfrm>
            <a:prstGeom prst="roundRect">
              <a:avLst>
                <a:gd name="adj" fmla="val 5814"/>
              </a:avLst>
            </a:prstGeom>
            <a:solidFill>
              <a:srgbClr val="EAF4F6"/>
            </a:solidFill>
            <a:ln>
              <a:noFill/>
            </a:ln>
          </p:spPr>
        </p:sp>
        <p:sp>
          <p:nvSpPr>
            <p:cNvPr id="12" name="TextBox 12"/>
            <p:cNvSpPr txBox="1"/>
            <p:nvPr/>
          </p:nvSpPr>
          <p:spPr>
            <a:xfrm>
              <a:off x="830961" y="1370171"/>
              <a:ext cx="1204303"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Tercih edilir</a:t>
              </a:r>
            </a:p>
          </p:txBody>
        </p:sp>
        <p:sp>
          <p:nvSpPr>
            <p:cNvPr id="13" name="TextBox 13"/>
            <p:cNvSpPr txBox="1"/>
            <p:nvPr/>
          </p:nvSpPr>
          <p:spPr>
            <a:xfrm>
              <a:off x="832104" y="1699260"/>
              <a:ext cx="279582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Sütunlar arası doğrusal korelasyon</a:t>
              </a:r>
            </a:p>
          </p:txBody>
        </p:sp>
        <p:sp>
          <p:nvSpPr>
            <p:cNvPr id="14" name="TextBox 14"/>
            <p:cNvSpPr txBox="1"/>
            <p:nvPr/>
          </p:nvSpPr>
          <p:spPr>
            <a:xfrm>
              <a:off x="832104" y="1908810"/>
              <a:ext cx="252420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güçlüyse ve amaç sayısal girdiyi</a:t>
              </a:r>
            </a:p>
          </p:txBody>
        </p:sp>
        <p:sp>
          <p:nvSpPr>
            <p:cNvPr id="15" name="TextBox 15"/>
            <p:cNvSpPr txBox="1"/>
            <p:nvPr/>
          </p:nvSpPr>
          <p:spPr>
            <a:xfrm>
              <a:off x="832104" y="2118360"/>
              <a:ext cx="274228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sıkıştırmaksa — özellikle doğrusal</a:t>
              </a:r>
            </a:p>
          </p:txBody>
        </p:sp>
        <p:sp>
          <p:nvSpPr>
            <p:cNvPr id="16" name="TextBox 16"/>
            <p:cNvSpPr txBox="1"/>
            <p:nvPr/>
          </p:nvSpPr>
          <p:spPr>
            <a:xfrm>
              <a:off x="832104" y="2327910"/>
              <a:ext cx="29199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modellerde çoklu doğrusal bağlantıyı</a:t>
              </a:r>
            </a:p>
          </p:txBody>
        </p:sp>
        <p:sp>
          <p:nvSpPr>
            <p:cNvPr id="17" name="TextBox 17"/>
            <p:cNvSpPr txBox="1"/>
            <p:nvPr/>
          </p:nvSpPr>
          <p:spPr>
            <a:xfrm>
              <a:off x="832104" y="2537460"/>
              <a:ext cx="176494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gidermek için idealdir.</a:t>
              </a:r>
            </a:p>
          </p:txBody>
        </p:sp>
        <p:sp>
          <p:nvSpPr>
            <p:cNvPr id="18" name="Rectangle 18"/>
            <p:cNvSpPr/>
            <p:nvPr/>
          </p:nvSpPr>
          <p:spPr>
            <a:xfrm>
              <a:off x="6248400" y="1219200"/>
              <a:ext cx="5334000" cy="1638300"/>
            </a:xfrm>
            <a:prstGeom prst="roundRect">
              <a:avLst>
                <a:gd name="adj" fmla="val 5814"/>
              </a:avLst>
            </a:prstGeom>
            <a:solidFill>
              <a:srgbClr val="FFFFFF"/>
            </a:solidFill>
            <a:ln w="14288">
              <a:solidFill>
                <a:srgbClr val="B8CBD3"/>
              </a:solidFill>
            </a:ln>
          </p:spPr>
        </p:sp>
        <p:sp>
          <p:nvSpPr>
            <p:cNvPr id="19" name="TextBox 19"/>
            <p:cNvSpPr txBox="1"/>
            <p:nvPr/>
          </p:nvSpPr>
          <p:spPr>
            <a:xfrm>
              <a:off x="6469761" y="1370171"/>
              <a:ext cx="1405465"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Tercih edilmez</a:t>
              </a:r>
            </a:p>
          </p:txBody>
        </p:sp>
        <p:sp>
          <p:nvSpPr>
            <p:cNvPr id="20" name="TextBox 20"/>
            <p:cNvSpPr txBox="1"/>
            <p:nvPr/>
          </p:nvSpPr>
          <p:spPr>
            <a:xfrm>
              <a:off x="6470904" y="1699260"/>
              <a:ext cx="290894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İlişkiler doğrusal değilse (örn. halka</a:t>
              </a:r>
            </a:p>
          </p:txBody>
        </p:sp>
        <p:sp>
          <p:nvSpPr>
            <p:cNvPr id="21" name="TextBox 21"/>
            <p:cNvSpPr txBox="1"/>
            <p:nvPr/>
          </p:nvSpPr>
          <p:spPr>
            <a:xfrm>
              <a:off x="6470904" y="1908810"/>
              <a:ext cx="236987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biçiminde ilişki) PCA bu yapıyı</a:t>
              </a:r>
            </a:p>
          </p:txBody>
        </p:sp>
        <p:sp>
          <p:nvSpPr>
            <p:cNvPr id="22" name="TextBox 22"/>
            <p:cNvSpPr txBox="1"/>
            <p:nvPr/>
          </p:nvSpPr>
          <p:spPr>
            <a:xfrm>
              <a:off x="6470904" y="2118360"/>
              <a:ext cx="255651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yakalayamaz; ya da iş paydaşına</a:t>
              </a:r>
            </a:p>
          </p:txBody>
        </p:sp>
        <p:sp>
          <p:nvSpPr>
            <p:cNvPr id="23" name="TextBox 23"/>
            <p:cNvSpPr txBox="1"/>
            <p:nvPr/>
          </p:nvSpPr>
          <p:spPr>
            <a:xfrm>
              <a:off x="6470904" y="2327910"/>
              <a:ext cx="278267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"hangi orijinal özellik etkili" sorusu</a:t>
              </a:r>
            </a:p>
          </p:txBody>
        </p:sp>
        <p:sp>
          <p:nvSpPr>
            <p:cNvPr id="24" name="TextBox 24"/>
            <p:cNvSpPr txBox="1"/>
            <p:nvPr/>
          </p:nvSpPr>
          <p:spPr>
            <a:xfrm>
              <a:off x="6470904" y="2537460"/>
              <a:ext cx="356616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cevaplanacaksa öznitelik seçimi tercih edilir.</a:t>
              </a:r>
            </a:p>
          </p:txBody>
        </p:sp>
      </p:grpSp>
      <p:grpSp>
        <p:nvGrpSpPr>
          <p:cNvPr id="31" name="table-header"/>
          <p:cNvGrpSpPr/>
          <p:nvPr/>
        </p:nvGrpSpPr>
        <p:grpSpPr>
          <a:xfrm>
            <a:off x="609600" y="3086100"/>
            <a:ext cx="10972800" cy="381000"/>
            <a:chOff x="609600" y="3086100"/>
            <a:chExt cx="10972800" cy="381000"/>
          </a:xfrm>
        </p:grpSpPr>
        <p:sp>
          <p:nvSpPr>
            <p:cNvPr id="26" name="Rectangle 26"/>
            <p:cNvSpPr/>
            <p:nvPr/>
          </p:nvSpPr>
          <p:spPr>
            <a:xfrm>
              <a:off x="609600" y="3086100"/>
              <a:ext cx="10972800" cy="381000"/>
            </a:xfrm>
            <a:prstGeom prst="rect">
              <a:avLst/>
            </a:prstGeom>
            <a:solidFill>
              <a:srgbClr val="12355B"/>
            </a:solidFill>
            <a:ln>
              <a:noFill/>
            </a:ln>
          </p:spPr>
        </p:sp>
        <p:sp>
          <p:nvSpPr>
            <p:cNvPr id="27" name="TextBox 27"/>
            <p:cNvSpPr txBox="1"/>
            <p:nvPr/>
          </p:nvSpPr>
          <p:spPr>
            <a:xfrm>
              <a:off x="832104" y="3204210"/>
              <a:ext cx="755265"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Yaklaşım</a:t>
              </a:r>
            </a:p>
          </p:txBody>
        </p:sp>
        <p:sp>
          <p:nvSpPr>
            <p:cNvPr id="28" name="TextBox 28"/>
            <p:cNvSpPr txBox="1"/>
            <p:nvPr/>
          </p:nvSpPr>
          <p:spPr>
            <a:xfrm>
              <a:off x="3232404" y="3204210"/>
              <a:ext cx="882701"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Mekanizma</a:t>
              </a:r>
            </a:p>
          </p:txBody>
        </p:sp>
        <p:sp>
          <p:nvSpPr>
            <p:cNvPr id="29" name="TextBox 29"/>
            <p:cNvSpPr txBox="1"/>
            <p:nvPr/>
          </p:nvSpPr>
          <p:spPr>
            <a:xfrm>
              <a:off x="6280404" y="3204210"/>
              <a:ext cx="1382189"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Yorumlanabilirlik</a:t>
              </a:r>
            </a:p>
          </p:txBody>
        </p:sp>
        <p:sp>
          <p:nvSpPr>
            <p:cNvPr id="30" name="TextBox 30"/>
            <p:cNvSpPr txBox="1"/>
            <p:nvPr/>
          </p:nvSpPr>
          <p:spPr>
            <a:xfrm>
              <a:off x="8947404" y="3204210"/>
              <a:ext cx="1145084"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Tipik kullanım</a:t>
              </a:r>
            </a:p>
          </p:txBody>
        </p:sp>
      </p:grpSp>
      <p:grpSp>
        <p:nvGrpSpPr>
          <p:cNvPr id="56" name="rows"/>
          <p:cNvGrpSpPr/>
          <p:nvPr/>
        </p:nvGrpSpPr>
        <p:grpSpPr>
          <a:xfrm>
            <a:off x="609600" y="3467100"/>
            <a:ext cx="11046191" cy="2143125"/>
            <a:chOff x="609600" y="3467100"/>
            <a:chExt cx="11046191" cy="2143125"/>
          </a:xfrm>
        </p:grpSpPr>
        <p:sp>
          <p:nvSpPr>
            <p:cNvPr id="32" name="Rectangle 32"/>
            <p:cNvSpPr/>
            <p:nvPr/>
          </p:nvSpPr>
          <p:spPr>
            <a:xfrm>
              <a:off x="609600" y="3467100"/>
              <a:ext cx="10972800" cy="533400"/>
            </a:xfrm>
            <a:prstGeom prst="rect">
              <a:avLst/>
            </a:prstGeom>
            <a:solidFill>
              <a:srgbClr val="FFFFFF"/>
            </a:solidFill>
            <a:ln>
              <a:noFill/>
            </a:ln>
          </p:spPr>
        </p:sp>
        <p:sp>
          <p:nvSpPr>
            <p:cNvPr id="33" name="TextBox 33"/>
            <p:cNvSpPr txBox="1"/>
            <p:nvPr/>
          </p:nvSpPr>
          <p:spPr>
            <a:xfrm>
              <a:off x="832104" y="3661410"/>
              <a:ext cx="307909"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PCA</a:t>
              </a:r>
            </a:p>
          </p:txBody>
        </p:sp>
        <p:sp>
          <p:nvSpPr>
            <p:cNvPr id="34" name="TextBox 34"/>
            <p:cNvSpPr txBox="1"/>
            <p:nvPr/>
          </p:nvSpPr>
          <p:spPr>
            <a:xfrm>
              <a:off x="3232785" y="3669506"/>
              <a:ext cx="254239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Doğrusal izdüşüm (varyans maks.)</a:t>
              </a:r>
            </a:p>
          </p:txBody>
        </p:sp>
        <p:sp>
          <p:nvSpPr>
            <p:cNvPr id="35" name="TextBox 35"/>
            <p:cNvSpPr txBox="1"/>
            <p:nvPr/>
          </p:nvSpPr>
          <p:spPr>
            <a:xfrm>
              <a:off x="6280785" y="3669506"/>
              <a:ext cx="181828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Düşük (bileşenler soyut)</a:t>
              </a:r>
            </a:p>
          </p:txBody>
        </p:sp>
        <p:sp>
          <p:nvSpPr>
            <p:cNvPr id="36" name="TextBox 36"/>
            <p:cNvSpPr txBox="1"/>
            <p:nvPr/>
          </p:nvSpPr>
          <p:spPr>
            <a:xfrm>
              <a:off x="8947785" y="3669506"/>
              <a:ext cx="222508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Model girdisi, gürültü azaltma</a:t>
              </a:r>
            </a:p>
          </p:txBody>
        </p:sp>
        <p:sp>
          <p:nvSpPr>
            <p:cNvPr id="37" name="Line 37"/>
            <p:cNvSpPr/>
            <p:nvPr/>
          </p:nvSpPr>
          <p:spPr>
            <a:xfrm>
              <a:off x="609600" y="40005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8" name="Rectangle 38"/>
            <p:cNvSpPr/>
            <p:nvPr/>
          </p:nvSpPr>
          <p:spPr>
            <a:xfrm>
              <a:off x="609600" y="4000500"/>
              <a:ext cx="10972800" cy="533400"/>
            </a:xfrm>
            <a:prstGeom prst="rect">
              <a:avLst/>
            </a:prstGeom>
            <a:solidFill>
              <a:srgbClr val="EAF4F6"/>
            </a:solidFill>
            <a:ln>
              <a:noFill/>
            </a:ln>
          </p:spPr>
        </p:sp>
        <p:sp>
          <p:nvSpPr>
            <p:cNvPr id="39" name="TextBox 39"/>
            <p:cNvSpPr txBox="1"/>
            <p:nvPr/>
          </p:nvSpPr>
          <p:spPr>
            <a:xfrm>
              <a:off x="832104" y="4194810"/>
              <a:ext cx="1133732"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t-SNE / UMAP</a:t>
              </a:r>
            </a:p>
          </p:txBody>
        </p:sp>
        <p:sp>
          <p:nvSpPr>
            <p:cNvPr id="40" name="TextBox 40"/>
            <p:cNvSpPr txBox="1"/>
            <p:nvPr/>
          </p:nvSpPr>
          <p:spPr>
            <a:xfrm>
              <a:off x="3232785" y="4202906"/>
              <a:ext cx="253427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Doğrusal olmayan komşuluk koruma</a:t>
              </a:r>
            </a:p>
          </p:txBody>
        </p:sp>
        <p:sp>
          <p:nvSpPr>
            <p:cNvPr id="41" name="TextBox 41"/>
            <p:cNvSpPr txBox="1"/>
            <p:nvPr/>
          </p:nvSpPr>
          <p:spPr>
            <a:xfrm>
              <a:off x="6280785" y="4202906"/>
              <a:ext cx="160739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Yok (yalnızca görsel)</a:t>
              </a:r>
            </a:p>
          </p:txBody>
        </p:sp>
        <p:sp>
          <p:nvSpPr>
            <p:cNvPr id="42" name="TextBox 42"/>
            <p:cNvSpPr txBox="1"/>
            <p:nvPr/>
          </p:nvSpPr>
          <p:spPr>
            <a:xfrm>
              <a:off x="8947785" y="4202906"/>
              <a:ext cx="109382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Görselleştirme</a:t>
              </a:r>
            </a:p>
          </p:txBody>
        </p:sp>
        <p:sp>
          <p:nvSpPr>
            <p:cNvPr id="43" name="Line 43"/>
            <p:cNvSpPr/>
            <p:nvPr/>
          </p:nvSpPr>
          <p:spPr>
            <a:xfrm>
              <a:off x="609600" y="45339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44" name="Rectangle 44"/>
            <p:cNvSpPr/>
            <p:nvPr/>
          </p:nvSpPr>
          <p:spPr>
            <a:xfrm>
              <a:off x="609600" y="4533900"/>
              <a:ext cx="10972800" cy="533400"/>
            </a:xfrm>
            <a:prstGeom prst="rect">
              <a:avLst/>
            </a:prstGeom>
            <a:solidFill>
              <a:srgbClr val="FFFFFF"/>
            </a:solidFill>
            <a:ln>
              <a:noFill/>
            </a:ln>
          </p:spPr>
        </p:sp>
        <p:sp>
          <p:nvSpPr>
            <p:cNvPr id="45" name="TextBox 45"/>
            <p:cNvSpPr txBox="1"/>
            <p:nvPr/>
          </p:nvSpPr>
          <p:spPr>
            <a:xfrm>
              <a:off x="832104" y="4728210"/>
              <a:ext cx="1289152"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Öznitelik seçimi</a:t>
              </a:r>
            </a:p>
          </p:txBody>
        </p:sp>
        <p:sp>
          <p:nvSpPr>
            <p:cNvPr id="46" name="TextBox 46"/>
            <p:cNvSpPr txBox="1"/>
            <p:nvPr/>
          </p:nvSpPr>
          <p:spPr>
            <a:xfrm>
              <a:off x="3232785" y="4736306"/>
              <a:ext cx="250462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Sütun eleme (yeni sütun üretmez)</a:t>
              </a:r>
            </a:p>
          </p:txBody>
        </p:sp>
        <p:sp>
          <p:nvSpPr>
            <p:cNvPr id="47" name="TextBox 47"/>
            <p:cNvSpPr txBox="1"/>
            <p:nvPr/>
          </p:nvSpPr>
          <p:spPr>
            <a:xfrm>
              <a:off x="6280785" y="4736306"/>
              <a:ext cx="208191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Yüksek (orijinal adlar kalır)</a:t>
              </a:r>
            </a:p>
          </p:txBody>
        </p:sp>
        <p:sp>
          <p:nvSpPr>
            <p:cNvPr id="48" name="TextBox 48"/>
            <p:cNvSpPr txBox="1"/>
            <p:nvPr/>
          </p:nvSpPr>
          <p:spPr>
            <a:xfrm>
              <a:off x="8947785" y="4736306"/>
              <a:ext cx="197576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Yorumlanabilirlik önemliyse</a:t>
              </a:r>
            </a:p>
          </p:txBody>
        </p:sp>
        <p:sp>
          <p:nvSpPr>
            <p:cNvPr id="49" name="Line 49"/>
            <p:cNvSpPr/>
            <p:nvPr/>
          </p:nvSpPr>
          <p:spPr>
            <a:xfrm>
              <a:off x="609600" y="50673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50" name="Rectangle 50"/>
            <p:cNvSpPr/>
            <p:nvPr/>
          </p:nvSpPr>
          <p:spPr>
            <a:xfrm>
              <a:off x="609600" y="5067300"/>
              <a:ext cx="10972800" cy="533400"/>
            </a:xfrm>
            <a:prstGeom prst="rect">
              <a:avLst/>
            </a:prstGeom>
            <a:solidFill>
              <a:srgbClr val="EAF4F6"/>
            </a:solidFill>
            <a:ln>
              <a:noFill/>
            </a:ln>
          </p:spPr>
        </p:sp>
        <p:sp>
          <p:nvSpPr>
            <p:cNvPr id="51" name="TextBox 51"/>
            <p:cNvSpPr txBox="1"/>
            <p:nvPr/>
          </p:nvSpPr>
          <p:spPr>
            <a:xfrm>
              <a:off x="832104" y="5261610"/>
              <a:ext cx="1128452"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Otokodlayıcı</a:t>
              </a:r>
            </a:p>
          </p:txBody>
        </p:sp>
        <p:sp>
          <p:nvSpPr>
            <p:cNvPr id="52" name="TextBox 52"/>
            <p:cNvSpPr txBox="1"/>
            <p:nvPr/>
          </p:nvSpPr>
          <p:spPr>
            <a:xfrm>
              <a:off x="3232785" y="5269706"/>
              <a:ext cx="305431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Sinir ağıyla doğrusal olmayan sıkıştırma</a:t>
              </a:r>
            </a:p>
          </p:txBody>
        </p:sp>
        <p:sp>
          <p:nvSpPr>
            <p:cNvPr id="53" name="TextBox 53"/>
            <p:cNvSpPr txBox="1"/>
            <p:nvPr/>
          </p:nvSpPr>
          <p:spPr>
            <a:xfrm>
              <a:off x="6280785" y="5269706"/>
              <a:ext cx="43075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Düşük</a:t>
              </a:r>
            </a:p>
          </p:txBody>
        </p:sp>
        <p:sp>
          <p:nvSpPr>
            <p:cNvPr id="54" name="TextBox 54"/>
            <p:cNvSpPr txBox="1"/>
            <p:nvPr/>
          </p:nvSpPr>
          <p:spPr>
            <a:xfrm>
              <a:off x="8947785" y="5269706"/>
              <a:ext cx="270800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Büyük/karmaşık veri, derin öğrenme</a:t>
              </a:r>
            </a:p>
          </p:txBody>
        </p:sp>
        <p:sp>
          <p:nvSpPr>
            <p:cNvPr id="55" name="Line 55"/>
            <p:cNvSpPr/>
            <p:nvPr/>
          </p:nvSpPr>
          <p:spPr>
            <a:xfrm>
              <a:off x="609600" y="56007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sp>
        <p:nvSpPr>
          <p:cNvPr id="57" name="TextBox 5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4928164" cy="668845"/>
            <a:chOff x="609600" y="171450"/>
            <a:chExt cx="4928164"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423779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PCA'de iki kritik hata</a:t>
              </a:r>
            </a:p>
          </p:txBody>
        </p:sp>
      </p:grpSp>
      <p:grpSp>
        <p:nvGrpSpPr>
          <p:cNvPr id="29" name="hata-1"/>
          <p:cNvGrpSpPr/>
          <p:nvPr/>
        </p:nvGrpSpPr>
        <p:grpSpPr>
          <a:xfrm>
            <a:off x="609600" y="1219200"/>
            <a:ext cx="10972800" cy="2095500"/>
            <a:chOff x="609600" y="1219200"/>
            <a:chExt cx="10972800" cy="2095500"/>
          </a:xfrm>
        </p:grpSpPr>
        <p:sp>
          <p:nvSpPr>
            <p:cNvPr id="12" name="Rectangle 12"/>
            <p:cNvSpPr/>
            <p:nvPr/>
          </p:nvSpPr>
          <p:spPr>
            <a:xfrm>
              <a:off x="609600" y="1219200"/>
              <a:ext cx="10972800" cy="2095500"/>
            </a:xfrm>
            <a:prstGeom prst="roundRect">
              <a:avLst>
                <a:gd name="adj" fmla="val 4545"/>
              </a:avLst>
            </a:prstGeom>
            <a:solidFill>
              <a:srgbClr val="FFFFFF"/>
            </a:solidFill>
            <a:ln w="14288">
              <a:solidFill>
                <a:srgbClr val="B8CBD3"/>
              </a:solidFill>
            </a:ln>
          </p:spPr>
        </p:sp>
        <p:sp>
          <p:nvSpPr>
            <p:cNvPr id="13" name="Rectangle 13"/>
            <p:cNvSpPr/>
            <p:nvPr/>
          </p:nvSpPr>
          <p:spPr>
            <a:xfrm>
              <a:off x="609600" y="1219200"/>
              <a:ext cx="95250" cy="2095500"/>
            </a:xfrm>
            <a:prstGeom prst="rect">
              <a:avLst/>
            </a:prstGeom>
            <a:solidFill>
              <a:srgbClr val="12355B"/>
            </a:solidFill>
            <a:ln>
              <a:noFill/>
            </a:ln>
          </p:spPr>
        </p:sp>
        <p:sp>
          <p:nvSpPr>
            <p:cNvPr id="14" name="TextBox 14"/>
            <p:cNvSpPr txBox="1"/>
            <p:nvPr/>
          </p:nvSpPr>
          <p:spPr>
            <a:xfrm>
              <a:off x="906399" y="1392079"/>
              <a:ext cx="408991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1. Ölçekleme yapmadan PCA uygulamak</a:t>
              </a:r>
            </a:p>
          </p:txBody>
        </p:sp>
        <p:grpSp>
          <p:nvGrpSpPr>
            <p:cNvPr id="21" name="wrong-1"/>
            <p:cNvGrpSpPr/>
            <p:nvPr/>
          </p:nvGrpSpPr>
          <p:grpSpPr>
            <a:xfrm>
              <a:off x="914400" y="1752600"/>
              <a:ext cx="4762500" cy="1333500"/>
              <a:chOff x="914400" y="1752600"/>
              <a:chExt cx="4762500" cy="1333500"/>
            </a:xfrm>
          </p:grpSpPr>
          <p:sp>
            <p:nvSpPr>
              <p:cNvPr id="15" name="Rectangle 15"/>
              <p:cNvSpPr/>
              <p:nvPr/>
            </p:nvSpPr>
            <p:spPr>
              <a:xfrm>
                <a:off x="914400" y="1752600"/>
                <a:ext cx="4762500" cy="1333500"/>
              </a:xfrm>
              <a:prstGeom prst="roundRect">
                <a:avLst>
                  <a:gd name="adj" fmla="val 5714"/>
                </a:avLst>
              </a:prstGeom>
              <a:solidFill>
                <a:srgbClr val="F7FAFC"/>
              </a:solidFill>
              <a:ln w="9525">
                <a:solidFill>
                  <a:srgbClr val="B8CBD3"/>
                </a:solidFill>
              </a:ln>
            </p:spPr>
          </p:sp>
          <p:sp>
            <p:nvSpPr>
              <p:cNvPr id="16" name="TextBox 16"/>
              <p:cNvSpPr txBox="1"/>
              <p:nvPr/>
            </p:nvSpPr>
            <p:spPr>
              <a:xfrm>
                <a:off x="1061466" y="1886902"/>
                <a:ext cx="662379" cy="205359"/>
              </a:xfrm>
              <a:prstGeom prst="rect">
                <a:avLst/>
              </a:prstGeom>
              <a:noFill/>
              <a:ln>
                <a:noFill/>
              </a:ln>
            </p:spPr>
            <p:txBody>
              <a:bodyPr wrap="none" lIns="0" tIns="0" rIns="0" bIns="0" anchor="t" anchorCtr="0">
                <a:spAutoFit/>
              </a:bodyPr>
              <a:lstStyle/>
              <a:p>
                <a:pPr algn="l"/>
                <a:r>
                  <a:rPr lang="tr-TR" sz="1050" b="1" dirty="0">
                    <a:solidFill>
                      <a:srgbClr val="52616B"/>
                    </a:solidFill>
                    <a:latin typeface="+mn-lt"/>
                    <a:ea typeface="+mn-ea"/>
                    <a:cs typeface="+mn-cs"/>
                  </a:rPr>
                  <a:t>❌ Yanlış</a:t>
                </a:r>
              </a:p>
            </p:txBody>
          </p:sp>
          <p:sp>
            <p:nvSpPr>
              <p:cNvPr id="17" name="TextBox 17"/>
              <p:cNvSpPr txBox="1"/>
              <p:nvPr/>
            </p:nvSpPr>
            <p:spPr>
              <a:xfrm>
                <a:off x="1061466" y="2153602"/>
                <a:ext cx="197365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Consolas"/>
                    <a:ea typeface="Consolas"/>
                    <a:cs typeface="Consolas"/>
                  </a:rPr>
                  <a:t>pca = PCA(n_components=5)</a:t>
                </a:r>
              </a:p>
            </p:txBody>
          </p:sp>
          <p:sp>
            <p:nvSpPr>
              <p:cNvPr id="18" name="TextBox 18"/>
              <p:cNvSpPr txBox="1"/>
              <p:nvPr/>
            </p:nvSpPr>
            <p:spPr>
              <a:xfrm>
                <a:off x="1061466" y="2382202"/>
                <a:ext cx="188206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Consolas"/>
                    <a:ea typeface="Consolas"/>
                    <a:cs typeface="Consolas"/>
                  </a:rPr>
                  <a:t>pca.fit_transform(X_ham)</a:t>
                </a:r>
              </a:p>
            </p:txBody>
          </p:sp>
          <p:sp>
            <p:nvSpPr>
              <p:cNvPr id="19" name="TextBox 19"/>
              <p:cNvSpPr txBox="1"/>
              <p:nvPr/>
            </p:nvSpPr>
            <p:spPr>
              <a:xfrm>
                <a:off x="1061847" y="2714149"/>
                <a:ext cx="2362371"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Toplam ücret gibi büyük ölçekli sütun</a:t>
                </a:r>
              </a:p>
            </p:txBody>
          </p:sp>
          <p:sp>
            <p:nvSpPr>
              <p:cNvPr id="20" name="TextBox 20"/>
              <p:cNvSpPr txBox="1"/>
              <p:nvPr/>
            </p:nvSpPr>
            <p:spPr>
              <a:xfrm>
                <a:off x="1061847" y="2885599"/>
                <a:ext cx="2345025"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varyansı yapay şekilde domine eder.</a:t>
                </a:r>
              </a:p>
            </p:txBody>
          </p:sp>
        </p:grpSp>
        <p:grpSp>
          <p:nvGrpSpPr>
            <p:cNvPr id="28" name="right-1"/>
            <p:cNvGrpSpPr/>
            <p:nvPr/>
          </p:nvGrpSpPr>
          <p:grpSpPr>
            <a:xfrm>
              <a:off x="6019800" y="1752600"/>
              <a:ext cx="4762500" cy="1333500"/>
              <a:chOff x="6019800" y="1752600"/>
              <a:chExt cx="4762500" cy="1333500"/>
            </a:xfrm>
          </p:grpSpPr>
          <p:sp>
            <p:nvSpPr>
              <p:cNvPr id="22" name="Rectangle 22"/>
              <p:cNvSpPr/>
              <p:nvPr/>
            </p:nvSpPr>
            <p:spPr>
              <a:xfrm>
                <a:off x="6019800" y="1752600"/>
                <a:ext cx="4762500" cy="1333500"/>
              </a:xfrm>
              <a:prstGeom prst="roundRect">
                <a:avLst>
                  <a:gd name="adj" fmla="val 5714"/>
                </a:avLst>
              </a:prstGeom>
              <a:solidFill>
                <a:srgbClr val="EAF4F6"/>
              </a:solidFill>
              <a:ln w="14288">
                <a:solidFill>
                  <a:srgbClr val="00A6A6"/>
                </a:solidFill>
              </a:ln>
            </p:spPr>
          </p:sp>
          <p:sp>
            <p:nvSpPr>
              <p:cNvPr id="23" name="TextBox 23"/>
              <p:cNvSpPr txBox="1"/>
              <p:nvPr/>
            </p:nvSpPr>
            <p:spPr>
              <a:xfrm>
                <a:off x="6166866" y="1886902"/>
                <a:ext cx="618568"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 Doğru</a:t>
                </a:r>
              </a:p>
            </p:txBody>
          </p:sp>
          <p:sp>
            <p:nvSpPr>
              <p:cNvPr id="24" name="TextBox 24"/>
              <p:cNvSpPr txBox="1"/>
              <p:nvPr/>
            </p:nvSpPr>
            <p:spPr>
              <a:xfrm>
                <a:off x="6166866" y="2153602"/>
                <a:ext cx="3531737"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Consolas"/>
                    <a:ea typeface="Consolas"/>
                    <a:cs typeface="Consolas"/>
                  </a:rPr>
                  <a:t>X_olcekli = StandardScaler().fit_transform(X)</a:t>
                </a:r>
              </a:p>
            </p:txBody>
          </p:sp>
          <p:sp>
            <p:nvSpPr>
              <p:cNvPr id="25" name="TextBox 25"/>
              <p:cNvSpPr txBox="1"/>
              <p:nvPr/>
            </p:nvSpPr>
            <p:spPr>
              <a:xfrm>
                <a:off x="6166866" y="2382202"/>
                <a:ext cx="2192831"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Consolas"/>
                    <a:ea typeface="Consolas"/>
                    <a:cs typeface="Consolas"/>
                  </a:rPr>
                  <a:t>pca.fit_transform(X_olcekli)</a:t>
                </a:r>
              </a:p>
            </p:txBody>
          </p:sp>
          <p:sp>
            <p:nvSpPr>
              <p:cNvPr id="26" name="TextBox 26"/>
              <p:cNvSpPr txBox="1"/>
              <p:nvPr/>
            </p:nvSpPr>
            <p:spPr>
              <a:xfrm>
                <a:off x="6167247" y="2714149"/>
                <a:ext cx="2159006"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Tüm sütunlar ortalama 0, std 1'e</a:t>
                </a:r>
              </a:p>
            </p:txBody>
          </p:sp>
          <p:sp>
            <p:nvSpPr>
              <p:cNvPr id="27" name="TextBox 27"/>
              <p:cNvSpPr txBox="1"/>
              <p:nvPr/>
            </p:nvSpPr>
            <p:spPr>
              <a:xfrm>
                <a:off x="6167247" y="2885599"/>
                <a:ext cx="2556109"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çekilerek eşit ağırlıkla değerlendirilir.</a:t>
                </a:r>
              </a:p>
            </p:txBody>
          </p:sp>
        </p:grpSp>
      </p:grpSp>
      <p:grpSp>
        <p:nvGrpSpPr>
          <p:cNvPr id="47" name="hata-2"/>
          <p:cNvGrpSpPr/>
          <p:nvPr/>
        </p:nvGrpSpPr>
        <p:grpSpPr>
          <a:xfrm>
            <a:off x="609600" y="3467100"/>
            <a:ext cx="10972800" cy="2095500"/>
            <a:chOff x="609600" y="3467100"/>
            <a:chExt cx="10972800" cy="2095500"/>
          </a:xfrm>
        </p:grpSpPr>
        <p:sp>
          <p:nvSpPr>
            <p:cNvPr id="30" name="Rectangle 30"/>
            <p:cNvSpPr/>
            <p:nvPr/>
          </p:nvSpPr>
          <p:spPr>
            <a:xfrm>
              <a:off x="609600" y="3467100"/>
              <a:ext cx="10972800" cy="2095500"/>
            </a:xfrm>
            <a:prstGeom prst="roundRect">
              <a:avLst>
                <a:gd name="adj" fmla="val 4545"/>
              </a:avLst>
            </a:prstGeom>
            <a:solidFill>
              <a:srgbClr val="FFFFFF"/>
            </a:solidFill>
            <a:ln w="14288">
              <a:solidFill>
                <a:srgbClr val="B8CBD3"/>
              </a:solidFill>
            </a:ln>
          </p:spPr>
        </p:sp>
        <p:sp>
          <p:nvSpPr>
            <p:cNvPr id="31" name="Rectangle 31"/>
            <p:cNvSpPr/>
            <p:nvPr/>
          </p:nvSpPr>
          <p:spPr>
            <a:xfrm>
              <a:off x="609600" y="3467100"/>
              <a:ext cx="95250" cy="2095500"/>
            </a:xfrm>
            <a:prstGeom prst="rect">
              <a:avLst/>
            </a:prstGeom>
            <a:solidFill>
              <a:srgbClr val="12355B"/>
            </a:solidFill>
            <a:ln>
              <a:noFill/>
            </a:ln>
          </p:spPr>
        </p:sp>
        <p:sp>
          <p:nvSpPr>
            <p:cNvPr id="32" name="TextBox 32"/>
            <p:cNvSpPr txBox="1"/>
            <p:nvPr/>
          </p:nvSpPr>
          <p:spPr>
            <a:xfrm>
              <a:off x="906399" y="3639979"/>
              <a:ext cx="392106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2. Test verisinde ayrı fit çağırmak</a:t>
              </a:r>
            </a:p>
          </p:txBody>
        </p:sp>
        <p:grpSp>
          <p:nvGrpSpPr>
            <p:cNvPr id="39" name="wrong-2"/>
            <p:cNvGrpSpPr/>
            <p:nvPr/>
          </p:nvGrpSpPr>
          <p:grpSpPr>
            <a:xfrm>
              <a:off x="914400" y="4000500"/>
              <a:ext cx="4762500" cy="1333500"/>
              <a:chOff x="914400" y="4000500"/>
              <a:chExt cx="4762500" cy="1333500"/>
            </a:xfrm>
          </p:grpSpPr>
          <p:sp>
            <p:nvSpPr>
              <p:cNvPr id="33" name="Rectangle 33"/>
              <p:cNvSpPr/>
              <p:nvPr/>
            </p:nvSpPr>
            <p:spPr>
              <a:xfrm>
                <a:off x="914400" y="4000500"/>
                <a:ext cx="4762500" cy="1333500"/>
              </a:xfrm>
              <a:prstGeom prst="roundRect">
                <a:avLst>
                  <a:gd name="adj" fmla="val 5714"/>
                </a:avLst>
              </a:prstGeom>
              <a:solidFill>
                <a:srgbClr val="F7FAFC"/>
              </a:solidFill>
              <a:ln w="9525">
                <a:solidFill>
                  <a:srgbClr val="B8CBD3"/>
                </a:solidFill>
              </a:ln>
            </p:spPr>
          </p:sp>
          <p:sp>
            <p:nvSpPr>
              <p:cNvPr id="34" name="TextBox 34"/>
              <p:cNvSpPr txBox="1"/>
              <p:nvPr/>
            </p:nvSpPr>
            <p:spPr>
              <a:xfrm>
                <a:off x="1061466" y="4134802"/>
                <a:ext cx="662379" cy="205359"/>
              </a:xfrm>
              <a:prstGeom prst="rect">
                <a:avLst/>
              </a:prstGeom>
              <a:noFill/>
              <a:ln>
                <a:noFill/>
              </a:ln>
            </p:spPr>
            <p:txBody>
              <a:bodyPr wrap="none" lIns="0" tIns="0" rIns="0" bIns="0" anchor="t" anchorCtr="0">
                <a:spAutoFit/>
              </a:bodyPr>
              <a:lstStyle/>
              <a:p>
                <a:pPr algn="l"/>
                <a:r>
                  <a:rPr lang="tr-TR" sz="1050" b="1" dirty="0">
                    <a:solidFill>
                      <a:srgbClr val="52616B"/>
                    </a:solidFill>
                    <a:latin typeface="+mn-lt"/>
                    <a:ea typeface="+mn-ea"/>
                    <a:cs typeface="+mn-cs"/>
                  </a:rPr>
                  <a:t>❌ Yanlış</a:t>
                </a:r>
              </a:p>
            </p:txBody>
          </p:sp>
          <p:sp>
            <p:nvSpPr>
              <p:cNvPr id="35" name="TextBox 35"/>
              <p:cNvSpPr txBox="1"/>
              <p:nvPr/>
            </p:nvSpPr>
            <p:spPr>
              <a:xfrm>
                <a:off x="1061466" y="4401502"/>
                <a:ext cx="203743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Consolas"/>
                    <a:ea typeface="Consolas"/>
                    <a:cs typeface="Consolas"/>
                  </a:rPr>
                  <a:t>pca.fit_transform(X_train)</a:t>
                </a:r>
              </a:p>
            </p:txBody>
          </p:sp>
          <p:sp>
            <p:nvSpPr>
              <p:cNvPr id="36" name="TextBox 36"/>
              <p:cNvSpPr txBox="1"/>
              <p:nvPr/>
            </p:nvSpPr>
            <p:spPr>
              <a:xfrm>
                <a:off x="1061466" y="4630102"/>
                <a:ext cx="195974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Consolas"/>
                    <a:ea typeface="Consolas"/>
                    <a:cs typeface="Consolas"/>
                  </a:rPr>
                  <a:t>pca.fit_transform(X_test)</a:t>
                </a:r>
              </a:p>
            </p:txBody>
          </p:sp>
          <p:sp>
            <p:nvSpPr>
              <p:cNvPr id="37" name="TextBox 37"/>
              <p:cNvSpPr txBox="1"/>
              <p:nvPr/>
            </p:nvSpPr>
            <p:spPr>
              <a:xfrm>
                <a:off x="1061847" y="4962049"/>
                <a:ext cx="2619690"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Test kümesi için ayrı eksenler öğrenilir;</a:t>
                </a:r>
              </a:p>
            </p:txBody>
          </p:sp>
          <p:sp>
            <p:nvSpPr>
              <p:cNvPr id="38" name="TextBox 38"/>
              <p:cNvSpPr txBox="1"/>
              <p:nvPr/>
            </p:nvSpPr>
            <p:spPr>
              <a:xfrm>
                <a:off x="1061847" y="5133499"/>
                <a:ext cx="2318639"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iki küme artık aynı uzayda değildir.</a:t>
                </a:r>
              </a:p>
            </p:txBody>
          </p:sp>
        </p:grpSp>
        <p:grpSp>
          <p:nvGrpSpPr>
            <p:cNvPr id="46" name="right-2"/>
            <p:cNvGrpSpPr/>
            <p:nvPr/>
          </p:nvGrpSpPr>
          <p:grpSpPr>
            <a:xfrm>
              <a:off x="6019800" y="4000500"/>
              <a:ext cx="4762500" cy="1333500"/>
              <a:chOff x="6019800" y="4000500"/>
              <a:chExt cx="4762500" cy="1333500"/>
            </a:xfrm>
          </p:grpSpPr>
          <p:sp>
            <p:nvSpPr>
              <p:cNvPr id="40" name="Rectangle 40"/>
              <p:cNvSpPr/>
              <p:nvPr/>
            </p:nvSpPr>
            <p:spPr>
              <a:xfrm>
                <a:off x="6019800" y="4000500"/>
                <a:ext cx="4762500" cy="1333500"/>
              </a:xfrm>
              <a:prstGeom prst="roundRect">
                <a:avLst>
                  <a:gd name="adj" fmla="val 5714"/>
                </a:avLst>
              </a:prstGeom>
              <a:solidFill>
                <a:srgbClr val="EAF4F6"/>
              </a:solidFill>
              <a:ln w="14288">
                <a:solidFill>
                  <a:srgbClr val="00A6A6"/>
                </a:solidFill>
              </a:ln>
            </p:spPr>
          </p:sp>
          <p:sp>
            <p:nvSpPr>
              <p:cNvPr id="41" name="TextBox 41"/>
              <p:cNvSpPr txBox="1"/>
              <p:nvPr/>
            </p:nvSpPr>
            <p:spPr>
              <a:xfrm>
                <a:off x="6166866" y="4134802"/>
                <a:ext cx="618568"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 Doğru</a:t>
                </a:r>
              </a:p>
            </p:txBody>
          </p:sp>
          <p:sp>
            <p:nvSpPr>
              <p:cNvPr id="42" name="TextBox 42"/>
              <p:cNvSpPr txBox="1"/>
              <p:nvPr/>
            </p:nvSpPr>
            <p:spPr>
              <a:xfrm>
                <a:off x="6166866" y="4401502"/>
                <a:ext cx="1260424"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Consolas"/>
                    <a:ea typeface="Consolas"/>
                    <a:cs typeface="Consolas"/>
                  </a:rPr>
                  <a:t>pca.fit(X_train)</a:t>
                </a:r>
              </a:p>
            </p:txBody>
          </p:sp>
          <p:sp>
            <p:nvSpPr>
              <p:cNvPr id="43" name="TextBox 43"/>
              <p:cNvSpPr txBox="1"/>
              <p:nvPr/>
            </p:nvSpPr>
            <p:spPr>
              <a:xfrm>
                <a:off x="6166866" y="4630102"/>
                <a:ext cx="1648708"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Consolas"/>
                    <a:ea typeface="Consolas"/>
                    <a:cs typeface="Consolas"/>
                  </a:rPr>
                  <a:t>pca.transform(X_test)</a:t>
                </a:r>
              </a:p>
            </p:txBody>
          </p:sp>
          <p:sp>
            <p:nvSpPr>
              <p:cNvPr id="44" name="TextBox 44"/>
              <p:cNvSpPr txBox="1"/>
              <p:nvPr/>
            </p:nvSpPr>
            <p:spPr>
              <a:xfrm>
                <a:off x="6167247" y="4962049"/>
                <a:ext cx="2283075"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Eksenler yalnızca eğitim verisinden</a:t>
                </a:r>
              </a:p>
            </p:txBody>
          </p:sp>
          <p:sp>
            <p:nvSpPr>
              <p:cNvPr id="45" name="TextBox 45"/>
              <p:cNvSpPr txBox="1"/>
              <p:nvPr/>
            </p:nvSpPr>
            <p:spPr>
              <a:xfrm>
                <a:off x="6167247" y="5133499"/>
                <a:ext cx="2800175"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öğrenilir, test aynı eksenlere izdüşürülür.</a:t>
                </a:r>
              </a:p>
            </p:txBody>
          </p:sp>
        </p:gr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4901251" cy="668845"/>
            <a:chOff x="609600" y="171450"/>
            <a:chExt cx="4901251"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421087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Özellik seçimi: üç aile</a:t>
              </a:r>
            </a:p>
          </p:txBody>
        </p:sp>
      </p:grpSp>
      <p:grpSp>
        <p:nvGrpSpPr>
          <p:cNvPr id="15" name="def-text"/>
          <p:cNvGrpSpPr/>
          <p:nvPr/>
        </p:nvGrpSpPr>
        <p:grpSpPr>
          <a:xfrm>
            <a:off x="601980" y="1343025"/>
            <a:ext cx="8455914" cy="560070"/>
            <a:chOff x="601980" y="1343025"/>
            <a:chExt cx="8455914" cy="560070"/>
          </a:xfrm>
        </p:grpSpPr>
        <p:sp>
          <p:nvSpPr>
            <p:cNvPr id="13" name="TextBox 13"/>
            <p:cNvSpPr txBox="1"/>
            <p:nvPr/>
          </p:nvSpPr>
          <p:spPr>
            <a:xfrm>
              <a:off x="601980" y="1343025"/>
              <a:ext cx="8414309"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PCA'nin aksine öznitelik seçimi yeni eksen üretmez; var olan sütunlardan bilgilendirici</a:t>
              </a:r>
            </a:p>
          </p:txBody>
        </p:sp>
        <p:sp>
          <p:nvSpPr>
            <p:cNvPr id="14" name="TextBox 14"/>
            <p:cNvSpPr txBox="1"/>
            <p:nvPr/>
          </p:nvSpPr>
          <p:spPr>
            <a:xfrm>
              <a:off x="601980" y="1609725"/>
              <a:ext cx="8455914"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bir alt kümeyi seçer — orijinal sütun adları korunduğu için yorumlanabilirlik yüksektir.</a:t>
              </a:r>
            </a:p>
          </p:txBody>
        </p:sp>
      </p:grpSp>
      <p:grpSp>
        <p:nvGrpSpPr>
          <p:cNvPr id="52" name="cards"/>
          <p:cNvGrpSpPr/>
          <p:nvPr/>
        </p:nvGrpSpPr>
        <p:grpSpPr>
          <a:xfrm>
            <a:off x="609600" y="2286000"/>
            <a:ext cx="10972800" cy="2857500"/>
            <a:chOff x="609600" y="2286000"/>
            <a:chExt cx="10972800" cy="2857500"/>
          </a:xfrm>
        </p:grpSpPr>
        <p:sp>
          <p:nvSpPr>
            <p:cNvPr id="16" name="Rectangle 16"/>
            <p:cNvSpPr/>
            <p:nvPr/>
          </p:nvSpPr>
          <p:spPr>
            <a:xfrm>
              <a:off x="609600" y="2286000"/>
              <a:ext cx="3505200" cy="2857500"/>
            </a:xfrm>
            <a:prstGeom prst="roundRect">
              <a:avLst>
                <a:gd name="adj" fmla="val 3333"/>
              </a:avLst>
            </a:prstGeom>
            <a:solidFill>
              <a:srgbClr val="FFFFFF"/>
            </a:solidFill>
            <a:ln w="14288">
              <a:solidFill>
                <a:srgbClr val="B8CBD3"/>
              </a:solidFill>
            </a:ln>
          </p:spPr>
        </p:sp>
        <p:sp>
          <p:nvSpPr>
            <p:cNvPr id="17" name="Rectangle 17"/>
            <p:cNvSpPr/>
            <p:nvPr/>
          </p:nvSpPr>
          <p:spPr>
            <a:xfrm>
              <a:off x="609600" y="2286000"/>
              <a:ext cx="3505200" cy="457200"/>
            </a:xfrm>
            <a:prstGeom prst="roundRect">
              <a:avLst>
                <a:gd name="adj" fmla="val 20833"/>
              </a:avLst>
            </a:prstGeom>
            <a:solidFill>
              <a:srgbClr val="12355B"/>
            </a:solidFill>
            <a:ln>
              <a:noFill/>
            </a:ln>
          </p:spPr>
        </p:sp>
        <p:sp>
          <p:nvSpPr>
            <p:cNvPr id="18" name="Rectangle 18"/>
            <p:cNvSpPr/>
            <p:nvPr/>
          </p:nvSpPr>
          <p:spPr>
            <a:xfrm>
              <a:off x="609600" y="2514600"/>
              <a:ext cx="3505200" cy="228600"/>
            </a:xfrm>
            <a:prstGeom prst="rect">
              <a:avLst/>
            </a:prstGeom>
            <a:solidFill>
              <a:srgbClr val="12355B"/>
            </a:solidFill>
            <a:ln>
              <a:noFill/>
            </a:ln>
          </p:spPr>
        </p:sp>
        <p:sp>
          <p:nvSpPr>
            <p:cNvPr id="19" name="TextBox 19"/>
            <p:cNvSpPr txBox="1"/>
            <p:nvPr/>
          </p:nvSpPr>
          <p:spPr>
            <a:xfrm>
              <a:off x="830961" y="2436971"/>
              <a:ext cx="581792"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Filtre</a:t>
              </a:r>
            </a:p>
          </p:txBody>
        </p:sp>
        <p:sp>
          <p:nvSpPr>
            <p:cNvPr id="20" name="TextBox 20"/>
            <p:cNvSpPr txBox="1"/>
            <p:nvPr/>
          </p:nvSpPr>
          <p:spPr>
            <a:xfrm>
              <a:off x="832104" y="2899410"/>
              <a:ext cx="26424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Modelden bağımsız, istatistiksel</a:t>
              </a:r>
            </a:p>
          </p:txBody>
        </p:sp>
        <p:sp>
          <p:nvSpPr>
            <p:cNvPr id="21" name="TextBox 21"/>
            <p:cNvSpPr txBox="1"/>
            <p:nvPr/>
          </p:nvSpPr>
          <p:spPr>
            <a:xfrm>
              <a:off x="832104" y="3108960"/>
              <a:ext cx="261305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ölçütlerle (varyans, korelasyon)</a:t>
              </a:r>
            </a:p>
          </p:txBody>
        </p:sp>
        <p:sp>
          <p:nvSpPr>
            <p:cNvPr id="22" name="TextBox 22"/>
            <p:cNvSpPr txBox="1"/>
            <p:nvPr/>
          </p:nvSpPr>
          <p:spPr>
            <a:xfrm>
              <a:off x="832104" y="3318510"/>
              <a:ext cx="102991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sütun eleme.</a:t>
              </a:r>
            </a:p>
          </p:txBody>
        </p:sp>
        <p:sp>
          <p:nvSpPr>
            <p:cNvPr id="23" name="TextBox 23"/>
            <p:cNvSpPr txBox="1"/>
            <p:nvPr/>
          </p:nvSpPr>
          <p:spPr>
            <a:xfrm>
              <a:off x="832485" y="3669506"/>
              <a:ext cx="585966"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Araçlar</a:t>
              </a:r>
            </a:p>
          </p:txBody>
        </p:sp>
        <p:sp>
          <p:nvSpPr>
            <p:cNvPr id="24" name="TextBox 24"/>
            <p:cNvSpPr txBox="1"/>
            <p:nvPr/>
          </p:nvSpPr>
          <p:spPr>
            <a:xfrm>
              <a:off x="832485" y="3879056"/>
              <a:ext cx="2372055"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VarianceThreshold, SelectKBest</a:t>
              </a:r>
            </a:p>
          </p:txBody>
        </p:sp>
        <p:sp>
          <p:nvSpPr>
            <p:cNvPr id="25" name="TextBox 25"/>
            <p:cNvSpPr txBox="1"/>
            <p:nvPr/>
          </p:nvSpPr>
          <p:spPr>
            <a:xfrm>
              <a:off x="832485" y="4183856"/>
              <a:ext cx="277575"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Hız</a:t>
              </a:r>
            </a:p>
          </p:txBody>
        </p:sp>
        <p:sp>
          <p:nvSpPr>
            <p:cNvPr id="26" name="TextBox 26"/>
            <p:cNvSpPr txBox="1"/>
            <p:nvPr/>
          </p:nvSpPr>
          <p:spPr>
            <a:xfrm>
              <a:off x="832485" y="4393406"/>
              <a:ext cx="226285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Çok hızlı, etkileşim yakalamaz</a:t>
              </a:r>
            </a:p>
          </p:txBody>
        </p:sp>
        <p:sp>
          <p:nvSpPr>
            <p:cNvPr id="27" name="TextBox 27"/>
            <p:cNvSpPr txBox="1"/>
            <p:nvPr/>
          </p:nvSpPr>
          <p:spPr>
            <a:xfrm>
              <a:off x="832485" y="4698206"/>
              <a:ext cx="2194688"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Sütunlar arası ilişkiyi görmez</a:t>
              </a:r>
            </a:p>
          </p:txBody>
        </p:sp>
        <p:sp>
          <p:nvSpPr>
            <p:cNvPr id="28" name="Rectangle 28"/>
            <p:cNvSpPr/>
            <p:nvPr/>
          </p:nvSpPr>
          <p:spPr>
            <a:xfrm>
              <a:off x="4343400" y="2286000"/>
              <a:ext cx="3505200" cy="2857500"/>
            </a:xfrm>
            <a:prstGeom prst="roundRect">
              <a:avLst>
                <a:gd name="adj" fmla="val 3333"/>
              </a:avLst>
            </a:prstGeom>
            <a:solidFill>
              <a:srgbClr val="FFFFFF"/>
            </a:solidFill>
            <a:ln w="14288">
              <a:solidFill>
                <a:srgbClr val="B8CBD3"/>
              </a:solidFill>
            </a:ln>
          </p:spPr>
        </p:sp>
        <p:sp>
          <p:nvSpPr>
            <p:cNvPr id="29" name="Rectangle 29"/>
            <p:cNvSpPr/>
            <p:nvPr/>
          </p:nvSpPr>
          <p:spPr>
            <a:xfrm>
              <a:off x="4343400" y="2286000"/>
              <a:ext cx="3505200" cy="457200"/>
            </a:xfrm>
            <a:prstGeom prst="roundRect">
              <a:avLst>
                <a:gd name="adj" fmla="val 20833"/>
              </a:avLst>
            </a:prstGeom>
            <a:solidFill>
              <a:srgbClr val="00A6A6"/>
            </a:solidFill>
            <a:ln>
              <a:noFill/>
            </a:ln>
          </p:spPr>
        </p:sp>
        <p:sp>
          <p:nvSpPr>
            <p:cNvPr id="30" name="Rectangle 30"/>
            <p:cNvSpPr/>
            <p:nvPr/>
          </p:nvSpPr>
          <p:spPr>
            <a:xfrm>
              <a:off x="4343400" y="2514600"/>
              <a:ext cx="3505200" cy="228600"/>
            </a:xfrm>
            <a:prstGeom prst="rect">
              <a:avLst/>
            </a:prstGeom>
            <a:solidFill>
              <a:srgbClr val="00A6A6"/>
            </a:solidFill>
            <a:ln>
              <a:noFill/>
            </a:ln>
          </p:spPr>
        </p:sp>
        <p:sp>
          <p:nvSpPr>
            <p:cNvPr id="31" name="TextBox 31"/>
            <p:cNvSpPr txBox="1"/>
            <p:nvPr/>
          </p:nvSpPr>
          <p:spPr>
            <a:xfrm>
              <a:off x="4564761" y="2436971"/>
              <a:ext cx="1224986"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Sarmalayıcı</a:t>
              </a:r>
            </a:p>
          </p:txBody>
        </p:sp>
        <p:sp>
          <p:nvSpPr>
            <p:cNvPr id="32" name="TextBox 32"/>
            <p:cNvSpPr txBox="1"/>
            <p:nvPr/>
          </p:nvSpPr>
          <p:spPr>
            <a:xfrm>
              <a:off x="4565904" y="2899410"/>
              <a:ext cx="244834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Belirli bir modeli tekrar tekrar</a:t>
              </a:r>
            </a:p>
          </p:txBody>
        </p:sp>
        <p:sp>
          <p:nvSpPr>
            <p:cNvPr id="33" name="TextBox 33"/>
            <p:cNvSpPr txBox="1"/>
            <p:nvPr/>
          </p:nvSpPr>
          <p:spPr>
            <a:xfrm>
              <a:off x="4565904" y="3108960"/>
              <a:ext cx="191033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eğiterek en iyi sütun alt</a:t>
              </a:r>
            </a:p>
          </p:txBody>
        </p:sp>
        <p:sp>
          <p:nvSpPr>
            <p:cNvPr id="34" name="TextBox 34"/>
            <p:cNvSpPr txBox="1"/>
            <p:nvPr/>
          </p:nvSpPr>
          <p:spPr>
            <a:xfrm>
              <a:off x="4565904" y="3318510"/>
              <a:ext cx="128839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kümesini arama.</a:t>
              </a:r>
            </a:p>
          </p:txBody>
        </p:sp>
        <p:sp>
          <p:nvSpPr>
            <p:cNvPr id="35" name="TextBox 35"/>
            <p:cNvSpPr txBox="1"/>
            <p:nvPr/>
          </p:nvSpPr>
          <p:spPr>
            <a:xfrm>
              <a:off x="4566285" y="3669506"/>
              <a:ext cx="585966"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Araçlar</a:t>
              </a:r>
            </a:p>
          </p:txBody>
        </p:sp>
        <p:sp>
          <p:nvSpPr>
            <p:cNvPr id="36" name="TextBox 36"/>
            <p:cNvSpPr txBox="1"/>
            <p:nvPr/>
          </p:nvSpPr>
          <p:spPr>
            <a:xfrm>
              <a:off x="4566285" y="3879056"/>
              <a:ext cx="1534235"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RFE, ileri/geri seçim</a:t>
              </a:r>
            </a:p>
          </p:txBody>
        </p:sp>
        <p:sp>
          <p:nvSpPr>
            <p:cNvPr id="37" name="TextBox 37"/>
            <p:cNvSpPr txBox="1"/>
            <p:nvPr/>
          </p:nvSpPr>
          <p:spPr>
            <a:xfrm>
              <a:off x="4566285" y="4183856"/>
              <a:ext cx="277575"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Hız</a:t>
              </a:r>
            </a:p>
          </p:txBody>
        </p:sp>
        <p:sp>
          <p:nvSpPr>
            <p:cNvPr id="38" name="TextBox 38"/>
            <p:cNvSpPr txBox="1"/>
            <p:nvPr/>
          </p:nvSpPr>
          <p:spPr>
            <a:xfrm>
              <a:off x="4566285" y="4393406"/>
              <a:ext cx="2391105"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Yavaş, model her adımda eğitilir</a:t>
              </a:r>
            </a:p>
          </p:txBody>
        </p:sp>
        <p:sp>
          <p:nvSpPr>
            <p:cNvPr id="39" name="TextBox 39"/>
            <p:cNvSpPr txBox="1"/>
            <p:nvPr/>
          </p:nvSpPr>
          <p:spPr>
            <a:xfrm>
              <a:off x="4566285" y="4698206"/>
              <a:ext cx="1907768"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Etkileşimleri yakalayabilir</a:t>
              </a:r>
            </a:p>
          </p:txBody>
        </p:sp>
        <p:sp>
          <p:nvSpPr>
            <p:cNvPr id="40" name="Rectangle 40"/>
            <p:cNvSpPr/>
            <p:nvPr/>
          </p:nvSpPr>
          <p:spPr>
            <a:xfrm>
              <a:off x="8077200" y="2286000"/>
              <a:ext cx="3505200" cy="2857500"/>
            </a:xfrm>
            <a:prstGeom prst="roundRect">
              <a:avLst>
                <a:gd name="adj" fmla="val 3333"/>
              </a:avLst>
            </a:prstGeom>
            <a:solidFill>
              <a:srgbClr val="FFFFFF"/>
            </a:solidFill>
            <a:ln w="14288">
              <a:solidFill>
                <a:srgbClr val="B8CBD3"/>
              </a:solidFill>
            </a:ln>
          </p:spPr>
        </p:sp>
        <p:sp>
          <p:nvSpPr>
            <p:cNvPr id="41" name="Rectangle 41"/>
            <p:cNvSpPr/>
            <p:nvPr/>
          </p:nvSpPr>
          <p:spPr>
            <a:xfrm>
              <a:off x="8077200" y="2286000"/>
              <a:ext cx="3505200" cy="457200"/>
            </a:xfrm>
            <a:prstGeom prst="roundRect">
              <a:avLst>
                <a:gd name="adj" fmla="val 20833"/>
              </a:avLst>
            </a:prstGeom>
            <a:solidFill>
              <a:srgbClr val="2E86AB"/>
            </a:solidFill>
            <a:ln>
              <a:noFill/>
            </a:ln>
          </p:spPr>
        </p:sp>
        <p:sp>
          <p:nvSpPr>
            <p:cNvPr id="42" name="Rectangle 42"/>
            <p:cNvSpPr/>
            <p:nvPr/>
          </p:nvSpPr>
          <p:spPr>
            <a:xfrm>
              <a:off x="8077200" y="2514600"/>
              <a:ext cx="3505200" cy="228600"/>
            </a:xfrm>
            <a:prstGeom prst="rect">
              <a:avLst/>
            </a:prstGeom>
            <a:solidFill>
              <a:srgbClr val="2E86AB"/>
            </a:solidFill>
            <a:ln>
              <a:noFill/>
            </a:ln>
          </p:spPr>
        </p:sp>
        <p:sp>
          <p:nvSpPr>
            <p:cNvPr id="43" name="TextBox 43"/>
            <p:cNvSpPr txBox="1"/>
            <p:nvPr/>
          </p:nvSpPr>
          <p:spPr>
            <a:xfrm>
              <a:off x="8298561" y="2436971"/>
              <a:ext cx="672967"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Gömülü</a:t>
              </a:r>
            </a:p>
          </p:txBody>
        </p:sp>
        <p:sp>
          <p:nvSpPr>
            <p:cNvPr id="44" name="TextBox 44"/>
            <p:cNvSpPr txBox="1"/>
            <p:nvPr/>
          </p:nvSpPr>
          <p:spPr>
            <a:xfrm>
              <a:off x="8299704" y="2899410"/>
              <a:ext cx="16084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Seçimin model eğitim</a:t>
              </a:r>
            </a:p>
          </p:txBody>
        </p:sp>
        <p:sp>
          <p:nvSpPr>
            <p:cNvPr id="45" name="TextBox 45"/>
            <p:cNvSpPr txBox="1"/>
            <p:nvPr/>
          </p:nvSpPr>
          <p:spPr>
            <a:xfrm>
              <a:off x="8299704" y="3108960"/>
              <a:ext cx="171648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sürecinin içine gömülü</a:t>
              </a:r>
            </a:p>
          </p:txBody>
        </p:sp>
        <p:sp>
          <p:nvSpPr>
            <p:cNvPr id="46" name="TextBox 46"/>
            <p:cNvSpPr txBox="1"/>
            <p:nvPr/>
          </p:nvSpPr>
          <p:spPr>
            <a:xfrm>
              <a:off x="8299704" y="3318510"/>
              <a:ext cx="134493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olduğu yaklaşım.</a:t>
              </a:r>
            </a:p>
          </p:txBody>
        </p:sp>
        <p:sp>
          <p:nvSpPr>
            <p:cNvPr id="47" name="TextBox 47"/>
            <p:cNvSpPr txBox="1"/>
            <p:nvPr/>
          </p:nvSpPr>
          <p:spPr>
            <a:xfrm>
              <a:off x="8300085" y="3669506"/>
              <a:ext cx="585966"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Araçlar</a:t>
              </a:r>
            </a:p>
          </p:txBody>
        </p:sp>
        <p:sp>
          <p:nvSpPr>
            <p:cNvPr id="48" name="TextBox 48"/>
            <p:cNvSpPr txBox="1"/>
            <p:nvPr/>
          </p:nvSpPr>
          <p:spPr>
            <a:xfrm>
              <a:off x="8300085" y="3879056"/>
              <a:ext cx="2110913"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Lasso katsayıları (L1 ceza)</a:t>
              </a:r>
            </a:p>
          </p:txBody>
        </p:sp>
        <p:sp>
          <p:nvSpPr>
            <p:cNvPr id="49" name="TextBox 49"/>
            <p:cNvSpPr txBox="1"/>
            <p:nvPr/>
          </p:nvSpPr>
          <p:spPr>
            <a:xfrm>
              <a:off x="8300085" y="4183856"/>
              <a:ext cx="277575"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Hız</a:t>
              </a:r>
            </a:p>
          </p:txBody>
        </p:sp>
        <p:sp>
          <p:nvSpPr>
            <p:cNvPr id="50" name="TextBox 50"/>
            <p:cNvSpPr txBox="1"/>
            <p:nvPr/>
          </p:nvSpPr>
          <p:spPr>
            <a:xfrm>
              <a:off x="8300085" y="4393406"/>
              <a:ext cx="2564170"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Orta, eğitimle birlikte gerçekleşir</a:t>
              </a:r>
            </a:p>
          </p:txBody>
        </p:sp>
        <p:sp>
          <p:nvSpPr>
            <p:cNvPr id="51" name="TextBox 51"/>
            <p:cNvSpPr txBox="1"/>
            <p:nvPr/>
          </p:nvSpPr>
          <p:spPr>
            <a:xfrm>
              <a:off x="8300085" y="4698206"/>
              <a:ext cx="221752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Bu bölümde ayrıntılı işlenmez</a:t>
              </a:r>
            </a:p>
          </p:txBody>
        </p:sp>
      </p:grpSp>
      <p:grpSp>
        <p:nvGrpSpPr>
          <p:cNvPr id="56" name="bottom-note"/>
          <p:cNvGrpSpPr/>
          <p:nvPr/>
        </p:nvGrpSpPr>
        <p:grpSpPr>
          <a:xfrm>
            <a:off x="609600" y="5410200"/>
            <a:ext cx="10972800" cy="723900"/>
            <a:chOff x="609600" y="5410200"/>
            <a:chExt cx="10972800" cy="723900"/>
          </a:xfrm>
        </p:grpSpPr>
        <p:sp>
          <p:nvSpPr>
            <p:cNvPr id="53" name="Rectangle 53"/>
            <p:cNvSpPr/>
            <p:nvPr/>
          </p:nvSpPr>
          <p:spPr>
            <a:xfrm>
              <a:off x="609600" y="5410200"/>
              <a:ext cx="10972800" cy="723900"/>
            </a:xfrm>
            <a:prstGeom prst="roundRect">
              <a:avLst>
                <a:gd name="adj" fmla="val 10526"/>
              </a:avLst>
            </a:prstGeom>
            <a:solidFill>
              <a:srgbClr val="12355B"/>
            </a:solidFill>
            <a:ln>
              <a:noFill/>
            </a:ln>
          </p:spPr>
        </p:sp>
        <p:sp>
          <p:nvSpPr>
            <p:cNvPr id="54" name="TextBox 54"/>
            <p:cNvSpPr txBox="1"/>
            <p:nvPr/>
          </p:nvSpPr>
          <p:spPr>
            <a:xfrm>
              <a:off x="907161" y="5561171"/>
              <a:ext cx="6504479"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Filtre hızlı ama kördür, sarmalayıcı yavaş ama etkileşimi görür —</a:t>
              </a:r>
            </a:p>
          </p:txBody>
        </p:sp>
        <p:sp>
          <p:nvSpPr>
            <p:cNvPr id="55" name="TextBox 55"/>
            <p:cNvSpPr txBox="1"/>
            <p:nvPr/>
          </p:nvSpPr>
          <p:spPr>
            <a:xfrm>
              <a:off x="907161" y="5827871"/>
              <a:ext cx="5701500" cy="278702"/>
            </a:xfrm>
            <a:prstGeom prst="rect">
              <a:avLst/>
            </a:prstGeom>
            <a:noFill/>
            <a:ln>
              <a:noFill/>
            </a:ln>
          </p:spPr>
          <p:txBody>
            <a:bodyPr wrap="none" lIns="0" tIns="0" rIns="0" bIns="0" anchor="t" anchorCtr="0">
              <a:spAutoFit/>
            </a:bodyPr>
            <a:lstStyle/>
            <a:p>
              <a:pPr algn="l"/>
              <a:r>
                <a:rPr lang="tr-TR" sz="1420" dirty="0">
                  <a:solidFill>
                    <a:srgbClr val="EAF4F6"/>
                  </a:solidFill>
                  <a:latin typeface="+mn-lt"/>
                  <a:ea typeface="+mn-ea"/>
                  <a:cs typeface="+mn-cs"/>
                </a:rPr>
                <a:t>pratikte ikisinin kesişimine bakmak en güvenilir sonucu verir.</a:t>
              </a:r>
            </a:p>
          </p:txBody>
        </p:sp>
      </p:grpSp>
      <p:sp>
        <p:nvSpPr>
          <p:cNvPr id="57" name="TextBox 5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280199" cy="557403"/>
            <a:chOff x="595122" y="282892"/>
            <a:chExt cx="8280199" cy="557403"/>
          </a:xfrm>
        </p:grpSpPr>
        <p:sp>
          <p:nvSpPr>
            <p:cNvPr id="4" name="TextBox 4"/>
            <p:cNvSpPr txBox="1"/>
            <p:nvPr/>
          </p:nvSpPr>
          <p:spPr>
            <a:xfrm>
              <a:off x="595122" y="282892"/>
              <a:ext cx="828019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Filtre ve sarmalayıcı yöntemler bir arada</a:t>
              </a:r>
            </a:p>
          </p:txBody>
        </p:sp>
      </p:grpSp>
      <p:grpSp>
        <p:nvGrpSpPr>
          <p:cNvPr id="15" name="code-block"/>
          <p:cNvGrpSpPr/>
          <p:nvPr/>
        </p:nvGrpSpPr>
        <p:grpSpPr>
          <a:xfrm>
            <a:off x="609600" y="1219200"/>
            <a:ext cx="10972800" cy="2286000"/>
            <a:chOff x="609600" y="1219200"/>
            <a:chExt cx="10972800" cy="2286000"/>
          </a:xfrm>
        </p:grpSpPr>
        <p:sp>
          <p:nvSpPr>
            <p:cNvPr id="6" name="Rectangle 6"/>
            <p:cNvSpPr/>
            <p:nvPr/>
          </p:nvSpPr>
          <p:spPr>
            <a:xfrm>
              <a:off x="609600" y="1219200"/>
              <a:ext cx="10972800" cy="2286000"/>
            </a:xfrm>
            <a:prstGeom prst="roundRect">
              <a:avLst>
                <a:gd name="adj" fmla="val 4167"/>
              </a:avLst>
            </a:prstGeom>
            <a:solidFill>
              <a:srgbClr val="12355B"/>
            </a:solidFill>
            <a:ln>
              <a:noFill/>
            </a:ln>
          </p:spPr>
        </p:sp>
        <p:sp>
          <p:nvSpPr>
            <p:cNvPr id="7" name="TextBox 7"/>
            <p:cNvSpPr txBox="1"/>
            <p:nvPr/>
          </p:nvSpPr>
          <p:spPr>
            <a:xfrm>
              <a:off x="908685" y="1402556"/>
              <a:ext cx="5170655"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1) Filtre — VarianceThreshold: neredeyse sabit sütunları ele</a:t>
              </a:r>
            </a:p>
          </p:txBody>
        </p:sp>
        <p:sp>
          <p:nvSpPr>
            <p:cNvPr id="8" name="TextBox 8"/>
            <p:cNvSpPr txBox="1"/>
            <p:nvPr/>
          </p:nvSpPr>
          <p:spPr>
            <a:xfrm>
              <a:off x="908685" y="1631156"/>
              <a:ext cx="4258168"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varyansFiltresi = VarianceThreshold(threshold=0.01)</a:t>
              </a:r>
            </a:p>
          </p:txBody>
        </p:sp>
        <p:sp>
          <p:nvSpPr>
            <p:cNvPr id="9" name="TextBox 9"/>
            <p:cNvSpPr txBox="1"/>
            <p:nvPr/>
          </p:nvSpPr>
          <p:spPr>
            <a:xfrm>
              <a:off x="908685" y="1935956"/>
              <a:ext cx="6172324"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2) Filtre — SelectKBest: hedefle istatistiksel ilişkisi en güçlü 4 sütun</a:t>
              </a:r>
            </a:p>
          </p:txBody>
        </p:sp>
        <p:sp>
          <p:nvSpPr>
            <p:cNvPr id="10" name="TextBox 10"/>
            <p:cNvSpPr txBox="1"/>
            <p:nvPr/>
          </p:nvSpPr>
          <p:spPr>
            <a:xfrm>
              <a:off x="908685" y="2164556"/>
              <a:ext cx="4354088"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enIyiSecici = SelectKBest(score_func=f_classif, k=4)</a:t>
              </a:r>
            </a:p>
          </p:txBody>
        </p:sp>
        <p:sp>
          <p:nvSpPr>
            <p:cNvPr id="11" name="TextBox 11"/>
            <p:cNvSpPr txBox="1"/>
            <p:nvPr/>
          </p:nvSpPr>
          <p:spPr>
            <a:xfrm>
              <a:off x="908685" y="2469356"/>
              <a:ext cx="5177605"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3) Sarmalayıcı — RFE: lojistik regresyon ile adım adım eleme</a:t>
              </a:r>
            </a:p>
          </p:txBody>
        </p:sp>
        <p:sp>
          <p:nvSpPr>
            <p:cNvPr id="12" name="TextBox 12"/>
            <p:cNvSpPr txBox="1"/>
            <p:nvPr/>
          </p:nvSpPr>
          <p:spPr>
            <a:xfrm>
              <a:off x="908685" y="2697956"/>
              <a:ext cx="5348141"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rfeSecici = RFE(estimator=lojistikModel, n_features_to_select=4)</a:t>
              </a:r>
            </a:p>
          </p:txBody>
        </p:sp>
        <p:sp>
          <p:nvSpPr>
            <p:cNvPr id="13" name="Line 13"/>
            <p:cNvSpPr/>
            <p:nvPr/>
          </p:nvSpPr>
          <p:spPr>
            <a:xfrm>
              <a:off x="914400" y="3009900"/>
              <a:ext cx="10363200" cy="9525"/>
            </a:xfrm>
            <a:custGeom>
              <a:avLst/>
              <a:gdLst/>
              <a:ahLst/>
              <a:cxnLst/>
              <a:rect l="l" t="t" r="r" b="b"/>
              <a:pathLst>
                <a:path w="10363200" h="9525">
                  <a:moveTo>
                    <a:pt x="0" y="0"/>
                  </a:moveTo>
                  <a:lnTo>
                    <a:pt x="10363200" y="0"/>
                  </a:lnTo>
                </a:path>
              </a:pathLst>
            </a:custGeom>
            <a:noFill/>
            <a:ln w="9525">
              <a:solidFill>
                <a:srgbClr val="2E86AB"/>
              </a:solidFill>
            </a:ln>
          </p:spPr>
        </p:sp>
        <p:sp>
          <p:nvSpPr>
            <p:cNvPr id="14" name="TextBox 14"/>
            <p:cNvSpPr txBox="1"/>
            <p:nvPr/>
          </p:nvSpPr>
          <p:spPr>
            <a:xfrm>
              <a:off x="909066" y="3144202"/>
              <a:ext cx="7936792"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SelectKBest: ['hizmetSayisi','musteriKidemAy', ...] RFE: ['musteriKidemAy','gurultuluOznitelik', ...]</a:t>
              </a:r>
            </a:p>
          </p:txBody>
        </p:sp>
      </p:grpSp>
      <p:grpSp>
        <p:nvGrpSpPr>
          <p:cNvPr id="25" name="warning-box"/>
          <p:cNvGrpSpPr/>
          <p:nvPr/>
        </p:nvGrpSpPr>
        <p:grpSpPr>
          <a:xfrm>
            <a:off x="609600" y="3695700"/>
            <a:ext cx="10972800" cy="1485900"/>
            <a:chOff x="609600" y="3695700"/>
            <a:chExt cx="10972800" cy="1485900"/>
          </a:xfrm>
        </p:grpSpPr>
        <p:sp>
          <p:nvSpPr>
            <p:cNvPr id="16" name="Rectangle 16"/>
            <p:cNvSpPr/>
            <p:nvPr/>
          </p:nvSpPr>
          <p:spPr>
            <a:xfrm>
              <a:off x="609600" y="3695700"/>
              <a:ext cx="10972800" cy="1485900"/>
            </a:xfrm>
            <a:prstGeom prst="roundRect">
              <a:avLst>
                <a:gd name="adj" fmla="val 6410"/>
              </a:avLst>
            </a:prstGeom>
            <a:solidFill>
              <a:srgbClr val="FFFFFF"/>
            </a:solidFill>
            <a:ln w="14288">
              <a:solidFill>
                <a:srgbClr val="2E86AB"/>
              </a:solidFill>
            </a:ln>
          </p:spPr>
        </p:sp>
        <p:sp>
          <p:nvSpPr>
            <p:cNvPr id="17" name="Freeform 17"/>
            <p:cNvSpPr/>
            <p:nvPr/>
          </p:nvSpPr>
          <p:spPr>
            <a:xfrm>
              <a:off x="723900" y="3867150"/>
              <a:ext cx="381000" cy="342900"/>
            </a:xfrm>
            <a:custGeom>
              <a:avLst/>
              <a:gdLst/>
              <a:ahLst/>
              <a:cxnLst/>
              <a:rect l="l" t="t" r="r" b="b"/>
              <a:pathLst>
                <a:path w="381000" h="342900">
                  <a:moveTo>
                    <a:pt x="190500" y="0"/>
                  </a:moveTo>
                  <a:lnTo>
                    <a:pt x="381000" y="342900"/>
                  </a:lnTo>
                  <a:lnTo>
                    <a:pt x="0" y="342900"/>
                  </a:lnTo>
                  <a:close/>
                </a:path>
              </a:pathLst>
            </a:custGeom>
            <a:noFill/>
            <a:ln w="20955">
              <a:solidFill>
                <a:srgbClr val="2E86AB"/>
              </a:solidFill>
              <a:round/>
            </a:ln>
          </p:spPr>
        </p:sp>
        <p:sp>
          <p:nvSpPr>
            <p:cNvPr id="18" name="Line 18"/>
            <p:cNvSpPr/>
            <p:nvPr/>
          </p:nvSpPr>
          <p:spPr>
            <a:xfrm>
              <a:off x="914400" y="3981450"/>
              <a:ext cx="9525" cy="114300"/>
            </a:xfrm>
            <a:custGeom>
              <a:avLst/>
              <a:gdLst/>
              <a:ahLst/>
              <a:cxnLst/>
              <a:rect l="l" t="t" r="r" b="b"/>
              <a:pathLst>
                <a:path w="9525" h="114300">
                  <a:moveTo>
                    <a:pt x="0" y="0"/>
                  </a:moveTo>
                  <a:lnTo>
                    <a:pt x="0" y="114300"/>
                  </a:lnTo>
                </a:path>
              </a:pathLst>
            </a:custGeom>
            <a:noFill/>
            <a:ln w="20955">
              <a:solidFill>
                <a:srgbClr val="2E86AB"/>
              </a:solidFill>
            </a:ln>
          </p:spPr>
        </p:sp>
        <p:sp>
          <p:nvSpPr>
            <p:cNvPr id="19" name="Ellipse 19"/>
            <p:cNvSpPr/>
            <p:nvPr/>
          </p:nvSpPr>
          <p:spPr>
            <a:xfrm>
              <a:off x="901065" y="4139565"/>
              <a:ext cx="26670" cy="26670"/>
            </a:xfrm>
            <a:prstGeom prst="ellipse">
              <a:avLst/>
            </a:prstGeom>
            <a:solidFill>
              <a:srgbClr val="2E86AB"/>
            </a:solidFill>
            <a:ln>
              <a:noFill/>
            </a:ln>
          </p:spPr>
        </p:sp>
        <p:sp>
          <p:nvSpPr>
            <p:cNvPr id="20" name="TextBox 20"/>
            <p:cNvSpPr txBox="1"/>
            <p:nvPr/>
          </p:nvSpPr>
          <p:spPr>
            <a:xfrm>
              <a:off x="1288161" y="3827621"/>
              <a:ext cx="3385449"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RFE saf gürültü sütununu seçebilir</a:t>
              </a:r>
            </a:p>
          </p:txBody>
        </p:sp>
        <p:sp>
          <p:nvSpPr>
            <p:cNvPr id="21" name="TextBox 21"/>
            <p:cNvSpPr txBox="1"/>
            <p:nvPr/>
          </p:nvSpPr>
          <p:spPr>
            <a:xfrm>
              <a:off x="1289304" y="4118610"/>
              <a:ext cx="702605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Karşılaştırmada RFE, tamamen rastgele üretilmiş "gurultuluOznitelik" sütununu seçer —</a:t>
              </a:r>
            </a:p>
          </p:txBody>
        </p:sp>
        <p:sp>
          <p:nvSpPr>
            <p:cNvPr id="22" name="TextBox 22"/>
            <p:cNvSpPr txBox="1"/>
            <p:nvPr/>
          </p:nvSpPr>
          <p:spPr>
            <a:xfrm>
              <a:off x="1289304" y="4347210"/>
              <a:ext cx="659511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sarmalayıcı yöntemler de kusursuz değildir, kullanılan modelin (lojistik regresyon)</a:t>
              </a:r>
            </a:p>
          </p:txBody>
        </p:sp>
        <p:sp>
          <p:nvSpPr>
            <p:cNvPr id="23" name="TextBox 23"/>
            <p:cNvSpPr txBox="1"/>
            <p:nvPr/>
          </p:nvSpPr>
          <p:spPr>
            <a:xfrm>
              <a:off x="1289304" y="4575810"/>
              <a:ext cx="349346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özelliklerine bağlı garip sonuçlar üretebilir.</a:t>
              </a:r>
            </a:p>
          </p:txBody>
        </p:sp>
        <p:sp>
          <p:nvSpPr>
            <p:cNvPr id="24" name="TextBox 24"/>
            <p:cNvSpPr txBox="1"/>
            <p:nvPr/>
          </p:nvSpPr>
          <p:spPr>
            <a:xfrm>
              <a:off x="1289304" y="4861560"/>
              <a:ext cx="6811260"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Pratik çözüm: birden fazla yöntemin kesişimine (ortak seçilen sütunlara) bakmak.</a:t>
              </a:r>
            </a:p>
          </p:txBody>
        </p:sp>
      </p:grpSp>
      <p:grpSp>
        <p:nvGrpSpPr>
          <p:cNvPr id="41" name="table"/>
          <p:cNvGrpSpPr/>
          <p:nvPr/>
        </p:nvGrpSpPr>
        <p:grpSpPr>
          <a:xfrm>
            <a:off x="609600" y="5372100"/>
            <a:ext cx="10972800" cy="752189"/>
            <a:chOff x="609600" y="5372100"/>
            <a:chExt cx="10972800" cy="752189"/>
          </a:xfrm>
        </p:grpSpPr>
        <p:sp>
          <p:nvSpPr>
            <p:cNvPr id="26" name="Rectangle 26"/>
            <p:cNvSpPr/>
            <p:nvPr/>
          </p:nvSpPr>
          <p:spPr>
            <a:xfrm>
              <a:off x="609600" y="5372100"/>
              <a:ext cx="10972800" cy="247650"/>
            </a:xfrm>
            <a:prstGeom prst="rect">
              <a:avLst/>
            </a:prstGeom>
            <a:solidFill>
              <a:srgbClr val="12355B"/>
            </a:solidFill>
            <a:ln>
              <a:noFill/>
            </a:ln>
          </p:spPr>
        </p:sp>
        <p:sp>
          <p:nvSpPr>
            <p:cNvPr id="27" name="TextBox 27"/>
            <p:cNvSpPr txBox="1"/>
            <p:nvPr/>
          </p:nvSpPr>
          <p:spPr>
            <a:xfrm>
              <a:off x="833247" y="5447824"/>
              <a:ext cx="522183" cy="190690"/>
            </a:xfrm>
            <a:prstGeom prst="rect">
              <a:avLst/>
            </a:prstGeom>
            <a:noFill/>
            <a:ln>
              <a:noFill/>
            </a:ln>
          </p:spPr>
          <p:txBody>
            <a:bodyPr wrap="none" lIns="0" tIns="0" rIns="0" bIns="0" anchor="t" anchorCtr="0">
              <a:spAutoFit/>
            </a:bodyPr>
            <a:lstStyle/>
            <a:p>
              <a:pPr algn="l"/>
              <a:r>
                <a:rPr lang="tr-TR" sz="980" b="1" dirty="0">
                  <a:solidFill>
                    <a:srgbClr val="FFFFFF"/>
                  </a:solidFill>
                  <a:latin typeface="+mn-lt"/>
                  <a:ea typeface="+mn-ea"/>
                  <a:cs typeface="+mn-cs"/>
                </a:rPr>
                <a:t>YÖNTEM</a:t>
              </a:r>
            </a:p>
          </p:txBody>
        </p:sp>
        <p:sp>
          <p:nvSpPr>
            <p:cNvPr id="28" name="TextBox 28"/>
            <p:cNvSpPr txBox="1"/>
            <p:nvPr/>
          </p:nvSpPr>
          <p:spPr>
            <a:xfrm>
              <a:off x="4186047" y="5447824"/>
              <a:ext cx="734413" cy="190690"/>
            </a:xfrm>
            <a:prstGeom prst="rect">
              <a:avLst/>
            </a:prstGeom>
            <a:noFill/>
            <a:ln>
              <a:noFill/>
            </a:ln>
          </p:spPr>
          <p:txBody>
            <a:bodyPr wrap="none" lIns="0" tIns="0" rIns="0" bIns="0" anchor="t" anchorCtr="0">
              <a:spAutoFit/>
            </a:bodyPr>
            <a:lstStyle/>
            <a:p>
              <a:pPr algn="l"/>
              <a:r>
                <a:rPr lang="tr-TR" sz="980" b="1" dirty="0">
                  <a:solidFill>
                    <a:srgbClr val="FFFFFF"/>
                  </a:solidFill>
                  <a:latin typeface="+mn-lt"/>
                  <a:ea typeface="+mn-ea"/>
                  <a:cs typeface="+mn-cs"/>
                </a:rPr>
                <a:t>BAĞIMLILIK</a:t>
              </a:r>
            </a:p>
          </p:txBody>
        </p:sp>
        <p:sp>
          <p:nvSpPr>
            <p:cNvPr id="29" name="TextBox 29"/>
            <p:cNvSpPr txBox="1"/>
            <p:nvPr/>
          </p:nvSpPr>
          <p:spPr>
            <a:xfrm>
              <a:off x="6662547" y="5447824"/>
              <a:ext cx="214817" cy="190690"/>
            </a:xfrm>
            <a:prstGeom prst="rect">
              <a:avLst/>
            </a:prstGeom>
            <a:noFill/>
            <a:ln>
              <a:noFill/>
            </a:ln>
          </p:spPr>
          <p:txBody>
            <a:bodyPr wrap="none" lIns="0" tIns="0" rIns="0" bIns="0" anchor="t" anchorCtr="0">
              <a:spAutoFit/>
            </a:bodyPr>
            <a:lstStyle/>
            <a:p>
              <a:pPr algn="l"/>
              <a:r>
                <a:rPr lang="tr-TR" sz="980" b="1" dirty="0">
                  <a:solidFill>
                    <a:srgbClr val="FFFFFF"/>
                  </a:solidFill>
                  <a:latin typeface="+mn-lt"/>
                  <a:ea typeface="+mn-ea"/>
                  <a:cs typeface="+mn-cs"/>
                </a:rPr>
                <a:t>HIZ</a:t>
              </a:r>
            </a:p>
          </p:txBody>
        </p:sp>
        <p:sp>
          <p:nvSpPr>
            <p:cNvPr id="30" name="TextBox 30"/>
            <p:cNvSpPr txBox="1"/>
            <p:nvPr/>
          </p:nvSpPr>
          <p:spPr>
            <a:xfrm>
              <a:off x="8567547" y="5447824"/>
              <a:ext cx="1568693" cy="190690"/>
            </a:xfrm>
            <a:prstGeom prst="rect">
              <a:avLst/>
            </a:prstGeom>
            <a:noFill/>
            <a:ln>
              <a:noFill/>
            </a:ln>
          </p:spPr>
          <p:txBody>
            <a:bodyPr wrap="none" lIns="0" tIns="0" rIns="0" bIns="0" anchor="t" anchorCtr="0">
              <a:spAutoFit/>
            </a:bodyPr>
            <a:lstStyle/>
            <a:p>
              <a:pPr algn="l"/>
              <a:r>
                <a:rPr lang="tr-TR" sz="980" b="1" dirty="0">
                  <a:solidFill>
                    <a:srgbClr val="FFFFFF"/>
                  </a:solidFill>
                  <a:latin typeface="+mn-lt"/>
                  <a:ea typeface="+mn-ea"/>
                  <a:cs typeface="+mn-cs"/>
                </a:rPr>
                <a:t>ETKİLEŞİM YAKALAR MI</a:t>
              </a:r>
            </a:p>
          </p:txBody>
        </p:sp>
        <p:sp>
          <p:nvSpPr>
            <p:cNvPr id="31" name="Rectangle 31"/>
            <p:cNvSpPr/>
            <p:nvPr/>
          </p:nvSpPr>
          <p:spPr>
            <a:xfrm>
              <a:off x="609600" y="5619750"/>
              <a:ext cx="10972800" cy="247650"/>
            </a:xfrm>
            <a:prstGeom prst="rect">
              <a:avLst/>
            </a:prstGeom>
            <a:solidFill>
              <a:srgbClr val="EAF4F6"/>
            </a:solidFill>
            <a:ln>
              <a:noFill/>
            </a:ln>
          </p:spPr>
        </p:sp>
        <p:sp>
          <p:nvSpPr>
            <p:cNvPr id="32" name="TextBox 32"/>
            <p:cNvSpPr txBox="1"/>
            <p:nvPr/>
          </p:nvSpPr>
          <p:spPr>
            <a:xfrm>
              <a:off x="833247" y="5685949"/>
              <a:ext cx="2634841"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Filtre (VarianceThreshold, SelectKBest)</a:t>
              </a:r>
            </a:p>
          </p:txBody>
        </p:sp>
        <p:sp>
          <p:nvSpPr>
            <p:cNvPr id="33" name="TextBox 33"/>
            <p:cNvSpPr txBox="1"/>
            <p:nvPr/>
          </p:nvSpPr>
          <p:spPr>
            <a:xfrm>
              <a:off x="4186047" y="5685949"/>
              <a:ext cx="621067"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Bağımsız</a:t>
              </a:r>
            </a:p>
          </p:txBody>
        </p:sp>
        <p:sp>
          <p:nvSpPr>
            <p:cNvPr id="34" name="TextBox 34"/>
            <p:cNvSpPr txBox="1"/>
            <p:nvPr/>
          </p:nvSpPr>
          <p:spPr>
            <a:xfrm>
              <a:off x="6662547" y="5685949"/>
              <a:ext cx="601138"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Çok hızlı</a:t>
              </a:r>
            </a:p>
          </p:txBody>
        </p:sp>
        <p:sp>
          <p:nvSpPr>
            <p:cNvPr id="35" name="TextBox 35"/>
            <p:cNvSpPr txBox="1"/>
            <p:nvPr/>
          </p:nvSpPr>
          <p:spPr>
            <a:xfrm>
              <a:off x="8567547" y="5685949"/>
              <a:ext cx="376814"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Hayır</a:t>
              </a:r>
            </a:p>
          </p:txBody>
        </p:sp>
        <p:sp>
          <p:nvSpPr>
            <p:cNvPr id="36" name="Rectangle 36"/>
            <p:cNvSpPr/>
            <p:nvPr/>
          </p:nvSpPr>
          <p:spPr>
            <a:xfrm>
              <a:off x="609600" y="5867400"/>
              <a:ext cx="10972800" cy="247650"/>
            </a:xfrm>
            <a:prstGeom prst="rect">
              <a:avLst/>
            </a:prstGeom>
            <a:solidFill>
              <a:srgbClr val="FFFFFF"/>
            </a:solidFill>
            <a:ln>
              <a:noFill/>
            </a:ln>
          </p:spPr>
        </p:sp>
        <p:sp>
          <p:nvSpPr>
            <p:cNvPr id="37" name="TextBox 37"/>
            <p:cNvSpPr txBox="1"/>
            <p:nvPr/>
          </p:nvSpPr>
          <p:spPr>
            <a:xfrm>
              <a:off x="833247" y="5933599"/>
              <a:ext cx="2324009"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Sarmalayıcı (RFE, ileri/geri seçim)</a:t>
              </a:r>
            </a:p>
          </p:txBody>
        </p:sp>
        <p:sp>
          <p:nvSpPr>
            <p:cNvPr id="38" name="TextBox 38"/>
            <p:cNvSpPr txBox="1"/>
            <p:nvPr/>
          </p:nvSpPr>
          <p:spPr>
            <a:xfrm>
              <a:off x="4186047" y="5933599"/>
              <a:ext cx="515285"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Bağımlı</a:t>
              </a:r>
            </a:p>
          </p:txBody>
        </p:sp>
        <p:sp>
          <p:nvSpPr>
            <p:cNvPr id="39" name="TextBox 39"/>
            <p:cNvSpPr txBox="1"/>
            <p:nvPr/>
          </p:nvSpPr>
          <p:spPr>
            <a:xfrm>
              <a:off x="6662547" y="5933599"/>
              <a:ext cx="376814"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Yavaş</a:t>
              </a:r>
            </a:p>
          </p:txBody>
        </p:sp>
        <p:sp>
          <p:nvSpPr>
            <p:cNvPr id="40" name="TextBox 40"/>
            <p:cNvSpPr txBox="1"/>
            <p:nvPr/>
          </p:nvSpPr>
          <p:spPr>
            <a:xfrm>
              <a:off x="8567547" y="5933599"/>
              <a:ext cx="304254"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Evet</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8326923" cy="668845"/>
            <a:chOff x="609600" y="171450"/>
            <a:chExt cx="8326923"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76365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Özellik seçimi: ne zaman ve en sık hata</a:t>
              </a:r>
            </a:p>
          </p:txBody>
        </p:sp>
      </p:grpSp>
      <p:grpSp>
        <p:nvGrpSpPr>
          <p:cNvPr id="17" name="when-panel"/>
          <p:cNvGrpSpPr/>
          <p:nvPr/>
        </p:nvGrpSpPr>
        <p:grpSpPr>
          <a:xfrm>
            <a:off x="609600" y="1219200"/>
            <a:ext cx="11371770" cy="1409700"/>
            <a:chOff x="609600" y="1219200"/>
            <a:chExt cx="11371770" cy="1409700"/>
          </a:xfrm>
        </p:grpSpPr>
        <p:sp>
          <p:nvSpPr>
            <p:cNvPr id="11" name="Rectangle 11"/>
            <p:cNvSpPr/>
            <p:nvPr/>
          </p:nvSpPr>
          <p:spPr>
            <a:xfrm>
              <a:off x="609600" y="1219200"/>
              <a:ext cx="10972800" cy="1409700"/>
            </a:xfrm>
            <a:prstGeom prst="roundRect">
              <a:avLst>
                <a:gd name="adj" fmla="val 6757"/>
              </a:avLst>
            </a:prstGeom>
            <a:solidFill>
              <a:srgbClr val="EAF4F6"/>
            </a:solidFill>
            <a:ln>
              <a:noFill/>
            </a:ln>
          </p:spPr>
        </p:sp>
        <p:sp>
          <p:nvSpPr>
            <p:cNvPr id="12" name="TextBox 12"/>
            <p:cNvSpPr txBox="1"/>
            <p:nvPr/>
          </p:nvSpPr>
          <p:spPr>
            <a:xfrm>
              <a:off x="906399" y="1373029"/>
              <a:ext cx="25024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 zaman tercih edilir?</a:t>
              </a:r>
            </a:p>
          </p:txBody>
        </p:sp>
        <p:sp>
          <p:nvSpPr>
            <p:cNvPr id="13" name="TextBox 13"/>
            <p:cNvSpPr txBox="1"/>
            <p:nvPr/>
          </p:nvSpPr>
          <p:spPr>
            <a:xfrm>
              <a:off x="907923" y="1729264"/>
              <a:ext cx="7368046" cy="249364"/>
            </a:xfrm>
            <a:prstGeom prst="rect">
              <a:avLst/>
            </a:prstGeom>
            <a:noFill/>
            <a:ln>
              <a:noFill/>
            </a:ln>
          </p:spPr>
          <p:txBody>
            <a:bodyPr wrap="none" lIns="0" tIns="0" rIns="0" bIns="0" anchor="t" anchorCtr="0">
              <a:spAutoFit/>
            </a:bodyPr>
            <a:lstStyle/>
            <a:p>
              <a:pPr algn="l" marL="138176" indent="-138176">
                <a:buClr>
                  <a:srgbClr val="172B3A"/>
                </a:buClr>
                <a:buSzTx/>
                <a:buFontTx/>
                <a:buChar char="•"/>
              </a:pPr>
              <a:r>
                <a:rPr lang="tr-TR" sz="1280" dirty="0">
                  <a:solidFill>
                    <a:srgbClr val="172B3A"/>
                  </a:solidFill>
                  <a:latin typeface="+mn-lt"/>
                  <a:ea typeface="+mn-ea"/>
                  <a:cs typeface="+mn-cs"/>
                </a:rPr>
                <a:t>İş paydaşına "hangi özellik etkili" sorusu cevaplanacaksa (orijinal sütun adları kalır)</a:t>
              </a:r>
            </a:p>
          </p:txBody>
        </p:sp>
        <p:sp>
          <p:nvSpPr>
            <p:cNvPr id="14" name="TextBox 14"/>
            <p:cNvSpPr txBox="1"/>
            <p:nvPr/>
          </p:nvSpPr>
          <p:spPr>
            <a:xfrm>
              <a:off x="907923" y="1976914"/>
              <a:ext cx="5851652" cy="249364"/>
            </a:xfrm>
            <a:prstGeom prst="rect">
              <a:avLst/>
            </a:prstGeom>
            <a:noFill/>
            <a:ln>
              <a:noFill/>
            </a:ln>
          </p:spPr>
          <p:txBody>
            <a:bodyPr wrap="none" lIns="0" tIns="0" rIns="0" bIns="0" anchor="t" anchorCtr="0">
              <a:spAutoFit/>
            </a:bodyPr>
            <a:lstStyle/>
            <a:p>
              <a:pPr algn="l" marL="138176" indent="-138176">
                <a:buClr>
                  <a:srgbClr val="172B3A"/>
                </a:buClr>
                <a:buSzTx/>
                <a:buFontTx/>
                <a:buChar char="•"/>
              </a:pPr>
              <a:r>
                <a:rPr lang="tr-TR" sz="1280" dirty="0">
                  <a:solidFill>
                    <a:srgbClr val="172B3A"/>
                  </a:solidFill>
                  <a:latin typeface="+mn-lt"/>
                  <a:ea typeface="+mn-ea"/>
                  <a:cs typeface="+mn-cs"/>
                </a:rPr>
                <a:t>Sütun sayısı azaltılırken model performansı korunmak isteniyorsa</a:t>
              </a:r>
            </a:p>
          </p:txBody>
        </p:sp>
        <p:sp>
          <p:nvSpPr>
            <p:cNvPr id="15" name="TextBox 15"/>
            <p:cNvSpPr txBox="1"/>
            <p:nvPr/>
          </p:nvSpPr>
          <p:spPr>
            <a:xfrm>
              <a:off x="6241923" y="1729264"/>
              <a:ext cx="5739447" cy="249364"/>
            </a:xfrm>
            <a:prstGeom prst="rect">
              <a:avLst/>
            </a:prstGeom>
            <a:noFill/>
            <a:ln>
              <a:noFill/>
            </a:ln>
          </p:spPr>
          <p:txBody>
            <a:bodyPr wrap="none" lIns="0" tIns="0" rIns="0" bIns="0" anchor="t" anchorCtr="0">
              <a:spAutoFit/>
            </a:bodyPr>
            <a:lstStyle/>
            <a:p>
              <a:pPr algn="l" marL="138176" indent="-138176">
                <a:buClr>
                  <a:srgbClr val="172B3A"/>
                </a:buClr>
                <a:buSzTx/>
                <a:buFontTx/>
                <a:buChar char="•"/>
              </a:pPr>
              <a:r>
                <a:rPr lang="tr-TR" sz="1280" dirty="0">
                  <a:solidFill>
                    <a:srgbClr val="172B3A"/>
                  </a:solidFill>
                  <a:latin typeface="+mn-lt"/>
                  <a:ea typeface="+mn-ea"/>
                  <a:cs typeface="+mn-cs"/>
                </a:rPr>
                <a:t>Hız önemliyse filtre, etkileşim önemliyse sarmalayıcı tercih edilir</a:t>
              </a:r>
            </a:p>
          </p:txBody>
        </p:sp>
        <p:sp>
          <p:nvSpPr>
            <p:cNvPr id="16" name="TextBox 16"/>
            <p:cNvSpPr txBox="1"/>
            <p:nvPr/>
          </p:nvSpPr>
          <p:spPr>
            <a:xfrm>
              <a:off x="6241923" y="1976914"/>
              <a:ext cx="5713486" cy="249364"/>
            </a:xfrm>
            <a:prstGeom prst="rect">
              <a:avLst/>
            </a:prstGeom>
            <a:noFill/>
            <a:ln>
              <a:noFill/>
            </a:ln>
          </p:spPr>
          <p:txBody>
            <a:bodyPr wrap="none" lIns="0" tIns="0" rIns="0" bIns="0" anchor="t" anchorCtr="0">
              <a:spAutoFit/>
            </a:bodyPr>
            <a:lstStyle/>
            <a:p>
              <a:pPr algn="l" marL="138176" indent="-138176">
                <a:buClr>
                  <a:srgbClr val="172B3A"/>
                </a:buClr>
                <a:buSzTx/>
                <a:buFontTx/>
                <a:buChar char="•"/>
              </a:pPr>
              <a:r>
                <a:rPr lang="tr-TR" sz="1280" dirty="0">
                  <a:solidFill>
                    <a:srgbClr val="172B3A"/>
                  </a:solidFill>
                  <a:latin typeface="+mn-lt"/>
                  <a:ea typeface="+mn-ea"/>
                  <a:cs typeface="+mn-cs"/>
                </a:rPr>
                <a:t>Finans/sağlık gibi denetime tabi alanlarda yorumlanabilirlik şartsa</a:t>
              </a:r>
            </a:p>
          </p:txBody>
        </p:sp>
      </p:grpSp>
      <p:grpSp>
        <p:nvGrpSpPr>
          <p:cNvPr id="37" name="hata-box"/>
          <p:cNvGrpSpPr/>
          <p:nvPr/>
        </p:nvGrpSpPr>
        <p:grpSpPr>
          <a:xfrm>
            <a:off x="609600" y="2857500"/>
            <a:ext cx="10972800" cy="2476500"/>
            <a:chOff x="609600" y="2857500"/>
            <a:chExt cx="10972800" cy="2476500"/>
          </a:xfrm>
        </p:grpSpPr>
        <p:sp>
          <p:nvSpPr>
            <p:cNvPr id="18" name="Rectangle 18"/>
            <p:cNvSpPr/>
            <p:nvPr/>
          </p:nvSpPr>
          <p:spPr>
            <a:xfrm>
              <a:off x="609600" y="2857500"/>
              <a:ext cx="10972800" cy="2476500"/>
            </a:xfrm>
            <a:prstGeom prst="roundRect">
              <a:avLst>
                <a:gd name="adj" fmla="val 3846"/>
              </a:avLst>
            </a:prstGeom>
            <a:solidFill>
              <a:srgbClr val="FFFFFF"/>
            </a:solidFill>
            <a:ln w="14288">
              <a:solidFill>
                <a:srgbClr val="B8CBD3"/>
              </a:solidFill>
            </a:ln>
          </p:spPr>
        </p:sp>
        <p:sp>
          <p:nvSpPr>
            <p:cNvPr id="19" name="Rectangle 19"/>
            <p:cNvSpPr/>
            <p:nvPr/>
          </p:nvSpPr>
          <p:spPr>
            <a:xfrm>
              <a:off x="609600" y="2857500"/>
              <a:ext cx="95250" cy="2476500"/>
            </a:xfrm>
            <a:prstGeom prst="rect">
              <a:avLst/>
            </a:prstGeom>
            <a:solidFill>
              <a:srgbClr val="12355B"/>
            </a:solidFill>
            <a:ln>
              <a:noFill/>
            </a:ln>
          </p:spPr>
        </p:sp>
        <p:sp>
          <p:nvSpPr>
            <p:cNvPr id="20" name="TextBox 20"/>
            <p:cNvSpPr txBox="1"/>
            <p:nvPr/>
          </p:nvSpPr>
          <p:spPr>
            <a:xfrm>
              <a:off x="906399" y="3030379"/>
              <a:ext cx="529563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En sık hata: SelectKBest'i tüm veriye fit etmek</a:t>
              </a:r>
            </a:p>
          </p:txBody>
        </p:sp>
        <p:grpSp>
          <p:nvGrpSpPr>
            <p:cNvPr id="28" name="wrong"/>
            <p:cNvGrpSpPr/>
            <p:nvPr/>
          </p:nvGrpSpPr>
          <p:grpSpPr>
            <a:xfrm>
              <a:off x="914400" y="3390900"/>
              <a:ext cx="4762500" cy="1619250"/>
              <a:chOff x="914400" y="3390900"/>
              <a:chExt cx="4762500" cy="1619250"/>
            </a:xfrm>
          </p:grpSpPr>
          <p:sp>
            <p:nvSpPr>
              <p:cNvPr id="21" name="Rectangle 21"/>
              <p:cNvSpPr/>
              <p:nvPr/>
            </p:nvSpPr>
            <p:spPr>
              <a:xfrm>
                <a:off x="914400" y="3390900"/>
                <a:ext cx="4762500" cy="1619250"/>
              </a:xfrm>
              <a:prstGeom prst="roundRect">
                <a:avLst>
                  <a:gd name="adj" fmla="val 4706"/>
                </a:avLst>
              </a:prstGeom>
              <a:solidFill>
                <a:srgbClr val="F7FAFC"/>
              </a:solidFill>
              <a:ln w="9525">
                <a:solidFill>
                  <a:srgbClr val="B8CBD3"/>
                </a:solidFill>
              </a:ln>
            </p:spPr>
          </p:sp>
          <p:sp>
            <p:nvSpPr>
              <p:cNvPr id="22" name="TextBox 22"/>
              <p:cNvSpPr txBox="1"/>
              <p:nvPr/>
            </p:nvSpPr>
            <p:spPr>
              <a:xfrm>
                <a:off x="1061466" y="3525202"/>
                <a:ext cx="662379" cy="205359"/>
              </a:xfrm>
              <a:prstGeom prst="rect">
                <a:avLst/>
              </a:prstGeom>
              <a:noFill/>
              <a:ln>
                <a:noFill/>
              </a:ln>
            </p:spPr>
            <p:txBody>
              <a:bodyPr wrap="none" lIns="0" tIns="0" rIns="0" bIns="0" anchor="t" anchorCtr="0">
                <a:spAutoFit/>
              </a:bodyPr>
              <a:lstStyle/>
              <a:p>
                <a:pPr algn="l"/>
                <a:r>
                  <a:rPr lang="tr-TR" sz="1050" b="1" dirty="0">
                    <a:solidFill>
                      <a:srgbClr val="52616B"/>
                    </a:solidFill>
                    <a:latin typeface="+mn-lt"/>
                    <a:ea typeface="+mn-ea"/>
                    <a:cs typeface="+mn-cs"/>
                  </a:rPr>
                  <a:t>❌ Yanlış</a:t>
                </a:r>
              </a:p>
            </p:txBody>
          </p:sp>
          <p:sp>
            <p:nvSpPr>
              <p:cNvPr id="23" name="TextBox 23"/>
              <p:cNvSpPr txBox="1"/>
              <p:nvPr/>
            </p:nvSpPr>
            <p:spPr>
              <a:xfrm>
                <a:off x="1061466" y="3791902"/>
                <a:ext cx="197258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Consolas"/>
                    <a:ea typeface="Consolas"/>
                    <a:cs typeface="Consolas"/>
                  </a:rPr>
                  <a:t>secici = SelectKBest(k=4)</a:t>
                </a:r>
              </a:p>
            </p:txBody>
          </p:sp>
          <p:sp>
            <p:nvSpPr>
              <p:cNvPr id="24" name="TextBox 24"/>
              <p:cNvSpPr txBox="1"/>
              <p:nvPr/>
            </p:nvSpPr>
            <p:spPr>
              <a:xfrm>
                <a:off x="1061466" y="4020502"/>
                <a:ext cx="188271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Consolas"/>
                    <a:ea typeface="Consolas"/>
                    <a:cs typeface="Consolas"/>
                  </a:rPr>
                  <a:t>secici.fit(X_tum, y_tum)</a:t>
                </a:r>
              </a:p>
            </p:txBody>
          </p:sp>
          <p:sp>
            <p:nvSpPr>
              <p:cNvPr id="25" name="TextBox 25"/>
              <p:cNvSpPr txBox="1"/>
              <p:nvPr/>
            </p:nvSpPr>
            <p:spPr>
              <a:xfrm>
                <a:off x="1061466" y="4249102"/>
                <a:ext cx="266544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Consolas"/>
                    <a:ea typeface="Consolas"/>
                    <a:cs typeface="Consolas"/>
                  </a:rPr>
                  <a:t>X_secili = secici.transform(X_tum)</a:t>
                </a:r>
              </a:p>
            </p:txBody>
          </p:sp>
          <p:sp>
            <p:nvSpPr>
              <p:cNvPr id="26" name="TextBox 26"/>
              <p:cNvSpPr txBox="1"/>
              <p:nvPr/>
            </p:nvSpPr>
            <p:spPr>
              <a:xfrm>
                <a:off x="1061847" y="4561999"/>
                <a:ext cx="2243553"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Test kümesinin hedef bilgisi seçime</a:t>
                </a:r>
              </a:p>
            </p:txBody>
          </p:sp>
          <p:sp>
            <p:nvSpPr>
              <p:cNvPr id="27" name="TextBox 27"/>
              <p:cNvSpPr txBox="1"/>
              <p:nvPr/>
            </p:nvSpPr>
            <p:spPr>
              <a:xfrm>
                <a:off x="1061847" y="4733449"/>
                <a:ext cx="2384603"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sızar — doğrudan veri sızıntısıdır.</a:t>
                </a:r>
              </a:p>
            </p:txBody>
          </p:sp>
        </p:grpSp>
        <p:grpSp>
          <p:nvGrpSpPr>
            <p:cNvPr id="36" name="right"/>
            <p:cNvGrpSpPr/>
            <p:nvPr/>
          </p:nvGrpSpPr>
          <p:grpSpPr>
            <a:xfrm>
              <a:off x="6019800" y="3390900"/>
              <a:ext cx="4762500" cy="1619250"/>
              <a:chOff x="6019800" y="3390900"/>
              <a:chExt cx="4762500" cy="1619250"/>
            </a:xfrm>
          </p:grpSpPr>
          <p:sp>
            <p:nvSpPr>
              <p:cNvPr id="29" name="Rectangle 29"/>
              <p:cNvSpPr/>
              <p:nvPr/>
            </p:nvSpPr>
            <p:spPr>
              <a:xfrm>
                <a:off x="6019800" y="3390900"/>
                <a:ext cx="4762500" cy="1619250"/>
              </a:xfrm>
              <a:prstGeom prst="roundRect">
                <a:avLst>
                  <a:gd name="adj" fmla="val 4706"/>
                </a:avLst>
              </a:prstGeom>
              <a:solidFill>
                <a:srgbClr val="EAF4F6"/>
              </a:solidFill>
              <a:ln w="14288">
                <a:solidFill>
                  <a:srgbClr val="00A6A6"/>
                </a:solidFill>
              </a:ln>
            </p:spPr>
          </p:sp>
          <p:sp>
            <p:nvSpPr>
              <p:cNvPr id="30" name="TextBox 30"/>
              <p:cNvSpPr txBox="1"/>
              <p:nvPr/>
            </p:nvSpPr>
            <p:spPr>
              <a:xfrm>
                <a:off x="6166866" y="3525202"/>
                <a:ext cx="618568"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 Doğru</a:t>
                </a:r>
              </a:p>
            </p:txBody>
          </p:sp>
          <p:sp>
            <p:nvSpPr>
              <p:cNvPr id="31" name="TextBox 31"/>
              <p:cNvSpPr txBox="1"/>
              <p:nvPr/>
            </p:nvSpPr>
            <p:spPr>
              <a:xfrm>
                <a:off x="6166866" y="3791902"/>
                <a:ext cx="2193341"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Consolas"/>
                    <a:ea typeface="Consolas"/>
                    <a:cs typeface="Consolas"/>
                  </a:rPr>
                  <a:t>secici.fit(X_train, y_train)</a:t>
                </a:r>
              </a:p>
            </p:txBody>
          </p:sp>
          <p:sp>
            <p:nvSpPr>
              <p:cNvPr id="32" name="TextBox 32"/>
              <p:cNvSpPr txBox="1"/>
              <p:nvPr/>
            </p:nvSpPr>
            <p:spPr>
              <a:xfrm>
                <a:off x="6166866" y="4020502"/>
                <a:ext cx="3054088"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Consolas"/>
                    <a:ea typeface="Consolas"/>
                    <a:cs typeface="Consolas"/>
                  </a:rPr>
                  <a:t>X_train_sec = secici.transform(X_train)</a:t>
                </a:r>
              </a:p>
            </p:txBody>
          </p:sp>
          <p:sp>
            <p:nvSpPr>
              <p:cNvPr id="33" name="TextBox 33"/>
              <p:cNvSpPr txBox="1"/>
              <p:nvPr/>
            </p:nvSpPr>
            <p:spPr>
              <a:xfrm>
                <a:off x="6166866" y="4249102"/>
                <a:ext cx="2898791"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Consolas"/>
                    <a:ea typeface="Consolas"/>
                    <a:cs typeface="Consolas"/>
                  </a:rPr>
                  <a:t>X_test_sec = secici.transform(X_test)</a:t>
                </a:r>
              </a:p>
            </p:txBody>
          </p:sp>
          <p:sp>
            <p:nvSpPr>
              <p:cNvPr id="34" name="TextBox 34"/>
              <p:cNvSpPr txBox="1"/>
              <p:nvPr/>
            </p:nvSpPr>
            <p:spPr>
              <a:xfrm>
                <a:off x="6167247" y="4561999"/>
                <a:ext cx="2500763"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Sütun seçimi yalnızca eğitim etiketiyle</a:t>
                </a:r>
              </a:p>
            </p:txBody>
          </p:sp>
          <p:sp>
            <p:nvSpPr>
              <p:cNvPr id="35" name="TextBox 35"/>
              <p:cNvSpPr txBox="1"/>
              <p:nvPr/>
            </p:nvSpPr>
            <p:spPr>
              <a:xfrm>
                <a:off x="6167247" y="4733449"/>
                <a:ext cx="2892524"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yapılır, test kümesi yalnızca dönüştürülür.</a:t>
                </a:r>
              </a:p>
            </p:txBody>
          </p:sp>
        </p:gr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563018" cy="557403"/>
            <a:chOff x="595122" y="282892"/>
            <a:chExt cx="7563018" cy="557403"/>
          </a:xfrm>
        </p:grpSpPr>
        <p:sp>
          <p:nvSpPr>
            <p:cNvPr id="4" name="TextBox 4"/>
            <p:cNvSpPr txBox="1"/>
            <p:nvPr/>
          </p:nvSpPr>
          <p:spPr>
            <a:xfrm>
              <a:off x="595122" y="282892"/>
              <a:ext cx="756301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t-SNE: yalnızca görmek için bir harita</a:t>
              </a:r>
            </a:p>
          </p:txBody>
        </p:sp>
      </p:grpSp>
      <p:grpSp>
        <p:nvGrpSpPr>
          <p:cNvPr id="22" name="def-panel"/>
          <p:cNvGrpSpPr/>
          <p:nvPr/>
        </p:nvGrpSpPr>
        <p:grpSpPr>
          <a:xfrm>
            <a:off x="609600" y="1219200"/>
            <a:ext cx="5334000" cy="4000500"/>
            <a:chOff x="609600" y="1219200"/>
            <a:chExt cx="5334000" cy="4000500"/>
          </a:xfrm>
        </p:grpSpPr>
        <p:sp>
          <p:nvSpPr>
            <p:cNvPr id="6" name="Rectangle 6"/>
            <p:cNvSpPr/>
            <p:nvPr/>
          </p:nvSpPr>
          <p:spPr>
            <a:xfrm>
              <a:off x="609600" y="1219200"/>
              <a:ext cx="5334000" cy="4000500"/>
            </a:xfrm>
            <a:prstGeom prst="roundRect">
              <a:avLst>
                <a:gd name="adj" fmla="val 2381"/>
              </a:avLst>
            </a:prstGeom>
            <a:solidFill>
              <a:srgbClr val="FFFFFF"/>
            </a:solidFill>
            <a:ln w="14288">
              <a:solidFill>
                <a:srgbClr val="B8CBD3"/>
              </a:solidFill>
            </a:ln>
          </p:spPr>
        </p:sp>
        <p:sp>
          <p:nvSpPr>
            <p:cNvPr id="7" name="Rectangle 7"/>
            <p:cNvSpPr/>
            <p:nvPr/>
          </p:nvSpPr>
          <p:spPr>
            <a:xfrm>
              <a:off x="609600" y="1219200"/>
              <a:ext cx="5334000" cy="457200"/>
            </a:xfrm>
            <a:prstGeom prst="roundRect">
              <a:avLst>
                <a:gd name="adj" fmla="val 20833"/>
              </a:avLst>
            </a:prstGeom>
            <a:solidFill>
              <a:srgbClr val="12355B"/>
            </a:solidFill>
            <a:ln>
              <a:noFill/>
            </a:ln>
          </p:spPr>
        </p:sp>
        <p:sp>
          <p:nvSpPr>
            <p:cNvPr id="8" name="Rectangle 8"/>
            <p:cNvSpPr/>
            <p:nvPr/>
          </p:nvSpPr>
          <p:spPr>
            <a:xfrm>
              <a:off x="609600" y="1447800"/>
              <a:ext cx="5334000" cy="228600"/>
            </a:xfrm>
            <a:prstGeom prst="rect">
              <a:avLst/>
            </a:prstGeom>
            <a:solidFill>
              <a:srgbClr val="12355B"/>
            </a:solidFill>
            <a:ln>
              <a:noFill/>
            </a:ln>
          </p:spPr>
        </p:sp>
        <p:sp>
          <p:nvSpPr>
            <p:cNvPr id="9" name="TextBox 9"/>
            <p:cNvSpPr txBox="1"/>
            <p:nvPr/>
          </p:nvSpPr>
          <p:spPr>
            <a:xfrm>
              <a:off x="830199" y="1353979"/>
              <a:ext cx="682298"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Tanım</a:t>
              </a:r>
            </a:p>
          </p:txBody>
        </p:sp>
        <p:sp>
          <p:nvSpPr>
            <p:cNvPr id="10" name="TextBox 10"/>
            <p:cNvSpPr txBox="1"/>
            <p:nvPr/>
          </p:nvSpPr>
          <p:spPr>
            <a:xfrm>
              <a:off x="831342" y="1816418"/>
              <a:ext cx="250027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Yüksek boyutlu veriyi, yerel</a:t>
              </a:r>
            </a:p>
          </p:txBody>
        </p:sp>
        <p:sp>
          <p:nvSpPr>
            <p:cNvPr id="11" name="TextBox 11"/>
            <p:cNvSpPr txBox="1"/>
            <p:nvPr/>
          </p:nvSpPr>
          <p:spPr>
            <a:xfrm>
              <a:off x="831342" y="2045018"/>
              <a:ext cx="261255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komşuluk yapısını koruyarak</a:t>
              </a:r>
            </a:p>
          </p:txBody>
        </p:sp>
        <p:sp>
          <p:nvSpPr>
            <p:cNvPr id="12" name="TextBox 12"/>
            <p:cNvSpPr txBox="1"/>
            <p:nvPr/>
          </p:nvSpPr>
          <p:spPr>
            <a:xfrm>
              <a:off x="831342" y="2273618"/>
              <a:ext cx="193104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2-3 boyuta indirgeyen</a:t>
              </a:r>
            </a:p>
          </p:txBody>
        </p:sp>
        <p:sp>
          <p:nvSpPr>
            <p:cNvPr id="13" name="TextBox 13"/>
            <p:cNvSpPr txBox="1"/>
            <p:nvPr/>
          </p:nvSpPr>
          <p:spPr>
            <a:xfrm>
              <a:off x="831342" y="2502218"/>
              <a:ext cx="151304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doğrusal olmayan</a:t>
              </a:r>
            </a:p>
          </p:txBody>
        </p:sp>
        <p:sp>
          <p:nvSpPr>
            <p:cNvPr id="14" name="TextBox 14"/>
            <p:cNvSpPr txBox="1"/>
            <p:nvPr/>
          </p:nvSpPr>
          <p:spPr>
            <a:xfrm>
              <a:off x="831342" y="2730818"/>
              <a:ext cx="215821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görselleştirme yöntemi.</a:t>
              </a:r>
            </a:p>
          </p:txBody>
        </p:sp>
        <p:sp>
          <p:nvSpPr>
            <p:cNvPr id="15" name="Rectangle 15"/>
            <p:cNvSpPr/>
            <p:nvPr/>
          </p:nvSpPr>
          <p:spPr>
            <a:xfrm>
              <a:off x="838200" y="3162300"/>
              <a:ext cx="4876800" cy="933450"/>
            </a:xfrm>
            <a:prstGeom prst="roundRect">
              <a:avLst>
                <a:gd name="adj" fmla="val 8163"/>
              </a:avLst>
            </a:prstGeom>
            <a:solidFill>
              <a:srgbClr val="EAF4F6"/>
            </a:solidFill>
            <a:ln>
              <a:noFill/>
            </a:ln>
          </p:spPr>
        </p:sp>
        <p:sp>
          <p:nvSpPr>
            <p:cNvPr id="16" name="TextBox 16"/>
            <p:cNvSpPr txBox="1"/>
            <p:nvPr/>
          </p:nvSpPr>
          <p:spPr>
            <a:xfrm>
              <a:off x="1060704" y="3318510"/>
              <a:ext cx="86029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perplexity</a:t>
              </a:r>
            </a:p>
          </p:txBody>
        </p:sp>
        <p:sp>
          <p:nvSpPr>
            <p:cNvPr id="17" name="TextBox 17"/>
            <p:cNvSpPr txBox="1"/>
            <p:nvPr/>
          </p:nvSpPr>
          <p:spPr>
            <a:xfrm>
              <a:off x="1060704" y="3547110"/>
              <a:ext cx="232772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Her noktanın kaç komşusunun</a:t>
              </a:r>
            </a:p>
          </p:txBody>
        </p:sp>
        <p:sp>
          <p:nvSpPr>
            <p:cNvPr id="18" name="TextBox 18"/>
            <p:cNvSpPr txBox="1"/>
            <p:nvPr/>
          </p:nvSpPr>
          <p:spPr>
            <a:xfrm>
              <a:off x="1060704" y="3756660"/>
              <a:ext cx="288767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dikkate alınacağını kabaca belirler.</a:t>
              </a:r>
            </a:p>
          </p:txBody>
        </p:sp>
        <p:sp>
          <p:nvSpPr>
            <p:cNvPr id="19" name="TextBox 19"/>
            <p:cNvSpPr txBox="1"/>
            <p:nvPr/>
          </p:nvSpPr>
          <p:spPr>
            <a:xfrm>
              <a:off x="832104" y="4309110"/>
              <a:ext cx="256397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2008 — van der Maaten &amp; Hinton</a:t>
              </a:r>
            </a:p>
          </p:txBody>
        </p:sp>
        <p:sp>
          <p:nvSpPr>
            <p:cNvPr id="20" name="TextBox 20"/>
            <p:cNvSpPr txBox="1"/>
            <p:nvPr/>
          </p:nvSpPr>
          <p:spPr>
            <a:xfrm>
              <a:off x="832104" y="4537710"/>
              <a:ext cx="374115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"t-Distributed Stochastic Neighbor Embedding"</a:t>
              </a:r>
            </a:p>
          </p:txBody>
        </p:sp>
        <p:sp>
          <p:nvSpPr>
            <p:cNvPr id="21" name="TextBox 21"/>
            <p:cNvSpPr txBox="1"/>
            <p:nvPr/>
          </p:nvSpPr>
          <p:spPr>
            <a:xfrm>
              <a:off x="832104" y="4747260"/>
              <a:ext cx="179725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makalesiyle tanıtıldı.</a:t>
              </a:r>
            </a:p>
          </p:txBody>
        </p:sp>
      </p:grpSp>
      <p:grpSp>
        <p:nvGrpSpPr>
          <p:cNvPr id="40" name="why-panel"/>
          <p:cNvGrpSpPr/>
          <p:nvPr/>
        </p:nvGrpSpPr>
        <p:grpSpPr>
          <a:xfrm>
            <a:off x="6248400" y="1219200"/>
            <a:ext cx="5334000" cy="4000500"/>
            <a:chOff x="6248400" y="1219200"/>
            <a:chExt cx="5334000" cy="4000500"/>
          </a:xfrm>
        </p:grpSpPr>
        <p:sp>
          <p:nvSpPr>
            <p:cNvPr id="23" name="Rectangle 23"/>
            <p:cNvSpPr/>
            <p:nvPr/>
          </p:nvSpPr>
          <p:spPr>
            <a:xfrm>
              <a:off x="6248400" y="1219200"/>
              <a:ext cx="5334000" cy="4000500"/>
            </a:xfrm>
            <a:prstGeom prst="roundRect">
              <a:avLst>
                <a:gd name="adj" fmla="val 2381"/>
              </a:avLst>
            </a:prstGeom>
            <a:solidFill>
              <a:srgbClr val="FFFFFF"/>
            </a:solidFill>
            <a:ln w="14288">
              <a:solidFill>
                <a:srgbClr val="B8CBD3"/>
              </a:solidFill>
            </a:ln>
          </p:spPr>
        </p:sp>
        <p:sp>
          <p:nvSpPr>
            <p:cNvPr id="24" name="Rectangle 24"/>
            <p:cNvSpPr/>
            <p:nvPr/>
          </p:nvSpPr>
          <p:spPr>
            <a:xfrm>
              <a:off x="6248400" y="1219200"/>
              <a:ext cx="5334000" cy="457200"/>
            </a:xfrm>
            <a:prstGeom prst="roundRect">
              <a:avLst>
                <a:gd name="adj" fmla="val 20833"/>
              </a:avLst>
            </a:prstGeom>
            <a:solidFill>
              <a:srgbClr val="00A6A6"/>
            </a:solidFill>
            <a:ln>
              <a:noFill/>
            </a:ln>
          </p:spPr>
        </p:sp>
        <p:sp>
          <p:nvSpPr>
            <p:cNvPr id="25" name="Rectangle 25"/>
            <p:cNvSpPr/>
            <p:nvPr/>
          </p:nvSpPr>
          <p:spPr>
            <a:xfrm>
              <a:off x="6248400" y="1447800"/>
              <a:ext cx="5334000" cy="228600"/>
            </a:xfrm>
            <a:prstGeom prst="rect">
              <a:avLst/>
            </a:prstGeom>
            <a:solidFill>
              <a:srgbClr val="00A6A6"/>
            </a:solidFill>
            <a:ln>
              <a:noFill/>
            </a:ln>
          </p:spPr>
        </p:sp>
        <p:sp>
          <p:nvSpPr>
            <p:cNvPr id="26" name="TextBox 26"/>
            <p:cNvSpPr txBox="1"/>
            <p:nvPr/>
          </p:nvSpPr>
          <p:spPr>
            <a:xfrm>
              <a:off x="6468999" y="1353979"/>
              <a:ext cx="119680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var?</a:t>
              </a:r>
            </a:p>
          </p:txBody>
        </p:sp>
        <p:sp>
          <p:nvSpPr>
            <p:cNvPr id="27" name="TextBox 27"/>
            <p:cNvSpPr txBox="1"/>
            <p:nvPr/>
          </p:nvSpPr>
          <p:spPr>
            <a:xfrm>
              <a:off x="6470142" y="1816418"/>
              <a:ext cx="257403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PCA yalnızca doğrusal ilişkiyi</a:t>
              </a:r>
            </a:p>
          </p:txBody>
        </p:sp>
        <p:sp>
          <p:nvSpPr>
            <p:cNvPr id="28" name="TextBox 28"/>
            <p:cNvSpPr txBox="1"/>
            <p:nvPr/>
          </p:nvSpPr>
          <p:spPr>
            <a:xfrm>
              <a:off x="6470142" y="2045018"/>
              <a:ext cx="232177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yakalar; kümeler doğrusal</a:t>
              </a:r>
            </a:p>
          </p:txBody>
        </p:sp>
        <p:sp>
          <p:nvSpPr>
            <p:cNvPr id="29" name="TextBox 29"/>
            <p:cNvSpPr txBox="1"/>
            <p:nvPr/>
          </p:nvSpPr>
          <p:spPr>
            <a:xfrm>
              <a:off x="6470142" y="2273618"/>
              <a:ext cx="271251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olmayan bir yapıda dağılmışsa</a:t>
              </a:r>
            </a:p>
          </p:txBody>
        </p:sp>
        <p:sp>
          <p:nvSpPr>
            <p:cNvPr id="30" name="TextBox 30"/>
            <p:cNvSpPr txBox="1"/>
            <p:nvPr/>
          </p:nvSpPr>
          <p:spPr>
            <a:xfrm>
              <a:off x="6470142" y="2502218"/>
              <a:ext cx="126770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gözden kaçar.</a:t>
              </a:r>
            </a:p>
          </p:txBody>
        </p:sp>
        <p:sp>
          <p:nvSpPr>
            <p:cNvPr id="31" name="Rectangle 31"/>
            <p:cNvSpPr/>
            <p:nvPr/>
          </p:nvSpPr>
          <p:spPr>
            <a:xfrm>
              <a:off x="6477000" y="2933700"/>
              <a:ext cx="4876800" cy="1238250"/>
            </a:xfrm>
            <a:prstGeom prst="roundRect">
              <a:avLst>
                <a:gd name="adj" fmla="val 6154"/>
              </a:avLst>
            </a:prstGeom>
            <a:solidFill>
              <a:srgbClr val="EAF4F6"/>
            </a:solidFill>
            <a:ln>
              <a:noFill/>
            </a:ln>
          </p:spPr>
        </p:sp>
        <p:sp>
          <p:nvSpPr>
            <p:cNvPr id="32" name="TextBox 32"/>
            <p:cNvSpPr txBox="1"/>
            <p:nvPr/>
          </p:nvSpPr>
          <p:spPr>
            <a:xfrm>
              <a:off x="6699504" y="3089910"/>
              <a:ext cx="217168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Şehir plancısı benzetmesi</a:t>
              </a:r>
            </a:p>
          </p:txBody>
        </p:sp>
        <p:sp>
          <p:nvSpPr>
            <p:cNvPr id="33" name="TextBox 33"/>
            <p:cNvSpPr txBox="1"/>
            <p:nvPr/>
          </p:nvSpPr>
          <p:spPr>
            <a:xfrm>
              <a:off x="6699504" y="3318510"/>
              <a:ext cx="276345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Binlerce insanın hareketini tek tek</a:t>
              </a:r>
            </a:p>
          </p:txBody>
        </p:sp>
        <p:sp>
          <p:nvSpPr>
            <p:cNvPr id="34" name="TextBox 34"/>
            <p:cNvSpPr txBox="1"/>
            <p:nvPr/>
          </p:nvSpPr>
          <p:spPr>
            <a:xfrm>
              <a:off x="6699504" y="3528060"/>
              <a:ext cx="229804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incelemek yerine bir yoğunluk</a:t>
              </a:r>
            </a:p>
          </p:txBody>
        </p:sp>
        <p:sp>
          <p:nvSpPr>
            <p:cNvPr id="35" name="TextBox 35"/>
            <p:cNvSpPr txBox="1"/>
            <p:nvPr/>
          </p:nvSpPr>
          <p:spPr>
            <a:xfrm>
              <a:off x="6699504" y="3737610"/>
              <a:ext cx="301691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haritasına dönüştürüp "hangi bölgeler</a:t>
              </a:r>
            </a:p>
          </p:txBody>
        </p:sp>
        <p:sp>
          <p:nvSpPr>
            <p:cNvPr id="36" name="TextBox 36"/>
            <p:cNvSpPr txBox="1"/>
            <p:nvPr/>
          </p:nvSpPr>
          <p:spPr>
            <a:xfrm>
              <a:off x="6699504" y="3947160"/>
              <a:ext cx="336423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benzer davranıyor" sorusuna cevap verir.</a:t>
              </a:r>
            </a:p>
          </p:txBody>
        </p:sp>
        <p:sp>
          <p:nvSpPr>
            <p:cNvPr id="37" name="TextBox 37"/>
            <p:cNvSpPr txBox="1"/>
            <p:nvPr/>
          </p:nvSpPr>
          <p:spPr>
            <a:xfrm>
              <a:off x="6470904" y="4347210"/>
              <a:ext cx="100958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Kritik sınır</a:t>
              </a:r>
            </a:p>
          </p:txBody>
        </p:sp>
        <p:sp>
          <p:nvSpPr>
            <p:cNvPr id="38" name="TextBox 38"/>
            <p:cNvSpPr txBox="1"/>
            <p:nvPr/>
          </p:nvSpPr>
          <p:spPr>
            <a:xfrm>
              <a:off x="6470904" y="4575810"/>
              <a:ext cx="394287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Eksen değerlerinin mutlak büyüklüğü anlamsızdır;</a:t>
              </a:r>
            </a:p>
          </p:txBody>
        </p:sp>
        <p:sp>
          <p:nvSpPr>
            <p:cNvPr id="39" name="TextBox 39"/>
            <p:cNvSpPr txBox="1"/>
            <p:nvPr/>
          </p:nvSpPr>
          <p:spPr>
            <a:xfrm>
              <a:off x="6470904" y="4785360"/>
              <a:ext cx="413156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yalnızca noktalar arası göreli yakınlık yorumlanır.</a:t>
              </a:r>
            </a:p>
          </p:txBody>
        </p:sp>
      </p:grpSp>
      <p:grpSp>
        <p:nvGrpSpPr>
          <p:cNvPr id="44" name="bottom-note"/>
          <p:cNvGrpSpPr/>
          <p:nvPr/>
        </p:nvGrpSpPr>
        <p:grpSpPr>
          <a:xfrm>
            <a:off x="609600" y="5410200"/>
            <a:ext cx="10972800" cy="723900"/>
            <a:chOff x="609600" y="5410200"/>
            <a:chExt cx="10972800" cy="723900"/>
          </a:xfrm>
        </p:grpSpPr>
        <p:sp>
          <p:nvSpPr>
            <p:cNvPr id="41" name="Rectangle 41"/>
            <p:cNvSpPr/>
            <p:nvPr/>
          </p:nvSpPr>
          <p:spPr>
            <a:xfrm>
              <a:off x="609600" y="5410200"/>
              <a:ext cx="10972800" cy="723900"/>
            </a:xfrm>
            <a:prstGeom prst="roundRect">
              <a:avLst>
                <a:gd name="adj" fmla="val 10526"/>
              </a:avLst>
            </a:prstGeom>
            <a:solidFill>
              <a:srgbClr val="12355B"/>
            </a:solidFill>
            <a:ln>
              <a:noFill/>
            </a:ln>
          </p:spPr>
        </p:sp>
        <p:sp>
          <p:nvSpPr>
            <p:cNvPr id="42" name="TextBox 42"/>
            <p:cNvSpPr txBox="1"/>
            <p:nvPr/>
          </p:nvSpPr>
          <p:spPr>
            <a:xfrm>
              <a:off x="907161" y="5542121"/>
              <a:ext cx="4451708"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t-SNE nesnesinde transform metodu yoktur —</a:t>
              </a:r>
            </a:p>
          </p:txBody>
        </p:sp>
        <p:sp>
          <p:nvSpPr>
            <p:cNvPr id="43" name="TextBox 43"/>
            <p:cNvSpPr txBox="1"/>
            <p:nvPr/>
          </p:nvSpPr>
          <p:spPr>
            <a:xfrm>
              <a:off x="907161" y="5808821"/>
              <a:ext cx="8148353" cy="278702"/>
            </a:xfrm>
            <a:prstGeom prst="rect">
              <a:avLst/>
            </a:prstGeom>
            <a:noFill/>
            <a:ln>
              <a:noFill/>
            </a:ln>
          </p:spPr>
          <p:txBody>
            <a:bodyPr wrap="none" lIns="0" tIns="0" rIns="0" bIns="0" anchor="t" anchorCtr="0">
              <a:spAutoFit/>
            </a:bodyPr>
            <a:lstStyle/>
            <a:p>
              <a:pPr algn="l"/>
              <a:r>
                <a:rPr lang="tr-TR" sz="1420" dirty="0">
                  <a:solidFill>
                    <a:srgbClr val="EAF4F6"/>
                  </a:solidFill>
                  <a:latin typeface="+mn-lt"/>
                  <a:ea typeface="+mn-ea"/>
                  <a:cs typeface="+mn-cs"/>
                </a:rPr>
                <a:t>her çalıştırma tüm veri kümesini birlikte optimize eder, yeni bir noktaya uygulanamaz.</a:t>
              </a:r>
            </a:p>
          </p:txBody>
        </p:sp>
      </p:gr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8673722" cy="668845"/>
            <a:chOff x="609600" y="171450"/>
            <a:chExt cx="8673722"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798335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PCA ile t-SNE aynı veriyi farklı gösterir</a:t>
              </a:r>
            </a:p>
          </p:txBody>
        </p:sp>
      </p:grpSp>
      <p:grpSp>
        <p:nvGrpSpPr>
          <p:cNvPr id="31" name="pca-scatter"/>
          <p:cNvGrpSpPr/>
          <p:nvPr/>
        </p:nvGrpSpPr>
        <p:grpSpPr>
          <a:xfrm>
            <a:off x="609600" y="1219200"/>
            <a:ext cx="5334000" cy="2866739"/>
            <a:chOff x="609600" y="1219200"/>
            <a:chExt cx="5334000" cy="2866739"/>
          </a:xfrm>
        </p:grpSpPr>
        <p:sp>
          <p:nvSpPr>
            <p:cNvPr id="13" name="Rectangle 13"/>
            <p:cNvSpPr/>
            <p:nvPr/>
          </p:nvSpPr>
          <p:spPr>
            <a:xfrm>
              <a:off x="609600" y="1219200"/>
              <a:ext cx="5334000" cy="2857500"/>
            </a:xfrm>
            <a:prstGeom prst="roundRect">
              <a:avLst>
                <a:gd name="adj" fmla="val 3333"/>
              </a:avLst>
            </a:prstGeom>
            <a:solidFill>
              <a:srgbClr val="FFFFFF"/>
            </a:solidFill>
            <a:ln w="14288">
              <a:solidFill>
                <a:srgbClr val="B8CBD3"/>
              </a:solidFill>
            </a:ln>
          </p:spPr>
        </p:sp>
        <p:sp>
          <p:nvSpPr>
            <p:cNvPr id="14" name="TextBox 14"/>
            <p:cNvSpPr txBox="1"/>
            <p:nvPr/>
          </p:nvSpPr>
          <p:spPr>
            <a:xfrm>
              <a:off x="2144538" y="1340168"/>
              <a:ext cx="2264124"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PCA — 2 Boyutlu İzdüşüm</a:t>
              </a:r>
            </a:p>
          </p:txBody>
        </p:sp>
        <p:sp>
          <p:nvSpPr>
            <p:cNvPr id="15" name="Line 15"/>
            <p:cNvSpPr/>
            <p:nvPr/>
          </p:nvSpPr>
          <p:spPr>
            <a:xfrm>
              <a:off x="952500" y="3810000"/>
              <a:ext cx="4648200" cy="9525"/>
            </a:xfrm>
            <a:custGeom>
              <a:avLst/>
              <a:gdLst/>
              <a:ahLst/>
              <a:cxnLst/>
              <a:rect l="l" t="t" r="r" b="b"/>
              <a:pathLst>
                <a:path w="4648200" h="9525">
                  <a:moveTo>
                    <a:pt x="0" y="0"/>
                  </a:moveTo>
                  <a:lnTo>
                    <a:pt x="4648200" y="0"/>
                  </a:lnTo>
                </a:path>
              </a:pathLst>
            </a:custGeom>
            <a:noFill/>
            <a:ln w="9525">
              <a:solidFill>
                <a:srgbClr val="B8CBD3"/>
              </a:solidFill>
            </a:ln>
          </p:spPr>
        </p:sp>
        <p:sp>
          <p:nvSpPr>
            <p:cNvPr id="16" name="Line 16"/>
            <p:cNvSpPr/>
            <p:nvPr/>
          </p:nvSpPr>
          <p:spPr>
            <a:xfrm>
              <a:off x="952500" y="1676400"/>
              <a:ext cx="9525" cy="2133600"/>
            </a:xfrm>
            <a:custGeom>
              <a:avLst/>
              <a:gdLst/>
              <a:ahLst/>
              <a:cxnLst/>
              <a:rect l="l" t="t" r="r" b="b"/>
              <a:pathLst>
                <a:path w="9525" h="2133600">
                  <a:moveTo>
                    <a:pt x="0" y="0"/>
                  </a:moveTo>
                  <a:lnTo>
                    <a:pt x="0" y="2133600"/>
                  </a:lnTo>
                </a:path>
              </a:pathLst>
            </a:custGeom>
            <a:noFill/>
            <a:ln w="9525">
              <a:solidFill>
                <a:srgbClr val="B8CBD3"/>
              </a:solidFill>
            </a:ln>
          </p:spPr>
        </p:sp>
        <p:sp>
          <p:nvSpPr>
            <p:cNvPr id="17" name="Ellipse 17"/>
            <p:cNvSpPr/>
            <p:nvPr/>
          </p:nvSpPr>
          <p:spPr>
            <a:xfrm>
              <a:off x="1847850" y="2990850"/>
              <a:ext cx="114300" cy="114300"/>
            </a:xfrm>
            <a:prstGeom prst="ellipse">
              <a:avLst/>
            </a:prstGeom>
            <a:solidFill>
              <a:srgbClr val="2E86AB">
                <a:alpha val="75000"/>
              </a:srgbClr>
            </a:solidFill>
            <a:ln>
              <a:noFill/>
            </a:ln>
          </p:spPr>
        </p:sp>
        <p:sp>
          <p:nvSpPr>
            <p:cNvPr id="18" name="Ellipse 18"/>
            <p:cNvSpPr/>
            <p:nvPr/>
          </p:nvSpPr>
          <p:spPr>
            <a:xfrm>
              <a:off x="2133600" y="3181350"/>
              <a:ext cx="114300" cy="114300"/>
            </a:xfrm>
            <a:prstGeom prst="ellipse">
              <a:avLst/>
            </a:prstGeom>
            <a:solidFill>
              <a:srgbClr val="2E86AB">
                <a:alpha val="75000"/>
              </a:srgbClr>
            </a:solidFill>
            <a:ln>
              <a:noFill/>
            </a:ln>
          </p:spPr>
        </p:sp>
        <p:sp>
          <p:nvSpPr>
            <p:cNvPr id="19" name="Ellipse 19"/>
            <p:cNvSpPr/>
            <p:nvPr/>
          </p:nvSpPr>
          <p:spPr>
            <a:xfrm>
              <a:off x="1657350" y="3371850"/>
              <a:ext cx="114300" cy="114300"/>
            </a:xfrm>
            <a:prstGeom prst="ellipse">
              <a:avLst/>
            </a:prstGeom>
            <a:solidFill>
              <a:srgbClr val="2E86AB">
                <a:alpha val="75000"/>
              </a:srgbClr>
            </a:solidFill>
            <a:ln>
              <a:noFill/>
            </a:ln>
          </p:spPr>
        </p:sp>
        <p:sp>
          <p:nvSpPr>
            <p:cNvPr id="20" name="Ellipse 20"/>
            <p:cNvSpPr/>
            <p:nvPr/>
          </p:nvSpPr>
          <p:spPr>
            <a:xfrm>
              <a:off x="2419350" y="2800350"/>
              <a:ext cx="114300" cy="114300"/>
            </a:xfrm>
            <a:prstGeom prst="ellipse">
              <a:avLst/>
            </a:prstGeom>
            <a:solidFill>
              <a:srgbClr val="2E86AB">
                <a:alpha val="75000"/>
              </a:srgbClr>
            </a:solidFill>
            <a:ln>
              <a:noFill/>
            </a:ln>
          </p:spPr>
        </p:sp>
        <p:sp>
          <p:nvSpPr>
            <p:cNvPr id="21" name="Ellipse 21"/>
            <p:cNvSpPr/>
            <p:nvPr/>
          </p:nvSpPr>
          <p:spPr>
            <a:xfrm>
              <a:off x="3562350" y="2228850"/>
              <a:ext cx="114300" cy="114300"/>
            </a:xfrm>
            <a:prstGeom prst="ellipse">
              <a:avLst/>
            </a:prstGeom>
            <a:solidFill>
              <a:srgbClr val="00A6A6">
                <a:alpha val="75000"/>
              </a:srgbClr>
            </a:solidFill>
            <a:ln>
              <a:noFill/>
            </a:ln>
          </p:spPr>
        </p:sp>
        <p:sp>
          <p:nvSpPr>
            <p:cNvPr id="22" name="Ellipse 22"/>
            <p:cNvSpPr/>
            <p:nvPr/>
          </p:nvSpPr>
          <p:spPr>
            <a:xfrm>
              <a:off x="3848100" y="2419350"/>
              <a:ext cx="114300" cy="114300"/>
            </a:xfrm>
            <a:prstGeom prst="ellipse">
              <a:avLst/>
            </a:prstGeom>
            <a:solidFill>
              <a:srgbClr val="00A6A6">
                <a:alpha val="75000"/>
              </a:srgbClr>
            </a:solidFill>
            <a:ln>
              <a:noFill/>
            </a:ln>
          </p:spPr>
        </p:sp>
        <p:sp>
          <p:nvSpPr>
            <p:cNvPr id="23" name="Ellipse 23"/>
            <p:cNvSpPr/>
            <p:nvPr/>
          </p:nvSpPr>
          <p:spPr>
            <a:xfrm>
              <a:off x="3371850" y="2609850"/>
              <a:ext cx="114300" cy="114300"/>
            </a:xfrm>
            <a:prstGeom prst="ellipse">
              <a:avLst/>
            </a:prstGeom>
            <a:solidFill>
              <a:srgbClr val="00A6A6">
                <a:alpha val="75000"/>
              </a:srgbClr>
            </a:solidFill>
            <a:ln>
              <a:noFill/>
            </a:ln>
          </p:spPr>
        </p:sp>
        <p:sp>
          <p:nvSpPr>
            <p:cNvPr id="24" name="Ellipse 24"/>
            <p:cNvSpPr/>
            <p:nvPr/>
          </p:nvSpPr>
          <p:spPr>
            <a:xfrm>
              <a:off x="4133850" y="2133600"/>
              <a:ext cx="114300" cy="114300"/>
            </a:xfrm>
            <a:prstGeom prst="ellipse">
              <a:avLst/>
            </a:prstGeom>
            <a:solidFill>
              <a:srgbClr val="00A6A6">
                <a:alpha val="75000"/>
              </a:srgbClr>
            </a:solidFill>
            <a:ln>
              <a:noFill/>
            </a:ln>
          </p:spPr>
        </p:sp>
        <p:sp>
          <p:nvSpPr>
            <p:cNvPr id="25" name="Ellipse 25"/>
            <p:cNvSpPr/>
            <p:nvPr/>
          </p:nvSpPr>
          <p:spPr>
            <a:xfrm>
              <a:off x="2800350" y="1847850"/>
              <a:ext cx="114300" cy="114300"/>
            </a:xfrm>
            <a:prstGeom prst="ellipse">
              <a:avLst/>
            </a:prstGeom>
            <a:solidFill>
              <a:srgbClr val="12355B">
                <a:alpha val="75000"/>
              </a:srgbClr>
            </a:solidFill>
            <a:ln>
              <a:noFill/>
            </a:ln>
          </p:spPr>
        </p:sp>
        <p:sp>
          <p:nvSpPr>
            <p:cNvPr id="26" name="Ellipse 26"/>
            <p:cNvSpPr/>
            <p:nvPr/>
          </p:nvSpPr>
          <p:spPr>
            <a:xfrm>
              <a:off x="3086100" y="2038350"/>
              <a:ext cx="114300" cy="114300"/>
            </a:xfrm>
            <a:prstGeom prst="ellipse">
              <a:avLst/>
            </a:prstGeom>
            <a:solidFill>
              <a:srgbClr val="12355B">
                <a:alpha val="75000"/>
              </a:srgbClr>
            </a:solidFill>
            <a:ln>
              <a:noFill/>
            </a:ln>
          </p:spPr>
        </p:sp>
        <p:sp>
          <p:nvSpPr>
            <p:cNvPr id="27" name="Ellipse 27"/>
            <p:cNvSpPr/>
            <p:nvPr/>
          </p:nvSpPr>
          <p:spPr>
            <a:xfrm>
              <a:off x="2609850" y="1752600"/>
              <a:ext cx="114300" cy="114300"/>
            </a:xfrm>
            <a:prstGeom prst="ellipse">
              <a:avLst/>
            </a:prstGeom>
            <a:solidFill>
              <a:srgbClr val="12355B">
                <a:alpha val="75000"/>
              </a:srgbClr>
            </a:solidFill>
            <a:ln>
              <a:noFill/>
            </a:ln>
          </p:spPr>
        </p:sp>
        <p:sp>
          <p:nvSpPr>
            <p:cNvPr id="28" name="Ellipse 28"/>
            <p:cNvSpPr/>
            <p:nvPr/>
          </p:nvSpPr>
          <p:spPr>
            <a:xfrm>
              <a:off x="2990850" y="3086100"/>
              <a:ext cx="114300" cy="114300"/>
            </a:xfrm>
            <a:prstGeom prst="ellipse">
              <a:avLst/>
            </a:prstGeom>
            <a:solidFill>
              <a:srgbClr val="2E86AB">
                <a:alpha val="60000"/>
              </a:srgbClr>
            </a:solidFill>
            <a:ln>
              <a:noFill/>
            </a:ln>
          </p:spPr>
        </p:sp>
        <p:sp>
          <p:nvSpPr>
            <p:cNvPr id="29" name="Ellipse 29"/>
            <p:cNvSpPr/>
            <p:nvPr/>
          </p:nvSpPr>
          <p:spPr>
            <a:xfrm>
              <a:off x="3371850" y="1847850"/>
              <a:ext cx="114300" cy="114300"/>
            </a:xfrm>
            <a:prstGeom prst="ellipse">
              <a:avLst/>
            </a:prstGeom>
            <a:solidFill>
              <a:srgbClr val="12355B">
                <a:alpha val="60000"/>
              </a:srgbClr>
            </a:solidFill>
            <a:ln>
              <a:noFill/>
            </a:ln>
          </p:spPr>
        </p:sp>
        <p:sp>
          <p:nvSpPr>
            <p:cNvPr id="30" name="TextBox 30"/>
            <p:cNvSpPr txBox="1"/>
            <p:nvPr/>
          </p:nvSpPr>
          <p:spPr>
            <a:xfrm>
              <a:off x="1086038" y="3895249"/>
              <a:ext cx="4381123"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Sınıflar kısmen örtüşür — doğrusal izdüşüm sınırlı ayrım gösterir</a:t>
              </a:r>
            </a:p>
          </p:txBody>
        </p:sp>
      </p:grpSp>
      <p:grpSp>
        <p:nvGrpSpPr>
          <p:cNvPr id="51" name="tsne-scatter"/>
          <p:cNvGrpSpPr/>
          <p:nvPr/>
        </p:nvGrpSpPr>
        <p:grpSpPr>
          <a:xfrm>
            <a:off x="6248400" y="1219200"/>
            <a:ext cx="5334000" cy="2866739"/>
            <a:chOff x="6248400" y="1219200"/>
            <a:chExt cx="5334000" cy="2866739"/>
          </a:xfrm>
        </p:grpSpPr>
        <p:sp>
          <p:nvSpPr>
            <p:cNvPr id="32" name="Rectangle 32"/>
            <p:cNvSpPr/>
            <p:nvPr/>
          </p:nvSpPr>
          <p:spPr>
            <a:xfrm>
              <a:off x="6248400" y="1219200"/>
              <a:ext cx="5334000" cy="2857500"/>
            </a:xfrm>
            <a:prstGeom prst="roundRect">
              <a:avLst>
                <a:gd name="adj" fmla="val 3333"/>
              </a:avLst>
            </a:prstGeom>
            <a:solidFill>
              <a:srgbClr val="FFFFFF"/>
            </a:solidFill>
            <a:ln w="14288">
              <a:solidFill>
                <a:srgbClr val="B8CBD3"/>
              </a:solidFill>
            </a:ln>
          </p:spPr>
        </p:sp>
        <p:sp>
          <p:nvSpPr>
            <p:cNvPr id="33" name="TextBox 33"/>
            <p:cNvSpPr txBox="1"/>
            <p:nvPr/>
          </p:nvSpPr>
          <p:spPr>
            <a:xfrm>
              <a:off x="7889737" y="1340168"/>
              <a:ext cx="2051326"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t-SNE — perplexity=30</a:t>
              </a:r>
            </a:p>
          </p:txBody>
        </p:sp>
        <p:sp>
          <p:nvSpPr>
            <p:cNvPr id="34" name="Line 34"/>
            <p:cNvSpPr/>
            <p:nvPr/>
          </p:nvSpPr>
          <p:spPr>
            <a:xfrm>
              <a:off x="6591300" y="3810000"/>
              <a:ext cx="4648200" cy="9525"/>
            </a:xfrm>
            <a:custGeom>
              <a:avLst/>
              <a:gdLst/>
              <a:ahLst/>
              <a:cxnLst/>
              <a:rect l="l" t="t" r="r" b="b"/>
              <a:pathLst>
                <a:path w="4648200" h="9525">
                  <a:moveTo>
                    <a:pt x="0" y="0"/>
                  </a:moveTo>
                  <a:lnTo>
                    <a:pt x="4648200" y="0"/>
                  </a:lnTo>
                </a:path>
              </a:pathLst>
            </a:custGeom>
            <a:noFill/>
            <a:ln w="9525">
              <a:solidFill>
                <a:srgbClr val="B8CBD3"/>
              </a:solidFill>
            </a:ln>
          </p:spPr>
        </p:sp>
        <p:sp>
          <p:nvSpPr>
            <p:cNvPr id="35" name="Line 35"/>
            <p:cNvSpPr/>
            <p:nvPr/>
          </p:nvSpPr>
          <p:spPr>
            <a:xfrm>
              <a:off x="6591300" y="1676400"/>
              <a:ext cx="9525" cy="2133600"/>
            </a:xfrm>
            <a:custGeom>
              <a:avLst/>
              <a:gdLst/>
              <a:ahLst/>
              <a:cxnLst/>
              <a:rect l="l" t="t" r="r" b="b"/>
              <a:pathLst>
                <a:path w="9525" h="2133600">
                  <a:moveTo>
                    <a:pt x="0" y="0"/>
                  </a:moveTo>
                  <a:lnTo>
                    <a:pt x="0" y="2133600"/>
                  </a:lnTo>
                </a:path>
              </a:pathLst>
            </a:custGeom>
            <a:noFill/>
            <a:ln w="9525">
              <a:solidFill>
                <a:srgbClr val="B8CBD3"/>
              </a:solidFill>
            </a:ln>
          </p:spPr>
        </p:sp>
        <p:sp>
          <p:nvSpPr>
            <p:cNvPr id="36" name="Ellipse 36"/>
            <p:cNvSpPr/>
            <p:nvPr/>
          </p:nvSpPr>
          <p:spPr>
            <a:xfrm>
              <a:off x="7181850" y="3371850"/>
              <a:ext cx="114300" cy="114300"/>
            </a:xfrm>
            <a:prstGeom prst="ellipse">
              <a:avLst/>
            </a:prstGeom>
            <a:solidFill>
              <a:srgbClr val="2E86AB">
                <a:alpha val="85000"/>
              </a:srgbClr>
            </a:solidFill>
            <a:ln>
              <a:noFill/>
            </a:ln>
          </p:spPr>
        </p:sp>
        <p:sp>
          <p:nvSpPr>
            <p:cNvPr id="37" name="Ellipse 37"/>
            <p:cNvSpPr/>
            <p:nvPr/>
          </p:nvSpPr>
          <p:spPr>
            <a:xfrm>
              <a:off x="7324725" y="3514725"/>
              <a:ext cx="114300" cy="114300"/>
            </a:xfrm>
            <a:prstGeom prst="ellipse">
              <a:avLst/>
            </a:prstGeom>
            <a:solidFill>
              <a:srgbClr val="2E86AB">
                <a:alpha val="85000"/>
              </a:srgbClr>
            </a:solidFill>
            <a:ln>
              <a:noFill/>
            </a:ln>
          </p:spPr>
        </p:sp>
        <p:sp>
          <p:nvSpPr>
            <p:cNvPr id="38" name="Ellipse 38"/>
            <p:cNvSpPr/>
            <p:nvPr/>
          </p:nvSpPr>
          <p:spPr>
            <a:xfrm>
              <a:off x="7038975" y="3562350"/>
              <a:ext cx="114300" cy="114300"/>
            </a:xfrm>
            <a:prstGeom prst="ellipse">
              <a:avLst/>
            </a:prstGeom>
            <a:solidFill>
              <a:srgbClr val="2E86AB">
                <a:alpha val="85000"/>
              </a:srgbClr>
            </a:solidFill>
            <a:ln>
              <a:noFill/>
            </a:ln>
          </p:spPr>
        </p:sp>
        <p:sp>
          <p:nvSpPr>
            <p:cNvPr id="39" name="Ellipse 39"/>
            <p:cNvSpPr/>
            <p:nvPr/>
          </p:nvSpPr>
          <p:spPr>
            <a:xfrm>
              <a:off x="7229475" y="3228975"/>
              <a:ext cx="114300" cy="114300"/>
            </a:xfrm>
            <a:prstGeom prst="ellipse">
              <a:avLst/>
            </a:prstGeom>
            <a:solidFill>
              <a:srgbClr val="2E86AB">
                <a:alpha val="85000"/>
              </a:srgbClr>
            </a:solidFill>
            <a:ln>
              <a:noFill/>
            </a:ln>
          </p:spPr>
        </p:sp>
        <p:sp>
          <p:nvSpPr>
            <p:cNvPr id="40" name="Ellipse 40"/>
            <p:cNvSpPr/>
            <p:nvPr/>
          </p:nvSpPr>
          <p:spPr>
            <a:xfrm>
              <a:off x="7372350" y="3371850"/>
              <a:ext cx="114300" cy="114300"/>
            </a:xfrm>
            <a:prstGeom prst="ellipse">
              <a:avLst/>
            </a:prstGeom>
            <a:solidFill>
              <a:srgbClr val="2E86AB">
                <a:alpha val="85000"/>
              </a:srgbClr>
            </a:solidFill>
            <a:ln>
              <a:noFill/>
            </a:ln>
          </p:spPr>
        </p:sp>
        <p:sp>
          <p:nvSpPr>
            <p:cNvPr id="41" name="Ellipse 41"/>
            <p:cNvSpPr/>
            <p:nvPr/>
          </p:nvSpPr>
          <p:spPr>
            <a:xfrm>
              <a:off x="9467850" y="2038350"/>
              <a:ext cx="114300" cy="114300"/>
            </a:xfrm>
            <a:prstGeom prst="ellipse">
              <a:avLst/>
            </a:prstGeom>
            <a:solidFill>
              <a:srgbClr val="00A6A6">
                <a:alpha val="85000"/>
              </a:srgbClr>
            </a:solidFill>
            <a:ln>
              <a:noFill/>
            </a:ln>
          </p:spPr>
        </p:sp>
        <p:sp>
          <p:nvSpPr>
            <p:cNvPr id="42" name="Ellipse 42"/>
            <p:cNvSpPr/>
            <p:nvPr/>
          </p:nvSpPr>
          <p:spPr>
            <a:xfrm>
              <a:off x="9610725" y="2181225"/>
              <a:ext cx="114300" cy="114300"/>
            </a:xfrm>
            <a:prstGeom prst="ellipse">
              <a:avLst/>
            </a:prstGeom>
            <a:solidFill>
              <a:srgbClr val="00A6A6">
                <a:alpha val="85000"/>
              </a:srgbClr>
            </a:solidFill>
            <a:ln>
              <a:noFill/>
            </a:ln>
          </p:spPr>
        </p:sp>
        <p:sp>
          <p:nvSpPr>
            <p:cNvPr id="43" name="Ellipse 43"/>
            <p:cNvSpPr/>
            <p:nvPr/>
          </p:nvSpPr>
          <p:spPr>
            <a:xfrm>
              <a:off x="9372600" y="2228850"/>
              <a:ext cx="114300" cy="114300"/>
            </a:xfrm>
            <a:prstGeom prst="ellipse">
              <a:avLst/>
            </a:prstGeom>
            <a:solidFill>
              <a:srgbClr val="00A6A6">
                <a:alpha val="85000"/>
              </a:srgbClr>
            </a:solidFill>
            <a:ln>
              <a:noFill/>
            </a:ln>
          </p:spPr>
        </p:sp>
        <p:sp>
          <p:nvSpPr>
            <p:cNvPr id="44" name="Ellipse 44"/>
            <p:cNvSpPr/>
            <p:nvPr/>
          </p:nvSpPr>
          <p:spPr>
            <a:xfrm>
              <a:off x="9563100" y="1895475"/>
              <a:ext cx="114300" cy="114300"/>
            </a:xfrm>
            <a:prstGeom prst="ellipse">
              <a:avLst/>
            </a:prstGeom>
            <a:solidFill>
              <a:srgbClr val="00A6A6">
                <a:alpha val="85000"/>
              </a:srgbClr>
            </a:solidFill>
            <a:ln>
              <a:noFill/>
            </a:ln>
          </p:spPr>
        </p:sp>
        <p:sp>
          <p:nvSpPr>
            <p:cNvPr id="45" name="Ellipse 45"/>
            <p:cNvSpPr/>
            <p:nvPr/>
          </p:nvSpPr>
          <p:spPr>
            <a:xfrm>
              <a:off x="9705975" y="2038350"/>
              <a:ext cx="114300" cy="114300"/>
            </a:xfrm>
            <a:prstGeom prst="ellipse">
              <a:avLst/>
            </a:prstGeom>
            <a:solidFill>
              <a:srgbClr val="00A6A6">
                <a:alpha val="85000"/>
              </a:srgbClr>
            </a:solidFill>
            <a:ln>
              <a:noFill/>
            </a:ln>
          </p:spPr>
        </p:sp>
        <p:sp>
          <p:nvSpPr>
            <p:cNvPr id="46" name="Ellipse 46"/>
            <p:cNvSpPr/>
            <p:nvPr/>
          </p:nvSpPr>
          <p:spPr>
            <a:xfrm>
              <a:off x="8705850" y="3086100"/>
              <a:ext cx="114300" cy="114300"/>
            </a:xfrm>
            <a:prstGeom prst="ellipse">
              <a:avLst/>
            </a:prstGeom>
            <a:solidFill>
              <a:srgbClr val="12355B">
                <a:alpha val="85000"/>
              </a:srgbClr>
            </a:solidFill>
            <a:ln>
              <a:noFill/>
            </a:ln>
          </p:spPr>
        </p:sp>
        <p:sp>
          <p:nvSpPr>
            <p:cNvPr id="47" name="Ellipse 47"/>
            <p:cNvSpPr/>
            <p:nvPr/>
          </p:nvSpPr>
          <p:spPr>
            <a:xfrm>
              <a:off x="8848725" y="3228975"/>
              <a:ext cx="114300" cy="114300"/>
            </a:xfrm>
            <a:prstGeom prst="ellipse">
              <a:avLst/>
            </a:prstGeom>
            <a:solidFill>
              <a:srgbClr val="12355B">
                <a:alpha val="85000"/>
              </a:srgbClr>
            </a:solidFill>
            <a:ln>
              <a:noFill/>
            </a:ln>
          </p:spPr>
        </p:sp>
        <p:sp>
          <p:nvSpPr>
            <p:cNvPr id="48" name="Ellipse 48"/>
            <p:cNvSpPr/>
            <p:nvPr/>
          </p:nvSpPr>
          <p:spPr>
            <a:xfrm>
              <a:off x="8562975" y="3276600"/>
              <a:ext cx="114300" cy="114300"/>
            </a:xfrm>
            <a:prstGeom prst="ellipse">
              <a:avLst/>
            </a:prstGeom>
            <a:solidFill>
              <a:srgbClr val="12355B">
                <a:alpha val="85000"/>
              </a:srgbClr>
            </a:solidFill>
            <a:ln>
              <a:noFill/>
            </a:ln>
          </p:spPr>
        </p:sp>
        <p:sp>
          <p:nvSpPr>
            <p:cNvPr id="49" name="Ellipse 49"/>
            <p:cNvSpPr/>
            <p:nvPr/>
          </p:nvSpPr>
          <p:spPr>
            <a:xfrm>
              <a:off x="8753475" y="2943225"/>
              <a:ext cx="114300" cy="114300"/>
            </a:xfrm>
            <a:prstGeom prst="ellipse">
              <a:avLst/>
            </a:prstGeom>
            <a:solidFill>
              <a:srgbClr val="12355B">
                <a:alpha val="85000"/>
              </a:srgbClr>
            </a:solidFill>
            <a:ln>
              <a:noFill/>
            </a:ln>
          </p:spPr>
        </p:sp>
        <p:sp>
          <p:nvSpPr>
            <p:cNvPr id="50" name="TextBox 50"/>
            <p:cNvSpPr txBox="1"/>
            <p:nvPr/>
          </p:nvSpPr>
          <p:spPr>
            <a:xfrm>
              <a:off x="6675500" y="3895249"/>
              <a:ext cx="4479799"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Kümeler belirgin biçimde ayrılır — yalnızca göreli yakınlık anlamlıdır</a:t>
              </a:r>
            </a:p>
          </p:txBody>
        </p:sp>
      </p:grpSp>
      <p:grpSp>
        <p:nvGrpSpPr>
          <p:cNvPr id="56" name="code-note"/>
          <p:cNvGrpSpPr/>
          <p:nvPr/>
        </p:nvGrpSpPr>
        <p:grpSpPr>
          <a:xfrm>
            <a:off x="609600" y="4267200"/>
            <a:ext cx="10972800" cy="1104900"/>
            <a:chOff x="609600" y="4267200"/>
            <a:chExt cx="10972800" cy="1104900"/>
          </a:xfrm>
        </p:grpSpPr>
        <p:sp>
          <p:nvSpPr>
            <p:cNvPr id="52" name="Rectangle 52"/>
            <p:cNvSpPr/>
            <p:nvPr/>
          </p:nvSpPr>
          <p:spPr>
            <a:xfrm>
              <a:off x="609600" y="4267200"/>
              <a:ext cx="10972800" cy="1104900"/>
            </a:xfrm>
            <a:prstGeom prst="roundRect">
              <a:avLst>
                <a:gd name="adj" fmla="val 8621"/>
              </a:avLst>
            </a:prstGeom>
            <a:solidFill>
              <a:srgbClr val="12355B"/>
            </a:solidFill>
            <a:ln>
              <a:noFill/>
            </a:ln>
          </p:spPr>
        </p:sp>
        <p:sp>
          <p:nvSpPr>
            <p:cNvPr id="53" name="TextBox 53"/>
            <p:cNvSpPr txBox="1"/>
            <p:nvPr/>
          </p:nvSpPr>
          <p:spPr>
            <a:xfrm>
              <a:off x="908304" y="4442460"/>
              <a:ext cx="6890113"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tsneModeli = TSNE(n_components=2, perplexity=30, random_state=42, init="pca")</a:t>
              </a:r>
            </a:p>
          </p:txBody>
        </p:sp>
        <p:sp>
          <p:nvSpPr>
            <p:cNvPr id="54" name="TextBox 54"/>
            <p:cNvSpPr txBox="1"/>
            <p:nvPr/>
          </p:nvSpPr>
          <p:spPr>
            <a:xfrm>
              <a:off x="908304" y="4671060"/>
              <a:ext cx="8376623"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izdusum = tsneModeli.fit_transform(X_olcekli) # transform() yok, her seferinde yeniden çalışır</a:t>
              </a:r>
            </a:p>
          </p:txBody>
        </p:sp>
        <p:sp>
          <p:nvSpPr>
            <p:cNvPr id="55" name="TextBox 55"/>
            <p:cNvSpPr txBox="1"/>
            <p:nvPr/>
          </p:nvSpPr>
          <p:spPr>
            <a:xfrm>
              <a:off x="908685" y="5022056"/>
              <a:ext cx="9351443"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İpucu: çok yüksek boyutlu veride önce PCA ile 30-50 boyuta indirip sonra t-SNE çalıştırmak hız ve gürültü direnci kazandırır.</a:t>
              </a:r>
            </a:p>
          </p:txBody>
        </p:sp>
      </p:grpSp>
      <p:grpSp>
        <p:nvGrpSpPr>
          <p:cNvPr id="60" name="when-note"/>
          <p:cNvGrpSpPr/>
          <p:nvPr/>
        </p:nvGrpSpPr>
        <p:grpSpPr>
          <a:xfrm>
            <a:off x="609600" y="5524500"/>
            <a:ext cx="11098639" cy="647700"/>
            <a:chOff x="609600" y="5524500"/>
            <a:chExt cx="11098639" cy="647700"/>
          </a:xfrm>
        </p:grpSpPr>
        <p:sp>
          <p:nvSpPr>
            <p:cNvPr id="57" name="Rectangle 57"/>
            <p:cNvSpPr/>
            <p:nvPr/>
          </p:nvSpPr>
          <p:spPr>
            <a:xfrm>
              <a:off x="609600" y="5524500"/>
              <a:ext cx="10972800" cy="647700"/>
            </a:xfrm>
            <a:prstGeom prst="roundRect">
              <a:avLst>
                <a:gd name="adj" fmla="val 11765"/>
              </a:avLst>
            </a:prstGeom>
            <a:solidFill>
              <a:srgbClr val="EAF4F6"/>
            </a:solidFill>
            <a:ln>
              <a:noFill/>
            </a:ln>
          </p:spPr>
        </p:sp>
        <p:sp>
          <p:nvSpPr>
            <p:cNvPr id="58" name="TextBox 58"/>
            <p:cNvSpPr txBox="1"/>
            <p:nvPr/>
          </p:nvSpPr>
          <p:spPr>
            <a:xfrm>
              <a:off x="907923" y="5672614"/>
              <a:ext cx="2027252"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Ne zaman tercih edilir?</a:t>
              </a:r>
            </a:p>
          </p:txBody>
        </p:sp>
        <p:sp>
          <p:nvSpPr>
            <p:cNvPr id="59" name="TextBox 59"/>
            <p:cNvSpPr txBox="1"/>
            <p:nvPr/>
          </p:nvSpPr>
          <p:spPr>
            <a:xfrm>
              <a:off x="908304" y="5909310"/>
              <a:ext cx="107999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Kümeleri gözle keşfetmek gerektiğinde; model girdisi hazırlamak veya yeni veriye tutarlı dönüşüm uygulamak gerekiyorsa PCA kullanılır.</a:t>
              </a:r>
            </a:p>
          </p:txBody>
        </p:sp>
      </p:grpSp>
      <p:sp>
        <p:nvSpPr>
          <p:cNvPr id="61" name="TextBox 6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453079" cy="668845"/>
            <a:chOff x="609600" y="171450"/>
            <a:chExt cx="9453079"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876270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Öznitelik dönüşümlerinin pipeline'a eklenmesi</a:t>
              </a:r>
            </a:p>
          </p:txBody>
        </p:sp>
      </p:grpSp>
      <p:grpSp>
        <p:nvGrpSpPr>
          <p:cNvPr id="14" name="n-raw"/>
          <p:cNvGrpSpPr/>
          <p:nvPr/>
        </p:nvGrpSpPr>
        <p:grpSpPr>
          <a:xfrm>
            <a:off x="609600" y="1219200"/>
            <a:ext cx="1905000" cy="571500"/>
            <a:chOff x="609600" y="1219200"/>
            <a:chExt cx="1905000" cy="571500"/>
          </a:xfrm>
        </p:grpSpPr>
        <p:sp>
          <p:nvSpPr>
            <p:cNvPr id="12" name="Rectangle 12"/>
            <p:cNvSpPr/>
            <p:nvPr/>
          </p:nvSpPr>
          <p:spPr>
            <a:xfrm>
              <a:off x="609600" y="1219200"/>
              <a:ext cx="1905000" cy="571500"/>
            </a:xfrm>
            <a:prstGeom prst="roundRect">
              <a:avLst>
                <a:gd name="adj" fmla="val 13333"/>
              </a:avLst>
            </a:prstGeom>
            <a:solidFill>
              <a:srgbClr val="12355B"/>
            </a:solidFill>
            <a:ln>
              <a:noFill/>
            </a:ln>
          </p:spPr>
        </p:sp>
        <p:sp>
          <p:nvSpPr>
            <p:cNvPr id="13" name="TextBox 13"/>
            <p:cNvSpPr txBox="1"/>
            <p:nvPr/>
          </p:nvSpPr>
          <p:spPr>
            <a:xfrm>
              <a:off x="1205469" y="1432560"/>
              <a:ext cx="713262"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Ham veri</a:t>
              </a:r>
            </a:p>
          </p:txBody>
        </p:sp>
      </p:grpSp>
      <p:sp>
        <p:nvSpPr>
          <p:cNvPr id="15" name="Line 15"/>
          <p:cNvSpPr/>
          <p:nvPr/>
        </p:nvSpPr>
        <p:spPr>
          <a:xfrm>
            <a:off x="2514600" y="1504950"/>
            <a:ext cx="495300" cy="1"/>
          </a:xfrm>
          <a:prstGeom prst="line">
            <a:avLst/>
          </a:prstGeom>
          <a:noFill/>
          <a:ln w="19050">
            <a:solidFill>
              <a:srgbClr val="00A6A6"/>
            </a:solidFill>
            <a:tailEnd type="arrow" w="lg" len="lg"/>
          </a:ln>
        </p:spPr>
      </p:sp>
      <p:grpSp>
        <p:nvGrpSpPr>
          <p:cNvPr id="18" name="n-fe"/>
          <p:cNvGrpSpPr/>
          <p:nvPr/>
        </p:nvGrpSpPr>
        <p:grpSpPr>
          <a:xfrm>
            <a:off x="3048000" y="1219200"/>
            <a:ext cx="1905000" cy="571500"/>
            <a:chOff x="3048000" y="1219200"/>
            <a:chExt cx="1905000" cy="571500"/>
          </a:xfrm>
        </p:grpSpPr>
        <p:sp>
          <p:nvSpPr>
            <p:cNvPr id="16" name="Rectangle 16"/>
            <p:cNvSpPr/>
            <p:nvPr/>
          </p:nvSpPr>
          <p:spPr>
            <a:xfrm>
              <a:off x="3048000" y="1219200"/>
              <a:ext cx="1905000" cy="571500"/>
            </a:xfrm>
            <a:prstGeom prst="roundRect">
              <a:avLst>
                <a:gd name="adj" fmla="val 13333"/>
              </a:avLst>
            </a:prstGeom>
            <a:solidFill>
              <a:srgbClr val="FFFFFF"/>
            </a:solidFill>
            <a:ln w="19050">
              <a:solidFill>
                <a:srgbClr val="00A6A6"/>
              </a:solidFill>
            </a:ln>
          </p:spPr>
        </p:sp>
        <p:sp>
          <p:nvSpPr>
            <p:cNvPr id="17" name="TextBox 17"/>
            <p:cNvSpPr txBox="1"/>
            <p:nvPr/>
          </p:nvSpPr>
          <p:spPr>
            <a:xfrm>
              <a:off x="3177275" y="1440656"/>
              <a:ext cx="1646450"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Öznitelik mühendisliği</a:t>
              </a:r>
            </a:p>
          </p:txBody>
        </p:sp>
      </p:grpSp>
      <p:sp>
        <p:nvSpPr>
          <p:cNvPr id="19" name="Line 19"/>
          <p:cNvSpPr/>
          <p:nvPr/>
        </p:nvSpPr>
        <p:spPr>
          <a:xfrm>
            <a:off x="4953000" y="1504950"/>
            <a:ext cx="495300" cy="1"/>
          </a:xfrm>
          <a:prstGeom prst="line">
            <a:avLst/>
          </a:prstGeom>
          <a:noFill/>
          <a:ln w="19050">
            <a:solidFill>
              <a:srgbClr val="00A6A6"/>
            </a:solidFill>
            <a:tailEnd type="arrow" w="lg" len="lg"/>
          </a:ln>
        </p:spPr>
      </p:sp>
      <p:grpSp>
        <p:nvGrpSpPr>
          <p:cNvPr id="23" name="n-scale"/>
          <p:cNvGrpSpPr/>
          <p:nvPr/>
        </p:nvGrpSpPr>
        <p:grpSpPr>
          <a:xfrm>
            <a:off x="5486400" y="1219200"/>
            <a:ext cx="1905000" cy="571500"/>
            <a:chOff x="5486400" y="1219200"/>
            <a:chExt cx="1905000" cy="571500"/>
          </a:xfrm>
        </p:grpSpPr>
        <p:sp>
          <p:nvSpPr>
            <p:cNvPr id="20" name="Rectangle 20"/>
            <p:cNvSpPr/>
            <p:nvPr/>
          </p:nvSpPr>
          <p:spPr>
            <a:xfrm>
              <a:off x="5486400" y="1219200"/>
              <a:ext cx="1905000" cy="571500"/>
            </a:xfrm>
            <a:prstGeom prst="roundRect">
              <a:avLst>
                <a:gd name="adj" fmla="val 13333"/>
              </a:avLst>
            </a:prstGeom>
            <a:solidFill>
              <a:srgbClr val="FFFFFF"/>
            </a:solidFill>
            <a:ln w="19050">
              <a:solidFill>
                <a:srgbClr val="2E86AB"/>
              </a:solidFill>
            </a:ln>
          </p:spPr>
        </p:sp>
        <p:sp>
          <p:nvSpPr>
            <p:cNvPr id="21" name="TextBox 21"/>
            <p:cNvSpPr txBox="1"/>
            <p:nvPr/>
          </p:nvSpPr>
          <p:spPr>
            <a:xfrm>
              <a:off x="6062792" y="1364456"/>
              <a:ext cx="752216"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Ölçekleme</a:t>
              </a:r>
            </a:p>
          </p:txBody>
        </p:sp>
        <p:sp>
          <p:nvSpPr>
            <p:cNvPr id="22" name="TextBox 22"/>
            <p:cNvSpPr txBox="1"/>
            <p:nvPr/>
          </p:nvSpPr>
          <p:spPr>
            <a:xfrm>
              <a:off x="5723963" y="1579245"/>
              <a:ext cx="1429874" cy="176212"/>
            </a:xfrm>
            <a:prstGeom prst="rect">
              <a:avLst/>
            </a:prstGeom>
            <a:noFill/>
            <a:ln>
              <a:noFill/>
            </a:ln>
          </p:spPr>
          <p:txBody>
            <a:bodyPr wrap="none" lIns="0" tIns="0" rIns="0" bIns="0" anchor="t" anchorCtr="0">
              <a:spAutoFit/>
            </a:bodyPr>
            <a:lstStyle/>
            <a:p>
              <a:pPr algn="ctr"/>
              <a:r>
                <a:rPr lang="tr-TR" sz="900" dirty="0">
                  <a:solidFill>
                    <a:srgbClr val="52616B"/>
                  </a:solidFill>
                  <a:latin typeface="+mn-lt"/>
                  <a:ea typeface="+mn-ea"/>
                  <a:cs typeface="+mn-cs"/>
                </a:rPr>
                <a:t>(Ch03: StandardScaler)</a:t>
              </a:r>
            </a:p>
          </p:txBody>
        </p:sp>
      </p:grpSp>
      <p:sp>
        <p:nvSpPr>
          <p:cNvPr id="24" name="Line 24"/>
          <p:cNvSpPr/>
          <p:nvPr/>
        </p:nvSpPr>
        <p:spPr>
          <a:xfrm>
            <a:off x="6438900" y="1790700"/>
            <a:ext cx="1" cy="419100"/>
          </a:xfrm>
          <a:prstGeom prst="line">
            <a:avLst/>
          </a:prstGeom>
          <a:noFill/>
          <a:ln w="19050">
            <a:solidFill>
              <a:srgbClr val="00A6A6"/>
            </a:solidFill>
            <a:tailEnd type="arrow" w="lg" len="lg"/>
          </a:ln>
        </p:spPr>
      </p:sp>
      <p:grpSp>
        <p:nvGrpSpPr>
          <p:cNvPr id="29" name="n-decision"/>
          <p:cNvGrpSpPr/>
          <p:nvPr/>
        </p:nvGrpSpPr>
        <p:grpSpPr>
          <a:xfrm>
            <a:off x="5676900" y="2247900"/>
            <a:ext cx="1524000" cy="876300"/>
            <a:chOff x="5676900" y="2247900"/>
            <a:chExt cx="1524000" cy="876300"/>
          </a:xfrm>
        </p:grpSpPr>
        <p:sp>
          <p:nvSpPr>
            <p:cNvPr id="25" name="Polygon 25"/>
            <p:cNvSpPr/>
            <p:nvPr/>
          </p:nvSpPr>
          <p:spPr>
            <a:xfrm>
              <a:off x="5676900" y="2247900"/>
              <a:ext cx="1524000" cy="876300"/>
            </a:xfrm>
            <a:custGeom>
              <a:avLst/>
              <a:gdLst/>
              <a:ahLst/>
              <a:cxnLst/>
              <a:rect l="l" t="t" r="r" b="b"/>
              <a:pathLst>
                <a:path w="1524000" h="876300">
                  <a:moveTo>
                    <a:pt x="762000" y="0"/>
                  </a:moveTo>
                  <a:lnTo>
                    <a:pt x="1524000" y="438150"/>
                  </a:lnTo>
                  <a:lnTo>
                    <a:pt x="762000" y="876300"/>
                  </a:lnTo>
                  <a:lnTo>
                    <a:pt x="0" y="438150"/>
                  </a:lnTo>
                  <a:close/>
                </a:path>
              </a:pathLst>
            </a:custGeom>
            <a:solidFill>
              <a:srgbClr val="EAF4F6"/>
            </a:solidFill>
            <a:ln w="19050">
              <a:solidFill>
                <a:srgbClr val="12355B"/>
              </a:solidFill>
            </a:ln>
          </p:spPr>
        </p:sp>
        <p:sp>
          <p:nvSpPr>
            <p:cNvPr id="26" name="TextBox 26"/>
            <p:cNvSpPr txBox="1"/>
            <p:nvPr/>
          </p:nvSpPr>
          <p:spPr>
            <a:xfrm>
              <a:off x="6226733" y="2542699"/>
              <a:ext cx="424334" cy="190690"/>
            </a:xfrm>
            <a:prstGeom prst="rect">
              <a:avLst/>
            </a:prstGeom>
            <a:noFill/>
            <a:ln>
              <a:noFill/>
            </a:ln>
          </p:spPr>
          <p:txBody>
            <a:bodyPr wrap="none" lIns="0" tIns="0" rIns="0" bIns="0" anchor="t" anchorCtr="0">
              <a:spAutoFit/>
            </a:bodyPr>
            <a:lstStyle/>
            <a:p>
              <a:pPr algn="ctr"/>
              <a:r>
                <a:rPr lang="tr-TR" sz="980" b="1" dirty="0">
                  <a:solidFill>
                    <a:srgbClr val="12355B"/>
                  </a:solidFill>
                  <a:latin typeface="+mn-lt"/>
                  <a:ea typeface="+mn-ea"/>
                  <a:cs typeface="+mn-cs"/>
                </a:rPr>
                <a:t>Amaç:</a:t>
              </a:r>
            </a:p>
          </p:txBody>
        </p:sp>
        <p:sp>
          <p:nvSpPr>
            <p:cNvPr id="27" name="TextBox 27"/>
            <p:cNvSpPr txBox="1"/>
            <p:nvPr/>
          </p:nvSpPr>
          <p:spPr>
            <a:xfrm>
              <a:off x="5949506" y="2703195"/>
              <a:ext cx="978789" cy="176212"/>
            </a:xfrm>
            <a:prstGeom prst="rect">
              <a:avLst/>
            </a:prstGeom>
            <a:noFill/>
            <a:ln>
              <a:noFill/>
            </a:ln>
          </p:spPr>
          <p:txBody>
            <a:bodyPr wrap="none" lIns="0" tIns="0" rIns="0" bIns="0" anchor="t" anchorCtr="0">
              <a:spAutoFit/>
            </a:bodyPr>
            <a:lstStyle/>
            <a:p>
              <a:pPr algn="ctr"/>
              <a:r>
                <a:rPr lang="tr-TR" sz="900" dirty="0">
                  <a:solidFill>
                    <a:srgbClr val="12355B"/>
                  </a:solidFill>
                  <a:latin typeface="+mn-lt"/>
                  <a:ea typeface="+mn-ea"/>
                  <a:cs typeface="+mn-cs"/>
                </a:rPr>
                <a:t>model girdisi mi,</a:t>
              </a:r>
            </a:p>
          </p:txBody>
        </p:sp>
        <p:sp>
          <p:nvSpPr>
            <p:cNvPr id="28" name="TextBox 28"/>
            <p:cNvSpPr txBox="1"/>
            <p:nvPr/>
          </p:nvSpPr>
          <p:spPr>
            <a:xfrm>
              <a:off x="5964650" y="2836545"/>
              <a:ext cx="948500" cy="176212"/>
            </a:xfrm>
            <a:prstGeom prst="rect">
              <a:avLst/>
            </a:prstGeom>
            <a:noFill/>
            <a:ln>
              <a:noFill/>
            </a:ln>
          </p:spPr>
          <p:txBody>
            <a:bodyPr wrap="none" lIns="0" tIns="0" rIns="0" bIns="0" anchor="t" anchorCtr="0">
              <a:spAutoFit/>
            </a:bodyPr>
            <a:lstStyle/>
            <a:p>
              <a:pPr algn="ctr"/>
              <a:r>
                <a:rPr lang="tr-TR" sz="900" dirty="0">
                  <a:solidFill>
                    <a:srgbClr val="12355B"/>
                  </a:solidFill>
                  <a:latin typeface="+mn-lt"/>
                  <a:ea typeface="+mn-ea"/>
                  <a:cs typeface="+mn-cs"/>
                </a:rPr>
                <a:t>görsel keşif mi?</a:t>
              </a:r>
            </a:p>
          </p:txBody>
        </p:sp>
      </p:grpSp>
      <p:sp>
        <p:nvSpPr>
          <p:cNvPr id="30" name="Line 30"/>
          <p:cNvSpPr/>
          <p:nvPr/>
        </p:nvSpPr>
        <p:spPr>
          <a:xfrm flipH="1">
            <a:off x="4000500" y="2686050"/>
            <a:ext cx="1676400" cy="1"/>
          </a:xfrm>
          <a:prstGeom prst="line">
            <a:avLst/>
          </a:prstGeom>
          <a:noFill/>
          <a:ln w="19050">
            <a:solidFill>
              <a:srgbClr val="52616B"/>
            </a:solidFill>
            <a:tailEnd type="arrow" w="lg" len="lg"/>
          </a:ln>
        </p:spPr>
      </p:sp>
      <p:sp>
        <p:nvSpPr>
          <p:cNvPr id="31" name="TextBox 31"/>
          <p:cNvSpPr txBox="1"/>
          <p:nvPr/>
        </p:nvSpPr>
        <p:spPr>
          <a:xfrm>
            <a:off x="4606290" y="2493645"/>
            <a:ext cx="312420" cy="176212"/>
          </a:xfrm>
          <a:prstGeom prst="rect">
            <a:avLst/>
          </a:prstGeom>
          <a:noFill/>
          <a:ln>
            <a:noFill/>
          </a:ln>
        </p:spPr>
        <p:txBody>
          <a:bodyPr wrap="none" lIns="0" tIns="0" rIns="0" bIns="0" anchor="t" anchorCtr="0">
            <a:spAutoFit/>
          </a:bodyPr>
          <a:lstStyle/>
          <a:p>
            <a:pPr algn="ctr"/>
            <a:r>
              <a:rPr lang="tr-TR" sz="900" dirty="0">
                <a:solidFill>
                  <a:srgbClr val="52616B"/>
                </a:solidFill>
                <a:latin typeface="+mn-lt"/>
                <a:ea typeface="+mn-ea"/>
                <a:cs typeface="+mn-cs"/>
              </a:rPr>
              <a:t>keşif</a:t>
            </a:r>
          </a:p>
        </p:txBody>
      </p:sp>
      <p:grpSp>
        <p:nvGrpSpPr>
          <p:cNvPr id="34" name="n-tsne"/>
          <p:cNvGrpSpPr/>
          <p:nvPr/>
        </p:nvGrpSpPr>
        <p:grpSpPr>
          <a:xfrm>
            <a:off x="2095500" y="2400300"/>
            <a:ext cx="1905000" cy="571500"/>
            <a:chOff x="2095500" y="2400300"/>
            <a:chExt cx="1905000" cy="571500"/>
          </a:xfrm>
        </p:grpSpPr>
        <p:sp>
          <p:nvSpPr>
            <p:cNvPr id="32" name="Rectangle 32"/>
            <p:cNvSpPr/>
            <p:nvPr/>
          </p:nvSpPr>
          <p:spPr>
            <a:xfrm>
              <a:off x="2095500" y="2400300"/>
              <a:ext cx="1905000" cy="571500"/>
            </a:xfrm>
            <a:prstGeom prst="roundRect">
              <a:avLst>
                <a:gd name="adj" fmla="val 13333"/>
              </a:avLst>
            </a:prstGeom>
            <a:solidFill>
              <a:srgbClr val="FFFFFF"/>
            </a:solidFill>
            <a:ln w="19050">
              <a:solidFill>
                <a:srgbClr val="52616B"/>
              </a:solidFill>
              <a:custDash>
                <a:ds d="250000" sp="150000"/>
              </a:custDash>
            </a:ln>
          </p:spPr>
        </p:sp>
        <p:sp>
          <p:nvSpPr>
            <p:cNvPr id="33" name="TextBox 33"/>
            <p:cNvSpPr txBox="1"/>
            <p:nvPr/>
          </p:nvSpPr>
          <p:spPr>
            <a:xfrm>
              <a:off x="2438530" y="2602706"/>
              <a:ext cx="1218941" cy="220028"/>
            </a:xfrm>
            <a:prstGeom prst="rect">
              <a:avLst/>
            </a:prstGeom>
            <a:noFill/>
            <a:ln>
              <a:noFill/>
            </a:ln>
          </p:spPr>
          <p:txBody>
            <a:bodyPr wrap="none" lIns="0" tIns="0" rIns="0" bIns="0" anchor="t" anchorCtr="0">
              <a:spAutoFit/>
            </a:bodyPr>
            <a:lstStyle/>
            <a:p>
              <a:pPr algn="ctr"/>
              <a:r>
                <a:rPr lang="tr-TR" sz="1120" b="1" dirty="0">
                  <a:solidFill>
                    <a:srgbClr val="52616B"/>
                  </a:solidFill>
                  <a:latin typeface="+mn-lt"/>
                  <a:ea typeface="+mn-ea"/>
                  <a:cs typeface="+mn-cs"/>
                </a:rPr>
                <a:t>t-SNE (yan dal)</a:t>
              </a:r>
            </a:p>
          </p:txBody>
        </p:sp>
      </p:grpSp>
      <p:sp>
        <p:nvSpPr>
          <p:cNvPr id="35" name="Line 35"/>
          <p:cNvSpPr/>
          <p:nvPr/>
        </p:nvSpPr>
        <p:spPr>
          <a:xfrm>
            <a:off x="3048000" y="2971800"/>
            <a:ext cx="1" cy="381000"/>
          </a:xfrm>
          <a:prstGeom prst="line">
            <a:avLst/>
          </a:prstGeom>
          <a:noFill/>
          <a:ln w="19050">
            <a:solidFill>
              <a:srgbClr val="52616B"/>
            </a:solidFill>
            <a:tailEnd type="arrow" w="lg" len="lg"/>
          </a:ln>
        </p:spPr>
      </p:sp>
      <p:grpSp>
        <p:nvGrpSpPr>
          <p:cNvPr id="38" name="n-viz"/>
          <p:cNvGrpSpPr/>
          <p:nvPr/>
        </p:nvGrpSpPr>
        <p:grpSpPr>
          <a:xfrm>
            <a:off x="2095500" y="3390900"/>
            <a:ext cx="1905000" cy="533400"/>
            <a:chOff x="2095500" y="3390900"/>
            <a:chExt cx="1905000" cy="533400"/>
          </a:xfrm>
        </p:grpSpPr>
        <p:sp>
          <p:nvSpPr>
            <p:cNvPr id="36" name="Rectangle 36"/>
            <p:cNvSpPr/>
            <p:nvPr/>
          </p:nvSpPr>
          <p:spPr>
            <a:xfrm>
              <a:off x="2095500" y="3390900"/>
              <a:ext cx="1905000" cy="533400"/>
            </a:xfrm>
            <a:prstGeom prst="roundRect">
              <a:avLst>
                <a:gd name="adj" fmla="val 14286"/>
              </a:avLst>
            </a:prstGeom>
            <a:solidFill>
              <a:srgbClr val="F7FAFC"/>
            </a:solidFill>
            <a:ln w="14288">
              <a:solidFill>
                <a:srgbClr val="52616B"/>
              </a:solidFill>
              <a:custDash>
                <a:ds d="200000" sp="200000"/>
              </a:custDash>
            </a:ln>
          </p:spPr>
        </p:sp>
        <p:sp>
          <p:nvSpPr>
            <p:cNvPr id="37" name="TextBox 37"/>
            <p:cNvSpPr txBox="1"/>
            <p:nvPr/>
          </p:nvSpPr>
          <p:spPr>
            <a:xfrm>
              <a:off x="2220721" y="3601402"/>
              <a:ext cx="1654558"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Yalnızca görselleştirme</a:t>
              </a:r>
            </a:p>
          </p:txBody>
        </p:sp>
      </p:grpSp>
      <p:sp>
        <p:nvSpPr>
          <p:cNvPr id="39" name="Line 39"/>
          <p:cNvSpPr/>
          <p:nvPr/>
        </p:nvSpPr>
        <p:spPr>
          <a:xfrm>
            <a:off x="7200900" y="2686050"/>
            <a:ext cx="609600" cy="1"/>
          </a:xfrm>
          <a:prstGeom prst="line">
            <a:avLst/>
          </a:prstGeom>
          <a:noFill/>
          <a:ln w="19050">
            <a:solidFill>
              <a:srgbClr val="00A6A6"/>
            </a:solidFill>
            <a:tailEnd type="arrow" w="lg" len="lg"/>
          </a:ln>
        </p:spPr>
      </p:sp>
      <p:sp>
        <p:nvSpPr>
          <p:cNvPr id="40" name="TextBox 40"/>
          <p:cNvSpPr txBox="1"/>
          <p:nvPr/>
        </p:nvSpPr>
        <p:spPr>
          <a:xfrm>
            <a:off x="7337374" y="2493645"/>
            <a:ext cx="336652" cy="176212"/>
          </a:xfrm>
          <a:prstGeom prst="rect">
            <a:avLst/>
          </a:prstGeom>
          <a:noFill/>
          <a:ln>
            <a:noFill/>
          </a:ln>
        </p:spPr>
        <p:txBody>
          <a:bodyPr wrap="none" lIns="0" tIns="0" rIns="0" bIns="0" anchor="t" anchorCtr="0">
            <a:spAutoFit/>
          </a:bodyPr>
          <a:lstStyle/>
          <a:p>
            <a:pPr algn="ctr"/>
            <a:r>
              <a:rPr lang="tr-TR" sz="900" dirty="0">
                <a:solidFill>
                  <a:srgbClr val="00A6A6"/>
                </a:solidFill>
                <a:latin typeface="+mn-lt"/>
                <a:ea typeface="+mn-ea"/>
                <a:cs typeface="+mn-cs"/>
              </a:rPr>
              <a:t>model</a:t>
            </a:r>
          </a:p>
        </p:txBody>
      </p:sp>
      <p:grpSp>
        <p:nvGrpSpPr>
          <p:cNvPr id="45" name="n-branch"/>
          <p:cNvGrpSpPr/>
          <p:nvPr/>
        </p:nvGrpSpPr>
        <p:grpSpPr>
          <a:xfrm>
            <a:off x="7848600" y="2209800"/>
            <a:ext cx="1905000" cy="952500"/>
            <a:chOff x="7848600" y="2209800"/>
            <a:chExt cx="1905000" cy="952500"/>
          </a:xfrm>
        </p:grpSpPr>
        <p:sp>
          <p:nvSpPr>
            <p:cNvPr id="41" name="Rectangle 41"/>
            <p:cNvSpPr/>
            <p:nvPr/>
          </p:nvSpPr>
          <p:spPr>
            <a:xfrm>
              <a:off x="7848600" y="2209800"/>
              <a:ext cx="1905000" cy="419100"/>
            </a:xfrm>
            <a:prstGeom prst="roundRect">
              <a:avLst>
                <a:gd name="adj" fmla="val 18182"/>
              </a:avLst>
            </a:prstGeom>
            <a:solidFill>
              <a:srgbClr val="FFFFFF"/>
            </a:solidFill>
            <a:ln w="19050">
              <a:solidFill>
                <a:srgbClr val="00A6A6"/>
              </a:solidFill>
            </a:ln>
          </p:spPr>
        </p:sp>
        <p:sp>
          <p:nvSpPr>
            <p:cNvPr id="42" name="TextBox 42"/>
            <p:cNvSpPr txBox="1"/>
            <p:nvPr/>
          </p:nvSpPr>
          <p:spPr>
            <a:xfrm>
              <a:off x="8666390" y="2353628"/>
              <a:ext cx="269420" cy="205359"/>
            </a:xfrm>
            <a:prstGeom prst="rect">
              <a:avLst/>
            </a:prstGeom>
            <a:noFill/>
            <a:ln>
              <a:noFill/>
            </a:ln>
          </p:spPr>
          <p:txBody>
            <a:bodyPr wrap="none" lIns="0" tIns="0" rIns="0" bIns="0" anchor="t" anchorCtr="0">
              <a:spAutoFit/>
            </a:bodyPr>
            <a:lstStyle/>
            <a:p>
              <a:pPr algn="ctr"/>
              <a:r>
                <a:rPr lang="tr-TR" sz="1050" b="1" dirty="0">
                  <a:solidFill>
                    <a:srgbClr val="12355B"/>
                  </a:solidFill>
                  <a:latin typeface="+mn-lt"/>
                  <a:ea typeface="+mn-ea"/>
                  <a:cs typeface="+mn-cs"/>
                </a:rPr>
                <a:t>PCA</a:t>
              </a:r>
            </a:p>
          </p:txBody>
        </p:sp>
        <p:sp>
          <p:nvSpPr>
            <p:cNvPr id="43" name="Rectangle 43"/>
            <p:cNvSpPr/>
            <p:nvPr/>
          </p:nvSpPr>
          <p:spPr>
            <a:xfrm>
              <a:off x="7848600" y="2743200"/>
              <a:ext cx="1905000" cy="419100"/>
            </a:xfrm>
            <a:prstGeom prst="roundRect">
              <a:avLst>
                <a:gd name="adj" fmla="val 18182"/>
              </a:avLst>
            </a:prstGeom>
            <a:solidFill>
              <a:srgbClr val="FFFFFF"/>
            </a:solidFill>
            <a:ln w="19050">
              <a:solidFill>
                <a:srgbClr val="00A6A6"/>
              </a:solidFill>
            </a:ln>
          </p:spPr>
        </p:sp>
        <p:sp>
          <p:nvSpPr>
            <p:cNvPr id="44" name="TextBox 44"/>
            <p:cNvSpPr txBox="1"/>
            <p:nvPr/>
          </p:nvSpPr>
          <p:spPr>
            <a:xfrm>
              <a:off x="8318759" y="2887028"/>
              <a:ext cx="964683" cy="205359"/>
            </a:xfrm>
            <a:prstGeom prst="rect">
              <a:avLst/>
            </a:prstGeom>
            <a:noFill/>
            <a:ln>
              <a:noFill/>
            </a:ln>
          </p:spPr>
          <p:txBody>
            <a:bodyPr wrap="none" lIns="0" tIns="0" rIns="0" bIns="0" anchor="t" anchorCtr="0">
              <a:spAutoFit/>
            </a:bodyPr>
            <a:lstStyle/>
            <a:p>
              <a:pPr algn="ctr"/>
              <a:r>
                <a:rPr lang="tr-TR" sz="1050" b="1" dirty="0">
                  <a:solidFill>
                    <a:srgbClr val="12355B"/>
                  </a:solidFill>
                  <a:latin typeface="+mn-lt"/>
                  <a:ea typeface="+mn-ea"/>
                  <a:cs typeface="+mn-cs"/>
                </a:rPr>
                <a:t>Özellik seçimi</a:t>
              </a:r>
            </a:p>
          </p:txBody>
        </p:sp>
      </p:grpSp>
      <p:sp>
        <p:nvSpPr>
          <p:cNvPr id="46" name="Line 46"/>
          <p:cNvSpPr/>
          <p:nvPr/>
        </p:nvSpPr>
        <p:spPr>
          <a:xfrm>
            <a:off x="9753600" y="2419350"/>
            <a:ext cx="495300" cy="285750"/>
          </a:xfrm>
          <a:prstGeom prst="line">
            <a:avLst/>
          </a:prstGeom>
          <a:noFill/>
          <a:ln w="19050">
            <a:solidFill>
              <a:srgbClr val="00A6A6"/>
            </a:solidFill>
            <a:tailEnd type="arrow" w="lg" len="lg"/>
          </a:ln>
        </p:spPr>
      </p:sp>
      <p:sp>
        <p:nvSpPr>
          <p:cNvPr id="47" name="Line 47"/>
          <p:cNvSpPr/>
          <p:nvPr/>
        </p:nvSpPr>
        <p:spPr>
          <a:xfrm flipV="1">
            <a:off x="9753600" y="2705100"/>
            <a:ext cx="495300" cy="247650"/>
          </a:xfrm>
          <a:prstGeom prst="line">
            <a:avLst/>
          </a:prstGeom>
          <a:noFill/>
          <a:ln w="19050">
            <a:solidFill>
              <a:srgbClr val="00A6A6"/>
            </a:solidFill>
            <a:tailEnd type="arrow" w="lg" len="lg"/>
          </a:ln>
        </p:spPr>
      </p:sp>
      <p:grpSp>
        <p:nvGrpSpPr>
          <p:cNvPr id="50" name="n-model"/>
          <p:cNvGrpSpPr/>
          <p:nvPr/>
        </p:nvGrpSpPr>
        <p:grpSpPr>
          <a:xfrm>
            <a:off x="10287000" y="2419350"/>
            <a:ext cx="1295400" cy="571500"/>
            <a:chOff x="10287000" y="2419350"/>
            <a:chExt cx="1295400" cy="571500"/>
          </a:xfrm>
        </p:grpSpPr>
        <p:sp>
          <p:nvSpPr>
            <p:cNvPr id="48" name="Rectangle 48"/>
            <p:cNvSpPr/>
            <p:nvPr/>
          </p:nvSpPr>
          <p:spPr>
            <a:xfrm>
              <a:off x="10287000" y="2419350"/>
              <a:ext cx="1295400" cy="571500"/>
            </a:xfrm>
            <a:prstGeom prst="roundRect">
              <a:avLst>
                <a:gd name="adj" fmla="val 13333"/>
              </a:avLst>
            </a:prstGeom>
            <a:solidFill>
              <a:srgbClr val="12355B"/>
            </a:solidFill>
            <a:ln>
              <a:noFill/>
            </a:ln>
          </p:spPr>
        </p:sp>
        <p:sp>
          <p:nvSpPr>
            <p:cNvPr id="49" name="TextBox 49"/>
            <p:cNvSpPr txBox="1"/>
            <p:nvPr/>
          </p:nvSpPr>
          <p:spPr>
            <a:xfrm>
              <a:off x="10712843" y="2640806"/>
              <a:ext cx="443714" cy="220028"/>
            </a:xfrm>
            <a:prstGeom prst="rect">
              <a:avLst/>
            </a:prstGeom>
            <a:noFill/>
            <a:ln>
              <a:noFill/>
            </a:ln>
          </p:spPr>
          <p:txBody>
            <a:bodyPr wrap="none" lIns="0" tIns="0" rIns="0" bIns="0" anchor="t" anchorCtr="0">
              <a:spAutoFit/>
            </a:bodyPr>
            <a:lstStyle/>
            <a:p>
              <a:pPr algn="ctr"/>
              <a:r>
                <a:rPr lang="tr-TR" sz="1120" b="1" dirty="0">
                  <a:solidFill>
                    <a:srgbClr val="FFFFFF"/>
                  </a:solidFill>
                  <a:latin typeface="+mn-lt"/>
                  <a:ea typeface="+mn-ea"/>
                  <a:cs typeface="+mn-cs"/>
                </a:rPr>
                <a:t>Model</a:t>
              </a:r>
            </a:p>
          </p:txBody>
        </p:sp>
      </p:grpSp>
      <p:grpSp>
        <p:nvGrpSpPr>
          <p:cNvPr id="55" name="train-test-note"/>
          <p:cNvGrpSpPr/>
          <p:nvPr/>
        </p:nvGrpSpPr>
        <p:grpSpPr>
          <a:xfrm>
            <a:off x="609600" y="4381500"/>
            <a:ext cx="10972800" cy="848106"/>
            <a:chOff x="609600" y="4381500"/>
            <a:chExt cx="10972800" cy="848106"/>
          </a:xfrm>
        </p:grpSpPr>
        <p:sp>
          <p:nvSpPr>
            <p:cNvPr id="51" name="Rectangle 51"/>
            <p:cNvSpPr/>
            <p:nvPr/>
          </p:nvSpPr>
          <p:spPr>
            <a:xfrm>
              <a:off x="609600" y="4381500"/>
              <a:ext cx="10972800" cy="800100"/>
            </a:xfrm>
            <a:prstGeom prst="roundRect">
              <a:avLst>
                <a:gd name="adj" fmla="val 11905"/>
              </a:avLst>
            </a:prstGeom>
            <a:solidFill>
              <a:srgbClr val="EAF4F6"/>
            </a:solidFill>
            <a:ln>
              <a:noFill/>
            </a:ln>
          </p:spPr>
        </p:sp>
        <p:sp>
          <p:nvSpPr>
            <p:cNvPr id="52" name="TextBox 52"/>
            <p:cNvSpPr txBox="1"/>
            <p:nvPr/>
          </p:nvSpPr>
          <p:spPr>
            <a:xfrm>
              <a:off x="907923" y="4529614"/>
              <a:ext cx="353825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Eğitim/test ayrımı her adımda korunur</a:t>
              </a:r>
            </a:p>
          </p:txBody>
        </p:sp>
        <p:sp>
          <p:nvSpPr>
            <p:cNvPr id="53" name="TextBox 53"/>
            <p:cNvSpPr txBox="1"/>
            <p:nvPr/>
          </p:nvSpPr>
          <p:spPr>
            <a:xfrm>
              <a:off x="908304" y="4785360"/>
              <a:ext cx="71418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Her kutuda yalnızca eğitim verisiyle fit(), test verisine yalnızca transform() uygulanır.</a:t>
              </a:r>
            </a:p>
          </p:txBody>
        </p:sp>
        <p:sp>
          <p:nvSpPr>
            <p:cNvPr id="54" name="TextBox 54"/>
            <p:cNvSpPr txBox="1"/>
            <p:nvPr/>
          </p:nvSpPr>
          <p:spPr>
            <a:xfrm>
              <a:off x="908304" y="4994910"/>
              <a:ext cx="58526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t-SNE'nin transform metodu olmadığından, yeni veriye asla uygulanamaz.</a:t>
              </a:r>
            </a:p>
          </p:txBody>
        </p:sp>
      </p:grpSp>
      <p:grpSp>
        <p:nvGrpSpPr>
          <p:cNvPr id="59" name="rule-box"/>
          <p:cNvGrpSpPr/>
          <p:nvPr/>
        </p:nvGrpSpPr>
        <p:grpSpPr>
          <a:xfrm>
            <a:off x="609600" y="5334000"/>
            <a:ext cx="10972800" cy="800100"/>
            <a:chOff x="609600" y="5334000"/>
            <a:chExt cx="10972800" cy="800100"/>
          </a:xfrm>
        </p:grpSpPr>
        <p:sp>
          <p:nvSpPr>
            <p:cNvPr id="56" name="Rectangle 56"/>
            <p:cNvSpPr/>
            <p:nvPr/>
          </p:nvSpPr>
          <p:spPr>
            <a:xfrm>
              <a:off x="609600" y="5334000"/>
              <a:ext cx="10972800" cy="800100"/>
            </a:xfrm>
            <a:prstGeom prst="roundRect">
              <a:avLst>
                <a:gd name="adj" fmla="val 11905"/>
              </a:avLst>
            </a:prstGeom>
            <a:solidFill>
              <a:srgbClr val="12355B"/>
            </a:solidFill>
            <a:ln>
              <a:noFill/>
            </a:ln>
          </p:spPr>
        </p:sp>
        <p:sp>
          <p:nvSpPr>
            <p:cNvPr id="57" name="TextBox 57"/>
            <p:cNvSpPr txBox="1"/>
            <p:nvPr/>
          </p:nvSpPr>
          <p:spPr>
            <a:xfrm>
              <a:off x="907161" y="5484971"/>
              <a:ext cx="5711556"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Ortak kural: dönüşümü test verisiyle yeniden fit etmemek</a:t>
              </a:r>
            </a:p>
          </p:txBody>
        </p:sp>
        <p:sp>
          <p:nvSpPr>
            <p:cNvPr id="58" name="TextBox 58"/>
            <p:cNvSpPr txBox="1"/>
            <p:nvPr/>
          </p:nvSpPr>
          <p:spPr>
            <a:xfrm>
              <a:off x="907923" y="5767864"/>
              <a:ext cx="7652130"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mn-lt"/>
                  <a:ea typeface="+mn-ea"/>
                  <a:cs typeface="+mn-cs"/>
                </a:rPr>
                <a:t>Ortalama, PCA ekseni ya da SelectKBest skoru — hepsi yalnızca eğitim verisinden öğrenilir.</a:t>
              </a:r>
            </a:p>
          </p:txBody>
        </p:sp>
      </p:grpSp>
      <p:sp>
        <p:nvSpPr>
          <p:cNvPr id="60" name="TextBox 6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51296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DOĞRU YAKLAŞIM</a:t>
              </a:r>
            </a:p>
          </p:txBody>
        </p:sp>
      </p:grpSp>
      <p:grpSp>
        <p:nvGrpSpPr>
          <p:cNvPr id="21" name="fallacy-tsne"/>
          <p:cNvGrpSpPr/>
          <p:nvPr/>
        </p:nvGrpSpPr>
        <p:grpSpPr>
          <a:xfrm>
            <a:off x="609600" y="1849279"/>
            <a:ext cx="10972800" cy="1313021"/>
            <a:chOff x="609600" y="1849279"/>
            <a:chExt cx="10972800" cy="1313021"/>
          </a:xfrm>
        </p:grpSpPr>
        <p:sp>
          <p:nvSpPr>
            <p:cNvPr id="17" name="TextBox 17"/>
            <p:cNvSpPr txBox="1"/>
            <p:nvPr/>
          </p:nvSpPr>
          <p:spPr>
            <a:xfrm>
              <a:off x="753999" y="1849279"/>
              <a:ext cx="3039447"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"t-SNE, PCA'nin</a:t>
              </a:r>
              <a:br/>
              <a:r>
                <a:rPr lang="tr-TR" sz="1580" b="1" dirty="0">
                  <a:solidFill>
                    <a:srgbClr val="12355B"/>
                  </a:solidFill>
                  <a:latin typeface="+mn-lt"/>
                  <a:ea typeface="+mn-ea"/>
                  <a:cs typeface="+mn-cs"/>
                </a:rPr>
                <a:t>doğrudan yerine geçebilecek,</a:t>
              </a:r>
              <a:br/>
              <a:r>
                <a:rPr lang="tr-TR" sz="1580" b="1" dirty="0">
                  <a:solidFill>
                    <a:srgbClr val="12355B"/>
                  </a:solidFill>
                  <a:latin typeface="+mn-lt"/>
                  <a:ea typeface="+mn-ea"/>
                  <a:cs typeface="+mn-cs"/>
                </a:rPr>
                <a:t>daha gelişmiş bir yöntemdir."</a:t>
              </a:r>
            </a:p>
          </p:txBody>
        </p:sp>
        <p:sp>
          <p:nvSpPr>
            <p:cNvPr id="18" name="TextBox 18"/>
            <p:cNvSpPr txBox="1"/>
            <p:nvPr/>
          </p:nvSpPr>
          <p:spPr>
            <a:xfrm>
              <a:off x="4375404" y="1889760"/>
              <a:ext cx="29839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t-SNE görselleştirme amaçlıdır ve</a:t>
              </a:r>
              <a:br/>
              <a:r>
                <a:rPr lang="tr-TR" sz="1200" dirty="0">
                  <a:solidFill>
                    <a:srgbClr val="172B3A"/>
                  </a:solidFill>
                  <a:latin typeface="+mn-lt"/>
                  <a:ea typeface="+mn-ea"/>
                  <a:cs typeface="+mn-cs"/>
                </a:rPr>
                <a:t>transform metodu yoktur; model girdisi</a:t>
              </a:r>
              <a:br/>
              <a:r>
                <a:rPr lang="tr-TR" sz="1200" dirty="0">
                  <a:solidFill>
                    <a:srgbClr val="172B3A"/>
                  </a:solidFill>
                  <a:latin typeface="+mn-lt"/>
                  <a:ea typeface="+mn-ea"/>
                  <a:cs typeface="+mn-cs"/>
                </a:rPr>
                <a:t>hazırlamada veya yeni veriye tutarlı</a:t>
              </a:r>
              <a:br/>
              <a:r>
                <a:rPr lang="tr-TR" sz="1200" dirty="0">
                  <a:solidFill>
                    <a:srgbClr val="172B3A"/>
                  </a:solidFill>
                  <a:latin typeface="+mn-lt"/>
                  <a:ea typeface="+mn-ea"/>
                  <a:cs typeface="+mn-cs"/>
                </a:rPr>
                <a:t>dönüşüm uygulamada kullanılamaz.</a:t>
              </a:r>
            </a:p>
          </p:txBody>
        </p:sp>
        <p:sp>
          <p:nvSpPr>
            <p:cNvPr id="19" name="TextBox 19"/>
            <p:cNvSpPr txBox="1"/>
            <p:nvPr/>
          </p:nvSpPr>
          <p:spPr>
            <a:xfrm>
              <a:off x="8185404" y="1889760"/>
              <a:ext cx="29306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Model girdisi/sıkıştırma için PCA;</a:t>
              </a:r>
              <a:br/>
              <a:r>
                <a:rPr lang="tr-TR" sz="1200" dirty="0">
                  <a:solidFill>
                    <a:srgbClr val="172B3A"/>
                  </a:solidFill>
                  <a:latin typeface="+mn-lt"/>
                  <a:ea typeface="+mn-ea"/>
                  <a:cs typeface="+mn-cs"/>
                </a:rPr>
                <a:t>kümeleri gözle keşfetmek için t-SNE —</a:t>
              </a:r>
              <a:br/>
              <a:r>
                <a:rPr lang="tr-TR" sz="1200" dirty="0">
                  <a:solidFill>
                    <a:srgbClr val="172B3A"/>
                  </a:solidFill>
                  <a:latin typeface="+mn-lt"/>
                  <a:ea typeface="+mn-ea"/>
                  <a:cs typeface="+mn-cs"/>
                </a:rPr>
                <a:t>"PCA sıkıştırır, öznitelik seçimi eler,</a:t>
              </a:r>
              <a:br/>
              <a:r>
                <a:rPr lang="tr-TR" sz="1200" dirty="0">
                  <a:solidFill>
                    <a:srgbClr val="172B3A"/>
                  </a:solidFill>
                  <a:latin typeface="+mn-lt"/>
                  <a:ea typeface="+mn-ea"/>
                  <a:cs typeface="+mn-cs"/>
                </a:rPr>
                <a:t>t-SNE yalnızca gösterir."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eigen"/>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3999" y="3297079"/>
              <a:ext cx="2470575"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"PCA'de küçük özdeğerli</a:t>
              </a:r>
              <a:br/>
              <a:r>
                <a:rPr lang="tr-TR" sz="1580" b="1" dirty="0">
                  <a:solidFill>
                    <a:srgbClr val="12355B"/>
                  </a:solidFill>
                  <a:latin typeface="+mn-lt"/>
                  <a:ea typeface="+mn-ea"/>
                  <a:cs typeface="+mn-cs"/>
                </a:rPr>
                <a:t>bileşenler, verideki en</a:t>
              </a:r>
              <a:br/>
              <a:r>
                <a:rPr lang="tr-TR" sz="1580" b="1" dirty="0">
                  <a:solidFill>
                    <a:srgbClr val="12355B"/>
                  </a:solidFill>
                  <a:latin typeface="+mn-lt"/>
                  <a:ea typeface="+mn-ea"/>
                  <a:cs typeface="+mn-cs"/>
                </a:rPr>
                <a:t>önemli bilgiyi taşır."</a:t>
              </a:r>
            </a:p>
          </p:txBody>
        </p:sp>
        <p:sp>
          <p:nvSpPr>
            <p:cNvPr id="24" name="TextBox 24"/>
            <p:cNvSpPr txBox="1"/>
            <p:nvPr/>
          </p:nvSpPr>
          <p:spPr>
            <a:xfrm>
              <a:off x="4375404" y="3337560"/>
              <a:ext cx="31211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Tam tersi doğrudur: büyük özdeğerli</a:t>
              </a:r>
              <a:br/>
              <a:r>
                <a:rPr lang="tr-TR" sz="1200" dirty="0">
                  <a:solidFill>
                    <a:srgbClr val="172B3A"/>
                  </a:solidFill>
                  <a:latin typeface="+mn-lt"/>
                  <a:ea typeface="+mn-ea"/>
                  <a:cs typeface="+mn-cs"/>
                </a:rPr>
                <a:t>bileşen her zaman en yüksek varyansı,</a:t>
              </a:r>
              <a:br/>
              <a:r>
                <a:rPr lang="tr-TR" sz="1200" dirty="0">
                  <a:solidFill>
                    <a:srgbClr val="172B3A"/>
                  </a:solidFill>
                  <a:latin typeface="+mn-lt"/>
                  <a:ea typeface="+mn-ea"/>
                  <a:cs typeface="+mn-cs"/>
                </a:rPr>
                <a:t>dolayısıyla en fazla bilgiyi açıklar; küçük</a:t>
              </a:r>
              <a:br/>
              <a:r>
                <a:rPr lang="tr-TR" sz="1200" dirty="0">
                  <a:solidFill>
                    <a:srgbClr val="172B3A"/>
                  </a:solidFill>
                  <a:latin typeface="+mn-lt"/>
                  <a:ea typeface="+mn-ea"/>
                  <a:cs typeface="+mn-cs"/>
                </a:rPr>
                <a:t>özdeğerler genelde gürültüyü taşır.</a:t>
              </a:r>
            </a:p>
          </p:txBody>
        </p:sp>
        <p:sp>
          <p:nvSpPr>
            <p:cNvPr id="25" name="TextBox 25"/>
            <p:cNvSpPr txBox="1"/>
            <p:nvPr/>
          </p:nvSpPr>
          <p:spPr>
            <a:xfrm>
              <a:off x="8185404" y="3337560"/>
              <a:ext cx="25953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explained_variance_ratio_ dizisini</a:t>
              </a:r>
              <a:br/>
              <a:r>
                <a:rPr lang="tr-TR" sz="1200" dirty="0">
                  <a:solidFill>
                    <a:srgbClr val="172B3A"/>
                  </a:solidFill>
                  <a:latin typeface="+mn-lt"/>
                  <a:ea typeface="+mn-ea"/>
                  <a:cs typeface="+mn-cs"/>
                </a:rPr>
                <a:t>büyükten küçüğe sıralı okuyun; ilk</a:t>
              </a:r>
              <a:br/>
              <a:r>
                <a:rPr lang="tr-TR" sz="1200" dirty="0">
                  <a:solidFill>
                    <a:srgbClr val="172B3A"/>
                  </a:solidFill>
                  <a:latin typeface="+mn-lt"/>
                  <a:ea typeface="+mn-ea"/>
                  <a:cs typeface="+mn-cs"/>
                </a:rPr>
                <a:t>bileşenler her zaman en yüksek</a:t>
              </a:r>
              <a:br/>
              <a:r>
                <a:rPr lang="tr-TR" sz="1200" dirty="0">
                  <a:solidFill>
                    <a:srgbClr val="172B3A"/>
                  </a:solidFill>
                  <a:latin typeface="+mn-lt"/>
                  <a:ea typeface="+mn-ea"/>
                  <a:cs typeface="+mn-cs"/>
                </a:rPr>
                <a:t>açıklanan varyansa sahiptir.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fit"/>
          <p:cNvGrpSpPr/>
          <p:nvPr/>
        </p:nvGrpSpPr>
        <p:grpSpPr>
          <a:xfrm>
            <a:off x="753999" y="4744879"/>
            <a:ext cx="10331577" cy="903827"/>
            <a:chOff x="753999" y="4744879"/>
            <a:chExt cx="10331577" cy="903827"/>
          </a:xfrm>
        </p:grpSpPr>
        <p:sp>
          <p:nvSpPr>
            <p:cNvPr id="28" name="TextBox 28"/>
            <p:cNvSpPr txBox="1"/>
            <p:nvPr/>
          </p:nvSpPr>
          <p:spPr>
            <a:xfrm>
              <a:off x="753999" y="4744879"/>
              <a:ext cx="2575922"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"Dönüşümü test verisiyle</a:t>
              </a:r>
              <a:br/>
              <a:r>
                <a:rPr lang="tr-TR" sz="1580" b="1" dirty="0">
                  <a:solidFill>
                    <a:srgbClr val="12355B"/>
                  </a:solidFill>
                  <a:latin typeface="+mn-lt"/>
                  <a:ea typeface="+mn-ea"/>
                  <a:cs typeface="+mn-cs"/>
                </a:rPr>
                <a:t>yeniden fit etmek daha</a:t>
              </a:r>
              <a:br/>
              <a:r>
                <a:rPr lang="tr-TR" sz="1580" b="1" dirty="0">
                  <a:solidFill>
                    <a:srgbClr val="12355B"/>
                  </a:solidFill>
                  <a:latin typeface="+mn-lt"/>
                  <a:ea typeface="+mn-ea"/>
                  <a:cs typeface="+mn-cs"/>
                </a:rPr>
                <a:t>doğru sonuç verir."</a:t>
              </a:r>
            </a:p>
          </p:txBody>
        </p:sp>
        <p:sp>
          <p:nvSpPr>
            <p:cNvPr id="29" name="TextBox 29"/>
            <p:cNvSpPr txBox="1"/>
            <p:nvPr/>
          </p:nvSpPr>
          <p:spPr>
            <a:xfrm>
              <a:off x="4375404" y="4785360"/>
              <a:ext cx="32735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Ortalamayı tüm veriden hesaplamak,</a:t>
              </a:r>
              <a:br/>
              <a:r>
                <a:rPr lang="tr-TR" sz="1200" dirty="0">
                  <a:solidFill>
                    <a:srgbClr val="172B3A"/>
                  </a:solidFill>
                  <a:latin typeface="+mn-lt"/>
                  <a:ea typeface="+mn-ea"/>
                  <a:cs typeface="+mn-cs"/>
                </a:rPr>
                <a:t>PCA'yı test kümesine yeniden uydurmak,</a:t>
              </a:r>
              <a:br/>
              <a:r>
                <a:rPr lang="tr-TR" sz="1200" dirty="0">
                  <a:solidFill>
                    <a:srgbClr val="172B3A"/>
                  </a:solidFill>
                  <a:latin typeface="+mn-lt"/>
                  <a:ea typeface="+mn-ea"/>
                  <a:cs typeface="+mn-cs"/>
                </a:rPr>
                <a:t>SelectKBest'i birleşik veriyle çalıştırmak —</a:t>
              </a:r>
              <a:br/>
              <a:r>
                <a:rPr lang="tr-TR" sz="1200" dirty="0">
                  <a:solidFill>
                    <a:srgbClr val="172B3A"/>
                  </a:solidFill>
                  <a:latin typeface="+mn-lt"/>
                  <a:ea typeface="+mn-ea"/>
                  <a:cs typeface="+mn-cs"/>
                </a:rPr>
                <a:t>hepsi aynı veri sızıntısı hatasıdır.</a:t>
              </a:r>
            </a:p>
          </p:txBody>
        </p:sp>
        <p:sp>
          <p:nvSpPr>
            <p:cNvPr id="30" name="TextBox 30"/>
            <p:cNvSpPr txBox="1"/>
            <p:nvPr/>
          </p:nvSpPr>
          <p:spPr>
            <a:xfrm>
              <a:off x="8185404" y="4785360"/>
              <a:ext cx="29001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Tek kural: yalnızca eğitim verisiyle</a:t>
              </a:r>
              <a:br/>
              <a:r>
                <a:rPr lang="tr-TR" sz="1200" dirty="0">
                  <a:solidFill>
                    <a:srgbClr val="172B3A"/>
                  </a:solidFill>
                  <a:latin typeface="+mn-lt"/>
                  <a:ea typeface="+mn-ea"/>
                  <a:cs typeface="+mn-cs"/>
                </a:rPr>
                <a:t>fit(), geri kalan tüm veriye yalnızca</a:t>
              </a:r>
              <a:br/>
              <a:r>
                <a:rPr lang="tr-TR" sz="1200" dirty="0">
                  <a:solidFill>
                    <a:srgbClr val="172B3A"/>
                  </a:solidFill>
                  <a:latin typeface="+mn-lt"/>
                  <a:ea typeface="+mn-ea"/>
                  <a:cs typeface="+mn-cs"/>
                </a:rPr>
                <a:t>transform(). t-SNE'nin transform'u</a:t>
              </a:r>
              <a:br/>
              <a:r>
                <a:rPr lang="tr-TR" sz="1200" dirty="0">
                  <a:solidFill>
                    <a:srgbClr val="172B3A"/>
                  </a:solidFill>
                  <a:latin typeface="+mn-lt"/>
                  <a:ea typeface="+mn-ea"/>
                  <a:cs typeface="+mn-cs"/>
                </a:rPr>
                <a:t>olmaması bu yüzden özel bir durumdur.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9100319" cy="557403"/>
            <a:chOff x="595122" y="282892"/>
            <a:chExt cx="9100319" cy="557403"/>
          </a:xfrm>
        </p:grpSpPr>
        <p:sp>
          <p:nvSpPr>
            <p:cNvPr id="4" name="TextBox 4"/>
            <p:cNvSpPr txBox="1"/>
            <p:nvPr/>
          </p:nvSpPr>
          <p:spPr>
            <a:xfrm>
              <a:off x="595122" y="282892"/>
              <a:ext cx="910031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Uygulama örneği: OznitelikMuhendisligiPipeline</a:t>
              </a:r>
            </a:p>
          </p:txBody>
        </p:sp>
      </p:grpSp>
      <p:grpSp>
        <p:nvGrpSpPr>
          <p:cNvPr id="22" name="class-diagram"/>
          <p:cNvGrpSpPr/>
          <p:nvPr/>
        </p:nvGrpSpPr>
        <p:grpSpPr>
          <a:xfrm>
            <a:off x="609600" y="1219200"/>
            <a:ext cx="3810000" cy="4343400"/>
            <a:chOff x="609600" y="1219200"/>
            <a:chExt cx="3810000" cy="4343400"/>
          </a:xfrm>
        </p:grpSpPr>
        <p:sp>
          <p:nvSpPr>
            <p:cNvPr id="6" name="Rectangle 6"/>
            <p:cNvSpPr/>
            <p:nvPr/>
          </p:nvSpPr>
          <p:spPr>
            <a:xfrm>
              <a:off x="609600" y="1219200"/>
              <a:ext cx="3810000" cy="4343400"/>
            </a:xfrm>
            <a:prstGeom prst="roundRect">
              <a:avLst>
                <a:gd name="adj" fmla="val 2500"/>
              </a:avLst>
            </a:prstGeom>
            <a:solidFill>
              <a:srgbClr val="12355B"/>
            </a:solidFill>
            <a:ln>
              <a:noFill/>
            </a:ln>
          </p:spPr>
        </p:sp>
        <p:sp>
          <p:nvSpPr>
            <p:cNvPr id="7" name="TextBox 7"/>
            <p:cNvSpPr txBox="1"/>
            <p:nvPr/>
          </p:nvSpPr>
          <p:spPr>
            <a:xfrm>
              <a:off x="1178549" y="1397318"/>
              <a:ext cx="2672102"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OznitelikMuhendisligiPipeline</a:t>
              </a:r>
            </a:p>
          </p:txBody>
        </p:sp>
        <p:sp>
          <p:nvSpPr>
            <p:cNvPr id="8" name="Line 8"/>
            <p:cNvSpPr/>
            <p:nvPr/>
          </p:nvSpPr>
          <p:spPr>
            <a:xfrm>
              <a:off x="838200" y="1695450"/>
              <a:ext cx="3352800" cy="9525"/>
            </a:xfrm>
            <a:custGeom>
              <a:avLst/>
              <a:gdLst/>
              <a:ahLst/>
              <a:cxnLst/>
              <a:rect l="l" t="t" r="r" b="b"/>
              <a:pathLst>
                <a:path w="3352800" h="9525">
                  <a:moveTo>
                    <a:pt x="0" y="0"/>
                  </a:moveTo>
                  <a:lnTo>
                    <a:pt x="3352800" y="0"/>
                  </a:lnTo>
                </a:path>
              </a:pathLst>
            </a:custGeom>
            <a:noFill/>
            <a:ln w="14288">
              <a:solidFill>
                <a:srgbClr val="00A6A6"/>
              </a:solidFill>
            </a:ln>
          </p:spPr>
        </p:sp>
        <p:sp>
          <p:nvSpPr>
            <p:cNvPr id="9" name="TextBox 9"/>
            <p:cNvSpPr txBox="1"/>
            <p:nvPr/>
          </p:nvSpPr>
          <p:spPr>
            <a:xfrm>
              <a:off x="909066" y="1867852"/>
              <a:ext cx="2270534" cy="205359"/>
            </a:xfrm>
            <a:prstGeom prst="rect">
              <a:avLst/>
            </a:prstGeom>
            <a:noFill/>
            <a:ln>
              <a:noFill/>
            </a:ln>
          </p:spPr>
          <p:txBody>
            <a:bodyPr wrap="none" lIns="0" tIns="0" rIns="0" bIns="0" anchor="t" anchorCtr="0">
              <a:spAutoFit/>
            </a:bodyPr>
            <a:lstStyle/>
            <a:p>
              <a:pPr algn="l"/>
              <a:r>
                <a:rPr lang="tr-TR" sz="1050" b="1" dirty="0">
                  <a:solidFill>
                    <a:srgbClr val="00A6A6"/>
                  </a:solidFill>
                  <a:latin typeface="Consolas"/>
                  <a:ea typeface="Consolas"/>
                  <a:cs typeface="Consolas"/>
                </a:rPr>
                <a:t>ozellik_turet(veri, refTarih)</a:t>
              </a:r>
            </a:p>
          </p:txBody>
        </p:sp>
        <p:sp>
          <p:nvSpPr>
            <p:cNvPr id="10" name="TextBox 10"/>
            <p:cNvSpPr txBox="1"/>
            <p:nvPr/>
          </p:nvSpPr>
          <p:spPr>
            <a:xfrm>
              <a:off x="909447" y="2085499"/>
              <a:ext cx="2237726" cy="190690"/>
            </a:xfrm>
            <a:prstGeom prst="rect">
              <a:avLst/>
            </a:prstGeom>
            <a:noFill/>
            <a:ln>
              <a:noFill/>
            </a:ln>
          </p:spPr>
          <p:txBody>
            <a:bodyPr wrap="none" lIns="0" tIns="0" rIns="0" bIns="0" anchor="t" anchorCtr="0">
              <a:spAutoFit/>
            </a:bodyPr>
            <a:lstStyle/>
            <a:p>
              <a:pPr algn="l"/>
              <a:r>
                <a:rPr lang="tr-TR" sz="980" dirty="0">
                  <a:solidFill>
                    <a:srgbClr val="EAF4F6"/>
                  </a:solidFill>
                  <a:latin typeface="+mn-lt"/>
                  <a:ea typeface="+mn-ea"/>
                  <a:cs typeface="+mn-cs"/>
                </a:rPr>
                <a:t>Kıdem (ay) ve ücret oranı türetir</a:t>
              </a:r>
            </a:p>
          </p:txBody>
        </p:sp>
        <p:sp>
          <p:nvSpPr>
            <p:cNvPr id="11" name="TextBox 11"/>
            <p:cNvSpPr txBox="1"/>
            <p:nvPr/>
          </p:nvSpPr>
          <p:spPr>
            <a:xfrm>
              <a:off x="909066" y="2458402"/>
              <a:ext cx="2742297" cy="205359"/>
            </a:xfrm>
            <a:prstGeom prst="rect">
              <a:avLst/>
            </a:prstGeom>
            <a:noFill/>
            <a:ln>
              <a:noFill/>
            </a:ln>
          </p:spPr>
          <p:txBody>
            <a:bodyPr wrap="none" lIns="0" tIns="0" rIns="0" bIns="0" anchor="t" anchorCtr="0">
              <a:spAutoFit/>
            </a:bodyPr>
            <a:lstStyle/>
            <a:p>
              <a:pPr algn="l"/>
              <a:r>
                <a:rPr lang="tr-TR" sz="1050" b="1" dirty="0">
                  <a:solidFill>
                    <a:srgbClr val="00A6A6"/>
                  </a:solidFill>
                  <a:latin typeface="Consolas"/>
                  <a:ea typeface="Consolas"/>
                  <a:cs typeface="Consolas"/>
                </a:rPr>
                <a:t>egit(egitimVerisi, hedef, refTarih)</a:t>
              </a:r>
            </a:p>
          </p:txBody>
        </p:sp>
        <p:sp>
          <p:nvSpPr>
            <p:cNvPr id="12" name="TextBox 12"/>
            <p:cNvSpPr txBox="1"/>
            <p:nvPr/>
          </p:nvSpPr>
          <p:spPr>
            <a:xfrm>
              <a:off x="909447" y="2676049"/>
              <a:ext cx="225462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mn-lt"/>
                  <a:ea typeface="+mn-ea"/>
                  <a:cs typeface="+mn-cs"/>
                </a:rPr>
                <a:t>fit_transform: ölçekle → seç → PCA</a:t>
              </a:r>
            </a:p>
          </p:txBody>
        </p:sp>
        <p:sp>
          <p:nvSpPr>
            <p:cNvPr id="13" name="TextBox 13"/>
            <p:cNvSpPr txBox="1"/>
            <p:nvPr/>
          </p:nvSpPr>
          <p:spPr>
            <a:xfrm>
              <a:off x="909447" y="2866549"/>
              <a:ext cx="2100958" cy="190690"/>
            </a:xfrm>
            <a:prstGeom prst="rect">
              <a:avLst/>
            </a:prstGeom>
            <a:noFill/>
            <a:ln>
              <a:noFill/>
            </a:ln>
          </p:spPr>
          <p:txBody>
            <a:bodyPr wrap="none" lIns="0" tIns="0" rIns="0" bIns="0" anchor="t" anchorCtr="0">
              <a:spAutoFit/>
            </a:bodyPr>
            <a:lstStyle/>
            <a:p>
              <a:pPr algn="l"/>
              <a:r>
                <a:rPr lang="tr-TR" sz="980" dirty="0">
                  <a:solidFill>
                    <a:srgbClr val="EAF4F6"/>
                  </a:solidFill>
                  <a:latin typeface="+mn-lt"/>
                  <a:ea typeface="+mn-ea"/>
                  <a:cs typeface="+mn-cs"/>
                </a:rPr>
                <a:t>yalnızca eğitim verisiyle öğrenir</a:t>
              </a:r>
            </a:p>
          </p:txBody>
        </p:sp>
        <p:sp>
          <p:nvSpPr>
            <p:cNvPr id="14" name="TextBox 14"/>
            <p:cNvSpPr txBox="1"/>
            <p:nvPr/>
          </p:nvSpPr>
          <p:spPr>
            <a:xfrm>
              <a:off x="909066" y="3239452"/>
              <a:ext cx="2197741" cy="205359"/>
            </a:xfrm>
            <a:prstGeom prst="rect">
              <a:avLst/>
            </a:prstGeom>
            <a:noFill/>
            <a:ln>
              <a:noFill/>
            </a:ln>
          </p:spPr>
          <p:txBody>
            <a:bodyPr wrap="none" lIns="0" tIns="0" rIns="0" bIns="0" anchor="t" anchorCtr="0">
              <a:spAutoFit/>
            </a:bodyPr>
            <a:lstStyle/>
            <a:p>
              <a:pPr algn="l"/>
              <a:r>
                <a:rPr lang="tr-TR" sz="1050" b="1" dirty="0">
                  <a:solidFill>
                    <a:srgbClr val="00A6A6"/>
                  </a:solidFill>
                  <a:latin typeface="Consolas"/>
                  <a:ea typeface="Consolas"/>
                  <a:cs typeface="Consolas"/>
                </a:rPr>
                <a:t>uygula(testVerisi, refTarih)</a:t>
              </a:r>
            </a:p>
          </p:txBody>
        </p:sp>
        <p:sp>
          <p:nvSpPr>
            <p:cNvPr id="15" name="TextBox 15"/>
            <p:cNvSpPr txBox="1"/>
            <p:nvPr/>
          </p:nvSpPr>
          <p:spPr>
            <a:xfrm>
              <a:off x="909447" y="3457099"/>
              <a:ext cx="2338428" cy="190690"/>
            </a:xfrm>
            <a:prstGeom prst="rect">
              <a:avLst/>
            </a:prstGeom>
            <a:noFill/>
            <a:ln>
              <a:noFill/>
            </a:ln>
          </p:spPr>
          <p:txBody>
            <a:bodyPr wrap="none" lIns="0" tIns="0" rIns="0" bIns="0" anchor="t" anchorCtr="0">
              <a:spAutoFit/>
            </a:bodyPr>
            <a:lstStyle/>
            <a:p>
              <a:pPr algn="l"/>
              <a:r>
                <a:rPr lang="tr-TR" sz="980" dirty="0">
                  <a:solidFill>
                    <a:srgbClr val="EAF4F6"/>
                  </a:solidFill>
                  <a:latin typeface="+mn-lt"/>
                  <a:ea typeface="+mn-ea"/>
                  <a:cs typeface="+mn-cs"/>
                </a:rPr>
                <a:t>yalnızca transform: aynı eksenlere</a:t>
              </a:r>
            </a:p>
          </p:txBody>
        </p:sp>
        <p:sp>
          <p:nvSpPr>
            <p:cNvPr id="16" name="TextBox 16"/>
            <p:cNvSpPr txBox="1"/>
            <p:nvPr/>
          </p:nvSpPr>
          <p:spPr>
            <a:xfrm>
              <a:off x="909447" y="3647599"/>
              <a:ext cx="1698579" cy="190690"/>
            </a:xfrm>
            <a:prstGeom prst="rect">
              <a:avLst/>
            </a:prstGeom>
            <a:noFill/>
            <a:ln>
              <a:noFill/>
            </a:ln>
          </p:spPr>
          <p:txBody>
            <a:bodyPr wrap="none" lIns="0" tIns="0" rIns="0" bIns="0" anchor="t" anchorCtr="0">
              <a:spAutoFit/>
            </a:bodyPr>
            <a:lstStyle/>
            <a:p>
              <a:pPr algn="l"/>
              <a:r>
                <a:rPr lang="tr-TR" sz="980" dirty="0">
                  <a:solidFill>
                    <a:srgbClr val="EAF4F6"/>
                  </a:solidFill>
                  <a:latin typeface="+mn-lt"/>
                  <a:ea typeface="+mn-ea"/>
                  <a:cs typeface="+mn-cs"/>
                </a:rPr>
                <a:t>izdüşürür, yeniden fit yok</a:t>
              </a:r>
            </a:p>
          </p:txBody>
        </p:sp>
        <p:sp>
          <p:nvSpPr>
            <p:cNvPr id="17" name="TextBox 17"/>
            <p:cNvSpPr txBox="1"/>
            <p:nvPr/>
          </p:nvSpPr>
          <p:spPr>
            <a:xfrm>
              <a:off x="909066" y="4020502"/>
              <a:ext cx="2498446" cy="205359"/>
            </a:xfrm>
            <a:prstGeom prst="rect">
              <a:avLst/>
            </a:prstGeom>
            <a:noFill/>
            <a:ln>
              <a:noFill/>
            </a:ln>
          </p:spPr>
          <p:txBody>
            <a:bodyPr wrap="none" lIns="0" tIns="0" rIns="0" bIns="0" anchor="t" anchorCtr="0">
              <a:spAutoFit/>
            </a:bodyPr>
            <a:lstStyle/>
            <a:p>
              <a:pPr algn="l"/>
              <a:r>
                <a:rPr lang="tr-TR" sz="1050" b="1" dirty="0">
                  <a:solidFill>
                    <a:srgbClr val="00A6A6"/>
                  </a:solidFill>
                  <a:latin typeface="Consolas"/>
                  <a:ea typeface="Consolas"/>
                  <a:cs typeface="Consolas"/>
                </a:rPr>
                <a:t>gorsellestirme_icin_izdusum(...)</a:t>
              </a:r>
            </a:p>
          </p:txBody>
        </p:sp>
        <p:sp>
          <p:nvSpPr>
            <p:cNvPr id="18" name="TextBox 18"/>
            <p:cNvSpPr txBox="1"/>
            <p:nvPr/>
          </p:nvSpPr>
          <p:spPr>
            <a:xfrm>
              <a:off x="909447" y="4238149"/>
              <a:ext cx="2471033" cy="190690"/>
            </a:xfrm>
            <a:prstGeom prst="rect">
              <a:avLst/>
            </a:prstGeom>
            <a:noFill/>
            <a:ln>
              <a:noFill/>
            </a:ln>
          </p:spPr>
          <p:txBody>
            <a:bodyPr wrap="none" lIns="0" tIns="0" rIns="0" bIns="0" anchor="t" anchorCtr="0">
              <a:spAutoFit/>
            </a:bodyPr>
            <a:lstStyle/>
            <a:p>
              <a:pPr algn="l"/>
              <a:r>
                <a:rPr lang="tr-TR" sz="980" dirty="0">
                  <a:solidFill>
                    <a:srgbClr val="EAF4F6"/>
                  </a:solidFill>
                  <a:latin typeface="+mn-lt"/>
                  <a:ea typeface="+mn-ea"/>
                  <a:cs typeface="+mn-cs"/>
                </a:rPr>
                <a:t>t-SNE ile 2B; eğitim/test ayrımı yok,</a:t>
              </a:r>
            </a:p>
          </p:txBody>
        </p:sp>
        <p:sp>
          <p:nvSpPr>
            <p:cNvPr id="19" name="TextBox 19"/>
            <p:cNvSpPr txBox="1"/>
            <p:nvPr/>
          </p:nvSpPr>
          <p:spPr>
            <a:xfrm>
              <a:off x="909447" y="4428649"/>
              <a:ext cx="1494092" cy="190690"/>
            </a:xfrm>
            <a:prstGeom prst="rect">
              <a:avLst/>
            </a:prstGeom>
            <a:noFill/>
            <a:ln>
              <a:noFill/>
            </a:ln>
          </p:spPr>
          <p:txBody>
            <a:bodyPr wrap="none" lIns="0" tIns="0" rIns="0" bIns="0" anchor="t" anchorCtr="0">
              <a:spAutoFit/>
            </a:bodyPr>
            <a:lstStyle/>
            <a:p>
              <a:pPr algn="l"/>
              <a:r>
                <a:rPr lang="tr-TR" sz="980" dirty="0">
                  <a:solidFill>
                    <a:srgbClr val="EAF4F6"/>
                  </a:solidFill>
                  <a:latin typeface="+mn-lt"/>
                  <a:ea typeface="+mn-ea"/>
                  <a:cs typeface="+mn-cs"/>
                </a:rPr>
                <a:t>yalnızca gözlem amaçlı</a:t>
              </a:r>
            </a:p>
          </p:txBody>
        </p:sp>
        <p:sp>
          <p:nvSpPr>
            <p:cNvPr id="20" name="Rectangle 20"/>
            <p:cNvSpPr/>
            <p:nvPr/>
          </p:nvSpPr>
          <p:spPr>
            <a:xfrm>
              <a:off x="838200" y="4762500"/>
              <a:ext cx="3352800" cy="571500"/>
            </a:xfrm>
            <a:prstGeom prst="roundRect">
              <a:avLst>
                <a:gd name="adj" fmla="val 10000"/>
              </a:avLst>
            </a:prstGeom>
            <a:solidFill>
              <a:srgbClr val="00A6A6"/>
            </a:solidFill>
            <a:ln>
              <a:noFill/>
            </a:ln>
          </p:spPr>
        </p:sp>
        <p:sp>
          <p:nvSpPr>
            <p:cNvPr id="21" name="TextBox 21"/>
            <p:cNvSpPr txBox="1"/>
            <p:nvPr/>
          </p:nvSpPr>
          <p:spPr>
            <a:xfrm>
              <a:off x="1579150" y="4992052"/>
              <a:ext cx="1870901" cy="205359"/>
            </a:xfrm>
            <a:prstGeom prst="rect">
              <a:avLst/>
            </a:prstGeom>
            <a:noFill/>
            <a:ln>
              <a:noFill/>
            </a:ln>
          </p:spPr>
          <p:txBody>
            <a:bodyPr wrap="none" lIns="0" tIns="0" rIns="0" bIns="0" anchor="t" anchorCtr="0">
              <a:spAutoFit/>
            </a:bodyPr>
            <a:lstStyle/>
            <a:p>
              <a:pPr algn="ctr"/>
              <a:r>
                <a:rPr lang="tr-TR" sz="1050" b="1" dirty="0">
                  <a:solidFill>
                    <a:srgbClr val="12355B"/>
                  </a:solidFill>
                  <a:latin typeface="+mn-lt"/>
                  <a:ea typeface="+mn-ea"/>
                  <a:cs typeface="+mn-cs"/>
                </a:rPr>
                <a:t>Üç metot, üç ayrı disiplin</a:t>
              </a:r>
            </a:p>
          </p:txBody>
        </p:sp>
      </p:grpSp>
      <p:grpSp>
        <p:nvGrpSpPr>
          <p:cNvPr id="39" name="code-flow"/>
          <p:cNvGrpSpPr/>
          <p:nvPr/>
        </p:nvGrpSpPr>
        <p:grpSpPr>
          <a:xfrm>
            <a:off x="4648200" y="1219200"/>
            <a:ext cx="6934200" cy="4343400"/>
            <a:chOff x="4648200" y="1219200"/>
            <a:chExt cx="6934200" cy="4343400"/>
          </a:xfrm>
        </p:grpSpPr>
        <p:sp>
          <p:nvSpPr>
            <p:cNvPr id="23" name="Rectangle 23"/>
            <p:cNvSpPr/>
            <p:nvPr/>
          </p:nvSpPr>
          <p:spPr>
            <a:xfrm>
              <a:off x="4648200" y="1219200"/>
              <a:ext cx="6934200" cy="4343400"/>
            </a:xfrm>
            <a:prstGeom prst="roundRect">
              <a:avLst>
                <a:gd name="adj" fmla="val 2193"/>
              </a:avLst>
            </a:prstGeom>
            <a:solidFill>
              <a:srgbClr val="FFFFFF"/>
            </a:solidFill>
            <a:ln w="14288">
              <a:solidFill>
                <a:srgbClr val="B8CBD3"/>
              </a:solidFill>
            </a:ln>
          </p:spPr>
        </p:sp>
        <p:sp>
          <p:nvSpPr>
            <p:cNvPr id="24" name="TextBox 24"/>
            <p:cNvSpPr txBox="1"/>
            <p:nvPr/>
          </p:nvSpPr>
          <p:spPr>
            <a:xfrm>
              <a:off x="4869942" y="1378268"/>
              <a:ext cx="341992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egit() içindeki sıra (yalnızca train)</a:t>
              </a:r>
            </a:p>
          </p:txBody>
        </p:sp>
        <p:sp>
          <p:nvSpPr>
            <p:cNvPr id="25" name="TextBox 25"/>
            <p:cNvSpPr txBox="1"/>
            <p:nvPr/>
          </p:nvSpPr>
          <p:spPr>
            <a:xfrm>
              <a:off x="4871466" y="1715452"/>
              <a:ext cx="390829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Consolas"/>
                  <a:ea typeface="Consolas"/>
                  <a:cs typeface="Consolas"/>
                </a:rPr>
                <a:t>turetilmis = ozellik_turet(egitimVerisi, refTarih)</a:t>
              </a:r>
            </a:p>
          </p:txBody>
        </p:sp>
        <p:sp>
          <p:nvSpPr>
            <p:cNvPr id="26" name="TextBox 26"/>
            <p:cNvSpPr txBox="1"/>
            <p:nvPr/>
          </p:nvSpPr>
          <p:spPr>
            <a:xfrm>
              <a:off x="4871466" y="1982152"/>
              <a:ext cx="4058392"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Consolas"/>
                  <a:ea typeface="Consolas"/>
                  <a:cs typeface="Consolas"/>
                </a:rPr>
                <a:t>olcekli = olcekleyici.fit_transform(sayisalSutunlar)</a:t>
              </a:r>
            </a:p>
          </p:txBody>
        </p:sp>
        <p:sp>
          <p:nvSpPr>
            <p:cNvPr id="27" name="TextBox 27"/>
            <p:cNvSpPr txBox="1"/>
            <p:nvPr/>
          </p:nvSpPr>
          <p:spPr>
            <a:xfrm>
              <a:off x="4871466" y="2248852"/>
              <a:ext cx="421407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Consolas"/>
                  <a:ea typeface="Consolas"/>
                  <a:cs typeface="Consolas"/>
                </a:rPr>
                <a:t>secili = oznitelikSecici.fit_transform(olcekli, hedef)</a:t>
              </a:r>
            </a:p>
          </p:txBody>
        </p:sp>
        <p:sp>
          <p:nvSpPr>
            <p:cNvPr id="28" name="TextBox 28"/>
            <p:cNvSpPr txBox="1"/>
            <p:nvPr/>
          </p:nvSpPr>
          <p:spPr>
            <a:xfrm>
              <a:off x="4871466" y="2515552"/>
              <a:ext cx="344182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Consolas"/>
                  <a:ea typeface="Consolas"/>
                  <a:cs typeface="Consolas"/>
                </a:rPr>
                <a:t>pcaCiktisi = pcaModeli.fit_transform(secili)</a:t>
              </a:r>
            </a:p>
          </p:txBody>
        </p:sp>
        <p:sp>
          <p:nvSpPr>
            <p:cNvPr id="29" name="Line 29"/>
            <p:cNvSpPr/>
            <p:nvPr/>
          </p:nvSpPr>
          <p:spPr>
            <a:xfrm>
              <a:off x="4876800" y="2857500"/>
              <a:ext cx="6477000" cy="9525"/>
            </a:xfrm>
            <a:custGeom>
              <a:avLst/>
              <a:gdLst/>
              <a:ahLst/>
              <a:cxnLst/>
              <a:rect l="l" t="t" r="r" b="b"/>
              <a:pathLst>
                <a:path w="6477000" h="9525">
                  <a:moveTo>
                    <a:pt x="0" y="0"/>
                  </a:moveTo>
                  <a:lnTo>
                    <a:pt x="6477000" y="0"/>
                  </a:lnTo>
                </a:path>
              </a:pathLst>
            </a:custGeom>
            <a:noFill/>
            <a:ln w="9525">
              <a:solidFill>
                <a:srgbClr val="B8CBD3"/>
              </a:solidFill>
            </a:ln>
          </p:spPr>
        </p:sp>
        <p:sp>
          <p:nvSpPr>
            <p:cNvPr id="30" name="TextBox 30"/>
            <p:cNvSpPr txBox="1"/>
            <p:nvPr/>
          </p:nvSpPr>
          <p:spPr>
            <a:xfrm>
              <a:off x="4869942" y="3016568"/>
              <a:ext cx="357258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uygula() içindeki sıra (yalnızca test)</a:t>
              </a:r>
            </a:p>
          </p:txBody>
        </p:sp>
        <p:sp>
          <p:nvSpPr>
            <p:cNvPr id="31" name="TextBox 31"/>
            <p:cNvSpPr txBox="1"/>
            <p:nvPr/>
          </p:nvSpPr>
          <p:spPr>
            <a:xfrm>
              <a:off x="4871466" y="3353752"/>
              <a:ext cx="374736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Consolas"/>
                  <a:ea typeface="Consolas"/>
                  <a:cs typeface="Consolas"/>
                </a:rPr>
                <a:t>olcekli = olcekleyici.transform(sayisalSutunlar)</a:t>
              </a:r>
            </a:p>
          </p:txBody>
        </p:sp>
        <p:sp>
          <p:nvSpPr>
            <p:cNvPr id="32" name="TextBox 32"/>
            <p:cNvSpPr txBox="1"/>
            <p:nvPr/>
          </p:nvSpPr>
          <p:spPr>
            <a:xfrm>
              <a:off x="4871466" y="3620452"/>
              <a:ext cx="335873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Consolas"/>
                  <a:ea typeface="Consolas"/>
                  <a:cs typeface="Consolas"/>
                </a:rPr>
                <a:t>secili = oznitelikSecici.transform(olcekli)</a:t>
              </a:r>
            </a:p>
          </p:txBody>
        </p:sp>
        <p:sp>
          <p:nvSpPr>
            <p:cNvPr id="33" name="TextBox 33"/>
            <p:cNvSpPr txBox="1"/>
            <p:nvPr/>
          </p:nvSpPr>
          <p:spPr>
            <a:xfrm>
              <a:off x="4871466" y="3887152"/>
              <a:ext cx="313074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Consolas"/>
                  <a:ea typeface="Consolas"/>
                  <a:cs typeface="Consolas"/>
                </a:rPr>
                <a:t>pcaCiktisi = pcaModeli.transform(secili)</a:t>
              </a:r>
            </a:p>
          </p:txBody>
        </p:sp>
        <p:sp>
          <p:nvSpPr>
            <p:cNvPr id="34" name="Rectangle 34"/>
            <p:cNvSpPr/>
            <p:nvPr/>
          </p:nvSpPr>
          <p:spPr>
            <a:xfrm>
              <a:off x="4876800" y="4267200"/>
              <a:ext cx="6477000" cy="1066800"/>
            </a:xfrm>
            <a:prstGeom prst="roundRect">
              <a:avLst>
                <a:gd name="adj" fmla="val 7143"/>
              </a:avLst>
            </a:prstGeom>
            <a:solidFill>
              <a:srgbClr val="EAF4F6"/>
            </a:solidFill>
            <a:ln>
              <a:noFill/>
            </a:ln>
          </p:spPr>
        </p:sp>
        <p:sp>
          <p:nvSpPr>
            <p:cNvPr id="35" name="TextBox 35"/>
            <p:cNvSpPr txBox="1"/>
            <p:nvPr/>
          </p:nvSpPr>
          <p:spPr>
            <a:xfrm>
              <a:off x="5099304" y="4423410"/>
              <a:ext cx="123878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Beklenen çıktı</a:t>
              </a:r>
            </a:p>
          </p:txBody>
        </p:sp>
        <p:sp>
          <p:nvSpPr>
            <p:cNvPr id="36" name="TextBox 36"/>
            <p:cNvSpPr txBox="1"/>
            <p:nvPr/>
          </p:nvSpPr>
          <p:spPr>
            <a:xfrm>
              <a:off x="5099685" y="4660106"/>
              <a:ext cx="425345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Eğitim ve test PCA çıktısı aynı sütun sayısına sahiptir,</a:t>
              </a:r>
            </a:p>
          </p:txBody>
        </p:sp>
        <p:sp>
          <p:nvSpPr>
            <p:cNvPr id="37" name="TextBox 37"/>
            <p:cNvSpPr txBox="1"/>
            <p:nvPr/>
          </p:nvSpPr>
          <p:spPr>
            <a:xfrm>
              <a:off x="5099685" y="4869656"/>
              <a:ext cx="424065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yalnızca satır sayısı (300 / 100) farklıdır — çünkü test</a:t>
              </a:r>
            </a:p>
          </p:txBody>
        </p:sp>
        <p:sp>
          <p:nvSpPr>
            <p:cNvPr id="38" name="TextBox 38"/>
            <p:cNvSpPr txBox="1"/>
            <p:nvPr/>
          </p:nvSpPr>
          <p:spPr>
            <a:xfrm>
              <a:off x="5099685" y="5079206"/>
              <a:ext cx="390894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verisi eğitimde öğrenilen aynı eksenlere izdüşürülür.</a:t>
              </a:r>
            </a:p>
          </p:txBody>
        </p:sp>
      </p:grpSp>
      <p:grpSp>
        <p:nvGrpSpPr>
          <p:cNvPr id="42" name="bottom-note"/>
          <p:cNvGrpSpPr/>
          <p:nvPr/>
        </p:nvGrpSpPr>
        <p:grpSpPr>
          <a:xfrm>
            <a:off x="609600" y="5676900"/>
            <a:ext cx="10972800" cy="457200"/>
            <a:chOff x="609600" y="5676900"/>
            <a:chExt cx="10972800" cy="457200"/>
          </a:xfrm>
        </p:grpSpPr>
        <p:sp>
          <p:nvSpPr>
            <p:cNvPr id="40" name="Rectangle 40"/>
            <p:cNvSpPr/>
            <p:nvPr/>
          </p:nvSpPr>
          <p:spPr>
            <a:xfrm>
              <a:off x="609600" y="5676900"/>
              <a:ext cx="10972800" cy="457200"/>
            </a:xfrm>
            <a:prstGeom prst="roundRect">
              <a:avLst>
                <a:gd name="adj" fmla="val 16667"/>
              </a:avLst>
            </a:prstGeom>
            <a:solidFill>
              <a:srgbClr val="12355B"/>
            </a:solidFill>
            <a:ln>
              <a:noFill/>
            </a:ln>
          </p:spPr>
        </p:sp>
        <p:sp>
          <p:nvSpPr>
            <p:cNvPr id="41" name="TextBox 41"/>
            <p:cNvSpPr txBox="1"/>
            <p:nvPr/>
          </p:nvSpPr>
          <p:spPr>
            <a:xfrm>
              <a:off x="908304" y="5833110"/>
              <a:ext cx="6534981"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t-SNE metodu ayrı tutulur: pipeline'ın model-hazır çıktısına asla karışmaz.</a:t>
              </a:r>
            </a:p>
          </p:txBody>
        </p:sp>
      </p:grpSp>
      <p:sp>
        <p:nvSpPr>
          <p:cNvPr id="43" name="TextBox 4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fe"/>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236603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Özellik mühendisliği</a:t>
              </a:r>
            </a:p>
          </p:txBody>
        </p:sp>
        <p:sp>
          <p:nvSpPr>
            <p:cNvPr id="8" name="TextBox 8"/>
            <p:cNvSpPr txBox="1"/>
            <p:nvPr/>
          </p:nvSpPr>
          <p:spPr>
            <a:xfrm>
              <a:off x="832104" y="1908810"/>
              <a:ext cx="19705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Tarih, oran ve etkileşim</a:t>
              </a:r>
              <a:br/>
              <a:r>
                <a:rPr lang="tr-TR" sz="1200" dirty="0">
                  <a:solidFill>
                    <a:srgbClr val="172B3A"/>
                  </a:solidFill>
                  <a:latin typeface="+mn-lt"/>
                  <a:ea typeface="+mn-ea"/>
                  <a:cs typeface="+mn-cs"/>
                </a:rPr>
                <a:t>türetimiyle örtük ilişkileri</a:t>
              </a:r>
              <a:br/>
              <a:r>
                <a:rPr lang="tr-TR" sz="1200" dirty="0">
                  <a:solidFill>
                    <a:srgbClr val="172B3A"/>
                  </a:solidFill>
                  <a:latin typeface="+mn-lt"/>
                  <a:ea typeface="+mn-ea"/>
                  <a:cs typeface="+mn-cs"/>
                </a:rPr>
                <a:t>açık sütuna çevirir.</a:t>
              </a:r>
            </a:p>
          </p:txBody>
        </p:sp>
      </p:grpSp>
      <p:grpSp>
        <p:nvGrpSpPr>
          <p:cNvPr id="13" name="summary-pca"/>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46186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PCA</a:t>
              </a:r>
            </a:p>
          </p:txBody>
        </p:sp>
        <p:sp>
          <p:nvSpPr>
            <p:cNvPr id="12" name="TextBox 12"/>
            <p:cNvSpPr txBox="1"/>
            <p:nvPr/>
          </p:nvSpPr>
          <p:spPr>
            <a:xfrm>
              <a:off x="4565904" y="1908810"/>
              <a:ext cx="21991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Kovaryans matrisinin özdeğer</a:t>
              </a:r>
              <a:br/>
              <a:r>
                <a:rPr lang="tr-TR" sz="1200" dirty="0">
                  <a:solidFill>
                    <a:srgbClr val="172B3A"/>
                  </a:solidFill>
                  <a:latin typeface="+mn-lt"/>
                  <a:ea typeface="+mn-ea"/>
                  <a:cs typeface="+mn-cs"/>
                </a:rPr>
                <a:t>ayrışımıyla varyansı en çok</a:t>
              </a:r>
              <a:br/>
              <a:r>
                <a:rPr lang="tr-TR" sz="1200" dirty="0">
                  <a:solidFill>
                    <a:srgbClr val="172B3A"/>
                  </a:solidFill>
                  <a:latin typeface="+mn-lt"/>
                  <a:ea typeface="+mn-ea"/>
                  <a:cs typeface="+mn-cs"/>
                </a:rPr>
                <a:t>açıklayan eksenleri bulur.</a:t>
              </a:r>
            </a:p>
          </p:txBody>
        </p:sp>
      </p:grpSp>
      <p:grpSp>
        <p:nvGrpSpPr>
          <p:cNvPr id="17" name="summary-secim"/>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165374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Özellik seçimi</a:t>
              </a:r>
            </a:p>
          </p:txBody>
        </p:sp>
        <p:sp>
          <p:nvSpPr>
            <p:cNvPr id="16" name="TextBox 16"/>
            <p:cNvSpPr txBox="1"/>
            <p:nvPr/>
          </p:nvSpPr>
          <p:spPr>
            <a:xfrm>
              <a:off x="8299704" y="1908810"/>
              <a:ext cx="22067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Filtre hızlı ama etkileşimsiz,</a:t>
              </a:r>
              <a:br/>
              <a:r>
                <a:rPr lang="tr-TR" sz="1200" dirty="0">
                  <a:solidFill>
                    <a:srgbClr val="172B3A"/>
                  </a:solidFill>
                  <a:latin typeface="+mn-lt"/>
                  <a:ea typeface="+mn-ea"/>
                  <a:cs typeface="+mn-cs"/>
                </a:rPr>
                <a:t>sarmalayıcı yavaş ama</a:t>
              </a:r>
              <a:br/>
              <a:r>
                <a:rPr lang="tr-TR" sz="1200" dirty="0">
                  <a:solidFill>
                    <a:srgbClr val="172B3A"/>
                  </a:solidFill>
                  <a:latin typeface="+mn-lt"/>
                  <a:ea typeface="+mn-ea"/>
                  <a:cs typeface="+mn-cs"/>
                </a:rPr>
                <a:t>model-duyarlıdır.</a:t>
              </a:r>
            </a:p>
          </p:txBody>
        </p:sp>
      </p:grpSp>
      <p:grpSp>
        <p:nvGrpSpPr>
          <p:cNvPr id="21" name="summary-tsne"/>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74767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t-SNE</a:t>
              </a:r>
            </a:p>
          </p:txBody>
        </p:sp>
        <p:sp>
          <p:nvSpPr>
            <p:cNvPr id="20" name="TextBox 20"/>
            <p:cNvSpPr txBox="1"/>
            <p:nvPr/>
          </p:nvSpPr>
          <p:spPr>
            <a:xfrm>
              <a:off x="832104" y="3718560"/>
              <a:ext cx="19324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Yalnızca görselleştirme;</a:t>
              </a:r>
              <a:br/>
              <a:r>
                <a:rPr lang="tr-TR" sz="1200" dirty="0">
                  <a:solidFill>
                    <a:srgbClr val="172B3A"/>
                  </a:solidFill>
                  <a:latin typeface="+mn-lt"/>
                  <a:ea typeface="+mn-ea"/>
                  <a:cs typeface="+mn-cs"/>
                </a:rPr>
                <a:t>transform desteklemeyen</a:t>
              </a:r>
              <a:br/>
              <a:r>
                <a:rPr lang="tr-TR" sz="1200" dirty="0">
                  <a:solidFill>
                    <a:srgbClr val="172B3A"/>
                  </a:solidFill>
                  <a:latin typeface="+mn-lt"/>
                  <a:ea typeface="+mn-ea"/>
                  <a:cs typeface="+mn-cs"/>
                </a:rPr>
                <a:t>doğrusal olmayan yöntem.</a:t>
              </a:r>
            </a:p>
          </p:txBody>
        </p:sp>
      </p:grpSp>
      <p:grpSp>
        <p:nvGrpSpPr>
          <p:cNvPr id="25" name="summary-fit"/>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284248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fit/transform disiplini</a:t>
              </a:r>
            </a:p>
          </p:txBody>
        </p:sp>
        <p:sp>
          <p:nvSpPr>
            <p:cNvPr id="24" name="TextBox 24"/>
            <p:cNvSpPr txBox="1"/>
            <p:nvPr/>
          </p:nvSpPr>
          <p:spPr>
            <a:xfrm>
              <a:off x="4565904" y="3718560"/>
              <a:ext cx="19248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Tüm dönüşümler yalnızca</a:t>
              </a:r>
              <a:br/>
              <a:r>
                <a:rPr lang="tr-TR" sz="1200" dirty="0">
                  <a:solidFill>
                    <a:srgbClr val="172B3A"/>
                  </a:solidFill>
                  <a:latin typeface="+mn-lt"/>
                  <a:ea typeface="+mn-ea"/>
                  <a:cs typeface="+mn-cs"/>
                </a:rPr>
                <a:t>eğitim verisiyle öğrenilir,</a:t>
              </a:r>
              <a:br/>
              <a:r>
                <a:rPr lang="tr-TR" sz="1200" dirty="0">
                  <a:solidFill>
                    <a:srgbClr val="172B3A"/>
                  </a:solidFill>
                  <a:latin typeface="+mn-lt"/>
                  <a:ea typeface="+mn-ea"/>
                  <a:cs typeface="+mn-cs"/>
                </a:rPr>
                <a:t>test verisine uygulanır.</a:t>
              </a:r>
            </a:p>
          </p:txBody>
        </p:sp>
      </p:grpSp>
      <p:grpSp>
        <p:nvGrpSpPr>
          <p:cNvPr id="29" name="summary-sonraki"/>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143837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Kalan sorun</a:t>
              </a:r>
            </a:p>
          </p:txBody>
        </p:sp>
        <p:sp>
          <p:nvSpPr>
            <p:cNvPr id="28" name="TextBox 28"/>
            <p:cNvSpPr txBox="1"/>
            <p:nvPr/>
          </p:nvSpPr>
          <p:spPr>
            <a:xfrm>
              <a:off x="8299704" y="3718560"/>
              <a:ext cx="16809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Zengin öznitelikler bile</a:t>
              </a:r>
              <a:br/>
              <a:r>
                <a:rPr lang="tr-TR" sz="1200" dirty="0">
                  <a:solidFill>
                    <a:srgbClr val="172B3A"/>
                  </a:solidFill>
                  <a:latin typeface="+mn-lt"/>
                  <a:ea typeface="+mn-ea"/>
                  <a:cs typeface="+mn-cs"/>
                </a:rPr>
                <a:t>sınıf dengesizliğini</a:t>
              </a:r>
              <a:br/>
              <a:r>
                <a:rPr lang="tr-TR" sz="1200" dirty="0">
                  <a:solidFill>
                    <a:srgbClr val="172B3A"/>
                  </a:solidFill>
                  <a:latin typeface="+mn-lt"/>
                  <a:ea typeface="+mn-ea"/>
                  <a:cs typeface="+mn-cs"/>
                </a:rPr>
                <a:t>çözmez.</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798486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"PCA sıkıştırır, özellik seçimi eler, t-SNE yalnızca gösterir."</a:t>
              </a:r>
            </a:p>
          </p:txBody>
        </p:sp>
        <p:sp>
          <p:nvSpPr>
            <p:cNvPr id="32" name="TextBox 32"/>
            <p:cNvSpPr txBox="1"/>
            <p:nvPr/>
          </p:nvSpPr>
          <p:spPr>
            <a:xfrm>
              <a:off x="906399" y="5583079"/>
              <a:ext cx="860537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Üçü birbirinin yerine geçmez; ortak kural aynı kalır: yalnızca eğitim verisiyle fit.</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10606850" cy="724281"/>
            <a:chOff x="599694" y="1484948"/>
            <a:chExt cx="10606850" cy="724281"/>
          </a:xfrm>
        </p:grpSpPr>
        <p:sp>
          <p:nvSpPr>
            <p:cNvPr id="7" name="TextBox 7"/>
            <p:cNvSpPr txBox="1"/>
            <p:nvPr/>
          </p:nvSpPr>
          <p:spPr>
            <a:xfrm>
              <a:off x="599694" y="1484948"/>
              <a:ext cx="10606850"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Veri artık öznitelik açısından zenginleştirilmiş ve gereksiz boyutlardan arındırılmış —</a:t>
              </a:r>
              <a:br/>
              <a:r>
                <a:rPr lang="tr-TR" sz="1950" dirty="0">
                  <a:solidFill>
                    <a:srgbClr val="172B3A"/>
                  </a:solidFill>
                  <a:latin typeface="+mn-lt"/>
                  <a:ea typeface="+mn-ea"/>
                  <a:cs typeface="+mn-cs"/>
                </a:rPr>
                <a:t>ama model hâlâ başka bir yapısal soruna hazırlıksız: sınıf dengesizliği.</a:t>
              </a:r>
            </a:p>
          </p:txBody>
        </p:sp>
      </p:grpSp>
      <p:grpSp>
        <p:nvGrpSpPr>
          <p:cNvPr id="14" name="bridge-now"/>
          <p:cNvGrpSpPr/>
          <p:nvPr/>
        </p:nvGrpSpPr>
        <p:grpSpPr>
          <a:xfrm>
            <a:off x="599694" y="2799398"/>
            <a:ext cx="2934335" cy="1834419"/>
            <a:chOff x="599694" y="2799398"/>
            <a:chExt cx="2934335"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684780"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Öznitelik türetip PCA/seçim</a:t>
              </a:r>
              <a:br/>
              <a:r>
                <a:rPr lang="tr-TR" sz="1580" dirty="0">
                  <a:solidFill>
                    <a:srgbClr val="172B3A"/>
                  </a:solidFill>
                  <a:latin typeface="+mn-lt"/>
                  <a:ea typeface="+mn-ea"/>
                  <a:cs typeface="+mn-cs"/>
                </a:rPr>
                <a:t>ile boyutu indirgemek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614549"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fit/transform disiplinini</a:t>
              </a:r>
              <a:br/>
              <a:r>
                <a:rPr lang="tr-TR" sz="1580" dirty="0">
                  <a:solidFill>
                    <a:srgbClr val="172B3A"/>
                  </a:solidFill>
                  <a:latin typeface="+mn-lt"/>
                  <a:ea typeface="+mn-ea"/>
                  <a:cs typeface="+mn-cs"/>
                </a:rPr>
                <a:t>veri sızıntısız uygulamak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2312640"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 (11)</a:t>
              </a:r>
            </a:p>
          </p:txBody>
        </p:sp>
        <p:sp>
          <p:nvSpPr>
            <p:cNvPr id="17" name="TextBox 17"/>
            <p:cNvSpPr txBox="1"/>
            <p:nvPr/>
          </p:nvSpPr>
          <p:spPr>
            <a:xfrm>
              <a:off x="7303770" y="3319462"/>
              <a:ext cx="1943100"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Dengesiz Veri</a:t>
              </a:r>
              <a:br/>
              <a:r>
                <a:rPr lang="tr-TR" sz="2250" b="1" dirty="0">
                  <a:solidFill>
                    <a:srgbClr val="FFFFFF"/>
                  </a:solidFill>
                  <a:latin typeface="+mn-lt"/>
                  <a:ea typeface="+mn-ea"/>
                  <a:cs typeface="+mn-cs"/>
                </a:rPr>
                <a:t>ve Tuzaklar</a:t>
              </a:r>
            </a:p>
          </p:txBody>
        </p:sp>
        <p:sp>
          <p:nvSpPr>
            <p:cNvPr id="18" name="TextBox 18"/>
            <p:cNvSpPr txBox="1"/>
            <p:nvPr/>
          </p:nvSpPr>
          <p:spPr>
            <a:xfrm>
              <a:off x="7307199" y="4135279"/>
              <a:ext cx="3407156"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Azınlık sınıfın (churn) modele</a:t>
              </a:r>
              <a:br/>
              <a:r>
                <a:rPr lang="tr-TR" sz="1580" dirty="0">
                  <a:solidFill>
                    <a:srgbClr val="EAF4F6"/>
                  </a:solidFill>
                  <a:latin typeface="+mn-lt"/>
                  <a:ea typeface="+mn-ea"/>
                  <a:cs typeface="+mn-cs"/>
                </a:rPr>
                <a:t>yanlı öğrenmesini ele alacaksınız.</a:t>
              </a:r>
            </a:p>
          </p:txBody>
        </p:sp>
      </p:grpSp>
      <p:grpSp>
        <p:nvGrpSpPr>
          <p:cNvPr id="22" name="bridge-closing"/>
          <p:cNvGrpSpPr/>
          <p:nvPr/>
        </p:nvGrpSpPr>
        <p:grpSpPr>
          <a:xfrm>
            <a:off x="609600" y="5429250"/>
            <a:ext cx="10972800" cy="729234"/>
            <a:chOff x="609600" y="5429250"/>
            <a:chExt cx="10972800" cy="729234"/>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8935402"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"Yalnızca eğitim verisinden öğren" kuralı, sınıf dengeleme tekniklerinde de</a:t>
              </a:r>
              <a:br/>
              <a:r>
                <a:rPr lang="tr-TR" sz="1800" b="1" dirty="0">
                  <a:solidFill>
                    <a:srgbClr val="12355B"/>
                  </a:solidFill>
                  <a:latin typeface="+mn-lt"/>
                  <a:ea typeface="+mn-ea"/>
                  <a:cs typeface="+mn-cs"/>
                </a:rPr>
                <a:t>aynı disiplinle geçerli olacak.</a:t>
              </a:r>
            </a:p>
          </p:txBody>
        </p:sp>
      </p:grpSp>
      <p:sp>
        <p:nvSpPr>
          <p:cNvPr id="23" name="TextBox 2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h04_boyut_indirgeme_ozellik_muhendisligi-20260916">
  <a:themeElements>
    <a:clrScheme name="ch04_boyut_indirgeme_ozellik_muhendisligi-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4_boyut_indirgeme_ozellik_muhendisligi-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4_boyut_indirgeme_ozellik_muhendisligi-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04_boyut_indirgeme_ozellik_muhendisligi-20260916">
  <a:themeElements>
    <a:clrScheme name="ch04_boyut_indirgeme_ozellik_muhendisligi-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4_boyut_indirgeme_ozellik_muhendisligi-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4_boyut_indirgeme_ozellik_muhendisligi-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2026-09-19T21:22:31Z</dcterms:created>
  <dcterms:modified xsi:type="dcterms:W3CDTF">2026-09-19T21:22:31Z</dcterms:modified>
  <cp:category/>
  <cp:contentStatus/>
</cp:coreProperties>
</file>