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gerçek dünya makine öğrenmesi projelerinde en sık karşılaşılan iki sorunu birlikte ele alır: sınıfların dengesiz dağıldığı veri kümeleri ve modelin performansını yapay biçimde şişiren veri sızıntısı tuzakları. Churn tahmini, dolandırıcılık tespiti ve üretim hattı arıza tespiti gibi örnekler üzerinden, yalnızca doğruluk oranına bakmanın neden yanıltıcı olduğunu ve SMOTE, class_weight, imblearn Pipeline gibi araçların doğru sırayla nasıl kullanılması gerektiğini göreceğiz. Amaç, sayısal olarak yüksek görünen ama iş değeri taşımayan modeller üretmek yerine, azınlık sınıfın gerçekten yakalandığı ve sonuçların güvenilir biçimde ölçüldüğü bir çalışma disiplini kazandırmaktır.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örnek — müşteri kaybı, dolandırıcılık ve üretim hattı arızası — ortak bir yapıyı paylaşır: azınlık sınıfı sayıca çok küçüktür ama kararın maliyeti çoğunluk sınıfından kat kat yüksektir. Müşteri kaybında yüzde doksan dört gibi yüksek görünen bir doğruluk, aslında modelin her müşteriye "ayrılmayacak" demesinden kaynaklanabilir; bu durumda asıl önemli olan altı kaybedilen müşteriden hiçbirinin yakalanamamış olmasıdır. Dolandırıcılıkta on binde yirmilik bir oran, "hepsi normaldir" diyen bir modelin bile yüzde doksan dokuzun üzerinde doğruluk almasına yol açar; oysa bu model iş açısından tamamen değersizdir. Yangın alarmı benzetmesi bu fikri özetler: bir alarm sistemi yılın büyük kısmında sessiz kalarak "doğru" görünebilir, fakat gerçek yangın anında sessiz kalması onu işe yaramaz kılar — azınlık sınıfı tam olarak budur, nadir ama karar değeri yüksek olay. Bölümün geri kalanı, bu yanılgıyı fark etmekten öteye geçerek SMOTE ve class_weight gibi teknikleri veri sızıntısına yol açmadan nasıl uygulayacağımızı adım adım gösterecek.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 tamamladığınızda, dengesiz bir veri kümesini tanıyabilecek ve yalnızca doğruluk metriğine güvenmenin neden tehlikeli olduğunu açıklayabileceksiniz. SMOTE'un sentetik örnekleri nasıl ürettiğini, hangi durumlarda class_weight gibi alternatiflerin daha uygun olabileceğini ve bu iki yaklaşımı imblearn Pipeline içinde çapraz doğrulamayla nasıl birleştireceğinizi öğreneceksiniz. Ayrıca veri sızıntısının en sık nedenlerini — bölme öncesi yeniden örnekleme, hedefle sızdıran sütunlar, zamansal veya grup temelli sızıntı — tanıyacak ve bir modelde şüpheli derecede yüksek skorların ardındaki kök nedeni sistematik biçimde araştırabileceksiniz. Son olarak PR-AUC gibi metrikleri karar eşiğiyle birlikte yorumlayarak, iş maliyetine duyarlı bir model değerlendirmesi yapabilir hale geleceksiniz.</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bölümün tüm yapı taşlarının birbiriyle nasıl ilişkilendiğini gösterir: merkezde dengesiz veri kümesi problemi yer alır, bundan iki temel çözüm yolu doğar — SMOTE ile sentetik örnekleme ve class_weight ile hata maliyetini yeniden ağırlıklandırma. Bu iki yaklaşım da imblearn Pipeline içinde çapraz doğrulamayla birleştirildiğinde güvenilir hale gelir; aksi hâlde veri sızıntısı riski doğar, özellikle SMOTE'un eğitim/test bölünmesinden önce uygulanması klasik bir hatadır. Değerlendirme tarafında ise PR-AUC, precision, recall ve karar eşiği birbirine bağlı kavramlar olarak durur; biri diğerinden bağımsız yorumlanamaz. Bu harita, ilerleyen sayfalarda her bir kutunun tek tek nasıl açılacağının bir yol haritasıdır.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Dengesiz veri kümesi, hedef sınıfların gözlem sayılarının belirgin biçimde farklı olduğu veri kümesidir; sık görülen sınıfa çoğunluk, az görülen sınıfa azınlık sınıfı denir. Bu durumun gerçek dünyada bu kadar yaygın olmasının nedeni, dolandırıcılık, üretim hatası veya nadir hastalık gibi kritik olayların doğası gereği seyrek gerçekleşmesidir — istatistiksel olarak nadir olmaları, iş açısından önemsiz oldukları anlamına gelmez, tam tersine çoğu zaman en yüksek maliyetli olaylar bunlardır. Bin müşterilik örnekte, kalanların 940'ı ayrılmamış, yalnızca 60'ı ayrılmıştır; her müşteriye "ayrılmayacak" diyen naif bir model yüzde doksan dört doğruluk alır ama gerçek ayrılan altmış müşterinin tamamını kaçırır. Buradaki kritik sınır şudur: SMOTE gibi yeniden örnekleme teknikleri yalnızca eğitim verisindeki sınıf oranını değiştirir, gerçek dünyadaki olay oranını değiştirmez; bu nedenle test kümesi her zaman doğal, dokunulmamış dağılımını korumalıdır — aksi hâlde ölçtüğümüz şey gerçek dünya performansı değil, yapay olarak dengelenmiş bir senaryo olur.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Sentetik churn verisinde, iki bin gözlemin yaklaşık yüzde 6,2'si churn iken, temel bir LogisticRegression modeli altı yüz kişilik test kümesinde yüzde 93,8 doğruluk elde etmiştir — kulağa oldukça başarılı gelen bir sayı. Ancak karışıklık matrisine bakıldığında gerçek tablo ortaya çıkar: 37 gerçek churn müşterisinin tamamı "ayrılmadı" olarak yanlış sınıflandırılmıştır, yani azınlık sınıfı recall değeri tam olarak sıfırdır. Bu, doğruluk yanılgısının klasik bir örneğidir — macro ortalama recall 0,500 ve ağırlıklı ortalama f1-skoru 0,908 gibi toplu metrikler bile bu başarısızlığı gizleyebilir, çünkü çoğunluk sınıfının iyi performansı azınlık sınıfının tam başarısızlığını istatistiksel olarak yutar. Bu yüzden herhangi bir modeli değerlendirmeden önce, hangi hatanın (yanlış pozitif mi yanlış negatif mi) iş açısından daha maliyetli olduğunu netleştirmek, ardından precision, recall ve PR-AUC gibi sınıfa özgü metriklere bakmak gerekir.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Doğruluk, dengesiz veri kümelerinde çoğunluk sınıfının baskınlığı nedeniyle yanıltıcı bir özet istatistiktir; bu yüzden precision, recall, F1-skoru ve PR-AUC gibi azınlık sınıfına duyarlı metriklere geçmek gerekir. Precision, modelin pozitif dediği örneklerin ne kadarının gerçekten pozitif olduğunu, recall ise gerçek pozitiflerin ne kadarının yakalandığını gösterir — bu ikisi arasında doğal bir gerilim vardır ve F1-skoru bu gerilimin dengeli bir özetini sunar. PR-AUC ise farklı karar eşiklerindeki precision-recall dengesini tek bir eğri altında toplayarak, eşikten bağımsız bir genel performans görüntüsü verir; özellikle azınlık sınıfı çok küçükse ROC-AUC'den daha bilgilendiricidir çünkü ROC-AUC çoğunluk sınıfının etkisiyle yapay olarak yüksek çıkabilir. Bu tablo, hangi metriğin hangi soruya cevap verdiğini karşılaştırmalı olarak gösterip ilerleyen sayfalarda kullanılacak PR-AUC odaklı değerlendirmenin zeminini hazırlar.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l-GR" dirty="0"/>
              <a:t>SMOTE (Synthetic Minority Over-sampling Technique), azınlık sınıfındaki komşu gözlemler arasında yeni sentetik gözlemler üreten bir tekniktir; var olan satırları kopyalamak yerine özellik uzayında bu gözlemler arasında ara noktalar kurar. Formül basittir: yeni nokta x_new, seçilen bir azınlık gözlemi x_i ile onun en yakın komşularından biri x_zi arasında, sıfır ile bir arasında rastgele seçilen bir λ katsayısıyla enterpolasyon yapılarak elde edilir — yani x_new bu iki noktayı birleştiren doğru parçası üzerinde rastgele bir konumdadır. Bu yaklaşımın var olma nedeni, basit tekrar örneklemenin (var olan azınlık satırlarını kopyalamanın) aynı örnekleri defalarca göstererek modelin ezberlemesine ve aşırı öğrenmeye yol açmasıdır; SMOTE komşuluk ilişkisini kullanarak daha çeşitli, daha genellenebilir sentetik örnekler sunar. Ancak unutulmaması gereken kritik nokta şudur: SMOTE gerçek dünyadan yeni müşteri verisi toplamaz, yalnızca eğitim sürecine yardımcı olacak yapay bir temsil üretir — bu yüzden asla test verisine uygulanmamalıdır.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SMOTE öncesinde eğitim kümesindeki sınıf dağılımı son derece dengesizdir: 1313 kalan müşteriye karşılık yalnızca 87 ayrılan müşteri vardır, yani yaklaşık 15'e 1'lik bir oran söz konusudur. SMOTE uygulandıktan sonra azınlık sınıfı sentetik gözlemlerle 1313'e tamamlanır ve iki sınıf tam olarak dengelenir (1313'e 1313). Burada vurgulanması gereken nokta, bu dengelemenin yalnızca modelin öğrenme sürecini kolaylaştırmak için yapılan bir müdahale olduğu, gerçek dünyadaki olay oranını hiçbir şekilde yansıtmadığıdır — modelin gerçek performansı hâlâ orijinal, dengesiz test verisi üzerinde ölçülmelidir. Bu adım, imblearn Pipeline içinde yalnızca eğitim katına uygulanan bir dönüşüm olarak ele alınmalı, asla tüm veri kümesine (train ve test birlikte) uygulanmamalıdır.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SMOTE tek yeniden örnekleme tekniği değildir; RandomOverSampler var olan azınlık satırlarını basitçe kopyalayarak çoğaltır, ADASYN ise SMOTE'a benzer şekilde çalışır ama zor öğrenilen (sınır bölgesindeki) örneklere daha fazla ağırlık vererek sentetik nokta üretir. RandomUnderSampler ise tam tersi bir strateji izler: azınlık sınıfını büyütmek yerine çoğunluk sınıfından örnek çıkararak dengeyi sağlar, ancak bu yaklaşım değerli bilgi kaybına yol açabileceğinden büyük veri kümelerinde daha güvenlidir. Bu alternatiflerin hangisinin seçileceği; azınlık örnek sayısına, veri kümesinin büyüklüğüne ve modelin türüne bağlıdır — tek bir tekniğin her durumda en iyi sonucu vereceği varsayımı yaygın bir yanılgıdır ve karşılaştırmalı deneyle doğrulanmalıdır.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Veri sızıntısı, test verisine veya gelecekteki bilgiye ait sinyallerin, model eğitimi sırasında doğrudan veya dolaylı olarak modele sızmasıdır; bunun sonucu, eğitim ve doğrulama aşamasında şaşırtıcı derecede yüksek görünen ama üretimde tamamen çöken bir model performansıdır. Üç yaygın sızıntı kaynağı vardır: birincisi, bölme öncesi SMOTE uygulaması — test gözlemlerinin komşuluk bilgisi eğitim verisine karışır; ikincisi, hedef değişkenle doğrudan veya dolaylı olarak ilişkili olan ama gerçek zamanlı tahmin anında mevcut olmayan sızdıran sütunlar (örneğin geleceğe ait bir bilgiyi içeren alan); üçüncüsü ise zamansal veya grup temelli sızıntı — aynı müşteriye veya aynı zaman dilimine ait gözlemlerin hem eğitim hem test kümesinde bulunması. Bu tuzakların ortak özelliği, modelin gerçek genelleme kapasitesini değil, sızan bilgiyi ölçmesidir — bu yüzden modelin çok iyi görünmesi bazen bir başarı değil, bir alarm sinyali olarak okunmalıdır.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Sızıntısız bir eğitim-test akışı, önce ham verinin stratify parametresiyle (hedef sınıf oranını koruyarak) eğitim ve test kümelerine ayrılmasıyla başlar. Ölçekleme ve SMOTE gibi dönüşümler yalnızca eğitim kümesi üzerinde öğrenilir — yani bu dönüşümlerin parametreleri (ortalama, standart sapma, sentetik örnekleme mantığı) sadece eğitim verisinden hesaplanır. Model bu dönüştürülmüş eğitim verisiyle fit edilir; test kümesi ise bu sürecin hiçbir aşamasında görülmez, dokunulmamış olarak saklanır ve yalnızca son değerlendirme adımında, öğrenilmiş dönüşüm parametreleriyle transform edilerek predict_proba ve PR-AUC hesaplamasında kullanılır. Bu akışın imblearn Pipeline içinde otomatikleştirilmesinin nedeni tam olarak budur: her çapraz doğrulama katında bu sırayı elle tekrar etmek hataya açıktır, Pipeline bunu yapısal olarak garanti eder.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Aynı veri, aynı model kullanılsa bile, SMOTE'un veri işleme sırasındaki konumu sonucu kökten değiştirir. Hatalı sırada — önce tüm veriye SMOTE uygulanıp sonra train_test_split yapıldığında — test kümesindeki gözlemlerin komşuluk bilgisi eğitim verisine sızmış olur ve PR-AUC yapay olarak 0,724 gibi yüksek bir değere çıkar. Doğru sırada — önce stratify ile bölme yapılıp SMOTE yalnızca eğitim kümesine uygulandığında — test kümesi gerçek, görülmemiş müşterilerin temsilini korur ve PR-AUC gerçekçi biçimde 0,147'ye düşer. Bu 0,724'ten 0,147'ye düşüş, sızıntının bir modeli ne kadar yapay ve tehlikeli biçimde iyimser gösterebileceğinin somut kanıtıdır; üretime alınsaydı bu model gerçek dünyada ciddi biçimde hayal kırıklığı yaratırdı.</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Farklı veri yapıları farklı bölme stratejileri gerektirir. Bağımsız gözlemler için StratifiedKFold, her katta sınıf oranını koruyarak standart çapraz doğrulama sağlar ve dengesiz veri kümelerinde varsayılan tercih olmalıdır. Aynı müşteriye veya aynı varlığa ait birden fazla gözlem varsa GroupKFold kullanılmalıdır; aksi hâlde aynı müşterinin bir gözlemi eğitimde, diğeri testte yer alarak model o müşteriyi zaten "tanıdığı" için yapay olarak iyi performans gösterebilir — bu da bir tür sızıntıdır. Zaman damgalı veriler için ise TimeSeriesSplit gereklidir, çünkü gelecekteki bir gözlemle geçmişteki bir modeli eğitmek gerçek dünyada asla mümkün olmayan bir bilgi akışını simüle eder. Doğru bölme stratejisini seçmek, SMOTE'un doğru sırada uygulanması kadar temel bir sızıntı önleme adımıdır.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kavram — class_weight, imblearn Pipeline ve PR-AUC — dengesiz veri probleminin ikinci büyük çözüm ailesini oluşturur. class_weight, SMOTE gibi sentetik veri üretmek yerine, model eğitimi sırasında azınlık sınıfının hatalarına daha yüksek ceza vererek modelin dikkatini bu sınıfa yönlendirir; bu, hesaplama açısından daha hafif ve uygulaması daha basit bir alternatiftir. imblearn Pipeline, SMOTE gibi örnekleme adımlarını ölçekleme ve modellemeyle birlikte tek bir nesnede zincirleyerek, çapraz doğrulamanın her katında doğru sırayı otomatik olarak garanti eder. PR-AUC ise bu yaklaşımların hangisinin daha iyi çalıştığını, tek bir eşik değerine bağlı kalmadan, adil ve eşik-bağımsız biçimde karşılaştırmamızı sağlayan ortak ölçüttür. İlerleyen sayfalarda bu üç kavramın nasıl bir araya geldiğini somut sonuçlarla göreceğiz.</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imblearn.pipeline.Pipeline, StandardScaler, SMOTE ve LogisticRegression adımlarını tek bir nesnede sıralı biçimde birleştirir; kritik nokta, bunun sklearn'in standart Pipeline'ından farklı olmasıdır çünkü sklearn.pipeline.Pipeline, SMOTE'un kullandığı fit_resample metodunu desteklemez — bu yüzden örnekleme adımı içeren her akışta mutlaka imblearn'in Pipeline'ı kullanılmalıdır. Bu Pipeline, beş katlı StratifiedKFold çapraz doğrulaması içinde çalıştırıldığında, her katmanda SMOTE yalnızca o katın eğitim parçasına uygulanır ve sınıf oranı her katta korunur; değerlendirme ölçütü olarak average_precision (yani PR-AUC) kullanılarak cross_val_score çalıştırılır. Bu kurulumla elde edilen ortalama PR-AUC 0,177'dir — bu sonuç, sızıntılı senaryodaki yapay yüksek skorların aksine, modelin gerçek genelleme kapasitesini yansıtan güvenilir bir ölçümdür.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class_weight="balanced" yaklaşımı ile SMOTE tabanlı Pipeline yaklaşımı aynı çapraz doğrulama kurulumunda karşılaştırıldığında, sonuçlar birbirine oldukça yakın çıkar: class_weight yaklaşımı 0,173 PR-AUC, SMOTE Pipeline yaklaşımı ise 0,177 PR-AUC elde eder. Bu yakınlık önemli bir dersi gösterir — SMOTE'un her zaman daha iyi sonuç vereceği varsayımı yanlıştır; iki yöntem farklı mekanizmalarla çalışır ve özellikle azınlık örnek sayısı azken SMOTE'un ürettiği sentetik noktalar her zaman güvenilir olmayabilir. Pratikte class_weight, sentetik veri üretmeden çalıştığı için hesaplama açısından daha hafiftir ve genellikle güçlü bir başlangıç noktasıdır; SMOTE ise özellik uzayında daha zengin bir azınlık temsili sunmak istendiğinde tercih edilebilir. Doğru seçim, veri miktarına, azınlık örnek sayısına ve model türüne bağlı karşılaştırmalı bir deneyle yapılmalıdır.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Hangi dengesizlik stratejisinin seçileceği, azınlık sınıfının büyüklüğüne, hesaplama kısıtlarına ve iş bağlamına göre değişir. Azınlık örnek sayısı çok düşükse (örneğin bir avuç gözlem), SMOTE'un komşuluk tabanlı enterpolasyonu güvenilir olmayabilir çünkü yeterli komşu bulunamaz; bu durumlarda class_weight veya RandomOverSampler gibi daha basit yaklaşımlar tercih edilebilir. Orta ve büyük ölçekli azınlık gruplarında SMOTE veya ADASYN daha zengin bir temsil sağlayabilir, özellikle sınır bölgesindeki zor örnekler önemliyse ADASYN öne çıkar. Hesaplama kaynağı kısıtlıysa class_weight'in ek örnekleme maliyeti getirmemesi avantaj sağlar; büyük veri kümelerinde ise RandomUnderSampler bilgi kaybı pahasına hız kazandırabilir. Bu tablo, tek bir "en iyi" yöntem yerine, bağlama göre karar verme çerçevesi sunar.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Bir model şüpheli derecede yüksek performans gösterdiğinde, sızıntı fark edildikten sonra düzeltmek görece kolaydır; asıl zorluk bu sızıntının kök nedenini bulmaktır. İlk adım, eğitim ve çapraz doğrulama skorları arasındaki farkı izlemektir — sızıntılı bir modelde bu iki skor şüphe uyandıracak kadar birbirine yakın ve olağandışı derecede yüksek çıkar, çünkü model gerçekte var olmayan bir bilgi avantajından faydalanmaktadır. İkinci adım, feature_importance sıralamasına bakmaktır; tek bir özelliğin diğerlerinden kopuk biçimde baskın çıkması, o özelliğin hedefle doğrudan veya dolaylı olarak ilişkili (yani hedefi sızdıran) bir sütun olabileceğinin işaretidir. Üçüncü adım ise bu şüpheli özelliği modelden çıkarıp performansı yeniden ölçmektir — performans sert biçimde düşüyorsa, bu özelliğin gerçek bir sinyal mi yoksa sızıntı mı olduğu iş uzmanıyla birlikte doğrulanmalıdır; bu üç adım birlikte, sızıntının kök nedenini sistematik biçimde ortaya çıkarır.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ChurnDebug alıştırmasındaki kod parçası görünürde çalışır ve bir sonuç üretir, ama bu sonuç güvenilir değildir çünkü içinde beş farklı hata barındırır. İlk iki hata mantıksal hatalardır: SMOTE, eğitim ve test ayrımından önce tüm veriye uygulanmıştır ve daha da kötüsü, model doğrudan test verisi üzerinde eğitilmiştir — bu ikisi birlikte ciddi bir sızıntı senaryosu yaratır. Üçüncü hata bir değerlendirme hatasıdır: yalnızca genel doğruluk raporlanmış, azınlık sınıfına özgü hiçbir metrik hesaplanmamıştır. Dördüncü hata tekrar üretilebilirlik hatasıdır — random_state belirtilmediği için her çalıştırmada farklı sonuçlar elde edilebilir; beşincisi ise istatistiksel bir hatadır, bölme işleminde stratify kullanılmadığı için sınıf oranları eğitim ve test kümelerinde tutarsız dağılabilir. Doğru çözüm, stratify ve random_state ile doğru şekilde bölüp SMOTE'u yalnızca eğitim verisinde uygulamak ve sonucu PR-AUC gibi azınlığa duyarlı bir metrikle raporlamaktır.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MusteriKaybiAnalizi sınıfı, öğrenilen tüm ilkeleri uçtan uca bir akışta birleştirir: veri_olustur metodu churn verisini yükleyip özellik çıkarır, model_kur metodu ise azınlık sınıfının büyüklüğüne göre otomatik bir karar verir — azınlık sayısı 20'nin üzerindeyse SMOTE Pipeline, altındaysa class_weight yaklaşımı seçilir. Bu eşiğin nedeni tekniktir: SMOTE'un komşuluk tabanlı enterpolasyon yapabilmesi için her sınıfta minimum sayıda gözlem gerekir, aksi hâlde k_neighbors parametresi mevcut azınlık sayısını aşar ve SMOTE hata verir. calistir metodu ise stratify ile bölme yapar, modeli eğitir ve PR-AUC ile performansı ölçer. Bu örnekte azınlık sınıfı 87 gözlemle SMOTE Pipeline'ı tetiklemiş ve test PR-AUC'si 0,173 olarak ölçülmüştür; azınlık recall değeri 0,730 iken precision yalnızca 0,129'dur — yani model churn eden müşterilerin büyük çoğunluğunu yakalamakta başarılıdır, ama bunu çok sayıda yanlış alarm üretme pahasına yapmaktadır; bu dengenin kabul edilebilir olup olmadığına iş biriminin yanlış alarm toleransı karar vermelidir.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İlk yanılgı, yüzde 98 doğruluk alan bir modelin kesinlikle başarılı olduğu düşüncesidir; oysa dengesiz veride yüksek doğruluk çoğunluk sınıfını tahmin etmekten kaynaklanabilir ve azınlık sınıfının recall değeri aynı anda 0,000 olabilir — bu yüzden precision, recall ve PR-AUC her zaman ayrıca hesaplanıp iş maliyetiyle birlikte yorumlanmalıdır. İkinci yanılgı, SMOTE'un tüm veri kümesine uygulanmasının testi daha dengeli hale getireceği inancıdır; gerçekte bölme öncesi SMOTE, test gözlemlerinin komşuluk bilgisini eğitime taşıyarak veriyi dengelenmiş gösterir ama bu görünüm sızıntıyı gizler — doğru yaklaşım önce train_test_split yapıp SMOTE'u yalnızca eğitim verisinde, tercihen imblearn Pipeline içinde uygulamaktır. Üçüncü yanılgı, SMOTE'un her zaman class_weight'ten daha iyi sonuç vereceği varsayımıdır; bu bölümde gördüğümüz gibi ikisi farklı mekanizmalarla çalışır ve azınlık örnek sayısı azken SMOTE'un ürettiği sentetik noktalar güvenilir olmayabilir — doğru seçim veri miktarına ve model türüne göre karşılaştırmalı deneyle yapılmalıdır.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Precision-recall eğrisi, farklı karar eşiklerinde precision ve recall arasındaki değişimi görselleştirir; eğrinin altındaki alan, yani PR-AUC, bu dengeyi eşikten bağımsız tek bir sayıya indirger. Ancak PR-AUC yüksek olsa bile, seçilen eşiğe bağlı olarak gerçek duyarlılık düşük kalabilir — bu yüzden olasılık eşiği asla varsayılan 0,5 değerinde bırakılmamalı, iş kapasitesi ve yanlış alarm maliyetine göre ayrıca ayarlanmalıdır. Eşik seçimi temelde bir maliyet karşılaştırmasıdır: yanlış negatif, yani kaçırılan gerçek bir vaka (örneğin kaybedilen bir müşteri) ile yanlış pozitif, yani gereksiz yere harcanan inceleme kaynağı arasındaki dengeyi kurmaktır. Sonuç olarak PR-AUC, modelin genel kalitesini özetleyen faydalı bir ölçüttür, ama üretim ortamında kullanılacak nihai eşik her zaman kaçırma ve yanlış alarm maliyetiyle birlikte, ayrı bir kararla belirlenmelidir.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altı temel fikri bir araya getirdik: dengesiz veri kümelerinde doğruluk tek başına yeterli değildir, azınlık sınıfı için precision, recall ve F1 mutlaka incelenmelidir. SMOTE, sentetik eğitim örnekleri üreterek azınlık sınıfını zenginleştirir ama yalnızca eğitim katında uygulanmalıdır; class_weight ise sentetik veri üretmeden hata maliyetini değiştiren, güçlü bir alternatif başlangıç yaklaşımıdır. Veri sızıntısı, özellikle bölme öncesi SMOTE uygulaması yoluyla, test bilgisini eğitime taşıyarak modelin gerçek performansını yapay biçimde şişirir; bunu önlemenin yolu ölçekleme, örnekleme ve modellemeyi çapraz doğrulama içinde doğru sırada çalıştıran sızıntısız bir Pipeline kurmaktır. PR-AUC, kesinlik-duyarlılık dengesini özetleyen ve eşikle birlikte yorumlanması gereken bir metriktir. Genel ders şudur: model kalitesi tek bir skorla değil, veri bölme stratejisi, dönüşümlerin uygulanma sırası ve iş maliyetiyle birlikte ölçülür; şüpheli derecede yüksek bir skor gördüğünüzde, önce eğitim/doğrulama skor farkına, özellik önemine ve şüpheli sütun testine bakarak kök nedeni araştırmalısınız.</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kurduğumuz sızıntısız Pipeline mantığı artık soyut bir kural değil, kodunuzun içinde somut olarak var olan bir disiplin haline geldi; bölme, dönüşüm ve modelleme sırasını doğru kurmanın önemini artık deneyimle biliyorsunuz. Sıradaki adım, aynı disiplini farklı bir veri türüne — metin verisine — taşımaktır. Onikinci bölümde metin madenciliği ve doğal dil işlemeye geçeceğiz; duygu analizi gibi metin sınıflandırma problemlerinde de sınıf dengesizliği sıkça karşımıza çıkar (örneğin olumsuz yorumların olumlu yorumlara kıyasla çok daha az olduğu durumlar) ve orada da PR-AUC, F1 ve eşik ayarı tartışmalarıyla yeniden karşılaşacaksınız. Burada öğrendiğiniz sızıntısız Pipeline mantığı, metin ön işleme adımlarının (örneğin TF-IDF vektörleştirmenin) yalnızca eğitim verisinden öğrenilmesi gerektiği ilkesiyle doğrudan uygulanabilir bir paralellik taşır.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11_dengesiz_veri_ve_tuzaklar-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11_dengesiz_veri_ve_tuzaklar-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11</a:t>
              </a:r>
            </a:p>
          </p:txBody>
        </p:sp>
      </p:grpSp>
      <p:grpSp>
        <p:nvGrpSpPr>
          <p:cNvPr id="8" name="cover-title"/>
          <p:cNvGrpSpPr/>
          <p:nvPr/>
        </p:nvGrpSpPr>
        <p:grpSpPr>
          <a:xfrm>
            <a:off x="4555236" y="1567815"/>
            <a:ext cx="4786122" cy="1712214"/>
            <a:chOff x="4555236" y="1567815"/>
            <a:chExt cx="4786122" cy="1712214"/>
          </a:xfrm>
        </p:grpSpPr>
        <p:sp>
          <p:nvSpPr>
            <p:cNvPr id="7" name="TextBox 7"/>
            <p:cNvSpPr txBox="1"/>
            <p:nvPr/>
          </p:nvSpPr>
          <p:spPr>
            <a:xfrm>
              <a:off x="4555236" y="1567815"/>
              <a:ext cx="4786122" cy="1712214"/>
            </a:xfrm>
            <a:prstGeom prst="rect">
              <a:avLst/>
            </a:prstGeom>
            <a:noFill/>
            <a:ln>
              <a:noFill/>
            </a:ln>
          </p:spPr>
          <p:txBody>
            <a:bodyPr wrap="none" lIns="0" tIns="0" rIns="0" bIns="0" anchor="t" anchorCtr="0">
              <a:spAutoFit/>
            </a:bodyPr>
            <a:lstStyle/>
            <a:p>
              <a:pPr algn="l">
                <a:lnSpc>
                  <a:spcPts val="4200"/>
                </a:lnSpc>
              </a:pPr>
              <a:r>
                <a:rPr lang="tr-TR" sz="3300" b="1" dirty="0">
                  <a:solidFill>
                    <a:srgbClr val="12355B"/>
                  </a:solidFill>
                  <a:latin typeface="+mj-lt"/>
                  <a:ea typeface="+mj-ea"/>
                  <a:cs typeface="+mj-cs"/>
                </a:rPr>
                <a:t>Dengesiz Veri Kümeleri</a:t>
              </a:r>
              <a:br/>
              <a:r>
                <a:rPr lang="tr-TR" sz="3300" b="1" dirty="0">
                  <a:solidFill>
                    <a:srgbClr val="12355B"/>
                  </a:solidFill>
                  <a:latin typeface="+mj-lt"/>
                  <a:ea typeface="+mj-ea"/>
                  <a:cs typeface="+mj-cs"/>
                </a:rPr>
                <a:t>ve Gerçek Dünya</a:t>
              </a:r>
              <a:br/>
              <a:r>
                <a:rPr lang="tr-TR" sz="3300" b="1" dirty="0">
                  <a:solidFill>
                    <a:srgbClr val="12355B"/>
                  </a:solidFill>
                  <a:latin typeface="+mj-lt"/>
                  <a:ea typeface="+mj-ea"/>
                  <a:cs typeface="+mj-cs"/>
                </a:rPr>
                <a:t>Veri Tuzakları</a:t>
              </a:r>
            </a:p>
          </p:txBody>
        </p:sp>
      </p:grpSp>
      <p:grpSp>
        <p:nvGrpSpPr>
          <p:cNvPr id="12" name="cover-subtitle"/>
          <p:cNvGrpSpPr/>
          <p:nvPr/>
        </p:nvGrpSpPr>
        <p:grpSpPr>
          <a:xfrm>
            <a:off x="4562094" y="4476750"/>
            <a:ext cx="3976056" cy="900018"/>
            <a:chOff x="4562094" y="4476750"/>
            <a:chExt cx="3976056" cy="900018"/>
          </a:xfrm>
        </p:grpSpPr>
        <p:sp>
          <p:nvSpPr>
            <p:cNvPr id="9" name="Rectangle 9"/>
            <p:cNvSpPr/>
            <p:nvPr/>
          </p:nvSpPr>
          <p:spPr>
            <a:xfrm>
              <a:off x="4572000" y="4476750"/>
              <a:ext cx="1143000" cy="38100"/>
            </a:xfrm>
            <a:prstGeom prst="rect">
              <a:avLst/>
            </a:prstGeom>
            <a:solidFill>
              <a:srgbClr val="00A6A6"/>
            </a:solidFill>
            <a:ln>
              <a:noFill/>
            </a:ln>
          </p:spPr>
        </p:sp>
        <p:sp>
          <p:nvSpPr>
            <p:cNvPr id="10" name="TextBox 10"/>
            <p:cNvSpPr txBox="1"/>
            <p:nvPr/>
          </p:nvSpPr>
          <p:spPr>
            <a:xfrm>
              <a:off x="4562094" y="460914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563999" y="5068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565904" y="6233160"/>
            <a:ext cx="4433577" cy="234696"/>
            <a:chOff x="4565904" y="6233160"/>
            <a:chExt cx="4433577" cy="234696"/>
          </a:xfrm>
        </p:grpSpPr>
        <p:sp>
          <p:nvSpPr>
            <p:cNvPr id="13" name="TextBox 13"/>
            <p:cNvSpPr txBox="1"/>
            <p:nvPr/>
          </p:nvSpPr>
          <p:spPr>
            <a:xfrm>
              <a:off x="4565904" y="6233160"/>
              <a:ext cx="44335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Veri Madenciliği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581212" cy="557403"/>
            <a:chOff x="595122" y="282892"/>
            <a:chExt cx="5581212" cy="557403"/>
          </a:xfrm>
        </p:grpSpPr>
        <p:sp>
          <p:nvSpPr>
            <p:cNvPr id="4" name="TextBox 4"/>
            <p:cNvSpPr txBox="1"/>
            <p:nvPr/>
          </p:nvSpPr>
          <p:spPr>
            <a:xfrm>
              <a:off x="595122" y="282892"/>
              <a:ext cx="55812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açılışı ve motivasyon</a:t>
              </a:r>
            </a:p>
          </p:txBody>
        </p:sp>
      </p:grpSp>
      <p:grpSp>
        <p:nvGrpSpPr>
          <p:cNvPr id="7" name="lead-claim"/>
          <p:cNvGrpSpPr/>
          <p:nvPr/>
        </p:nvGrpSpPr>
        <p:grpSpPr>
          <a:xfrm>
            <a:off x="600456" y="1253490"/>
            <a:ext cx="8830898" cy="352044"/>
            <a:chOff x="600456" y="1253490"/>
            <a:chExt cx="8830898" cy="352044"/>
          </a:xfrm>
        </p:grpSpPr>
        <p:sp>
          <p:nvSpPr>
            <p:cNvPr id="6" name="TextBox 6"/>
            <p:cNvSpPr txBox="1"/>
            <p:nvPr/>
          </p:nvSpPr>
          <p:spPr>
            <a:xfrm>
              <a:off x="600456" y="1253490"/>
              <a:ext cx="883089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 xml:space="preserve">Bir model </a:t>
              </a:r>
              <a:r>
                <a:rPr lang="tr-TR" sz="1800" b="1" dirty="0">
                  <a:solidFill>
                    <a:srgbClr val="12355B"/>
                  </a:solidFill>
                  <a:latin typeface="+mn-lt"/>
                  <a:ea typeface="+mn-ea"/>
                  <a:cs typeface="+mn-cs"/>
                </a:rPr>
                <a:t>%94 doğruluk</a:t>
              </a:r>
              <a:r>
                <a:rPr lang="tr-TR" sz="1800" dirty="0">
                  <a:solidFill>
                    <a:srgbClr val="172B3A"/>
                  </a:solidFill>
                  <a:latin typeface="+mn-lt"/>
                  <a:ea typeface="+mn-ea"/>
                  <a:cs typeface="+mn-cs"/>
                </a:rPr>
                <a:t xml:space="preserve"> verirken müşteri kaybının </a:t>
              </a:r>
              <a:r>
                <a:rPr lang="tr-TR" sz="1800" b="1" dirty="0">
                  <a:solidFill>
                    <a:srgbClr val="12355B"/>
                  </a:solidFill>
                  <a:latin typeface="+mn-lt"/>
                  <a:ea typeface="+mn-ea"/>
                  <a:cs typeface="+mn-cs"/>
                </a:rPr>
                <a:t>tamamını kaçırabilir</a:t>
              </a:r>
              <a:r>
                <a:rPr lang="tr-TR" sz="1800" dirty="0">
                  <a:solidFill>
                    <a:srgbClr val="172B3A"/>
                  </a:solidFill>
                  <a:latin typeface="+mn-lt"/>
                  <a:ea typeface="+mn-ea"/>
                  <a:cs typeface="+mn-cs"/>
                </a:rPr>
                <a:t>.</a:t>
              </a:r>
            </a:p>
          </p:txBody>
        </p:sp>
      </p:grpSp>
      <p:grpSp>
        <p:nvGrpSpPr>
          <p:cNvPr id="14" name="card-churn"/>
          <p:cNvGrpSpPr/>
          <p:nvPr/>
        </p:nvGrpSpPr>
        <p:grpSpPr>
          <a:xfrm>
            <a:off x="609600" y="1905000"/>
            <a:ext cx="3505200" cy="2095500"/>
            <a:chOff x="609600" y="1905000"/>
            <a:chExt cx="3505200" cy="2095500"/>
          </a:xfrm>
        </p:grpSpPr>
        <p:sp>
          <p:nvSpPr>
            <p:cNvPr id="8" name="Rectangle 8"/>
            <p:cNvSpPr/>
            <p:nvPr/>
          </p:nvSpPr>
          <p:spPr>
            <a:xfrm>
              <a:off x="609600" y="1905000"/>
              <a:ext cx="3505200" cy="2095500"/>
            </a:xfrm>
            <a:prstGeom prst="roundRect">
              <a:avLst>
                <a:gd name="adj" fmla="val 4545"/>
              </a:avLst>
            </a:prstGeom>
            <a:solidFill>
              <a:srgbClr val="FFFFFF"/>
            </a:solidFill>
            <a:ln w="14288">
              <a:solidFill>
                <a:srgbClr val="B8CBD3"/>
              </a:solidFill>
            </a:ln>
          </p:spPr>
        </p:sp>
        <p:sp>
          <p:nvSpPr>
            <p:cNvPr id="9" name="Rectangle 9"/>
            <p:cNvSpPr/>
            <p:nvPr/>
          </p:nvSpPr>
          <p:spPr>
            <a:xfrm>
              <a:off x="609600" y="1905000"/>
              <a:ext cx="3505200" cy="76200"/>
            </a:xfrm>
            <a:prstGeom prst="rect">
              <a:avLst/>
            </a:prstGeom>
            <a:solidFill>
              <a:srgbClr val="00A6A6"/>
            </a:solidFill>
            <a:ln>
              <a:noFill/>
            </a:ln>
          </p:spPr>
        </p:sp>
        <p:sp>
          <p:nvSpPr>
            <p:cNvPr id="10" name="TextBox 10"/>
            <p:cNvSpPr txBox="1"/>
            <p:nvPr/>
          </p:nvSpPr>
          <p:spPr>
            <a:xfrm>
              <a:off x="829056" y="2167890"/>
              <a:ext cx="176936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Müşteri kaybı</a:t>
              </a:r>
            </a:p>
          </p:txBody>
        </p:sp>
        <p:sp>
          <p:nvSpPr>
            <p:cNvPr id="11" name="TextBox 11"/>
            <p:cNvSpPr txBox="1"/>
            <p:nvPr/>
          </p:nvSpPr>
          <p:spPr>
            <a:xfrm>
              <a:off x="823722" y="2473642"/>
              <a:ext cx="1761213" cy="557403"/>
            </a:xfrm>
            <a:prstGeom prst="rect">
              <a:avLst/>
            </a:prstGeom>
            <a:noFill/>
            <a:ln>
              <a:noFill/>
            </a:ln>
          </p:spPr>
          <p:txBody>
            <a:bodyPr wrap="none" lIns="0" tIns="0" rIns="0" bIns="0" anchor="t" anchorCtr="0">
              <a:spAutoFit/>
            </a:bodyPr>
            <a:lstStyle/>
            <a:p>
              <a:pPr algn="l"/>
              <a:r>
                <a:rPr lang="tr-TR" sz="2850" b="1" dirty="0">
                  <a:solidFill>
                    <a:srgbClr val="00A6A6"/>
                  </a:solidFill>
                  <a:latin typeface="+mn-lt"/>
                  <a:ea typeface="+mn-ea"/>
                  <a:cs typeface="+mn-cs"/>
                </a:rPr>
                <a:t>%94 / %6</a:t>
              </a:r>
            </a:p>
          </p:txBody>
        </p:sp>
        <p:sp>
          <p:nvSpPr>
            <p:cNvPr id="12" name="TextBox 12"/>
            <p:cNvSpPr txBox="1"/>
            <p:nvPr/>
          </p:nvSpPr>
          <p:spPr>
            <a:xfrm>
              <a:off x="832104" y="2937510"/>
              <a:ext cx="168163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Kalan / ayrılan oranı</a:t>
              </a:r>
            </a:p>
          </p:txBody>
        </p:sp>
        <p:sp>
          <p:nvSpPr>
            <p:cNvPr id="13" name="TextBox 13"/>
            <p:cNvSpPr txBox="1"/>
            <p:nvPr/>
          </p:nvSpPr>
          <p:spPr>
            <a:xfrm>
              <a:off x="832104" y="3261360"/>
              <a:ext cx="19933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"Ayrılmayacak" tahmini</a:t>
              </a:r>
              <a:br/>
              <a:r>
                <a:rPr lang="tr-TR" sz="1200" dirty="0">
                  <a:solidFill>
                    <a:srgbClr val="172B3A"/>
                  </a:solidFill>
                  <a:latin typeface="+mn-lt"/>
                  <a:ea typeface="+mn-ea"/>
                  <a:cs typeface="+mn-cs"/>
                </a:rPr>
                <a:t>%94 doğru; ama altı</a:t>
              </a:r>
              <a:br/>
              <a:r>
                <a:rPr lang="tr-TR" sz="1200" dirty="0">
                  <a:solidFill>
                    <a:srgbClr val="172B3A"/>
                  </a:solidFill>
                  <a:latin typeface="+mn-lt"/>
                  <a:ea typeface="+mn-ea"/>
                  <a:cs typeface="+mn-cs"/>
                </a:rPr>
                <a:t>müşteriden birini kaçırır.</a:t>
              </a:r>
            </a:p>
          </p:txBody>
        </p:sp>
      </p:grpSp>
      <p:grpSp>
        <p:nvGrpSpPr>
          <p:cNvPr id="21" name="card-fraud"/>
          <p:cNvGrpSpPr/>
          <p:nvPr/>
        </p:nvGrpSpPr>
        <p:grpSpPr>
          <a:xfrm>
            <a:off x="4343400" y="1905000"/>
            <a:ext cx="3505200" cy="2095500"/>
            <a:chOff x="4343400" y="1905000"/>
            <a:chExt cx="3505200" cy="2095500"/>
          </a:xfrm>
        </p:grpSpPr>
        <p:sp>
          <p:nvSpPr>
            <p:cNvPr id="15" name="Rectangle 15"/>
            <p:cNvSpPr/>
            <p:nvPr/>
          </p:nvSpPr>
          <p:spPr>
            <a:xfrm>
              <a:off x="4343400" y="1905000"/>
              <a:ext cx="3505200" cy="2095500"/>
            </a:xfrm>
            <a:prstGeom prst="roundRect">
              <a:avLst>
                <a:gd name="adj" fmla="val 4545"/>
              </a:avLst>
            </a:prstGeom>
            <a:solidFill>
              <a:srgbClr val="FFFFFF"/>
            </a:solidFill>
            <a:ln w="14288">
              <a:solidFill>
                <a:srgbClr val="B8CBD3"/>
              </a:solidFill>
            </a:ln>
          </p:spPr>
        </p:sp>
        <p:sp>
          <p:nvSpPr>
            <p:cNvPr id="16" name="Rectangle 16"/>
            <p:cNvSpPr/>
            <p:nvPr/>
          </p:nvSpPr>
          <p:spPr>
            <a:xfrm>
              <a:off x="4343400" y="1905000"/>
              <a:ext cx="3505200" cy="76200"/>
            </a:xfrm>
            <a:prstGeom prst="rect">
              <a:avLst/>
            </a:prstGeom>
            <a:solidFill>
              <a:srgbClr val="00A6A6"/>
            </a:solidFill>
            <a:ln>
              <a:noFill/>
            </a:ln>
          </p:spPr>
        </p:sp>
        <p:sp>
          <p:nvSpPr>
            <p:cNvPr id="17" name="TextBox 17"/>
            <p:cNvSpPr txBox="1"/>
            <p:nvPr/>
          </p:nvSpPr>
          <p:spPr>
            <a:xfrm>
              <a:off x="4562856" y="2167890"/>
              <a:ext cx="18576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Dolandırıcılık</a:t>
              </a:r>
            </a:p>
          </p:txBody>
        </p:sp>
        <p:sp>
          <p:nvSpPr>
            <p:cNvPr id="18" name="TextBox 18"/>
            <p:cNvSpPr txBox="1"/>
            <p:nvPr/>
          </p:nvSpPr>
          <p:spPr>
            <a:xfrm>
              <a:off x="4557522" y="2473642"/>
              <a:ext cx="2264775" cy="557403"/>
            </a:xfrm>
            <a:prstGeom prst="rect">
              <a:avLst/>
            </a:prstGeom>
            <a:noFill/>
            <a:ln>
              <a:noFill/>
            </a:ln>
          </p:spPr>
          <p:txBody>
            <a:bodyPr wrap="none" lIns="0" tIns="0" rIns="0" bIns="0" anchor="t" anchorCtr="0">
              <a:spAutoFit/>
            </a:bodyPr>
            <a:lstStyle/>
            <a:p>
              <a:pPr algn="l"/>
              <a:r>
                <a:rPr lang="tr-TR" sz="2850" b="1" dirty="0">
                  <a:solidFill>
                    <a:srgbClr val="00A6A6"/>
                  </a:solidFill>
                  <a:latin typeface="+mn-lt"/>
                  <a:ea typeface="+mn-ea"/>
                  <a:cs typeface="+mn-cs"/>
                </a:rPr>
                <a:t>20 / 10.000</a:t>
              </a:r>
            </a:p>
          </p:txBody>
        </p:sp>
        <p:sp>
          <p:nvSpPr>
            <p:cNvPr id="19" name="TextBox 19"/>
            <p:cNvSpPr txBox="1"/>
            <p:nvPr/>
          </p:nvSpPr>
          <p:spPr>
            <a:xfrm>
              <a:off x="4565904" y="2937510"/>
              <a:ext cx="13986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Sahte işlem oranı</a:t>
              </a:r>
            </a:p>
          </p:txBody>
        </p:sp>
        <p:sp>
          <p:nvSpPr>
            <p:cNvPr id="20" name="TextBox 20"/>
            <p:cNvSpPr txBox="1"/>
            <p:nvPr/>
          </p:nvSpPr>
          <p:spPr>
            <a:xfrm>
              <a:off x="4565904" y="3261360"/>
              <a:ext cx="22905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Tümünü "normal" etiketlemek</a:t>
              </a:r>
              <a:br/>
              <a:r>
                <a:rPr lang="tr-TR" sz="1200" dirty="0">
                  <a:solidFill>
                    <a:srgbClr val="172B3A"/>
                  </a:solidFill>
                  <a:latin typeface="+mn-lt"/>
                  <a:ea typeface="+mn-ea"/>
                  <a:cs typeface="+mn-cs"/>
                </a:rPr>
                <a:t>yüksek doğruluk verir; maliyet</a:t>
              </a:r>
              <a:br/>
              <a:r>
                <a:rPr lang="tr-TR" sz="1200" dirty="0">
                  <a:solidFill>
                    <a:srgbClr val="172B3A"/>
                  </a:solidFill>
                  <a:latin typeface="+mn-lt"/>
                  <a:ea typeface="+mn-ea"/>
                  <a:cs typeface="+mn-cs"/>
                </a:rPr>
                <a:t>gerçekte karşılanmaz.</a:t>
              </a:r>
            </a:p>
          </p:txBody>
        </p:sp>
      </p:grpSp>
      <p:grpSp>
        <p:nvGrpSpPr>
          <p:cNvPr id="28" name="card-production"/>
          <p:cNvGrpSpPr/>
          <p:nvPr/>
        </p:nvGrpSpPr>
        <p:grpSpPr>
          <a:xfrm>
            <a:off x="8077200" y="1905000"/>
            <a:ext cx="3505200" cy="2095500"/>
            <a:chOff x="8077200" y="1905000"/>
            <a:chExt cx="3505200" cy="2095500"/>
          </a:xfrm>
        </p:grpSpPr>
        <p:sp>
          <p:nvSpPr>
            <p:cNvPr id="22" name="Rectangle 22"/>
            <p:cNvSpPr/>
            <p:nvPr/>
          </p:nvSpPr>
          <p:spPr>
            <a:xfrm>
              <a:off x="8077200" y="1905000"/>
              <a:ext cx="3505200" cy="2095500"/>
            </a:xfrm>
            <a:prstGeom prst="roundRect">
              <a:avLst>
                <a:gd name="adj" fmla="val 4545"/>
              </a:avLst>
            </a:prstGeom>
            <a:solidFill>
              <a:srgbClr val="FFFFFF"/>
            </a:solidFill>
            <a:ln w="14288">
              <a:solidFill>
                <a:srgbClr val="B8CBD3"/>
              </a:solidFill>
            </a:ln>
          </p:spPr>
        </p:sp>
        <p:sp>
          <p:nvSpPr>
            <p:cNvPr id="23" name="Rectangle 23"/>
            <p:cNvSpPr/>
            <p:nvPr/>
          </p:nvSpPr>
          <p:spPr>
            <a:xfrm>
              <a:off x="8077200" y="1905000"/>
              <a:ext cx="3505200" cy="76200"/>
            </a:xfrm>
            <a:prstGeom prst="rect">
              <a:avLst/>
            </a:prstGeom>
            <a:solidFill>
              <a:srgbClr val="00A6A6"/>
            </a:solidFill>
            <a:ln>
              <a:noFill/>
            </a:ln>
          </p:spPr>
        </p:sp>
        <p:sp>
          <p:nvSpPr>
            <p:cNvPr id="24" name="TextBox 24"/>
            <p:cNvSpPr txBox="1"/>
            <p:nvPr/>
          </p:nvSpPr>
          <p:spPr>
            <a:xfrm>
              <a:off x="8296656" y="2167890"/>
              <a:ext cx="268546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Üretim hattı arızası</a:t>
              </a:r>
            </a:p>
          </p:txBody>
        </p:sp>
        <p:sp>
          <p:nvSpPr>
            <p:cNvPr id="25" name="TextBox 25"/>
            <p:cNvSpPr txBox="1"/>
            <p:nvPr/>
          </p:nvSpPr>
          <p:spPr>
            <a:xfrm>
              <a:off x="8293608" y="2503170"/>
              <a:ext cx="2794467" cy="469392"/>
            </a:xfrm>
            <a:prstGeom prst="rect">
              <a:avLst/>
            </a:prstGeom>
            <a:noFill/>
            <a:ln>
              <a:noFill/>
            </a:ln>
          </p:spPr>
          <p:txBody>
            <a:bodyPr wrap="none" lIns="0" tIns="0" rIns="0" bIns="0" anchor="t" anchorCtr="0">
              <a:spAutoFit/>
            </a:bodyPr>
            <a:lstStyle/>
            <a:p>
              <a:pPr algn="l"/>
              <a:r>
                <a:rPr lang="tr-TR" sz="2400" b="1" dirty="0">
                  <a:solidFill>
                    <a:srgbClr val="00A6A6"/>
                  </a:solidFill>
                  <a:latin typeface="+mn-lt"/>
                  <a:ea typeface="+mn-ea"/>
                  <a:cs typeface="+mn-cs"/>
                </a:rPr>
                <a:t>Birkaç / Binlerce</a:t>
              </a:r>
            </a:p>
          </p:txBody>
        </p:sp>
        <p:sp>
          <p:nvSpPr>
            <p:cNvPr id="26" name="TextBox 26"/>
            <p:cNvSpPr txBox="1"/>
            <p:nvPr/>
          </p:nvSpPr>
          <p:spPr>
            <a:xfrm>
              <a:off x="8299704" y="2937510"/>
              <a:ext cx="15843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Kusurlu parça oranı</a:t>
              </a:r>
            </a:p>
          </p:txBody>
        </p:sp>
        <p:sp>
          <p:nvSpPr>
            <p:cNvPr id="27" name="TextBox 27"/>
            <p:cNvSpPr txBox="1"/>
            <p:nvPr/>
          </p:nvSpPr>
          <p:spPr>
            <a:xfrm>
              <a:off x="8299704" y="3261360"/>
              <a:ext cx="22372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"Tüm parçalar sağlam" diyen</a:t>
              </a:r>
              <a:br/>
              <a:r>
                <a:rPr lang="tr-TR" sz="1200" dirty="0">
                  <a:solidFill>
                    <a:srgbClr val="172B3A"/>
                  </a:solidFill>
                  <a:latin typeface="+mn-lt"/>
                  <a:ea typeface="+mn-ea"/>
                  <a:cs typeface="+mn-cs"/>
                </a:rPr>
                <a:t>sistem, asıl önlenmek istenen</a:t>
              </a:r>
              <a:br/>
              <a:r>
                <a:rPr lang="tr-TR" sz="1200" dirty="0">
                  <a:solidFill>
                    <a:srgbClr val="172B3A"/>
                  </a:solidFill>
                  <a:latin typeface="+mn-lt"/>
                  <a:ea typeface="+mn-ea"/>
                  <a:cs typeface="+mn-cs"/>
                </a:rPr>
                <a:t>hatayı hiç yakalamaz.</a:t>
              </a:r>
            </a:p>
          </p:txBody>
        </p:sp>
      </p:grpSp>
      <p:grpSp>
        <p:nvGrpSpPr>
          <p:cNvPr id="32" name="analogy-box"/>
          <p:cNvGrpSpPr/>
          <p:nvPr/>
        </p:nvGrpSpPr>
        <p:grpSpPr>
          <a:xfrm>
            <a:off x="609600" y="4305300"/>
            <a:ext cx="10972800" cy="1409700"/>
            <a:chOff x="609600" y="4305300"/>
            <a:chExt cx="10972800" cy="1409700"/>
          </a:xfrm>
        </p:grpSpPr>
        <p:sp>
          <p:nvSpPr>
            <p:cNvPr id="29" name="Rectangle 29"/>
            <p:cNvSpPr/>
            <p:nvPr/>
          </p:nvSpPr>
          <p:spPr>
            <a:xfrm>
              <a:off x="609600" y="4305300"/>
              <a:ext cx="10972800" cy="1409700"/>
            </a:xfrm>
            <a:prstGeom prst="roundRect">
              <a:avLst>
                <a:gd name="adj" fmla="val 5405"/>
              </a:avLst>
            </a:prstGeom>
            <a:solidFill>
              <a:srgbClr val="EAF4F6"/>
            </a:solidFill>
            <a:ln>
              <a:noFill/>
            </a:ln>
          </p:spPr>
        </p:sp>
        <p:sp>
          <p:nvSpPr>
            <p:cNvPr id="30" name="TextBox 30"/>
            <p:cNvSpPr txBox="1"/>
            <p:nvPr/>
          </p:nvSpPr>
          <p:spPr>
            <a:xfrm>
              <a:off x="905256" y="4491990"/>
              <a:ext cx="32323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Yangın alarmı benzetmesi</a:t>
              </a:r>
            </a:p>
          </p:txBody>
        </p:sp>
        <p:sp>
          <p:nvSpPr>
            <p:cNvPr id="31" name="TextBox 31"/>
            <p:cNvSpPr txBox="1"/>
            <p:nvPr/>
          </p:nvSpPr>
          <p:spPr>
            <a:xfrm>
              <a:off x="906399" y="4840129"/>
              <a:ext cx="8182864"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Gerçek yangın yılda çok nadir görülür; alarm hiç çalmazsa çoğu gün "doğru"</a:t>
              </a:r>
              <a:br/>
              <a:r>
                <a:rPr lang="tr-TR" sz="1580" dirty="0">
                  <a:solidFill>
                    <a:srgbClr val="172B3A"/>
                  </a:solidFill>
                  <a:latin typeface="+mn-lt"/>
                  <a:ea typeface="+mn-ea"/>
                  <a:cs typeface="+mn-cs"/>
                </a:rPr>
                <a:t>davranmış görünür — fakat gerçek yangın anında sessiz kalması sistemi işe</a:t>
              </a:r>
              <a:br/>
              <a:r>
                <a:rPr lang="tr-TR" sz="1580" dirty="0">
                  <a:solidFill>
                    <a:srgbClr val="172B3A"/>
                  </a:solidFill>
                  <a:latin typeface="+mn-lt"/>
                  <a:ea typeface="+mn-ea"/>
                  <a:cs typeface="+mn-cs"/>
                </a:rPr>
                <a:t>yaramaz kılar. Azınlık sınıfı, sayıca az ama karar değeri yüksek olan bu olaydır.</a:t>
              </a:r>
            </a:p>
          </p:txBody>
        </p:sp>
      </p:grpSp>
      <p:grpSp>
        <p:nvGrpSpPr>
          <p:cNvPr id="34" name="closing-line"/>
          <p:cNvGrpSpPr/>
          <p:nvPr/>
        </p:nvGrpSpPr>
        <p:grpSpPr>
          <a:xfrm>
            <a:off x="601599" y="5792629"/>
            <a:ext cx="7102310" cy="555688"/>
            <a:chOff x="601599" y="5792629"/>
            <a:chExt cx="7102310" cy="555688"/>
          </a:xfrm>
        </p:grpSpPr>
        <p:sp>
          <p:nvSpPr>
            <p:cNvPr id="33" name="TextBox 33"/>
            <p:cNvSpPr txBox="1"/>
            <p:nvPr/>
          </p:nvSpPr>
          <p:spPr>
            <a:xfrm>
              <a:off x="601599" y="5792629"/>
              <a:ext cx="7102310"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52616B"/>
                  </a:solidFill>
                  <a:latin typeface="+mn-lt"/>
                  <a:ea typeface="+mn-ea"/>
                  <a:cs typeface="+mn-cs"/>
                </a:rPr>
                <a:t xml:space="preserve">Bu bölüm, dengesizliği fark etmekle kalmaz — SMOTE ve </a:t>
              </a:r>
              <a:r>
                <a:rPr lang="tr-TR" sz="1580" b="1" dirty="0">
                  <a:solidFill>
                    <a:srgbClr val="12355B"/>
                  </a:solidFill>
                  <a:latin typeface="+mn-lt"/>
                  <a:ea typeface="+mn-ea"/>
                  <a:cs typeface="+mn-cs"/>
                </a:rPr>
                <a:t>class_weight</a:t>
              </a:r>
              <a:r>
                <a:rPr lang="tr-TR" sz="1580" dirty="0">
                  <a:solidFill>
                    <a:srgbClr val="52616B"/>
                  </a:solidFill>
                  <a:latin typeface="+mn-lt"/>
                  <a:ea typeface="+mn-ea"/>
                  <a:cs typeface="+mn-cs"/>
                </a:rPr>
                <a:t xml:space="preserve"> gibi</a:t>
              </a:r>
              <a:br/>
              <a:r>
                <a:rPr lang="tr-TR" sz="1580" dirty="0">
                  <a:solidFill>
                    <a:srgbClr val="52616B"/>
                  </a:solidFill>
                  <a:latin typeface="+mn-lt"/>
                  <a:ea typeface="+mn-ea"/>
                  <a:cs typeface="+mn-cs"/>
                </a:rPr>
                <a:t>teknikleri sızıntısız uygulamayı öğretir.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520190"/>
            <a:ext cx="9201592" cy="637128"/>
            <a:chOff x="685800" y="1520190"/>
            <a:chExt cx="9201592" cy="637128"/>
          </a:xfrm>
        </p:grpSpPr>
        <p:sp>
          <p:nvSpPr>
            <p:cNvPr id="9" name="Rectangle 9"/>
            <p:cNvSpPr/>
            <p:nvPr/>
          </p:nvSpPr>
          <p:spPr>
            <a:xfrm>
              <a:off x="685800" y="1524000"/>
              <a:ext cx="57150" cy="495300"/>
            </a:xfrm>
            <a:prstGeom prst="rect">
              <a:avLst/>
            </a:prstGeom>
            <a:solidFill>
              <a:srgbClr val="00A6A6"/>
            </a:solidFill>
            <a:ln>
              <a:noFill/>
            </a:ln>
          </p:spPr>
        </p:sp>
        <p:sp>
          <p:nvSpPr>
            <p:cNvPr id="10" name="TextBox 10"/>
            <p:cNvSpPr txBox="1"/>
            <p:nvPr/>
          </p:nvSpPr>
          <p:spPr>
            <a:xfrm>
              <a:off x="981456" y="1520190"/>
              <a:ext cx="890593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Çoğunluk/azınlık sınıflarını inceleyip doğruluk yanılgısını göstermek</a:t>
              </a:r>
            </a:p>
          </p:txBody>
        </p:sp>
        <p:sp>
          <p:nvSpPr>
            <p:cNvPr id="11" name="TextBox 11"/>
            <p:cNvSpPr txBox="1"/>
            <p:nvPr/>
          </p:nvSpPr>
          <p:spPr>
            <a:xfrm>
              <a:off x="982599" y="1849279"/>
              <a:ext cx="768152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sayısal örnekle (1.000 müşteri / 60 ayrılan) yanılgıyı kanıtlamak</a:t>
              </a:r>
            </a:p>
          </p:txBody>
        </p:sp>
      </p:grpSp>
      <p:grpSp>
        <p:nvGrpSpPr>
          <p:cNvPr id="16" name="objective-2"/>
          <p:cNvGrpSpPr/>
          <p:nvPr/>
        </p:nvGrpSpPr>
        <p:grpSpPr>
          <a:xfrm>
            <a:off x="685800" y="2510790"/>
            <a:ext cx="9779488" cy="637128"/>
            <a:chOff x="685800" y="2510790"/>
            <a:chExt cx="9779488" cy="637128"/>
          </a:xfrm>
        </p:grpSpPr>
        <p:sp>
          <p:nvSpPr>
            <p:cNvPr id="13" name="Rectangle 13"/>
            <p:cNvSpPr/>
            <p:nvPr/>
          </p:nvSpPr>
          <p:spPr>
            <a:xfrm>
              <a:off x="685800" y="2514600"/>
              <a:ext cx="57150" cy="495300"/>
            </a:xfrm>
            <a:prstGeom prst="rect">
              <a:avLst/>
            </a:prstGeom>
            <a:solidFill>
              <a:srgbClr val="00A6A6"/>
            </a:solidFill>
            <a:ln>
              <a:noFill/>
            </a:ln>
          </p:spPr>
        </p:sp>
        <p:sp>
          <p:nvSpPr>
            <p:cNvPr id="14" name="TextBox 14"/>
            <p:cNvSpPr txBox="1"/>
            <p:nvPr/>
          </p:nvSpPr>
          <p:spPr>
            <a:xfrm>
              <a:off x="981456" y="2510790"/>
              <a:ext cx="94838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Eğitim/test ayrımından sonra SMOTE'u yalnızca eğitim akışında uygulamak</a:t>
              </a:r>
            </a:p>
          </p:txBody>
        </p:sp>
        <p:sp>
          <p:nvSpPr>
            <p:cNvPr id="15" name="TextBox 15"/>
            <p:cNvSpPr txBox="1"/>
            <p:nvPr/>
          </p:nvSpPr>
          <p:spPr>
            <a:xfrm>
              <a:off x="982599" y="2839879"/>
              <a:ext cx="808869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SMOTE'un test verisine hiç temas etmediğini gösteren bir akış kurmak</a:t>
              </a:r>
            </a:p>
          </p:txBody>
        </p:sp>
      </p:grpSp>
      <p:grpSp>
        <p:nvGrpSpPr>
          <p:cNvPr id="20" name="objective-3"/>
          <p:cNvGrpSpPr/>
          <p:nvPr/>
        </p:nvGrpSpPr>
        <p:grpSpPr>
          <a:xfrm>
            <a:off x="685800" y="3501390"/>
            <a:ext cx="10852938" cy="637128"/>
            <a:chOff x="685800" y="3501390"/>
            <a:chExt cx="10852938" cy="637128"/>
          </a:xfrm>
        </p:grpSpPr>
        <p:sp>
          <p:nvSpPr>
            <p:cNvPr id="17" name="Rectangle 17"/>
            <p:cNvSpPr/>
            <p:nvPr/>
          </p:nvSpPr>
          <p:spPr>
            <a:xfrm>
              <a:off x="685800" y="3505200"/>
              <a:ext cx="57150" cy="495300"/>
            </a:xfrm>
            <a:prstGeom prst="rect">
              <a:avLst/>
            </a:prstGeom>
            <a:solidFill>
              <a:srgbClr val="00A6A6"/>
            </a:solidFill>
            <a:ln>
              <a:noFill/>
            </a:ln>
          </p:spPr>
        </p:sp>
        <p:sp>
          <p:nvSpPr>
            <p:cNvPr id="18" name="TextBox 18"/>
            <p:cNvSpPr txBox="1"/>
            <p:nvPr/>
          </p:nvSpPr>
          <p:spPr>
            <a:xfrm>
              <a:off x="981456" y="3501390"/>
              <a:ext cx="1055728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class_weight="balanced" ile SMOTE'u maliyet ve veri miktarına göre karşılaştırmak</a:t>
              </a:r>
            </a:p>
          </p:txBody>
        </p:sp>
        <p:sp>
          <p:nvSpPr>
            <p:cNvPr id="19" name="TextBox 19"/>
            <p:cNvSpPr txBox="1"/>
            <p:nvPr/>
          </p:nvSpPr>
          <p:spPr>
            <a:xfrm>
              <a:off x="982599" y="3830479"/>
              <a:ext cx="773307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hangi durumda hangi yaklaşımın tercih edileceğini gerekçelendirmek</a:t>
              </a:r>
            </a:p>
          </p:txBody>
        </p:sp>
      </p:grpSp>
      <p:grpSp>
        <p:nvGrpSpPr>
          <p:cNvPr id="24" name="objective-4"/>
          <p:cNvGrpSpPr/>
          <p:nvPr/>
        </p:nvGrpSpPr>
        <p:grpSpPr>
          <a:xfrm>
            <a:off x="685800" y="4491990"/>
            <a:ext cx="7849470" cy="637128"/>
            <a:chOff x="685800" y="4491990"/>
            <a:chExt cx="7849470" cy="637128"/>
          </a:xfrm>
        </p:grpSpPr>
        <p:sp>
          <p:nvSpPr>
            <p:cNvPr id="21" name="Rectangle 21"/>
            <p:cNvSpPr/>
            <p:nvPr/>
          </p:nvSpPr>
          <p:spPr>
            <a:xfrm>
              <a:off x="685800" y="4495800"/>
              <a:ext cx="57150" cy="495300"/>
            </a:xfrm>
            <a:prstGeom prst="rect">
              <a:avLst/>
            </a:prstGeom>
            <a:solidFill>
              <a:srgbClr val="00A6A6"/>
            </a:solidFill>
            <a:ln>
              <a:noFill/>
            </a:ln>
          </p:spPr>
        </p:sp>
        <p:sp>
          <p:nvSpPr>
            <p:cNvPr id="22" name="TextBox 22"/>
            <p:cNvSpPr txBox="1"/>
            <p:nvPr/>
          </p:nvSpPr>
          <p:spPr>
            <a:xfrm>
              <a:off x="981456" y="4491990"/>
              <a:ext cx="60182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sızıntısı kaynaklarını tespit edip önlemek</a:t>
              </a:r>
            </a:p>
          </p:txBody>
        </p:sp>
        <p:sp>
          <p:nvSpPr>
            <p:cNvPr id="23" name="TextBox 23"/>
            <p:cNvSpPr txBox="1"/>
            <p:nvPr/>
          </p:nvSpPr>
          <p:spPr>
            <a:xfrm>
              <a:off x="982599" y="4821079"/>
              <a:ext cx="75526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hedef sonrası oluşan sütunları ve yanlış sıralamayı ayırt etmek</a:t>
              </a:r>
            </a:p>
          </p:txBody>
        </p:sp>
      </p:grpSp>
      <p:grpSp>
        <p:nvGrpSpPr>
          <p:cNvPr id="28" name="objective-5"/>
          <p:cNvGrpSpPr/>
          <p:nvPr/>
        </p:nvGrpSpPr>
        <p:grpSpPr>
          <a:xfrm>
            <a:off x="685800" y="5482590"/>
            <a:ext cx="9455255" cy="637128"/>
            <a:chOff x="685800" y="5482590"/>
            <a:chExt cx="9455255" cy="637128"/>
          </a:xfrm>
        </p:grpSpPr>
        <p:sp>
          <p:nvSpPr>
            <p:cNvPr id="25" name="Rectangle 25"/>
            <p:cNvSpPr/>
            <p:nvPr/>
          </p:nvSpPr>
          <p:spPr>
            <a:xfrm>
              <a:off x="685800" y="5486400"/>
              <a:ext cx="57150" cy="495300"/>
            </a:xfrm>
            <a:prstGeom prst="rect">
              <a:avLst/>
            </a:prstGeom>
            <a:solidFill>
              <a:srgbClr val="00A6A6"/>
            </a:solidFill>
            <a:ln>
              <a:noFill/>
            </a:ln>
          </p:spPr>
        </p:sp>
        <p:sp>
          <p:nvSpPr>
            <p:cNvPr id="26" name="TextBox 26"/>
            <p:cNvSpPr txBox="1"/>
            <p:nvPr/>
          </p:nvSpPr>
          <p:spPr>
            <a:xfrm>
              <a:off x="981456" y="5482590"/>
              <a:ext cx="91595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Precision, Recall, F1 ve PR-AUC'yi azınlık sınıfı bağlamında yorumlamak</a:t>
              </a:r>
            </a:p>
          </p:txBody>
        </p:sp>
        <p:sp>
          <p:nvSpPr>
            <p:cNvPr id="27" name="TextBox 27"/>
            <p:cNvSpPr txBox="1"/>
            <p:nvPr/>
          </p:nvSpPr>
          <p:spPr>
            <a:xfrm>
              <a:off x="982599" y="5811679"/>
              <a:ext cx="619324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PR-AUC sonucunu iş gereksinimiyle birlikte açıklamak</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682545" cy="668845"/>
            <a:chOff x="609600" y="171450"/>
            <a:chExt cx="7682545"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69921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temel kavram</a:t>
              </a:r>
            </a:p>
          </p:txBody>
        </p:sp>
      </p:grpSp>
      <p:grpSp>
        <p:nvGrpSpPr>
          <p:cNvPr id="49" name="concept-map"/>
          <p:cNvGrpSpPr/>
          <p:nvPr/>
        </p:nvGrpSpPr>
        <p:grpSpPr>
          <a:xfrm>
            <a:off x="685800" y="1219200"/>
            <a:ext cx="10896600" cy="4886706"/>
            <a:chOff x="685800" y="1219200"/>
            <a:chExt cx="10896600" cy="4886706"/>
          </a:xfrm>
        </p:grpSpPr>
        <p:grpSp>
          <p:nvGrpSpPr>
            <p:cNvPr id="20" name="Group 20"/>
            <p:cNvGrpSpPr/>
            <p:nvPr/>
          </p:nvGrpSpPr>
          <p:grpSpPr>
            <a:xfrm>
              <a:off x="3143250" y="1581150"/>
              <a:ext cx="6381750" cy="4038600"/>
              <a:chOff x="3143250" y="1581150"/>
              <a:chExt cx="63817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2524125"/>
              </a:xfrm>
              <a:prstGeom prst="line">
                <a:avLst/>
              </a:prstGeom>
              <a:noFill/>
              <a:ln w="23812">
                <a:solidFill>
                  <a:srgbClr val="00A6A6"/>
                </a:solidFill>
                <a:tailEnd type="arrow" w="lg" len="lg"/>
              </a:ln>
            </p:spPr>
          </p:sp>
          <p:sp>
            <p:nvSpPr>
              <p:cNvPr id="18" name="Line 18"/>
              <p:cNvSpPr/>
              <p:nvPr/>
            </p:nvSpPr>
            <p:spPr>
              <a:xfrm>
                <a:off x="8496300" y="1676400"/>
                <a:ext cx="1" cy="1276350"/>
              </a:xfrm>
              <a:prstGeom prst="line">
                <a:avLst/>
              </a:prstGeom>
              <a:noFill/>
              <a:ln w="19050">
                <a:solidFill>
                  <a:srgbClr val="52616B"/>
                </a:solidFill>
                <a:custDash>
                  <a:ds d="300000" sp="200000"/>
                </a:custDash>
                <a:tailEnd type="arrow" w="lg" len="lg"/>
              </a:ln>
            </p:spPr>
          </p:sp>
          <p:sp>
            <p:nvSpPr>
              <p:cNvPr id="19" name="Line 19"/>
              <p:cNvSpPr/>
              <p:nvPr/>
            </p:nvSpPr>
            <p:spPr>
              <a:xfrm>
                <a:off x="8496300" y="4171950"/>
                <a:ext cx="1028700" cy="1162050"/>
              </a:xfrm>
              <a:prstGeom prst="line">
                <a:avLst/>
              </a:prstGeom>
              <a:noFill/>
              <a:ln w="19050">
                <a:solidFill>
                  <a:srgbClr val="52616B"/>
                </a:solidFill>
                <a:custDash>
                  <a:ds d="300000" sp="200000"/>
                </a:custDash>
                <a:tailEnd type="arrow" w="lg" len="lg"/>
              </a:ln>
            </p:spPr>
          </p:sp>
        </p:grpSp>
        <p:grpSp>
          <p:nvGrpSpPr>
            <p:cNvPr id="23" name="map-hub"/>
            <p:cNvGrpSpPr/>
            <p:nvPr/>
          </p:nvGrpSpPr>
          <p:grpSpPr>
            <a:xfrm>
              <a:off x="685800" y="2381250"/>
              <a:ext cx="2381250" cy="1428750"/>
              <a:chOff x="685800" y="2381250"/>
              <a:chExt cx="2381250" cy="1428750"/>
            </a:xfrm>
          </p:grpSpPr>
          <p:sp>
            <p:nvSpPr>
              <p:cNvPr id="21" name="Rectangle 21"/>
              <p:cNvSpPr/>
              <p:nvPr/>
            </p:nvSpPr>
            <p:spPr>
              <a:xfrm>
                <a:off x="685800" y="2381250"/>
                <a:ext cx="2381250" cy="1428750"/>
              </a:xfrm>
              <a:prstGeom prst="roundRect">
                <a:avLst>
                  <a:gd name="adj" fmla="val 6667"/>
                </a:avLst>
              </a:prstGeom>
              <a:solidFill>
                <a:srgbClr val="12355B"/>
              </a:solidFill>
              <a:ln>
                <a:noFill/>
              </a:ln>
            </p:spPr>
          </p:sp>
          <p:sp>
            <p:nvSpPr>
              <p:cNvPr id="22" name="TextBox 22"/>
              <p:cNvSpPr txBox="1"/>
              <p:nvPr/>
            </p:nvSpPr>
            <p:spPr>
              <a:xfrm>
                <a:off x="942594" y="2742248"/>
                <a:ext cx="1905048" cy="705231"/>
              </a:xfrm>
              <a:prstGeom prst="rect">
                <a:avLst/>
              </a:prstGeom>
              <a:noFill/>
              <a:ln>
                <a:noFill/>
              </a:ln>
            </p:spPr>
            <p:txBody>
              <a:bodyPr wrap="none" lIns="0" tIns="0" rIns="0" bIns="0" anchor="t" anchorCtr="0">
                <a:spAutoFit/>
              </a:bodyPr>
              <a:lstStyle/>
              <a:p>
                <a:pPr algn="l">
                  <a:lnSpc>
                    <a:spcPts val="2550"/>
                  </a:lnSpc>
                </a:pPr>
                <a:r>
                  <a:rPr lang="tr-TR" sz="1950" b="1" dirty="0">
                    <a:solidFill>
                      <a:srgbClr val="FFFFFF"/>
                    </a:solidFill>
                    <a:latin typeface="+mn-lt"/>
                    <a:ea typeface="+mn-ea"/>
                    <a:cs typeface="+mn-cs"/>
                  </a:rPr>
                  <a:t>Dengesiz</a:t>
                </a:r>
                <a:br/>
                <a:r>
                  <a:rPr lang="tr-TR" sz="1950" b="1" dirty="0">
                    <a:solidFill>
                      <a:srgbClr val="FFFFFF"/>
                    </a:solidFill>
                    <a:latin typeface="+mn-lt"/>
                    <a:ea typeface="+mn-ea"/>
                    <a:cs typeface="+mn-cs"/>
                  </a:rPr>
                  <a:t>veri &amp; tuzaklar</a:t>
                </a:r>
              </a:p>
            </p:txBody>
          </p:sp>
        </p:grpSp>
        <p:grpSp>
          <p:nvGrpSpPr>
            <p:cNvPr id="27" name="map-node-imbalance"/>
            <p:cNvGrpSpPr/>
            <p:nvPr/>
          </p:nvGrpSpPr>
          <p:grpSpPr>
            <a:xfrm>
              <a:off x="4572000" y="1219200"/>
              <a:ext cx="3810000" cy="723900"/>
              <a:chOff x="4572000" y="1219200"/>
              <a:chExt cx="3810000" cy="723900"/>
            </a:xfrm>
          </p:grpSpPr>
          <p:sp>
            <p:nvSpPr>
              <p:cNvPr id="24" name="Rectangle 24"/>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5" name="TextBox 25"/>
              <p:cNvSpPr txBox="1"/>
              <p:nvPr/>
            </p:nvSpPr>
            <p:spPr>
              <a:xfrm>
                <a:off x="4791456" y="1329690"/>
                <a:ext cx="235409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Doğruluk yanılgısı</a:t>
                </a:r>
              </a:p>
            </p:txBody>
          </p:sp>
          <p:sp>
            <p:nvSpPr>
              <p:cNvPr id="26" name="TextBox 26"/>
              <p:cNvSpPr txBox="1"/>
              <p:nvPr/>
            </p:nvSpPr>
            <p:spPr>
              <a:xfrm>
                <a:off x="4792599" y="1601629"/>
                <a:ext cx="210045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azınlığı gizleyebilir</a:t>
                </a:r>
              </a:p>
            </p:txBody>
          </p:sp>
        </p:grpSp>
        <p:grpSp>
          <p:nvGrpSpPr>
            <p:cNvPr id="31" name="map-node-smote"/>
            <p:cNvGrpSpPr/>
            <p:nvPr/>
          </p:nvGrpSpPr>
          <p:grpSpPr>
            <a:xfrm>
              <a:off x="4572000" y="2209800"/>
              <a:ext cx="3810000" cy="723900"/>
              <a:chOff x="4572000" y="2209800"/>
              <a:chExt cx="3810000" cy="723900"/>
            </a:xfrm>
          </p:grpSpPr>
          <p:sp>
            <p:nvSpPr>
              <p:cNvPr id="28" name="Rectangle 28"/>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29" name="TextBox 29"/>
              <p:cNvSpPr txBox="1"/>
              <p:nvPr/>
            </p:nvSpPr>
            <p:spPr>
              <a:xfrm>
                <a:off x="4791456" y="2320290"/>
                <a:ext cx="86511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SMOTE</a:t>
                </a:r>
              </a:p>
            </p:txBody>
          </p:sp>
          <p:sp>
            <p:nvSpPr>
              <p:cNvPr id="30" name="TextBox 30"/>
              <p:cNvSpPr txBox="1"/>
              <p:nvPr/>
            </p:nvSpPr>
            <p:spPr>
              <a:xfrm>
                <a:off x="4792599" y="2592229"/>
                <a:ext cx="315332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sentetik azınlık örneği üretir</a:t>
                </a:r>
              </a:p>
            </p:txBody>
          </p:sp>
        </p:grpSp>
        <p:grpSp>
          <p:nvGrpSpPr>
            <p:cNvPr id="35" name="map-node-weight"/>
            <p:cNvGrpSpPr/>
            <p:nvPr/>
          </p:nvGrpSpPr>
          <p:grpSpPr>
            <a:xfrm>
              <a:off x="4572000" y="3200400"/>
              <a:ext cx="3810000" cy="723900"/>
              <a:chOff x="4572000" y="3200400"/>
              <a:chExt cx="3810000" cy="723900"/>
            </a:xfrm>
          </p:grpSpPr>
          <p:sp>
            <p:nvSpPr>
              <p:cNvPr id="32" name="Rectangle 32"/>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3" name="TextBox 33"/>
              <p:cNvSpPr txBox="1"/>
              <p:nvPr/>
            </p:nvSpPr>
            <p:spPr>
              <a:xfrm>
                <a:off x="4791456" y="3310890"/>
                <a:ext cx="16212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class_weight</a:t>
                </a:r>
              </a:p>
            </p:txBody>
          </p:sp>
          <p:sp>
            <p:nvSpPr>
              <p:cNvPr id="34" name="TextBox 34"/>
              <p:cNvSpPr txBox="1"/>
              <p:nvPr/>
            </p:nvSpPr>
            <p:spPr>
              <a:xfrm>
                <a:off x="4792599" y="3582829"/>
                <a:ext cx="325967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hata maliyetini ağırlıklandırır</a:t>
                </a:r>
              </a:p>
            </p:txBody>
          </p:sp>
        </p:grpSp>
        <p:grpSp>
          <p:nvGrpSpPr>
            <p:cNvPr id="39" name="map-node-pipeline"/>
            <p:cNvGrpSpPr/>
            <p:nvPr/>
          </p:nvGrpSpPr>
          <p:grpSpPr>
            <a:xfrm>
              <a:off x="4572000" y="5334000"/>
              <a:ext cx="7010400" cy="723900"/>
              <a:chOff x="4572000" y="5334000"/>
              <a:chExt cx="7010400" cy="723900"/>
            </a:xfrm>
          </p:grpSpPr>
          <p:sp>
            <p:nvSpPr>
              <p:cNvPr id="36" name="Rectangle 36"/>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37" name="TextBox 37"/>
              <p:cNvSpPr txBox="1"/>
              <p:nvPr/>
            </p:nvSpPr>
            <p:spPr>
              <a:xfrm>
                <a:off x="4791456" y="5444490"/>
                <a:ext cx="36158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Sızıntısız Pipeline &amp; PR-AUC</a:t>
                </a:r>
              </a:p>
            </p:txBody>
          </p:sp>
          <p:sp>
            <p:nvSpPr>
              <p:cNvPr id="38" name="TextBox 38"/>
              <p:cNvSpPr txBox="1"/>
              <p:nvPr/>
            </p:nvSpPr>
            <p:spPr>
              <a:xfrm>
                <a:off x="4792599" y="5716429"/>
                <a:ext cx="618429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tüm adımları eğitim katında birleştirip iş bağlamında ölçer</a:t>
                </a:r>
              </a:p>
            </p:txBody>
          </p:sp>
        </p:grpSp>
        <p:grpSp>
          <p:nvGrpSpPr>
            <p:cNvPr id="43" name="map-node-leakage"/>
            <p:cNvGrpSpPr/>
            <p:nvPr/>
          </p:nvGrpSpPr>
          <p:grpSpPr>
            <a:xfrm>
              <a:off x="8496300" y="2952750"/>
              <a:ext cx="3086100" cy="1219200"/>
              <a:chOff x="8496300" y="2952750"/>
              <a:chExt cx="3086100" cy="1219200"/>
            </a:xfrm>
          </p:grpSpPr>
          <p:sp>
            <p:nvSpPr>
              <p:cNvPr id="40" name="Rectangle 40"/>
              <p:cNvSpPr/>
              <p:nvPr/>
            </p:nvSpPr>
            <p:spPr>
              <a:xfrm>
                <a:off x="8496300" y="2952750"/>
                <a:ext cx="3086100" cy="1219200"/>
              </a:xfrm>
              <a:prstGeom prst="roundRect">
                <a:avLst>
                  <a:gd name="adj" fmla="val 7812"/>
                </a:avLst>
              </a:prstGeom>
              <a:solidFill>
                <a:srgbClr val="FFFFFF"/>
              </a:solidFill>
              <a:ln w="14288">
                <a:solidFill>
                  <a:srgbClr val="B8CBD3"/>
                </a:solidFill>
              </a:ln>
            </p:spPr>
          </p:sp>
          <p:sp>
            <p:nvSpPr>
              <p:cNvPr id="41" name="TextBox 41"/>
              <p:cNvSpPr txBox="1"/>
              <p:nvPr/>
            </p:nvSpPr>
            <p:spPr>
              <a:xfrm>
                <a:off x="8715756" y="310134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sızıntısı</a:t>
                </a:r>
              </a:p>
            </p:txBody>
          </p:sp>
          <p:sp>
            <p:nvSpPr>
              <p:cNvPr id="42" name="TextBox 42"/>
              <p:cNvSpPr txBox="1"/>
              <p:nvPr/>
            </p:nvSpPr>
            <p:spPr>
              <a:xfrm>
                <a:off x="8718804" y="3451860"/>
                <a:ext cx="18333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Yanlış sırayla uygulanan</a:t>
                </a:r>
                <a:br/>
                <a:r>
                  <a:rPr lang="tr-TR" sz="1200" dirty="0">
                    <a:solidFill>
                      <a:srgbClr val="172B3A"/>
                    </a:solidFill>
                    <a:latin typeface="+mn-lt"/>
                    <a:ea typeface="+mn-ea"/>
                    <a:cs typeface="+mn-cs"/>
                  </a:rPr>
                  <a:t>SMOTE, test bilgisini</a:t>
                </a:r>
                <a:br/>
                <a:r>
                  <a:rPr lang="tr-TR" sz="1200" dirty="0">
                    <a:solidFill>
                      <a:srgbClr val="172B3A"/>
                    </a:solidFill>
                    <a:latin typeface="+mn-lt"/>
                    <a:ea typeface="+mn-ea"/>
                    <a:cs typeface="+mn-cs"/>
                  </a:rPr>
                  <a:t>eğitime taşır.</a:t>
                </a:r>
              </a:p>
            </p:txBody>
          </p:sp>
        </p:grpSp>
        <p:grpSp>
          <p:nvGrpSpPr>
            <p:cNvPr id="48" name="map-legend"/>
            <p:cNvGrpSpPr/>
            <p:nvPr/>
          </p:nvGrpSpPr>
          <p:grpSpPr>
            <a:xfrm>
              <a:off x="685800" y="5528310"/>
              <a:ext cx="3601521" cy="577596"/>
              <a:chOff x="685800" y="5528310"/>
              <a:chExt cx="3601521" cy="577596"/>
            </a:xfrm>
          </p:grpSpPr>
          <p:sp>
            <p:nvSpPr>
              <p:cNvPr id="44" name="Line 44"/>
              <p:cNvSpPr/>
              <p:nvPr/>
            </p:nvSpPr>
            <p:spPr>
              <a:xfrm>
                <a:off x="685800" y="5600700"/>
                <a:ext cx="304800" cy="1"/>
              </a:xfrm>
              <a:prstGeom prst="line">
                <a:avLst/>
              </a:prstGeom>
              <a:noFill/>
              <a:ln w="23812">
                <a:solidFill>
                  <a:srgbClr val="00A6A6"/>
                </a:solidFill>
                <a:tailEnd type="arrow" w="lg" len="lg"/>
              </a:ln>
            </p:spPr>
          </p:sp>
          <p:sp>
            <p:nvSpPr>
              <p:cNvPr id="45" name="TextBox 45"/>
              <p:cNvSpPr txBox="1"/>
              <p:nvPr/>
            </p:nvSpPr>
            <p:spPr>
              <a:xfrm>
                <a:off x="1079754" y="5528310"/>
                <a:ext cx="280408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Temel problemden türeyen yaklaşım</a:t>
                </a:r>
              </a:p>
            </p:txBody>
          </p:sp>
          <p:sp>
            <p:nvSpPr>
              <p:cNvPr id="46" name="Line 46"/>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7" name="TextBox 47"/>
              <p:cNvSpPr txBox="1"/>
              <p:nvPr/>
            </p:nvSpPr>
            <p:spPr>
              <a:xfrm>
                <a:off x="1079754" y="5871210"/>
                <a:ext cx="32075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Risk ve sızıntısız değerlendirme ilişkisi</a:t>
                </a:r>
              </a:p>
            </p:txBody>
          </p:sp>
        </p:gr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740294" cy="668845"/>
            <a:chOff x="609600" y="171450"/>
            <a:chExt cx="474029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404992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Dengesiz veri kümesi</a:t>
              </a:r>
            </a:p>
          </p:txBody>
        </p:sp>
      </p:grpSp>
      <p:grpSp>
        <p:nvGrpSpPr>
          <p:cNvPr id="16" name="definition-block"/>
          <p:cNvGrpSpPr/>
          <p:nvPr/>
        </p:nvGrpSpPr>
        <p:grpSpPr>
          <a:xfrm>
            <a:off x="600456" y="1329690"/>
            <a:ext cx="4389025" cy="2846927"/>
            <a:chOff x="600456" y="1329690"/>
            <a:chExt cx="4389025" cy="2846927"/>
          </a:xfrm>
        </p:grpSpPr>
        <p:sp>
          <p:nvSpPr>
            <p:cNvPr id="12" name="TextBox 12"/>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13" name="TextBox 13"/>
            <p:cNvSpPr txBox="1"/>
            <p:nvPr/>
          </p:nvSpPr>
          <p:spPr>
            <a:xfrm>
              <a:off x="601599" y="1658779"/>
              <a:ext cx="4387882"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Hedef sınıflarının gözlem sayılarının</a:t>
              </a:r>
              <a:br/>
              <a:r>
                <a:rPr lang="tr-TR" sz="1580" dirty="0">
                  <a:solidFill>
                    <a:srgbClr val="172B3A"/>
                  </a:solidFill>
                  <a:latin typeface="+mn-lt"/>
                  <a:ea typeface="+mn-ea"/>
                  <a:cs typeface="+mn-cs"/>
                </a:rPr>
                <a:t>belirgin biçimde farklı olduğu veri</a:t>
              </a:r>
              <a:br/>
              <a:r>
                <a:rPr lang="tr-TR" sz="1580" dirty="0">
                  <a:solidFill>
                    <a:srgbClr val="172B3A"/>
                  </a:solidFill>
                  <a:latin typeface="+mn-lt"/>
                  <a:ea typeface="+mn-ea"/>
                  <a:cs typeface="+mn-cs"/>
                </a:rPr>
                <a:t>kümesidir. Sık görülen sınıfa</a:t>
              </a:r>
              <a:br/>
              <a:r>
                <a:rPr lang="tr-TR" sz="1580" b="1" dirty="0">
                  <a:solidFill>
                    <a:srgbClr val="12355B"/>
                  </a:solidFill>
                  <a:latin typeface="+mn-lt"/>
                  <a:ea typeface="+mn-ea"/>
                  <a:cs typeface="+mn-cs"/>
                </a:rPr>
                <a:t>çoğunluk</a:t>
              </a:r>
              <a:r>
                <a:rPr lang="tr-TR" sz="1580" dirty="0">
                  <a:solidFill>
                    <a:srgbClr val="172B3A"/>
                  </a:solidFill>
                  <a:latin typeface="+mn-lt"/>
                  <a:ea typeface="+mn-ea"/>
                  <a:cs typeface="+mn-cs"/>
                </a:rPr>
                <a:t xml:space="preserve">, az görülene </a:t>
              </a:r>
              <a:r>
                <a:rPr lang="tr-TR" sz="1580" b="1" dirty="0">
                  <a:solidFill>
                    <a:srgbClr val="12355B"/>
                  </a:solidFill>
                  <a:latin typeface="+mn-lt"/>
                  <a:ea typeface="+mn-ea"/>
                  <a:cs typeface="+mn-cs"/>
                </a:rPr>
                <a:t>azınlık</a:t>
              </a:r>
              <a:r>
                <a:rPr lang="tr-TR" sz="1580" dirty="0">
                  <a:solidFill>
                    <a:srgbClr val="172B3A"/>
                  </a:solidFill>
                  <a:latin typeface="+mn-lt"/>
                  <a:ea typeface="+mn-ea"/>
                  <a:cs typeface="+mn-cs"/>
                </a:rPr>
                <a:t xml:space="preserve"> sınıfı denir.</a:t>
              </a:r>
            </a:p>
          </p:txBody>
        </p:sp>
        <p:sp>
          <p:nvSpPr>
            <p:cNvPr id="14" name="TextBox 14"/>
            <p:cNvSpPr txBox="1"/>
            <p:nvPr/>
          </p:nvSpPr>
          <p:spPr>
            <a:xfrm>
              <a:off x="600456" y="30060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5" name="TextBox 15"/>
            <p:cNvSpPr txBox="1"/>
            <p:nvPr/>
          </p:nvSpPr>
          <p:spPr>
            <a:xfrm>
              <a:off x="601599" y="3335179"/>
              <a:ext cx="3848608"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Dolandırıcılık, üretim hatası ve nadir</a:t>
              </a:r>
              <a:br/>
              <a:r>
                <a:rPr lang="tr-TR" sz="1580" dirty="0">
                  <a:solidFill>
                    <a:srgbClr val="172B3A"/>
                  </a:solidFill>
                  <a:latin typeface="+mn-lt"/>
                  <a:ea typeface="+mn-ea"/>
                  <a:cs typeface="+mn-cs"/>
                </a:rPr>
                <a:t>hastalık gibi kritik olaylar gerçek</a:t>
              </a:r>
              <a:br/>
              <a:r>
                <a:rPr lang="tr-TR" sz="1580" dirty="0">
                  <a:solidFill>
                    <a:srgbClr val="172B3A"/>
                  </a:solidFill>
                  <a:latin typeface="+mn-lt"/>
                  <a:ea typeface="+mn-ea"/>
                  <a:cs typeface="+mn-cs"/>
                </a:rPr>
                <a:t>dünyada çoğunlukla nadirdir.</a:t>
              </a:r>
            </a:p>
          </p:txBody>
        </p:sp>
      </p:grpSp>
      <p:grpSp>
        <p:nvGrpSpPr>
          <p:cNvPr id="27" name="example-panel"/>
          <p:cNvGrpSpPr/>
          <p:nvPr/>
        </p:nvGrpSpPr>
        <p:grpSpPr>
          <a:xfrm>
            <a:off x="6858000" y="1257300"/>
            <a:ext cx="4724400" cy="3238500"/>
            <a:chOff x="6858000" y="1257300"/>
            <a:chExt cx="4724400" cy="3238500"/>
          </a:xfrm>
        </p:grpSpPr>
        <p:sp>
          <p:nvSpPr>
            <p:cNvPr id="17" name="Rectangle 17"/>
            <p:cNvSpPr/>
            <p:nvPr/>
          </p:nvSpPr>
          <p:spPr>
            <a:xfrm>
              <a:off x="6858000" y="1257300"/>
              <a:ext cx="4724400" cy="3238500"/>
            </a:xfrm>
            <a:prstGeom prst="roundRect">
              <a:avLst>
                <a:gd name="adj" fmla="val 2941"/>
              </a:avLst>
            </a:prstGeom>
            <a:solidFill>
              <a:srgbClr val="FFFFFF"/>
            </a:solidFill>
            <a:ln w="14288">
              <a:solidFill>
                <a:srgbClr val="B8CBD3"/>
              </a:solidFill>
            </a:ln>
          </p:spPr>
        </p:sp>
        <p:sp>
          <p:nvSpPr>
            <p:cNvPr id="18" name="TextBox 18"/>
            <p:cNvSpPr txBox="1"/>
            <p:nvPr/>
          </p:nvSpPr>
          <p:spPr>
            <a:xfrm>
              <a:off x="7077456" y="1443990"/>
              <a:ext cx="34645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Küçük örnek: 1.000 müşteri</a:t>
              </a:r>
            </a:p>
          </p:txBody>
        </p:sp>
        <p:sp>
          <p:nvSpPr>
            <p:cNvPr id="19" name="Rectangle 19"/>
            <p:cNvSpPr/>
            <p:nvPr/>
          </p:nvSpPr>
          <p:spPr>
            <a:xfrm>
              <a:off x="7086600" y="2000250"/>
              <a:ext cx="3581400" cy="342900"/>
            </a:xfrm>
            <a:prstGeom prst="rect">
              <a:avLst/>
            </a:prstGeom>
            <a:solidFill>
              <a:srgbClr val="EAF4F6"/>
            </a:solidFill>
            <a:ln>
              <a:noFill/>
            </a:ln>
          </p:spPr>
        </p:sp>
        <p:sp>
          <p:nvSpPr>
            <p:cNvPr id="20" name="Rectangle 20"/>
            <p:cNvSpPr/>
            <p:nvPr/>
          </p:nvSpPr>
          <p:spPr>
            <a:xfrm>
              <a:off x="7086600" y="2000250"/>
              <a:ext cx="3362325" cy="342900"/>
            </a:xfrm>
            <a:prstGeom prst="rect">
              <a:avLst/>
            </a:prstGeom>
            <a:solidFill>
              <a:srgbClr val="2E86AB"/>
            </a:solidFill>
            <a:ln>
              <a:noFill/>
            </a:ln>
          </p:spPr>
        </p:sp>
        <p:sp>
          <p:nvSpPr>
            <p:cNvPr id="21" name="TextBox 21"/>
            <p:cNvSpPr txBox="1"/>
            <p:nvPr/>
          </p:nvSpPr>
          <p:spPr>
            <a:xfrm>
              <a:off x="10139629" y="2099310"/>
              <a:ext cx="1296467" cy="234696"/>
            </a:xfrm>
            <a:prstGeom prst="rect">
              <a:avLst/>
            </a:prstGeom>
            <a:noFill/>
            <a:ln>
              <a:noFill/>
            </a:ln>
          </p:spPr>
          <p:txBody>
            <a:bodyPr wrap="none" lIns="0" tIns="0" rIns="0" bIns="0" anchor="t" anchorCtr="0">
              <a:spAutoFit/>
            </a:bodyPr>
            <a:lstStyle/>
            <a:p>
              <a:pPr algn="r"/>
              <a:r>
                <a:rPr lang="tr-TR" sz="1200" dirty="0">
                  <a:solidFill>
                    <a:srgbClr val="172B3A"/>
                  </a:solidFill>
                  <a:latin typeface="+mn-lt"/>
                  <a:ea typeface="+mn-ea"/>
                  <a:cs typeface="+mn-cs"/>
                </a:rPr>
                <a:t>940 "ayrılmadı"</a:t>
              </a:r>
            </a:p>
          </p:txBody>
        </p:sp>
        <p:sp>
          <p:nvSpPr>
            <p:cNvPr id="22" name="Rectangle 22"/>
            <p:cNvSpPr/>
            <p:nvPr/>
          </p:nvSpPr>
          <p:spPr>
            <a:xfrm>
              <a:off x="7086600" y="2533650"/>
              <a:ext cx="3581400" cy="342900"/>
            </a:xfrm>
            <a:prstGeom prst="rect">
              <a:avLst/>
            </a:prstGeom>
            <a:solidFill>
              <a:srgbClr val="EAF4F6"/>
            </a:solidFill>
            <a:ln>
              <a:noFill/>
            </a:ln>
          </p:spPr>
        </p:sp>
        <p:sp>
          <p:nvSpPr>
            <p:cNvPr id="23" name="Rectangle 23"/>
            <p:cNvSpPr/>
            <p:nvPr/>
          </p:nvSpPr>
          <p:spPr>
            <a:xfrm>
              <a:off x="7086600" y="2533650"/>
              <a:ext cx="228600" cy="342900"/>
            </a:xfrm>
            <a:prstGeom prst="rect">
              <a:avLst/>
            </a:prstGeom>
            <a:solidFill>
              <a:srgbClr val="00A6A6"/>
            </a:solidFill>
            <a:ln>
              <a:noFill/>
            </a:ln>
          </p:spPr>
        </p:sp>
        <p:sp>
          <p:nvSpPr>
            <p:cNvPr id="24" name="TextBox 24"/>
            <p:cNvSpPr txBox="1"/>
            <p:nvPr/>
          </p:nvSpPr>
          <p:spPr>
            <a:xfrm>
              <a:off x="10438486" y="2632710"/>
              <a:ext cx="997610" cy="234696"/>
            </a:xfrm>
            <a:prstGeom prst="rect">
              <a:avLst/>
            </a:prstGeom>
            <a:noFill/>
            <a:ln>
              <a:noFill/>
            </a:ln>
          </p:spPr>
          <p:txBody>
            <a:bodyPr wrap="none" lIns="0" tIns="0" rIns="0" bIns="0" anchor="t" anchorCtr="0">
              <a:spAutoFit/>
            </a:bodyPr>
            <a:lstStyle/>
            <a:p>
              <a:pPr algn="r"/>
              <a:r>
                <a:rPr lang="tr-TR" sz="1200" dirty="0">
                  <a:solidFill>
                    <a:srgbClr val="172B3A"/>
                  </a:solidFill>
                  <a:latin typeface="+mn-lt"/>
                  <a:ea typeface="+mn-ea"/>
                  <a:cs typeface="+mn-cs"/>
                </a:rPr>
                <a:t>60 "ayrıldı"</a:t>
              </a:r>
            </a:p>
          </p:txBody>
        </p:sp>
        <p:sp>
          <p:nvSpPr>
            <p:cNvPr id="25" name="TextBox 25"/>
            <p:cNvSpPr txBox="1"/>
            <p:nvPr/>
          </p:nvSpPr>
          <p:spPr>
            <a:xfrm>
              <a:off x="7078599" y="3068479"/>
              <a:ext cx="3446786"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Her müşteriye "ayrılmadı" diyen</a:t>
              </a:r>
              <a:br/>
              <a:r>
                <a:rPr lang="tr-TR" sz="1580" dirty="0">
                  <a:solidFill>
                    <a:srgbClr val="172B3A"/>
                  </a:solidFill>
                  <a:latin typeface="+mn-lt"/>
                  <a:ea typeface="+mn-ea"/>
                  <a:cs typeface="+mn-cs"/>
                </a:rPr>
                <a:t xml:space="preserve">model </a:t>
              </a:r>
              <a:r>
                <a:rPr lang="tr-TR" sz="1580" b="1" dirty="0">
                  <a:solidFill>
                    <a:srgbClr val="12355B"/>
                  </a:solidFill>
                  <a:latin typeface="+mn-lt"/>
                  <a:ea typeface="+mn-ea"/>
                  <a:cs typeface="+mn-cs"/>
                </a:rPr>
                <a:t>%94 doğruluk</a:t>
              </a:r>
              <a:r>
                <a:rPr lang="tr-TR" sz="1580" dirty="0">
                  <a:solidFill>
                    <a:srgbClr val="172B3A"/>
                  </a:solidFill>
                  <a:latin typeface="+mn-lt"/>
                  <a:ea typeface="+mn-ea"/>
                  <a:cs typeface="+mn-cs"/>
                </a:rPr>
                <a:t xml:space="preserve"> alır; ancak</a:t>
              </a:r>
              <a:br/>
              <a:r>
                <a:rPr lang="tr-TR" sz="1580" dirty="0">
                  <a:solidFill>
                    <a:srgbClr val="172B3A"/>
                  </a:solidFill>
                  <a:latin typeface="+mn-lt"/>
                  <a:ea typeface="+mn-ea"/>
                  <a:cs typeface="+mn-cs"/>
                </a:rPr>
                <a:t xml:space="preserve">60 ayrılmanın </a:t>
              </a:r>
              <a:r>
                <a:rPr lang="tr-TR" sz="1580" b="1" dirty="0">
                  <a:solidFill>
                    <a:srgbClr val="12355B"/>
                  </a:solidFill>
                  <a:latin typeface="+mn-lt"/>
                  <a:ea typeface="+mn-ea"/>
                  <a:cs typeface="+mn-cs"/>
                </a:rPr>
                <a:t>tamamını kaçırır</a:t>
              </a:r>
              <a:r>
                <a:rPr lang="tr-TR" sz="1580" dirty="0">
                  <a:solidFill>
                    <a:srgbClr val="172B3A"/>
                  </a:solidFill>
                  <a:latin typeface="+mn-lt"/>
                  <a:ea typeface="+mn-ea"/>
                  <a:cs typeface="+mn-cs"/>
                </a:rPr>
                <a:t>.</a:t>
              </a:r>
            </a:p>
          </p:txBody>
        </p:sp>
        <p:sp>
          <p:nvSpPr>
            <p:cNvPr id="26" name="TextBox 26"/>
            <p:cNvSpPr txBox="1"/>
            <p:nvPr/>
          </p:nvSpPr>
          <p:spPr>
            <a:xfrm>
              <a:off x="7080504" y="4061460"/>
              <a:ext cx="33649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Önce kararın maliyeti belirlenmeli, ardından</a:t>
              </a:r>
              <a:br/>
              <a:r>
                <a:rPr lang="tr-TR" sz="1200" dirty="0">
                  <a:solidFill>
                    <a:srgbClr val="52616B"/>
                  </a:solidFill>
                  <a:latin typeface="+mn-lt"/>
                  <a:ea typeface="+mn-ea"/>
                  <a:cs typeface="+mn-cs"/>
                </a:rPr>
                <a:t>duyarlılık, kesinlik ve PR-AUC incelenmelidir.</a:t>
              </a:r>
            </a:p>
          </p:txBody>
        </p:sp>
      </p:grpSp>
      <p:grpSp>
        <p:nvGrpSpPr>
          <p:cNvPr id="31" name="boundary-note"/>
          <p:cNvGrpSpPr/>
          <p:nvPr/>
        </p:nvGrpSpPr>
        <p:grpSpPr>
          <a:xfrm>
            <a:off x="609600" y="4762500"/>
            <a:ext cx="10972800" cy="976217"/>
            <a:chOff x="609600" y="4762500"/>
            <a:chExt cx="10972800" cy="976217"/>
          </a:xfrm>
        </p:grpSpPr>
        <p:sp>
          <p:nvSpPr>
            <p:cNvPr id="28" name="Rectangle 28"/>
            <p:cNvSpPr/>
            <p:nvPr/>
          </p:nvSpPr>
          <p:spPr>
            <a:xfrm>
              <a:off x="609600" y="4762500"/>
              <a:ext cx="10972800" cy="952500"/>
            </a:xfrm>
            <a:prstGeom prst="roundRect">
              <a:avLst>
                <a:gd name="adj" fmla="val 8000"/>
              </a:avLst>
            </a:prstGeom>
            <a:solidFill>
              <a:srgbClr val="EAF4F6"/>
            </a:solidFill>
            <a:ln>
              <a:noFill/>
            </a:ln>
          </p:spPr>
        </p:sp>
        <p:sp>
          <p:nvSpPr>
            <p:cNvPr id="29" name="TextBox 29"/>
            <p:cNvSpPr txBox="1"/>
            <p:nvPr/>
          </p:nvSpPr>
          <p:spPr>
            <a:xfrm>
              <a:off x="905256" y="4911090"/>
              <a:ext cx="72589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Sınır</a:t>
              </a:r>
            </a:p>
          </p:txBody>
        </p:sp>
        <p:sp>
          <p:nvSpPr>
            <p:cNvPr id="30" name="TextBox 30"/>
            <p:cNvSpPr txBox="1"/>
            <p:nvPr/>
          </p:nvSpPr>
          <p:spPr>
            <a:xfrm>
              <a:off x="906399" y="5183029"/>
              <a:ext cx="741032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Yeniden örnekleme eğitimdeki sınıf oranını değiştirir; gerçek olay oranını</a:t>
              </a:r>
              <a:br/>
              <a:r>
                <a:rPr lang="tr-TR" sz="1580" dirty="0">
                  <a:solidFill>
                    <a:srgbClr val="172B3A"/>
                  </a:solidFill>
                  <a:latin typeface="+mn-lt"/>
                  <a:ea typeface="+mn-ea"/>
                  <a:cs typeface="+mn-cs"/>
                </a:rPr>
                <a:t>değiştirmez. Test kümesi doğal dağılımı korumalıdır.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7439878" cy="668845"/>
            <a:chOff x="609600" y="171450"/>
            <a:chExt cx="7439878"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674950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Doğruluk yanılgısı: sayısal kanıt</a:t>
              </a:r>
            </a:p>
          </p:txBody>
        </p:sp>
      </p:grpSp>
      <p:grpSp>
        <p:nvGrpSpPr>
          <p:cNvPr id="10" name="setup-note"/>
          <p:cNvGrpSpPr/>
          <p:nvPr/>
        </p:nvGrpSpPr>
        <p:grpSpPr>
          <a:xfrm>
            <a:off x="601599" y="1258729"/>
            <a:ext cx="10227888" cy="308039"/>
            <a:chOff x="601599" y="1258729"/>
            <a:chExt cx="10227888" cy="308039"/>
          </a:xfrm>
        </p:grpSpPr>
        <p:sp>
          <p:nvSpPr>
            <p:cNvPr id="9" name="TextBox 9"/>
            <p:cNvSpPr txBox="1"/>
            <p:nvPr/>
          </p:nvSpPr>
          <p:spPr>
            <a:xfrm>
              <a:off x="601599" y="1258729"/>
              <a:ext cx="1022788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 xml:space="preserve">Sentetik churn verisi (2.000 gözlem, ~%6,2 churn) üzerinde temel </a:t>
              </a:r>
              <a:r>
                <a:rPr lang="tr-TR" sz="1580" b="1" dirty="0">
                  <a:solidFill>
                    <a:srgbClr val="12355B"/>
                  </a:solidFill>
                  <a:latin typeface="+mn-lt"/>
                  <a:ea typeface="+mn-ea"/>
                  <a:cs typeface="+mn-cs"/>
                </a:rPr>
                <a:t>LogisticRegression</a:t>
              </a:r>
              <a:r>
                <a:rPr lang="tr-TR" sz="1580" dirty="0">
                  <a:solidFill>
                    <a:srgbClr val="172B3A"/>
                  </a:solidFill>
                  <a:latin typeface="+mn-lt"/>
                  <a:ea typeface="+mn-ea"/>
                  <a:cs typeface="+mn-cs"/>
                </a:rPr>
                <a:t xml:space="preserve"> ile eğitildi.</a:t>
              </a:r>
            </a:p>
          </p:txBody>
        </p:sp>
      </p:grpSp>
      <p:grpSp>
        <p:nvGrpSpPr>
          <p:cNvPr id="29" name="confusion-matrix"/>
          <p:cNvGrpSpPr/>
          <p:nvPr/>
        </p:nvGrpSpPr>
        <p:grpSpPr>
          <a:xfrm>
            <a:off x="600456" y="1672590"/>
            <a:ext cx="4162044" cy="2814066"/>
            <a:chOff x="600456" y="1672590"/>
            <a:chExt cx="4162044" cy="2814066"/>
          </a:xfrm>
        </p:grpSpPr>
        <p:sp>
          <p:nvSpPr>
            <p:cNvPr id="11" name="TextBox 11"/>
            <p:cNvSpPr txBox="1"/>
            <p:nvPr/>
          </p:nvSpPr>
          <p:spPr>
            <a:xfrm>
              <a:off x="600456" y="1672590"/>
              <a:ext cx="39726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Karışıklık matrisi (test = 600)</a:t>
              </a:r>
            </a:p>
          </p:txBody>
        </p:sp>
        <p:sp>
          <p:nvSpPr>
            <p:cNvPr id="12" name="Rectangle 12"/>
            <p:cNvSpPr/>
            <p:nvPr/>
          </p:nvSpPr>
          <p:spPr>
            <a:xfrm>
              <a:off x="2095500" y="2057400"/>
              <a:ext cx="1333500" cy="571500"/>
            </a:xfrm>
            <a:prstGeom prst="rect">
              <a:avLst/>
            </a:prstGeom>
            <a:solidFill>
              <a:srgbClr val="EAF4F6"/>
            </a:solidFill>
            <a:ln w="9525">
              <a:solidFill>
                <a:srgbClr val="B8CBD3"/>
              </a:solidFill>
            </a:ln>
          </p:spPr>
        </p:sp>
        <p:sp>
          <p:nvSpPr>
            <p:cNvPr id="13" name="TextBox 13"/>
            <p:cNvSpPr txBox="1"/>
            <p:nvPr/>
          </p:nvSpPr>
          <p:spPr>
            <a:xfrm>
              <a:off x="2377021" y="2270760"/>
              <a:ext cx="77045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 0</a:t>
              </a:r>
            </a:p>
          </p:txBody>
        </p:sp>
        <p:sp>
          <p:nvSpPr>
            <p:cNvPr id="14" name="Rectangle 14"/>
            <p:cNvSpPr/>
            <p:nvPr/>
          </p:nvSpPr>
          <p:spPr>
            <a:xfrm>
              <a:off x="3429000" y="2057400"/>
              <a:ext cx="1333500" cy="571500"/>
            </a:xfrm>
            <a:prstGeom prst="rect">
              <a:avLst/>
            </a:prstGeom>
            <a:solidFill>
              <a:srgbClr val="EAF4F6"/>
            </a:solidFill>
            <a:ln w="9525">
              <a:solidFill>
                <a:srgbClr val="B8CBD3"/>
              </a:solidFill>
            </a:ln>
          </p:spPr>
        </p:sp>
        <p:sp>
          <p:nvSpPr>
            <p:cNvPr id="15" name="TextBox 15"/>
            <p:cNvSpPr txBox="1"/>
            <p:nvPr/>
          </p:nvSpPr>
          <p:spPr>
            <a:xfrm>
              <a:off x="3710521" y="2270760"/>
              <a:ext cx="770458"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Tahmin: 1</a:t>
              </a:r>
            </a:p>
          </p:txBody>
        </p:sp>
        <p:sp>
          <p:nvSpPr>
            <p:cNvPr id="16" name="Rectangle 16"/>
            <p:cNvSpPr/>
            <p:nvPr/>
          </p:nvSpPr>
          <p:spPr>
            <a:xfrm>
              <a:off x="609600" y="2628900"/>
              <a:ext cx="1485900" cy="571500"/>
            </a:xfrm>
            <a:prstGeom prst="rect">
              <a:avLst/>
            </a:prstGeom>
            <a:solidFill>
              <a:srgbClr val="EAF4F6"/>
            </a:solidFill>
            <a:ln w="9525">
              <a:solidFill>
                <a:srgbClr val="B8CBD3"/>
              </a:solidFill>
            </a:ln>
          </p:spPr>
        </p:sp>
        <p:sp>
          <p:nvSpPr>
            <p:cNvPr id="17" name="TextBox 17"/>
            <p:cNvSpPr txBox="1"/>
            <p:nvPr/>
          </p:nvSpPr>
          <p:spPr>
            <a:xfrm>
              <a:off x="963244" y="2842260"/>
              <a:ext cx="77861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Gerçek: 0</a:t>
              </a:r>
            </a:p>
          </p:txBody>
        </p:sp>
        <p:sp>
          <p:nvSpPr>
            <p:cNvPr id="18" name="Rectangle 18"/>
            <p:cNvSpPr/>
            <p:nvPr/>
          </p:nvSpPr>
          <p:spPr>
            <a:xfrm>
              <a:off x="2095500" y="2628900"/>
              <a:ext cx="1333500" cy="571500"/>
            </a:xfrm>
            <a:prstGeom prst="rect">
              <a:avLst/>
            </a:prstGeom>
            <a:solidFill>
              <a:srgbClr val="FFFFFF"/>
            </a:solidFill>
            <a:ln w="14288">
              <a:solidFill>
                <a:srgbClr val="2E86AB"/>
              </a:solidFill>
            </a:ln>
          </p:spPr>
        </p:sp>
        <p:sp>
          <p:nvSpPr>
            <p:cNvPr id="19" name="TextBox 19"/>
            <p:cNvSpPr txBox="1"/>
            <p:nvPr/>
          </p:nvSpPr>
          <p:spPr>
            <a:xfrm>
              <a:off x="2524946" y="2799398"/>
              <a:ext cx="474609"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563</a:t>
              </a:r>
            </a:p>
          </p:txBody>
        </p:sp>
        <p:sp>
          <p:nvSpPr>
            <p:cNvPr id="20" name="Rectangle 20"/>
            <p:cNvSpPr/>
            <p:nvPr/>
          </p:nvSpPr>
          <p:spPr>
            <a:xfrm>
              <a:off x="3429000" y="2628900"/>
              <a:ext cx="1333500" cy="571500"/>
            </a:xfrm>
            <a:prstGeom prst="rect">
              <a:avLst/>
            </a:prstGeom>
            <a:solidFill>
              <a:srgbClr val="FFFFFF"/>
            </a:solidFill>
            <a:ln w="9525">
              <a:solidFill>
                <a:srgbClr val="B8CBD3"/>
              </a:solidFill>
            </a:ln>
          </p:spPr>
        </p:sp>
        <p:sp>
          <p:nvSpPr>
            <p:cNvPr id="21" name="TextBox 21"/>
            <p:cNvSpPr txBox="1"/>
            <p:nvPr/>
          </p:nvSpPr>
          <p:spPr>
            <a:xfrm>
              <a:off x="4010045" y="2799398"/>
              <a:ext cx="171411" cy="381381"/>
            </a:xfrm>
            <a:prstGeom prst="rect">
              <a:avLst/>
            </a:prstGeom>
            <a:noFill/>
            <a:ln>
              <a:noFill/>
            </a:ln>
          </p:spPr>
          <p:txBody>
            <a:bodyPr wrap="none" lIns="0" tIns="0" rIns="0" bIns="0" anchor="t" anchorCtr="0">
              <a:spAutoFit/>
            </a:bodyPr>
            <a:lstStyle/>
            <a:p>
              <a:pPr algn="ctr"/>
              <a:r>
                <a:rPr lang="tr-TR" sz="1950" b="1" dirty="0">
                  <a:solidFill>
                    <a:srgbClr val="52616B"/>
                  </a:solidFill>
                  <a:latin typeface="+mn-lt"/>
                  <a:ea typeface="+mn-ea"/>
                  <a:cs typeface="+mn-cs"/>
                </a:rPr>
                <a:t>0</a:t>
              </a:r>
            </a:p>
          </p:txBody>
        </p:sp>
        <p:sp>
          <p:nvSpPr>
            <p:cNvPr id="22" name="Rectangle 22"/>
            <p:cNvSpPr/>
            <p:nvPr/>
          </p:nvSpPr>
          <p:spPr>
            <a:xfrm>
              <a:off x="609600" y="3200400"/>
              <a:ext cx="1485900" cy="571500"/>
            </a:xfrm>
            <a:prstGeom prst="rect">
              <a:avLst/>
            </a:prstGeom>
            <a:solidFill>
              <a:srgbClr val="EAF4F6"/>
            </a:solidFill>
            <a:ln w="9525">
              <a:solidFill>
                <a:srgbClr val="B8CBD3"/>
              </a:solidFill>
            </a:ln>
          </p:spPr>
        </p:sp>
        <p:sp>
          <p:nvSpPr>
            <p:cNvPr id="23" name="TextBox 23"/>
            <p:cNvSpPr txBox="1"/>
            <p:nvPr/>
          </p:nvSpPr>
          <p:spPr>
            <a:xfrm>
              <a:off x="963244" y="3413760"/>
              <a:ext cx="778612"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Gerçek: 1</a:t>
              </a:r>
            </a:p>
          </p:txBody>
        </p:sp>
        <p:sp>
          <p:nvSpPr>
            <p:cNvPr id="24" name="Rectangle 24"/>
            <p:cNvSpPr/>
            <p:nvPr/>
          </p:nvSpPr>
          <p:spPr>
            <a:xfrm>
              <a:off x="2095500" y="3200400"/>
              <a:ext cx="1333500" cy="571500"/>
            </a:xfrm>
            <a:prstGeom prst="rect">
              <a:avLst/>
            </a:prstGeom>
            <a:solidFill>
              <a:srgbClr val="FFFFFF"/>
            </a:solidFill>
            <a:ln w="19050">
              <a:solidFill>
                <a:srgbClr val="00A6A6"/>
              </a:solidFill>
            </a:ln>
          </p:spPr>
        </p:sp>
        <p:sp>
          <p:nvSpPr>
            <p:cNvPr id="25" name="TextBox 25"/>
            <p:cNvSpPr txBox="1"/>
            <p:nvPr/>
          </p:nvSpPr>
          <p:spPr>
            <a:xfrm>
              <a:off x="2600745" y="3370898"/>
              <a:ext cx="323010" cy="381381"/>
            </a:xfrm>
            <a:prstGeom prst="rect">
              <a:avLst/>
            </a:prstGeom>
            <a:noFill/>
            <a:ln>
              <a:noFill/>
            </a:ln>
          </p:spPr>
          <p:txBody>
            <a:bodyPr wrap="none" lIns="0" tIns="0" rIns="0" bIns="0" anchor="t" anchorCtr="0">
              <a:spAutoFit/>
            </a:bodyPr>
            <a:lstStyle/>
            <a:p>
              <a:pPr algn="ctr"/>
              <a:r>
                <a:rPr lang="tr-TR" sz="1950" b="1" dirty="0">
                  <a:solidFill>
                    <a:srgbClr val="12355B"/>
                  </a:solidFill>
                  <a:latin typeface="+mn-lt"/>
                  <a:ea typeface="+mn-ea"/>
                  <a:cs typeface="+mn-cs"/>
                </a:rPr>
                <a:t>37</a:t>
              </a:r>
            </a:p>
          </p:txBody>
        </p:sp>
        <p:sp>
          <p:nvSpPr>
            <p:cNvPr id="26" name="Rectangle 26"/>
            <p:cNvSpPr/>
            <p:nvPr/>
          </p:nvSpPr>
          <p:spPr>
            <a:xfrm>
              <a:off x="3429000" y="3200400"/>
              <a:ext cx="1333500" cy="571500"/>
            </a:xfrm>
            <a:prstGeom prst="rect">
              <a:avLst/>
            </a:prstGeom>
            <a:solidFill>
              <a:srgbClr val="FFFFFF"/>
            </a:solidFill>
            <a:ln w="19050">
              <a:solidFill>
                <a:srgbClr val="00A6A6"/>
              </a:solidFill>
            </a:ln>
          </p:spPr>
        </p:sp>
        <p:sp>
          <p:nvSpPr>
            <p:cNvPr id="27" name="TextBox 27"/>
            <p:cNvSpPr txBox="1"/>
            <p:nvPr/>
          </p:nvSpPr>
          <p:spPr>
            <a:xfrm>
              <a:off x="4010045" y="3370898"/>
              <a:ext cx="171411" cy="381381"/>
            </a:xfrm>
            <a:prstGeom prst="rect">
              <a:avLst/>
            </a:prstGeom>
            <a:noFill/>
            <a:ln>
              <a:noFill/>
            </a:ln>
          </p:spPr>
          <p:txBody>
            <a:bodyPr wrap="none" lIns="0" tIns="0" rIns="0" bIns="0" anchor="t" anchorCtr="0">
              <a:spAutoFit/>
            </a:bodyPr>
            <a:lstStyle/>
            <a:p>
              <a:pPr algn="ctr"/>
              <a:r>
                <a:rPr lang="tr-TR" sz="1950" b="1" dirty="0">
                  <a:solidFill>
                    <a:srgbClr val="00A6A6"/>
                  </a:solidFill>
                  <a:latin typeface="+mn-lt"/>
                  <a:ea typeface="+mn-ea"/>
                  <a:cs typeface="+mn-cs"/>
                </a:rPr>
                <a:t>0</a:t>
              </a:r>
            </a:p>
          </p:txBody>
        </p:sp>
        <p:sp>
          <p:nvSpPr>
            <p:cNvPr id="28" name="TextBox 28"/>
            <p:cNvSpPr txBox="1"/>
            <p:nvPr/>
          </p:nvSpPr>
          <p:spPr>
            <a:xfrm>
              <a:off x="603504" y="4061460"/>
              <a:ext cx="28239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37 gerçek churn müşterisinin tamamı</a:t>
              </a:r>
              <a:br/>
              <a:r>
                <a:rPr lang="tr-TR" sz="1200" dirty="0">
                  <a:solidFill>
                    <a:srgbClr val="172B3A"/>
                  </a:solidFill>
                  <a:latin typeface="+mn-lt"/>
                  <a:ea typeface="+mn-ea"/>
                  <a:cs typeface="+mn-cs"/>
                </a:rPr>
                <a:t>"ayrılmadı" olarak tahmin edilmiştir.</a:t>
              </a:r>
            </a:p>
          </p:txBody>
        </p:sp>
      </p:grpSp>
      <p:grpSp>
        <p:nvGrpSpPr>
          <p:cNvPr id="34" name="kpi-accuracy"/>
          <p:cNvGrpSpPr/>
          <p:nvPr/>
        </p:nvGrpSpPr>
        <p:grpSpPr>
          <a:xfrm>
            <a:off x="6019800" y="1866900"/>
            <a:ext cx="2667000" cy="1600200"/>
            <a:chOff x="6019800" y="1866900"/>
            <a:chExt cx="2667000" cy="1600200"/>
          </a:xfrm>
        </p:grpSpPr>
        <p:sp>
          <p:nvSpPr>
            <p:cNvPr id="30" name="Rectangle 30"/>
            <p:cNvSpPr/>
            <p:nvPr/>
          </p:nvSpPr>
          <p:spPr>
            <a:xfrm>
              <a:off x="6019800" y="1866900"/>
              <a:ext cx="2667000" cy="1600200"/>
            </a:xfrm>
            <a:prstGeom prst="roundRect">
              <a:avLst>
                <a:gd name="adj" fmla="val 5952"/>
              </a:avLst>
            </a:prstGeom>
            <a:solidFill>
              <a:srgbClr val="FFFFFF"/>
            </a:solidFill>
            <a:ln w="14288">
              <a:solidFill>
                <a:srgbClr val="B8CBD3"/>
              </a:solidFill>
            </a:ln>
          </p:spPr>
        </p:sp>
        <p:sp>
          <p:nvSpPr>
            <p:cNvPr id="31" name="TextBox 31"/>
            <p:cNvSpPr txBox="1"/>
            <p:nvPr/>
          </p:nvSpPr>
          <p:spPr>
            <a:xfrm>
              <a:off x="6240399" y="2039779"/>
              <a:ext cx="9493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Doğruluk</a:t>
              </a:r>
            </a:p>
          </p:txBody>
        </p:sp>
        <p:sp>
          <p:nvSpPr>
            <p:cNvPr id="32" name="TextBox 32"/>
            <p:cNvSpPr txBox="1"/>
            <p:nvPr/>
          </p:nvSpPr>
          <p:spPr>
            <a:xfrm>
              <a:off x="6233922" y="2473642"/>
              <a:ext cx="1217365" cy="557403"/>
            </a:xfrm>
            <a:prstGeom prst="rect">
              <a:avLst/>
            </a:prstGeom>
            <a:noFill/>
            <a:ln>
              <a:noFill/>
            </a:ln>
          </p:spPr>
          <p:txBody>
            <a:bodyPr wrap="none" lIns="0" tIns="0" rIns="0" bIns="0" anchor="t" anchorCtr="0">
              <a:spAutoFit/>
            </a:bodyPr>
            <a:lstStyle/>
            <a:p>
              <a:pPr algn="l"/>
              <a:r>
                <a:rPr lang="tr-TR" sz="2850" b="1" dirty="0">
                  <a:solidFill>
                    <a:srgbClr val="2E86AB"/>
                  </a:solidFill>
                  <a:latin typeface="+mn-lt"/>
                  <a:ea typeface="+mn-ea"/>
                  <a:cs typeface="+mn-cs"/>
                </a:rPr>
                <a:t>%93.8</a:t>
              </a:r>
            </a:p>
          </p:txBody>
        </p:sp>
        <p:sp>
          <p:nvSpPr>
            <p:cNvPr id="33" name="TextBox 33"/>
            <p:cNvSpPr txBox="1"/>
            <p:nvPr/>
          </p:nvSpPr>
          <p:spPr>
            <a:xfrm>
              <a:off x="6242304" y="2975610"/>
              <a:ext cx="16657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Genel test doğruluğu —</a:t>
              </a:r>
              <a:br/>
              <a:r>
                <a:rPr lang="tr-TR" sz="1200" dirty="0">
                  <a:solidFill>
                    <a:srgbClr val="52616B"/>
                  </a:solidFill>
                  <a:latin typeface="+mn-lt"/>
                  <a:ea typeface="+mn-ea"/>
                  <a:cs typeface="+mn-cs"/>
                </a:rPr>
                <a:t>yüksek görünür</a:t>
              </a:r>
            </a:p>
          </p:txBody>
        </p:sp>
      </p:grpSp>
      <p:grpSp>
        <p:nvGrpSpPr>
          <p:cNvPr id="39" name="kpi-recall"/>
          <p:cNvGrpSpPr/>
          <p:nvPr/>
        </p:nvGrpSpPr>
        <p:grpSpPr>
          <a:xfrm>
            <a:off x="8991600" y="1866900"/>
            <a:ext cx="2590800" cy="1600200"/>
            <a:chOff x="8991600" y="1866900"/>
            <a:chExt cx="2590800" cy="1600200"/>
          </a:xfrm>
        </p:grpSpPr>
        <p:sp>
          <p:nvSpPr>
            <p:cNvPr id="35" name="Rectangle 35"/>
            <p:cNvSpPr/>
            <p:nvPr/>
          </p:nvSpPr>
          <p:spPr>
            <a:xfrm>
              <a:off x="8991600" y="1866900"/>
              <a:ext cx="2590800" cy="1600200"/>
            </a:xfrm>
            <a:prstGeom prst="roundRect">
              <a:avLst>
                <a:gd name="adj" fmla="val 5952"/>
              </a:avLst>
            </a:prstGeom>
            <a:solidFill>
              <a:srgbClr val="FFFFFF"/>
            </a:solidFill>
            <a:ln w="19050">
              <a:solidFill>
                <a:srgbClr val="00A6A6"/>
              </a:solidFill>
            </a:ln>
          </p:spPr>
        </p:sp>
        <p:sp>
          <p:nvSpPr>
            <p:cNvPr id="36" name="TextBox 36"/>
            <p:cNvSpPr txBox="1"/>
            <p:nvPr/>
          </p:nvSpPr>
          <p:spPr>
            <a:xfrm>
              <a:off x="9212199" y="2039779"/>
              <a:ext cx="152537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Azınlık Recall</a:t>
              </a:r>
            </a:p>
          </p:txBody>
        </p:sp>
        <p:sp>
          <p:nvSpPr>
            <p:cNvPr id="37" name="TextBox 37"/>
            <p:cNvSpPr txBox="1"/>
            <p:nvPr/>
          </p:nvSpPr>
          <p:spPr>
            <a:xfrm>
              <a:off x="9205722" y="2473642"/>
              <a:ext cx="1136794" cy="557403"/>
            </a:xfrm>
            <a:prstGeom prst="rect">
              <a:avLst/>
            </a:prstGeom>
            <a:noFill/>
            <a:ln>
              <a:noFill/>
            </a:ln>
          </p:spPr>
          <p:txBody>
            <a:bodyPr wrap="none" lIns="0" tIns="0" rIns="0" bIns="0" anchor="t" anchorCtr="0">
              <a:spAutoFit/>
            </a:bodyPr>
            <a:lstStyle/>
            <a:p>
              <a:pPr algn="l"/>
              <a:r>
                <a:rPr lang="tr-TR" sz="2850" b="1" dirty="0">
                  <a:solidFill>
                    <a:srgbClr val="00A6A6"/>
                  </a:solidFill>
                  <a:latin typeface="+mn-lt"/>
                  <a:ea typeface="+mn-ea"/>
                  <a:cs typeface="+mn-cs"/>
                </a:rPr>
                <a:t>0.000</a:t>
              </a:r>
            </a:p>
          </p:txBody>
        </p:sp>
        <p:sp>
          <p:nvSpPr>
            <p:cNvPr id="38" name="TextBox 38"/>
            <p:cNvSpPr txBox="1"/>
            <p:nvPr/>
          </p:nvSpPr>
          <p:spPr>
            <a:xfrm>
              <a:off x="9214104" y="3032760"/>
              <a:ext cx="234369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Yakalanan gerçek churn oranı</a:t>
              </a:r>
            </a:p>
          </p:txBody>
        </p:sp>
      </p:grpSp>
      <p:grpSp>
        <p:nvGrpSpPr>
          <p:cNvPr id="43" name="takeaway"/>
          <p:cNvGrpSpPr/>
          <p:nvPr/>
        </p:nvGrpSpPr>
        <p:grpSpPr>
          <a:xfrm>
            <a:off x="6019800" y="3695700"/>
            <a:ext cx="5562600" cy="1409700"/>
            <a:chOff x="6019800" y="3695700"/>
            <a:chExt cx="5562600" cy="1409700"/>
          </a:xfrm>
        </p:grpSpPr>
        <p:sp>
          <p:nvSpPr>
            <p:cNvPr id="40" name="Rectangle 40"/>
            <p:cNvSpPr/>
            <p:nvPr/>
          </p:nvSpPr>
          <p:spPr>
            <a:xfrm>
              <a:off x="6019800" y="3695700"/>
              <a:ext cx="5562600" cy="1409700"/>
            </a:xfrm>
            <a:prstGeom prst="roundRect">
              <a:avLst>
                <a:gd name="adj" fmla="val 5405"/>
              </a:avLst>
            </a:prstGeom>
            <a:solidFill>
              <a:srgbClr val="EAF4F6"/>
            </a:solidFill>
            <a:ln>
              <a:noFill/>
            </a:ln>
          </p:spPr>
        </p:sp>
        <p:sp>
          <p:nvSpPr>
            <p:cNvPr id="41" name="TextBox 41"/>
            <p:cNvSpPr txBox="1"/>
            <p:nvPr/>
          </p:nvSpPr>
          <p:spPr>
            <a:xfrm>
              <a:off x="6316599" y="3868579"/>
              <a:ext cx="39776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"Yüksek doğruluk" ≠ "yararlı model"</a:t>
              </a:r>
            </a:p>
          </p:txBody>
        </p:sp>
        <p:sp>
          <p:nvSpPr>
            <p:cNvPr id="42" name="TextBox 42"/>
            <p:cNvSpPr txBox="1"/>
            <p:nvPr/>
          </p:nvSpPr>
          <p:spPr>
            <a:xfrm>
              <a:off x="6318504" y="4232910"/>
              <a:ext cx="3296412" cy="806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macro avg recall 0.500, weighted avg f1</a:t>
              </a:r>
              <a:br/>
              <a:r>
                <a:rPr lang="tr-TR" sz="1200" dirty="0">
                  <a:solidFill>
                    <a:srgbClr val="172B3A"/>
                  </a:solidFill>
                  <a:latin typeface="+mn-lt"/>
                  <a:ea typeface="+mn-ea"/>
                  <a:cs typeface="+mn-cs"/>
                </a:rPr>
                <a:t>0.908 — ama azınlık sınıfı f1-score 0.000.</a:t>
              </a:r>
              <a:br/>
              <a:r>
                <a:rPr lang="tr-TR" sz="1200" dirty="0">
                  <a:solidFill>
                    <a:srgbClr val="172B3A"/>
                  </a:solidFill>
                  <a:latin typeface="+mn-lt"/>
                  <a:ea typeface="+mn-ea"/>
                  <a:cs typeface="+mn-cs"/>
                </a:rPr>
                <a:t>Önce hangi hatanın maliyetli olduğu</a:t>
              </a:r>
              <a:br/>
              <a:r>
                <a:rPr lang="tr-TR" sz="1200" dirty="0">
                  <a:solidFill>
                    <a:srgbClr val="172B3A"/>
                  </a:solidFill>
                  <a:latin typeface="+mn-lt"/>
                  <a:ea typeface="+mn-ea"/>
                  <a:cs typeface="+mn-cs"/>
                </a:rPr>
                <a:t>belirlenmelidir.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7077523" cy="668845"/>
            <a:chOff x="609600" y="171450"/>
            <a:chExt cx="7077523"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63871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Hangi metrik ne zaman güvenilir?</a:t>
              </a:r>
            </a:p>
          </p:txBody>
        </p:sp>
      </p:grpSp>
      <p:grpSp>
        <p:nvGrpSpPr>
          <p:cNvPr id="43" name="metric-table"/>
          <p:cNvGrpSpPr/>
          <p:nvPr/>
        </p:nvGrpSpPr>
        <p:grpSpPr>
          <a:xfrm>
            <a:off x="609600" y="1257300"/>
            <a:ext cx="10972800" cy="4419600"/>
            <a:chOff x="609600" y="1257300"/>
            <a:chExt cx="10972800" cy="4419600"/>
          </a:xfrm>
        </p:grpSpPr>
        <p:sp>
          <p:nvSpPr>
            <p:cNvPr id="11" name="Rectangle 11"/>
            <p:cNvSpPr/>
            <p:nvPr/>
          </p:nvSpPr>
          <p:spPr>
            <a:xfrm>
              <a:off x="609600" y="1257300"/>
              <a:ext cx="10972800" cy="419100"/>
            </a:xfrm>
            <a:prstGeom prst="rect">
              <a:avLst/>
            </a:prstGeom>
            <a:solidFill>
              <a:srgbClr val="12355B"/>
            </a:solidFill>
            <a:ln>
              <a:noFill/>
            </a:ln>
          </p:spPr>
        </p:sp>
        <p:sp>
          <p:nvSpPr>
            <p:cNvPr id="12" name="TextBox 12"/>
            <p:cNvSpPr txBox="1"/>
            <p:nvPr/>
          </p:nvSpPr>
          <p:spPr>
            <a:xfrm>
              <a:off x="832104" y="1394460"/>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METRİK</a:t>
              </a:r>
            </a:p>
          </p:txBody>
        </p:sp>
        <p:sp>
          <p:nvSpPr>
            <p:cNvPr id="13" name="TextBox 13"/>
            <p:cNvSpPr txBox="1"/>
            <p:nvPr/>
          </p:nvSpPr>
          <p:spPr>
            <a:xfrm>
              <a:off x="2775204" y="1394460"/>
              <a:ext cx="83064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AVANTAJI</a:t>
              </a:r>
            </a:p>
          </p:txBody>
        </p:sp>
        <p:sp>
          <p:nvSpPr>
            <p:cNvPr id="14" name="TextBox 14"/>
            <p:cNvSpPr txBox="1"/>
            <p:nvPr/>
          </p:nvSpPr>
          <p:spPr>
            <a:xfrm>
              <a:off x="5613654" y="1394460"/>
              <a:ext cx="1158362"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DEZAVANTAJI</a:t>
              </a:r>
            </a:p>
          </p:txBody>
        </p:sp>
        <p:sp>
          <p:nvSpPr>
            <p:cNvPr id="15" name="TextBox 15"/>
            <p:cNvSpPr txBox="1"/>
            <p:nvPr/>
          </p:nvSpPr>
          <p:spPr>
            <a:xfrm>
              <a:off x="8452104" y="1394460"/>
              <a:ext cx="119420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UYGUN DURUM</a:t>
              </a:r>
            </a:p>
          </p:txBody>
        </p:sp>
        <p:sp>
          <p:nvSpPr>
            <p:cNvPr id="16" name="Rectangle 16"/>
            <p:cNvSpPr/>
            <p:nvPr/>
          </p:nvSpPr>
          <p:spPr>
            <a:xfrm>
              <a:off x="609600" y="1676400"/>
              <a:ext cx="10972800" cy="800100"/>
            </a:xfrm>
            <a:prstGeom prst="rect">
              <a:avLst/>
            </a:prstGeom>
            <a:solidFill>
              <a:srgbClr val="FFFFFF"/>
            </a:solidFill>
            <a:ln>
              <a:noFill/>
            </a:ln>
          </p:spPr>
        </p:sp>
        <p:sp>
          <p:nvSpPr>
            <p:cNvPr id="17" name="TextBox 17"/>
            <p:cNvSpPr txBox="1"/>
            <p:nvPr/>
          </p:nvSpPr>
          <p:spPr>
            <a:xfrm>
              <a:off x="830199" y="1849279"/>
              <a:ext cx="9493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Doğruluk</a:t>
              </a:r>
            </a:p>
          </p:txBody>
        </p:sp>
        <p:sp>
          <p:nvSpPr>
            <p:cNvPr id="18" name="TextBox 18"/>
            <p:cNvSpPr txBox="1"/>
            <p:nvPr/>
          </p:nvSpPr>
          <p:spPr>
            <a:xfrm>
              <a:off x="2775204" y="1889760"/>
              <a:ext cx="11881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Kolay anlaşılır</a:t>
              </a:r>
            </a:p>
          </p:txBody>
        </p:sp>
        <p:sp>
          <p:nvSpPr>
            <p:cNvPr id="19" name="TextBox 19"/>
            <p:cNvSpPr txBox="1"/>
            <p:nvPr/>
          </p:nvSpPr>
          <p:spPr>
            <a:xfrm>
              <a:off x="5613654" y="1889760"/>
              <a:ext cx="15998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Azınlığı gizleyebilir</a:t>
              </a:r>
            </a:p>
          </p:txBody>
        </p:sp>
        <p:sp>
          <p:nvSpPr>
            <p:cNvPr id="20" name="TextBox 20"/>
            <p:cNvSpPr txBox="1"/>
            <p:nvPr/>
          </p:nvSpPr>
          <p:spPr>
            <a:xfrm>
              <a:off x="8452104" y="1889760"/>
              <a:ext cx="15435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Sınıflar dengeliyse</a:t>
              </a:r>
            </a:p>
          </p:txBody>
        </p:sp>
        <p:sp>
          <p:nvSpPr>
            <p:cNvPr id="21" name="Line 21"/>
            <p:cNvSpPr/>
            <p:nvPr/>
          </p:nvSpPr>
          <p:spPr>
            <a:xfrm>
              <a:off x="609600" y="24765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22" name="Rectangle 22"/>
            <p:cNvSpPr/>
            <p:nvPr/>
          </p:nvSpPr>
          <p:spPr>
            <a:xfrm>
              <a:off x="609600" y="2476500"/>
              <a:ext cx="10972800" cy="800100"/>
            </a:xfrm>
            <a:prstGeom prst="rect">
              <a:avLst/>
            </a:prstGeom>
            <a:solidFill>
              <a:srgbClr val="EAF4F6"/>
            </a:solidFill>
            <a:ln>
              <a:noFill/>
            </a:ln>
          </p:spPr>
        </p:sp>
        <p:sp>
          <p:nvSpPr>
            <p:cNvPr id="23" name="TextBox 23"/>
            <p:cNvSpPr txBox="1"/>
            <p:nvPr/>
          </p:nvSpPr>
          <p:spPr>
            <a:xfrm>
              <a:off x="830199" y="2649379"/>
              <a:ext cx="208521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Duyarlılık (Recall)</a:t>
              </a:r>
            </a:p>
          </p:txBody>
        </p:sp>
        <p:sp>
          <p:nvSpPr>
            <p:cNvPr id="24" name="TextBox 24"/>
            <p:cNvSpPr txBox="1"/>
            <p:nvPr/>
          </p:nvSpPr>
          <p:spPr>
            <a:xfrm>
              <a:off x="2775204" y="2689860"/>
              <a:ext cx="270681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Kaçırılan olumlu olayları gösterir</a:t>
              </a:r>
            </a:p>
          </p:txBody>
        </p:sp>
        <p:sp>
          <p:nvSpPr>
            <p:cNvPr id="25" name="TextBox 25"/>
            <p:cNvSpPr txBox="1"/>
            <p:nvPr/>
          </p:nvSpPr>
          <p:spPr>
            <a:xfrm>
              <a:off x="5613654" y="2689860"/>
              <a:ext cx="22625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Fazla yanlış alarm üretebilir</a:t>
              </a:r>
            </a:p>
          </p:txBody>
        </p:sp>
        <p:sp>
          <p:nvSpPr>
            <p:cNvPr id="26" name="TextBox 26"/>
            <p:cNvSpPr txBox="1"/>
            <p:nvPr/>
          </p:nvSpPr>
          <p:spPr>
            <a:xfrm>
              <a:off x="8452104" y="2689860"/>
              <a:ext cx="20369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Hastalık, churn, güvenlik</a:t>
              </a:r>
            </a:p>
          </p:txBody>
        </p:sp>
        <p:sp>
          <p:nvSpPr>
            <p:cNvPr id="27" name="Rectangle 27"/>
            <p:cNvSpPr/>
            <p:nvPr/>
          </p:nvSpPr>
          <p:spPr>
            <a:xfrm>
              <a:off x="609600" y="3276600"/>
              <a:ext cx="10972800" cy="800100"/>
            </a:xfrm>
            <a:prstGeom prst="rect">
              <a:avLst/>
            </a:prstGeom>
            <a:solidFill>
              <a:srgbClr val="FFFFFF"/>
            </a:solidFill>
            <a:ln>
              <a:noFill/>
            </a:ln>
          </p:spPr>
        </p:sp>
        <p:sp>
          <p:nvSpPr>
            <p:cNvPr id="28" name="TextBox 28"/>
            <p:cNvSpPr txBox="1"/>
            <p:nvPr/>
          </p:nvSpPr>
          <p:spPr>
            <a:xfrm>
              <a:off x="830199" y="3449479"/>
              <a:ext cx="215180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Kesinlik (Precision)</a:t>
              </a:r>
            </a:p>
          </p:txBody>
        </p:sp>
        <p:sp>
          <p:nvSpPr>
            <p:cNvPr id="29" name="TextBox 29"/>
            <p:cNvSpPr txBox="1"/>
            <p:nvPr/>
          </p:nvSpPr>
          <p:spPr>
            <a:xfrm>
              <a:off x="2775204" y="3489960"/>
              <a:ext cx="272255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Tahminlerin güvenilirliğini gösterir</a:t>
              </a:r>
            </a:p>
          </p:txBody>
        </p:sp>
        <p:sp>
          <p:nvSpPr>
            <p:cNvPr id="30" name="TextBox 30"/>
            <p:cNvSpPr txBox="1"/>
            <p:nvPr/>
          </p:nvSpPr>
          <p:spPr>
            <a:xfrm>
              <a:off x="5613654" y="3489960"/>
              <a:ext cx="21170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Olumlu olayları kaçırabilir</a:t>
              </a:r>
            </a:p>
          </p:txBody>
        </p:sp>
        <p:sp>
          <p:nvSpPr>
            <p:cNvPr id="31" name="TextBox 31"/>
            <p:cNvSpPr txBox="1"/>
            <p:nvPr/>
          </p:nvSpPr>
          <p:spPr>
            <a:xfrm>
              <a:off x="8452104" y="3489960"/>
              <a:ext cx="21496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İnceleme maliyeti yüksekse</a:t>
              </a:r>
            </a:p>
          </p:txBody>
        </p:sp>
        <p:sp>
          <p:nvSpPr>
            <p:cNvPr id="32" name="Line 32"/>
            <p:cNvSpPr/>
            <p:nvPr/>
          </p:nvSpPr>
          <p:spPr>
            <a:xfrm>
              <a:off x="609600" y="40767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33" name="Rectangle 33"/>
            <p:cNvSpPr/>
            <p:nvPr/>
          </p:nvSpPr>
          <p:spPr>
            <a:xfrm>
              <a:off x="609600" y="4076700"/>
              <a:ext cx="10972800" cy="800100"/>
            </a:xfrm>
            <a:prstGeom prst="rect">
              <a:avLst/>
            </a:prstGeom>
            <a:solidFill>
              <a:srgbClr val="EAF4F6"/>
            </a:solidFill>
            <a:ln>
              <a:noFill/>
            </a:ln>
          </p:spPr>
        </p:sp>
        <p:sp>
          <p:nvSpPr>
            <p:cNvPr id="34" name="TextBox 34"/>
            <p:cNvSpPr txBox="1"/>
            <p:nvPr/>
          </p:nvSpPr>
          <p:spPr>
            <a:xfrm>
              <a:off x="830199" y="4249579"/>
              <a:ext cx="27557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F1</a:t>
              </a:r>
            </a:p>
          </p:txBody>
        </p:sp>
        <p:sp>
          <p:nvSpPr>
            <p:cNvPr id="35" name="TextBox 35"/>
            <p:cNvSpPr txBox="1"/>
            <p:nvPr/>
          </p:nvSpPr>
          <p:spPr>
            <a:xfrm>
              <a:off x="2775204" y="4290060"/>
              <a:ext cx="23190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Kesinlik ve duyarlılık dengesi</a:t>
              </a:r>
            </a:p>
          </p:txBody>
        </p:sp>
        <p:sp>
          <p:nvSpPr>
            <p:cNvPr id="36" name="TextBox 36"/>
            <p:cNvSpPr txBox="1"/>
            <p:nvPr/>
          </p:nvSpPr>
          <p:spPr>
            <a:xfrm>
              <a:off x="5613654" y="4290060"/>
              <a:ext cx="25130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İş maliyetini doğrudan anlatmaz</a:t>
              </a:r>
            </a:p>
          </p:txBody>
        </p:sp>
        <p:sp>
          <p:nvSpPr>
            <p:cNvPr id="37" name="TextBox 37"/>
            <p:cNvSpPr txBox="1"/>
            <p:nvPr/>
          </p:nvSpPr>
          <p:spPr>
            <a:xfrm>
              <a:off x="8452104" y="4290060"/>
              <a:ext cx="164054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Dengeli öncelik varsa</a:t>
              </a:r>
            </a:p>
          </p:txBody>
        </p:sp>
        <p:sp>
          <p:nvSpPr>
            <p:cNvPr id="38" name="Rectangle 38"/>
            <p:cNvSpPr/>
            <p:nvPr/>
          </p:nvSpPr>
          <p:spPr>
            <a:xfrm>
              <a:off x="609600" y="4876800"/>
              <a:ext cx="10972800" cy="800100"/>
            </a:xfrm>
            <a:prstGeom prst="rect">
              <a:avLst/>
            </a:prstGeom>
            <a:solidFill>
              <a:srgbClr val="FFFFFF"/>
            </a:solidFill>
            <a:ln w="19050">
              <a:solidFill>
                <a:srgbClr val="00A6A6"/>
              </a:solidFill>
            </a:ln>
          </p:spPr>
        </p:sp>
        <p:sp>
          <p:nvSpPr>
            <p:cNvPr id="39" name="TextBox 39"/>
            <p:cNvSpPr txBox="1"/>
            <p:nvPr/>
          </p:nvSpPr>
          <p:spPr>
            <a:xfrm>
              <a:off x="830199" y="5049679"/>
              <a:ext cx="7947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PR-AUC</a:t>
              </a:r>
            </a:p>
          </p:txBody>
        </p:sp>
        <p:sp>
          <p:nvSpPr>
            <p:cNvPr id="40" name="TextBox 40"/>
            <p:cNvSpPr txBox="1"/>
            <p:nvPr/>
          </p:nvSpPr>
          <p:spPr>
            <a:xfrm>
              <a:off x="2775204" y="5090160"/>
              <a:ext cx="22546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Azınlık sınıfına duyarlıdır</a:t>
              </a:r>
            </a:p>
          </p:txBody>
        </p:sp>
        <p:sp>
          <p:nvSpPr>
            <p:cNvPr id="41" name="TextBox 41"/>
            <p:cNvSpPr txBox="1"/>
            <p:nvPr/>
          </p:nvSpPr>
          <p:spPr>
            <a:xfrm>
              <a:off x="5613654" y="5090160"/>
              <a:ext cx="27798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Başlangıç düzeyinde yorumu zordur</a:t>
              </a:r>
            </a:p>
          </p:txBody>
        </p:sp>
        <p:sp>
          <p:nvSpPr>
            <p:cNvPr id="42" name="TextBox 42"/>
            <p:cNvSpPr txBox="1"/>
            <p:nvPr/>
          </p:nvSpPr>
          <p:spPr>
            <a:xfrm>
              <a:off x="8452104" y="5090160"/>
              <a:ext cx="16886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Şiddetli dengesizlikte</a:t>
              </a:r>
            </a:p>
          </p:txBody>
        </p:sp>
      </p:grpSp>
      <p:sp>
        <p:nvSpPr>
          <p:cNvPr id="44" name="TextBox 44"/>
          <p:cNvSpPr txBox="1"/>
          <p:nvPr/>
        </p:nvSpPr>
        <p:spPr>
          <a:xfrm>
            <a:off x="603504" y="6099810"/>
            <a:ext cx="635777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Şiddetli dengesizlikte tek bir metrik yerine bu ölçütler birlikte raporlanmalıdır.</a:t>
            </a:r>
          </a:p>
        </p:txBody>
      </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045943" cy="557403"/>
            <a:chOff x="595122" y="282892"/>
            <a:chExt cx="7045943" cy="557403"/>
          </a:xfrm>
        </p:grpSpPr>
        <p:sp>
          <p:nvSpPr>
            <p:cNvPr id="4" name="TextBox 4"/>
            <p:cNvSpPr txBox="1"/>
            <p:nvPr/>
          </p:nvSpPr>
          <p:spPr>
            <a:xfrm>
              <a:off x="595122" y="282892"/>
              <a:ext cx="70459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SMOTE: sentetik azınlık örnekleme</a:t>
              </a:r>
            </a:p>
          </p:txBody>
        </p:sp>
      </p:grpSp>
      <p:grpSp>
        <p:nvGrpSpPr>
          <p:cNvPr id="13" name="smote-text"/>
          <p:cNvGrpSpPr/>
          <p:nvPr/>
        </p:nvGrpSpPr>
        <p:grpSpPr>
          <a:xfrm>
            <a:off x="600456" y="1329690"/>
            <a:ext cx="5724144" cy="4104227"/>
            <a:chOff x="600456" y="1329690"/>
            <a:chExt cx="5724144" cy="4104227"/>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3848608"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Azınlık sınıfındaki komşu gözlemler</a:t>
              </a:r>
              <a:br/>
              <a:r>
                <a:rPr lang="tr-TR" sz="1580" dirty="0">
                  <a:solidFill>
                    <a:srgbClr val="172B3A"/>
                  </a:solidFill>
                  <a:latin typeface="+mn-lt"/>
                  <a:ea typeface="+mn-ea"/>
                  <a:cs typeface="+mn-cs"/>
                </a:rPr>
                <a:t>arasında yeni sentetik gözlemler</a:t>
              </a:r>
              <a:br/>
              <a:r>
                <a:rPr lang="tr-TR" sz="1580" dirty="0">
                  <a:solidFill>
                    <a:srgbClr val="172B3A"/>
                  </a:solidFill>
                  <a:latin typeface="+mn-lt"/>
                  <a:ea typeface="+mn-ea"/>
                  <a:cs typeface="+mn-cs"/>
                </a:rPr>
                <a:t>üretir. Var olan satırları kopyalamaz;</a:t>
              </a:r>
              <a:br/>
              <a:r>
                <a:rPr lang="tr-TR" sz="1580" dirty="0">
                  <a:solidFill>
                    <a:srgbClr val="172B3A"/>
                  </a:solidFill>
                  <a:latin typeface="+mn-lt"/>
                  <a:ea typeface="+mn-ea"/>
                  <a:cs typeface="+mn-cs"/>
                </a:rPr>
                <a:t>özellik uzayında ara noktalar kurar.</a:t>
              </a:r>
            </a:p>
          </p:txBody>
        </p:sp>
        <p:sp>
          <p:nvSpPr>
            <p:cNvPr id="8" name="Rectangle 8"/>
            <p:cNvSpPr/>
            <p:nvPr/>
          </p:nvSpPr>
          <p:spPr>
            <a:xfrm>
              <a:off x="609600" y="3067050"/>
              <a:ext cx="5715000" cy="685800"/>
            </a:xfrm>
            <a:prstGeom prst="roundRect">
              <a:avLst>
                <a:gd name="adj" fmla="val 11111"/>
              </a:avLst>
            </a:prstGeom>
            <a:solidFill>
              <a:srgbClr val="EAF4F6"/>
            </a:solidFill>
            <a:ln>
              <a:noFill/>
            </a:ln>
          </p:spPr>
        </p:sp>
        <p:sp>
          <p:nvSpPr>
            <p:cNvPr id="9" name="TextBox 9"/>
            <p:cNvSpPr txBox="1"/>
            <p:nvPr/>
          </p:nvSpPr>
          <p:spPr>
            <a:xfrm>
              <a:off x="829056" y="3196590"/>
              <a:ext cx="3567612" cy="352044"/>
            </a:xfrm>
            <a:prstGeom prst="rect">
              <a:avLst/>
            </a:prstGeom>
            <a:noFill/>
            <a:ln>
              <a:noFill/>
            </a:ln>
          </p:spPr>
          <p:txBody>
            <a:bodyPr wrap="none" lIns="0" tIns="0" rIns="0" bIns="0" anchor="t" anchorCtr="0">
              <a:spAutoFit/>
            </a:bodyPr>
            <a:lstStyle/>
            <a:p>
              <a:pPr algn="l"/>
              <a:r>
                <a:rPr lang="el-GR" sz="1800" b="1" dirty="0">
                  <a:solidFill>
                    <a:srgbClr val="12355B"/>
                  </a:solidFill>
                  <a:latin typeface="+mn-lt"/>
                  <a:ea typeface="+mn-ea"/>
                  <a:cs typeface="+mn-cs"/>
                </a:rPr>
                <a:t>x_new = x_i + λ · (x_zi − x_i)</a:t>
              </a:r>
            </a:p>
          </p:txBody>
        </p:sp>
        <p:sp>
          <p:nvSpPr>
            <p:cNvPr id="10" name="TextBox 10"/>
            <p:cNvSpPr txBox="1"/>
            <p:nvPr/>
          </p:nvSpPr>
          <p:spPr>
            <a:xfrm>
              <a:off x="832104" y="3489960"/>
              <a:ext cx="3509620" cy="234696"/>
            </a:xfrm>
            <a:prstGeom prst="rect">
              <a:avLst/>
            </a:prstGeom>
            <a:noFill/>
            <a:ln>
              <a:noFill/>
            </a:ln>
          </p:spPr>
          <p:txBody>
            <a:bodyPr wrap="none" lIns="0" tIns="0" rIns="0" bIns="0" anchor="t" anchorCtr="0">
              <a:spAutoFit/>
            </a:bodyPr>
            <a:lstStyle/>
            <a:p>
              <a:pPr algn="l"/>
              <a:r>
                <a:rPr lang="el-GR" sz="1200" dirty="0">
                  <a:solidFill>
                    <a:srgbClr val="52616B"/>
                  </a:solidFill>
                  <a:latin typeface="+mn-lt"/>
                  <a:ea typeface="+mn-ea"/>
                  <a:cs typeface="+mn-cs"/>
                </a:rPr>
                <a:t>λ ∈ [0, 1] rastgele enterpolasyon katsayısı</a:t>
              </a:r>
            </a:p>
          </p:txBody>
        </p:sp>
        <p:sp>
          <p:nvSpPr>
            <p:cNvPr id="11" name="TextBox 11"/>
            <p:cNvSpPr txBox="1"/>
            <p:nvPr/>
          </p:nvSpPr>
          <p:spPr>
            <a:xfrm>
              <a:off x="600456" y="3996690"/>
              <a:ext cx="17829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vardır?</a:t>
              </a:r>
            </a:p>
          </p:txBody>
        </p:sp>
        <p:sp>
          <p:nvSpPr>
            <p:cNvPr id="12" name="TextBox 12"/>
            <p:cNvSpPr txBox="1"/>
            <p:nvPr/>
          </p:nvSpPr>
          <p:spPr>
            <a:xfrm>
              <a:off x="601599" y="4325779"/>
              <a:ext cx="3788410"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Basit tekrar örnekleme aynı satırları</a:t>
              </a:r>
              <a:br/>
              <a:r>
                <a:rPr lang="tr-TR" sz="1580" dirty="0">
                  <a:solidFill>
                    <a:srgbClr val="172B3A"/>
                  </a:solidFill>
                  <a:latin typeface="+mn-lt"/>
                  <a:ea typeface="+mn-ea"/>
                  <a:cs typeface="+mn-cs"/>
                </a:rPr>
                <a:t>çoğaltıp aşırı öğrenme riski yaratır;</a:t>
              </a:r>
              <a:br/>
              <a:r>
                <a:rPr lang="tr-TR" sz="1580" dirty="0">
                  <a:solidFill>
                    <a:srgbClr val="172B3A"/>
                  </a:solidFill>
                  <a:latin typeface="+mn-lt"/>
                  <a:ea typeface="+mn-ea"/>
                  <a:cs typeface="+mn-cs"/>
                </a:rPr>
                <a:t>SMOTE komşuluk kullanarak daha</a:t>
              </a:r>
              <a:br/>
              <a:r>
                <a:rPr lang="tr-TR" sz="1580" dirty="0">
                  <a:solidFill>
                    <a:srgbClr val="172B3A"/>
                  </a:solidFill>
                  <a:latin typeface="+mn-lt"/>
                  <a:ea typeface="+mn-ea"/>
                  <a:cs typeface="+mn-cs"/>
                </a:rPr>
                <a:t>çeşitli sentetik örnekler sunar.</a:t>
              </a:r>
            </a:p>
          </p:txBody>
        </p:sp>
      </p:grpSp>
      <p:grpSp>
        <p:nvGrpSpPr>
          <p:cNvPr id="27" name="smote-diagram"/>
          <p:cNvGrpSpPr/>
          <p:nvPr/>
        </p:nvGrpSpPr>
        <p:grpSpPr>
          <a:xfrm>
            <a:off x="6858000" y="1257300"/>
            <a:ext cx="4724400" cy="4381500"/>
            <a:chOff x="6858000" y="1257300"/>
            <a:chExt cx="4724400" cy="4381500"/>
          </a:xfrm>
        </p:grpSpPr>
        <p:sp>
          <p:nvSpPr>
            <p:cNvPr id="14" name="Rectangle 14"/>
            <p:cNvSpPr/>
            <p:nvPr/>
          </p:nvSpPr>
          <p:spPr>
            <a:xfrm>
              <a:off x="6858000" y="1257300"/>
              <a:ext cx="4724400" cy="4381500"/>
            </a:xfrm>
            <a:prstGeom prst="roundRect">
              <a:avLst>
                <a:gd name="adj" fmla="val 2174"/>
              </a:avLst>
            </a:prstGeom>
            <a:solidFill>
              <a:srgbClr val="FFFFFF"/>
            </a:solidFill>
            <a:ln w="14288">
              <a:solidFill>
                <a:srgbClr val="B8CBD3"/>
              </a:solidFill>
            </a:ln>
          </p:spPr>
        </p:sp>
        <p:sp>
          <p:nvSpPr>
            <p:cNvPr id="15" name="TextBox 15"/>
            <p:cNvSpPr txBox="1"/>
            <p:nvPr/>
          </p:nvSpPr>
          <p:spPr>
            <a:xfrm>
              <a:off x="7078599" y="1468279"/>
              <a:ext cx="279216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Enterpolasyon geometrisi</a:t>
              </a:r>
            </a:p>
          </p:txBody>
        </p:sp>
        <p:sp>
          <p:nvSpPr>
            <p:cNvPr id="16" name="Ellipse 16"/>
            <p:cNvSpPr/>
            <p:nvPr/>
          </p:nvSpPr>
          <p:spPr>
            <a:xfrm>
              <a:off x="7524750" y="2952750"/>
              <a:ext cx="190500" cy="190500"/>
            </a:xfrm>
            <a:prstGeom prst="ellipse">
              <a:avLst/>
            </a:prstGeom>
            <a:solidFill>
              <a:srgbClr val="00A6A6"/>
            </a:solidFill>
            <a:ln>
              <a:noFill/>
            </a:ln>
          </p:spPr>
        </p:sp>
        <p:sp>
          <p:nvSpPr>
            <p:cNvPr id="17" name="TextBox 17"/>
            <p:cNvSpPr txBox="1"/>
            <p:nvPr/>
          </p:nvSpPr>
          <p:spPr>
            <a:xfrm>
              <a:off x="7804404" y="2842260"/>
              <a:ext cx="16680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x_i (azınlık gözlemi)</a:t>
              </a:r>
            </a:p>
          </p:txBody>
        </p:sp>
        <p:sp>
          <p:nvSpPr>
            <p:cNvPr id="18" name="Ellipse 18"/>
            <p:cNvSpPr/>
            <p:nvPr/>
          </p:nvSpPr>
          <p:spPr>
            <a:xfrm>
              <a:off x="10191750" y="4476750"/>
              <a:ext cx="190500" cy="190500"/>
            </a:xfrm>
            <a:prstGeom prst="ellipse">
              <a:avLst/>
            </a:prstGeom>
            <a:solidFill>
              <a:srgbClr val="00A6A6"/>
            </a:solidFill>
            <a:ln>
              <a:noFill/>
            </a:ln>
          </p:spPr>
        </p:sp>
        <p:sp>
          <p:nvSpPr>
            <p:cNvPr id="19" name="TextBox 19"/>
            <p:cNvSpPr txBox="1"/>
            <p:nvPr/>
          </p:nvSpPr>
          <p:spPr>
            <a:xfrm>
              <a:off x="9709404" y="4728210"/>
              <a:ext cx="174879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x_zi (en yakın komşu)</a:t>
              </a:r>
            </a:p>
          </p:txBody>
        </p:sp>
        <p:sp>
          <p:nvSpPr>
            <p:cNvPr id="20" name="Line 20"/>
            <p:cNvSpPr/>
            <p:nvPr/>
          </p:nvSpPr>
          <p:spPr>
            <a:xfrm>
              <a:off x="7620000" y="3048000"/>
              <a:ext cx="2667000" cy="1524000"/>
            </a:xfrm>
            <a:custGeom>
              <a:avLst/>
              <a:gdLst/>
              <a:ahLst/>
              <a:cxnLst/>
              <a:rect l="l" t="t" r="r" b="b"/>
              <a:pathLst>
                <a:path w="2667000" h="1524000">
                  <a:moveTo>
                    <a:pt x="0" y="0"/>
                  </a:moveTo>
                  <a:lnTo>
                    <a:pt x="2667000" y="1524000"/>
                  </a:lnTo>
                </a:path>
              </a:pathLst>
            </a:custGeom>
            <a:noFill/>
            <a:ln w="19050">
              <a:solidFill>
                <a:srgbClr val="52616B"/>
              </a:solidFill>
              <a:custDash>
                <a:ds d="300000" sp="200000"/>
              </a:custDash>
            </a:ln>
          </p:spPr>
        </p:sp>
        <p:sp>
          <p:nvSpPr>
            <p:cNvPr id="21" name="Ellipse 21"/>
            <p:cNvSpPr/>
            <p:nvPr/>
          </p:nvSpPr>
          <p:spPr>
            <a:xfrm>
              <a:off x="8839200" y="3695700"/>
              <a:ext cx="228600" cy="228600"/>
            </a:xfrm>
            <a:prstGeom prst="ellipse">
              <a:avLst/>
            </a:prstGeom>
            <a:solidFill>
              <a:srgbClr val="FFFFFF"/>
            </a:solidFill>
            <a:ln w="28575">
              <a:solidFill>
                <a:srgbClr val="2E86AB"/>
              </a:solidFill>
            </a:ln>
          </p:spPr>
        </p:sp>
        <p:sp>
          <p:nvSpPr>
            <p:cNvPr id="22" name="TextBox 22"/>
            <p:cNvSpPr txBox="1"/>
            <p:nvPr/>
          </p:nvSpPr>
          <p:spPr>
            <a:xfrm>
              <a:off x="9137904" y="3604260"/>
              <a:ext cx="1971317"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x_new (sentetik nokta)</a:t>
              </a:r>
            </a:p>
          </p:txBody>
        </p:sp>
        <p:sp>
          <p:nvSpPr>
            <p:cNvPr id="23" name="Ellipse 23"/>
            <p:cNvSpPr/>
            <p:nvPr/>
          </p:nvSpPr>
          <p:spPr>
            <a:xfrm>
              <a:off x="8515350" y="1847850"/>
              <a:ext cx="114300" cy="114300"/>
            </a:xfrm>
            <a:prstGeom prst="ellipse">
              <a:avLst/>
            </a:prstGeom>
            <a:solidFill>
              <a:srgbClr val="B8CBD3"/>
            </a:solidFill>
            <a:ln>
              <a:noFill/>
            </a:ln>
          </p:spPr>
        </p:sp>
        <p:sp>
          <p:nvSpPr>
            <p:cNvPr id="24" name="Ellipse 24"/>
            <p:cNvSpPr/>
            <p:nvPr/>
          </p:nvSpPr>
          <p:spPr>
            <a:xfrm>
              <a:off x="10420350" y="2324100"/>
              <a:ext cx="114300" cy="114300"/>
            </a:xfrm>
            <a:prstGeom prst="ellipse">
              <a:avLst/>
            </a:prstGeom>
            <a:solidFill>
              <a:srgbClr val="B8CBD3"/>
            </a:solidFill>
            <a:ln>
              <a:noFill/>
            </a:ln>
          </p:spPr>
        </p:sp>
        <p:sp>
          <p:nvSpPr>
            <p:cNvPr id="25" name="Ellipse 25"/>
            <p:cNvSpPr/>
            <p:nvPr/>
          </p:nvSpPr>
          <p:spPr>
            <a:xfrm>
              <a:off x="10991850" y="3562350"/>
              <a:ext cx="114300" cy="114300"/>
            </a:xfrm>
            <a:prstGeom prst="ellipse">
              <a:avLst/>
            </a:prstGeom>
            <a:solidFill>
              <a:srgbClr val="B8CBD3"/>
            </a:solidFill>
            <a:ln>
              <a:noFill/>
            </a:ln>
          </p:spPr>
        </p:sp>
        <p:sp>
          <p:nvSpPr>
            <p:cNvPr id="26" name="TextBox 26"/>
            <p:cNvSpPr txBox="1"/>
            <p:nvPr/>
          </p:nvSpPr>
          <p:spPr>
            <a:xfrm>
              <a:off x="7080504" y="4918710"/>
              <a:ext cx="27249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52616B"/>
                  </a:solidFill>
                  <a:latin typeface="+mn-lt"/>
                  <a:ea typeface="+mn-ea"/>
                  <a:cs typeface="+mn-cs"/>
                </a:rPr>
                <a:t>SMOTE gerçek dünyadan yeni müşteri</a:t>
              </a:r>
              <a:br/>
              <a:r>
                <a:rPr lang="tr-TR" sz="1200" dirty="0">
                  <a:solidFill>
                    <a:srgbClr val="52616B"/>
                  </a:solidFill>
                  <a:latin typeface="+mn-lt"/>
                  <a:ea typeface="+mn-ea"/>
                  <a:cs typeface="+mn-cs"/>
                </a:rPr>
                <a:t>verisi toplamaz; yalnızca eğitim için</a:t>
              </a:r>
              <a:br/>
              <a:r>
                <a:rPr lang="tr-TR" sz="1200" dirty="0">
                  <a:solidFill>
                    <a:srgbClr val="52616B"/>
                  </a:solidFill>
                  <a:latin typeface="+mn-lt"/>
                  <a:ea typeface="+mn-ea"/>
                  <a:cs typeface="+mn-cs"/>
                </a:rPr>
                <a:t>yapay temsil üretir.</a:t>
              </a:r>
            </a:p>
          </p:txBody>
        </p:sp>
      </p:grpSp>
      <p:sp>
        <p:nvSpPr>
          <p:cNvPr id="28" name="TextBox 2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603187" cy="557403"/>
            <a:chOff x="595122" y="282892"/>
            <a:chExt cx="6603187" cy="557403"/>
          </a:xfrm>
        </p:grpSpPr>
        <p:sp>
          <p:nvSpPr>
            <p:cNvPr id="4" name="TextBox 4"/>
            <p:cNvSpPr txBox="1"/>
            <p:nvPr/>
          </p:nvSpPr>
          <p:spPr>
            <a:xfrm>
              <a:off x="595122" y="282892"/>
              <a:ext cx="660318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SMOTE öncesi ve sonrası dağılım</a:t>
              </a:r>
            </a:p>
          </p:txBody>
        </p:sp>
      </p:grpSp>
      <p:grpSp>
        <p:nvGrpSpPr>
          <p:cNvPr id="14" name="chart-before"/>
          <p:cNvGrpSpPr/>
          <p:nvPr/>
        </p:nvGrpSpPr>
        <p:grpSpPr>
          <a:xfrm>
            <a:off x="905256" y="1520190"/>
            <a:ext cx="3857244" cy="4033266"/>
            <a:chOff x="905256" y="1520190"/>
            <a:chExt cx="3857244" cy="4033266"/>
          </a:xfrm>
        </p:grpSpPr>
        <p:sp>
          <p:nvSpPr>
            <p:cNvPr id="6" name="TextBox 6"/>
            <p:cNvSpPr txBox="1"/>
            <p:nvPr/>
          </p:nvSpPr>
          <p:spPr>
            <a:xfrm>
              <a:off x="905256" y="1520190"/>
              <a:ext cx="28258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Öncesi (eğitim kümesi)</a:t>
              </a:r>
            </a:p>
          </p:txBody>
        </p:sp>
        <p:sp>
          <p:nvSpPr>
            <p:cNvPr id="7" name="Rectangle 7"/>
            <p:cNvSpPr/>
            <p:nvPr/>
          </p:nvSpPr>
          <p:spPr>
            <a:xfrm>
              <a:off x="1714500" y="2095500"/>
              <a:ext cx="1143000" cy="2667000"/>
            </a:xfrm>
            <a:prstGeom prst="rect">
              <a:avLst/>
            </a:prstGeom>
            <a:solidFill>
              <a:srgbClr val="2E86AB"/>
            </a:solidFill>
            <a:ln>
              <a:noFill/>
            </a:ln>
          </p:spPr>
        </p:sp>
        <p:sp>
          <p:nvSpPr>
            <p:cNvPr id="8" name="TextBox 8"/>
            <p:cNvSpPr txBox="1"/>
            <p:nvPr/>
          </p:nvSpPr>
          <p:spPr>
            <a:xfrm>
              <a:off x="2102206" y="1889760"/>
              <a:ext cx="36758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1313</a:t>
              </a:r>
            </a:p>
          </p:txBody>
        </p:sp>
        <p:sp>
          <p:nvSpPr>
            <p:cNvPr id="9" name="TextBox 9"/>
            <p:cNvSpPr txBox="1"/>
            <p:nvPr/>
          </p:nvSpPr>
          <p:spPr>
            <a:xfrm>
              <a:off x="2075688" y="4975860"/>
              <a:ext cx="42062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Kalan</a:t>
              </a:r>
            </a:p>
          </p:txBody>
        </p:sp>
        <p:sp>
          <p:nvSpPr>
            <p:cNvPr id="10" name="Rectangle 10"/>
            <p:cNvSpPr/>
            <p:nvPr/>
          </p:nvSpPr>
          <p:spPr>
            <a:xfrm>
              <a:off x="3619500" y="4591050"/>
              <a:ext cx="1143000" cy="171450"/>
            </a:xfrm>
            <a:prstGeom prst="rect">
              <a:avLst/>
            </a:prstGeom>
            <a:solidFill>
              <a:srgbClr val="00A6A6"/>
            </a:solidFill>
            <a:ln>
              <a:noFill/>
            </a:ln>
          </p:spPr>
        </p:sp>
        <p:sp>
          <p:nvSpPr>
            <p:cNvPr id="11" name="TextBox 11"/>
            <p:cNvSpPr txBox="1"/>
            <p:nvPr/>
          </p:nvSpPr>
          <p:spPr>
            <a:xfrm>
              <a:off x="4096055" y="4385310"/>
              <a:ext cx="18989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87</a:t>
              </a:r>
            </a:p>
          </p:txBody>
        </p:sp>
        <p:sp>
          <p:nvSpPr>
            <p:cNvPr id="12" name="TextBox 12"/>
            <p:cNvSpPr txBox="1"/>
            <p:nvPr/>
          </p:nvSpPr>
          <p:spPr>
            <a:xfrm>
              <a:off x="3891773" y="4975860"/>
              <a:ext cx="598453"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Ayrılan</a:t>
              </a:r>
            </a:p>
          </p:txBody>
        </p:sp>
        <p:sp>
          <p:nvSpPr>
            <p:cNvPr id="13" name="TextBox 13"/>
            <p:cNvSpPr txBox="1"/>
            <p:nvPr/>
          </p:nvSpPr>
          <p:spPr>
            <a:xfrm>
              <a:off x="908304" y="5318760"/>
              <a:ext cx="250667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Yaklaşık </a:t>
              </a:r>
              <a:r>
                <a:rPr lang="tr-TR" sz="1200" b="1" dirty="0">
                  <a:solidFill>
                    <a:srgbClr val="12355B"/>
                  </a:solidFill>
                  <a:latin typeface="+mn-lt"/>
                  <a:ea typeface="+mn-ea"/>
                  <a:cs typeface="+mn-cs"/>
                </a:rPr>
                <a:t>15:1</a:t>
              </a:r>
              <a:r>
                <a:rPr lang="tr-TR" sz="1200" dirty="0">
                  <a:solidFill>
                    <a:srgbClr val="172B3A"/>
                  </a:solidFill>
                  <a:latin typeface="+mn-lt"/>
                  <a:ea typeface="+mn-ea"/>
                  <a:cs typeface="+mn-cs"/>
                </a:rPr>
                <a:t xml:space="preserve"> dengesizlik oranı</a:t>
              </a:r>
            </a:p>
          </p:txBody>
        </p:sp>
      </p:grpSp>
      <p:grpSp>
        <p:nvGrpSpPr>
          <p:cNvPr id="17" name="chart-arrow"/>
          <p:cNvGrpSpPr/>
          <p:nvPr/>
        </p:nvGrpSpPr>
        <p:grpSpPr>
          <a:xfrm>
            <a:off x="5486400" y="2823210"/>
            <a:ext cx="1085850" cy="329565"/>
            <a:chOff x="5486400" y="2823210"/>
            <a:chExt cx="1085850" cy="329565"/>
          </a:xfrm>
        </p:grpSpPr>
        <p:sp>
          <p:nvSpPr>
            <p:cNvPr id="15" name="Freeform 15"/>
            <p:cNvSpPr/>
            <p:nvPr/>
          </p:nvSpPr>
          <p:spPr>
            <a:xfrm>
              <a:off x="5486400" y="3143250"/>
              <a:ext cx="1085850" cy="9525"/>
            </a:xfrm>
            <a:custGeom>
              <a:avLst/>
              <a:gdLst/>
              <a:ahLst/>
              <a:cxnLst/>
              <a:rect l="l" t="t" r="r" b="b"/>
              <a:pathLst>
                <a:path w="1085850" h="9525">
                  <a:moveTo>
                    <a:pt x="0" y="0"/>
                  </a:moveTo>
                  <a:lnTo>
                    <a:pt x="1085850" y="0"/>
                  </a:lnTo>
                </a:path>
              </a:pathLst>
            </a:custGeom>
            <a:solidFill>
              <a:srgbClr val="000000"/>
            </a:solidFill>
            <a:ln w="28575">
              <a:solidFill>
                <a:srgbClr val="00A6A6"/>
              </a:solidFill>
              <a:tailEnd type="arrow" w="lg" len="lg"/>
            </a:ln>
          </p:spPr>
        </p:sp>
        <p:sp>
          <p:nvSpPr>
            <p:cNvPr id="16" name="TextBox 16"/>
            <p:cNvSpPr txBox="1"/>
            <p:nvPr/>
          </p:nvSpPr>
          <p:spPr>
            <a:xfrm>
              <a:off x="5754395" y="2823210"/>
              <a:ext cx="549859"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SMOTE</a:t>
              </a:r>
            </a:p>
          </p:txBody>
        </p:sp>
      </p:grpSp>
      <p:grpSp>
        <p:nvGrpSpPr>
          <p:cNvPr id="26" name="chart-after"/>
          <p:cNvGrpSpPr/>
          <p:nvPr/>
        </p:nvGrpSpPr>
        <p:grpSpPr>
          <a:xfrm>
            <a:off x="6696456" y="1520190"/>
            <a:ext cx="4033692" cy="4033266"/>
            <a:chOff x="6696456" y="1520190"/>
            <a:chExt cx="4033692" cy="4033266"/>
          </a:xfrm>
        </p:grpSpPr>
        <p:sp>
          <p:nvSpPr>
            <p:cNvPr id="18" name="TextBox 18"/>
            <p:cNvSpPr txBox="1"/>
            <p:nvPr/>
          </p:nvSpPr>
          <p:spPr>
            <a:xfrm>
              <a:off x="6696456" y="1520190"/>
              <a:ext cx="36740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Sonrası (SMOTE uygulanmış)</a:t>
              </a:r>
            </a:p>
          </p:txBody>
        </p:sp>
        <p:sp>
          <p:nvSpPr>
            <p:cNvPr id="19" name="Rectangle 19"/>
            <p:cNvSpPr/>
            <p:nvPr/>
          </p:nvSpPr>
          <p:spPr>
            <a:xfrm>
              <a:off x="7505700" y="2095500"/>
              <a:ext cx="1143000" cy="2667000"/>
            </a:xfrm>
            <a:prstGeom prst="rect">
              <a:avLst/>
            </a:prstGeom>
            <a:solidFill>
              <a:srgbClr val="2E86AB"/>
            </a:solidFill>
            <a:ln>
              <a:noFill/>
            </a:ln>
          </p:spPr>
        </p:sp>
        <p:sp>
          <p:nvSpPr>
            <p:cNvPr id="20" name="TextBox 20"/>
            <p:cNvSpPr txBox="1"/>
            <p:nvPr/>
          </p:nvSpPr>
          <p:spPr>
            <a:xfrm>
              <a:off x="7893406" y="1889760"/>
              <a:ext cx="36758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1313</a:t>
              </a:r>
            </a:p>
          </p:txBody>
        </p:sp>
        <p:sp>
          <p:nvSpPr>
            <p:cNvPr id="21" name="TextBox 21"/>
            <p:cNvSpPr txBox="1"/>
            <p:nvPr/>
          </p:nvSpPr>
          <p:spPr>
            <a:xfrm>
              <a:off x="7866888" y="4975860"/>
              <a:ext cx="42062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Kalan</a:t>
              </a:r>
            </a:p>
          </p:txBody>
        </p:sp>
        <p:sp>
          <p:nvSpPr>
            <p:cNvPr id="22" name="Rectangle 22"/>
            <p:cNvSpPr/>
            <p:nvPr/>
          </p:nvSpPr>
          <p:spPr>
            <a:xfrm>
              <a:off x="9410700" y="2095500"/>
              <a:ext cx="1143000" cy="2667000"/>
            </a:xfrm>
            <a:prstGeom prst="rect">
              <a:avLst/>
            </a:prstGeom>
            <a:solidFill>
              <a:srgbClr val="00A6A6"/>
            </a:solidFill>
            <a:ln>
              <a:noFill/>
            </a:ln>
          </p:spPr>
        </p:sp>
        <p:sp>
          <p:nvSpPr>
            <p:cNvPr id="23" name="TextBox 23"/>
            <p:cNvSpPr txBox="1"/>
            <p:nvPr/>
          </p:nvSpPr>
          <p:spPr>
            <a:xfrm>
              <a:off x="9798406" y="1889760"/>
              <a:ext cx="36758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1313</a:t>
              </a:r>
            </a:p>
          </p:txBody>
        </p:sp>
        <p:sp>
          <p:nvSpPr>
            <p:cNvPr id="24" name="TextBox 24"/>
            <p:cNvSpPr txBox="1"/>
            <p:nvPr/>
          </p:nvSpPr>
          <p:spPr>
            <a:xfrm>
              <a:off x="9234251" y="4975860"/>
              <a:ext cx="1495897"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Ayrılan (sentetik)</a:t>
              </a:r>
            </a:p>
          </p:txBody>
        </p:sp>
        <p:sp>
          <p:nvSpPr>
            <p:cNvPr id="25" name="TextBox 25"/>
            <p:cNvSpPr txBox="1"/>
            <p:nvPr/>
          </p:nvSpPr>
          <p:spPr>
            <a:xfrm>
              <a:off x="6699504" y="5318760"/>
              <a:ext cx="30235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İki sınıf </a:t>
              </a:r>
              <a:r>
                <a:rPr lang="tr-TR" sz="1200" b="1" dirty="0">
                  <a:solidFill>
                    <a:srgbClr val="12355B"/>
                  </a:solidFill>
                  <a:latin typeface="+mn-lt"/>
                  <a:ea typeface="+mn-ea"/>
                  <a:cs typeface="+mn-cs"/>
                </a:rPr>
                <a:t>tam dengelenir</a:t>
              </a:r>
              <a:r>
                <a:rPr lang="tr-TR" sz="1200" dirty="0">
                  <a:solidFill>
                    <a:srgbClr val="172B3A"/>
                  </a:solidFill>
                  <a:latin typeface="+mn-lt"/>
                  <a:ea typeface="+mn-ea"/>
                  <a:cs typeface="+mn-cs"/>
                </a:rPr>
                <a:t xml:space="preserve"> (1313–1313)</a:t>
              </a:r>
            </a:p>
          </p:txBody>
        </p:sp>
      </p:grpSp>
      <p:grpSp>
        <p:nvGrpSpPr>
          <p:cNvPr id="29" name="explain-box"/>
          <p:cNvGrpSpPr/>
          <p:nvPr/>
        </p:nvGrpSpPr>
        <p:grpSpPr>
          <a:xfrm>
            <a:off x="609600" y="5638800"/>
            <a:ext cx="9525000" cy="914400"/>
            <a:chOff x="609600" y="5638800"/>
            <a:chExt cx="9525000" cy="914400"/>
          </a:xfrm>
        </p:grpSpPr>
        <p:sp>
          <p:nvSpPr>
            <p:cNvPr id="27" name="Rectangle 27"/>
            <p:cNvSpPr/>
            <p:nvPr/>
          </p:nvSpPr>
          <p:spPr>
            <a:xfrm>
              <a:off x="609600" y="5638800"/>
              <a:ext cx="9525000" cy="914400"/>
            </a:xfrm>
            <a:prstGeom prst="roundRect">
              <a:avLst>
                <a:gd name="adj" fmla="val 8333"/>
              </a:avLst>
            </a:prstGeom>
            <a:solidFill>
              <a:srgbClr val="EAF4F6"/>
            </a:solidFill>
            <a:ln>
              <a:noFill/>
            </a:ln>
          </p:spPr>
        </p:sp>
        <p:sp>
          <p:nvSpPr>
            <p:cNvPr id="28" name="TextBox 28"/>
            <p:cNvSpPr txBox="1"/>
            <p:nvPr/>
          </p:nvSpPr>
          <p:spPr>
            <a:xfrm>
              <a:off x="908304" y="5814060"/>
              <a:ext cx="5018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SMOTE, var olan satırları çoğaltmaz — azınlık sınıfını çoğunlukla</a:t>
              </a:r>
              <a:br/>
              <a:r>
                <a:rPr lang="tr-TR" sz="1200" dirty="0">
                  <a:solidFill>
                    <a:srgbClr val="172B3A"/>
                  </a:solidFill>
                  <a:latin typeface="+mn-lt"/>
                  <a:ea typeface="+mn-ea"/>
                  <a:cs typeface="+mn-cs"/>
                </a:rPr>
                <a:t>eşitleyecek kadar sentetik örnek üretir. Bu işlem yalnızca eğitim</a:t>
              </a:r>
              <a:br/>
              <a:r>
                <a:rPr lang="tr-TR" sz="1200" dirty="0">
                  <a:solidFill>
                    <a:srgbClr val="172B3A"/>
                  </a:solidFill>
                  <a:latin typeface="+mn-lt"/>
                  <a:ea typeface="+mn-ea"/>
                  <a:cs typeface="+mn-cs"/>
                </a:rPr>
                <a:t>verisinde yapılmalıdır.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245393" cy="557403"/>
            <a:chOff x="595122" y="282892"/>
            <a:chExt cx="6245393" cy="557403"/>
          </a:xfrm>
        </p:grpSpPr>
        <p:sp>
          <p:nvSpPr>
            <p:cNvPr id="4" name="TextBox 4"/>
            <p:cNvSpPr txBox="1"/>
            <p:nvPr/>
          </p:nvSpPr>
          <p:spPr>
            <a:xfrm>
              <a:off x="595122" y="282892"/>
              <a:ext cx="624539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Yeniden örnekleme yaklaşımları</a:t>
              </a:r>
            </a:p>
          </p:txBody>
        </p:sp>
      </p:grpSp>
      <p:grpSp>
        <p:nvGrpSpPr>
          <p:cNvPr id="36" name="alt-table"/>
          <p:cNvGrpSpPr/>
          <p:nvPr/>
        </p:nvGrpSpPr>
        <p:grpSpPr>
          <a:xfrm>
            <a:off x="609600" y="1257300"/>
            <a:ext cx="10972800" cy="4038600"/>
            <a:chOff x="609600" y="1257300"/>
            <a:chExt cx="10972800" cy="4038600"/>
          </a:xfrm>
        </p:grpSpPr>
        <p:sp>
          <p:nvSpPr>
            <p:cNvPr id="6" name="Rectangle 6"/>
            <p:cNvSpPr/>
            <p:nvPr/>
          </p:nvSpPr>
          <p:spPr>
            <a:xfrm>
              <a:off x="609600" y="1257300"/>
              <a:ext cx="10972800" cy="419100"/>
            </a:xfrm>
            <a:prstGeom prst="rect">
              <a:avLst/>
            </a:prstGeom>
            <a:solidFill>
              <a:srgbClr val="12355B"/>
            </a:solidFill>
            <a:ln>
              <a:noFill/>
            </a:ln>
          </p:spPr>
        </p:sp>
        <p:sp>
          <p:nvSpPr>
            <p:cNvPr id="7" name="TextBox 7"/>
            <p:cNvSpPr txBox="1"/>
            <p:nvPr/>
          </p:nvSpPr>
          <p:spPr>
            <a:xfrm>
              <a:off x="832104" y="1394460"/>
              <a:ext cx="692810"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YÖNTEM</a:t>
              </a:r>
            </a:p>
          </p:txBody>
        </p:sp>
        <p:sp>
          <p:nvSpPr>
            <p:cNvPr id="8" name="TextBox 8"/>
            <p:cNvSpPr txBox="1"/>
            <p:nvPr/>
          </p:nvSpPr>
          <p:spPr>
            <a:xfrm>
              <a:off x="2851404" y="1394460"/>
              <a:ext cx="93988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GÜÇLÜ YÖN</a:t>
              </a:r>
            </a:p>
          </p:txBody>
        </p:sp>
        <p:sp>
          <p:nvSpPr>
            <p:cNvPr id="9" name="TextBox 9"/>
            <p:cNvSpPr txBox="1"/>
            <p:nvPr/>
          </p:nvSpPr>
          <p:spPr>
            <a:xfrm>
              <a:off x="5708904" y="1394460"/>
              <a:ext cx="43848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RİSK</a:t>
              </a:r>
            </a:p>
          </p:txBody>
        </p:sp>
        <p:sp>
          <p:nvSpPr>
            <p:cNvPr id="10" name="TextBox 10"/>
            <p:cNvSpPr txBox="1"/>
            <p:nvPr/>
          </p:nvSpPr>
          <p:spPr>
            <a:xfrm>
              <a:off x="8414004" y="139446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TERCİH NEDENİ</a:t>
              </a:r>
            </a:p>
          </p:txBody>
        </p:sp>
        <p:sp>
          <p:nvSpPr>
            <p:cNvPr id="11" name="Rectangle 11"/>
            <p:cNvSpPr/>
            <p:nvPr/>
          </p:nvSpPr>
          <p:spPr>
            <a:xfrm>
              <a:off x="609600" y="1676400"/>
              <a:ext cx="10972800" cy="723900"/>
            </a:xfrm>
            <a:prstGeom prst="rect">
              <a:avLst/>
            </a:prstGeom>
            <a:solidFill>
              <a:srgbClr val="FFFFFF"/>
            </a:solidFill>
            <a:ln w="19050">
              <a:solidFill>
                <a:srgbClr val="00A6A6"/>
              </a:solidFill>
            </a:ln>
          </p:spPr>
        </p:sp>
        <p:sp>
          <p:nvSpPr>
            <p:cNvPr id="12" name="TextBox 12"/>
            <p:cNvSpPr txBox="1"/>
            <p:nvPr/>
          </p:nvSpPr>
          <p:spPr>
            <a:xfrm>
              <a:off x="830199" y="1849279"/>
              <a:ext cx="7593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SMOTE</a:t>
              </a:r>
            </a:p>
          </p:txBody>
        </p:sp>
        <p:sp>
          <p:nvSpPr>
            <p:cNvPr id="13" name="TextBox 13"/>
            <p:cNvSpPr txBox="1"/>
            <p:nvPr/>
          </p:nvSpPr>
          <p:spPr>
            <a:xfrm>
              <a:off x="2851404" y="1889760"/>
              <a:ext cx="23513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sınırını zenginleştirir</a:t>
              </a:r>
            </a:p>
          </p:txBody>
        </p:sp>
        <p:sp>
          <p:nvSpPr>
            <p:cNvPr id="14" name="TextBox 14"/>
            <p:cNvSpPr txBox="1"/>
            <p:nvPr/>
          </p:nvSpPr>
          <p:spPr>
            <a:xfrm>
              <a:off x="5708904" y="1889760"/>
              <a:ext cx="20771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Sızıntı, sentetik gürültü</a:t>
              </a:r>
            </a:p>
          </p:txBody>
        </p:sp>
        <p:sp>
          <p:nvSpPr>
            <p:cNvPr id="15" name="TextBox 15"/>
            <p:cNvSpPr txBox="1"/>
            <p:nvPr/>
          </p:nvSpPr>
          <p:spPr>
            <a:xfrm>
              <a:off x="8414004" y="1889760"/>
              <a:ext cx="21336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Sayısal veri, yeterli örnek</a:t>
              </a:r>
            </a:p>
          </p:txBody>
        </p:sp>
        <p:sp>
          <p:nvSpPr>
            <p:cNvPr id="16" name="Rectangle 16"/>
            <p:cNvSpPr/>
            <p:nvPr/>
          </p:nvSpPr>
          <p:spPr>
            <a:xfrm>
              <a:off x="609600" y="2400300"/>
              <a:ext cx="10972800" cy="723900"/>
            </a:xfrm>
            <a:prstGeom prst="rect">
              <a:avLst/>
            </a:prstGeom>
            <a:solidFill>
              <a:srgbClr val="EAF4F6"/>
            </a:solidFill>
            <a:ln>
              <a:noFill/>
            </a:ln>
          </p:spPr>
        </p:sp>
        <p:sp>
          <p:nvSpPr>
            <p:cNvPr id="17" name="TextBox 17"/>
            <p:cNvSpPr txBox="1"/>
            <p:nvPr/>
          </p:nvSpPr>
          <p:spPr>
            <a:xfrm>
              <a:off x="830199" y="2573179"/>
              <a:ext cx="220398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RandomOverSampler</a:t>
              </a:r>
            </a:p>
          </p:txBody>
        </p:sp>
        <p:sp>
          <p:nvSpPr>
            <p:cNvPr id="18" name="TextBox 18"/>
            <p:cNvSpPr txBox="1"/>
            <p:nvPr/>
          </p:nvSpPr>
          <p:spPr>
            <a:xfrm>
              <a:off x="2851404" y="2613660"/>
              <a:ext cx="13661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Basit ve hızlıdır</a:t>
              </a:r>
            </a:p>
          </p:txBody>
        </p:sp>
        <p:sp>
          <p:nvSpPr>
            <p:cNvPr id="19" name="TextBox 19"/>
            <p:cNvSpPr txBox="1"/>
            <p:nvPr/>
          </p:nvSpPr>
          <p:spPr>
            <a:xfrm>
              <a:off x="5708904" y="2613660"/>
              <a:ext cx="15685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Kopyaya aşırı uyum</a:t>
              </a:r>
            </a:p>
          </p:txBody>
        </p:sp>
        <p:sp>
          <p:nvSpPr>
            <p:cNvPr id="20" name="TextBox 20"/>
            <p:cNvSpPr txBox="1"/>
            <p:nvPr/>
          </p:nvSpPr>
          <p:spPr>
            <a:xfrm>
              <a:off x="8414004" y="2613660"/>
              <a:ext cx="21012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Hızlı temel karşılaştırma</a:t>
              </a:r>
            </a:p>
          </p:txBody>
        </p:sp>
        <p:sp>
          <p:nvSpPr>
            <p:cNvPr id="21" name="Rectangle 21"/>
            <p:cNvSpPr/>
            <p:nvPr/>
          </p:nvSpPr>
          <p:spPr>
            <a:xfrm>
              <a:off x="609600" y="3124200"/>
              <a:ext cx="10972800" cy="723900"/>
            </a:xfrm>
            <a:prstGeom prst="rect">
              <a:avLst/>
            </a:prstGeom>
            <a:solidFill>
              <a:srgbClr val="FFFFFF"/>
            </a:solidFill>
            <a:ln>
              <a:noFill/>
            </a:ln>
          </p:spPr>
        </p:sp>
        <p:sp>
          <p:nvSpPr>
            <p:cNvPr id="22" name="TextBox 22"/>
            <p:cNvSpPr txBox="1"/>
            <p:nvPr/>
          </p:nvSpPr>
          <p:spPr>
            <a:xfrm>
              <a:off x="830199" y="3297079"/>
              <a:ext cx="228168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RandomUnderSampler</a:t>
              </a:r>
            </a:p>
          </p:txBody>
        </p:sp>
        <p:sp>
          <p:nvSpPr>
            <p:cNvPr id="23" name="TextBox 23"/>
            <p:cNvSpPr txBox="1"/>
            <p:nvPr/>
          </p:nvSpPr>
          <p:spPr>
            <a:xfrm>
              <a:off x="2851404" y="3337560"/>
              <a:ext cx="19797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 maliyetini düşürür</a:t>
              </a:r>
            </a:p>
          </p:txBody>
        </p:sp>
        <p:sp>
          <p:nvSpPr>
            <p:cNvPr id="24" name="TextBox 24"/>
            <p:cNvSpPr txBox="1"/>
            <p:nvPr/>
          </p:nvSpPr>
          <p:spPr>
            <a:xfrm>
              <a:off x="5708904" y="3337560"/>
              <a:ext cx="20927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Çoğunluk bilgisini kaybeder</a:t>
              </a:r>
            </a:p>
          </p:txBody>
        </p:sp>
        <p:sp>
          <p:nvSpPr>
            <p:cNvPr id="25" name="TextBox 25"/>
            <p:cNvSpPr txBox="1"/>
            <p:nvPr/>
          </p:nvSpPr>
          <p:spPr>
            <a:xfrm>
              <a:off x="8414004" y="3337560"/>
              <a:ext cx="17137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Çok büyük veri kümesi</a:t>
              </a:r>
            </a:p>
          </p:txBody>
        </p:sp>
        <p:sp>
          <p:nvSpPr>
            <p:cNvPr id="26" name="Rectangle 26"/>
            <p:cNvSpPr/>
            <p:nvPr/>
          </p:nvSpPr>
          <p:spPr>
            <a:xfrm>
              <a:off x="609600" y="3848100"/>
              <a:ext cx="10972800" cy="723900"/>
            </a:xfrm>
            <a:prstGeom prst="rect">
              <a:avLst/>
            </a:prstGeom>
            <a:solidFill>
              <a:srgbClr val="EAF4F6"/>
            </a:solidFill>
            <a:ln>
              <a:noFill/>
            </a:ln>
          </p:spPr>
        </p:sp>
        <p:sp>
          <p:nvSpPr>
            <p:cNvPr id="27" name="TextBox 27"/>
            <p:cNvSpPr txBox="1"/>
            <p:nvPr/>
          </p:nvSpPr>
          <p:spPr>
            <a:xfrm>
              <a:off x="830199" y="4020979"/>
              <a:ext cx="7947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ADASYN</a:t>
              </a:r>
            </a:p>
          </p:txBody>
        </p:sp>
        <p:sp>
          <p:nvSpPr>
            <p:cNvPr id="28" name="TextBox 28"/>
            <p:cNvSpPr txBox="1"/>
            <p:nvPr/>
          </p:nvSpPr>
          <p:spPr>
            <a:xfrm>
              <a:off x="2851404" y="4061460"/>
              <a:ext cx="18587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Zor bölgelere odaklanır</a:t>
              </a:r>
            </a:p>
          </p:txBody>
        </p:sp>
        <p:sp>
          <p:nvSpPr>
            <p:cNvPr id="29" name="TextBox 29"/>
            <p:cNvSpPr txBox="1"/>
            <p:nvPr/>
          </p:nvSpPr>
          <p:spPr>
            <a:xfrm>
              <a:off x="5708904" y="4061460"/>
              <a:ext cx="16808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Gürültüyü büyütebilir</a:t>
              </a:r>
            </a:p>
          </p:txBody>
        </p:sp>
        <p:sp>
          <p:nvSpPr>
            <p:cNvPr id="30" name="TextBox 30"/>
            <p:cNvSpPr txBox="1"/>
            <p:nvPr/>
          </p:nvSpPr>
          <p:spPr>
            <a:xfrm>
              <a:off x="8414004" y="4061460"/>
              <a:ext cx="19878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Sınır bölgeleri önemliyse</a:t>
              </a:r>
            </a:p>
          </p:txBody>
        </p:sp>
        <p:sp>
          <p:nvSpPr>
            <p:cNvPr id="31" name="Rectangle 31"/>
            <p:cNvSpPr/>
            <p:nvPr/>
          </p:nvSpPr>
          <p:spPr>
            <a:xfrm>
              <a:off x="609600" y="4572000"/>
              <a:ext cx="10972800" cy="723900"/>
            </a:xfrm>
            <a:prstGeom prst="rect">
              <a:avLst/>
            </a:prstGeom>
            <a:solidFill>
              <a:srgbClr val="FFFFFF"/>
            </a:solidFill>
            <a:ln>
              <a:noFill/>
            </a:ln>
          </p:spPr>
        </p:sp>
        <p:sp>
          <p:nvSpPr>
            <p:cNvPr id="32" name="TextBox 32"/>
            <p:cNvSpPr txBox="1"/>
            <p:nvPr/>
          </p:nvSpPr>
          <p:spPr>
            <a:xfrm>
              <a:off x="830199" y="4744879"/>
              <a:ext cx="14230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class_weight</a:t>
              </a:r>
            </a:p>
          </p:txBody>
        </p:sp>
        <p:sp>
          <p:nvSpPr>
            <p:cNvPr id="33" name="TextBox 33"/>
            <p:cNvSpPr txBox="1"/>
            <p:nvPr/>
          </p:nvSpPr>
          <p:spPr>
            <a:xfrm>
              <a:off x="2851404" y="4785360"/>
              <a:ext cx="15279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satır üretmez</a:t>
              </a:r>
            </a:p>
          </p:txBody>
        </p:sp>
        <p:sp>
          <p:nvSpPr>
            <p:cNvPr id="34" name="TextBox 34"/>
            <p:cNvSpPr txBox="1"/>
            <p:nvPr/>
          </p:nvSpPr>
          <p:spPr>
            <a:xfrm>
              <a:off x="5708904" y="4785360"/>
              <a:ext cx="178636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model desteklemez</a:t>
              </a:r>
            </a:p>
          </p:txBody>
        </p:sp>
        <p:sp>
          <p:nvSpPr>
            <p:cNvPr id="35" name="TextBox 35"/>
            <p:cNvSpPr txBox="1"/>
            <p:nvPr/>
          </p:nvSpPr>
          <p:spPr>
            <a:xfrm>
              <a:off x="8414004" y="4785360"/>
              <a:ext cx="217389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Lojistik regresyon, ağaçlar</a:t>
              </a:r>
            </a:p>
          </p:txBody>
        </p:sp>
      </p:grpSp>
      <p:grpSp>
        <p:nvGrpSpPr>
          <p:cNvPr id="40" name="misconception-note"/>
          <p:cNvGrpSpPr/>
          <p:nvPr/>
        </p:nvGrpSpPr>
        <p:grpSpPr>
          <a:xfrm>
            <a:off x="609600" y="5753100"/>
            <a:ext cx="9525000" cy="628650"/>
            <a:chOff x="609600" y="5753100"/>
            <a:chExt cx="9525000" cy="628650"/>
          </a:xfrm>
        </p:grpSpPr>
        <p:sp>
          <p:nvSpPr>
            <p:cNvPr id="37" name="Rectangle 37"/>
            <p:cNvSpPr/>
            <p:nvPr/>
          </p:nvSpPr>
          <p:spPr>
            <a:xfrm>
              <a:off x="609600" y="5753100"/>
              <a:ext cx="9525000" cy="628650"/>
            </a:xfrm>
            <a:prstGeom prst="roundRect">
              <a:avLst>
                <a:gd name="adj" fmla="val 12121"/>
              </a:avLst>
            </a:prstGeom>
            <a:solidFill>
              <a:srgbClr val="EAF4F6"/>
            </a:solidFill>
            <a:ln>
              <a:noFill/>
            </a:ln>
          </p:spPr>
        </p:sp>
        <p:sp>
          <p:nvSpPr>
            <p:cNvPr id="38" name="TextBox 38"/>
            <p:cNvSpPr txBox="1"/>
            <p:nvPr/>
          </p:nvSpPr>
          <p:spPr>
            <a:xfrm>
              <a:off x="908304" y="5890260"/>
              <a:ext cx="55903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Sık yanlış anlama:</a:t>
              </a:r>
              <a:r>
                <a:rPr lang="tr-TR" sz="1200" dirty="0">
                  <a:solidFill>
                    <a:srgbClr val="172B3A"/>
                  </a:solidFill>
                  <a:latin typeface="+mn-lt"/>
                  <a:ea typeface="+mn-ea"/>
                  <a:cs typeface="+mn-cs"/>
                </a:rPr>
                <a:t xml:space="preserve"> "SMOTE her zaman class_weight'ten daha iyidir" —</a:t>
              </a:r>
            </a:p>
          </p:txBody>
        </p:sp>
        <p:sp>
          <p:nvSpPr>
            <p:cNvPr id="39" name="TextBox 39"/>
            <p:cNvSpPr txBox="1"/>
            <p:nvPr/>
          </p:nvSpPr>
          <p:spPr>
            <a:xfrm>
              <a:off x="908304" y="6099810"/>
              <a:ext cx="535122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hangisinin daha iyi olacağı veri miktarına ve model türüne bağlıdır.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942108" cy="557403"/>
            <a:chOff x="595122" y="282892"/>
            <a:chExt cx="2942108" cy="557403"/>
          </a:xfrm>
        </p:grpSpPr>
        <p:sp>
          <p:nvSpPr>
            <p:cNvPr id="4" name="TextBox 4"/>
            <p:cNvSpPr txBox="1"/>
            <p:nvPr/>
          </p:nvSpPr>
          <p:spPr>
            <a:xfrm>
              <a:off x="595122" y="282892"/>
              <a:ext cx="294210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Veri sızıntısı</a:t>
              </a:r>
            </a:p>
          </p:txBody>
        </p:sp>
      </p:grpSp>
      <p:grpSp>
        <p:nvGrpSpPr>
          <p:cNvPr id="10" name="definition-block"/>
          <p:cNvGrpSpPr/>
          <p:nvPr/>
        </p:nvGrpSpPr>
        <p:grpSpPr>
          <a:xfrm>
            <a:off x="600456" y="1329690"/>
            <a:ext cx="3739388" cy="3113627"/>
            <a:chOff x="600456" y="1329690"/>
            <a:chExt cx="3739388" cy="3113627"/>
          </a:xfrm>
        </p:grpSpPr>
        <p:sp>
          <p:nvSpPr>
            <p:cNvPr id="6" name="TextBox 6"/>
            <p:cNvSpPr txBox="1"/>
            <p:nvPr/>
          </p:nvSpPr>
          <p:spPr>
            <a:xfrm>
              <a:off x="600456" y="1329690"/>
              <a:ext cx="77735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Tanım</a:t>
              </a:r>
            </a:p>
          </p:txBody>
        </p:sp>
        <p:sp>
          <p:nvSpPr>
            <p:cNvPr id="7" name="TextBox 7"/>
            <p:cNvSpPr txBox="1"/>
            <p:nvPr/>
          </p:nvSpPr>
          <p:spPr>
            <a:xfrm>
              <a:off x="601599" y="1658779"/>
              <a:ext cx="3457321" cy="13748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Eğitim sırasında gerçek tahmin</a:t>
              </a:r>
              <a:br/>
              <a:r>
                <a:rPr lang="tr-TR" sz="1580" dirty="0">
                  <a:solidFill>
                    <a:srgbClr val="172B3A"/>
                  </a:solidFill>
                  <a:latin typeface="+mn-lt"/>
                  <a:ea typeface="+mn-ea"/>
                  <a:cs typeface="+mn-cs"/>
                </a:rPr>
                <a:t>anında erişilemeyecek bilginin</a:t>
              </a:r>
              <a:br/>
              <a:r>
                <a:rPr lang="tr-TR" sz="1580" dirty="0">
                  <a:solidFill>
                    <a:srgbClr val="172B3A"/>
                  </a:solidFill>
                  <a:latin typeface="+mn-lt"/>
                  <a:ea typeface="+mn-ea"/>
                  <a:cs typeface="+mn-cs"/>
                </a:rPr>
                <a:t>kullanılmasıdır. Sızıntı, modelin</a:t>
              </a:r>
              <a:br/>
              <a:r>
                <a:rPr lang="tr-TR" sz="1580" dirty="0">
                  <a:solidFill>
                    <a:srgbClr val="172B3A"/>
                  </a:solidFill>
                  <a:latin typeface="+mn-lt"/>
                  <a:ea typeface="+mn-ea"/>
                  <a:cs typeface="+mn-cs"/>
                </a:rPr>
                <a:t>yeteneğini değil deney tasarımının</a:t>
              </a:r>
              <a:br/>
              <a:r>
                <a:rPr lang="tr-TR" sz="1580" dirty="0">
                  <a:solidFill>
                    <a:srgbClr val="172B3A"/>
                  </a:solidFill>
                  <a:latin typeface="+mn-lt"/>
                  <a:ea typeface="+mn-ea"/>
                  <a:cs typeface="+mn-cs"/>
                </a:rPr>
                <a:t>hatasını ölçer.</a:t>
              </a:r>
            </a:p>
          </p:txBody>
        </p:sp>
        <p:sp>
          <p:nvSpPr>
            <p:cNvPr id="8" name="TextBox 8"/>
            <p:cNvSpPr txBox="1"/>
            <p:nvPr/>
          </p:nvSpPr>
          <p:spPr>
            <a:xfrm>
              <a:off x="600456" y="3006090"/>
              <a:ext cx="248224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Neden fark edilmez?</a:t>
              </a:r>
            </a:p>
          </p:txBody>
        </p:sp>
        <p:sp>
          <p:nvSpPr>
            <p:cNvPr id="9" name="TextBox 9"/>
            <p:cNvSpPr txBox="1"/>
            <p:nvPr/>
          </p:nvSpPr>
          <p:spPr>
            <a:xfrm>
              <a:off x="601599" y="3335179"/>
              <a:ext cx="3738245" cy="1108138"/>
            </a:xfrm>
            <a:prstGeom prst="rect">
              <a:avLst/>
            </a:prstGeom>
            <a:noFill/>
            <a:ln>
              <a:noFill/>
            </a:ln>
          </p:spPr>
          <p:txBody>
            <a:bodyPr wrap="none" lIns="0" tIns="0" rIns="0" bIns="0" anchor="t" anchorCtr="0">
              <a:spAutoFit/>
            </a:bodyPr>
            <a:lstStyle/>
            <a:p>
              <a:pPr algn="l">
                <a:lnSpc>
                  <a:spcPts val="2100"/>
                </a:lnSpc>
              </a:pPr>
              <a:r>
                <a:rPr lang="tr-TR" sz="1580" dirty="0">
                  <a:solidFill>
                    <a:srgbClr val="172B3A"/>
                  </a:solidFill>
                  <a:latin typeface="+mn-lt"/>
                  <a:ea typeface="+mn-ea"/>
                  <a:cs typeface="+mn-cs"/>
                </a:rPr>
                <a:t>Veri hazırlama adımları genellikle</a:t>
              </a:r>
              <a:br/>
              <a:r>
                <a:rPr lang="tr-TR" sz="1580" dirty="0">
                  <a:solidFill>
                    <a:srgbClr val="172B3A"/>
                  </a:solidFill>
                  <a:latin typeface="+mn-lt"/>
                  <a:ea typeface="+mn-ea"/>
                  <a:cs typeface="+mn-cs"/>
                </a:rPr>
                <a:t>çok sayıda dosya ve kişi tarafından</a:t>
              </a:r>
              <a:br/>
              <a:r>
                <a:rPr lang="tr-TR" sz="1580" dirty="0">
                  <a:solidFill>
                    <a:srgbClr val="172B3A"/>
                  </a:solidFill>
                  <a:latin typeface="+mn-lt"/>
                  <a:ea typeface="+mn-ea"/>
                  <a:cs typeface="+mn-cs"/>
                </a:rPr>
                <a:t>yürütülür; sızıntı yapay yüksek skor</a:t>
              </a:r>
              <a:br/>
              <a:r>
                <a:rPr lang="tr-TR" sz="1580" dirty="0">
                  <a:solidFill>
                    <a:srgbClr val="172B3A"/>
                  </a:solidFill>
                  <a:latin typeface="+mn-lt"/>
                  <a:ea typeface="+mn-ea"/>
                  <a:cs typeface="+mn-cs"/>
                </a:rPr>
                <a:t>verdiği için özellikle tehlikelidir.</a:t>
              </a:r>
            </a:p>
          </p:txBody>
        </p:sp>
      </p:grpSp>
      <p:grpSp>
        <p:nvGrpSpPr>
          <p:cNvPr id="28" name="leakage-sources"/>
          <p:cNvGrpSpPr/>
          <p:nvPr/>
        </p:nvGrpSpPr>
        <p:grpSpPr>
          <a:xfrm>
            <a:off x="6400800" y="1257300"/>
            <a:ext cx="5181600" cy="4076700"/>
            <a:chOff x="6400800" y="1257300"/>
            <a:chExt cx="5181600" cy="4076700"/>
          </a:xfrm>
        </p:grpSpPr>
        <p:grpSp>
          <p:nvGrpSpPr>
            <p:cNvPr id="15" name="source-column"/>
            <p:cNvGrpSpPr/>
            <p:nvPr/>
          </p:nvGrpSpPr>
          <p:grpSpPr>
            <a:xfrm>
              <a:off x="6400800" y="1257300"/>
              <a:ext cx="5181600" cy="1257300"/>
              <a:chOff x="6400800" y="1257300"/>
              <a:chExt cx="5181600" cy="1257300"/>
            </a:xfrm>
          </p:grpSpPr>
          <p:sp>
            <p:nvSpPr>
              <p:cNvPr id="11" name="Rectangle 11"/>
              <p:cNvSpPr/>
              <p:nvPr/>
            </p:nvSpPr>
            <p:spPr>
              <a:xfrm>
                <a:off x="6400800" y="1257300"/>
                <a:ext cx="5181600" cy="1257300"/>
              </a:xfrm>
              <a:prstGeom prst="roundRect">
                <a:avLst>
                  <a:gd name="adj" fmla="val 7576"/>
                </a:avLst>
              </a:prstGeom>
              <a:solidFill>
                <a:srgbClr val="FFFFFF"/>
              </a:solidFill>
              <a:ln w="14288">
                <a:solidFill>
                  <a:srgbClr val="B8CBD3"/>
                </a:solidFill>
              </a:ln>
            </p:spPr>
          </p:sp>
          <p:sp>
            <p:nvSpPr>
              <p:cNvPr id="12" name="Rectangle 12"/>
              <p:cNvSpPr/>
              <p:nvPr/>
            </p:nvSpPr>
            <p:spPr>
              <a:xfrm>
                <a:off x="6400800" y="1257300"/>
                <a:ext cx="76200" cy="1257300"/>
              </a:xfrm>
              <a:prstGeom prst="rect">
                <a:avLst/>
              </a:prstGeom>
              <a:solidFill>
                <a:srgbClr val="00A6A6"/>
              </a:solidFill>
              <a:ln>
                <a:noFill/>
              </a:ln>
            </p:spPr>
          </p:sp>
          <p:sp>
            <p:nvSpPr>
              <p:cNvPr id="13" name="TextBox 13"/>
              <p:cNvSpPr txBox="1"/>
              <p:nvPr/>
            </p:nvSpPr>
            <p:spPr>
              <a:xfrm>
                <a:off x="6659499" y="1430179"/>
                <a:ext cx="218271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Bölme öncesi SMOTE</a:t>
                </a:r>
              </a:p>
            </p:txBody>
          </p:sp>
          <p:sp>
            <p:nvSpPr>
              <p:cNvPr id="14" name="TextBox 14"/>
              <p:cNvSpPr txBox="1"/>
              <p:nvPr/>
            </p:nvSpPr>
            <p:spPr>
              <a:xfrm>
                <a:off x="6661404" y="1775460"/>
                <a:ext cx="31973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Sentetik örnekler tüm veriden üretilir;</a:t>
                </a:r>
                <a:br/>
                <a:r>
                  <a:rPr lang="tr-TR" sz="1200" dirty="0">
                    <a:solidFill>
                      <a:srgbClr val="172B3A"/>
                    </a:solidFill>
                    <a:latin typeface="+mn-lt"/>
                    <a:ea typeface="+mn-ea"/>
                    <a:cs typeface="+mn-cs"/>
                  </a:rPr>
                  <a:t>test bilgisi dolaylı olarak eğitime taşınır.</a:t>
                </a:r>
                <a:br/>
                <a:r>
                  <a:rPr lang="tr-TR" sz="1200" dirty="0">
                    <a:solidFill>
                      <a:srgbClr val="172B3A"/>
                    </a:solidFill>
                    <a:latin typeface="+mn-lt"/>
                    <a:ea typeface="+mn-ea"/>
                    <a:cs typeface="+mn-cs"/>
                  </a:rPr>
                  <a:t>Veri dengelenmiş göründüğü için gizlenir.</a:t>
                </a:r>
              </a:p>
            </p:txBody>
          </p:sp>
        </p:grpSp>
        <p:grpSp>
          <p:nvGrpSpPr>
            <p:cNvPr id="22" name="source-target"/>
            <p:cNvGrpSpPr/>
            <p:nvPr/>
          </p:nvGrpSpPr>
          <p:grpSpPr>
            <a:xfrm>
              <a:off x="6400800" y="2667000"/>
              <a:ext cx="5181600" cy="1257300"/>
              <a:chOff x="6400800" y="2667000"/>
              <a:chExt cx="5181600" cy="1257300"/>
            </a:xfrm>
          </p:grpSpPr>
          <p:sp>
            <p:nvSpPr>
              <p:cNvPr id="16" name="Rectangle 16"/>
              <p:cNvSpPr/>
              <p:nvPr/>
            </p:nvSpPr>
            <p:spPr>
              <a:xfrm>
                <a:off x="6400800" y="2667000"/>
                <a:ext cx="5181600" cy="1257300"/>
              </a:xfrm>
              <a:prstGeom prst="roundRect">
                <a:avLst>
                  <a:gd name="adj" fmla="val 7576"/>
                </a:avLst>
              </a:prstGeom>
              <a:solidFill>
                <a:srgbClr val="FFFFFF"/>
              </a:solidFill>
              <a:ln w="14288">
                <a:solidFill>
                  <a:srgbClr val="B8CBD3"/>
                </a:solidFill>
              </a:ln>
            </p:spPr>
          </p:sp>
          <p:sp>
            <p:nvSpPr>
              <p:cNvPr id="17" name="Rectangle 17"/>
              <p:cNvSpPr/>
              <p:nvPr/>
            </p:nvSpPr>
            <p:spPr>
              <a:xfrm>
                <a:off x="6400800" y="2667000"/>
                <a:ext cx="76200" cy="1257300"/>
              </a:xfrm>
              <a:prstGeom prst="rect">
                <a:avLst/>
              </a:prstGeom>
              <a:solidFill>
                <a:srgbClr val="00A6A6"/>
              </a:solidFill>
              <a:ln>
                <a:noFill/>
              </a:ln>
            </p:spPr>
          </p:sp>
          <p:sp>
            <p:nvSpPr>
              <p:cNvPr id="18" name="TextBox 18"/>
              <p:cNvSpPr txBox="1"/>
              <p:nvPr/>
            </p:nvSpPr>
            <p:spPr>
              <a:xfrm>
                <a:off x="6659499" y="2839879"/>
                <a:ext cx="294858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Hedef bilgisi taşıyan sütun</a:t>
                </a:r>
              </a:p>
            </p:txBody>
          </p:sp>
          <p:sp>
            <p:nvSpPr>
              <p:cNvPr id="19" name="TextBox 19"/>
              <p:cNvSpPr txBox="1"/>
              <p:nvPr/>
            </p:nvSpPr>
            <p:spPr>
              <a:xfrm>
                <a:off x="6661404" y="3185160"/>
                <a:ext cx="31518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"İptal sonrası son fatura tutarı" veya</a:t>
                </a:r>
              </a:p>
            </p:txBody>
          </p:sp>
          <p:sp>
            <p:nvSpPr>
              <p:cNvPr id="20" name="TextBox 20"/>
              <p:cNvSpPr txBox="1"/>
              <p:nvPr/>
            </p:nvSpPr>
            <p:spPr>
              <a:xfrm>
                <a:off x="6661404" y="3375660"/>
                <a:ext cx="29603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"ayrılma talebi tarihi" tahmin anında</a:t>
                </a:r>
              </a:p>
            </p:txBody>
          </p:sp>
          <p:sp>
            <p:nvSpPr>
              <p:cNvPr id="21" name="TextBox 21"/>
              <p:cNvSpPr txBox="1"/>
              <p:nvPr/>
            </p:nvSpPr>
            <p:spPr>
              <a:xfrm>
                <a:off x="6661404" y="3566160"/>
                <a:ext cx="278267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henüz oluşmamış gelecek bilgisidir.</a:t>
                </a:r>
              </a:p>
            </p:txBody>
          </p:sp>
        </p:grpSp>
        <p:grpSp>
          <p:nvGrpSpPr>
            <p:cNvPr id="27" name="source-time"/>
            <p:cNvGrpSpPr/>
            <p:nvPr/>
          </p:nvGrpSpPr>
          <p:grpSpPr>
            <a:xfrm>
              <a:off x="6400800" y="4076700"/>
              <a:ext cx="5181600" cy="1257300"/>
              <a:chOff x="6400800" y="4076700"/>
              <a:chExt cx="5181600" cy="1257300"/>
            </a:xfrm>
          </p:grpSpPr>
          <p:sp>
            <p:nvSpPr>
              <p:cNvPr id="23" name="Rectangle 23"/>
              <p:cNvSpPr/>
              <p:nvPr/>
            </p:nvSpPr>
            <p:spPr>
              <a:xfrm>
                <a:off x="6400800" y="4076700"/>
                <a:ext cx="5181600" cy="1257300"/>
              </a:xfrm>
              <a:prstGeom prst="roundRect">
                <a:avLst>
                  <a:gd name="adj" fmla="val 7576"/>
                </a:avLst>
              </a:prstGeom>
              <a:solidFill>
                <a:srgbClr val="FFFFFF"/>
              </a:solidFill>
              <a:ln w="14288">
                <a:solidFill>
                  <a:srgbClr val="B8CBD3"/>
                </a:solidFill>
              </a:ln>
            </p:spPr>
          </p:sp>
          <p:sp>
            <p:nvSpPr>
              <p:cNvPr id="24" name="Rectangle 24"/>
              <p:cNvSpPr/>
              <p:nvPr/>
            </p:nvSpPr>
            <p:spPr>
              <a:xfrm>
                <a:off x="6400800" y="4076700"/>
                <a:ext cx="76200" cy="1257300"/>
              </a:xfrm>
              <a:prstGeom prst="rect">
                <a:avLst/>
              </a:prstGeom>
              <a:solidFill>
                <a:srgbClr val="00A6A6"/>
              </a:solidFill>
              <a:ln>
                <a:noFill/>
              </a:ln>
            </p:spPr>
          </p:sp>
          <p:sp>
            <p:nvSpPr>
              <p:cNvPr id="25" name="TextBox 25"/>
              <p:cNvSpPr txBox="1"/>
              <p:nvPr/>
            </p:nvSpPr>
            <p:spPr>
              <a:xfrm>
                <a:off x="6659499" y="4249579"/>
                <a:ext cx="291562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Zaman ve grup karışıklığı</a:t>
                </a:r>
              </a:p>
            </p:txBody>
          </p:sp>
          <p:sp>
            <p:nvSpPr>
              <p:cNvPr id="26" name="TextBox 26"/>
              <p:cNvSpPr txBox="1"/>
              <p:nvPr/>
            </p:nvSpPr>
            <p:spPr>
              <a:xfrm>
                <a:off x="6661404" y="4594860"/>
                <a:ext cx="30297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Ocak tahmini şubat verisi görmemeli;</a:t>
                </a:r>
                <a:br/>
                <a:r>
                  <a:rPr lang="tr-TR" sz="1200" dirty="0">
                    <a:solidFill>
                      <a:srgbClr val="172B3A"/>
                    </a:solidFill>
                    <a:latin typeface="+mn-lt"/>
                    <a:ea typeface="+mn-ea"/>
                    <a:cs typeface="+mn-cs"/>
                  </a:rPr>
                  <a:t>aynı müşterinin kayıtlarını hem eğitime</a:t>
                </a:r>
                <a:br/>
                <a:r>
                  <a:rPr lang="tr-TR" sz="1200" dirty="0">
                    <a:solidFill>
                      <a:srgbClr val="172B3A"/>
                    </a:solidFill>
                    <a:latin typeface="+mn-lt"/>
                    <a:ea typeface="+mn-ea"/>
                    <a:cs typeface="+mn-cs"/>
                  </a:rPr>
                  <a:t>hem teste koymak kimliği sızdırır.</a:t>
                </a:r>
              </a:p>
            </p:txBody>
          </p:sp>
        </p:grpSp>
      </p:grpSp>
      <p:grpSp>
        <p:nvGrpSpPr>
          <p:cNvPr id="32" name="exam-note"/>
          <p:cNvGrpSpPr/>
          <p:nvPr/>
        </p:nvGrpSpPr>
        <p:grpSpPr>
          <a:xfrm>
            <a:off x="609600" y="5753100"/>
            <a:ext cx="9525000" cy="657606"/>
            <a:chOff x="609600" y="5753100"/>
            <a:chExt cx="9525000" cy="657606"/>
          </a:xfrm>
        </p:grpSpPr>
        <p:sp>
          <p:nvSpPr>
            <p:cNvPr id="29" name="Rectangle 29"/>
            <p:cNvSpPr/>
            <p:nvPr/>
          </p:nvSpPr>
          <p:spPr>
            <a:xfrm>
              <a:off x="609600" y="5753100"/>
              <a:ext cx="9525000" cy="609600"/>
            </a:xfrm>
            <a:prstGeom prst="roundRect">
              <a:avLst>
                <a:gd name="adj" fmla="val 12500"/>
              </a:avLst>
            </a:prstGeom>
            <a:solidFill>
              <a:srgbClr val="EAF4F6"/>
            </a:solidFill>
            <a:ln>
              <a:noFill/>
            </a:ln>
          </p:spPr>
        </p:sp>
        <p:sp>
          <p:nvSpPr>
            <p:cNvPr id="30" name="TextBox 30"/>
            <p:cNvSpPr txBox="1"/>
            <p:nvPr/>
          </p:nvSpPr>
          <p:spPr>
            <a:xfrm>
              <a:off x="908304" y="5966460"/>
              <a:ext cx="545980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Sınav notu:</a:t>
              </a:r>
              <a:r>
                <a:rPr lang="tr-TR" sz="1200" dirty="0">
                  <a:solidFill>
                    <a:srgbClr val="172B3A"/>
                  </a:solidFill>
                  <a:latin typeface="+mn-lt"/>
                  <a:ea typeface="+mn-ea"/>
                  <a:cs typeface="+mn-cs"/>
                </a:rPr>
                <a:t xml:space="preserve"> Ölçekleyici, kodlayıcı, seçici ve SMOTE parametrelerini</a:t>
              </a:r>
            </a:p>
          </p:txBody>
        </p:sp>
        <p:sp>
          <p:nvSpPr>
            <p:cNvPr id="31" name="TextBox 31"/>
            <p:cNvSpPr txBox="1"/>
            <p:nvPr/>
          </p:nvSpPr>
          <p:spPr>
            <a:xfrm>
              <a:off x="908304" y="6176010"/>
              <a:ext cx="318653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eğitim verisinden öğrenmelidir.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614260" cy="668845"/>
            <a:chOff x="609600" y="171450"/>
            <a:chExt cx="661426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592388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Sızıntısız eğitim-test akışı</a:t>
              </a:r>
            </a:p>
          </p:txBody>
        </p:sp>
      </p:grpSp>
      <p:grpSp>
        <p:nvGrpSpPr>
          <p:cNvPr id="37" name="flow-diagram"/>
          <p:cNvGrpSpPr/>
          <p:nvPr/>
        </p:nvGrpSpPr>
        <p:grpSpPr>
          <a:xfrm>
            <a:off x="609600" y="762000"/>
            <a:ext cx="10363200" cy="3943350"/>
            <a:chOff x="609600" y="762000"/>
            <a:chExt cx="10363200" cy="3943350"/>
          </a:xfrm>
        </p:grpSpPr>
        <p:sp>
          <p:nvSpPr>
            <p:cNvPr id="12" name="Rectangle 12"/>
            <p:cNvSpPr/>
            <p:nvPr/>
          </p:nvSpPr>
          <p:spPr>
            <a:xfrm>
              <a:off x="609600" y="2476500"/>
              <a:ext cx="1905000" cy="857250"/>
            </a:xfrm>
            <a:prstGeom prst="roundRect">
              <a:avLst>
                <a:gd name="adj" fmla="val 11111"/>
              </a:avLst>
            </a:prstGeom>
            <a:solidFill>
              <a:srgbClr val="12355B"/>
            </a:solidFill>
            <a:ln>
              <a:noFill/>
            </a:ln>
          </p:spPr>
        </p:sp>
        <p:sp>
          <p:nvSpPr>
            <p:cNvPr id="13" name="TextBox 13"/>
            <p:cNvSpPr txBox="1"/>
            <p:nvPr/>
          </p:nvSpPr>
          <p:spPr>
            <a:xfrm>
              <a:off x="1092561" y="2668429"/>
              <a:ext cx="939078"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Ham veri</a:t>
              </a:r>
            </a:p>
          </p:txBody>
        </p:sp>
        <p:sp>
          <p:nvSpPr>
            <p:cNvPr id="14" name="TextBox 14"/>
            <p:cNvSpPr txBox="1"/>
            <p:nvPr/>
          </p:nvSpPr>
          <p:spPr>
            <a:xfrm>
              <a:off x="1076173" y="2953702"/>
              <a:ext cx="971855"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tüm gözlemler</a:t>
              </a:r>
            </a:p>
          </p:txBody>
        </p:sp>
        <p:sp>
          <p:nvSpPr>
            <p:cNvPr id="15" name="Line 15"/>
            <p:cNvSpPr/>
            <p:nvPr/>
          </p:nvSpPr>
          <p:spPr>
            <a:xfrm>
              <a:off x="2514600" y="2905125"/>
              <a:ext cx="685800" cy="1"/>
            </a:xfrm>
            <a:prstGeom prst="line">
              <a:avLst/>
            </a:prstGeom>
            <a:noFill/>
            <a:ln w="28575">
              <a:solidFill>
                <a:srgbClr val="00A6A6"/>
              </a:solidFill>
              <a:tailEnd type="arrow" w="lg" len="lg"/>
            </a:ln>
          </p:spPr>
        </p:sp>
        <p:sp>
          <p:nvSpPr>
            <p:cNvPr id="16" name="Rectangle 16"/>
            <p:cNvSpPr/>
            <p:nvPr/>
          </p:nvSpPr>
          <p:spPr>
            <a:xfrm>
              <a:off x="3200400" y="2476500"/>
              <a:ext cx="2095500" cy="857250"/>
            </a:xfrm>
            <a:prstGeom prst="roundRect">
              <a:avLst>
                <a:gd name="adj" fmla="val 11111"/>
              </a:avLst>
            </a:prstGeom>
            <a:solidFill>
              <a:srgbClr val="2E86AB"/>
            </a:solidFill>
            <a:ln>
              <a:noFill/>
            </a:ln>
          </p:spPr>
        </p:sp>
        <p:sp>
          <p:nvSpPr>
            <p:cNvPr id="17" name="TextBox 17"/>
            <p:cNvSpPr txBox="1"/>
            <p:nvPr/>
          </p:nvSpPr>
          <p:spPr>
            <a:xfrm>
              <a:off x="3408228" y="2668429"/>
              <a:ext cx="1679845"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stratify=hedef</a:t>
              </a:r>
            </a:p>
          </p:txBody>
        </p:sp>
        <p:sp>
          <p:nvSpPr>
            <p:cNvPr id="18" name="TextBox 18"/>
            <p:cNvSpPr txBox="1"/>
            <p:nvPr/>
          </p:nvSpPr>
          <p:spPr>
            <a:xfrm>
              <a:off x="3673878" y="2953702"/>
              <a:ext cx="1148544"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train_test_split</a:t>
              </a:r>
            </a:p>
          </p:txBody>
        </p:sp>
        <p:sp>
          <p:nvSpPr>
            <p:cNvPr id="19" name="Line 19"/>
            <p:cNvSpPr/>
            <p:nvPr/>
          </p:nvSpPr>
          <p:spPr>
            <a:xfrm>
              <a:off x="4248150" y="3333750"/>
              <a:ext cx="1" cy="514350"/>
            </a:xfrm>
            <a:prstGeom prst="line">
              <a:avLst/>
            </a:prstGeom>
            <a:noFill/>
            <a:ln w="28575">
              <a:solidFill>
                <a:srgbClr val="00A6A6"/>
              </a:solidFill>
              <a:tailEnd type="arrow" w="lg" len="lg"/>
            </a:ln>
          </p:spPr>
        </p:sp>
        <p:sp>
          <p:nvSpPr>
            <p:cNvPr id="20" name="Line 20"/>
            <p:cNvSpPr/>
            <p:nvPr/>
          </p:nvSpPr>
          <p:spPr>
            <a:xfrm flipV="1">
              <a:off x="4248150" y="1714500"/>
              <a:ext cx="1" cy="1619250"/>
            </a:xfrm>
            <a:prstGeom prst="line">
              <a:avLst/>
            </a:prstGeom>
            <a:noFill/>
            <a:ln w="28575">
              <a:solidFill>
                <a:srgbClr val="00A6A6"/>
              </a:solidFill>
              <a:tailEnd type="arrow" w="lg" len="lg"/>
            </a:ln>
          </p:spPr>
        </p:sp>
        <p:sp>
          <p:nvSpPr>
            <p:cNvPr id="21" name="Rectangle 21"/>
            <p:cNvSpPr/>
            <p:nvPr/>
          </p:nvSpPr>
          <p:spPr>
            <a:xfrm>
              <a:off x="3200400" y="762000"/>
              <a:ext cx="2095500" cy="857250"/>
            </a:xfrm>
            <a:prstGeom prst="roundRect">
              <a:avLst>
                <a:gd name="adj" fmla="val 11111"/>
              </a:avLst>
            </a:prstGeom>
            <a:solidFill>
              <a:srgbClr val="FFFFFF"/>
            </a:solidFill>
            <a:ln w="19050">
              <a:solidFill>
                <a:srgbClr val="00A6A6"/>
              </a:solidFill>
            </a:ln>
          </p:spPr>
        </p:sp>
        <p:sp>
          <p:nvSpPr>
            <p:cNvPr id="22" name="TextBox 22"/>
            <p:cNvSpPr txBox="1"/>
            <p:nvPr/>
          </p:nvSpPr>
          <p:spPr>
            <a:xfrm>
              <a:off x="3505278" y="953929"/>
              <a:ext cx="1485744"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Eğitim kümesi</a:t>
              </a:r>
            </a:p>
          </p:txBody>
        </p:sp>
        <p:sp>
          <p:nvSpPr>
            <p:cNvPr id="23" name="TextBox 23"/>
            <p:cNvSpPr txBox="1"/>
            <p:nvPr/>
          </p:nvSpPr>
          <p:spPr>
            <a:xfrm>
              <a:off x="3280533" y="1239202"/>
              <a:ext cx="1935233"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ölçekleme + SMOTE öğrenilir</a:t>
              </a:r>
            </a:p>
          </p:txBody>
        </p:sp>
        <p:sp>
          <p:nvSpPr>
            <p:cNvPr id="24" name="Line 24"/>
            <p:cNvSpPr/>
            <p:nvPr/>
          </p:nvSpPr>
          <p:spPr>
            <a:xfrm>
              <a:off x="5295900" y="1190625"/>
              <a:ext cx="685800" cy="1"/>
            </a:xfrm>
            <a:prstGeom prst="line">
              <a:avLst/>
            </a:prstGeom>
            <a:noFill/>
            <a:ln w="28575">
              <a:solidFill>
                <a:srgbClr val="00A6A6"/>
              </a:solidFill>
              <a:tailEnd type="arrow" w="lg" len="lg"/>
            </a:ln>
          </p:spPr>
        </p:sp>
        <p:sp>
          <p:nvSpPr>
            <p:cNvPr id="25" name="Rectangle 25"/>
            <p:cNvSpPr/>
            <p:nvPr/>
          </p:nvSpPr>
          <p:spPr>
            <a:xfrm>
              <a:off x="5981700" y="762000"/>
              <a:ext cx="2095500" cy="857250"/>
            </a:xfrm>
            <a:prstGeom prst="roundRect">
              <a:avLst>
                <a:gd name="adj" fmla="val 11111"/>
              </a:avLst>
            </a:prstGeom>
            <a:solidFill>
              <a:srgbClr val="FFFFFF"/>
            </a:solidFill>
            <a:ln w="19050">
              <a:solidFill>
                <a:srgbClr val="00A6A6"/>
              </a:solidFill>
            </a:ln>
          </p:spPr>
        </p:sp>
        <p:sp>
          <p:nvSpPr>
            <p:cNvPr id="26" name="TextBox 26"/>
            <p:cNvSpPr txBox="1"/>
            <p:nvPr/>
          </p:nvSpPr>
          <p:spPr>
            <a:xfrm>
              <a:off x="6526636" y="953929"/>
              <a:ext cx="100562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Model fit</a:t>
              </a:r>
            </a:p>
          </p:txBody>
        </p:sp>
        <p:sp>
          <p:nvSpPr>
            <p:cNvPr id="27" name="TextBox 27"/>
            <p:cNvSpPr txBox="1"/>
            <p:nvPr/>
          </p:nvSpPr>
          <p:spPr>
            <a:xfrm>
              <a:off x="6179544" y="1239202"/>
              <a:ext cx="1699812"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yalnızca eğitim verisiyle</a:t>
              </a:r>
            </a:p>
          </p:txBody>
        </p:sp>
        <p:sp>
          <p:nvSpPr>
            <p:cNvPr id="28" name="Line 28"/>
            <p:cNvSpPr/>
            <p:nvPr/>
          </p:nvSpPr>
          <p:spPr>
            <a:xfrm>
              <a:off x="8077200" y="1190625"/>
              <a:ext cx="685800" cy="1"/>
            </a:xfrm>
            <a:prstGeom prst="line">
              <a:avLst/>
            </a:prstGeom>
            <a:noFill/>
            <a:ln w="28575">
              <a:solidFill>
                <a:srgbClr val="00A6A6"/>
              </a:solidFill>
              <a:tailEnd type="arrow" w="lg" len="lg"/>
            </a:ln>
          </p:spPr>
        </p:sp>
        <p:sp>
          <p:nvSpPr>
            <p:cNvPr id="29" name="Rectangle 29"/>
            <p:cNvSpPr/>
            <p:nvPr/>
          </p:nvSpPr>
          <p:spPr>
            <a:xfrm>
              <a:off x="3200400" y="3848100"/>
              <a:ext cx="2095500" cy="857250"/>
            </a:xfrm>
            <a:prstGeom prst="roundRect">
              <a:avLst>
                <a:gd name="adj" fmla="val 11111"/>
              </a:avLst>
            </a:prstGeom>
            <a:solidFill>
              <a:srgbClr val="EAF4F6"/>
            </a:solidFill>
            <a:ln w="14288">
              <a:solidFill>
                <a:srgbClr val="B8CBD3"/>
              </a:solidFill>
            </a:ln>
          </p:spPr>
        </p:sp>
        <p:sp>
          <p:nvSpPr>
            <p:cNvPr id="30" name="TextBox 30"/>
            <p:cNvSpPr txBox="1"/>
            <p:nvPr/>
          </p:nvSpPr>
          <p:spPr>
            <a:xfrm>
              <a:off x="3594428" y="4040029"/>
              <a:ext cx="1307445"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Test kümesi</a:t>
              </a:r>
            </a:p>
          </p:txBody>
        </p:sp>
        <p:sp>
          <p:nvSpPr>
            <p:cNvPr id="31" name="TextBox 31"/>
            <p:cNvSpPr txBox="1"/>
            <p:nvPr/>
          </p:nvSpPr>
          <p:spPr>
            <a:xfrm>
              <a:off x="3274562" y="4325302"/>
              <a:ext cx="194717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dokunulmamış, ayrı tutulur</a:t>
              </a:r>
            </a:p>
          </p:txBody>
        </p:sp>
        <p:sp>
          <p:nvSpPr>
            <p:cNvPr id="32" name="Line 32"/>
            <p:cNvSpPr/>
            <p:nvPr/>
          </p:nvSpPr>
          <p:spPr>
            <a:xfrm>
              <a:off x="5295900" y="4276725"/>
              <a:ext cx="3467100" cy="1"/>
            </a:xfrm>
            <a:prstGeom prst="line">
              <a:avLst/>
            </a:prstGeom>
            <a:noFill/>
            <a:ln w="19050">
              <a:solidFill>
                <a:srgbClr val="52616B"/>
              </a:solidFill>
              <a:custDash>
                <a:ds d="300000" sp="200000"/>
              </a:custDash>
              <a:tailEnd type="arrow" w="lg" len="lg"/>
            </a:ln>
          </p:spPr>
        </p:sp>
        <p:sp>
          <p:nvSpPr>
            <p:cNvPr id="33" name="Rectangle 33"/>
            <p:cNvSpPr/>
            <p:nvPr/>
          </p:nvSpPr>
          <p:spPr>
            <a:xfrm>
              <a:off x="8763000" y="2476500"/>
              <a:ext cx="2209800" cy="857250"/>
            </a:xfrm>
            <a:prstGeom prst="roundRect">
              <a:avLst>
                <a:gd name="adj" fmla="val 11111"/>
              </a:avLst>
            </a:prstGeom>
            <a:solidFill>
              <a:srgbClr val="12355B"/>
            </a:solidFill>
            <a:ln>
              <a:noFill/>
            </a:ln>
          </p:spPr>
        </p:sp>
        <p:sp>
          <p:nvSpPr>
            <p:cNvPr id="34" name="TextBox 34"/>
            <p:cNvSpPr txBox="1"/>
            <p:nvPr/>
          </p:nvSpPr>
          <p:spPr>
            <a:xfrm>
              <a:off x="9091647" y="2611279"/>
              <a:ext cx="1552505"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Değerlendirme</a:t>
              </a:r>
            </a:p>
          </p:txBody>
        </p:sp>
        <p:sp>
          <p:nvSpPr>
            <p:cNvPr id="35" name="TextBox 35"/>
            <p:cNvSpPr txBox="1"/>
            <p:nvPr/>
          </p:nvSpPr>
          <p:spPr>
            <a:xfrm>
              <a:off x="9047044" y="2877502"/>
              <a:ext cx="1641711"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predict_proba + PR-AUC</a:t>
              </a:r>
            </a:p>
          </p:txBody>
        </p:sp>
        <p:sp>
          <p:nvSpPr>
            <p:cNvPr id="36" name="TextBox 36"/>
            <p:cNvSpPr txBox="1"/>
            <p:nvPr/>
          </p:nvSpPr>
          <p:spPr>
            <a:xfrm>
              <a:off x="8968521" y="3068002"/>
              <a:ext cx="1798758"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(transform, yalnız test)</a:t>
              </a:r>
            </a:p>
          </p:txBody>
        </p:sp>
      </p:grpSp>
      <p:grpSp>
        <p:nvGrpSpPr>
          <p:cNvPr id="40" name="flow-note"/>
          <p:cNvGrpSpPr/>
          <p:nvPr/>
        </p:nvGrpSpPr>
        <p:grpSpPr>
          <a:xfrm>
            <a:off x="609600" y="5638800"/>
            <a:ext cx="10972800" cy="671417"/>
            <a:chOff x="609600" y="5638800"/>
            <a:chExt cx="10972800" cy="671417"/>
          </a:xfrm>
        </p:grpSpPr>
        <p:sp>
          <p:nvSpPr>
            <p:cNvPr id="38" name="Rectangle 38"/>
            <p:cNvSpPr/>
            <p:nvPr/>
          </p:nvSpPr>
          <p:spPr>
            <a:xfrm>
              <a:off x="609600" y="5638800"/>
              <a:ext cx="10972800" cy="647700"/>
            </a:xfrm>
            <a:prstGeom prst="roundRect">
              <a:avLst>
                <a:gd name="adj" fmla="val 11765"/>
              </a:avLst>
            </a:prstGeom>
            <a:solidFill>
              <a:srgbClr val="EAF4F6"/>
            </a:solidFill>
            <a:ln>
              <a:noFill/>
            </a:ln>
          </p:spPr>
        </p:sp>
        <p:sp>
          <p:nvSpPr>
            <p:cNvPr id="39" name="TextBox 39"/>
            <p:cNvSpPr txBox="1"/>
            <p:nvPr/>
          </p:nvSpPr>
          <p:spPr>
            <a:xfrm>
              <a:off x="906399" y="5754529"/>
              <a:ext cx="666788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Test verisi yalnızca değerlendirme için ayrılır. SMOTE ve ölçekleme</a:t>
              </a:r>
              <a:br/>
              <a:r>
                <a:rPr lang="tr-TR" sz="1580" dirty="0">
                  <a:solidFill>
                    <a:srgbClr val="172B3A"/>
                  </a:solidFill>
                  <a:latin typeface="+mn-lt"/>
                  <a:ea typeface="+mn-ea"/>
                  <a:cs typeface="+mn-cs"/>
                </a:rPr>
                <a:t>parametreleri yalnızca eğitim katından öğrenilir.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6591756" cy="668845"/>
            <a:chOff x="609600" y="171450"/>
            <a:chExt cx="6591756"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590138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SMOTE ne zaman uygulanmalı?</a:t>
              </a:r>
            </a:p>
          </p:txBody>
        </p:sp>
      </p:grpSp>
      <p:grpSp>
        <p:nvGrpSpPr>
          <p:cNvPr id="24" name="path-wrong"/>
          <p:cNvGrpSpPr/>
          <p:nvPr/>
        </p:nvGrpSpPr>
        <p:grpSpPr>
          <a:xfrm>
            <a:off x="609600" y="1257300"/>
            <a:ext cx="5334000" cy="2867406"/>
            <a:chOff x="609600" y="1257300"/>
            <a:chExt cx="5334000" cy="2867406"/>
          </a:xfrm>
        </p:grpSpPr>
        <p:sp>
          <p:nvSpPr>
            <p:cNvPr id="11" name="Rectangle 11"/>
            <p:cNvSpPr/>
            <p:nvPr/>
          </p:nvSpPr>
          <p:spPr>
            <a:xfrm>
              <a:off x="609600" y="1257300"/>
              <a:ext cx="5334000" cy="2857500"/>
            </a:xfrm>
            <a:prstGeom prst="roundRect">
              <a:avLst>
                <a:gd name="adj" fmla="val 3333"/>
              </a:avLst>
            </a:prstGeom>
            <a:solidFill>
              <a:srgbClr val="FFFFFF"/>
            </a:solidFill>
            <a:ln w="14288">
              <a:solidFill>
                <a:srgbClr val="B8CBD3"/>
              </a:solidFill>
            </a:ln>
          </p:spPr>
        </p:sp>
        <p:sp>
          <p:nvSpPr>
            <p:cNvPr id="12" name="TextBox 12"/>
            <p:cNvSpPr txBox="1"/>
            <p:nvPr/>
          </p:nvSpPr>
          <p:spPr>
            <a:xfrm>
              <a:off x="830199" y="1430179"/>
              <a:ext cx="12625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Hatalı sıra</a:t>
              </a:r>
            </a:p>
          </p:txBody>
        </p:sp>
        <p:sp>
          <p:nvSpPr>
            <p:cNvPr id="13" name="Rectangle 13"/>
            <p:cNvSpPr/>
            <p:nvPr/>
          </p:nvSpPr>
          <p:spPr>
            <a:xfrm>
              <a:off x="838200" y="1828800"/>
              <a:ext cx="1524000" cy="495300"/>
            </a:xfrm>
            <a:prstGeom prst="roundRect">
              <a:avLst>
                <a:gd name="adj" fmla="val 11538"/>
              </a:avLst>
            </a:prstGeom>
            <a:solidFill>
              <a:srgbClr val="EAF4F6"/>
            </a:solidFill>
            <a:ln>
              <a:noFill/>
            </a:ln>
          </p:spPr>
        </p:sp>
        <p:sp>
          <p:nvSpPr>
            <p:cNvPr id="14" name="TextBox 14"/>
            <p:cNvSpPr txBox="1"/>
            <p:nvPr/>
          </p:nvSpPr>
          <p:spPr>
            <a:xfrm>
              <a:off x="1260261" y="2004060"/>
              <a:ext cx="679878"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Tüm veri</a:t>
              </a:r>
            </a:p>
          </p:txBody>
        </p:sp>
        <p:sp>
          <p:nvSpPr>
            <p:cNvPr id="15" name="Line 15"/>
            <p:cNvSpPr/>
            <p:nvPr/>
          </p:nvSpPr>
          <p:spPr>
            <a:xfrm>
              <a:off x="2362200" y="2076450"/>
              <a:ext cx="495300" cy="1"/>
            </a:xfrm>
            <a:prstGeom prst="line">
              <a:avLst/>
            </a:prstGeom>
            <a:noFill/>
            <a:ln w="19050">
              <a:solidFill>
                <a:srgbClr val="52616B"/>
              </a:solidFill>
              <a:tailEnd type="arrow" w="lg" len="lg"/>
            </a:ln>
          </p:spPr>
        </p:sp>
        <p:sp>
          <p:nvSpPr>
            <p:cNvPr id="16" name="Rectangle 16"/>
            <p:cNvSpPr/>
            <p:nvPr/>
          </p:nvSpPr>
          <p:spPr>
            <a:xfrm>
              <a:off x="2857500" y="1828800"/>
              <a:ext cx="1524000" cy="495300"/>
            </a:xfrm>
            <a:prstGeom prst="roundRect">
              <a:avLst>
                <a:gd name="adj" fmla="val 11538"/>
              </a:avLst>
            </a:prstGeom>
            <a:solidFill>
              <a:srgbClr val="EAF4F6"/>
            </a:solidFill>
            <a:ln>
              <a:noFill/>
            </a:ln>
          </p:spPr>
        </p:sp>
        <p:sp>
          <p:nvSpPr>
            <p:cNvPr id="17" name="TextBox 17"/>
            <p:cNvSpPr txBox="1"/>
            <p:nvPr/>
          </p:nvSpPr>
          <p:spPr>
            <a:xfrm>
              <a:off x="3344570" y="2004060"/>
              <a:ext cx="549859"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SMOTE</a:t>
              </a:r>
            </a:p>
          </p:txBody>
        </p:sp>
        <p:sp>
          <p:nvSpPr>
            <p:cNvPr id="18" name="Line 18"/>
            <p:cNvSpPr/>
            <p:nvPr/>
          </p:nvSpPr>
          <p:spPr>
            <a:xfrm>
              <a:off x="1600200" y="2324100"/>
              <a:ext cx="1" cy="342900"/>
            </a:xfrm>
            <a:prstGeom prst="line">
              <a:avLst/>
            </a:prstGeom>
            <a:noFill/>
            <a:ln w="19050">
              <a:solidFill>
                <a:srgbClr val="52616B"/>
              </a:solidFill>
              <a:tailEnd type="arrow" w="lg" len="lg"/>
            </a:ln>
          </p:spPr>
        </p:sp>
        <p:sp>
          <p:nvSpPr>
            <p:cNvPr id="19" name="Line 19"/>
            <p:cNvSpPr/>
            <p:nvPr/>
          </p:nvSpPr>
          <p:spPr>
            <a:xfrm>
              <a:off x="3619500" y="2324100"/>
              <a:ext cx="1" cy="342900"/>
            </a:xfrm>
            <a:prstGeom prst="line">
              <a:avLst/>
            </a:prstGeom>
            <a:noFill/>
            <a:ln w="19050">
              <a:solidFill>
                <a:srgbClr val="52616B"/>
              </a:solidFill>
              <a:tailEnd type="arrow" w="lg" len="lg"/>
            </a:ln>
          </p:spPr>
        </p:sp>
        <p:sp>
          <p:nvSpPr>
            <p:cNvPr id="20" name="Rectangle 20"/>
            <p:cNvSpPr/>
            <p:nvPr/>
          </p:nvSpPr>
          <p:spPr>
            <a:xfrm>
              <a:off x="838200" y="2705100"/>
              <a:ext cx="3543300" cy="495300"/>
            </a:xfrm>
            <a:prstGeom prst="roundRect">
              <a:avLst>
                <a:gd name="adj" fmla="val 11538"/>
              </a:avLst>
            </a:prstGeom>
            <a:solidFill>
              <a:srgbClr val="EAF4F6"/>
            </a:solidFill>
            <a:ln>
              <a:noFill/>
            </a:ln>
          </p:spPr>
        </p:sp>
        <p:sp>
          <p:nvSpPr>
            <p:cNvPr id="21" name="TextBox 21"/>
            <p:cNvSpPr txBox="1"/>
            <p:nvPr/>
          </p:nvSpPr>
          <p:spPr>
            <a:xfrm>
              <a:off x="1460830" y="2880360"/>
              <a:ext cx="2298040"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train_test_split (sızıntılı)</a:t>
              </a:r>
            </a:p>
          </p:txBody>
        </p:sp>
        <p:sp>
          <p:nvSpPr>
            <p:cNvPr id="22" name="TextBox 22"/>
            <p:cNvSpPr txBox="1"/>
            <p:nvPr/>
          </p:nvSpPr>
          <p:spPr>
            <a:xfrm>
              <a:off x="823722" y="3464242"/>
              <a:ext cx="2965963" cy="557403"/>
            </a:xfrm>
            <a:prstGeom prst="rect">
              <a:avLst/>
            </a:prstGeom>
            <a:noFill/>
            <a:ln>
              <a:noFill/>
            </a:ln>
          </p:spPr>
          <p:txBody>
            <a:bodyPr wrap="none" lIns="0" tIns="0" rIns="0" bIns="0" anchor="t" anchorCtr="0">
              <a:spAutoFit/>
            </a:bodyPr>
            <a:lstStyle/>
            <a:p>
              <a:pPr algn="l"/>
              <a:r>
                <a:rPr lang="tr-TR" sz="2850" b="1" dirty="0">
                  <a:solidFill>
                    <a:srgbClr val="52616B"/>
                  </a:solidFill>
                  <a:latin typeface="+mn-lt"/>
                  <a:ea typeface="+mn-ea"/>
                  <a:cs typeface="+mn-cs"/>
                </a:rPr>
                <a:t>PR-AUC: 0.724</a:t>
              </a:r>
            </a:p>
          </p:txBody>
        </p:sp>
        <p:sp>
          <p:nvSpPr>
            <p:cNvPr id="23" name="TextBox 23"/>
            <p:cNvSpPr txBox="1"/>
            <p:nvPr/>
          </p:nvSpPr>
          <p:spPr>
            <a:xfrm>
              <a:off x="832104" y="3890010"/>
              <a:ext cx="402363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Test kümesinin komşuluk bilgisi eğitime sızmıştır.</a:t>
              </a:r>
            </a:p>
          </p:txBody>
        </p:sp>
      </p:grpSp>
      <p:grpSp>
        <p:nvGrpSpPr>
          <p:cNvPr id="36" name="path-right"/>
          <p:cNvGrpSpPr/>
          <p:nvPr/>
        </p:nvGrpSpPr>
        <p:grpSpPr>
          <a:xfrm>
            <a:off x="6248400" y="1257300"/>
            <a:ext cx="5334000" cy="2867406"/>
            <a:chOff x="6248400" y="1257300"/>
            <a:chExt cx="5334000" cy="2867406"/>
          </a:xfrm>
        </p:grpSpPr>
        <p:sp>
          <p:nvSpPr>
            <p:cNvPr id="25" name="Rectangle 25"/>
            <p:cNvSpPr/>
            <p:nvPr/>
          </p:nvSpPr>
          <p:spPr>
            <a:xfrm>
              <a:off x="6248400" y="1257300"/>
              <a:ext cx="5334000" cy="2857500"/>
            </a:xfrm>
            <a:prstGeom prst="roundRect">
              <a:avLst>
                <a:gd name="adj" fmla="val 3333"/>
              </a:avLst>
            </a:prstGeom>
            <a:solidFill>
              <a:srgbClr val="FFFFFF"/>
            </a:solidFill>
            <a:ln w="19050">
              <a:solidFill>
                <a:srgbClr val="00A6A6"/>
              </a:solidFill>
            </a:ln>
          </p:spPr>
        </p:sp>
        <p:sp>
          <p:nvSpPr>
            <p:cNvPr id="26" name="TextBox 26"/>
            <p:cNvSpPr txBox="1"/>
            <p:nvPr/>
          </p:nvSpPr>
          <p:spPr>
            <a:xfrm>
              <a:off x="6468999" y="1430179"/>
              <a:ext cx="119588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Doğru sıra</a:t>
              </a:r>
            </a:p>
          </p:txBody>
        </p:sp>
        <p:sp>
          <p:nvSpPr>
            <p:cNvPr id="27" name="Rectangle 27"/>
            <p:cNvSpPr/>
            <p:nvPr/>
          </p:nvSpPr>
          <p:spPr>
            <a:xfrm>
              <a:off x="6477000" y="1828800"/>
              <a:ext cx="4572000" cy="495300"/>
            </a:xfrm>
            <a:prstGeom prst="roundRect">
              <a:avLst>
                <a:gd name="adj" fmla="val 11538"/>
              </a:avLst>
            </a:prstGeom>
            <a:solidFill>
              <a:srgbClr val="EAF4F6"/>
            </a:solidFill>
            <a:ln>
              <a:noFill/>
            </a:ln>
          </p:spPr>
        </p:sp>
        <p:sp>
          <p:nvSpPr>
            <p:cNvPr id="28" name="TextBox 28"/>
            <p:cNvSpPr txBox="1"/>
            <p:nvPr/>
          </p:nvSpPr>
          <p:spPr>
            <a:xfrm>
              <a:off x="7391857" y="2004060"/>
              <a:ext cx="2742286"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train_test_split (stratify=hedef)</a:t>
              </a:r>
            </a:p>
          </p:txBody>
        </p:sp>
        <p:sp>
          <p:nvSpPr>
            <p:cNvPr id="29" name="Line 29"/>
            <p:cNvSpPr/>
            <p:nvPr/>
          </p:nvSpPr>
          <p:spPr>
            <a:xfrm>
              <a:off x="7620000" y="2324100"/>
              <a:ext cx="1" cy="342900"/>
            </a:xfrm>
            <a:prstGeom prst="line">
              <a:avLst/>
            </a:prstGeom>
            <a:noFill/>
            <a:ln w="19050">
              <a:solidFill>
                <a:srgbClr val="00A6A6"/>
              </a:solidFill>
              <a:tailEnd type="arrow" w="lg" len="lg"/>
            </a:ln>
          </p:spPr>
        </p:sp>
        <p:sp>
          <p:nvSpPr>
            <p:cNvPr id="30" name="Rectangle 30"/>
            <p:cNvSpPr/>
            <p:nvPr/>
          </p:nvSpPr>
          <p:spPr>
            <a:xfrm>
              <a:off x="6477000" y="2705100"/>
              <a:ext cx="2095500" cy="495300"/>
            </a:xfrm>
            <a:prstGeom prst="roundRect">
              <a:avLst>
                <a:gd name="adj" fmla="val 11538"/>
              </a:avLst>
            </a:prstGeom>
            <a:solidFill>
              <a:srgbClr val="EAF4F6"/>
            </a:solidFill>
            <a:ln>
              <a:noFill/>
            </a:ln>
          </p:spPr>
        </p:sp>
        <p:sp>
          <p:nvSpPr>
            <p:cNvPr id="31" name="TextBox 31"/>
            <p:cNvSpPr txBox="1"/>
            <p:nvPr/>
          </p:nvSpPr>
          <p:spPr>
            <a:xfrm>
              <a:off x="6623582" y="2880360"/>
              <a:ext cx="1802336"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SMOTE (yalnız eğitim)</a:t>
              </a:r>
            </a:p>
          </p:txBody>
        </p:sp>
        <p:sp>
          <p:nvSpPr>
            <p:cNvPr id="32" name="Rectangle 32"/>
            <p:cNvSpPr/>
            <p:nvPr/>
          </p:nvSpPr>
          <p:spPr>
            <a:xfrm>
              <a:off x="8763000" y="2705100"/>
              <a:ext cx="2286000" cy="495300"/>
            </a:xfrm>
            <a:prstGeom prst="roundRect">
              <a:avLst>
                <a:gd name="adj" fmla="val 11538"/>
              </a:avLst>
            </a:prstGeom>
            <a:solidFill>
              <a:srgbClr val="EAF4F6"/>
            </a:solidFill>
            <a:ln>
              <a:noFill/>
            </a:ln>
          </p:spPr>
        </p:sp>
        <p:sp>
          <p:nvSpPr>
            <p:cNvPr id="33" name="TextBox 33"/>
            <p:cNvSpPr txBox="1"/>
            <p:nvPr/>
          </p:nvSpPr>
          <p:spPr>
            <a:xfrm>
              <a:off x="8774285" y="2880360"/>
              <a:ext cx="2263431"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Test kümesi (dokunulmamış)</a:t>
              </a:r>
            </a:p>
          </p:txBody>
        </p:sp>
        <p:sp>
          <p:nvSpPr>
            <p:cNvPr id="34" name="TextBox 34"/>
            <p:cNvSpPr txBox="1"/>
            <p:nvPr/>
          </p:nvSpPr>
          <p:spPr>
            <a:xfrm>
              <a:off x="6462522" y="3464242"/>
              <a:ext cx="2965963" cy="557403"/>
            </a:xfrm>
            <a:prstGeom prst="rect">
              <a:avLst/>
            </a:prstGeom>
            <a:noFill/>
            <a:ln>
              <a:noFill/>
            </a:ln>
          </p:spPr>
          <p:txBody>
            <a:bodyPr wrap="none" lIns="0" tIns="0" rIns="0" bIns="0" anchor="t" anchorCtr="0">
              <a:spAutoFit/>
            </a:bodyPr>
            <a:lstStyle/>
            <a:p>
              <a:pPr algn="l"/>
              <a:r>
                <a:rPr lang="tr-TR" sz="2850" b="1" dirty="0">
                  <a:solidFill>
                    <a:srgbClr val="00A6A6"/>
                  </a:solidFill>
                  <a:latin typeface="+mn-lt"/>
                  <a:ea typeface="+mn-ea"/>
                  <a:cs typeface="+mn-cs"/>
                </a:rPr>
                <a:t>PR-AUC: 0.147</a:t>
              </a:r>
            </a:p>
          </p:txBody>
        </p:sp>
        <p:sp>
          <p:nvSpPr>
            <p:cNvPr id="35" name="TextBox 35"/>
            <p:cNvSpPr txBox="1"/>
            <p:nvPr/>
          </p:nvSpPr>
          <p:spPr>
            <a:xfrm>
              <a:off x="6470904" y="3890010"/>
              <a:ext cx="47990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Test kümesi yeni müşterilerin gerçek temsili olarak korunur.</a:t>
              </a:r>
            </a:p>
          </p:txBody>
        </p:sp>
      </p:grpSp>
      <p:grpSp>
        <p:nvGrpSpPr>
          <p:cNvPr id="40" name="conclusion-note"/>
          <p:cNvGrpSpPr/>
          <p:nvPr/>
        </p:nvGrpSpPr>
        <p:grpSpPr>
          <a:xfrm>
            <a:off x="609600" y="4419600"/>
            <a:ext cx="10972800" cy="952500"/>
            <a:chOff x="609600" y="4419600"/>
            <a:chExt cx="10972800" cy="952500"/>
          </a:xfrm>
        </p:grpSpPr>
        <p:sp>
          <p:nvSpPr>
            <p:cNvPr id="37" name="Rectangle 37"/>
            <p:cNvSpPr/>
            <p:nvPr/>
          </p:nvSpPr>
          <p:spPr>
            <a:xfrm>
              <a:off x="609600" y="4419600"/>
              <a:ext cx="10972800" cy="952500"/>
            </a:xfrm>
            <a:prstGeom prst="roundRect">
              <a:avLst>
                <a:gd name="adj" fmla="val 8000"/>
              </a:avLst>
            </a:prstGeom>
            <a:solidFill>
              <a:srgbClr val="EAF4F6"/>
            </a:solidFill>
            <a:ln>
              <a:noFill/>
            </a:ln>
          </p:spPr>
        </p:sp>
        <p:sp>
          <p:nvSpPr>
            <p:cNvPr id="38" name="TextBox 38"/>
            <p:cNvSpPr txBox="1"/>
            <p:nvPr/>
          </p:nvSpPr>
          <p:spPr>
            <a:xfrm>
              <a:off x="906399" y="4592479"/>
              <a:ext cx="76163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Sızıntılı skor gerçek genelleme kapasitesini değil, sızan bilgiyi ölçer</a:t>
              </a:r>
            </a:p>
          </p:txBody>
        </p:sp>
        <p:sp>
          <p:nvSpPr>
            <p:cNvPr id="39" name="TextBox 39"/>
            <p:cNvSpPr txBox="1"/>
            <p:nvPr/>
          </p:nvSpPr>
          <p:spPr>
            <a:xfrm>
              <a:off x="908304" y="4937760"/>
              <a:ext cx="71140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Aynı veri, aynı model — yalnızca SMOTE'un konumu değişince PR-AUC 0.724'ten 0.147'ye düşer;</a:t>
              </a:r>
              <a:br/>
              <a:r>
                <a:rPr lang="tr-TR" sz="1200" dirty="0">
                  <a:solidFill>
                    <a:srgbClr val="172B3A"/>
                  </a:solidFill>
                  <a:latin typeface="+mn-lt"/>
                  <a:ea typeface="+mn-ea"/>
                  <a:cs typeface="+mn-cs"/>
                </a:rPr>
                <a:t>bu fark, sızıntının modeli ne kadar yapay biçimde iyimser gösterdiğini kanıtlar.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427520" cy="557403"/>
            <a:chOff x="595122" y="282892"/>
            <a:chExt cx="6427520" cy="557403"/>
          </a:xfrm>
        </p:grpSpPr>
        <p:sp>
          <p:nvSpPr>
            <p:cNvPr id="4" name="TextBox 4"/>
            <p:cNvSpPr txBox="1"/>
            <p:nvPr/>
          </p:nvSpPr>
          <p:spPr>
            <a:xfrm>
              <a:off x="595122" y="282892"/>
              <a:ext cx="642752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Doğru bölme yaklaşımını seçmek</a:t>
              </a:r>
            </a:p>
          </p:txBody>
        </p:sp>
      </p:grpSp>
      <p:grpSp>
        <p:nvGrpSpPr>
          <p:cNvPr id="7" name="lead-note"/>
          <p:cNvGrpSpPr/>
          <p:nvPr/>
        </p:nvGrpSpPr>
        <p:grpSpPr>
          <a:xfrm>
            <a:off x="601599" y="1258729"/>
            <a:ext cx="10200619" cy="308039"/>
            <a:chOff x="601599" y="1258729"/>
            <a:chExt cx="10200619" cy="308039"/>
          </a:xfrm>
        </p:grpSpPr>
        <p:sp>
          <p:nvSpPr>
            <p:cNvPr id="6" name="TextBox 6"/>
            <p:cNvSpPr txBox="1"/>
            <p:nvPr/>
          </p:nvSpPr>
          <p:spPr>
            <a:xfrm>
              <a:off x="601599" y="1258729"/>
              <a:ext cx="1020061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Sızıntı kontrolü her modelde zorunludur; bölme yöntemi verinin bağımlılık yapısına göre seçilir.</a:t>
              </a:r>
            </a:p>
          </p:txBody>
        </p:sp>
      </p:grpSp>
      <p:grpSp>
        <p:nvGrpSpPr>
          <p:cNvPr id="28" name="split-table"/>
          <p:cNvGrpSpPr/>
          <p:nvPr/>
        </p:nvGrpSpPr>
        <p:grpSpPr>
          <a:xfrm>
            <a:off x="609600" y="1828800"/>
            <a:ext cx="10972800" cy="3619500"/>
            <a:chOff x="609600" y="1828800"/>
            <a:chExt cx="10972800" cy="3619500"/>
          </a:xfrm>
        </p:grpSpPr>
        <p:sp>
          <p:nvSpPr>
            <p:cNvPr id="8" name="Rectangle 8"/>
            <p:cNvSpPr/>
            <p:nvPr/>
          </p:nvSpPr>
          <p:spPr>
            <a:xfrm>
              <a:off x="609600" y="1828800"/>
              <a:ext cx="10972800" cy="419100"/>
            </a:xfrm>
            <a:prstGeom prst="rect">
              <a:avLst/>
            </a:prstGeom>
            <a:solidFill>
              <a:srgbClr val="12355B"/>
            </a:solidFill>
            <a:ln>
              <a:noFill/>
            </a:ln>
          </p:spPr>
        </p:sp>
        <p:sp>
          <p:nvSpPr>
            <p:cNvPr id="9" name="TextBox 9"/>
            <p:cNvSpPr txBox="1"/>
            <p:nvPr/>
          </p:nvSpPr>
          <p:spPr>
            <a:xfrm>
              <a:off x="832104" y="1965960"/>
              <a:ext cx="1577401"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BÖLME YAKLAŞIMI</a:t>
              </a:r>
            </a:p>
          </p:txBody>
        </p:sp>
        <p:sp>
          <p:nvSpPr>
            <p:cNvPr id="10" name="TextBox 10"/>
            <p:cNvSpPr txBox="1"/>
            <p:nvPr/>
          </p:nvSpPr>
          <p:spPr>
            <a:xfrm>
              <a:off x="4375404" y="1965960"/>
              <a:ext cx="143231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KULLANIM ALANI</a:t>
              </a:r>
            </a:p>
          </p:txBody>
        </p:sp>
        <p:sp>
          <p:nvSpPr>
            <p:cNvPr id="11" name="TextBox 11"/>
            <p:cNvSpPr txBox="1"/>
            <p:nvPr/>
          </p:nvSpPr>
          <p:spPr>
            <a:xfrm>
              <a:off x="7804404" y="1965960"/>
              <a:ext cx="231690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SIZINTIYI ÖNLEME BİÇİMİ</a:t>
              </a:r>
            </a:p>
          </p:txBody>
        </p:sp>
        <p:sp>
          <p:nvSpPr>
            <p:cNvPr id="12" name="Rectangle 12"/>
            <p:cNvSpPr/>
            <p:nvPr/>
          </p:nvSpPr>
          <p:spPr>
            <a:xfrm>
              <a:off x="609600" y="2247900"/>
              <a:ext cx="10972800" cy="800100"/>
            </a:xfrm>
            <a:prstGeom prst="rect">
              <a:avLst/>
            </a:prstGeom>
            <a:solidFill>
              <a:srgbClr val="FFFFFF"/>
            </a:solidFill>
            <a:ln>
              <a:noFill/>
            </a:ln>
          </p:spPr>
        </p:sp>
        <p:sp>
          <p:nvSpPr>
            <p:cNvPr id="13" name="TextBox 13"/>
            <p:cNvSpPr txBox="1"/>
            <p:nvPr/>
          </p:nvSpPr>
          <p:spPr>
            <a:xfrm>
              <a:off x="830199" y="2420779"/>
              <a:ext cx="292649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Rastgele, stratified bölme</a:t>
              </a:r>
            </a:p>
          </p:txBody>
        </p:sp>
        <p:sp>
          <p:nvSpPr>
            <p:cNvPr id="14" name="TextBox 14"/>
            <p:cNvSpPr txBox="1"/>
            <p:nvPr/>
          </p:nvSpPr>
          <p:spPr>
            <a:xfrm>
              <a:off x="4375404" y="2461260"/>
              <a:ext cx="15600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Bağımsız gözlemler</a:t>
              </a:r>
            </a:p>
          </p:txBody>
        </p:sp>
        <p:sp>
          <p:nvSpPr>
            <p:cNvPr id="15" name="TextBox 15"/>
            <p:cNvSpPr txBox="1"/>
            <p:nvPr/>
          </p:nvSpPr>
          <p:spPr>
            <a:xfrm>
              <a:off x="7804404" y="2461260"/>
              <a:ext cx="16249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Sınıf oranını korur</a:t>
              </a:r>
            </a:p>
          </p:txBody>
        </p:sp>
        <p:sp>
          <p:nvSpPr>
            <p:cNvPr id="16" name="Rectangle 16"/>
            <p:cNvSpPr/>
            <p:nvPr/>
          </p:nvSpPr>
          <p:spPr>
            <a:xfrm>
              <a:off x="609600" y="3048000"/>
              <a:ext cx="10972800" cy="800100"/>
            </a:xfrm>
            <a:prstGeom prst="rect">
              <a:avLst/>
            </a:prstGeom>
            <a:solidFill>
              <a:srgbClr val="EAF4F6"/>
            </a:solidFill>
            <a:ln>
              <a:noFill/>
            </a:ln>
          </p:spPr>
        </p:sp>
        <p:sp>
          <p:nvSpPr>
            <p:cNvPr id="17" name="TextBox 17"/>
            <p:cNvSpPr txBox="1"/>
            <p:nvPr/>
          </p:nvSpPr>
          <p:spPr>
            <a:xfrm>
              <a:off x="830199" y="3220879"/>
              <a:ext cx="169868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TimeSeriesSplit</a:t>
              </a:r>
            </a:p>
          </p:txBody>
        </p:sp>
        <p:sp>
          <p:nvSpPr>
            <p:cNvPr id="18" name="TextBox 18"/>
            <p:cNvSpPr txBox="1"/>
            <p:nvPr/>
          </p:nvSpPr>
          <p:spPr>
            <a:xfrm>
              <a:off x="4375404" y="3261360"/>
              <a:ext cx="13172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Tarihli gözlemler</a:t>
              </a:r>
            </a:p>
          </p:txBody>
        </p:sp>
        <p:sp>
          <p:nvSpPr>
            <p:cNvPr id="19" name="TextBox 19"/>
            <p:cNvSpPr txBox="1"/>
            <p:nvPr/>
          </p:nvSpPr>
          <p:spPr>
            <a:xfrm>
              <a:off x="7804404" y="3261360"/>
              <a:ext cx="188305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Geleceği eğitime sokmaz</a:t>
              </a:r>
            </a:p>
          </p:txBody>
        </p:sp>
        <p:sp>
          <p:nvSpPr>
            <p:cNvPr id="20" name="Rectangle 20"/>
            <p:cNvSpPr/>
            <p:nvPr/>
          </p:nvSpPr>
          <p:spPr>
            <a:xfrm>
              <a:off x="609600" y="3848100"/>
              <a:ext cx="10972800" cy="800100"/>
            </a:xfrm>
            <a:prstGeom prst="rect">
              <a:avLst/>
            </a:prstGeom>
            <a:solidFill>
              <a:srgbClr val="FFFFFF"/>
            </a:solidFill>
            <a:ln w="19050">
              <a:solidFill>
                <a:srgbClr val="00A6A6"/>
              </a:solidFill>
            </a:ln>
          </p:spPr>
        </p:sp>
        <p:sp>
          <p:nvSpPr>
            <p:cNvPr id="21" name="TextBox 21"/>
            <p:cNvSpPr txBox="1"/>
            <p:nvPr/>
          </p:nvSpPr>
          <p:spPr>
            <a:xfrm>
              <a:off x="830199" y="4020979"/>
              <a:ext cx="120841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GroupKFold</a:t>
              </a:r>
            </a:p>
          </p:txBody>
        </p:sp>
        <p:sp>
          <p:nvSpPr>
            <p:cNvPr id="22" name="TextBox 22"/>
            <p:cNvSpPr txBox="1"/>
            <p:nvPr/>
          </p:nvSpPr>
          <p:spPr>
            <a:xfrm>
              <a:off x="4375404" y="4061460"/>
              <a:ext cx="215791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Aynı müşterinin çok satırı</a:t>
              </a:r>
            </a:p>
          </p:txBody>
        </p:sp>
        <p:sp>
          <p:nvSpPr>
            <p:cNvPr id="23" name="TextBox 23"/>
            <p:cNvSpPr txBox="1"/>
            <p:nvPr/>
          </p:nvSpPr>
          <p:spPr>
            <a:xfrm>
              <a:off x="7804404" y="4061460"/>
              <a:ext cx="219008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Müşteriyi iki kümeye bölmez</a:t>
              </a:r>
            </a:p>
          </p:txBody>
        </p:sp>
        <p:sp>
          <p:nvSpPr>
            <p:cNvPr id="24" name="Rectangle 24"/>
            <p:cNvSpPr/>
            <p:nvPr/>
          </p:nvSpPr>
          <p:spPr>
            <a:xfrm>
              <a:off x="609600" y="4648200"/>
              <a:ext cx="10972800" cy="800100"/>
            </a:xfrm>
            <a:prstGeom prst="rect">
              <a:avLst/>
            </a:prstGeom>
            <a:solidFill>
              <a:srgbClr val="EAF4F6"/>
            </a:solidFill>
            <a:ln>
              <a:noFill/>
            </a:ln>
          </p:spPr>
        </p:sp>
        <p:sp>
          <p:nvSpPr>
            <p:cNvPr id="25" name="TextBox 25"/>
            <p:cNvSpPr txBox="1"/>
            <p:nvPr/>
          </p:nvSpPr>
          <p:spPr>
            <a:xfrm>
              <a:off x="830199" y="4821079"/>
              <a:ext cx="1508819"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Hold-out test</a:t>
              </a:r>
            </a:p>
          </p:txBody>
        </p:sp>
        <p:sp>
          <p:nvSpPr>
            <p:cNvPr id="26" name="TextBox 26"/>
            <p:cNvSpPr txBox="1"/>
            <p:nvPr/>
          </p:nvSpPr>
          <p:spPr>
            <a:xfrm>
              <a:off x="4375404" y="4861560"/>
              <a:ext cx="11239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Son doğrulama</a:t>
              </a:r>
            </a:p>
          </p:txBody>
        </p:sp>
        <p:sp>
          <p:nvSpPr>
            <p:cNvPr id="27" name="TextBox 27"/>
            <p:cNvSpPr txBox="1"/>
            <p:nvPr/>
          </p:nvSpPr>
          <p:spPr>
            <a:xfrm>
              <a:off x="7804404" y="4861560"/>
              <a:ext cx="19154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 seçimine katılmaz</a:t>
              </a:r>
            </a:p>
          </p:txBody>
        </p:sp>
      </p:grpSp>
      <p:sp>
        <p:nvSpPr>
          <p:cNvPr id="29" name="TextBox 29"/>
          <p:cNvSpPr txBox="1"/>
          <p:nvPr/>
        </p:nvSpPr>
        <p:spPr>
          <a:xfrm>
            <a:off x="603504" y="5871210"/>
            <a:ext cx="847422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Zaman serilerinde rastgele bölme yerine kronolojik bölme, müşteri bazlı verilerde grup bazlı bölme gerekir.</a:t>
            </a:r>
          </a:p>
        </p:txBody>
      </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167506" cy="668845"/>
            <a:chOff x="609600" y="171450"/>
            <a:chExt cx="716750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647713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class_weight, Pipeline ve PR-AUC</a:t>
              </a:r>
            </a:p>
          </p:txBody>
        </p:sp>
      </p:grpSp>
      <p:grpSp>
        <p:nvGrpSpPr>
          <p:cNvPr id="18" name="card-weight"/>
          <p:cNvGrpSpPr/>
          <p:nvPr/>
        </p:nvGrpSpPr>
        <p:grpSpPr>
          <a:xfrm>
            <a:off x="609600" y="1333500"/>
            <a:ext cx="3505200" cy="4572000"/>
            <a:chOff x="609600" y="1333500"/>
            <a:chExt cx="3505200" cy="4572000"/>
          </a:xfrm>
        </p:grpSpPr>
        <p:sp>
          <p:nvSpPr>
            <p:cNvPr id="12" name="Rectangle 12"/>
            <p:cNvSpPr/>
            <p:nvPr/>
          </p:nvSpPr>
          <p:spPr>
            <a:xfrm>
              <a:off x="609600" y="1333500"/>
              <a:ext cx="3505200" cy="4572000"/>
            </a:xfrm>
            <a:prstGeom prst="roundRect">
              <a:avLst>
                <a:gd name="adj" fmla="val 2717"/>
              </a:avLst>
            </a:prstGeom>
            <a:solidFill>
              <a:srgbClr val="FFFFFF"/>
            </a:solidFill>
            <a:ln w="14288">
              <a:solidFill>
                <a:srgbClr val="B8CBD3"/>
              </a:solidFill>
            </a:ln>
          </p:spPr>
        </p:sp>
        <p:sp>
          <p:nvSpPr>
            <p:cNvPr id="13" name="Rectangle 13"/>
            <p:cNvSpPr/>
            <p:nvPr/>
          </p:nvSpPr>
          <p:spPr>
            <a:xfrm>
              <a:off x="609600" y="1333500"/>
              <a:ext cx="3505200" cy="76200"/>
            </a:xfrm>
            <a:prstGeom prst="rect">
              <a:avLst/>
            </a:prstGeom>
            <a:solidFill>
              <a:srgbClr val="00A6A6"/>
            </a:solidFill>
            <a:ln>
              <a:noFill/>
            </a:ln>
          </p:spPr>
        </p:sp>
        <p:sp>
          <p:nvSpPr>
            <p:cNvPr id="14" name="TextBox 14"/>
            <p:cNvSpPr txBox="1"/>
            <p:nvPr/>
          </p:nvSpPr>
          <p:spPr>
            <a:xfrm>
              <a:off x="829056" y="1596390"/>
              <a:ext cx="16212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class_weight</a:t>
              </a:r>
            </a:p>
          </p:txBody>
        </p:sp>
        <p:sp>
          <p:nvSpPr>
            <p:cNvPr id="15" name="TextBox 15"/>
            <p:cNvSpPr txBox="1"/>
            <p:nvPr/>
          </p:nvSpPr>
          <p:spPr>
            <a:xfrm>
              <a:off x="832104" y="2042160"/>
              <a:ext cx="22524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Hataların maliyetini sınıflara</a:t>
              </a:r>
              <a:br/>
              <a:r>
                <a:rPr lang="tr-TR" sz="1200" dirty="0">
                  <a:solidFill>
                    <a:srgbClr val="172B3A"/>
                  </a:solidFill>
                  <a:latin typeface="+mn-lt"/>
                  <a:ea typeface="+mn-ea"/>
                  <a:cs typeface="+mn-cs"/>
                </a:rPr>
                <a:t>göre ağırlıklandıran model</a:t>
              </a:r>
              <a:br/>
              <a:r>
                <a:rPr lang="tr-TR" sz="1200" dirty="0">
                  <a:solidFill>
                    <a:srgbClr val="172B3A"/>
                  </a:solidFill>
                  <a:latin typeface="+mn-lt"/>
                  <a:ea typeface="+mn-ea"/>
                  <a:cs typeface="+mn-cs"/>
                </a:rPr>
                <a:t>parametresidir.</a:t>
              </a:r>
            </a:p>
          </p:txBody>
        </p:sp>
        <p:sp>
          <p:nvSpPr>
            <p:cNvPr id="16" name="TextBox 16"/>
            <p:cNvSpPr txBox="1"/>
            <p:nvPr/>
          </p:nvSpPr>
          <p:spPr>
            <a:xfrm>
              <a:off x="832104" y="2880360"/>
              <a:ext cx="11886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Neden vardır?</a:t>
              </a:r>
            </a:p>
          </p:txBody>
        </p:sp>
        <p:sp>
          <p:nvSpPr>
            <p:cNvPr id="17" name="TextBox 17"/>
            <p:cNvSpPr txBox="1"/>
            <p:nvPr/>
          </p:nvSpPr>
          <p:spPr>
            <a:xfrm>
              <a:off x="832104" y="3147060"/>
              <a:ext cx="21686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Sentetik satır oluşturmadan</a:t>
              </a:r>
              <a:br/>
              <a:r>
                <a:rPr lang="tr-TR" sz="1200" dirty="0">
                  <a:solidFill>
                    <a:srgbClr val="172B3A"/>
                  </a:solidFill>
                  <a:latin typeface="+mn-lt"/>
                  <a:ea typeface="+mn-ea"/>
                  <a:cs typeface="+mn-cs"/>
                </a:rPr>
                <a:t>azınlık hatasını daha pahalı</a:t>
              </a:r>
              <a:br/>
              <a:r>
                <a:rPr lang="tr-TR" sz="1200" dirty="0">
                  <a:solidFill>
                    <a:srgbClr val="172B3A"/>
                  </a:solidFill>
                  <a:latin typeface="+mn-lt"/>
                  <a:ea typeface="+mn-ea"/>
                  <a:cs typeface="+mn-cs"/>
                </a:rPr>
                <a:t>hâle getirir.</a:t>
              </a:r>
            </a:p>
          </p:txBody>
        </p:sp>
      </p:grpSp>
      <p:grpSp>
        <p:nvGrpSpPr>
          <p:cNvPr id="25" name="card-pipeline"/>
          <p:cNvGrpSpPr/>
          <p:nvPr/>
        </p:nvGrpSpPr>
        <p:grpSpPr>
          <a:xfrm>
            <a:off x="4343400" y="1333500"/>
            <a:ext cx="3505200" cy="4572000"/>
            <a:chOff x="4343400" y="1333500"/>
            <a:chExt cx="3505200" cy="4572000"/>
          </a:xfrm>
        </p:grpSpPr>
        <p:sp>
          <p:nvSpPr>
            <p:cNvPr id="19" name="Rectangle 19"/>
            <p:cNvSpPr/>
            <p:nvPr/>
          </p:nvSpPr>
          <p:spPr>
            <a:xfrm>
              <a:off x="4343400" y="1333500"/>
              <a:ext cx="3505200" cy="4572000"/>
            </a:xfrm>
            <a:prstGeom prst="roundRect">
              <a:avLst>
                <a:gd name="adj" fmla="val 2717"/>
              </a:avLst>
            </a:prstGeom>
            <a:solidFill>
              <a:srgbClr val="FFFFFF"/>
            </a:solidFill>
            <a:ln w="14288">
              <a:solidFill>
                <a:srgbClr val="B8CBD3"/>
              </a:solidFill>
            </a:ln>
          </p:spPr>
        </p:sp>
        <p:sp>
          <p:nvSpPr>
            <p:cNvPr id="20" name="Rectangle 20"/>
            <p:cNvSpPr/>
            <p:nvPr/>
          </p:nvSpPr>
          <p:spPr>
            <a:xfrm>
              <a:off x="4343400" y="1333500"/>
              <a:ext cx="3505200" cy="76200"/>
            </a:xfrm>
            <a:prstGeom prst="rect">
              <a:avLst/>
            </a:prstGeom>
            <a:solidFill>
              <a:srgbClr val="00A6A6"/>
            </a:solidFill>
            <a:ln>
              <a:noFill/>
            </a:ln>
          </p:spPr>
        </p:sp>
        <p:sp>
          <p:nvSpPr>
            <p:cNvPr id="21" name="TextBox 21"/>
            <p:cNvSpPr txBox="1"/>
            <p:nvPr/>
          </p:nvSpPr>
          <p:spPr>
            <a:xfrm>
              <a:off x="4562856" y="1596390"/>
              <a:ext cx="95353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Pipeline</a:t>
              </a:r>
            </a:p>
          </p:txBody>
        </p:sp>
        <p:sp>
          <p:nvSpPr>
            <p:cNvPr id="22" name="TextBox 22"/>
            <p:cNvSpPr txBox="1"/>
            <p:nvPr/>
          </p:nvSpPr>
          <p:spPr>
            <a:xfrm>
              <a:off x="4565904" y="2042160"/>
              <a:ext cx="18105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Ön işleme, örnekleme ve</a:t>
              </a:r>
              <a:br/>
              <a:r>
                <a:rPr lang="tr-TR" sz="1200" dirty="0">
                  <a:solidFill>
                    <a:srgbClr val="172B3A"/>
                  </a:solidFill>
                  <a:latin typeface="+mn-lt"/>
                  <a:ea typeface="+mn-ea"/>
                  <a:cs typeface="+mn-cs"/>
                </a:rPr>
                <a:t>modellemeyi tek nesnede</a:t>
              </a:r>
              <a:br/>
              <a:r>
                <a:rPr lang="tr-TR" sz="1200" dirty="0">
                  <a:solidFill>
                    <a:srgbClr val="172B3A"/>
                  </a:solidFill>
                  <a:latin typeface="+mn-lt"/>
                  <a:ea typeface="+mn-ea"/>
                  <a:cs typeface="+mn-cs"/>
                </a:rPr>
                <a:t>birleştirir.</a:t>
              </a:r>
            </a:p>
          </p:txBody>
        </p:sp>
        <p:sp>
          <p:nvSpPr>
            <p:cNvPr id="23" name="TextBox 23"/>
            <p:cNvSpPr txBox="1"/>
            <p:nvPr/>
          </p:nvSpPr>
          <p:spPr>
            <a:xfrm>
              <a:off x="4565904" y="2880360"/>
              <a:ext cx="11886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Neden vardır?</a:t>
              </a:r>
            </a:p>
          </p:txBody>
        </p:sp>
        <p:sp>
          <p:nvSpPr>
            <p:cNvPr id="24" name="TextBox 24"/>
            <p:cNvSpPr txBox="1"/>
            <p:nvPr/>
          </p:nvSpPr>
          <p:spPr>
            <a:xfrm>
              <a:off x="4565904" y="3147060"/>
              <a:ext cx="22905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Dönüşümlerin eğitim ve çapraz</a:t>
              </a:r>
              <a:br/>
              <a:r>
                <a:rPr lang="tr-TR" sz="1200" dirty="0">
                  <a:solidFill>
                    <a:srgbClr val="172B3A"/>
                  </a:solidFill>
                  <a:latin typeface="+mn-lt"/>
                  <a:ea typeface="+mn-ea"/>
                  <a:cs typeface="+mn-cs"/>
                </a:rPr>
                <a:t>doğrulama katları içinde doğru</a:t>
              </a:r>
              <a:br/>
              <a:r>
                <a:rPr lang="tr-TR" sz="1200" dirty="0">
                  <a:solidFill>
                    <a:srgbClr val="172B3A"/>
                  </a:solidFill>
                  <a:latin typeface="+mn-lt"/>
                  <a:ea typeface="+mn-ea"/>
                  <a:cs typeface="+mn-cs"/>
                </a:rPr>
                <a:t>sırada uygulanmasını sağlar.</a:t>
              </a:r>
            </a:p>
          </p:txBody>
        </p:sp>
      </p:grpSp>
      <p:grpSp>
        <p:nvGrpSpPr>
          <p:cNvPr id="32" name="card-prauc"/>
          <p:cNvGrpSpPr/>
          <p:nvPr/>
        </p:nvGrpSpPr>
        <p:grpSpPr>
          <a:xfrm>
            <a:off x="8077200" y="1333500"/>
            <a:ext cx="3505200" cy="4572000"/>
            <a:chOff x="8077200" y="1333500"/>
            <a:chExt cx="3505200" cy="4572000"/>
          </a:xfrm>
        </p:grpSpPr>
        <p:sp>
          <p:nvSpPr>
            <p:cNvPr id="26" name="Rectangle 26"/>
            <p:cNvSpPr/>
            <p:nvPr/>
          </p:nvSpPr>
          <p:spPr>
            <a:xfrm>
              <a:off x="8077200" y="1333500"/>
              <a:ext cx="3505200" cy="4572000"/>
            </a:xfrm>
            <a:prstGeom prst="roundRect">
              <a:avLst>
                <a:gd name="adj" fmla="val 2717"/>
              </a:avLst>
            </a:prstGeom>
            <a:solidFill>
              <a:srgbClr val="FFFFFF"/>
            </a:solidFill>
            <a:ln w="19050">
              <a:solidFill>
                <a:srgbClr val="00A6A6"/>
              </a:solidFill>
            </a:ln>
          </p:spPr>
        </p:sp>
        <p:sp>
          <p:nvSpPr>
            <p:cNvPr id="27" name="Rectangle 27"/>
            <p:cNvSpPr/>
            <p:nvPr/>
          </p:nvSpPr>
          <p:spPr>
            <a:xfrm>
              <a:off x="8077200" y="1333500"/>
              <a:ext cx="3505200" cy="76200"/>
            </a:xfrm>
            <a:prstGeom prst="rect">
              <a:avLst/>
            </a:prstGeom>
            <a:solidFill>
              <a:srgbClr val="00A6A6"/>
            </a:solidFill>
            <a:ln>
              <a:noFill/>
            </a:ln>
          </p:spPr>
        </p:sp>
        <p:sp>
          <p:nvSpPr>
            <p:cNvPr id="28" name="TextBox 28"/>
            <p:cNvSpPr txBox="1"/>
            <p:nvPr/>
          </p:nvSpPr>
          <p:spPr>
            <a:xfrm>
              <a:off x="8296656" y="1596390"/>
              <a:ext cx="9054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PR-AUC</a:t>
              </a:r>
            </a:p>
          </p:txBody>
        </p:sp>
        <p:sp>
          <p:nvSpPr>
            <p:cNvPr id="29" name="TextBox 29"/>
            <p:cNvSpPr txBox="1"/>
            <p:nvPr/>
          </p:nvSpPr>
          <p:spPr>
            <a:xfrm>
              <a:off x="8299704" y="2042160"/>
              <a:ext cx="21762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Farklı eşiklerdeki kesinlik-</a:t>
              </a:r>
              <a:br/>
              <a:r>
                <a:rPr lang="tr-TR" sz="1200" dirty="0">
                  <a:solidFill>
                    <a:srgbClr val="172B3A"/>
                  </a:solidFill>
                  <a:latin typeface="+mn-lt"/>
                  <a:ea typeface="+mn-ea"/>
                  <a:cs typeface="+mn-cs"/>
                </a:rPr>
                <a:t>duyarlılık dengesinin alanını</a:t>
              </a:r>
              <a:br/>
              <a:r>
                <a:rPr lang="tr-TR" sz="1200" dirty="0">
                  <a:solidFill>
                    <a:srgbClr val="172B3A"/>
                  </a:solidFill>
                  <a:latin typeface="+mn-lt"/>
                  <a:ea typeface="+mn-ea"/>
                  <a:cs typeface="+mn-cs"/>
                </a:rPr>
                <a:t>ölçer.</a:t>
              </a:r>
            </a:p>
          </p:txBody>
        </p:sp>
        <p:sp>
          <p:nvSpPr>
            <p:cNvPr id="30" name="TextBox 30"/>
            <p:cNvSpPr txBox="1"/>
            <p:nvPr/>
          </p:nvSpPr>
          <p:spPr>
            <a:xfrm>
              <a:off x="8299704" y="2880360"/>
              <a:ext cx="118860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Neden vardır?</a:t>
              </a:r>
            </a:p>
          </p:txBody>
        </p:sp>
        <p:sp>
          <p:nvSpPr>
            <p:cNvPr id="31" name="TextBox 31"/>
            <p:cNvSpPr txBox="1"/>
            <p:nvPr/>
          </p:nvSpPr>
          <p:spPr>
            <a:xfrm>
              <a:off x="8299704" y="3147060"/>
              <a:ext cx="22905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Pozitif sınıf seyrekken olumlu</a:t>
              </a:r>
              <a:br/>
              <a:r>
                <a:rPr lang="tr-TR" sz="1200" dirty="0">
                  <a:solidFill>
                    <a:srgbClr val="172B3A"/>
                  </a:solidFill>
                  <a:latin typeface="+mn-lt"/>
                  <a:ea typeface="+mn-ea"/>
                  <a:cs typeface="+mn-cs"/>
                </a:rPr>
                <a:t>tahminlerin güvenilirliğini ve</a:t>
              </a:r>
              <a:br/>
              <a:r>
                <a:rPr lang="tr-TR" sz="1200" dirty="0">
                  <a:solidFill>
                    <a:srgbClr val="172B3A"/>
                  </a:solidFill>
                  <a:latin typeface="+mn-lt"/>
                  <a:ea typeface="+mn-ea"/>
                  <a:cs typeface="+mn-cs"/>
                </a:rPr>
                <a:t>kapsayıcılığını gösterir.</a:t>
              </a:r>
            </a:p>
          </p:txBody>
        </p:sp>
      </p:grpSp>
      <p:grpSp>
        <p:nvGrpSpPr>
          <p:cNvPr id="36" name="usage-note"/>
          <p:cNvGrpSpPr/>
          <p:nvPr/>
        </p:nvGrpSpPr>
        <p:grpSpPr>
          <a:xfrm>
            <a:off x="609600" y="6057900"/>
            <a:ext cx="9525000" cy="590550"/>
            <a:chOff x="609600" y="6057900"/>
            <a:chExt cx="9525000" cy="590550"/>
          </a:xfrm>
        </p:grpSpPr>
        <p:sp>
          <p:nvSpPr>
            <p:cNvPr id="33" name="Rectangle 33"/>
            <p:cNvSpPr/>
            <p:nvPr/>
          </p:nvSpPr>
          <p:spPr>
            <a:xfrm>
              <a:off x="609600" y="6057900"/>
              <a:ext cx="9525000" cy="590550"/>
            </a:xfrm>
            <a:prstGeom prst="roundRect">
              <a:avLst>
                <a:gd name="adj" fmla="val 12903"/>
              </a:avLst>
            </a:prstGeom>
            <a:solidFill>
              <a:srgbClr val="EAF4F6"/>
            </a:solidFill>
            <a:ln>
              <a:noFill/>
            </a:ln>
          </p:spPr>
        </p:sp>
        <p:sp>
          <p:nvSpPr>
            <p:cNvPr id="34" name="TextBox 34"/>
            <p:cNvSpPr txBox="1"/>
            <p:nvPr/>
          </p:nvSpPr>
          <p:spPr>
            <a:xfrm>
              <a:off x="908304" y="6176010"/>
              <a:ext cx="56554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Üçü birlikte: imblearn Pipeline, ölçekleme+SMOTE/class_weight'i eğitim</a:t>
              </a:r>
            </a:p>
          </p:txBody>
        </p:sp>
        <p:sp>
          <p:nvSpPr>
            <p:cNvPr id="35" name="TextBox 35"/>
            <p:cNvSpPr txBox="1"/>
            <p:nvPr/>
          </p:nvSpPr>
          <p:spPr>
            <a:xfrm>
              <a:off x="908304" y="6385560"/>
              <a:ext cx="570193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katında sızıntısız çalıştırır; PR-AUC iş bağlamında sonucu yorumlar.</a:t>
              </a:r>
            </a:p>
          </p:txBody>
        </p:sp>
      </p:grpSp>
      <p:sp>
        <p:nvSpPr>
          <p:cNvPr id="37" name="TextBox 3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519364" cy="668845"/>
            <a:chOff x="609600" y="171450"/>
            <a:chExt cx="751936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682899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imblearn.pipeline.Pipeline mimarisi</a:t>
              </a:r>
            </a:p>
          </p:txBody>
        </p:sp>
      </p:grpSp>
      <p:grpSp>
        <p:nvGrpSpPr>
          <p:cNvPr id="23" name="pipeline-steps"/>
          <p:cNvGrpSpPr/>
          <p:nvPr/>
        </p:nvGrpSpPr>
        <p:grpSpPr>
          <a:xfrm>
            <a:off x="609600" y="1562100"/>
            <a:ext cx="10210800" cy="857250"/>
            <a:chOff x="609600" y="1562100"/>
            <a:chExt cx="10210800" cy="857250"/>
          </a:xfrm>
        </p:grpSpPr>
        <p:sp>
          <p:nvSpPr>
            <p:cNvPr id="12" name="Rectangle 12"/>
            <p:cNvSpPr/>
            <p:nvPr/>
          </p:nvSpPr>
          <p:spPr>
            <a:xfrm>
              <a:off x="609600" y="1562100"/>
              <a:ext cx="3048000" cy="857250"/>
            </a:xfrm>
            <a:prstGeom prst="roundRect">
              <a:avLst>
                <a:gd name="adj" fmla="val 11111"/>
              </a:avLst>
            </a:prstGeom>
            <a:solidFill>
              <a:srgbClr val="FFFFFF"/>
            </a:solidFill>
            <a:ln w="14288">
              <a:solidFill>
                <a:srgbClr val="2E86AB"/>
              </a:solidFill>
            </a:ln>
          </p:spPr>
        </p:sp>
        <p:sp>
          <p:nvSpPr>
            <p:cNvPr id="13" name="TextBox 13"/>
            <p:cNvSpPr txBox="1"/>
            <p:nvPr/>
          </p:nvSpPr>
          <p:spPr>
            <a:xfrm>
              <a:off x="1286951" y="1734979"/>
              <a:ext cx="1693299"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StandardScaler</a:t>
              </a:r>
            </a:p>
          </p:txBody>
        </p:sp>
        <p:sp>
          <p:nvSpPr>
            <p:cNvPr id="14" name="TextBox 14"/>
            <p:cNvSpPr txBox="1"/>
            <p:nvPr/>
          </p:nvSpPr>
          <p:spPr>
            <a:xfrm>
              <a:off x="1799625" y="2058352"/>
              <a:ext cx="66795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ölçekleme</a:t>
              </a:r>
            </a:p>
          </p:txBody>
        </p:sp>
        <p:sp>
          <p:nvSpPr>
            <p:cNvPr id="15" name="Line 15"/>
            <p:cNvSpPr/>
            <p:nvPr/>
          </p:nvSpPr>
          <p:spPr>
            <a:xfrm>
              <a:off x="3657600" y="1990725"/>
              <a:ext cx="533400" cy="1"/>
            </a:xfrm>
            <a:prstGeom prst="line">
              <a:avLst/>
            </a:prstGeom>
            <a:noFill/>
            <a:ln w="28575">
              <a:solidFill>
                <a:srgbClr val="00A6A6"/>
              </a:solidFill>
              <a:tailEnd type="arrow" w="lg" len="lg"/>
            </a:ln>
          </p:spPr>
        </p:sp>
        <p:sp>
          <p:nvSpPr>
            <p:cNvPr id="16" name="Rectangle 16"/>
            <p:cNvSpPr/>
            <p:nvPr/>
          </p:nvSpPr>
          <p:spPr>
            <a:xfrm>
              <a:off x="4191000" y="1562100"/>
              <a:ext cx="3048000" cy="857250"/>
            </a:xfrm>
            <a:prstGeom prst="roundRect">
              <a:avLst>
                <a:gd name="adj" fmla="val 11111"/>
              </a:avLst>
            </a:prstGeom>
            <a:solidFill>
              <a:srgbClr val="FFFFFF"/>
            </a:solidFill>
            <a:ln w="14288">
              <a:solidFill>
                <a:srgbClr val="2E86AB"/>
              </a:solidFill>
            </a:ln>
          </p:spPr>
        </p:sp>
        <p:sp>
          <p:nvSpPr>
            <p:cNvPr id="17" name="TextBox 17"/>
            <p:cNvSpPr txBox="1"/>
            <p:nvPr/>
          </p:nvSpPr>
          <p:spPr>
            <a:xfrm>
              <a:off x="5335337" y="1734979"/>
              <a:ext cx="75932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SMOTE</a:t>
              </a:r>
            </a:p>
          </p:txBody>
        </p:sp>
        <p:sp>
          <p:nvSpPr>
            <p:cNvPr id="18" name="TextBox 18"/>
            <p:cNvSpPr txBox="1"/>
            <p:nvPr/>
          </p:nvSpPr>
          <p:spPr>
            <a:xfrm>
              <a:off x="5087722" y="2058352"/>
              <a:ext cx="125455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yeniden örnekleme</a:t>
              </a:r>
            </a:p>
          </p:txBody>
        </p:sp>
        <p:sp>
          <p:nvSpPr>
            <p:cNvPr id="19" name="Line 19"/>
            <p:cNvSpPr/>
            <p:nvPr/>
          </p:nvSpPr>
          <p:spPr>
            <a:xfrm>
              <a:off x="7239000" y="1990725"/>
              <a:ext cx="533400" cy="1"/>
            </a:xfrm>
            <a:prstGeom prst="line">
              <a:avLst/>
            </a:prstGeom>
            <a:noFill/>
            <a:ln w="28575">
              <a:solidFill>
                <a:srgbClr val="00A6A6"/>
              </a:solidFill>
              <a:tailEnd type="arrow" w="lg" len="lg"/>
            </a:ln>
          </p:spPr>
        </p:sp>
        <p:sp>
          <p:nvSpPr>
            <p:cNvPr id="20" name="Rectangle 20"/>
            <p:cNvSpPr/>
            <p:nvPr/>
          </p:nvSpPr>
          <p:spPr>
            <a:xfrm>
              <a:off x="7772400" y="1562100"/>
              <a:ext cx="3048000" cy="857250"/>
            </a:xfrm>
            <a:prstGeom prst="roundRect">
              <a:avLst>
                <a:gd name="adj" fmla="val 11111"/>
              </a:avLst>
            </a:prstGeom>
            <a:solidFill>
              <a:srgbClr val="12355B"/>
            </a:solidFill>
            <a:ln>
              <a:noFill/>
            </a:ln>
          </p:spPr>
        </p:sp>
        <p:sp>
          <p:nvSpPr>
            <p:cNvPr id="21" name="TextBox 21"/>
            <p:cNvSpPr txBox="1"/>
            <p:nvPr/>
          </p:nvSpPr>
          <p:spPr>
            <a:xfrm>
              <a:off x="8260217" y="1734979"/>
              <a:ext cx="207236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LogisticRegression</a:t>
              </a:r>
            </a:p>
          </p:txBody>
        </p:sp>
        <p:sp>
          <p:nvSpPr>
            <p:cNvPr id="22" name="TextBox 22"/>
            <p:cNvSpPr txBox="1"/>
            <p:nvPr/>
          </p:nvSpPr>
          <p:spPr>
            <a:xfrm>
              <a:off x="8948290" y="2058352"/>
              <a:ext cx="696220"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modelleme</a:t>
              </a:r>
            </a:p>
          </p:txBody>
        </p:sp>
      </p:grpSp>
      <p:grpSp>
        <p:nvGrpSpPr>
          <p:cNvPr id="29" name="cv-note"/>
          <p:cNvGrpSpPr/>
          <p:nvPr/>
        </p:nvGrpSpPr>
        <p:grpSpPr>
          <a:xfrm>
            <a:off x="609600" y="3048000"/>
            <a:ext cx="5334000" cy="2476500"/>
            <a:chOff x="609600" y="3048000"/>
            <a:chExt cx="5334000" cy="2476500"/>
          </a:xfrm>
        </p:grpSpPr>
        <p:sp>
          <p:nvSpPr>
            <p:cNvPr id="24" name="Rectangle 24"/>
            <p:cNvSpPr/>
            <p:nvPr/>
          </p:nvSpPr>
          <p:spPr>
            <a:xfrm>
              <a:off x="609600" y="3048000"/>
              <a:ext cx="5334000" cy="2476500"/>
            </a:xfrm>
            <a:prstGeom prst="roundRect">
              <a:avLst>
                <a:gd name="adj" fmla="val 3846"/>
              </a:avLst>
            </a:prstGeom>
            <a:solidFill>
              <a:srgbClr val="FFFFFF"/>
            </a:solidFill>
            <a:ln w="14288">
              <a:solidFill>
                <a:srgbClr val="B8CBD3"/>
              </a:solidFill>
            </a:ln>
          </p:spPr>
        </p:sp>
        <p:sp>
          <p:nvSpPr>
            <p:cNvPr id="25" name="TextBox 25"/>
            <p:cNvSpPr txBox="1"/>
            <p:nvPr/>
          </p:nvSpPr>
          <p:spPr>
            <a:xfrm>
              <a:off x="830199" y="3239929"/>
              <a:ext cx="23971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StratifiedKFold (n=5)</a:t>
              </a:r>
            </a:p>
          </p:txBody>
        </p:sp>
        <p:sp>
          <p:nvSpPr>
            <p:cNvPr id="26" name="TextBox 26"/>
            <p:cNvSpPr txBox="1"/>
            <p:nvPr/>
          </p:nvSpPr>
          <p:spPr>
            <a:xfrm>
              <a:off x="832104" y="3604260"/>
              <a:ext cx="27096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Her katmanda SMOTE yalnızca</a:t>
              </a:r>
              <a:br/>
              <a:r>
                <a:rPr lang="tr-TR" sz="1200" dirty="0">
                  <a:solidFill>
                    <a:srgbClr val="172B3A"/>
                  </a:solidFill>
                  <a:latin typeface="+mn-lt"/>
                  <a:ea typeface="+mn-ea"/>
                  <a:cs typeface="+mn-cs"/>
                </a:rPr>
                <a:t>o katın eğitim parçasına uygulanır;</a:t>
              </a:r>
              <a:br/>
              <a:r>
                <a:rPr lang="tr-TR" sz="1200" dirty="0">
                  <a:solidFill>
                    <a:srgbClr val="172B3A"/>
                  </a:solidFill>
                  <a:latin typeface="+mn-lt"/>
                  <a:ea typeface="+mn-ea"/>
                  <a:cs typeface="+mn-cs"/>
                </a:rPr>
                <a:t>sınıf oranı her katta korunur.</a:t>
              </a:r>
            </a:p>
          </p:txBody>
        </p:sp>
        <p:sp>
          <p:nvSpPr>
            <p:cNvPr id="27" name="TextBox 27"/>
            <p:cNvSpPr txBox="1"/>
            <p:nvPr/>
          </p:nvSpPr>
          <p:spPr>
            <a:xfrm>
              <a:off x="832104" y="4442460"/>
              <a:ext cx="25242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scoring="average_precision" ile</a:t>
              </a:r>
            </a:p>
          </p:txBody>
        </p:sp>
        <p:sp>
          <p:nvSpPr>
            <p:cNvPr id="28" name="TextBox 28"/>
            <p:cNvSpPr txBox="1"/>
            <p:nvPr/>
          </p:nvSpPr>
          <p:spPr>
            <a:xfrm>
              <a:off x="832104" y="4632960"/>
              <a:ext cx="24272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cross_val_score çalıştırılır.</a:t>
              </a:r>
            </a:p>
          </p:txBody>
        </p:sp>
      </p:grpSp>
      <p:grpSp>
        <p:nvGrpSpPr>
          <p:cNvPr id="34" name="kpi-cv"/>
          <p:cNvGrpSpPr/>
          <p:nvPr/>
        </p:nvGrpSpPr>
        <p:grpSpPr>
          <a:xfrm>
            <a:off x="6248400" y="3048000"/>
            <a:ext cx="5334000" cy="2476500"/>
            <a:chOff x="6248400" y="3048000"/>
            <a:chExt cx="5334000" cy="2476500"/>
          </a:xfrm>
        </p:grpSpPr>
        <p:sp>
          <p:nvSpPr>
            <p:cNvPr id="30" name="Rectangle 30"/>
            <p:cNvSpPr/>
            <p:nvPr/>
          </p:nvSpPr>
          <p:spPr>
            <a:xfrm>
              <a:off x="6248400" y="3048000"/>
              <a:ext cx="5334000" cy="2476500"/>
            </a:xfrm>
            <a:prstGeom prst="roundRect">
              <a:avLst>
                <a:gd name="adj" fmla="val 3846"/>
              </a:avLst>
            </a:prstGeom>
            <a:solidFill>
              <a:srgbClr val="EAF4F6"/>
            </a:solidFill>
            <a:ln>
              <a:noFill/>
            </a:ln>
          </p:spPr>
        </p:sp>
        <p:sp>
          <p:nvSpPr>
            <p:cNvPr id="31" name="TextBox 31"/>
            <p:cNvSpPr txBox="1"/>
            <p:nvPr/>
          </p:nvSpPr>
          <p:spPr>
            <a:xfrm>
              <a:off x="6468999" y="3239929"/>
              <a:ext cx="6371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Sonuç</a:t>
              </a:r>
            </a:p>
          </p:txBody>
        </p:sp>
        <p:sp>
          <p:nvSpPr>
            <p:cNvPr id="32" name="TextBox 32"/>
            <p:cNvSpPr txBox="1"/>
            <p:nvPr/>
          </p:nvSpPr>
          <p:spPr>
            <a:xfrm>
              <a:off x="6464046" y="3820478"/>
              <a:ext cx="4371782" cy="498729"/>
            </a:xfrm>
            <a:prstGeom prst="rect">
              <a:avLst/>
            </a:prstGeom>
            <a:noFill/>
            <a:ln>
              <a:noFill/>
            </a:ln>
          </p:spPr>
          <p:txBody>
            <a:bodyPr wrap="none" lIns="0" tIns="0" rIns="0" bIns="0" anchor="t" anchorCtr="0">
              <a:spAutoFit/>
            </a:bodyPr>
            <a:lstStyle/>
            <a:p>
              <a:pPr algn="l"/>
              <a:r>
                <a:rPr lang="tr-TR" sz="2550" b="1" dirty="0">
                  <a:solidFill>
                    <a:srgbClr val="00A6A6"/>
                  </a:solidFill>
                  <a:latin typeface="+mn-lt"/>
                  <a:ea typeface="+mn-ea"/>
                  <a:cs typeface="+mn-cs"/>
                </a:rPr>
                <a:t>Ortalama PR-AUC: 0.177</a:t>
              </a:r>
            </a:p>
          </p:txBody>
        </p:sp>
        <p:sp>
          <p:nvSpPr>
            <p:cNvPr id="33" name="TextBox 33"/>
            <p:cNvSpPr txBox="1"/>
            <p:nvPr/>
          </p:nvSpPr>
          <p:spPr>
            <a:xfrm>
              <a:off x="6470904" y="4442460"/>
              <a:ext cx="3182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imblearn.pipeline.Pipeline kullanılmalıdır;</a:t>
              </a:r>
              <a:br/>
              <a:r>
                <a:rPr lang="tr-TR" sz="1200" dirty="0">
                  <a:solidFill>
                    <a:srgbClr val="172B3A"/>
                  </a:solidFill>
                  <a:latin typeface="+mn-lt"/>
                  <a:ea typeface="+mn-ea"/>
                  <a:cs typeface="+mn-cs"/>
                </a:rPr>
                <a:t>sklearn.pipeline.Pipeline fit_resample</a:t>
              </a:r>
              <a:br/>
              <a:r>
                <a:rPr lang="tr-TR" sz="1200" dirty="0">
                  <a:solidFill>
                    <a:srgbClr val="172B3A"/>
                  </a:solidFill>
                  <a:latin typeface="+mn-lt"/>
                  <a:ea typeface="+mn-ea"/>
                  <a:cs typeface="+mn-cs"/>
                </a:rPr>
                <a:t>davranışını desteklemez.</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031169" cy="557403"/>
            <a:chOff x="595122" y="282892"/>
            <a:chExt cx="8031169" cy="557403"/>
          </a:xfrm>
        </p:grpSpPr>
        <p:sp>
          <p:nvSpPr>
            <p:cNvPr id="4" name="TextBox 4"/>
            <p:cNvSpPr txBox="1"/>
            <p:nvPr/>
          </p:nvSpPr>
          <p:spPr>
            <a:xfrm>
              <a:off x="595122" y="282892"/>
              <a:ext cx="803116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class_weight ile SMOTE karşılaştırması</a:t>
              </a:r>
            </a:p>
          </p:txBody>
        </p:sp>
      </p:grpSp>
      <p:grpSp>
        <p:nvGrpSpPr>
          <p:cNvPr id="11" name="kpi-smote"/>
          <p:cNvGrpSpPr/>
          <p:nvPr/>
        </p:nvGrpSpPr>
        <p:grpSpPr>
          <a:xfrm>
            <a:off x="609600" y="1333500"/>
            <a:ext cx="5334000" cy="2095500"/>
            <a:chOff x="609600" y="1333500"/>
            <a:chExt cx="5334000" cy="2095500"/>
          </a:xfrm>
        </p:grpSpPr>
        <p:sp>
          <p:nvSpPr>
            <p:cNvPr id="6" name="Rectangle 6"/>
            <p:cNvSpPr/>
            <p:nvPr/>
          </p:nvSpPr>
          <p:spPr>
            <a:xfrm>
              <a:off x="609600" y="1333500"/>
              <a:ext cx="5334000" cy="2095500"/>
            </a:xfrm>
            <a:prstGeom prst="roundRect">
              <a:avLst>
                <a:gd name="adj" fmla="val 4545"/>
              </a:avLst>
            </a:prstGeom>
            <a:solidFill>
              <a:srgbClr val="FFFFFF"/>
            </a:solidFill>
            <a:ln w="19050">
              <a:solidFill>
                <a:srgbClr val="00A6A6"/>
              </a:solidFill>
            </a:ln>
          </p:spPr>
        </p:sp>
        <p:sp>
          <p:nvSpPr>
            <p:cNvPr id="7" name="TextBox 7"/>
            <p:cNvSpPr txBox="1"/>
            <p:nvPr/>
          </p:nvSpPr>
          <p:spPr>
            <a:xfrm>
              <a:off x="829056" y="1520190"/>
              <a:ext cx="325261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SMOTE Pipeline (5 kat CV)</a:t>
              </a:r>
            </a:p>
          </p:txBody>
        </p:sp>
        <p:sp>
          <p:nvSpPr>
            <p:cNvPr id="8" name="TextBox 8"/>
            <p:cNvSpPr txBox="1"/>
            <p:nvPr/>
          </p:nvSpPr>
          <p:spPr>
            <a:xfrm>
              <a:off x="820674" y="1989772"/>
              <a:ext cx="1376120" cy="674751"/>
            </a:xfrm>
            <a:prstGeom prst="rect">
              <a:avLst/>
            </a:prstGeom>
            <a:noFill/>
            <a:ln>
              <a:noFill/>
            </a:ln>
          </p:spPr>
          <p:txBody>
            <a:bodyPr wrap="none" lIns="0" tIns="0" rIns="0" bIns="0" anchor="t" anchorCtr="0">
              <a:spAutoFit/>
            </a:bodyPr>
            <a:lstStyle/>
            <a:p>
              <a:pPr algn="l"/>
              <a:r>
                <a:rPr lang="tr-TR" sz="3450" b="1" dirty="0">
                  <a:solidFill>
                    <a:srgbClr val="00A6A6"/>
                  </a:solidFill>
                  <a:latin typeface="+mn-lt"/>
                  <a:ea typeface="+mn-ea"/>
                  <a:cs typeface="+mn-cs"/>
                </a:rPr>
                <a:t>0.177</a:t>
              </a:r>
            </a:p>
          </p:txBody>
        </p:sp>
        <p:sp>
          <p:nvSpPr>
            <p:cNvPr id="9" name="TextBox 9"/>
            <p:cNvSpPr txBox="1"/>
            <p:nvPr/>
          </p:nvSpPr>
          <p:spPr>
            <a:xfrm>
              <a:off x="832104" y="2575560"/>
              <a:ext cx="136317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Ortalama PR-AUC</a:t>
              </a:r>
            </a:p>
          </p:txBody>
        </p:sp>
        <p:sp>
          <p:nvSpPr>
            <p:cNvPr id="10" name="TextBox 10"/>
            <p:cNvSpPr txBox="1"/>
            <p:nvPr/>
          </p:nvSpPr>
          <p:spPr>
            <a:xfrm>
              <a:off x="832104" y="2880360"/>
              <a:ext cx="40154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Sentetik örneklerle karar sınırını zenginleştirir.</a:t>
              </a:r>
            </a:p>
          </p:txBody>
        </p:sp>
      </p:grpSp>
      <p:grpSp>
        <p:nvGrpSpPr>
          <p:cNvPr id="17" name="kpi-weight"/>
          <p:cNvGrpSpPr/>
          <p:nvPr/>
        </p:nvGrpSpPr>
        <p:grpSpPr>
          <a:xfrm>
            <a:off x="6248400" y="1333500"/>
            <a:ext cx="5334000" cy="2095500"/>
            <a:chOff x="6248400" y="1333500"/>
            <a:chExt cx="5334000" cy="2095500"/>
          </a:xfrm>
        </p:grpSpPr>
        <p:sp>
          <p:nvSpPr>
            <p:cNvPr id="12" name="Rectangle 12"/>
            <p:cNvSpPr/>
            <p:nvPr/>
          </p:nvSpPr>
          <p:spPr>
            <a:xfrm>
              <a:off x="6248400" y="1333500"/>
              <a:ext cx="5334000" cy="2095500"/>
            </a:xfrm>
            <a:prstGeom prst="roundRect">
              <a:avLst>
                <a:gd name="adj" fmla="val 4545"/>
              </a:avLst>
            </a:prstGeom>
            <a:solidFill>
              <a:srgbClr val="FFFFFF"/>
            </a:solidFill>
            <a:ln w="14288">
              <a:solidFill>
                <a:srgbClr val="B8CBD3"/>
              </a:solidFill>
            </a:ln>
          </p:spPr>
        </p:sp>
        <p:sp>
          <p:nvSpPr>
            <p:cNvPr id="13" name="TextBox 13"/>
            <p:cNvSpPr txBox="1"/>
            <p:nvPr/>
          </p:nvSpPr>
          <p:spPr>
            <a:xfrm>
              <a:off x="6467856" y="1520190"/>
              <a:ext cx="463622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class_weight="balanced" (tek bölme)</a:t>
              </a:r>
            </a:p>
          </p:txBody>
        </p:sp>
        <p:sp>
          <p:nvSpPr>
            <p:cNvPr id="14" name="TextBox 14"/>
            <p:cNvSpPr txBox="1"/>
            <p:nvPr/>
          </p:nvSpPr>
          <p:spPr>
            <a:xfrm>
              <a:off x="6459474" y="1989772"/>
              <a:ext cx="1376120" cy="674751"/>
            </a:xfrm>
            <a:prstGeom prst="rect">
              <a:avLst/>
            </a:prstGeom>
            <a:noFill/>
            <a:ln>
              <a:noFill/>
            </a:ln>
          </p:spPr>
          <p:txBody>
            <a:bodyPr wrap="none" lIns="0" tIns="0" rIns="0" bIns="0" anchor="t" anchorCtr="0">
              <a:spAutoFit/>
            </a:bodyPr>
            <a:lstStyle/>
            <a:p>
              <a:pPr algn="l"/>
              <a:r>
                <a:rPr lang="tr-TR" sz="3450" b="1" dirty="0">
                  <a:solidFill>
                    <a:srgbClr val="2E86AB"/>
                  </a:solidFill>
                  <a:latin typeface="+mn-lt"/>
                  <a:ea typeface="+mn-ea"/>
                  <a:cs typeface="+mn-cs"/>
                </a:rPr>
                <a:t>0.173</a:t>
              </a:r>
            </a:p>
          </p:txBody>
        </p:sp>
        <p:sp>
          <p:nvSpPr>
            <p:cNvPr id="15" name="TextBox 15"/>
            <p:cNvSpPr txBox="1"/>
            <p:nvPr/>
          </p:nvSpPr>
          <p:spPr>
            <a:xfrm>
              <a:off x="6470904" y="2575560"/>
              <a:ext cx="98450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Test PR-AUC</a:t>
              </a:r>
            </a:p>
          </p:txBody>
        </p:sp>
        <p:sp>
          <p:nvSpPr>
            <p:cNvPr id="16" name="TextBox 16"/>
            <p:cNvSpPr txBox="1"/>
            <p:nvPr/>
          </p:nvSpPr>
          <p:spPr>
            <a:xfrm>
              <a:off x="6470904" y="2880360"/>
              <a:ext cx="36764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satır üretmeden hata maliyetini artırır.</a:t>
              </a:r>
            </a:p>
          </p:txBody>
        </p:sp>
      </p:grpSp>
      <p:grpSp>
        <p:nvGrpSpPr>
          <p:cNvPr id="21" name="interpretation"/>
          <p:cNvGrpSpPr/>
          <p:nvPr/>
        </p:nvGrpSpPr>
        <p:grpSpPr>
          <a:xfrm>
            <a:off x="609600" y="3695700"/>
            <a:ext cx="10972800" cy="1219200"/>
            <a:chOff x="609600" y="3695700"/>
            <a:chExt cx="10972800" cy="1219200"/>
          </a:xfrm>
        </p:grpSpPr>
        <p:sp>
          <p:nvSpPr>
            <p:cNvPr id="18" name="Rectangle 18"/>
            <p:cNvSpPr/>
            <p:nvPr/>
          </p:nvSpPr>
          <p:spPr>
            <a:xfrm>
              <a:off x="609600" y="3695700"/>
              <a:ext cx="10972800" cy="1219200"/>
            </a:xfrm>
            <a:prstGeom prst="roundRect">
              <a:avLst>
                <a:gd name="adj" fmla="val 6250"/>
              </a:avLst>
            </a:prstGeom>
            <a:solidFill>
              <a:srgbClr val="EAF4F6"/>
            </a:solidFill>
            <a:ln>
              <a:noFill/>
            </a:ln>
          </p:spPr>
        </p:sp>
        <p:sp>
          <p:nvSpPr>
            <p:cNvPr id="19" name="TextBox 19"/>
            <p:cNvSpPr txBox="1"/>
            <p:nvPr/>
          </p:nvSpPr>
          <p:spPr>
            <a:xfrm>
              <a:off x="906399" y="3868579"/>
              <a:ext cx="40928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Yakın PR-AUC değerleri ne anlatıyor?</a:t>
              </a:r>
            </a:p>
          </p:txBody>
        </p:sp>
        <p:sp>
          <p:nvSpPr>
            <p:cNvPr id="20" name="TextBox 20"/>
            <p:cNvSpPr txBox="1"/>
            <p:nvPr/>
          </p:nvSpPr>
          <p:spPr>
            <a:xfrm>
              <a:off x="908304" y="4213860"/>
              <a:ext cx="7114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İki yaklaşımın PR-AUC değerlerinin birbirine yakın çıkması, bu veri kümesi büyüklüğünde her iki</a:t>
              </a:r>
              <a:br/>
              <a:r>
                <a:rPr lang="tr-TR" sz="1200" dirty="0">
                  <a:solidFill>
                    <a:srgbClr val="172B3A"/>
                  </a:solidFill>
                  <a:latin typeface="+mn-lt"/>
                  <a:ea typeface="+mn-ea"/>
                  <a:cs typeface="+mn-cs"/>
                </a:rPr>
                <a:t>stratejinin de makul bir başlangıç noktası olduğunu; seçimi kesinleştirmek için ek veri veya</a:t>
              </a:r>
              <a:br/>
              <a:r>
                <a:rPr lang="tr-TR" sz="1200" dirty="0">
                  <a:solidFill>
                    <a:srgbClr val="172B3A"/>
                  </a:solidFill>
                  <a:latin typeface="+mn-lt"/>
                  <a:ea typeface="+mn-ea"/>
                  <a:cs typeface="+mn-cs"/>
                </a:rPr>
                <a:t>maliyet analizinin gerektiğini gösterir.</a:t>
              </a:r>
            </a:p>
          </p:txBody>
        </p:sp>
      </p:grpSp>
      <p:grpSp>
        <p:nvGrpSpPr>
          <p:cNvPr id="25" name="when-to-prefer"/>
          <p:cNvGrpSpPr/>
          <p:nvPr/>
        </p:nvGrpSpPr>
        <p:grpSpPr>
          <a:xfrm>
            <a:off x="600456" y="5158740"/>
            <a:ext cx="7921036" cy="813816"/>
            <a:chOff x="600456" y="5158740"/>
            <a:chExt cx="7921036" cy="813816"/>
          </a:xfrm>
        </p:grpSpPr>
        <p:sp>
          <p:nvSpPr>
            <p:cNvPr id="22" name="TextBox 22"/>
            <p:cNvSpPr txBox="1"/>
            <p:nvPr/>
          </p:nvSpPr>
          <p:spPr>
            <a:xfrm>
              <a:off x="600456" y="5158740"/>
              <a:ext cx="347397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Ne zaman tercih edilmelidir?</a:t>
              </a:r>
            </a:p>
          </p:txBody>
        </p:sp>
        <p:sp>
          <p:nvSpPr>
            <p:cNvPr id="23" name="TextBox 23"/>
            <p:cNvSpPr txBox="1"/>
            <p:nvPr/>
          </p:nvSpPr>
          <p:spPr>
            <a:xfrm>
              <a:off x="603504" y="5528310"/>
              <a:ext cx="79179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İlk denemede </a:t>
              </a:r>
              <a:r>
                <a:rPr lang="tr-TR" sz="1200" b="1" dirty="0">
                  <a:solidFill>
                    <a:srgbClr val="12355B"/>
                  </a:solidFill>
                  <a:latin typeface="+mn-lt"/>
                  <a:ea typeface="+mn-ea"/>
                  <a:cs typeface="+mn-cs"/>
                </a:rPr>
                <a:t>class_weight="balanced"</a:t>
              </a:r>
              <a:r>
                <a:rPr lang="tr-TR" sz="1200" dirty="0">
                  <a:solidFill>
                    <a:srgbClr val="172B3A"/>
                  </a:solidFill>
                  <a:latin typeface="+mn-lt"/>
                  <a:ea typeface="+mn-ea"/>
                  <a:cs typeface="+mn-cs"/>
                </a:rPr>
                <a:t xml:space="preserve"> genellikle iyi bir başlangıçtır — ek veri üretmez ve basittir.</a:t>
              </a:r>
            </a:p>
          </p:txBody>
        </p:sp>
        <p:sp>
          <p:nvSpPr>
            <p:cNvPr id="24" name="TextBox 24"/>
            <p:cNvSpPr txBox="1"/>
            <p:nvPr/>
          </p:nvSpPr>
          <p:spPr>
            <a:xfrm>
              <a:off x="603504" y="5737860"/>
              <a:ext cx="68012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Karar sınırı azınlık örneklerinin azlığı nedeniyle zayıfsa </a:t>
              </a:r>
              <a:r>
                <a:rPr lang="tr-TR" sz="1200" b="1" dirty="0">
                  <a:solidFill>
                    <a:srgbClr val="12355B"/>
                  </a:solidFill>
                  <a:latin typeface="+mn-lt"/>
                  <a:ea typeface="+mn-ea"/>
                  <a:cs typeface="+mn-cs"/>
                </a:rPr>
                <a:t>SMOTE</a:t>
              </a:r>
              <a:r>
                <a:rPr lang="tr-TR" sz="1200" dirty="0">
                  <a:solidFill>
                    <a:srgbClr val="172B3A"/>
                  </a:solidFill>
                  <a:latin typeface="+mn-lt"/>
                  <a:ea typeface="+mn-ea"/>
                  <a:cs typeface="+mn-cs"/>
                </a:rPr>
                <a:t xml:space="preserve"> değerlendirilebilir.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756384" cy="557403"/>
            <a:chOff x="595122" y="282892"/>
            <a:chExt cx="7756384" cy="557403"/>
          </a:xfrm>
        </p:grpSpPr>
        <p:sp>
          <p:nvSpPr>
            <p:cNvPr id="4" name="TextBox 4"/>
            <p:cNvSpPr txBox="1"/>
            <p:nvPr/>
          </p:nvSpPr>
          <p:spPr>
            <a:xfrm>
              <a:off x="595122" y="282892"/>
              <a:ext cx="775638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Karar stratejileri: tanım ve sınırlılık</a:t>
              </a:r>
            </a:p>
          </p:txBody>
        </p:sp>
      </p:grpSp>
      <p:grpSp>
        <p:nvGrpSpPr>
          <p:cNvPr id="34" name="strategy-table"/>
          <p:cNvGrpSpPr/>
          <p:nvPr/>
        </p:nvGrpSpPr>
        <p:grpSpPr>
          <a:xfrm>
            <a:off x="609600" y="1257300"/>
            <a:ext cx="10972800" cy="3619500"/>
            <a:chOff x="609600" y="1257300"/>
            <a:chExt cx="10972800" cy="3619500"/>
          </a:xfrm>
        </p:grpSpPr>
        <p:sp>
          <p:nvSpPr>
            <p:cNvPr id="6" name="Rectangle 6"/>
            <p:cNvSpPr/>
            <p:nvPr/>
          </p:nvSpPr>
          <p:spPr>
            <a:xfrm>
              <a:off x="609600" y="1257300"/>
              <a:ext cx="10972800" cy="419100"/>
            </a:xfrm>
            <a:prstGeom prst="rect">
              <a:avLst/>
            </a:prstGeom>
            <a:solidFill>
              <a:srgbClr val="12355B"/>
            </a:solidFill>
            <a:ln>
              <a:noFill/>
            </a:ln>
          </p:spPr>
        </p:sp>
        <p:sp>
          <p:nvSpPr>
            <p:cNvPr id="7" name="TextBox 7"/>
            <p:cNvSpPr txBox="1"/>
            <p:nvPr/>
          </p:nvSpPr>
          <p:spPr>
            <a:xfrm>
              <a:off x="832104" y="1394460"/>
              <a:ext cx="87544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STRATEJİ</a:t>
              </a:r>
            </a:p>
          </p:txBody>
        </p:sp>
        <p:sp>
          <p:nvSpPr>
            <p:cNvPr id="8" name="TextBox 8"/>
            <p:cNvSpPr txBox="1"/>
            <p:nvPr/>
          </p:nvSpPr>
          <p:spPr>
            <a:xfrm>
              <a:off x="2699004" y="1394460"/>
              <a:ext cx="1702857"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TEMEL MEKANİZMA</a:t>
              </a:r>
            </a:p>
          </p:txBody>
        </p:sp>
        <p:sp>
          <p:nvSpPr>
            <p:cNvPr id="9" name="TextBox 9"/>
            <p:cNvSpPr txBox="1"/>
            <p:nvPr/>
          </p:nvSpPr>
          <p:spPr>
            <a:xfrm>
              <a:off x="6089904" y="1394460"/>
              <a:ext cx="169901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BAŞLICA SINIRLILIK</a:t>
              </a:r>
            </a:p>
          </p:txBody>
        </p:sp>
        <p:sp>
          <p:nvSpPr>
            <p:cNvPr id="10" name="Rectangle 10"/>
            <p:cNvSpPr/>
            <p:nvPr/>
          </p:nvSpPr>
          <p:spPr>
            <a:xfrm>
              <a:off x="609600" y="1676400"/>
              <a:ext cx="10972800" cy="800100"/>
            </a:xfrm>
            <a:prstGeom prst="rect">
              <a:avLst/>
            </a:prstGeom>
            <a:solidFill>
              <a:srgbClr val="FFFFFF"/>
            </a:solidFill>
            <a:ln w="19050">
              <a:solidFill>
                <a:srgbClr val="00A6A6"/>
              </a:solidFill>
            </a:ln>
          </p:spPr>
        </p:sp>
        <p:sp>
          <p:nvSpPr>
            <p:cNvPr id="11" name="TextBox 11"/>
            <p:cNvSpPr txBox="1"/>
            <p:nvPr/>
          </p:nvSpPr>
          <p:spPr>
            <a:xfrm>
              <a:off x="830199" y="1849279"/>
              <a:ext cx="163101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Sınıf ağırlığı</a:t>
              </a:r>
            </a:p>
          </p:txBody>
        </p:sp>
        <p:sp>
          <p:nvSpPr>
            <p:cNvPr id="12" name="TextBox 12"/>
            <p:cNvSpPr txBox="1"/>
            <p:nvPr/>
          </p:nvSpPr>
          <p:spPr>
            <a:xfrm>
              <a:off x="2699004" y="1813560"/>
              <a:ext cx="34178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Azınlık sınıfının hata maliyetini artırır;</a:t>
              </a:r>
            </a:p>
          </p:txBody>
        </p:sp>
        <p:sp>
          <p:nvSpPr>
            <p:cNvPr id="13" name="TextBox 13"/>
            <p:cNvSpPr txBox="1"/>
            <p:nvPr/>
          </p:nvSpPr>
          <p:spPr>
            <a:xfrm>
              <a:off x="2699004" y="2023110"/>
              <a:ext cx="34207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yeni satır üretmez, güçlü taban çizgisidir.</a:t>
              </a:r>
            </a:p>
          </p:txBody>
        </p:sp>
        <p:sp>
          <p:nvSpPr>
            <p:cNvPr id="14" name="TextBox 14"/>
            <p:cNvSpPr txBox="1"/>
            <p:nvPr/>
          </p:nvSpPr>
          <p:spPr>
            <a:xfrm>
              <a:off x="6089904" y="1813560"/>
              <a:ext cx="30379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Karar sınırında yeterli azınlık bilgisi</a:t>
              </a:r>
            </a:p>
          </p:txBody>
        </p:sp>
        <p:sp>
          <p:nvSpPr>
            <p:cNvPr id="15" name="TextBox 15"/>
            <p:cNvSpPr txBox="1"/>
            <p:nvPr/>
          </p:nvSpPr>
          <p:spPr>
            <a:xfrm>
              <a:off x="6089904" y="2023110"/>
              <a:ext cx="236265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yoksa etkisi sınırlı kalabilir.</a:t>
              </a:r>
            </a:p>
          </p:txBody>
        </p:sp>
        <p:sp>
          <p:nvSpPr>
            <p:cNvPr id="16" name="Rectangle 16"/>
            <p:cNvSpPr/>
            <p:nvPr/>
          </p:nvSpPr>
          <p:spPr>
            <a:xfrm>
              <a:off x="609600" y="2476500"/>
              <a:ext cx="10972800" cy="800100"/>
            </a:xfrm>
            <a:prstGeom prst="rect">
              <a:avLst/>
            </a:prstGeom>
            <a:solidFill>
              <a:srgbClr val="EAF4F6"/>
            </a:solidFill>
            <a:ln>
              <a:noFill/>
            </a:ln>
          </p:spPr>
        </p:sp>
        <p:sp>
          <p:nvSpPr>
            <p:cNvPr id="17" name="TextBox 17"/>
            <p:cNvSpPr txBox="1"/>
            <p:nvPr/>
          </p:nvSpPr>
          <p:spPr>
            <a:xfrm>
              <a:off x="830199" y="2649379"/>
              <a:ext cx="75932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SMOTE</a:t>
              </a:r>
            </a:p>
          </p:txBody>
        </p:sp>
        <p:sp>
          <p:nvSpPr>
            <p:cNvPr id="18" name="TextBox 18"/>
            <p:cNvSpPr txBox="1"/>
            <p:nvPr/>
          </p:nvSpPr>
          <p:spPr>
            <a:xfrm>
              <a:off x="2699004" y="2613660"/>
              <a:ext cx="291703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Azınlık komşuları arasında sentetik</a:t>
              </a:r>
            </a:p>
          </p:txBody>
        </p:sp>
        <p:sp>
          <p:nvSpPr>
            <p:cNvPr id="19" name="TextBox 19"/>
            <p:cNvSpPr txBox="1"/>
            <p:nvPr/>
          </p:nvSpPr>
          <p:spPr>
            <a:xfrm>
              <a:off x="2699004" y="2823210"/>
              <a:ext cx="29684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gözlem üretip seyrek bölgeyi öğretir.</a:t>
              </a:r>
            </a:p>
          </p:txBody>
        </p:sp>
        <p:sp>
          <p:nvSpPr>
            <p:cNvPr id="20" name="TextBox 20"/>
            <p:cNvSpPr txBox="1"/>
            <p:nvPr/>
          </p:nvSpPr>
          <p:spPr>
            <a:xfrm>
              <a:off x="6089904" y="2613660"/>
              <a:ext cx="30707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Komşuluk varsayımına, ölçeklemeye ve</a:t>
              </a:r>
            </a:p>
          </p:txBody>
        </p:sp>
        <p:sp>
          <p:nvSpPr>
            <p:cNvPr id="21" name="TextBox 21"/>
            <p:cNvSpPr txBox="1"/>
            <p:nvPr/>
          </p:nvSpPr>
          <p:spPr>
            <a:xfrm>
              <a:off x="6089904" y="2823210"/>
              <a:ext cx="29926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sızıntısız boru hattına bağımlıdır.</a:t>
              </a:r>
            </a:p>
          </p:txBody>
        </p:sp>
        <p:sp>
          <p:nvSpPr>
            <p:cNvPr id="22" name="Rectangle 22"/>
            <p:cNvSpPr/>
            <p:nvPr/>
          </p:nvSpPr>
          <p:spPr>
            <a:xfrm>
              <a:off x="609600" y="3276600"/>
              <a:ext cx="10972800" cy="800100"/>
            </a:xfrm>
            <a:prstGeom prst="rect">
              <a:avLst/>
            </a:prstGeom>
            <a:solidFill>
              <a:srgbClr val="FFFFFF"/>
            </a:solidFill>
            <a:ln>
              <a:noFill/>
            </a:ln>
          </p:spPr>
        </p:sp>
        <p:sp>
          <p:nvSpPr>
            <p:cNvPr id="23" name="TextBox 23"/>
            <p:cNvSpPr txBox="1"/>
            <p:nvPr/>
          </p:nvSpPr>
          <p:spPr>
            <a:xfrm>
              <a:off x="830199" y="3449479"/>
              <a:ext cx="249083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Rastgele alt örnekleme</a:t>
              </a:r>
            </a:p>
          </p:txBody>
        </p:sp>
        <p:sp>
          <p:nvSpPr>
            <p:cNvPr id="24" name="TextBox 24"/>
            <p:cNvSpPr txBox="1"/>
            <p:nvPr/>
          </p:nvSpPr>
          <p:spPr>
            <a:xfrm>
              <a:off x="2699004" y="3413760"/>
              <a:ext cx="28686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Çoğunluk sınıfından gözlem çıkarıp</a:t>
              </a:r>
            </a:p>
          </p:txBody>
        </p:sp>
        <p:sp>
          <p:nvSpPr>
            <p:cNvPr id="25" name="TextBox 25"/>
            <p:cNvSpPr txBox="1"/>
            <p:nvPr/>
          </p:nvSpPr>
          <p:spPr>
            <a:xfrm>
              <a:off x="2699004" y="3623310"/>
              <a:ext cx="206380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eğitim maliyetini düşürür.</a:t>
              </a:r>
            </a:p>
          </p:txBody>
        </p:sp>
        <p:sp>
          <p:nvSpPr>
            <p:cNvPr id="26" name="TextBox 26"/>
            <p:cNvSpPr txBox="1"/>
            <p:nvPr/>
          </p:nvSpPr>
          <p:spPr>
            <a:xfrm>
              <a:off x="6089904" y="3413760"/>
              <a:ext cx="28602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Büyük veride yararlı çoğunluk bilgisi</a:t>
              </a:r>
            </a:p>
          </p:txBody>
        </p:sp>
        <p:sp>
          <p:nvSpPr>
            <p:cNvPr id="27" name="TextBox 27"/>
            <p:cNvSpPr txBox="1"/>
            <p:nvPr/>
          </p:nvSpPr>
          <p:spPr>
            <a:xfrm>
              <a:off x="6089904" y="3623310"/>
              <a:ext cx="100568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kaybolabilir.</a:t>
              </a:r>
            </a:p>
          </p:txBody>
        </p:sp>
        <p:sp>
          <p:nvSpPr>
            <p:cNvPr id="28" name="Rectangle 28"/>
            <p:cNvSpPr/>
            <p:nvPr/>
          </p:nvSpPr>
          <p:spPr>
            <a:xfrm>
              <a:off x="609600" y="4076700"/>
              <a:ext cx="10972800" cy="800100"/>
            </a:xfrm>
            <a:prstGeom prst="rect">
              <a:avLst/>
            </a:prstGeom>
            <a:solidFill>
              <a:srgbClr val="EAF4F6"/>
            </a:solidFill>
            <a:ln>
              <a:noFill/>
            </a:ln>
          </p:spPr>
        </p:sp>
        <p:sp>
          <p:nvSpPr>
            <p:cNvPr id="29" name="TextBox 29"/>
            <p:cNvSpPr txBox="1"/>
            <p:nvPr/>
          </p:nvSpPr>
          <p:spPr>
            <a:xfrm>
              <a:off x="830199" y="4249579"/>
              <a:ext cx="149696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Eşik ayarlama</a:t>
              </a:r>
            </a:p>
          </p:txBody>
        </p:sp>
        <p:sp>
          <p:nvSpPr>
            <p:cNvPr id="30" name="TextBox 30"/>
            <p:cNvSpPr txBox="1"/>
            <p:nvPr/>
          </p:nvSpPr>
          <p:spPr>
            <a:xfrm>
              <a:off x="2699004" y="4213860"/>
              <a:ext cx="26988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Tahmin olasılığını karar kuralına</a:t>
              </a:r>
            </a:p>
          </p:txBody>
        </p:sp>
        <p:sp>
          <p:nvSpPr>
            <p:cNvPr id="31" name="TextBox 31"/>
            <p:cNvSpPr txBox="1"/>
            <p:nvPr/>
          </p:nvSpPr>
          <p:spPr>
            <a:xfrm>
              <a:off x="2699004" y="4423410"/>
              <a:ext cx="27422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dönüştürüp iş maliyetini yansıtır.</a:t>
              </a:r>
            </a:p>
          </p:txBody>
        </p:sp>
        <p:sp>
          <p:nvSpPr>
            <p:cNvPr id="32" name="TextBox 32"/>
            <p:cNvSpPr txBox="1"/>
            <p:nvPr/>
          </p:nvSpPr>
          <p:spPr>
            <a:xfrm>
              <a:off x="6089904" y="4213860"/>
              <a:ext cx="311062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Kalibre edilmemiş olasılıklar ve değişen</a:t>
              </a:r>
            </a:p>
          </p:txBody>
        </p:sp>
        <p:sp>
          <p:nvSpPr>
            <p:cNvPr id="33" name="TextBox 33"/>
            <p:cNvSpPr txBox="1"/>
            <p:nvPr/>
          </p:nvSpPr>
          <p:spPr>
            <a:xfrm>
              <a:off x="6089904" y="4423410"/>
              <a:ext cx="31057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maliyetler yanlış seçime neden olabilir.</a:t>
              </a:r>
            </a:p>
          </p:txBody>
        </p:sp>
      </p:grpSp>
      <p:grpSp>
        <p:nvGrpSpPr>
          <p:cNvPr id="38" name="closing-note"/>
          <p:cNvGrpSpPr/>
          <p:nvPr/>
        </p:nvGrpSpPr>
        <p:grpSpPr>
          <a:xfrm>
            <a:off x="609600" y="5448300"/>
            <a:ext cx="10972800" cy="914400"/>
            <a:chOff x="609600" y="5448300"/>
            <a:chExt cx="10972800" cy="914400"/>
          </a:xfrm>
        </p:grpSpPr>
        <p:sp>
          <p:nvSpPr>
            <p:cNvPr id="35" name="Rectangle 35"/>
            <p:cNvSpPr/>
            <p:nvPr/>
          </p:nvSpPr>
          <p:spPr>
            <a:xfrm>
              <a:off x="609600" y="5448300"/>
              <a:ext cx="10972800" cy="914400"/>
            </a:xfrm>
            <a:prstGeom prst="roundRect">
              <a:avLst>
                <a:gd name="adj" fmla="val 8333"/>
              </a:avLst>
            </a:prstGeom>
            <a:solidFill>
              <a:srgbClr val="EAF4F6"/>
            </a:solidFill>
            <a:ln>
              <a:noFill/>
            </a:ln>
          </p:spPr>
        </p:sp>
        <p:sp>
          <p:nvSpPr>
            <p:cNvPr id="36" name="TextBox 36"/>
            <p:cNvSpPr txBox="1"/>
            <p:nvPr/>
          </p:nvSpPr>
          <p:spPr>
            <a:xfrm>
              <a:off x="906399" y="5621179"/>
              <a:ext cx="1016837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Bu yöntemlerin hiçbiri seçilim yanlılığını ya da temsil edilmeyen grupları kendiliğinden düzeltmez.</a:t>
              </a:r>
            </a:p>
          </p:txBody>
        </p:sp>
        <p:sp>
          <p:nvSpPr>
            <p:cNvPr id="37" name="TextBox 37"/>
            <p:cNvSpPr txBox="1"/>
            <p:nvPr/>
          </p:nvSpPr>
          <p:spPr>
            <a:xfrm>
              <a:off x="908304" y="5966460"/>
              <a:ext cx="94294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Sonuçlar, doğal dağılımı koruyan bağımsız bir test düzeninde PR-AUC ve maliyet ölçütleriyle birlikte yorumlanmalıdır.</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72427" cy="557403"/>
            <a:chOff x="595122" y="282892"/>
            <a:chExt cx="7172427" cy="557403"/>
          </a:xfrm>
        </p:grpSpPr>
        <p:sp>
          <p:nvSpPr>
            <p:cNvPr id="4" name="TextBox 4"/>
            <p:cNvSpPr txBox="1"/>
            <p:nvPr/>
          </p:nvSpPr>
          <p:spPr>
            <a:xfrm>
              <a:off x="595122" y="282892"/>
              <a:ext cx="717242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Sızıntının kök nedenini tespit etme</a:t>
              </a:r>
            </a:p>
          </p:txBody>
        </p:sp>
      </p:grpSp>
      <p:grpSp>
        <p:nvGrpSpPr>
          <p:cNvPr id="7" name="lead-note"/>
          <p:cNvGrpSpPr/>
          <p:nvPr/>
        </p:nvGrpSpPr>
        <p:grpSpPr>
          <a:xfrm>
            <a:off x="601599" y="1258729"/>
            <a:ext cx="8807499" cy="308039"/>
            <a:chOff x="601599" y="1258729"/>
            <a:chExt cx="8807499" cy="308039"/>
          </a:xfrm>
        </p:grpSpPr>
        <p:sp>
          <p:nvSpPr>
            <p:cNvPr id="6" name="TextBox 6"/>
            <p:cNvSpPr txBox="1"/>
            <p:nvPr/>
          </p:nvSpPr>
          <p:spPr>
            <a:xfrm>
              <a:off x="601599" y="1258729"/>
              <a:ext cx="880749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Sızıntı fark edildikten sonra düzeltmek kolaydır; asıl zorluk kök nedeni bulmaktır.</a:t>
              </a:r>
            </a:p>
          </p:txBody>
        </p:sp>
      </p:grpSp>
      <p:grpSp>
        <p:nvGrpSpPr>
          <p:cNvPr id="16" name="step-1"/>
          <p:cNvGrpSpPr/>
          <p:nvPr/>
        </p:nvGrpSpPr>
        <p:grpSpPr>
          <a:xfrm>
            <a:off x="832104" y="1962150"/>
            <a:ext cx="3120847" cy="2038350"/>
            <a:chOff x="832104" y="1962150"/>
            <a:chExt cx="3120847" cy="2038350"/>
          </a:xfrm>
        </p:grpSpPr>
        <p:sp>
          <p:nvSpPr>
            <p:cNvPr id="8" name="Ellipse 8"/>
            <p:cNvSpPr/>
            <p:nvPr/>
          </p:nvSpPr>
          <p:spPr>
            <a:xfrm>
              <a:off x="895350" y="1962150"/>
              <a:ext cx="495300" cy="495300"/>
            </a:xfrm>
            <a:prstGeom prst="ellipse">
              <a:avLst/>
            </a:prstGeom>
            <a:solidFill>
              <a:srgbClr val="12355B"/>
            </a:solidFill>
            <a:ln>
              <a:noFill/>
            </a:ln>
          </p:spPr>
        </p:sp>
        <p:sp>
          <p:nvSpPr>
            <p:cNvPr id="9" name="TextBox 9"/>
            <p:cNvSpPr txBox="1"/>
            <p:nvPr/>
          </p:nvSpPr>
          <p:spPr>
            <a:xfrm>
              <a:off x="1073582" y="2115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0" name="TextBox 10"/>
            <p:cNvSpPr txBox="1"/>
            <p:nvPr/>
          </p:nvSpPr>
          <p:spPr>
            <a:xfrm>
              <a:off x="1514856" y="1977390"/>
              <a:ext cx="1542478" cy="618744"/>
            </a:xfrm>
            <a:prstGeom prst="rect">
              <a:avLst/>
            </a:prstGeom>
            <a:noFill/>
            <a:ln>
              <a:noFill/>
            </a:ln>
          </p:spPr>
          <p:txBody>
            <a:bodyPr wrap="none" lIns="0" tIns="0" rIns="0" bIns="0" anchor="t" anchorCtr="0">
              <a:spAutoFit/>
            </a:bodyPr>
            <a:lstStyle/>
            <a:p>
              <a:pPr algn="l">
                <a:lnSpc>
                  <a:spcPts val="2100"/>
                </a:lnSpc>
              </a:pPr>
              <a:r>
                <a:rPr lang="tr-TR" sz="1800" b="1" dirty="0">
                  <a:solidFill>
                    <a:srgbClr val="12355B"/>
                  </a:solidFill>
                  <a:latin typeface="+mn-lt"/>
                  <a:ea typeface="+mn-ea"/>
                  <a:cs typeface="+mn-cs"/>
                </a:rPr>
                <a:t>Skor farkını</a:t>
              </a:r>
              <a:br/>
              <a:r>
                <a:rPr lang="tr-TR" sz="1800" b="1" dirty="0">
                  <a:solidFill>
                    <a:srgbClr val="12355B"/>
                  </a:solidFill>
                  <a:latin typeface="+mn-lt"/>
                  <a:ea typeface="+mn-ea"/>
                  <a:cs typeface="+mn-cs"/>
                </a:rPr>
                <a:t>izlemek</a:t>
              </a:r>
            </a:p>
          </p:txBody>
        </p:sp>
        <p:sp>
          <p:nvSpPr>
            <p:cNvPr id="11" name="TextBox 11"/>
            <p:cNvSpPr txBox="1"/>
            <p:nvPr/>
          </p:nvSpPr>
          <p:spPr>
            <a:xfrm>
              <a:off x="832104" y="2766060"/>
              <a:ext cx="26334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Eğitim ve çapraz doğrulama</a:t>
              </a:r>
              <a:br/>
              <a:r>
                <a:rPr lang="tr-TR" sz="1200" dirty="0">
                  <a:solidFill>
                    <a:srgbClr val="172B3A"/>
                  </a:solidFill>
                  <a:latin typeface="+mn-lt"/>
                  <a:ea typeface="+mn-ea"/>
                  <a:cs typeface="+mn-cs"/>
                </a:rPr>
                <a:t>skorları arasındaki farka bakılır.</a:t>
              </a:r>
            </a:p>
          </p:txBody>
        </p:sp>
        <p:sp>
          <p:nvSpPr>
            <p:cNvPr id="12" name="Rectangle 12"/>
            <p:cNvSpPr/>
            <p:nvPr/>
          </p:nvSpPr>
          <p:spPr>
            <a:xfrm>
              <a:off x="838200" y="3143250"/>
              <a:ext cx="2895600" cy="857250"/>
            </a:xfrm>
            <a:prstGeom prst="roundRect">
              <a:avLst>
                <a:gd name="adj" fmla="val 8889"/>
              </a:avLst>
            </a:prstGeom>
            <a:solidFill>
              <a:srgbClr val="EAF4F6"/>
            </a:solidFill>
            <a:ln>
              <a:noFill/>
            </a:ln>
          </p:spPr>
        </p:sp>
        <p:sp>
          <p:nvSpPr>
            <p:cNvPr id="13" name="TextBox 13"/>
            <p:cNvSpPr txBox="1"/>
            <p:nvPr/>
          </p:nvSpPr>
          <p:spPr>
            <a:xfrm>
              <a:off x="984504" y="3280410"/>
              <a:ext cx="21981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Sızıntılı modelde eğitim ve</a:t>
              </a:r>
            </a:p>
          </p:txBody>
        </p:sp>
        <p:sp>
          <p:nvSpPr>
            <p:cNvPr id="14" name="TextBox 14"/>
            <p:cNvSpPr txBox="1"/>
            <p:nvPr/>
          </p:nvSpPr>
          <p:spPr>
            <a:xfrm>
              <a:off x="984504" y="3470910"/>
              <a:ext cx="281498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doğrulama skoru şüphe uyandıracak</a:t>
              </a:r>
            </a:p>
          </p:txBody>
        </p:sp>
        <p:sp>
          <p:nvSpPr>
            <p:cNvPr id="15" name="TextBox 15"/>
            <p:cNvSpPr txBox="1"/>
            <p:nvPr/>
          </p:nvSpPr>
          <p:spPr>
            <a:xfrm>
              <a:off x="984504" y="3661410"/>
              <a:ext cx="29684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kadar yakın ve olağandışı yüksektir.</a:t>
              </a:r>
            </a:p>
          </p:txBody>
        </p:sp>
      </p:grpSp>
      <p:sp>
        <p:nvSpPr>
          <p:cNvPr id="17" name="Line 17"/>
          <p:cNvSpPr/>
          <p:nvPr/>
        </p:nvSpPr>
        <p:spPr>
          <a:xfrm>
            <a:off x="3962400" y="2724150"/>
            <a:ext cx="457200" cy="1"/>
          </a:xfrm>
          <a:prstGeom prst="line">
            <a:avLst/>
          </a:prstGeom>
          <a:noFill/>
          <a:ln w="28575">
            <a:solidFill>
              <a:srgbClr val="00A6A6"/>
            </a:solidFill>
            <a:tailEnd type="arrow" w="lg" len="lg"/>
          </a:ln>
        </p:spPr>
      </p:sp>
      <p:grpSp>
        <p:nvGrpSpPr>
          <p:cNvPr id="26" name="step-2"/>
          <p:cNvGrpSpPr/>
          <p:nvPr/>
        </p:nvGrpSpPr>
        <p:grpSpPr>
          <a:xfrm>
            <a:off x="4642104" y="1962150"/>
            <a:ext cx="2901696" cy="2038350"/>
            <a:chOff x="4642104" y="1962150"/>
            <a:chExt cx="2901696" cy="2038350"/>
          </a:xfrm>
        </p:grpSpPr>
        <p:sp>
          <p:nvSpPr>
            <p:cNvPr id="18" name="Ellipse 18"/>
            <p:cNvSpPr/>
            <p:nvPr/>
          </p:nvSpPr>
          <p:spPr>
            <a:xfrm>
              <a:off x="4705350" y="1962150"/>
              <a:ext cx="495300" cy="495300"/>
            </a:xfrm>
            <a:prstGeom prst="ellipse">
              <a:avLst/>
            </a:prstGeom>
            <a:solidFill>
              <a:srgbClr val="12355B"/>
            </a:solidFill>
            <a:ln>
              <a:noFill/>
            </a:ln>
          </p:spPr>
        </p:sp>
        <p:sp>
          <p:nvSpPr>
            <p:cNvPr id="19" name="TextBox 19"/>
            <p:cNvSpPr txBox="1"/>
            <p:nvPr/>
          </p:nvSpPr>
          <p:spPr>
            <a:xfrm>
              <a:off x="4883582" y="2115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20" name="TextBox 20"/>
            <p:cNvSpPr txBox="1"/>
            <p:nvPr/>
          </p:nvSpPr>
          <p:spPr>
            <a:xfrm>
              <a:off x="5324856" y="1977390"/>
              <a:ext cx="1686496" cy="618744"/>
            </a:xfrm>
            <a:prstGeom prst="rect">
              <a:avLst/>
            </a:prstGeom>
            <a:noFill/>
            <a:ln>
              <a:noFill/>
            </a:ln>
          </p:spPr>
          <p:txBody>
            <a:bodyPr wrap="none" lIns="0" tIns="0" rIns="0" bIns="0" anchor="t" anchorCtr="0">
              <a:spAutoFit/>
            </a:bodyPr>
            <a:lstStyle/>
            <a:p>
              <a:pPr algn="l">
                <a:lnSpc>
                  <a:spcPts val="2100"/>
                </a:lnSpc>
              </a:pPr>
              <a:r>
                <a:rPr lang="tr-TR" sz="1800" b="1" dirty="0">
                  <a:solidFill>
                    <a:srgbClr val="12355B"/>
                  </a:solidFill>
                  <a:latin typeface="+mn-lt"/>
                  <a:ea typeface="+mn-ea"/>
                  <a:cs typeface="+mn-cs"/>
                </a:rPr>
                <a:t>Özellik önemini</a:t>
              </a:r>
              <a:br/>
              <a:r>
                <a:rPr lang="tr-TR" sz="1800" b="1" dirty="0">
                  <a:solidFill>
                    <a:srgbClr val="12355B"/>
                  </a:solidFill>
                  <a:latin typeface="+mn-lt"/>
                  <a:ea typeface="+mn-ea"/>
                  <a:cs typeface="+mn-cs"/>
                </a:rPr>
                <a:t>denetlemek</a:t>
              </a:r>
            </a:p>
          </p:txBody>
        </p:sp>
        <p:sp>
          <p:nvSpPr>
            <p:cNvPr id="21" name="TextBox 21"/>
            <p:cNvSpPr txBox="1"/>
            <p:nvPr/>
          </p:nvSpPr>
          <p:spPr>
            <a:xfrm>
              <a:off x="4642104" y="2766060"/>
              <a:ext cx="25572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feature_importance sıralamasına</a:t>
              </a:r>
              <a:br/>
              <a:r>
                <a:rPr lang="tr-TR" sz="1200" dirty="0">
                  <a:solidFill>
                    <a:srgbClr val="172B3A"/>
                  </a:solidFill>
                  <a:latin typeface="+mn-lt"/>
                  <a:ea typeface="+mn-ea"/>
                  <a:cs typeface="+mn-cs"/>
                </a:rPr>
                <a:t>bakılır.</a:t>
              </a:r>
            </a:p>
          </p:txBody>
        </p:sp>
        <p:sp>
          <p:nvSpPr>
            <p:cNvPr id="22" name="Rectangle 22"/>
            <p:cNvSpPr/>
            <p:nvPr/>
          </p:nvSpPr>
          <p:spPr>
            <a:xfrm>
              <a:off x="4648200" y="3143250"/>
              <a:ext cx="2895600" cy="857250"/>
            </a:xfrm>
            <a:prstGeom prst="roundRect">
              <a:avLst>
                <a:gd name="adj" fmla="val 8889"/>
              </a:avLst>
            </a:prstGeom>
            <a:solidFill>
              <a:srgbClr val="EAF4F6"/>
            </a:solidFill>
            <a:ln>
              <a:noFill/>
            </a:ln>
          </p:spPr>
        </p:sp>
        <p:sp>
          <p:nvSpPr>
            <p:cNvPr id="23" name="TextBox 23"/>
            <p:cNvSpPr txBox="1"/>
            <p:nvPr/>
          </p:nvSpPr>
          <p:spPr>
            <a:xfrm>
              <a:off x="4794504" y="3280410"/>
              <a:ext cx="23269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Tek bir özelliğin diğerlerinden</a:t>
              </a:r>
            </a:p>
          </p:txBody>
        </p:sp>
        <p:sp>
          <p:nvSpPr>
            <p:cNvPr id="24" name="TextBox 24"/>
            <p:cNvSpPr txBox="1"/>
            <p:nvPr/>
          </p:nvSpPr>
          <p:spPr>
            <a:xfrm>
              <a:off x="4794504" y="3470910"/>
              <a:ext cx="24515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kopuk biçimde baskın çıkması,</a:t>
              </a:r>
            </a:p>
          </p:txBody>
        </p:sp>
        <p:sp>
          <p:nvSpPr>
            <p:cNvPr id="25" name="TextBox 25"/>
            <p:cNvSpPr txBox="1"/>
            <p:nvPr/>
          </p:nvSpPr>
          <p:spPr>
            <a:xfrm>
              <a:off x="4794504" y="3661410"/>
              <a:ext cx="24111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hedefle ilişkili olma işaretidir.</a:t>
              </a:r>
            </a:p>
          </p:txBody>
        </p:sp>
      </p:grpSp>
      <p:sp>
        <p:nvSpPr>
          <p:cNvPr id="27" name="Line 27"/>
          <p:cNvSpPr/>
          <p:nvPr/>
        </p:nvSpPr>
        <p:spPr>
          <a:xfrm>
            <a:off x="7772400" y="2724150"/>
            <a:ext cx="457200" cy="1"/>
          </a:xfrm>
          <a:prstGeom prst="line">
            <a:avLst/>
          </a:prstGeom>
          <a:noFill/>
          <a:ln w="28575">
            <a:solidFill>
              <a:srgbClr val="00A6A6"/>
            </a:solidFill>
            <a:tailEnd type="arrow" w="lg" len="lg"/>
          </a:ln>
        </p:spPr>
      </p:sp>
      <p:grpSp>
        <p:nvGrpSpPr>
          <p:cNvPr id="36" name="step-3"/>
          <p:cNvGrpSpPr/>
          <p:nvPr/>
        </p:nvGrpSpPr>
        <p:grpSpPr>
          <a:xfrm>
            <a:off x="8452104" y="1962150"/>
            <a:ext cx="3007766" cy="2038350"/>
            <a:chOff x="8452104" y="1962150"/>
            <a:chExt cx="3007766" cy="2038350"/>
          </a:xfrm>
        </p:grpSpPr>
        <p:sp>
          <p:nvSpPr>
            <p:cNvPr id="28" name="Ellipse 28"/>
            <p:cNvSpPr/>
            <p:nvPr/>
          </p:nvSpPr>
          <p:spPr>
            <a:xfrm>
              <a:off x="8515350" y="1962150"/>
              <a:ext cx="495300" cy="495300"/>
            </a:xfrm>
            <a:prstGeom prst="ellipse">
              <a:avLst/>
            </a:prstGeom>
            <a:solidFill>
              <a:srgbClr val="12355B"/>
            </a:solidFill>
            <a:ln>
              <a:noFill/>
            </a:ln>
          </p:spPr>
        </p:sp>
        <p:sp>
          <p:nvSpPr>
            <p:cNvPr id="29" name="TextBox 29"/>
            <p:cNvSpPr txBox="1"/>
            <p:nvPr/>
          </p:nvSpPr>
          <p:spPr>
            <a:xfrm>
              <a:off x="8693582" y="21159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30" name="TextBox 30"/>
            <p:cNvSpPr txBox="1"/>
            <p:nvPr/>
          </p:nvSpPr>
          <p:spPr>
            <a:xfrm>
              <a:off x="9134856" y="1977390"/>
              <a:ext cx="1686496" cy="618744"/>
            </a:xfrm>
            <a:prstGeom prst="rect">
              <a:avLst/>
            </a:prstGeom>
            <a:noFill/>
            <a:ln>
              <a:noFill/>
            </a:ln>
          </p:spPr>
          <p:txBody>
            <a:bodyPr wrap="none" lIns="0" tIns="0" rIns="0" bIns="0" anchor="t" anchorCtr="0">
              <a:spAutoFit/>
            </a:bodyPr>
            <a:lstStyle/>
            <a:p>
              <a:pPr algn="l">
                <a:lnSpc>
                  <a:spcPts val="2100"/>
                </a:lnSpc>
              </a:pPr>
              <a:r>
                <a:rPr lang="tr-TR" sz="1800" b="1" dirty="0">
                  <a:solidFill>
                    <a:srgbClr val="12355B"/>
                  </a:solidFill>
                  <a:latin typeface="+mn-lt"/>
                  <a:ea typeface="+mn-ea"/>
                  <a:cs typeface="+mn-cs"/>
                </a:rPr>
                <a:t>Şüpheli sütunu</a:t>
              </a:r>
              <a:br/>
              <a:r>
                <a:rPr lang="tr-TR" sz="1800" b="1" dirty="0">
                  <a:solidFill>
                    <a:srgbClr val="12355B"/>
                  </a:solidFill>
                  <a:latin typeface="+mn-lt"/>
                  <a:ea typeface="+mn-ea"/>
                  <a:cs typeface="+mn-cs"/>
                </a:rPr>
                <a:t>çıkarmak</a:t>
              </a:r>
            </a:p>
          </p:txBody>
        </p:sp>
        <p:sp>
          <p:nvSpPr>
            <p:cNvPr id="31" name="TextBox 31"/>
            <p:cNvSpPr txBox="1"/>
            <p:nvPr/>
          </p:nvSpPr>
          <p:spPr>
            <a:xfrm>
              <a:off x="8452104" y="2766060"/>
              <a:ext cx="2115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Özellik modelden çıkarılıp</a:t>
              </a:r>
              <a:br/>
              <a:r>
                <a:rPr lang="tr-TR" sz="1200" dirty="0">
                  <a:solidFill>
                    <a:srgbClr val="172B3A"/>
                  </a:solidFill>
                  <a:latin typeface="+mn-lt"/>
                  <a:ea typeface="+mn-ea"/>
                  <a:cs typeface="+mn-cs"/>
                </a:rPr>
                <a:t>performans yeniden ölçülür.</a:t>
              </a:r>
            </a:p>
          </p:txBody>
        </p:sp>
        <p:sp>
          <p:nvSpPr>
            <p:cNvPr id="32" name="Rectangle 32"/>
            <p:cNvSpPr/>
            <p:nvPr/>
          </p:nvSpPr>
          <p:spPr>
            <a:xfrm>
              <a:off x="8458200" y="3143250"/>
              <a:ext cx="2895600" cy="857250"/>
            </a:xfrm>
            <a:prstGeom prst="roundRect">
              <a:avLst>
                <a:gd name="adj" fmla="val 8889"/>
              </a:avLst>
            </a:prstGeom>
            <a:solidFill>
              <a:srgbClr val="EAF4F6"/>
            </a:solidFill>
            <a:ln>
              <a:noFill/>
            </a:ln>
          </p:spPr>
        </p:sp>
        <p:sp>
          <p:nvSpPr>
            <p:cNvPr id="33" name="TextBox 33"/>
            <p:cNvSpPr txBox="1"/>
            <p:nvPr/>
          </p:nvSpPr>
          <p:spPr>
            <a:xfrm>
              <a:off x="8604504" y="3280410"/>
              <a:ext cx="25056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Performans sert düşüyorsa, bu</a:t>
              </a:r>
            </a:p>
          </p:txBody>
        </p:sp>
        <p:sp>
          <p:nvSpPr>
            <p:cNvPr id="34" name="TextBox 34"/>
            <p:cNvSpPr txBox="1"/>
            <p:nvPr/>
          </p:nvSpPr>
          <p:spPr>
            <a:xfrm>
              <a:off x="8604504" y="3470910"/>
              <a:ext cx="244342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özelliğin gerçek sinyal mi yoksa</a:t>
              </a:r>
            </a:p>
          </p:txBody>
        </p:sp>
        <p:sp>
          <p:nvSpPr>
            <p:cNvPr id="35" name="TextBox 35"/>
            <p:cNvSpPr txBox="1"/>
            <p:nvPr/>
          </p:nvSpPr>
          <p:spPr>
            <a:xfrm>
              <a:off x="8604504" y="3661410"/>
              <a:ext cx="28553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sızıntı mı olduğu doğrulanmalıdır.</a:t>
              </a:r>
            </a:p>
          </p:txBody>
        </p:sp>
      </p:grpSp>
      <p:grpSp>
        <p:nvGrpSpPr>
          <p:cNvPr id="40" name="closing-note"/>
          <p:cNvGrpSpPr/>
          <p:nvPr/>
        </p:nvGrpSpPr>
        <p:grpSpPr>
          <a:xfrm>
            <a:off x="609600" y="5753100"/>
            <a:ext cx="10972800" cy="628650"/>
            <a:chOff x="609600" y="5753100"/>
            <a:chExt cx="10972800" cy="628650"/>
          </a:xfrm>
        </p:grpSpPr>
        <p:sp>
          <p:nvSpPr>
            <p:cNvPr id="37" name="Rectangle 37"/>
            <p:cNvSpPr/>
            <p:nvPr/>
          </p:nvSpPr>
          <p:spPr>
            <a:xfrm>
              <a:off x="609600" y="5753100"/>
              <a:ext cx="10972800" cy="628650"/>
            </a:xfrm>
            <a:prstGeom prst="roundRect">
              <a:avLst>
                <a:gd name="adj" fmla="val 12121"/>
              </a:avLst>
            </a:prstGeom>
            <a:solidFill>
              <a:srgbClr val="EAF4F6"/>
            </a:solidFill>
            <a:ln>
              <a:noFill/>
            </a:ln>
          </p:spPr>
        </p:sp>
        <p:sp>
          <p:nvSpPr>
            <p:cNvPr id="38" name="TextBox 38"/>
            <p:cNvSpPr txBox="1"/>
            <p:nvPr/>
          </p:nvSpPr>
          <p:spPr>
            <a:xfrm>
              <a:off x="908304" y="5890260"/>
              <a:ext cx="641508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Bu üç adım — skor farkı, özellik önemi ve şüpheli sütun çıkarma — sızıntının kök</a:t>
              </a:r>
            </a:p>
          </p:txBody>
        </p:sp>
        <p:sp>
          <p:nvSpPr>
            <p:cNvPr id="39" name="TextBox 39"/>
            <p:cNvSpPr txBox="1"/>
            <p:nvPr/>
          </p:nvSpPr>
          <p:spPr>
            <a:xfrm>
              <a:off x="908304" y="6099810"/>
              <a:ext cx="65789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nedenini sistematik biçimde ortaya çıkarır; iş uzmanıyla birlikte doğrulanmalıdır.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615333" cy="668845"/>
            <a:chOff x="609600" y="171450"/>
            <a:chExt cx="861533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92496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 ChurnDebug</a:t>
              </a:r>
            </a:p>
          </p:txBody>
        </p:sp>
      </p:grpSp>
      <p:grpSp>
        <p:nvGrpSpPr>
          <p:cNvPr id="24" name="code-panel"/>
          <p:cNvGrpSpPr/>
          <p:nvPr/>
        </p:nvGrpSpPr>
        <p:grpSpPr>
          <a:xfrm>
            <a:off x="609600" y="1257300"/>
            <a:ext cx="5334000" cy="4381500"/>
            <a:chOff x="609600" y="1257300"/>
            <a:chExt cx="5334000" cy="4381500"/>
          </a:xfrm>
        </p:grpSpPr>
        <p:sp>
          <p:nvSpPr>
            <p:cNvPr id="12" name="Rectangle 12"/>
            <p:cNvSpPr/>
            <p:nvPr/>
          </p:nvSpPr>
          <p:spPr>
            <a:xfrm>
              <a:off x="609600" y="1257300"/>
              <a:ext cx="5334000" cy="4381500"/>
            </a:xfrm>
            <a:prstGeom prst="roundRect">
              <a:avLst>
                <a:gd name="adj" fmla="val 2174"/>
              </a:avLst>
            </a:prstGeom>
            <a:solidFill>
              <a:srgbClr val="12355B"/>
            </a:solidFill>
            <a:ln>
              <a:noFill/>
            </a:ln>
          </p:spPr>
        </p:sp>
        <p:sp>
          <p:nvSpPr>
            <p:cNvPr id="13" name="TextBox 13"/>
            <p:cNvSpPr txBox="1"/>
            <p:nvPr/>
          </p:nvSpPr>
          <p:spPr>
            <a:xfrm>
              <a:off x="832104" y="1432560"/>
              <a:ext cx="1040160"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HATALI KOD</a:t>
              </a:r>
            </a:p>
          </p:txBody>
        </p:sp>
        <p:sp>
          <p:nvSpPr>
            <p:cNvPr id="14" name="TextBox 14"/>
            <p:cNvSpPr txBox="1"/>
            <p:nvPr/>
          </p:nvSpPr>
          <p:spPr>
            <a:xfrm>
              <a:off x="832104" y="1775460"/>
              <a:ext cx="271359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dengeli_x, dengeli_y = SMOTE()</a:t>
              </a:r>
            </a:p>
          </p:txBody>
        </p:sp>
        <p:sp>
          <p:nvSpPr>
            <p:cNvPr id="15" name="TextBox 15"/>
            <p:cNvSpPr txBox="1"/>
            <p:nvPr/>
          </p:nvSpPr>
          <p:spPr>
            <a:xfrm>
              <a:off x="832104" y="1985010"/>
              <a:ext cx="285536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.fit_resample(ozellikler, hedef)</a:t>
              </a:r>
            </a:p>
          </p:txBody>
        </p:sp>
        <p:sp>
          <p:nvSpPr>
            <p:cNvPr id="16" name="TextBox 16"/>
            <p:cNvSpPr txBox="1"/>
            <p:nvPr/>
          </p:nvSpPr>
          <p:spPr>
            <a:xfrm>
              <a:off x="832104" y="2289810"/>
              <a:ext cx="3210763"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egitim_x, test_x, egitim_y, test_y =</a:t>
              </a:r>
            </a:p>
          </p:txBody>
        </p:sp>
        <p:sp>
          <p:nvSpPr>
            <p:cNvPr id="17" name="TextBox 17"/>
            <p:cNvSpPr txBox="1"/>
            <p:nvPr/>
          </p:nvSpPr>
          <p:spPr>
            <a:xfrm>
              <a:off x="832104" y="2499360"/>
              <a:ext cx="3388462"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train_test_split(dengeli_x, dengeli_y,</a:t>
              </a:r>
            </a:p>
          </p:txBody>
        </p:sp>
        <p:sp>
          <p:nvSpPr>
            <p:cNvPr id="18" name="TextBox 18"/>
            <p:cNvSpPr txBox="1"/>
            <p:nvPr/>
          </p:nvSpPr>
          <p:spPr>
            <a:xfrm>
              <a:off x="832104" y="2708910"/>
              <a:ext cx="125608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test_size=0.3)</a:t>
              </a:r>
            </a:p>
          </p:txBody>
        </p:sp>
        <p:sp>
          <p:nvSpPr>
            <p:cNvPr id="19" name="TextBox 19"/>
            <p:cNvSpPr txBox="1"/>
            <p:nvPr/>
          </p:nvSpPr>
          <p:spPr>
            <a:xfrm>
              <a:off x="832104" y="3013710"/>
              <a:ext cx="251221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model = LogisticRegression()</a:t>
              </a:r>
            </a:p>
          </p:txBody>
        </p:sp>
        <p:sp>
          <p:nvSpPr>
            <p:cNvPr id="20" name="TextBox 20"/>
            <p:cNvSpPr txBox="1"/>
            <p:nvPr/>
          </p:nvSpPr>
          <p:spPr>
            <a:xfrm>
              <a:off x="832104" y="3223260"/>
              <a:ext cx="178917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.fit(test_x, test_y)</a:t>
              </a:r>
            </a:p>
          </p:txBody>
        </p:sp>
        <p:sp>
          <p:nvSpPr>
            <p:cNvPr id="21" name="TextBox 21"/>
            <p:cNvSpPr txBox="1"/>
            <p:nvPr/>
          </p:nvSpPr>
          <p:spPr>
            <a:xfrm>
              <a:off x="832104" y="3528060"/>
              <a:ext cx="3033065"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print(model.score(test_x, test_y))</a:t>
              </a:r>
            </a:p>
          </p:txBody>
        </p:sp>
        <p:sp>
          <p:nvSpPr>
            <p:cNvPr id="22" name="TextBox 22"/>
            <p:cNvSpPr txBox="1"/>
            <p:nvPr/>
          </p:nvSpPr>
          <p:spPr>
            <a:xfrm>
              <a:off x="832104" y="4061460"/>
              <a:ext cx="2780179"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Bu sürüm görünürde çalışır; ancak</a:t>
              </a:r>
            </a:p>
          </p:txBody>
        </p:sp>
        <p:sp>
          <p:nvSpPr>
            <p:cNvPr id="23" name="TextBox 23"/>
            <p:cNvSpPr txBox="1"/>
            <p:nvPr/>
          </p:nvSpPr>
          <p:spPr>
            <a:xfrm>
              <a:off x="832104" y="4251960"/>
              <a:ext cx="2225345" cy="234696"/>
            </a:xfrm>
            <a:prstGeom prst="rect">
              <a:avLst/>
            </a:prstGeom>
            <a:noFill/>
            <a:ln>
              <a:noFill/>
            </a:ln>
          </p:spPr>
          <p:txBody>
            <a:bodyPr wrap="none" lIns="0" tIns="0" rIns="0" bIns="0" anchor="t" anchorCtr="0">
              <a:spAutoFit/>
            </a:bodyPr>
            <a:lstStyle/>
            <a:p>
              <a:pPr algn="l"/>
              <a:r>
                <a:rPr lang="tr-TR" sz="1200" dirty="0">
                  <a:solidFill>
                    <a:srgbClr val="B8CBD3"/>
                  </a:solidFill>
                  <a:latin typeface="+mn-lt"/>
                  <a:ea typeface="+mn-ea"/>
                  <a:cs typeface="+mn-cs"/>
                </a:rPr>
                <a:t>sonuçları güvenilir değildir.</a:t>
              </a:r>
            </a:p>
          </p:txBody>
        </p:sp>
      </p:grpSp>
      <p:grpSp>
        <p:nvGrpSpPr>
          <p:cNvPr id="46" name="error-list"/>
          <p:cNvGrpSpPr/>
          <p:nvPr/>
        </p:nvGrpSpPr>
        <p:grpSpPr>
          <a:xfrm>
            <a:off x="6239256" y="1329690"/>
            <a:ext cx="4238525" cy="3328416"/>
            <a:chOff x="6239256" y="1329690"/>
            <a:chExt cx="4238525" cy="3328416"/>
          </a:xfrm>
        </p:grpSpPr>
        <p:sp>
          <p:nvSpPr>
            <p:cNvPr id="25" name="TextBox 25"/>
            <p:cNvSpPr txBox="1"/>
            <p:nvPr/>
          </p:nvSpPr>
          <p:spPr>
            <a:xfrm>
              <a:off x="6239256" y="1329690"/>
              <a:ext cx="17189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Beş hata türü</a:t>
              </a:r>
            </a:p>
          </p:txBody>
        </p:sp>
        <p:grpSp>
          <p:nvGrpSpPr>
            <p:cNvPr id="29" name="err-1"/>
            <p:cNvGrpSpPr/>
            <p:nvPr/>
          </p:nvGrpSpPr>
          <p:grpSpPr>
            <a:xfrm>
              <a:off x="6248400" y="1714500"/>
              <a:ext cx="4229381" cy="505206"/>
              <a:chOff x="6248400" y="1714500"/>
              <a:chExt cx="4229381" cy="505206"/>
            </a:xfrm>
          </p:grpSpPr>
          <p:sp>
            <p:nvSpPr>
              <p:cNvPr id="26" name="Rectangle 26"/>
              <p:cNvSpPr/>
              <p:nvPr/>
            </p:nvSpPr>
            <p:spPr>
              <a:xfrm>
                <a:off x="6248400" y="1714500"/>
                <a:ext cx="76200" cy="495300"/>
              </a:xfrm>
              <a:prstGeom prst="rect">
                <a:avLst/>
              </a:prstGeom>
              <a:solidFill>
                <a:srgbClr val="00A6A6"/>
              </a:solidFill>
              <a:ln>
                <a:noFill/>
              </a:ln>
            </p:spPr>
          </p:sp>
          <p:sp>
            <p:nvSpPr>
              <p:cNvPr id="27" name="TextBox 27"/>
              <p:cNvSpPr txBox="1"/>
              <p:nvPr/>
            </p:nvSpPr>
            <p:spPr>
              <a:xfrm>
                <a:off x="6470904" y="1775460"/>
                <a:ext cx="146077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 Mantık hatası</a:t>
                </a:r>
              </a:p>
            </p:txBody>
          </p:sp>
          <p:sp>
            <p:nvSpPr>
              <p:cNvPr id="28" name="TextBox 28"/>
              <p:cNvSpPr txBox="1"/>
              <p:nvPr/>
            </p:nvSpPr>
            <p:spPr>
              <a:xfrm>
                <a:off x="6470904" y="1985010"/>
                <a:ext cx="40068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SMOTE, eğitim/test ayrımından önce uygulanmış.</a:t>
                </a:r>
              </a:p>
            </p:txBody>
          </p:sp>
        </p:grpSp>
        <p:grpSp>
          <p:nvGrpSpPr>
            <p:cNvPr id="33" name="err-2"/>
            <p:cNvGrpSpPr/>
            <p:nvPr/>
          </p:nvGrpSpPr>
          <p:grpSpPr>
            <a:xfrm>
              <a:off x="6248400" y="2324100"/>
              <a:ext cx="3196180" cy="505206"/>
              <a:chOff x="6248400" y="2324100"/>
              <a:chExt cx="3196180" cy="505206"/>
            </a:xfrm>
          </p:grpSpPr>
          <p:sp>
            <p:nvSpPr>
              <p:cNvPr id="30" name="Rectangle 30"/>
              <p:cNvSpPr/>
              <p:nvPr/>
            </p:nvSpPr>
            <p:spPr>
              <a:xfrm>
                <a:off x="6248400" y="2324100"/>
                <a:ext cx="76200" cy="495300"/>
              </a:xfrm>
              <a:prstGeom prst="rect">
                <a:avLst/>
              </a:prstGeom>
              <a:solidFill>
                <a:srgbClr val="00A6A6"/>
              </a:solidFill>
              <a:ln>
                <a:noFill/>
              </a:ln>
            </p:spPr>
          </p:sp>
          <p:sp>
            <p:nvSpPr>
              <p:cNvPr id="31" name="TextBox 31"/>
              <p:cNvSpPr txBox="1"/>
              <p:nvPr/>
            </p:nvSpPr>
            <p:spPr>
              <a:xfrm>
                <a:off x="6470904" y="2385060"/>
                <a:ext cx="146077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Mantık hatası</a:t>
                </a:r>
              </a:p>
            </p:txBody>
          </p:sp>
          <p:sp>
            <p:nvSpPr>
              <p:cNvPr id="32" name="TextBox 32"/>
              <p:cNvSpPr txBox="1"/>
              <p:nvPr/>
            </p:nvSpPr>
            <p:spPr>
              <a:xfrm>
                <a:off x="6470904" y="2594610"/>
                <a:ext cx="297367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 test verisi üzerinde eğitilmiş.</a:t>
                </a:r>
              </a:p>
            </p:txBody>
          </p:sp>
        </p:grpSp>
        <p:grpSp>
          <p:nvGrpSpPr>
            <p:cNvPr id="37" name="err-3"/>
            <p:cNvGrpSpPr/>
            <p:nvPr/>
          </p:nvGrpSpPr>
          <p:grpSpPr>
            <a:xfrm>
              <a:off x="6248400" y="2933700"/>
              <a:ext cx="2735783" cy="505206"/>
              <a:chOff x="6248400" y="2933700"/>
              <a:chExt cx="2735783" cy="505206"/>
            </a:xfrm>
          </p:grpSpPr>
          <p:sp>
            <p:nvSpPr>
              <p:cNvPr id="34" name="Rectangle 34"/>
              <p:cNvSpPr/>
              <p:nvPr/>
            </p:nvSpPr>
            <p:spPr>
              <a:xfrm>
                <a:off x="6248400" y="2933700"/>
                <a:ext cx="76200" cy="495300"/>
              </a:xfrm>
              <a:prstGeom prst="rect">
                <a:avLst/>
              </a:prstGeom>
              <a:solidFill>
                <a:srgbClr val="00A6A6"/>
              </a:solidFill>
              <a:ln>
                <a:noFill/>
              </a:ln>
            </p:spPr>
          </p:sp>
          <p:sp>
            <p:nvSpPr>
              <p:cNvPr id="35" name="TextBox 35"/>
              <p:cNvSpPr txBox="1"/>
              <p:nvPr/>
            </p:nvSpPr>
            <p:spPr>
              <a:xfrm>
                <a:off x="6470904" y="2994660"/>
                <a:ext cx="202819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3. Değerlendirme hatası</a:t>
                </a:r>
              </a:p>
            </p:txBody>
          </p:sp>
          <p:sp>
            <p:nvSpPr>
              <p:cNvPr id="36" name="TextBox 36"/>
              <p:cNvSpPr txBox="1"/>
              <p:nvPr/>
            </p:nvSpPr>
            <p:spPr>
              <a:xfrm>
                <a:off x="6470904" y="3204210"/>
                <a:ext cx="251327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Yalnızca doğruluk raporlanmış.</a:t>
                </a:r>
              </a:p>
            </p:txBody>
          </p:sp>
        </p:grpSp>
        <p:grpSp>
          <p:nvGrpSpPr>
            <p:cNvPr id="41" name="err-4"/>
            <p:cNvGrpSpPr/>
            <p:nvPr/>
          </p:nvGrpSpPr>
          <p:grpSpPr>
            <a:xfrm>
              <a:off x="6248400" y="3543300"/>
              <a:ext cx="2801346" cy="505206"/>
              <a:chOff x="6248400" y="3543300"/>
              <a:chExt cx="2801346" cy="505206"/>
            </a:xfrm>
          </p:grpSpPr>
          <p:sp>
            <p:nvSpPr>
              <p:cNvPr id="38" name="Rectangle 38"/>
              <p:cNvSpPr/>
              <p:nvPr/>
            </p:nvSpPr>
            <p:spPr>
              <a:xfrm>
                <a:off x="6248400" y="3543300"/>
                <a:ext cx="76200" cy="495300"/>
              </a:xfrm>
              <a:prstGeom prst="rect">
                <a:avLst/>
              </a:prstGeom>
              <a:solidFill>
                <a:srgbClr val="00A6A6"/>
              </a:solidFill>
              <a:ln>
                <a:noFill/>
              </a:ln>
            </p:spPr>
          </p:sp>
          <p:sp>
            <p:nvSpPr>
              <p:cNvPr id="39" name="TextBox 39"/>
              <p:cNvSpPr txBox="1"/>
              <p:nvPr/>
            </p:nvSpPr>
            <p:spPr>
              <a:xfrm>
                <a:off x="6470904" y="3604260"/>
                <a:ext cx="257884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 Tekrar üretilebilirlik hatası</a:t>
                </a:r>
              </a:p>
            </p:txBody>
          </p:sp>
          <p:sp>
            <p:nvSpPr>
              <p:cNvPr id="40" name="TextBox 40"/>
              <p:cNvSpPr txBox="1"/>
              <p:nvPr/>
            </p:nvSpPr>
            <p:spPr>
              <a:xfrm>
                <a:off x="6470904" y="3813810"/>
                <a:ext cx="226573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random_state belirtilmemiş.</a:t>
                </a:r>
              </a:p>
            </p:txBody>
          </p:sp>
        </p:grpSp>
        <p:grpSp>
          <p:nvGrpSpPr>
            <p:cNvPr id="45" name="err-5"/>
            <p:cNvGrpSpPr/>
            <p:nvPr/>
          </p:nvGrpSpPr>
          <p:grpSpPr>
            <a:xfrm>
              <a:off x="6248400" y="4152900"/>
              <a:ext cx="2808438" cy="505206"/>
              <a:chOff x="6248400" y="4152900"/>
              <a:chExt cx="2808438" cy="505206"/>
            </a:xfrm>
          </p:grpSpPr>
          <p:sp>
            <p:nvSpPr>
              <p:cNvPr id="42" name="Rectangle 42"/>
              <p:cNvSpPr/>
              <p:nvPr/>
            </p:nvSpPr>
            <p:spPr>
              <a:xfrm>
                <a:off x="6248400" y="4152900"/>
                <a:ext cx="76200" cy="495300"/>
              </a:xfrm>
              <a:prstGeom prst="rect">
                <a:avLst/>
              </a:prstGeom>
              <a:solidFill>
                <a:srgbClr val="00A6A6"/>
              </a:solidFill>
              <a:ln>
                <a:noFill/>
              </a:ln>
            </p:spPr>
          </p:sp>
          <p:sp>
            <p:nvSpPr>
              <p:cNvPr id="43" name="TextBox 43"/>
              <p:cNvSpPr txBox="1"/>
              <p:nvPr/>
            </p:nvSpPr>
            <p:spPr>
              <a:xfrm>
                <a:off x="6470904" y="4213860"/>
                <a:ext cx="17651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5. İstatistiksel hata</a:t>
                </a:r>
              </a:p>
            </p:txBody>
          </p:sp>
          <p:sp>
            <p:nvSpPr>
              <p:cNvPr id="44" name="TextBox 44"/>
              <p:cNvSpPr txBox="1"/>
              <p:nvPr/>
            </p:nvSpPr>
            <p:spPr>
              <a:xfrm>
                <a:off x="6470904" y="4423410"/>
                <a:ext cx="258593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Bölmede stratify kullanılmamış.</a:t>
                </a:r>
              </a:p>
            </p:txBody>
          </p:sp>
        </p:grpSp>
      </p:grpSp>
      <p:grpSp>
        <p:nvGrpSpPr>
          <p:cNvPr id="50" name="fix-note"/>
          <p:cNvGrpSpPr/>
          <p:nvPr/>
        </p:nvGrpSpPr>
        <p:grpSpPr>
          <a:xfrm>
            <a:off x="6248400" y="4876800"/>
            <a:ext cx="5334000" cy="952500"/>
            <a:chOff x="6248400" y="4876800"/>
            <a:chExt cx="5334000" cy="952500"/>
          </a:xfrm>
        </p:grpSpPr>
        <p:sp>
          <p:nvSpPr>
            <p:cNvPr id="47" name="Rectangle 47"/>
            <p:cNvSpPr/>
            <p:nvPr/>
          </p:nvSpPr>
          <p:spPr>
            <a:xfrm>
              <a:off x="6248400" y="4876800"/>
              <a:ext cx="5334000" cy="952500"/>
            </a:xfrm>
            <a:prstGeom prst="roundRect">
              <a:avLst>
                <a:gd name="adj" fmla="val 8000"/>
              </a:avLst>
            </a:prstGeom>
            <a:solidFill>
              <a:srgbClr val="EAF4F6"/>
            </a:solidFill>
            <a:ln>
              <a:noFill/>
            </a:ln>
          </p:spPr>
        </p:sp>
        <p:sp>
          <p:nvSpPr>
            <p:cNvPr id="48" name="TextBox 48"/>
            <p:cNvSpPr txBox="1"/>
            <p:nvPr/>
          </p:nvSpPr>
          <p:spPr>
            <a:xfrm>
              <a:off x="6468999" y="5030629"/>
              <a:ext cx="99438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Düzeltme</a:t>
              </a:r>
            </a:p>
          </p:txBody>
        </p:sp>
        <p:sp>
          <p:nvSpPr>
            <p:cNvPr id="49" name="TextBox 49"/>
            <p:cNvSpPr txBox="1"/>
            <p:nvPr/>
          </p:nvSpPr>
          <p:spPr>
            <a:xfrm>
              <a:off x="6470904" y="5356860"/>
              <a:ext cx="35326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stratify+random_state ile bölüp SMOTE'u</a:t>
              </a:r>
              <a:br/>
              <a:r>
                <a:rPr lang="tr-TR" sz="1200" dirty="0">
                  <a:solidFill>
                    <a:srgbClr val="172B3A"/>
                  </a:solidFill>
                  <a:latin typeface="+mn-lt"/>
                  <a:ea typeface="+mn-ea"/>
                  <a:cs typeface="+mn-cs"/>
                </a:rPr>
                <a:t>yalnız eğitimde uygulamak; PR-AUC raporlamak.</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102073" cy="557403"/>
            <a:chOff x="595122" y="282892"/>
            <a:chExt cx="6102073" cy="557403"/>
          </a:xfrm>
        </p:grpSpPr>
        <p:sp>
          <p:nvSpPr>
            <p:cNvPr id="4" name="TextBox 4"/>
            <p:cNvSpPr txBox="1"/>
            <p:nvPr/>
          </p:nvSpPr>
          <p:spPr>
            <a:xfrm>
              <a:off x="595122" y="282892"/>
              <a:ext cx="61020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MusteriKaybiAnalizi</a:t>
              </a:r>
            </a:p>
          </p:txBody>
        </p:sp>
      </p:grpSp>
      <p:grpSp>
        <p:nvGrpSpPr>
          <p:cNvPr id="17" name="method-flow"/>
          <p:cNvGrpSpPr/>
          <p:nvPr/>
        </p:nvGrpSpPr>
        <p:grpSpPr>
          <a:xfrm>
            <a:off x="609600" y="1428750"/>
            <a:ext cx="10972800" cy="857250"/>
            <a:chOff x="609600" y="1428750"/>
            <a:chExt cx="10972800" cy="857250"/>
          </a:xfrm>
        </p:grpSpPr>
        <p:sp>
          <p:nvSpPr>
            <p:cNvPr id="6" name="Rectangle 6"/>
            <p:cNvSpPr/>
            <p:nvPr/>
          </p:nvSpPr>
          <p:spPr>
            <a:xfrm>
              <a:off x="609600" y="1428750"/>
              <a:ext cx="3352800" cy="857250"/>
            </a:xfrm>
            <a:prstGeom prst="roundRect">
              <a:avLst>
                <a:gd name="adj" fmla="val 11111"/>
              </a:avLst>
            </a:prstGeom>
            <a:solidFill>
              <a:srgbClr val="FFFFFF"/>
            </a:solidFill>
            <a:ln w="14288">
              <a:solidFill>
                <a:srgbClr val="2E86AB"/>
              </a:solidFill>
            </a:ln>
          </p:spPr>
        </p:sp>
        <p:sp>
          <p:nvSpPr>
            <p:cNvPr id="7" name="TextBox 7"/>
            <p:cNvSpPr txBox="1"/>
            <p:nvPr/>
          </p:nvSpPr>
          <p:spPr>
            <a:xfrm>
              <a:off x="1596829" y="1601629"/>
              <a:ext cx="1378343"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veri_olustur</a:t>
              </a:r>
            </a:p>
          </p:txBody>
        </p:sp>
        <p:sp>
          <p:nvSpPr>
            <p:cNvPr id="8" name="TextBox 8"/>
            <p:cNvSpPr txBox="1"/>
            <p:nvPr/>
          </p:nvSpPr>
          <p:spPr>
            <a:xfrm>
              <a:off x="997906" y="1905952"/>
              <a:ext cx="257618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churn verisini yükler, özellik çıkarır</a:t>
              </a:r>
            </a:p>
          </p:txBody>
        </p:sp>
        <p:sp>
          <p:nvSpPr>
            <p:cNvPr id="9" name="Line 9"/>
            <p:cNvSpPr/>
            <p:nvPr/>
          </p:nvSpPr>
          <p:spPr>
            <a:xfrm>
              <a:off x="3962400" y="1857375"/>
              <a:ext cx="457200" cy="1"/>
            </a:xfrm>
            <a:prstGeom prst="line">
              <a:avLst/>
            </a:prstGeom>
            <a:noFill/>
            <a:ln w="28575">
              <a:solidFill>
                <a:srgbClr val="00A6A6"/>
              </a:solidFill>
              <a:tailEnd type="arrow" w="lg" len="lg"/>
            </a:ln>
          </p:spPr>
        </p:sp>
        <p:sp>
          <p:nvSpPr>
            <p:cNvPr id="10" name="Rectangle 10"/>
            <p:cNvSpPr/>
            <p:nvPr/>
          </p:nvSpPr>
          <p:spPr>
            <a:xfrm>
              <a:off x="4419600" y="1428750"/>
              <a:ext cx="3352800" cy="857250"/>
            </a:xfrm>
            <a:prstGeom prst="roundRect">
              <a:avLst>
                <a:gd name="adj" fmla="val 11111"/>
              </a:avLst>
            </a:prstGeom>
            <a:solidFill>
              <a:srgbClr val="FFFFFF"/>
            </a:solidFill>
            <a:ln w="14288">
              <a:solidFill>
                <a:srgbClr val="2E86AB"/>
              </a:solidFill>
            </a:ln>
          </p:spPr>
        </p:sp>
        <p:sp>
          <p:nvSpPr>
            <p:cNvPr id="11" name="TextBox 11"/>
            <p:cNvSpPr txBox="1"/>
            <p:nvPr/>
          </p:nvSpPr>
          <p:spPr>
            <a:xfrm>
              <a:off x="5540829" y="1601629"/>
              <a:ext cx="1110341"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model_kur</a:t>
              </a:r>
            </a:p>
          </p:txBody>
        </p:sp>
        <p:sp>
          <p:nvSpPr>
            <p:cNvPr id="12" name="TextBox 12"/>
            <p:cNvSpPr txBox="1"/>
            <p:nvPr/>
          </p:nvSpPr>
          <p:spPr>
            <a:xfrm>
              <a:off x="4579495" y="1905952"/>
              <a:ext cx="3033009"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azınlık≥20 ise SMOTE, değilse class_weight</a:t>
              </a:r>
            </a:p>
          </p:txBody>
        </p:sp>
        <p:sp>
          <p:nvSpPr>
            <p:cNvPr id="13" name="Line 13"/>
            <p:cNvSpPr/>
            <p:nvPr/>
          </p:nvSpPr>
          <p:spPr>
            <a:xfrm>
              <a:off x="7772400" y="1857375"/>
              <a:ext cx="457200" cy="1"/>
            </a:xfrm>
            <a:prstGeom prst="line">
              <a:avLst/>
            </a:prstGeom>
            <a:noFill/>
            <a:ln w="28575">
              <a:solidFill>
                <a:srgbClr val="00A6A6"/>
              </a:solidFill>
              <a:tailEnd type="arrow" w="lg" len="lg"/>
            </a:ln>
          </p:spPr>
        </p:sp>
        <p:sp>
          <p:nvSpPr>
            <p:cNvPr id="14" name="Rectangle 14"/>
            <p:cNvSpPr/>
            <p:nvPr/>
          </p:nvSpPr>
          <p:spPr>
            <a:xfrm>
              <a:off x="8229600" y="1428750"/>
              <a:ext cx="3352800" cy="857250"/>
            </a:xfrm>
            <a:prstGeom prst="roundRect">
              <a:avLst>
                <a:gd name="adj" fmla="val 11111"/>
              </a:avLst>
            </a:prstGeom>
            <a:solidFill>
              <a:srgbClr val="12355B"/>
            </a:solidFill>
            <a:ln>
              <a:noFill/>
            </a:ln>
          </p:spPr>
        </p:sp>
        <p:sp>
          <p:nvSpPr>
            <p:cNvPr id="15" name="TextBox 15"/>
            <p:cNvSpPr txBox="1"/>
            <p:nvPr/>
          </p:nvSpPr>
          <p:spPr>
            <a:xfrm>
              <a:off x="9490413" y="1601629"/>
              <a:ext cx="831173"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calistir</a:t>
              </a:r>
            </a:p>
          </p:txBody>
        </p:sp>
        <p:sp>
          <p:nvSpPr>
            <p:cNvPr id="16" name="TextBox 16"/>
            <p:cNvSpPr txBox="1"/>
            <p:nvPr/>
          </p:nvSpPr>
          <p:spPr>
            <a:xfrm>
              <a:off x="8528130" y="1905952"/>
              <a:ext cx="2755740" cy="205359"/>
            </a:xfrm>
            <a:prstGeom prst="rect">
              <a:avLst/>
            </a:prstGeom>
            <a:noFill/>
            <a:ln>
              <a:noFill/>
            </a:ln>
          </p:spPr>
          <p:txBody>
            <a:bodyPr wrap="none" lIns="0" tIns="0" rIns="0" bIns="0" anchor="t" anchorCtr="0">
              <a:spAutoFit/>
            </a:bodyPr>
            <a:lstStyle/>
            <a:p>
              <a:pPr algn="ctr"/>
              <a:r>
                <a:rPr lang="tr-TR" sz="1050" dirty="0">
                  <a:solidFill>
                    <a:srgbClr val="EAF4F6"/>
                  </a:solidFill>
                  <a:latin typeface="+mn-lt"/>
                  <a:ea typeface="+mn-ea"/>
                  <a:cs typeface="+mn-cs"/>
                </a:rPr>
                <a:t>stratify böler, fit eğitir, PR-AUC ölçer</a:t>
              </a:r>
            </a:p>
          </p:txBody>
        </p:sp>
      </p:grpSp>
      <p:grpSp>
        <p:nvGrpSpPr>
          <p:cNvPr id="21" name="decision-note"/>
          <p:cNvGrpSpPr/>
          <p:nvPr/>
        </p:nvGrpSpPr>
        <p:grpSpPr>
          <a:xfrm>
            <a:off x="609600" y="2781300"/>
            <a:ext cx="5334000" cy="2057400"/>
            <a:chOff x="609600" y="2781300"/>
            <a:chExt cx="5334000" cy="2057400"/>
          </a:xfrm>
        </p:grpSpPr>
        <p:sp>
          <p:nvSpPr>
            <p:cNvPr id="18" name="Rectangle 18"/>
            <p:cNvSpPr/>
            <p:nvPr/>
          </p:nvSpPr>
          <p:spPr>
            <a:xfrm>
              <a:off x="609600" y="2781300"/>
              <a:ext cx="5334000" cy="2057400"/>
            </a:xfrm>
            <a:prstGeom prst="roundRect">
              <a:avLst>
                <a:gd name="adj" fmla="val 4630"/>
              </a:avLst>
            </a:prstGeom>
            <a:solidFill>
              <a:srgbClr val="FFFFFF"/>
            </a:solidFill>
            <a:ln w="14288">
              <a:solidFill>
                <a:srgbClr val="B8CBD3"/>
              </a:solidFill>
            </a:ln>
          </p:spPr>
        </p:sp>
        <p:sp>
          <p:nvSpPr>
            <p:cNvPr id="19" name="TextBox 19"/>
            <p:cNvSpPr txBox="1"/>
            <p:nvPr/>
          </p:nvSpPr>
          <p:spPr>
            <a:xfrm>
              <a:off x="830199" y="2954179"/>
              <a:ext cx="34526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Karar eşiği: azınlık_sayisi ≥ 20</a:t>
              </a:r>
            </a:p>
          </p:txBody>
        </p:sp>
        <p:sp>
          <p:nvSpPr>
            <p:cNvPr id="20" name="TextBox 20"/>
            <p:cNvSpPr txBox="1"/>
            <p:nvPr/>
          </p:nvSpPr>
          <p:spPr>
            <a:xfrm>
              <a:off x="832104" y="3318510"/>
              <a:ext cx="3288792" cy="996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SMOTE'un komşuluk tabanlı</a:t>
              </a:r>
              <a:br/>
              <a:r>
                <a:rPr lang="tr-TR" sz="1200" dirty="0">
                  <a:solidFill>
                    <a:srgbClr val="172B3A"/>
                  </a:solidFill>
                  <a:latin typeface="+mn-lt"/>
                  <a:ea typeface="+mn-ea"/>
                  <a:cs typeface="+mn-cs"/>
                </a:rPr>
                <a:t>enterpolasyon yapabilmesi için her</a:t>
              </a:r>
              <a:br/>
              <a:r>
                <a:rPr lang="tr-TR" sz="1200" dirty="0">
                  <a:solidFill>
                    <a:srgbClr val="172B3A"/>
                  </a:solidFill>
                  <a:latin typeface="+mn-lt"/>
                  <a:ea typeface="+mn-ea"/>
                  <a:cs typeface="+mn-cs"/>
                </a:rPr>
                <a:t>sınıfta minimum gözlem gerekir; aksi</a:t>
              </a:r>
              <a:br/>
              <a:r>
                <a:rPr lang="tr-TR" sz="1200" dirty="0">
                  <a:solidFill>
                    <a:srgbClr val="172B3A"/>
                  </a:solidFill>
                  <a:latin typeface="+mn-lt"/>
                  <a:ea typeface="+mn-ea"/>
                  <a:cs typeface="+mn-cs"/>
                </a:rPr>
                <a:t>hâlde k_neighbors parametresi mevcut</a:t>
              </a:r>
              <a:br/>
              <a:r>
                <a:rPr lang="tr-TR" sz="1200" dirty="0">
                  <a:solidFill>
                    <a:srgbClr val="172B3A"/>
                  </a:solidFill>
                  <a:latin typeface="+mn-lt"/>
                  <a:ea typeface="+mn-ea"/>
                  <a:cs typeface="+mn-cs"/>
                </a:rPr>
                <a:t>azınlık sayısını aşar ve SMOTE hata verir.</a:t>
              </a:r>
            </a:p>
          </p:txBody>
        </p:sp>
      </p:grpSp>
      <p:grpSp>
        <p:nvGrpSpPr>
          <p:cNvPr id="28" name="result-kpi"/>
          <p:cNvGrpSpPr/>
          <p:nvPr/>
        </p:nvGrpSpPr>
        <p:grpSpPr>
          <a:xfrm>
            <a:off x="6248400" y="2781300"/>
            <a:ext cx="5334000" cy="2181606"/>
            <a:chOff x="6248400" y="2781300"/>
            <a:chExt cx="5334000" cy="2181606"/>
          </a:xfrm>
        </p:grpSpPr>
        <p:sp>
          <p:nvSpPr>
            <p:cNvPr id="22" name="Rectangle 22"/>
            <p:cNvSpPr/>
            <p:nvPr/>
          </p:nvSpPr>
          <p:spPr>
            <a:xfrm>
              <a:off x="6248400" y="2781300"/>
              <a:ext cx="5334000" cy="2057400"/>
            </a:xfrm>
            <a:prstGeom prst="roundRect">
              <a:avLst>
                <a:gd name="adj" fmla="val 4630"/>
              </a:avLst>
            </a:prstGeom>
            <a:solidFill>
              <a:srgbClr val="EAF4F6"/>
            </a:solidFill>
            <a:ln>
              <a:noFill/>
            </a:ln>
          </p:spPr>
        </p:sp>
        <p:sp>
          <p:nvSpPr>
            <p:cNvPr id="23" name="TextBox 23"/>
            <p:cNvSpPr txBox="1"/>
            <p:nvPr/>
          </p:nvSpPr>
          <p:spPr>
            <a:xfrm>
              <a:off x="6468999" y="2954179"/>
              <a:ext cx="204433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Çalıştırma sonucu</a:t>
              </a:r>
            </a:p>
          </p:txBody>
        </p:sp>
        <p:sp>
          <p:nvSpPr>
            <p:cNvPr id="24" name="TextBox 24"/>
            <p:cNvSpPr txBox="1"/>
            <p:nvPr/>
          </p:nvSpPr>
          <p:spPr>
            <a:xfrm>
              <a:off x="6470904" y="3299460"/>
              <a:ext cx="375729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Seçilen yaklaşım: </a:t>
              </a:r>
              <a:r>
                <a:rPr lang="tr-TR" sz="1200" b="1" dirty="0">
                  <a:solidFill>
                    <a:srgbClr val="12355B"/>
                  </a:solidFill>
                  <a:latin typeface="+mn-lt"/>
                  <a:ea typeface="+mn-ea"/>
                  <a:cs typeface="+mn-cs"/>
                </a:rPr>
                <a:t>SMOTE Pipeline</a:t>
              </a:r>
              <a:r>
                <a:rPr lang="tr-TR" sz="1200" dirty="0">
                  <a:solidFill>
                    <a:srgbClr val="172B3A"/>
                  </a:solidFill>
                  <a:latin typeface="+mn-lt"/>
                  <a:ea typeface="+mn-ea"/>
                  <a:cs typeface="+mn-cs"/>
                </a:rPr>
                <a:t xml:space="preserve"> (azınlık=87)</a:t>
              </a:r>
            </a:p>
          </p:txBody>
        </p:sp>
        <p:sp>
          <p:nvSpPr>
            <p:cNvPr id="25" name="TextBox 25"/>
            <p:cNvSpPr txBox="1"/>
            <p:nvPr/>
          </p:nvSpPr>
          <p:spPr>
            <a:xfrm>
              <a:off x="6470904" y="3547110"/>
              <a:ext cx="159345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Test PR-AUC: </a:t>
              </a:r>
              <a:r>
                <a:rPr lang="tr-TR" sz="1200" b="1" dirty="0">
                  <a:solidFill>
                    <a:srgbClr val="00A6A6"/>
                  </a:solidFill>
                  <a:latin typeface="+mn-lt"/>
                  <a:ea typeface="+mn-ea"/>
                  <a:cs typeface="+mn-cs"/>
                </a:rPr>
                <a:t>0.173</a:t>
              </a:r>
            </a:p>
          </p:txBody>
        </p:sp>
        <p:sp>
          <p:nvSpPr>
            <p:cNvPr id="26" name="TextBox 26"/>
            <p:cNvSpPr txBox="1"/>
            <p:nvPr/>
          </p:nvSpPr>
          <p:spPr>
            <a:xfrm>
              <a:off x="6470904" y="3794760"/>
              <a:ext cx="321203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 xml:space="preserve">Azınlık recall: </a:t>
              </a:r>
              <a:r>
                <a:rPr lang="tr-TR" sz="1200" b="1" dirty="0">
                  <a:solidFill>
                    <a:srgbClr val="12355B"/>
                  </a:solidFill>
                  <a:latin typeface="+mn-lt"/>
                  <a:ea typeface="+mn-ea"/>
                  <a:cs typeface="+mn-cs"/>
                </a:rPr>
                <a:t>0.730</a:t>
              </a:r>
              <a:r>
                <a:rPr lang="tr-TR" sz="1200" dirty="0">
                  <a:solidFill>
                    <a:srgbClr val="172B3A"/>
                  </a:solidFill>
                  <a:latin typeface="+mn-lt"/>
                  <a:ea typeface="+mn-ea"/>
                  <a:cs typeface="+mn-cs"/>
                </a:rPr>
                <a:t xml:space="preserve"> · precision: </a:t>
              </a:r>
              <a:r>
                <a:rPr lang="tr-TR" sz="1200" b="1" dirty="0">
                  <a:solidFill>
                    <a:srgbClr val="12355B"/>
                  </a:solidFill>
                  <a:latin typeface="+mn-lt"/>
                  <a:ea typeface="+mn-ea"/>
                  <a:cs typeface="+mn-cs"/>
                </a:rPr>
                <a:t>0.129</a:t>
              </a:r>
            </a:p>
          </p:txBody>
        </p:sp>
        <p:sp>
          <p:nvSpPr>
            <p:cNvPr id="27" name="TextBox 27"/>
            <p:cNvSpPr txBox="1"/>
            <p:nvPr/>
          </p:nvSpPr>
          <p:spPr>
            <a:xfrm>
              <a:off x="6470904" y="4156710"/>
              <a:ext cx="3098292" cy="806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Model churn eden müşterilerin çoğunu</a:t>
              </a:r>
              <a:br/>
              <a:r>
                <a:rPr lang="tr-TR" sz="1200" dirty="0">
                  <a:solidFill>
                    <a:srgbClr val="172B3A"/>
                  </a:solidFill>
                  <a:latin typeface="+mn-lt"/>
                  <a:ea typeface="+mn-ea"/>
                  <a:cs typeface="+mn-cs"/>
                </a:rPr>
                <a:t>yakalar; ancak çok sayıda yanlış alarm</a:t>
              </a:r>
              <a:br/>
              <a:r>
                <a:rPr lang="tr-TR" sz="1200" dirty="0">
                  <a:solidFill>
                    <a:srgbClr val="172B3A"/>
                  </a:solidFill>
                  <a:latin typeface="+mn-lt"/>
                  <a:ea typeface="+mn-ea"/>
                  <a:cs typeface="+mn-cs"/>
                </a:rPr>
                <a:t>üretme pahasına — iş biriminin yanlış</a:t>
              </a:r>
              <a:br/>
              <a:r>
                <a:rPr lang="tr-TR" sz="1200" dirty="0">
                  <a:solidFill>
                    <a:srgbClr val="172B3A"/>
                  </a:solidFill>
                  <a:latin typeface="+mn-lt"/>
                  <a:ea typeface="+mn-ea"/>
                  <a:cs typeface="+mn-cs"/>
                </a:rPr>
                <a:t>alarm toleransı bu dengeyi belirlemelidir.</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4498520" cy="668845"/>
            <a:chOff x="609600" y="171450"/>
            <a:chExt cx="4498520"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380814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51296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DOĞRU YAKLAŞIM</a:t>
              </a:r>
            </a:p>
          </p:txBody>
        </p:sp>
      </p:grpSp>
      <p:grpSp>
        <p:nvGrpSpPr>
          <p:cNvPr id="21" name="fallacy-accuracy"/>
          <p:cNvGrpSpPr/>
          <p:nvPr/>
        </p:nvGrpSpPr>
        <p:grpSpPr>
          <a:xfrm>
            <a:off x="609600" y="1849279"/>
            <a:ext cx="10972800" cy="1313021"/>
            <a:chOff x="609600" y="1849279"/>
            <a:chExt cx="10972800" cy="1313021"/>
          </a:xfrm>
        </p:grpSpPr>
        <p:sp>
          <p:nvSpPr>
            <p:cNvPr id="17" name="TextBox 17"/>
            <p:cNvSpPr txBox="1"/>
            <p:nvPr/>
          </p:nvSpPr>
          <p:spPr>
            <a:xfrm>
              <a:off x="753999" y="1849279"/>
              <a:ext cx="1933308"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"%98 doğruluk alan</a:t>
              </a:r>
              <a:br/>
              <a:r>
                <a:rPr lang="tr-TR" sz="1580" b="1" dirty="0">
                  <a:solidFill>
                    <a:srgbClr val="12355B"/>
                  </a:solidFill>
                  <a:latin typeface="+mn-lt"/>
                  <a:ea typeface="+mn-ea"/>
                  <a:cs typeface="+mn-cs"/>
                </a:rPr>
                <a:t>model kesinlikle</a:t>
              </a:r>
              <a:br/>
              <a:r>
                <a:rPr lang="tr-TR" sz="1580" b="1" dirty="0">
                  <a:solidFill>
                    <a:srgbClr val="12355B"/>
                  </a:solidFill>
                  <a:latin typeface="+mn-lt"/>
                  <a:ea typeface="+mn-ea"/>
                  <a:cs typeface="+mn-cs"/>
                </a:rPr>
                <a:t>başarılıdır."</a:t>
              </a:r>
            </a:p>
          </p:txBody>
        </p:sp>
        <p:sp>
          <p:nvSpPr>
            <p:cNvPr id="18" name="TextBox 18"/>
            <p:cNvSpPr txBox="1"/>
            <p:nvPr/>
          </p:nvSpPr>
          <p:spPr>
            <a:xfrm>
              <a:off x="4375404" y="1889760"/>
              <a:ext cx="26487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Dengesiz veride yüksek doğruluk</a:t>
              </a:r>
              <a:br/>
              <a:r>
                <a:rPr lang="tr-TR" sz="1200" dirty="0">
                  <a:solidFill>
                    <a:srgbClr val="172B3A"/>
                  </a:solidFill>
                  <a:latin typeface="+mn-lt"/>
                  <a:ea typeface="+mn-ea"/>
                  <a:cs typeface="+mn-cs"/>
                </a:rPr>
                <a:t>çoğunluk sınıfını tahmin etmekten</a:t>
              </a:r>
              <a:br/>
              <a:r>
                <a:rPr lang="tr-TR" sz="1200" dirty="0">
                  <a:solidFill>
                    <a:srgbClr val="172B3A"/>
                  </a:solidFill>
                  <a:latin typeface="+mn-lt"/>
                  <a:ea typeface="+mn-ea"/>
                  <a:cs typeface="+mn-cs"/>
                </a:rPr>
                <a:t>kaynaklanabilir; azınlık recall</a:t>
              </a:r>
              <a:br/>
              <a:r>
                <a:rPr lang="tr-TR" sz="1200" dirty="0">
                  <a:solidFill>
                    <a:srgbClr val="172B3A"/>
                  </a:solidFill>
                  <a:latin typeface="+mn-lt"/>
                  <a:ea typeface="+mn-ea"/>
                  <a:cs typeface="+mn-cs"/>
                </a:rPr>
                <a:t>değeri 0.000 bile olabilir.</a:t>
              </a:r>
            </a:p>
          </p:txBody>
        </p:sp>
        <p:sp>
          <p:nvSpPr>
            <p:cNvPr id="19" name="TextBox 19"/>
            <p:cNvSpPr txBox="1"/>
            <p:nvPr/>
          </p:nvSpPr>
          <p:spPr>
            <a:xfrm>
              <a:off x="8185404" y="1889760"/>
              <a:ext cx="22219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Azınlık sınıfı için precision,</a:t>
              </a:r>
              <a:br/>
              <a:r>
                <a:rPr lang="tr-TR" sz="1200" dirty="0">
                  <a:solidFill>
                    <a:srgbClr val="172B3A"/>
                  </a:solidFill>
                  <a:latin typeface="+mn-lt"/>
                  <a:ea typeface="+mn-ea"/>
                  <a:cs typeface="+mn-cs"/>
                </a:rPr>
                <a:t>recall ve PR-AUC de ayrıca</a:t>
              </a:r>
              <a:br/>
              <a:r>
                <a:rPr lang="tr-TR" sz="1200" dirty="0">
                  <a:solidFill>
                    <a:srgbClr val="172B3A"/>
                  </a:solidFill>
                  <a:latin typeface="+mn-lt"/>
                  <a:ea typeface="+mn-ea"/>
                  <a:cs typeface="+mn-cs"/>
                </a:rPr>
                <a:t>hesaplanıp iş maliyetiyle</a:t>
              </a:r>
              <a:br/>
              <a:r>
                <a:rPr lang="tr-TR" sz="1200" dirty="0">
                  <a:solidFill>
                    <a:srgbClr val="172B3A"/>
                  </a:solidFill>
                  <a:latin typeface="+mn-lt"/>
                  <a:ea typeface="+mn-ea"/>
                  <a:cs typeface="+mn-cs"/>
                </a:rPr>
                <a:t>birlikte yorumlanmalıdır.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smote-first"/>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3999" y="3297079"/>
              <a:ext cx="2481110"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"SMOTE tüm veri</a:t>
              </a:r>
              <a:br/>
              <a:r>
                <a:rPr lang="tr-TR" sz="1580" b="1" dirty="0">
                  <a:solidFill>
                    <a:srgbClr val="12355B"/>
                  </a:solidFill>
                  <a:latin typeface="+mn-lt"/>
                  <a:ea typeface="+mn-ea"/>
                  <a:cs typeface="+mn-cs"/>
                </a:rPr>
                <a:t>kümesine uygulanırsa</a:t>
              </a:r>
              <a:br/>
              <a:r>
                <a:rPr lang="tr-TR" sz="1580" b="1" dirty="0">
                  <a:solidFill>
                    <a:srgbClr val="12355B"/>
                  </a:solidFill>
                  <a:latin typeface="+mn-lt"/>
                  <a:ea typeface="+mn-ea"/>
                  <a:cs typeface="+mn-cs"/>
                </a:rPr>
                <a:t>test daha dengeli olur."</a:t>
              </a:r>
            </a:p>
          </p:txBody>
        </p:sp>
        <p:sp>
          <p:nvSpPr>
            <p:cNvPr id="24" name="TextBox 24"/>
            <p:cNvSpPr txBox="1"/>
            <p:nvPr/>
          </p:nvSpPr>
          <p:spPr>
            <a:xfrm>
              <a:off x="4375404" y="3337560"/>
              <a:ext cx="23896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Bölme öncesi SMOTE, test</a:t>
              </a:r>
              <a:br/>
              <a:r>
                <a:rPr lang="tr-TR" sz="1200" dirty="0">
                  <a:solidFill>
                    <a:srgbClr val="172B3A"/>
                  </a:solidFill>
                  <a:latin typeface="+mn-lt"/>
                  <a:ea typeface="+mn-ea"/>
                  <a:cs typeface="+mn-cs"/>
                </a:rPr>
                <a:t>gözlemlerinin komşuluk bilgisini</a:t>
              </a:r>
              <a:br/>
              <a:r>
                <a:rPr lang="tr-TR" sz="1200" dirty="0">
                  <a:solidFill>
                    <a:srgbClr val="172B3A"/>
                  </a:solidFill>
                  <a:latin typeface="+mn-lt"/>
                  <a:ea typeface="+mn-ea"/>
                  <a:cs typeface="+mn-cs"/>
                </a:rPr>
                <a:t>eğitime taşır; veri dengelenmiş</a:t>
              </a:r>
              <a:br/>
              <a:r>
                <a:rPr lang="tr-TR" sz="1200" dirty="0">
                  <a:solidFill>
                    <a:srgbClr val="172B3A"/>
                  </a:solidFill>
                  <a:latin typeface="+mn-lt"/>
                  <a:ea typeface="+mn-ea"/>
                  <a:cs typeface="+mn-cs"/>
                </a:rPr>
                <a:t>göründüğü için sızıntı gizlenir.</a:t>
              </a:r>
            </a:p>
          </p:txBody>
        </p:sp>
        <p:sp>
          <p:nvSpPr>
            <p:cNvPr id="25" name="TextBox 25"/>
            <p:cNvSpPr txBox="1"/>
            <p:nvPr/>
          </p:nvSpPr>
          <p:spPr>
            <a:xfrm>
              <a:off x="8185404" y="3337560"/>
              <a:ext cx="242011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Önce train_test_split, ardından</a:t>
              </a:r>
              <a:br/>
              <a:r>
                <a:rPr lang="tr-TR" sz="1200" dirty="0">
                  <a:solidFill>
                    <a:srgbClr val="172B3A"/>
                  </a:solidFill>
                  <a:latin typeface="+mn-lt"/>
                  <a:ea typeface="+mn-ea"/>
                  <a:cs typeface="+mn-cs"/>
                </a:rPr>
                <a:t>SMOTE'u yalnızca eğitim</a:t>
              </a:r>
              <a:br/>
              <a:r>
                <a:rPr lang="tr-TR" sz="1200" dirty="0">
                  <a:solidFill>
                    <a:srgbClr val="172B3A"/>
                  </a:solidFill>
                  <a:latin typeface="+mn-lt"/>
                  <a:ea typeface="+mn-ea"/>
                  <a:cs typeface="+mn-cs"/>
                </a:rPr>
                <a:t>verisinde, tercihen imblearn</a:t>
              </a:r>
              <a:br/>
              <a:r>
                <a:rPr lang="tr-TR" sz="1200" dirty="0">
                  <a:solidFill>
                    <a:srgbClr val="172B3A"/>
                  </a:solidFill>
                  <a:latin typeface="+mn-lt"/>
                  <a:ea typeface="+mn-ea"/>
                  <a:cs typeface="+mn-cs"/>
                </a:rPr>
                <a:t>Pipeline içinde uygulamak.</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smote-better"/>
          <p:cNvGrpSpPr/>
          <p:nvPr/>
        </p:nvGrpSpPr>
        <p:grpSpPr>
          <a:xfrm>
            <a:off x="753999" y="4744879"/>
            <a:ext cx="9714357" cy="903827"/>
            <a:chOff x="753999" y="4744879"/>
            <a:chExt cx="9714357" cy="903827"/>
          </a:xfrm>
        </p:grpSpPr>
        <p:sp>
          <p:nvSpPr>
            <p:cNvPr id="28" name="TextBox 28"/>
            <p:cNvSpPr txBox="1"/>
            <p:nvPr/>
          </p:nvSpPr>
          <p:spPr>
            <a:xfrm>
              <a:off x="753999" y="4744879"/>
              <a:ext cx="2333625" cy="80333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"SMOTE her zaman</a:t>
              </a:r>
              <a:br/>
              <a:r>
                <a:rPr lang="tr-TR" sz="1580" b="1" dirty="0">
                  <a:solidFill>
                    <a:srgbClr val="12355B"/>
                  </a:solidFill>
                  <a:latin typeface="+mn-lt"/>
                  <a:ea typeface="+mn-ea"/>
                  <a:cs typeface="+mn-cs"/>
                </a:rPr>
                <a:t>class_weight'ten daha</a:t>
              </a:r>
              <a:br/>
              <a:r>
                <a:rPr lang="tr-TR" sz="1580" b="1" dirty="0">
                  <a:solidFill>
                    <a:srgbClr val="12355B"/>
                  </a:solidFill>
                  <a:latin typeface="+mn-lt"/>
                  <a:ea typeface="+mn-ea"/>
                  <a:cs typeface="+mn-cs"/>
                </a:rPr>
                <a:t>iyi sonuç verir."</a:t>
              </a:r>
            </a:p>
          </p:txBody>
        </p:sp>
        <p:sp>
          <p:nvSpPr>
            <p:cNvPr id="29" name="TextBox 29"/>
            <p:cNvSpPr txBox="1"/>
            <p:nvPr/>
          </p:nvSpPr>
          <p:spPr>
            <a:xfrm>
              <a:off x="4375404" y="4785360"/>
              <a:ext cx="27096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İkisi farklı mekanizmalarla çalışır;</a:t>
              </a:r>
              <a:br/>
              <a:r>
                <a:rPr lang="tr-TR" sz="1200" dirty="0">
                  <a:solidFill>
                    <a:srgbClr val="172B3A"/>
                  </a:solidFill>
                  <a:latin typeface="+mn-lt"/>
                  <a:ea typeface="+mn-ea"/>
                  <a:cs typeface="+mn-cs"/>
                </a:rPr>
                <a:t>az azınlık örneği varsa SMOTE'un</a:t>
              </a:r>
              <a:br/>
              <a:r>
                <a:rPr lang="tr-TR" sz="1200" dirty="0">
                  <a:solidFill>
                    <a:srgbClr val="172B3A"/>
                  </a:solidFill>
                  <a:latin typeface="+mn-lt"/>
                  <a:ea typeface="+mn-ea"/>
                  <a:cs typeface="+mn-cs"/>
                </a:rPr>
                <a:t>ürettiği sentetik noktalar</a:t>
              </a:r>
              <a:br/>
              <a:r>
                <a:rPr lang="tr-TR" sz="1200" dirty="0">
                  <a:solidFill>
                    <a:srgbClr val="172B3A"/>
                  </a:solidFill>
                  <a:latin typeface="+mn-lt"/>
                  <a:ea typeface="+mn-ea"/>
                  <a:cs typeface="+mn-cs"/>
                </a:rPr>
                <a:t>güvenilir olmayabilir.</a:t>
              </a:r>
            </a:p>
          </p:txBody>
        </p:sp>
        <p:sp>
          <p:nvSpPr>
            <p:cNvPr id="30" name="TextBox 30"/>
            <p:cNvSpPr txBox="1"/>
            <p:nvPr/>
          </p:nvSpPr>
          <p:spPr>
            <a:xfrm>
              <a:off x="8185404" y="4785360"/>
              <a:ext cx="22829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 miktarına, azınlık örnek</a:t>
              </a:r>
              <a:br/>
              <a:r>
                <a:rPr lang="tr-TR" sz="1200" dirty="0">
                  <a:solidFill>
                    <a:srgbClr val="172B3A"/>
                  </a:solidFill>
                  <a:latin typeface="+mn-lt"/>
                  <a:ea typeface="+mn-ea"/>
                  <a:cs typeface="+mn-cs"/>
                </a:rPr>
                <a:t>sayısına ve model türüne göre</a:t>
              </a:r>
              <a:br/>
              <a:r>
                <a:rPr lang="tr-TR" sz="1200" dirty="0">
                  <a:solidFill>
                    <a:srgbClr val="172B3A"/>
                  </a:solidFill>
                  <a:latin typeface="+mn-lt"/>
                  <a:ea typeface="+mn-ea"/>
                  <a:cs typeface="+mn-cs"/>
                </a:rPr>
                <a:t>karşılaştırmalı deneyle</a:t>
              </a:r>
              <a:br/>
              <a:r>
                <a:rPr lang="tr-TR" sz="1200" dirty="0">
                  <a:solidFill>
                    <a:srgbClr val="172B3A"/>
                  </a:solidFill>
                  <a:latin typeface="+mn-lt"/>
                  <a:ea typeface="+mn-ea"/>
                  <a:cs typeface="+mn-cs"/>
                </a:rPr>
                <a:t>seçim yapmak.</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247394" cy="557403"/>
            <a:chOff x="595122" y="282892"/>
            <a:chExt cx="4247394" cy="557403"/>
          </a:xfrm>
        </p:grpSpPr>
        <p:sp>
          <p:nvSpPr>
            <p:cNvPr id="4" name="TextBox 4"/>
            <p:cNvSpPr txBox="1"/>
            <p:nvPr/>
          </p:nvSpPr>
          <p:spPr>
            <a:xfrm>
              <a:off x="595122" y="282892"/>
              <a:ext cx="42473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PR-AUC ve karar eşiği</a:t>
              </a:r>
            </a:p>
          </p:txBody>
        </p:sp>
      </p:grpSp>
      <p:grpSp>
        <p:nvGrpSpPr>
          <p:cNvPr id="20" name="pr-curve"/>
          <p:cNvGrpSpPr/>
          <p:nvPr/>
        </p:nvGrpSpPr>
        <p:grpSpPr>
          <a:xfrm>
            <a:off x="-25140" y="1430179"/>
            <a:ext cx="6711787" cy="3767232"/>
            <a:chOff x="-25140" y="1430179"/>
            <a:chExt cx="6711787" cy="3767232"/>
          </a:xfrm>
        </p:grpSpPr>
        <p:sp>
          <p:nvSpPr>
            <p:cNvPr id="6" name="TextBox 6"/>
            <p:cNvSpPr txBox="1"/>
            <p:nvPr/>
          </p:nvSpPr>
          <p:spPr>
            <a:xfrm>
              <a:off x="601599" y="1430179"/>
              <a:ext cx="276949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Kesinlik-duyarlılık eğrisi</a:t>
              </a:r>
            </a:p>
          </p:txBody>
        </p:sp>
        <p:sp>
          <p:nvSpPr>
            <p:cNvPr id="7" name="Line 7"/>
            <p:cNvSpPr/>
            <p:nvPr/>
          </p:nvSpPr>
          <p:spPr>
            <a:xfrm>
              <a:off x="1143000" y="1905000"/>
              <a:ext cx="9525" cy="2857500"/>
            </a:xfrm>
            <a:custGeom>
              <a:avLst/>
              <a:gdLst/>
              <a:ahLst/>
              <a:cxnLst/>
              <a:rect l="l" t="t" r="r" b="b"/>
              <a:pathLst>
                <a:path w="9525" h="2857500">
                  <a:moveTo>
                    <a:pt x="0" y="2857500"/>
                  </a:moveTo>
                  <a:lnTo>
                    <a:pt x="0" y="0"/>
                  </a:lnTo>
                </a:path>
              </a:pathLst>
            </a:custGeom>
            <a:noFill/>
            <a:ln w="14288">
              <a:solidFill>
                <a:srgbClr val="52616B"/>
              </a:solidFill>
            </a:ln>
          </p:spPr>
        </p:sp>
        <p:sp>
          <p:nvSpPr>
            <p:cNvPr id="8" name="Line 8"/>
            <p:cNvSpPr/>
            <p:nvPr/>
          </p:nvSpPr>
          <p:spPr>
            <a:xfrm>
              <a:off x="1143000" y="4762500"/>
              <a:ext cx="4762500" cy="9525"/>
            </a:xfrm>
            <a:custGeom>
              <a:avLst/>
              <a:gdLst/>
              <a:ahLst/>
              <a:cxnLst/>
              <a:rect l="l" t="t" r="r" b="b"/>
              <a:pathLst>
                <a:path w="4762500" h="9525">
                  <a:moveTo>
                    <a:pt x="0" y="0"/>
                  </a:moveTo>
                  <a:lnTo>
                    <a:pt x="4762500" y="0"/>
                  </a:lnTo>
                </a:path>
              </a:pathLst>
            </a:custGeom>
            <a:noFill/>
            <a:ln w="14288">
              <a:solidFill>
                <a:srgbClr val="52616B"/>
              </a:solidFill>
            </a:ln>
          </p:spPr>
        </p:sp>
        <p:sp>
          <p:nvSpPr>
            <p:cNvPr id="9" name="TextBox 9"/>
            <p:cNvSpPr txBox="1"/>
            <p:nvPr/>
          </p:nvSpPr>
          <p:spPr>
            <a:xfrm>
              <a:off x="675837" y="1791652"/>
              <a:ext cx="243897" cy="205359"/>
            </a:xfrm>
            <a:prstGeom prst="rect">
              <a:avLst/>
            </a:prstGeom>
            <a:noFill/>
            <a:ln>
              <a:noFill/>
            </a:ln>
          </p:spPr>
          <p:txBody>
            <a:bodyPr wrap="none" lIns="0" tIns="0" rIns="0" bIns="0" anchor="t" anchorCtr="0">
              <a:spAutoFit/>
            </a:bodyPr>
            <a:lstStyle/>
            <a:p>
              <a:pPr algn="r"/>
              <a:r>
                <a:rPr lang="tr-TR" sz="1050" dirty="0">
                  <a:solidFill>
                    <a:srgbClr val="52616B"/>
                  </a:solidFill>
                  <a:latin typeface="+mn-lt"/>
                  <a:ea typeface="+mn-ea"/>
                  <a:cs typeface="+mn-cs"/>
                </a:rPr>
                <a:t>1.0</a:t>
              </a:r>
            </a:p>
          </p:txBody>
        </p:sp>
        <p:sp>
          <p:nvSpPr>
            <p:cNvPr id="10" name="TextBox 10"/>
            <p:cNvSpPr txBox="1"/>
            <p:nvPr/>
          </p:nvSpPr>
          <p:spPr>
            <a:xfrm>
              <a:off x="675837" y="4687252"/>
              <a:ext cx="243897" cy="205359"/>
            </a:xfrm>
            <a:prstGeom prst="rect">
              <a:avLst/>
            </a:prstGeom>
            <a:noFill/>
            <a:ln>
              <a:noFill/>
            </a:ln>
          </p:spPr>
          <p:txBody>
            <a:bodyPr wrap="none" lIns="0" tIns="0" rIns="0" bIns="0" anchor="t" anchorCtr="0">
              <a:spAutoFit/>
            </a:bodyPr>
            <a:lstStyle/>
            <a:p>
              <a:pPr algn="r"/>
              <a:r>
                <a:rPr lang="tr-TR" sz="1050" dirty="0">
                  <a:solidFill>
                    <a:srgbClr val="52616B"/>
                  </a:solidFill>
                  <a:latin typeface="+mn-lt"/>
                  <a:ea typeface="+mn-ea"/>
                  <a:cs typeface="+mn-cs"/>
                </a:rPr>
                <a:t>0.0</a:t>
              </a:r>
            </a:p>
          </p:txBody>
        </p:sp>
        <p:sp>
          <p:nvSpPr>
            <p:cNvPr id="11" name="TextBox 11"/>
            <p:cNvSpPr txBox="1"/>
            <p:nvPr/>
          </p:nvSpPr>
          <p:spPr>
            <a:xfrm>
              <a:off x="1098794" y="4877752"/>
              <a:ext cx="88411"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0</a:t>
              </a:r>
            </a:p>
          </p:txBody>
        </p:sp>
        <p:sp>
          <p:nvSpPr>
            <p:cNvPr id="12" name="TextBox 12"/>
            <p:cNvSpPr txBox="1"/>
            <p:nvPr/>
          </p:nvSpPr>
          <p:spPr>
            <a:xfrm>
              <a:off x="5124352" y="4877752"/>
              <a:ext cx="1562295"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Duyarlılık (Recall) → 1</a:t>
              </a:r>
            </a:p>
          </p:txBody>
        </p:sp>
        <p:sp>
          <p:nvSpPr>
            <p:cNvPr id="13" name="TextBox 13"/>
            <p:cNvSpPr txBox="1"/>
            <p:nvPr/>
          </p:nvSpPr>
          <p:spPr>
            <a:xfrm rot="-5400000">
              <a:off x="-25140" y="3231071"/>
              <a:ext cx="1362445"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Kesinlik (Precision)</a:t>
              </a:r>
            </a:p>
          </p:txBody>
        </p:sp>
        <p:sp>
          <p:nvSpPr>
            <p:cNvPr id="14" name="Freeform 14"/>
            <p:cNvSpPr/>
            <p:nvPr/>
          </p:nvSpPr>
          <p:spPr>
            <a:xfrm>
              <a:off x="1143000" y="2095500"/>
              <a:ext cx="4572000" cy="2628900"/>
            </a:xfrm>
            <a:custGeom>
              <a:avLst/>
              <a:gdLst/>
              <a:ahLst/>
              <a:cxnLst/>
              <a:rect l="l" t="t" r="r" b="b"/>
              <a:pathLst>
                <a:path w="4572000" h="2628900">
                  <a:moveTo>
                    <a:pt x="0" y="0"/>
                  </a:moveTo>
                  <a:cubicBezTo>
                    <a:pt x="1333500" y="190500"/>
                    <a:pt x="2476500" y="762000"/>
                    <a:pt x="3238500" y="1524000"/>
                  </a:cubicBezTo>
                  <a:cubicBezTo>
                    <a:pt x="3810000" y="2095500"/>
                    <a:pt x="4191000" y="2476500"/>
                    <a:pt x="4572000" y="2628900"/>
                  </a:cubicBezTo>
                </a:path>
              </a:pathLst>
            </a:custGeom>
            <a:noFill/>
            <a:ln w="28575">
              <a:solidFill>
                <a:srgbClr val="00A6A6"/>
              </a:solidFill>
            </a:ln>
          </p:spPr>
        </p:sp>
        <p:sp>
          <p:nvSpPr>
            <p:cNvPr id="15" name="Ellipse 15"/>
            <p:cNvSpPr/>
            <p:nvPr/>
          </p:nvSpPr>
          <p:spPr>
            <a:xfrm>
              <a:off x="3343275" y="2619375"/>
              <a:ext cx="171450" cy="171450"/>
            </a:xfrm>
            <a:prstGeom prst="ellipse">
              <a:avLst/>
            </a:prstGeom>
            <a:solidFill>
              <a:srgbClr val="FFFFFF"/>
            </a:solidFill>
            <a:ln w="28575">
              <a:solidFill>
                <a:srgbClr val="2E86AB"/>
              </a:solidFill>
            </a:ln>
          </p:spPr>
        </p:sp>
        <p:sp>
          <p:nvSpPr>
            <p:cNvPr id="16" name="Line 16"/>
            <p:cNvSpPr/>
            <p:nvPr/>
          </p:nvSpPr>
          <p:spPr>
            <a:xfrm>
              <a:off x="3429000" y="2705100"/>
              <a:ext cx="9525" cy="2057400"/>
            </a:xfrm>
            <a:custGeom>
              <a:avLst/>
              <a:gdLst/>
              <a:ahLst/>
              <a:cxnLst/>
              <a:rect l="l" t="t" r="r" b="b"/>
              <a:pathLst>
                <a:path w="9525" h="2057400">
                  <a:moveTo>
                    <a:pt x="0" y="0"/>
                  </a:moveTo>
                  <a:lnTo>
                    <a:pt x="0" y="2057400"/>
                  </a:lnTo>
                </a:path>
              </a:pathLst>
            </a:custGeom>
            <a:noFill/>
            <a:ln w="14288">
              <a:solidFill>
                <a:srgbClr val="52616B"/>
              </a:solidFill>
              <a:prstDash val="dash"/>
            </a:ln>
          </p:spPr>
        </p:sp>
        <p:sp>
          <p:nvSpPr>
            <p:cNvPr id="17" name="TextBox 17"/>
            <p:cNvSpPr txBox="1"/>
            <p:nvPr/>
          </p:nvSpPr>
          <p:spPr>
            <a:xfrm>
              <a:off x="2967809" y="4992052"/>
              <a:ext cx="922382" cy="205359"/>
            </a:xfrm>
            <a:prstGeom prst="rect">
              <a:avLst/>
            </a:prstGeom>
            <a:noFill/>
            <a:ln>
              <a:noFill/>
            </a:ln>
          </p:spPr>
          <p:txBody>
            <a:bodyPr wrap="none" lIns="0" tIns="0" rIns="0" bIns="0" anchor="t" anchorCtr="0">
              <a:spAutoFit/>
            </a:bodyPr>
            <a:lstStyle/>
            <a:p>
              <a:pPr algn="ctr"/>
              <a:r>
                <a:rPr lang="tr-TR" sz="1050" dirty="0">
                  <a:solidFill>
                    <a:srgbClr val="2E86AB"/>
                  </a:solidFill>
                  <a:latin typeface="+mn-lt"/>
                  <a:ea typeface="+mn-ea"/>
                  <a:cs typeface="+mn-cs"/>
                </a:rPr>
                <a:t>seçilen eşik t</a:t>
              </a:r>
            </a:p>
          </p:txBody>
        </p:sp>
        <p:sp>
          <p:nvSpPr>
            <p:cNvPr id="18" name="Rectangle 18"/>
            <p:cNvSpPr/>
            <p:nvPr/>
          </p:nvSpPr>
          <p:spPr>
            <a:xfrm>
              <a:off x="1143000" y="1905000"/>
              <a:ext cx="4762500" cy="2857500"/>
            </a:xfrm>
            <a:prstGeom prst="rect">
              <a:avLst/>
            </a:prstGeom>
            <a:solidFill>
              <a:srgbClr val="00A6A6">
                <a:alpha val="6000"/>
              </a:srgbClr>
            </a:solidFill>
            <a:ln>
              <a:noFill/>
            </a:ln>
          </p:spPr>
        </p:sp>
        <p:sp>
          <p:nvSpPr>
            <p:cNvPr id="19" name="TextBox 19"/>
            <p:cNvSpPr txBox="1"/>
            <p:nvPr/>
          </p:nvSpPr>
          <p:spPr>
            <a:xfrm>
              <a:off x="1327404" y="2061210"/>
              <a:ext cx="22513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Eğri altındaki alan (PR-AUC)</a:t>
              </a:r>
            </a:p>
          </p:txBody>
        </p:sp>
      </p:grpSp>
      <p:grpSp>
        <p:nvGrpSpPr>
          <p:cNvPr id="28" name="threshold-panel"/>
          <p:cNvGrpSpPr/>
          <p:nvPr/>
        </p:nvGrpSpPr>
        <p:grpSpPr>
          <a:xfrm>
            <a:off x="6858000" y="1333500"/>
            <a:ext cx="4724400" cy="4381500"/>
            <a:chOff x="6858000" y="1333500"/>
            <a:chExt cx="4724400" cy="4381500"/>
          </a:xfrm>
        </p:grpSpPr>
        <p:sp>
          <p:nvSpPr>
            <p:cNvPr id="21" name="Rectangle 21"/>
            <p:cNvSpPr/>
            <p:nvPr/>
          </p:nvSpPr>
          <p:spPr>
            <a:xfrm>
              <a:off x="6858000" y="1333500"/>
              <a:ext cx="4724400" cy="1905000"/>
            </a:xfrm>
            <a:prstGeom prst="roundRect">
              <a:avLst>
                <a:gd name="adj" fmla="val 5000"/>
              </a:avLst>
            </a:prstGeom>
            <a:solidFill>
              <a:srgbClr val="FFFFFF"/>
            </a:solidFill>
            <a:ln w="14288">
              <a:solidFill>
                <a:srgbClr val="B8CBD3"/>
              </a:solidFill>
            </a:ln>
          </p:spPr>
        </p:sp>
        <p:sp>
          <p:nvSpPr>
            <p:cNvPr id="22" name="TextBox 22"/>
            <p:cNvSpPr txBox="1"/>
            <p:nvPr/>
          </p:nvSpPr>
          <p:spPr>
            <a:xfrm>
              <a:off x="7078599" y="1506379"/>
              <a:ext cx="264761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Eşik t neye göre seçilir?</a:t>
              </a:r>
            </a:p>
          </p:txBody>
        </p:sp>
        <p:sp>
          <p:nvSpPr>
            <p:cNvPr id="23" name="TextBox 23"/>
            <p:cNvSpPr txBox="1"/>
            <p:nvPr/>
          </p:nvSpPr>
          <p:spPr>
            <a:xfrm>
              <a:off x="7080504" y="1870710"/>
              <a:ext cx="27553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Yanlış negatif (kaçırılan gerçek</a:t>
              </a:r>
              <a:br/>
              <a:r>
                <a:rPr lang="tr-TR" sz="1200" dirty="0">
                  <a:solidFill>
                    <a:srgbClr val="172B3A"/>
                  </a:solidFill>
                  <a:latin typeface="+mn-lt"/>
                  <a:ea typeface="+mn-ea"/>
                  <a:cs typeface="+mn-cs"/>
                </a:rPr>
                <a:t>vaka) ile yanlış pozitif (gereksiz</a:t>
              </a:r>
              <a:br/>
              <a:r>
                <a:rPr lang="tr-TR" sz="1200" dirty="0">
                  <a:solidFill>
                    <a:srgbClr val="172B3A"/>
                  </a:solidFill>
                  <a:latin typeface="+mn-lt"/>
                  <a:ea typeface="+mn-ea"/>
                  <a:cs typeface="+mn-cs"/>
                </a:rPr>
                <a:t>inceleme) maliyeti karşılaştırılır;</a:t>
              </a:r>
              <a:br/>
              <a:r>
                <a:rPr lang="tr-TR" sz="1200" dirty="0">
                  <a:solidFill>
                    <a:srgbClr val="172B3A"/>
                  </a:solidFill>
                  <a:latin typeface="+mn-lt"/>
                  <a:ea typeface="+mn-ea"/>
                  <a:cs typeface="+mn-cs"/>
                </a:rPr>
                <a:t>yalnızca varsayılan 0,5 kullanılmaz.</a:t>
              </a:r>
            </a:p>
          </p:txBody>
        </p:sp>
        <p:sp>
          <p:nvSpPr>
            <p:cNvPr id="24" name="Rectangle 24"/>
            <p:cNvSpPr/>
            <p:nvPr/>
          </p:nvSpPr>
          <p:spPr>
            <a:xfrm>
              <a:off x="6858000" y="3390900"/>
              <a:ext cx="4724400" cy="2324100"/>
            </a:xfrm>
            <a:prstGeom prst="roundRect">
              <a:avLst>
                <a:gd name="adj" fmla="val 4098"/>
              </a:avLst>
            </a:prstGeom>
            <a:solidFill>
              <a:srgbClr val="EAF4F6"/>
            </a:solidFill>
            <a:ln>
              <a:noFill/>
            </a:ln>
          </p:spPr>
        </p:sp>
        <p:sp>
          <p:nvSpPr>
            <p:cNvPr id="25" name="TextBox 25"/>
            <p:cNvSpPr txBox="1"/>
            <p:nvPr/>
          </p:nvSpPr>
          <p:spPr>
            <a:xfrm>
              <a:off x="7078599" y="3563779"/>
              <a:ext cx="149642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Derinlemesine</a:t>
              </a:r>
            </a:p>
          </p:txBody>
        </p:sp>
        <p:sp>
          <p:nvSpPr>
            <p:cNvPr id="26" name="TextBox 26"/>
            <p:cNvSpPr txBox="1"/>
            <p:nvPr/>
          </p:nvSpPr>
          <p:spPr>
            <a:xfrm>
              <a:off x="7080504" y="3909060"/>
              <a:ext cx="27553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PR-AUC yüksek olsa bile duyarlılık</a:t>
              </a:r>
              <a:br/>
              <a:r>
                <a:rPr lang="tr-TR" sz="1200" dirty="0">
                  <a:solidFill>
                    <a:srgbClr val="172B3A"/>
                  </a:solidFill>
                  <a:latin typeface="+mn-lt"/>
                  <a:ea typeface="+mn-ea"/>
                  <a:cs typeface="+mn-cs"/>
                </a:rPr>
                <a:t>düşük olabilir. Olasılık eşiği, iş</a:t>
              </a:r>
              <a:br/>
              <a:r>
                <a:rPr lang="tr-TR" sz="1200" dirty="0">
                  <a:solidFill>
                    <a:srgbClr val="172B3A"/>
                  </a:solidFill>
                  <a:latin typeface="+mn-lt"/>
                  <a:ea typeface="+mn-ea"/>
                  <a:cs typeface="+mn-cs"/>
                </a:rPr>
                <a:t>kapasitesi ve yanlış alarm maliyetine</a:t>
              </a:r>
              <a:br/>
              <a:r>
                <a:rPr lang="tr-TR" sz="1200" dirty="0">
                  <a:solidFill>
                    <a:srgbClr val="172B3A"/>
                  </a:solidFill>
                  <a:latin typeface="+mn-lt"/>
                  <a:ea typeface="+mn-ea"/>
                  <a:cs typeface="+mn-cs"/>
                </a:rPr>
                <a:t>göre ayrıca ayarlanmalıdır.</a:t>
              </a:r>
            </a:p>
          </p:txBody>
        </p:sp>
        <p:sp>
          <p:nvSpPr>
            <p:cNvPr id="27" name="TextBox 27"/>
            <p:cNvSpPr txBox="1"/>
            <p:nvPr/>
          </p:nvSpPr>
          <p:spPr>
            <a:xfrm>
              <a:off x="7080504" y="5013960"/>
              <a:ext cx="29839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PR-AUC farklı eşiklerdeki dengeyi</a:t>
              </a:r>
              <a:br/>
              <a:r>
                <a:rPr lang="tr-TR" sz="1200" dirty="0">
                  <a:solidFill>
                    <a:srgbClr val="172B3A"/>
                  </a:solidFill>
                  <a:latin typeface="+mn-lt"/>
                  <a:ea typeface="+mn-ea"/>
                  <a:cs typeface="+mn-cs"/>
                </a:rPr>
                <a:t>özetler; üretim eşiği kaçırma ve</a:t>
              </a:r>
              <a:br/>
              <a:r>
                <a:rPr lang="tr-TR" sz="1200" dirty="0">
                  <a:solidFill>
                    <a:srgbClr val="172B3A"/>
                  </a:solidFill>
                  <a:latin typeface="+mn-lt"/>
                  <a:ea typeface="+mn-ea"/>
                  <a:cs typeface="+mn-cs"/>
                </a:rPr>
                <a:t>yanlış alarm maliyetiyle birlikte seçilir.</a:t>
              </a:r>
            </a:p>
          </p:txBody>
        </p:sp>
      </p:grpSp>
      <p:sp>
        <p:nvSpPr>
          <p:cNvPr id="29" name="TextBox 2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imbalanc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65433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Dengesiz veri</a:t>
              </a:r>
            </a:p>
          </p:txBody>
        </p:sp>
        <p:sp>
          <p:nvSpPr>
            <p:cNvPr id="8" name="TextBox 8"/>
            <p:cNvSpPr txBox="1"/>
            <p:nvPr/>
          </p:nvSpPr>
          <p:spPr>
            <a:xfrm>
              <a:off x="832104" y="1908810"/>
              <a:ext cx="2382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Doğruluk tek başına yeterli</a:t>
              </a:r>
              <a:br/>
              <a:r>
                <a:rPr lang="tr-TR" sz="1200" dirty="0">
                  <a:solidFill>
                    <a:srgbClr val="172B3A"/>
                  </a:solidFill>
                  <a:latin typeface="+mn-lt"/>
                  <a:ea typeface="+mn-ea"/>
                  <a:cs typeface="+mn-cs"/>
                </a:rPr>
                <a:t>değildir; azınlık sınıfı için</a:t>
              </a:r>
              <a:br/>
              <a:r>
                <a:rPr lang="tr-TR" sz="1200" dirty="0">
                  <a:solidFill>
                    <a:srgbClr val="172B3A"/>
                  </a:solidFill>
                  <a:latin typeface="+mn-lt"/>
                  <a:ea typeface="+mn-ea"/>
                  <a:cs typeface="+mn-cs"/>
                </a:rPr>
                <a:t>precision, recall, F1 bakılmalı.</a:t>
              </a:r>
            </a:p>
          </p:txBody>
        </p:sp>
      </p:grpSp>
      <p:grpSp>
        <p:nvGrpSpPr>
          <p:cNvPr id="13" name="summary-smote"/>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86511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SMOTE</a:t>
              </a:r>
            </a:p>
          </p:txBody>
        </p:sp>
        <p:sp>
          <p:nvSpPr>
            <p:cNvPr id="12" name="TextBox 12"/>
            <p:cNvSpPr txBox="1"/>
            <p:nvPr/>
          </p:nvSpPr>
          <p:spPr>
            <a:xfrm>
              <a:off x="4565904" y="1908810"/>
              <a:ext cx="24658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Sentetik eğitim örnekleri üretir;</a:t>
              </a:r>
              <a:br/>
              <a:r>
                <a:rPr lang="tr-TR" sz="1200" dirty="0">
                  <a:solidFill>
                    <a:srgbClr val="172B3A"/>
                  </a:solidFill>
                  <a:latin typeface="+mn-lt"/>
                  <a:ea typeface="+mn-ea"/>
                  <a:cs typeface="+mn-cs"/>
                </a:rPr>
                <a:t>yalnızca eğitim katında</a:t>
              </a:r>
              <a:br/>
              <a:r>
                <a:rPr lang="tr-TR" sz="1200" dirty="0">
                  <a:solidFill>
                    <a:srgbClr val="172B3A"/>
                  </a:solidFill>
                  <a:latin typeface="+mn-lt"/>
                  <a:ea typeface="+mn-ea"/>
                  <a:cs typeface="+mn-cs"/>
                </a:rPr>
                <a:t>uygulanmalıdır.</a:t>
              </a:r>
            </a:p>
          </p:txBody>
        </p:sp>
      </p:grpSp>
      <p:grpSp>
        <p:nvGrpSpPr>
          <p:cNvPr id="17" name="summary-leakage"/>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85817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sızıntısı</a:t>
              </a:r>
            </a:p>
          </p:txBody>
        </p:sp>
        <p:sp>
          <p:nvSpPr>
            <p:cNvPr id="16" name="TextBox 16"/>
            <p:cNvSpPr txBox="1"/>
            <p:nvPr/>
          </p:nvSpPr>
          <p:spPr>
            <a:xfrm>
              <a:off x="8299704" y="1908810"/>
              <a:ext cx="19629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Bölme öncesi SMOTE, test</a:t>
              </a:r>
              <a:br/>
              <a:r>
                <a:rPr lang="tr-TR" sz="1200" dirty="0">
                  <a:solidFill>
                    <a:srgbClr val="172B3A"/>
                  </a:solidFill>
                  <a:latin typeface="+mn-lt"/>
                  <a:ea typeface="+mn-ea"/>
                  <a:cs typeface="+mn-cs"/>
                </a:rPr>
                <a:t>bilgisini eğitime taşıyarak</a:t>
              </a:r>
              <a:br/>
              <a:r>
                <a:rPr lang="tr-TR" sz="1200" dirty="0">
                  <a:solidFill>
                    <a:srgbClr val="172B3A"/>
                  </a:solidFill>
                  <a:latin typeface="+mn-lt"/>
                  <a:ea typeface="+mn-ea"/>
                  <a:cs typeface="+mn-cs"/>
                </a:rPr>
                <a:t>sızıntı doğurur.</a:t>
              </a:r>
            </a:p>
          </p:txBody>
        </p:sp>
      </p:grpSp>
      <p:grpSp>
        <p:nvGrpSpPr>
          <p:cNvPr id="21" name="summary-weight"/>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6212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class_weight</a:t>
              </a:r>
            </a:p>
          </p:txBody>
        </p:sp>
        <p:sp>
          <p:nvSpPr>
            <p:cNvPr id="20" name="TextBox 20"/>
            <p:cNvSpPr txBox="1"/>
            <p:nvPr/>
          </p:nvSpPr>
          <p:spPr>
            <a:xfrm>
              <a:off x="832104" y="3718560"/>
              <a:ext cx="22677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Sentetik veri üretmeden hata</a:t>
              </a:r>
              <a:br/>
              <a:r>
                <a:rPr lang="tr-TR" sz="1200" dirty="0">
                  <a:solidFill>
                    <a:srgbClr val="172B3A"/>
                  </a:solidFill>
                  <a:latin typeface="+mn-lt"/>
                  <a:ea typeface="+mn-ea"/>
                  <a:cs typeface="+mn-cs"/>
                </a:rPr>
                <a:t>maliyetini değiştirir; güçlü bir</a:t>
              </a:r>
              <a:br/>
              <a:r>
                <a:rPr lang="tr-TR" sz="1200" dirty="0">
                  <a:solidFill>
                    <a:srgbClr val="172B3A"/>
                  </a:solidFill>
                  <a:latin typeface="+mn-lt"/>
                  <a:ea typeface="+mn-ea"/>
                  <a:cs typeface="+mn-cs"/>
                </a:rPr>
                <a:t>başlangıç yaklaşımıdır.</a:t>
              </a:r>
            </a:p>
          </p:txBody>
        </p:sp>
      </p:grpSp>
      <p:grpSp>
        <p:nvGrpSpPr>
          <p:cNvPr id="25" name="summary-pipeline"/>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43779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Sızıntısız Pipeline</a:t>
              </a:r>
            </a:p>
          </p:txBody>
        </p:sp>
        <p:sp>
          <p:nvSpPr>
            <p:cNvPr id="24" name="TextBox 24"/>
            <p:cNvSpPr txBox="1"/>
            <p:nvPr/>
          </p:nvSpPr>
          <p:spPr>
            <a:xfrm>
              <a:off x="4565904" y="3718560"/>
              <a:ext cx="23820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Ölçekleme, örnekleme ve</a:t>
              </a:r>
              <a:br/>
              <a:r>
                <a:rPr lang="tr-TR" sz="1200" dirty="0">
                  <a:solidFill>
                    <a:srgbClr val="172B3A"/>
                  </a:solidFill>
                  <a:latin typeface="+mn-lt"/>
                  <a:ea typeface="+mn-ea"/>
                  <a:cs typeface="+mn-cs"/>
                </a:rPr>
                <a:t>modellemeyi çapraz doğrulama</a:t>
              </a:r>
              <a:br/>
              <a:r>
                <a:rPr lang="tr-TR" sz="1200" dirty="0">
                  <a:solidFill>
                    <a:srgbClr val="172B3A"/>
                  </a:solidFill>
                  <a:latin typeface="+mn-lt"/>
                  <a:ea typeface="+mn-ea"/>
                  <a:cs typeface="+mn-cs"/>
                </a:rPr>
                <a:t>içinde doğru sırada çalıştırır.</a:t>
              </a:r>
            </a:p>
          </p:txBody>
        </p:sp>
      </p:grpSp>
      <p:grpSp>
        <p:nvGrpSpPr>
          <p:cNvPr id="29" name="summary-prauc"/>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90543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PR-AUC</a:t>
              </a:r>
            </a:p>
          </p:txBody>
        </p:sp>
        <p:sp>
          <p:nvSpPr>
            <p:cNvPr id="28" name="TextBox 28"/>
            <p:cNvSpPr txBox="1"/>
            <p:nvPr/>
          </p:nvSpPr>
          <p:spPr>
            <a:xfrm>
              <a:off x="8299704" y="3718560"/>
              <a:ext cx="21381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Kesinlik-duyarlılık dengesini</a:t>
              </a:r>
              <a:br/>
              <a:r>
                <a:rPr lang="tr-TR" sz="1200" dirty="0">
                  <a:solidFill>
                    <a:srgbClr val="172B3A"/>
                  </a:solidFill>
                  <a:latin typeface="+mn-lt"/>
                  <a:ea typeface="+mn-ea"/>
                  <a:cs typeface="+mn-cs"/>
                </a:rPr>
                <a:t>özetler; eşik ve maliyetle</a:t>
              </a:r>
              <a:br/>
              <a:r>
                <a:rPr lang="tr-TR" sz="1200" dirty="0">
                  <a:solidFill>
                    <a:srgbClr val="172B3A"/>
                  </a:solidFill>
                  <a:latin typeface="+mn-lt"/>
                  <a:ea typeface="+mn-ea"/>
                  <a:cs typeface="+mn-cs"/>
                </a:rPr>
                <a:t>birlikte yorumlanmalıdır.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1034384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Model kalitesi tek bir skorla değil; bölme, dönüşüm sırası ve iş maliyetiyle ölçülür.</a:t>
              </a:r>
            </a:p>
          </p:txBody>
        </p:sp>
        <p:sp>
          <p:nvSpPr>
            <p:cNvPr id="32" name="TextBox 32"/>
            <p:cNvSpPr txBox="1"/>
            <p:nvPr/>
          </p:nvSpPr>
          <p:spPr>
            <a:xfrm>
              <a:off x="906399" y="5583079"/>
              <a:ext cx="869072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Kök neden teşhisi: eğitim/doğrulama skor farkı, özellik önemi, şüpheli sütun testi.</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9950577" cy="724281"/>
            <a:chOff x="599694" y="1484948"/>
            <a:chExt cx="9950577" cy="724281"/>
          </a:xfrm>
        </p:grpSpPr>
        <p:sp>
          <p:nvSpPr>
            <p:cNvPr id="7" name="TextBox 7"/>
            <p:cNvSpPr txBox="1"/>
            <p:nvPr/>
          </p:nvSpPr>
          <p:spPr>
            <a:xfrm>
              <a:off x="599694" y="1484948"/>
              <a:ext cx="9950577" cy="7242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Sızıntısız Pipeline mantığı artık kodunuzun içinde görünür. Sıradaki adım, aynı</a:t>
              </a:r>
              <a:br/>
              <a:r>
                <a:rPr lang="tr-TR" sz="1950" dirty="0">
                  <a:solidFill>
                    <a:srgbClr val="172B3A"/>
                  </a:solidFill>
                  <a:latin typeface="+mn-lt"/>
                  <a:ea typeface="+mn-ea"/>
                  <a:cs typeface="+mn-cs"/>
                </a:rPr>
                <a:t>disiplini metin verisindeki sınıf dengesizliğine taşımaktır.</a:t>
              </a:r>
            </a:p>
          </p:txBody>
        </p:sp>
      </p:grpSp>
      <p:grpSp>
        <p:nvGrpSpPr>
          <p:cNvPr id="14" name="bridge-now"/>
          <p:cNvGrpSpPr/>
          <p:nvPr/>
        </p:nvGrpSpPr>
        <p:grpSpPr>
          <a:xfrm>
            <a:off x="599694" y="2799398"/>
            <a:ext cx="2884170" cy="1834419"/>
            <a:chOff x="599694" y="2799398"/>
            <a:chExt cx="2884170"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61454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SMOTE'u yalnızca eğitim</a:t>
              </a:r>
              <a:br/>
              <a:r>
                <a:rPr lang="tr-TR" sz="1580" dirty="0">
                  <a:solidFill>
                    <a:srgbClr val="172B3A"/>
                  </a:solidFill>
                  <a:latin typeface="+mn-lt"/>
                  <a:ea typeface="+mn-ea"/>
                  <a:cs typeface="+mn-cs"/>
                </a:rPr>
                <a:t>katında güvenle uygulamak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63461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PR-AUC'yi eşik ve maliyetle</a:t>
              </a:r>
              <a:br/>
              <a:r>
                <a:rPr lang="tr-TR" sz="1580" dirty="0">
                  <a:solidFill>
                    <a:srgbClr val="172B3A"/>
                  </a:solidFill>
                  <a:latin typeface="+mn-lt"/>
                  <a:ea typeface="+mn-ea"/>
                  <a:cs typeface="+mn-cs"/>
                </a:rPr>
                <a:t>birlikte yorumlamak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2498169"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Metin madenciliği</a:t>
              </a:r>
              <a:br/>
              <a:r>
                <a:rPr lang="tr-TR" sz="2250" b="1" dirty="0">
                  <a:solidFill>
                    <a:srgbClr val="FFFFFF"/>
                  </a:solidFill>
                  <a:latin typeface="+mn-lt"/>
                  <a:ea typeface="+mn-ea"/>
                  <a:cs typeface="+mn-cs"/>
                </a:rPr>
                <a:t>ve NLP</a:t>
              </a:r>
            </a:p>
          </p:txBody>
        </p:sp>
        <p:sp>
          <p:nvSpPr>
            <p:cNvPr id="18" name="TextBox 18"/>
            <p:cNvSpPr txBox="1"/>
            <p:nvPr/>
          </p:nvSpPr>
          <p:spPr>
            <a:xfrm>
              <a:off x="7307199" y="4135279"/>
              <a:ext cx="3407156" cy="803338"/>
            </a:xfrm>
            <a:prstGeom prst="rect">
              <a:avLst/>
            </a:prstGeom>
            <a:noFill/>
            <a:ln>
              <a:noFill/>
            </a:ln>
          </p:spPr>
          <p:txBody>
            <a:bodyPr wrap="none" lIns="0" tIns="0" rIns="0" bIns="0" anchor="t" anchorCtr="0">
              <a:spAutoFit/>
            </a:bodyPr>
            <a:lstStyle/>
            <a:p>
              <a:pPr algn="l">
                <a:lnSpc>
                  <a:spcPts val="1950"/>
                </a:lnSpc>
              </a:pPr>
              <a:r>
                <a:rPr lang="tr-TR" sz="1580" dirty="0">
                  <a:solidFill>
                    <a:srgbClr val="EAF4F6"/>
                  </a:solidFill>
                  <a:latin typeface="+mn-lt"/>
                  <a:ea typeface="+mn-ea"/>
                  <a:cs typeface="+mn-cs"/>
                </a:rPr>
                <a:t>Duygu analizinde de benzer</a:t>
              </a:r>
              <a:br/>
              <a:r>
                <a:rPr lang="tr-TR" sz="1580" dirty="0">
                  <a:solidFill>
                    <a:srgbClr val="EAF4F6"/>
                  </a:solidFill>
                  <a:latin typeface="+mn-lt"/>
                  <a:ea typeface="+mn-ea"/>
                  <a:cs typeface="+mn-cs"/>
                </a:rPr>
                <a:t>sınıf dengesizliği tartışmalarıyla</a:t>
              </a:r>
              <a:br/>
              <a:r>
                <a:rPr lang="tr-TR" sz="1580" dirty="0">
                  <a:solidFill>
                    <a:srgbClr val="EAF4F6"/>
                  </a:solidFill>
                  <a:latin typeface="+mn-lt"/>
                  <a:ea typeface="+mn-ea"/>
                  <a:cs typeface="+mn-cs"/>
                </a:rPr>
                <a:t>karşılaşacaksınız.</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968547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Ch12'de metin sınıflandırma problemlerinde de PR-AUC ve F1 tartışmalarıyla</a:t>
              </a:r>
            </a:p>
          </p:txBody>
        </p:sp>
        <p:sp>
          <p:nvSpPr>
            <p:cNvPr id="22" name="TextBox 22"/>
            <p:cNvSpPr txBox="1"/>
            <p:nvPr/>
          </p:nvSpPr>
          <p:spPr>
            <a:xfrm>
              <a:off x="906399" y="5830729"/>
              <a:ext cx="9392307" cy="308039"/>
            </a:xfrm>
            <a:prstGeom prst="rect">
              <a:avLst/>
            </a:prstGeom>
            <a:noFill/>
            <a:ln>
              <a:noFill/>
            </a:ln>
          </p:spPr>
          <p:txBody>
            <a:bodyPr wrap="none" lIns="0" tIns="0" rIns="0" bIns="0" anchor="t" anchorCtr="0">
              <a:spAutoFit/>
            </a:bodyPr>
            <a:lstStyle/>
            <a:p>
              <a:pPr algn="l"/>
              <a:r>
                <a:rPr lang="tr-TR" sz="1580" dirty="0">
                  <a:solidFill>
                    <a:srgbClr val="12355B"/>
                  </a:solidFill>
                  <a:latin typeface="+mn-lt"/>
                  <a:ea typeface="+mn-ea"/>
                  <a:cs typeface="+mn-cs"/>
                </a:rPr>
                <a:t>karşılaşacaksınız — burada öğrendiğiniz sızıntısız Pipeline mantığı doğrudan uygulanır.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11_dengesiz_veri_ve_tuzaklar-20260916">
  <a:themeElements>
    <a:clrScheme name="ch11_dengesiz_veri_ve_tuzaklar-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1_dengesiz_veri_ve_tuzaklar-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1_dengesiz_veri_ve_tuzaklar-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11_dengesiz_veri_ve_tuzaklar-20260916">
  <a:themeElements>
    <a:clrScheme name="ch11_dengesiz_veri_ve_tuzaklar-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11_dengesiz_veri_ve_tuzaklar-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11_dengesiz_veri_ve_tuzaklar-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2026-09-19T21:22:22Z</dcterms:created>
  <dcterms:modified xsi:type="dcterms:W3CDTF">2026-09-19T21:22:22Z</dcterms:modified>
  <cp:category/>
  <cp:contentStatus/>
</cp:coreProperties>
</file>