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16x9"/>
  <p:notesSz cx="6858000" cy="9144000"/>
  <p:defaultText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  <Relationship Id="rId3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r-T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r-TR"/>
          </a:p>
        </p:txBody>
      </p:sp>
    </p:spTree>
  </p:cSld>
  <p:clrMap bg1="lt1" tx1="dk1" bg2="lt2" tx2="dk2" accent1="accent1" accent2="accent2" accent3="accent3" accent4="accent4" accent5="accent5" accent6="accent6" hlink="hlink" folHlink="folHlink"/>
  <p:hf/>
  <p:notesStyle>
    <a:lvl1pPr marL="0" algn="l">
      <a:defRPr sz="1200" lang="tr-T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 bir süpermarket zincirinde veri analisti olarak çalışan Yasemin'in kasa fişlerini incelerken karşılaştığı somut bir soruyla açılıyor: binlerce işlemden hangi ürün birlikteliklerinin gerçekten anlamlı olduğunu nasıl ayırt edebiliriz? Birliktelik kuralı madenciliğinin çekiciliği, ürettiği sonuçların hiçbir teknik arka plan gerektirmeden anlaşılabilir olmasından gelir; "ekmek ve tereyağı alanların büyük bir kısmı reçel de alıyor" gibi bir kural doğrudan raf düzenine veya kampanya tasarımına dönüştürülebilir. Apriori 1994'te Agrawal ve Srikant tarafından, FP-Growth ise 2000'de Han, Pei ve Yin tarafından önerilmiştir; ikisi rakip değil, farklı ölçeklerde tamamlayıcı iki araçtır.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Bölümün ilerleyişi beş soru etrafında kurgulanıyor ve her biri kendinden önceki cevabın üzerine inşa ediliyor: önce birlikteliği sayısal olarak ölçmenin yolu bulunuyor, ardından destek-güven-kaldıraç arasındaki ayrım netleştiriliyor, sonra bu ölçümleri üreten iki algoritma incelenip karşılaştırılıyor ve son olarak elde edilen yüzlerce kuraldan işe yarayanı süzme becerisi kazandırılıyor. Bu sıralama bilinçli bir tercih: önce elle hesaplama yapılıp sezgi oturtuluyor, ancak ondan sonra kütüphane koduna geçiliyor, çünkü `association_rules` çıktısındaki bir sütunu doğru yorumlayabilmek önce o sütunun matematiksel tanımını bilmeyi gerektiriyor.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Başarı ölçütü yalnızca "bir fonksiyonu çalıştırabilmek" değil, çok daha spesifik: öğrencinin bir işlem veri kümesinden `TransactionEncoder` ile öğe matrisi üretebilmesi, Apriori ve FP-Growth ile sık öğe kümelerini çıkarıp aynı sonucu farklı yollarla elde ettiklerini bizzat doğrulayabilmesi ve üretilen kuralları yalnızca güvene göre değil kaldıraca göre de filtreleyerek istatistiksel olarak anlamlı olanları raporlayabilmesi bekleniyor. Bu son nokta özellikle vurgulanıyor çünkü yüksek güvenli ama kaldıracı 1'e yakın bir kural, çoğu zaman yalnızca sonucun zaten popüler olmasından kaynaklanır ve iş kararına dönüştürülmeye değmez.</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Kavram haritasındaki ok yönleri bölümün mantıksal akışını yansıtıyor: işlem verisi önce one-hot kodlamayla sayısal bir matrise dönüştürülüyor, bu matris üzerinden destek/güven/kaldıraç hesaplanıyor, aynı matris hem Apriori hem FP-Growth'a girdi oluyor ve her ikisi de sık öğe kümelerini üretiyor, son olarak bu kümelerden türetilen kurallar kaldıraç eşiğiyle filtreleniyor. Apriori ile FP-Growth arasındaki bağın kesikli değil dolu ok olarak gösterilmesinin nedeni, ikisinin matematiksel olarak özdeş sonuç ürettiğinin baştan vurgulanmak istenmesidir; fark yalnızca hesaplama stratejisinde, sonuçta değil.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Yasemin'in senaryosu bilinçli seçilmiş bir örnek: ham veri (kasa fişleri) tek başına bir hikâye anlatmıyor, ancak doğru matematiksel çerçeveyle sorgulandığında iş kararlarını doğrudan etkileyecek örüntüler ortaya çıkıyor. Burada vurgulanması gereken risk şu — yüzlerce, hatta binlerce kural üretildiğinde hangisinin gerçekten iş değeri taşıdığını hangisinin tesadüfi olduğunu ayırt etmek kolay değil; bu ayrım tam olarak destek, güven ve özellikle kaldıraç metrikleri arasındaki farkı anlamaktan geçiyor. Bölüm sonunda Yasemin'in senaryosuna geri dönülecek ve öğrendiği kaldıraç eşiğini kullanarak kendisi karar verip bu kararı ekibine sayısal gerekçeyle savunabilecek hale gelecek.</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Pazar sepeti analizinin sezgisel benzetmesi bir kütüphanecinin binlerce ödünç alma fişini incelemesidir: kütüphaneci birkaç yüz fişte "bu romanı alanların çoğu şu deneme kitabını da alıyor" örüntüsünü gözle yakalayabilir, ama veri milyonlarca işlemden oluşuyorsa gözle inceleme imkânsızlaşır ve birliktelik kuralı madenciliği bu gözlemi otomatikleştirip nicelleştirir. Ham işlem verisi doğası gereği seyrektir; binlerce farklı ürün olabilir ama tek bir sepette bunların yalnızca birkaçı bulunur, ve bu seyreklik "hangi ürün çiftleri sıkça birlikte görülüyor" sorusunu kaba kuvvetle yanıtlamayı imkânsız kılar çünkü n ürün için olası öğe kümesi sayısı 2^n mertebesindedir — 100 ürünlük mütevazı bir mağaza için bile bu sayı akıl almaz büyüklüktedir. Yöntem yalnızca marketle sınırlı değil: e-ticarette "bunu alanlar şunu da aldı" önerisi, hastane sisteminde birlikte reçete edilen ilaç kombinasyonları, web sitesinde art arda ziyaret edilen sayfalar hep aynı çerçeveye dayanır.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karşılaştırmanın amacı öğrenciye "neden başka bir yöntem değil de bu" sorusunu düşündürmek. Kümeleme müşterileri satın alma davranışına göre gruplayabilir ama "X alınırsa Y de alınır" biçiminde yönlü ve doğrudan yorumlanabilir kurallar üretmez; korelasyon matrisi ikili ilişki gösterebilir ama üç veya daha fazla öğeden oluşan kümeleri (X, Y → Z gibi) doğal olarak ele alamaz. Birliktelik kuralı madenciliğinin özgün katkısı, hem yönlü hem çok öğeli ilişkileri aynı çerçevede yakalayabilmesidir — bu, sonraki sayfalarda ele alınacak Apriori ve FP-Growth'un neden özel olarak bu problem için tasarlandığının gerekçesidir.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`TransactionEncoder` sınıfının `fit` ve `transform` olarak iki adıma ayrılmasının nedeni, önce tüm veri kümesindeki benzersiz ürünlerin öğrenilmesi (fit), ardından her işlemin bu sabit sütun kümesine göre kodlanmasıdır (transform); bu ayrım, yeni gelen işlemlerin de aynı sütun düzenine göre kodlanabilmesini garanti eder. Sütun adlarının alfabetik sırada gelmesi mlxtend'in varsayılan davranışıdır ve `use_colnames=True` verilmezse sonuçta yalnızca sütun indeksi görünür, bu da ürün adı ile indeks numarasını karıştırma riskini doğurur — bu yüzden ilerleyen sayfalarda bu parametrenin her zaman açık tutulması öneriliyor.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Üç metrik birbirini tamamlayan ama birbirinin yerine geçmeyen ölçümlerdir: destek bir kümenin veri içindeki genel yaygınlığını, güven öncülün gerçekleştiği durumlarda sonucun ne sıklıkla göründüğünü, kaldıraç ise bu birlikteliğin rastlantısal beklentiden ne kadar saptığını ölçer. Kaldıracın payı P(X,Y), paydası ise P(X)·P(Y) olduğundan, kaldıraç değeri 1'e eşitse X ve Y istatistiksel olarak bağımsızdır; 1'in üzerindeyse pozitif ilişki, altındaysa negatif ilişki söz konusudur. Bu üçünün birlikte okunması gerektiği vurgusu, ilerleyen sayfalarda sınav analojisiyle ve ekmek-süt örneğiyle somutlaştırılacak.</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Ekmek→süt ve süt→ekmek kurallarının farklı güven değerleri üretmesinin (0,636 ve 0,583) nedeni basit: güvenin paydası öncülün desteğidir ve ekmek ile sütün destekleri (0,611 ve 0,667) birbirinden farklı olduğu için bölme işlemi iki yönde farklı sonuç verir. Sınav analojisinde bu durum şöyle ifade edilebilir: matematikten geçenlerin yüzde kaçının fizikten de geçtiği ile fizikten geçenlerin yüzde kaçının matematikten de geçtiği genelde birbirine eşit değildir, çünkü iki sınavı geçme oranları farklıdır. Burada hesaplanan kaldıraç değeri 0,955 ile 1'e oldukça yakın çıkıyor; bu, ekmek ve sütün bu sentetik veri kümesinde neredeyse bağımsız davrandığı, yani aralarındaki yüksek güvenin büyük ölçüde sütün zaten popüler bir ürün olmasından kaynaklandığı anlamına geliyor.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Apriori'nin temel dayanağı olan aşağı doğru kapanış (downward closure) ilkesi şunu söyler: bir öğe kümesi sıksa, onun her alt kümesi de mutlaka sıktır; tersinden okunursa, bir alt küme sık değilse onu içeren hiçbir üst küme de sık olamaz. Bu ilke, tıpkı bir turnuvada bir takımın finale kalabilmesi için önceki tüm turları geçmiş olması gerektiği gibi işler — final oynayan bir takımın ilk tur maçını kaybetmiş olması mantıksal olarak imkânsızdır. Bu özellik sayesinde Apriori, her seviyede yalnızca bir önceki seviyede sık çıkan kümelerden aday üretir ve geri kalan devasa arama uzayını hiç değerlendirmeden eler; algoritma 1994'te Agrawal ve Srikant tarafından bu gözlemin üzerine inşa edilmiştir.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Apriori'nin döngüsü dört adımdan oluşur: bir önceki seviyenin sık kümelerinden adaylar üretilir, downward closure ilkesiyle bu adaylardan alt kümesi sık olmayanlar budanır, kalan adayların desteği veritabanı taranarak sayılır ve eşiğin altında kalanlar elenir. Budama adımının önemi hafife alınmamalı: budama olmasaydı seviye başına aday sayısı kombinatoryal olarak patlardı ve büyük ürün kataloglarında algoritma pratikte çalıştırılamaz hale gelirdi. Sık yapılan bir hata, budama adımını atlayıp tüm olası kombinasyonları üretip sonra filtrelemektir — bu, algoritmanın en büyük performans kazanımını baştan feda etmek anlamına gelir.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min_support eşiğinin 0,5'ten 0,15'e düşürülmesiyle aday sayısının 4'ten 16'ya çıkması, eşiğin aday üretim maliyeti üzerindeki etkisini somut biçimde gösteriyor; gerçek dünya kataloglarında bu artış çok daha dramatik olabilir ve bu yüzden eşik seçimi rastgele değil, hesaplama bütçesi gözetilerek yapılmalıdır. min_support=0,3'te en yüksek destekli beş öğe kümesi arasında {süt} ve {ekmek} tek başlarına en yaygın ürünler olarak öne çıkıyor, {süt, yumurta} ise iki öğeli kümeler arasında en yüksek desteğe sahip. `use_colnames=True` parametresinin burada tekrar vurgulanmasının nedeni, sonuç tablosundaki itemsets sütununun sütun indeksi yerine okunabilir ürün adlarıyla gelmesini sağlaması ve bu sayede hata ayıklamanın kolaylaşmasıdır.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FP-Growth'un temel fikri, veritabanını tek bir geçişte sıkıştırılmış bir FP-ağacına dönüştürüp hiçbir aday öğe kümesi üretmeden ağaç üzerinde özyinelemeli arama yapmaktır; "growth" (büyütme) adı da sık öğe kümelerinin ağaçtan aşamalı olarak büyütülerek çıkarılmasından gelir. Posta dağıtım merkezi benzetmesinde Apriori her turda tüm adresleri baştan tararken, FP-Growth önce adresleri ortak güzergâh segmentlerine göre bir kez gruplandırır ve sonra her segmenti yalnızca kendi dalı üzerinde inceler — aynı sokak tekrar tekrar geçilmez. Ağaçta ortak önekleri paylaşan işlemler aynı dalı paylaşır ve kök düğüm her zaman boştur; bu yapı 2000 yılında Han, Pei ve Yin tarafından önerilmiştir.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Apriori'nin en büyük maliyeti, k. seviyedeki adayların desteğini saymak için veritabanının k kez taranması gerekliliğidir; büyük veri ve düşük destek eşiğinde bu G/Ç maliyeti ve bellek kullanımı ciddi biçimde artar. FP-Growth ise veritabanını yalnızca iki kez tarar: biri öğe frekanslarını bulmak, diğeri ağacı kurmak için. Burada altı çizilmesi gereken yaygın bir yanlış anlama var — "aday üretmeden çalışmak" "hiç arama yapmadan çalışmak" anlamına gelmez; algoritma yine koşullu örüntü tabanları üzerinde özyinelemeli arama yapar, yalnızca aday listesi tutmaz. Kritik olan şu: aynı min_support eşiğinde iki algoritma matematiksel olarak özdeş sonucu döndürür, fark yalnızca hesaplama hızındadır, doğrulukta değil.</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karşılaştırma tablosunun sentezi şu: küçük bir mağaza kataloğunda Apriori'nin adım adım izlenebilir mantığı hata ayıklamayı kolaylaştırırken, binlerce ürünlü bir e-ticaret kataloğunda FP-Growth'un tek geçişli tarayışı süreyi pratik sınırlar içinde tutar. İkisini birbirinin rakibi değil, farklı ölçek ve öğretim ihtiyaçlarına göre seçilecek tamamlayıcı araçlar olarak görmek gerekir; bir öğrencinin algoritmanın mantığını ilk kez öğrenirken Apriori ile başlayıp, üretim ortamında büyük veriyle çalışırken FP-Growth'a geçmesi tipik bir öğrenme-uygulama yoludur.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Ölçüm, time.perf_counter ile min_support=0,15'te 50 tekrarlı ortalama süre alınarak yapılıyor; bunun nedeni tek bir çalıştırmanın işletim sistemi gürültüsünden etkilenebilmesi ve sentetik verinin küçük olması nedeniyle mutlak sürenin değil oranın önemli olmasıdır. Bu küçük sentetik veri kümesinde fark (0,751 ms'ye karşı 0,494 ms, yaklaşık %34) mütevazı görünse de, işlem sayısı ve öğe çeşitliliği arttıkça — özellikle min_support düşürüldükçe — FP-Growth'un aday üretmeyen yapısı çok daha belirgin bir avantaj sağlar; bu, doğrudan veritabanı tarama sayısı farkının sonucudur. Bölümün alıştırma bölümünde 1000 işlemlik bir veri kümesiyle bu farkın kat kat büyüdüğü gösteriliyor.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Sık öğe kümelerinin tek başına yeterli olmamasının nedeni, {ekmek, süt} gibi bir kümenin sık olmasının kime hangi ürünü önereceğinizi söylememesidir; `association_rules` bu kümelerden olası tüm öncül/sonuç bölünmelerini üreterek yönlü kurallara dönüştürür. n öğeli bir sık kümeden türetilebilecek yönlü bölünme sayısı yaklaşık 2^n − 2'dir (boş küme ve tüm küme hariç), bu yüzden birkaç düzine sık öğe kümesinden yüzlerce kural türeyebilir. Örnek veri kümesinde min_support=0,2 ve min_threshold=0,5 (confidence metriğiyle) ile toplam 13 kural üretiliyor; bu adım her zaman gereklidir ve atlanamaz, ancak hangi metrikle ve hangi eşikle filtreleneceği bağlama göre değişir — öneri motorunda yüksek güven, kampanya tasarımında yüksek destek öncelikli olabilir.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Üretilen 13 kuraldan lift &gt; 1,1 eşiğiyle süzülen ilk beş kural arasında {yumurta, ekmek}→{süt} en yüksek kaldıraca (1,500) ve tam güvene (1,000) sahip, bu da onu öncelikli aday yapıyor. Özellikle dikkat çekici olan {ekmek}→{tereyağı} kuralı: güveni yalnızca 0,545 olmasına rağmen kaldıracı 1,403 çıkıyor, yani tereyağı ekmek alanlarda ortalamaya göre yaklaşık %40 daha sık görülüyor — bu, düşük güvenli bir kuralın yine de iş açısından değerli olabileceğinin somut kanıtı. Buradaki temel uyarı, yalnızca güvene göre sıralayıp raporlamanın yaygın bir hata olduğu; yüksek güvenli ama kaldıracı 1'e yakın kurallar aslında yalnızca popülerliği yansıtır, gerçek bir ilişkiyi değil.</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sayfadaki 10 işlemlik küçük örnek bilinçli olarak seçilmiş çünkü elle sayılabilir büyüklükte: {A,B} 4 işlemde, {A,B,C} 3 işlemde, {C} ise 5 işlemde geçiyor, buradan destek 0,30, güven 0,75 ve kaldıraç 1,50 elde ediliyor. Bu üç değer aynı veri `TransactionEncoder`, `apriori` ve `association_rules` ile işlenip mlxtend çıktısıyla karşılaştırıldığında birebir örtüşüyor; bu doğrulama alışkanlığının önemi, kütüphane çıktısını sorgulamadan kabul etmenin veri hazırlama hatalarını (yanlış kodlama, yanlış sütun seçimi) gizleyebilmesidir. İlke basit: küçük ve elle izlenebilir bir alt kümede doğrulama yapmadan büyük veriye güvenmeyin.</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PazarSepetiAnalizcisi sınıfı, kodlama, iki algoritmanın çalıştırılması, kural üretimi ve en iyi önerilerin seçilmesi adımlarını ayrı metotlara böler; bu tasarımın amacı, algoritma değişse (Apriori↔FP-Growth) veya filtre eşiği değişse bile boru hattının geri kalanının bozulmamasıdır — bu, not defteri hücrelerini yeniden kullanılabilir bir arayüze dönüştürmenin ilk adımıdır. Mini-uygulamanın çıktısında Apriori 1,418 ms, FP-Growth 0,633 ms sürüyor ve en yüksek kaldıraçlı öneri olarak tereyağı→reçel kuralı 2,500 kaldıraç değeriyle öne çıkıyor; bu, tereyağı alanların reçeli ortalamaya göre 2,5 kat daha sık satın aldığı anlamına geliyor.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İlk yanılgı, yüksek güvenin mutlaka anlamlı bir kural olduğunu düşünmektir; oysa yüksek güven yalnızca sonucun sık satın alınan bir ürün olmasından da kaynaklanabilir ve bu yüzden güven her zaman kaldıraçla birlikte okunmalı, lift'i 1'e yakın kurallar rastlantısal popülerlik olarak elenmelidir. İkinci yanılgı, min_support'u olabildiğince düşük tutmanın daha iyi olduğu düşüncesidir; oysa çok düşük eşik aday öğe kümesi sayısını patlatır, hem hesaplama süresini uzatır hem binlerce anlamsız kural üretir — eşik 0,5'ten 0,3'e ve 0,15'e kademeli düşürülerek aday sayısı ve süre izlenerek ayarlanmalıdır. Üçüncü ve daha teknik bir yanılgı, mlxtend'in frozenset olarak döndürdüğü öğe kümelerini sıradan liste gibi karşılaştırmaya çalışmaktır; sıra farkı yüzünden eşitlik kontrolleri sessizce başarısız olabilir, bu yüzden karşılaştırma ve arama işlemlerinde daima frozenset veya set türü kullanılmalı, liste dönüşümü yalnızca görüntüleme aşamasında yapılmalıdır.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Destek, güven ve kaldıraç üçlüsünün her biri farklı bir şeyi ölçer ve her birinin kendi sınırı vardır: destek nadir ama değerli ilişkileri gizleyebilir, güven popüler ürünlerde yapay olarak yükselir, kaldıraç ise istatistiksel ilişkiyi gösterir ama mekanizmayı açıklamaz. Bölümün en kritik kavramsal uyarısı burada geliyor: tereyağı ve reçel arasında kaldıraçla ölçülen güçlü birliktelik (2,500), tereyağı almanın reçel almaya "sebep olduğu" anlamına gelmez; her iki ürün de kahvaltı rutini gibi ortak bir gizli değişkenden etkileniyor olabilir. Birliktelik kuralları "birlikte görülür" der, "biri diğerini yaratır" demez; nedensellik iddiası için A/B testi veya kontrollü deney gibi ayrı bir doğrulama gerekir — bu yüzden kaldıraçla bulunan güçlü kurallar kampanya kararına dönüştürülmeden önce küçük ölçekte test edilmelidir.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Bölüm boyunca işlenen altı ana fikir birbirine sıkı sıkıya bağlı: pazar sepeti analizi ham işlem verisini sayısal bir matrise dönüştürdü, üç temel metrik bu matristen anlam çıkarmanın farklı yollarını sundu, Apriori ve FP-Growth aynı sık öğe kümelerini iki farklı stratejiyle (biri seviye seviye budama, diğeri ağaç sıkıştırma) buldu, kural üretimi bu kümelerden yönlü önermeler türetti ve son olarak kaldıraç ile nedensellik ayrımı, bu önermelerin hangisinin gerçekten güvenilir olduğunu belirledi. Bölümün en önemli katkısı yalnızca "en çok satanı" bulmak değil; rastlantıdan güçlü, birlikte satın alınan ürün çiftlerini nesnel bir eşikle görünür kılmaktır.</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Birliktelik kuralı madenciliği, veriden çıkan tek bir kuralın veya tek bir örüntünün ne kadar güvenilir olduğunu sorgulamayı öğretti; bir sonraki bölüm bu sorgulama alışkanlığını farklı bir bağlamda, tek bir modelin kararsızlığı bağlamında ele alacak. Bagging ve Random Forest, tek bir karar ağacının veri örneklemesine göre değişen kararsız tahminlerini, çok sayıda ağacın oylamasıyla dengeleyen bir topluluk öğrenmesi (ensemble learning) yaklaşımı sunuyor; bu bölümde öğrenilen "tek bir metriğe güvenme, birden fazla açıdan doğrula" ilkesi orada da geçerliliğini koruyacak — burada kaldıraçla güveni birlikte okumak neyse, orada da tek bir ağaca değil ağaç topluluğuna güvenmek o olacak.</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ch08_birliktelik_kurallari-20260916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ch08_birliktelik_kurallari-20260916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tr-TR">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tr-TR">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tr-TR">
                <a:solidFill>
                  <a:schemeClr val="tx1">
                    <a:tint val="75000"/>
                  </a:schemeClr>
                </a:solidFill>
              </a:defRPr>
            </a:lvl1pPr>
          </a:lstStyle>
          <a:p>
            <a:fld id="{C1FF6DA9-008F-8B48-92A6-B652298478B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tr-T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tr-T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tr-T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tr-T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9pPr>
    </p:bodyStyle>
    <p:other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cover-panel"/>
          <p:cNvSpPr/>
          <p:nvPr/>
        </p:nvSpPr>
        <p:spPr>
          <a:xfrm>
            <a:off x="0" y="0"/>
            <a:ext cx="4191000" cy="6858000"/>
          </a:xfrm>
          <a:prstGeom prst="rect">
            <a:avLst/>
          </a:prstGeom>
          <a:solidFill>
            <a:srgbClr val="12355B"/>
          </a:solidFill>
          <a:ln>
            <a:noFill/>
          </a:ln>
        </p:spPr>
      </p:sp>
      <p:sp>
        <p:nvSpPr>
          <p:cNvPr id="3" name="Line 3"/>
          <p:cNvSpPr/>
          <p:nvPr/>
        </p:nvSpPr>
        <p:spPr>
          <a:xfrm>
            <a:off x="685800" y="5905500"/>
            <a:ext cx="10553700" cy="1"/>
          </a:xfrm>
          <a:prstGeom prst="line">
            <a:avLst/>
          </a:prstGeom>
          <a:noFill/>
          <a:ln w="19050">
            <a:solidFill>
              <a:srgbClr val="00A6A6"/>
            </a:solidFill>
            <a:tailEnd type="arrow" w="lg" len="lg"/>
          </a:ln>
        </p:spPr>
      </p:sp>
      <p:grpSp>
        <p:nvGrpSpPr>
          <p:cNvPr id="6" name="cover-chapter"/>
          <p:cNvGrpSpPr/>
          <p:nvPr/>
        </p:nvGrpSpPr>
        <p:grpSpPr>
          <a:xfrm>
            <a:off x="666750" y="2251710"/>
            <a:ext cx="1787319" cy="2410777"/>
            <a:chOff x="666750" y="2251710"/>
            <a:chExt cx="1787319" cy="2410777"/>
          </a:xfrm>
        </p:grpSpPr>
        <p:sp>
          <p:nvSpPr>
            <p:cNvPr id="4" name="TextBox 4"/>
            <p:cNvSpPr txBox="1"/>
            <p:nvPr/>
          </p:nvSpPr>
          <p:spPr>
            <a:xfrm>
              <a:off x="679704" y="2251710"/>
              <a:ext cx="668914" cy="234696"/>
            </a:xfrm>
            <a:prstGeom prst="rect">
              <a:avLst/>
            </a:prstGeom>
            <a:noFill/>
            <a:ln>
              <a:noFill/>
            </a:ln>
          </p:spPr>
          <p:txBody>
            <a:bodyPr wrap="none" lIns="0" tIns="0" rIns="0" bIns="0" anchor="t" anchorCtr="0">
              <a:spAutoFit/>
            </a:bodyPr>
            <a:lstStyle/>
            <a:p>
              <a:pPr algn="l"/>
              <a:r>
                <a:rPr lang="tr-TR" sz="1200" b="1" spc="225" dirty="0">
                  <a:solidFill>
                    <a:srgbClr val="EAF4F6"/>
                  </a:solidFill>
                  <a:latin typeface="+mn-lt"/>
                  <a:ea typeface="+mn-ea"/>
                  <a:cs typeface="+mn-cs"/>
                </a:rPr>
                <a:t>BÖLÜM</a:t>
              </a:r>
            </a:p>
          </p:txBody>
        </p:sp>
        <p:sp>
          <p:nvSpPr>
            <p:cNvPr id="5" name="TextBox 5"/>
            <p:cNvSpPr txBox="1"/>
            <p:nvPr/>
          </p:nvSpPr>
          <p:spPr>
            <a:xfrm>
              <a:off x="666750" y="2500312"/>
              <a:ext cx="1787319" cy="2162175"/>
            </a:xfrm>
            <a:prstGeom prst="rect">
              <a:avLst/>
            </a:prstGeom>
            <a:noFill/>
            <a:ln>
              <a:noFill/>
            </a:ln>
          </p:spPr>
          <p:txBody>
            <a:bodyPr wrap="none" lIns="0" tIns="0" rIns="0" bIns="0" anchor="t" anchorCtr="0">
              <a:spAutoFit/>
            </a:bodyPr>
            <a:lstStyle/>
            <a:p>
              <a:pPr algn="l"/>
              <a:r>
                <a:rPr lang="tr-TR" sz="11250" b="1" dirty="0">
                  <a:solidFill>
                    <a:srgbClr val="00A6A6"/>
                  </a:solidFill>
                  <a:latin typeface="+mj-lt"/>
                  <a:ea typeface="+mj-ea"/>
                  <a:cs typeface="+mj-cs"/>
                </a:rPr>
                <a:t>08</a:t>
              </a:r>
            </a:p>
          </p:txBody>
        </p:sp>
      </p:grpSp>
      <p:grpSp>
        <p:nvGrpSpPr>
          <p:cNvPr id="8" name="cover-title"/>
          <p:cNvGrpSpPr/>
          <p:nvPr/>
        </p:nvGrpSpPr>
        <p:grpSpPr>
          <a:xfrm>
            <a:off x="4933950" y="1674495"/>
            <a:ext cx="5342763" cy="1981200"/>
            <a:chOff x="4933950" y="1674495"/>
            <a:chExt cx="5342763" cy="1981200"/>
          </a:xfrm>
        </p:grpSpPr>
        <p:sp>
          <p:nvSpPr>
            <p:cNvPr id="7" name="TextBox 7"/>
            <p:cNvSpPr txBox="1"/>
            <p:nvPr/>
          </p:nvSpPr>
          <p:spPr>
            <a:xfrm>
              <a:off x="4933950" y="1674495"/>
              <a:ext cx="5342763" cy="1981200"/>
            </a:xfrm>
            <a:prstGeom prst="rect">
              <a:avLst/>
            </a:prstGeom>
            <a:noFill/>
            <a:ln>
              <a:noFill/>
            </a:ln>
          </p:spPr>
          <p:txBody>
            <a:bodyPr wrap="none" lIns="0" tIns="0" rIns="0" bIns="0" anchor="t" anchorCtr="0">
              <a:spAutoFit/>
            </a:bodyPr>
            <a:lstStyle/>
            <a:p>
              <a:pPr algn="l">
                <a:lnSpc>
                  <a:spcPts val="4800"/>
                </a:lnSpc>
              </a:pPr>
              <a:r>
                <a:rPr lang="tr-TR" sz="3900" b="1" dirty="0">
                  <a:solidFill>
                    <a:srgbClr val="12355B"/>
                  </a:solidFill>
                  <a:latin typeface="+mj-lt"/>
                  <a:ea typeface="+mj-ea"/>
                  <a:cs typeface="+mj-cs"/>
                </a:rPr>
                <a:t>Birliktelik Kuralı</a:t>
              </a:r>
              <a:br/>
              <a:r>
                <a:rPr lang="tr-TR" sz="3900" b="1" dirty="0">
                  <a:solidFill>
                    <a:srgbClr val="12355B"/>
                  </a:solidFill>
                  <a:latin typeface="+mj-lt"/>
                  <a:ea typeface="+mj-ea"/>
                  <a:cs typeface="+mj-cs"/>
                </a:rPr>
                <a:t>Madenciliği:</a:t>
              </a:r>
              <a:br/>
              <a:r>
                <a:rPr lang="tr-TR" sz="3900" b="1" dirty="0">
                  <a:solidFill>
                    <a:srgbClr val="12355B"/>
                  </a:solidFill>
                  <a:latin typeface="+mj-lt"/>
                  <a:ea typeface="+mj-ea"/>
                  <a:cs typeface="+mj-cs"/>
                </a:rPr>
                <a:t>Apriori ve FP-Growth</a:t>
              </a:r>
            </a:p>
          </p:txBody>
        </p:sp>
      </p:grpSp>
      <p:grpSp>
        <p:nvGrpSpPr>
          <p:cNvPr id="12" name="cover-subtitle"/>
          <p:cNvGrpSpPr/>
          <p:nvPr/>
        </p:nvGrpSpPr>
        <p:grpSpPr>
          <a:xfrm>
            <a:off x="4943094" y="4095750"/>
            <a:ext cx="3976056" cy="900018"/>
            <a:chOff x="4943094" y="4095750"/>
            <a:chExt cx="3976056" cy="900018"/>
          </a:xfrm>
        </p:grpSpPr>
        <p:sp>
          <p:nvSpPr>
            <p:cNvPr id="9" name="Rectangle 9"/>
            <p:cNvSpPr/>
            <p:nvPr/>
          </p:nvSpPr>
          <p:spPr>
            <a:xfrm>
              <a:off x="4953000" y="4095750"/>
              <a:ext cx="1143000" cy="38100"/>
            </a:xfrm>
            <a:prstGeom prst="rect">
              <a:avLst/>
            </a:prstGeom>
            <a:solidFill>
              <a:srgbClr val="00A6A6"/>
            </a:solidFill>
            <a:ln>
              <a:noFill/>
            </a:ln>
          </p:spPr>
        </p:sp>
        <p:sp>
          <p:nvSpPr>
            <p:cNvPr id="10" name="TextBox 10"/>
            <p:cNvSpPr txBox="1"/>
            <p:nvPr/>
          </p:nvSpPr>
          <p:spPr>
            <a:xfrm>
              <a:off x="4943094" y="4228148"/>
              <a:ext cx="3976056" cy="381381"/>
            </a:xfrm>
            <a:prstGeom prst="rect">
              <a:avLst/>
            </a:prstGeom>
            <a:noFill/>
            <a:ln>
              <a:noFill/>
            </a:ln>
          </p:spPr>
          <p:txBody>
            <a:bodyPr wrap="none" lIns="0" tIns="0" rIns="0" bIns="0" anchor="t" anchorCtr="0">
              <a:spAutoFit/>
            </a:bodyPr>
            <a:lstStyle/>
            <a:p>
              <a:pPr algn="l"/>
              <a:r>
                <a:rPr lang="tr-TR" sz="1950" dirty="0">
                  <a:solidFill>
                    <a:srgbClr val="2E86AB"/>
                  </a:solidFill>
                  <a:latin typeface="+mn-lt"/>
                  <a:ea typeface="+mn-ea"/>
                  <a:cs typeface="+mn-cs"/>
                </a:rPr>
                <a:t>Modern Veri Madenciliğine Giriş</a:t>
              </a:r>
            </a:p>
          </p:txBody>
        </p:sp>
        <p:sp>
          <p:nvSpPr>
            <p:cNvPr id="11" name="TextBox 11"/>
            <p:cNvSpPr txBox="1"/>
            <p:nvPr/>
          </p:nvSpPr>
          <p:spPr>
            <a:xfrm>
              <a:off x="4944999" y="4687729"/>
              <a:ext cx="249846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Prof. Dr. İsmail KIRBAŞ</a:t>
              </a:r>
            </a:p>
          </p:txBody>
        </p:sp>
      </p:grpSp>
      <p:grpSp>
        <p:nvGrpSpPr>
          <p:cNvPr id="14" name="cover-meta"/>
          <p:cNvGrpSpPr/>
          <p:nvPr/>
        </p:nvGrpSpPr>
        <p:grpSpPr>
          <a:xfrm>
            <a:off x="4946904" y="6233160"/>
            <a:ext cx="4973434" cy="234696"/>
            <a:chOff x="4946904" y="6233160"/>
            <a:chExt cx="4973434" cy="234696"/>
          </a:xfrm>
        </p:grpSpPr>
        <p:sp>
          <p:nvSpPr>
            <p:cNvPr id="13" name="TextBox 13"/>
            <p:cNvSpPr txBox="1"/>
            <p:nvPr/>
          </p:nvSpPr>
          <p:spPr>
            <a:xfrm>
              <a:off x="4946904" y="6233160"/>
              <a:ext cx="497343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Mehmet Akif Ersoy Üniversitesi · Bilgisayar Mühendisliği · 2026</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3606794" cy="557403"/>
            <a:chOff x="595122" y="282892"/>
            <a:chExt cx="3606794" cy="557403"/>
          </a:xfrm>
        </p:grpSpPr>
        <p:sp>
          <p:nvSpPr>
            <p:cNvPr id="4" name="TextBox 4"/>
            <p:cNvSpPr txBox="1"/>
            <p:nvPr/>
          </p:nvSpPr>
          <p:spPr>
            <a:xfrm>
              <a:off x="595122" y="282892"/>
              <a:ext cx="360679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yol haritası</a:t>
              </a:r>
            </a:p>
          </p:txBody>
        </p:sp>
      </p:grpSp>
      <p:grpSp>
        <p:nvGrpSpPr>
          <p:cNvPr id="7" name="roadmap-lead"/>
          <p:cNvGrpSpPr/>
          <p:nvPr/>
        </p:nvGrpSpPr>
        <p:grpSpPr>
          <a:xfrm>
            <a:off x="601599" y="1125379"/>
            <a:ext cx="5202566" cy="308039"/>
            <a:chOff x="601599" y="1125379"/>
            <a:chExt cx="5202566" cy="308039"/>
          </a:xfrm>
        </p:grpSpPr>
        <p:sp>
          <p:nvSpPr>
            <p:cNvPr id="6" name="TextBox 6"/>
            <p:cNvSpPr txBox="1"/>
            <p:nvPr/>
          </p:nvSpPr>
          <p:spPr>
            <a:xfrm>
              <a:off x="601599" y="1125379"/>
              <a:ext cx="520256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Bu bölümü okurken şu beş soruyu aklınızda tutun:</a:t>
              </a:r>
            </a:p>
          </p:txBody>
        </p:sp>
      </p:grpSp>
      <p:grpSp>
        <p:nvGrpSpPr>
          <p:cNvPr id="11" name="q1"/>
          <p:cNvGrpSpPr/>
          <p:nvPr/>
        </p:nvGrpSpPr>
        <p:grpSpPr>
          <a:xfrm>
            <a:off x="666750" y="1466850"/>
            <a:ext cx="8270968" cy="385668"/>
            <a:chOff x="666750" y="1466850"/>
            <a:chExt cx="8270968" cy="385668"/>
          </a:xfrm>
        </p:grpSpPr>
        <p:sp>
          <p:nvSpPr>
            <p:cNvPr id="8" name="Ellipse 8"/>
            <p:cNvSpPr/>
            <p:nvPr/>
          </p:nvSpPr>
          <p:spPr>
            <a:xfrm>
              <a:off x="666750" y="1466850"/>
              <a:ext cx="342900" cy="342900"/>
            </a:xfrm>
            <a:prstGeom prst="ellipse">
              <a:avLst/>
            </a:prstGeom>
            <a:solidFill>
              <a:srgbClr val="00A6A6"/>
            </a:solidFill>
            <a:ln>
              <a:noFill/>
            </a:ln>
          </p:spPr>
        </p:sp>
        <p:sp>
          <p:nvSpPr>
            <p:cNvPr id="9" name="TextBox 9"/>
            <p:cNvSpPr txBox="1"/>
            <p:nvPr/>
          </p:nvSpPr>
          <p:spPr>
            <a:xfrm>
              <a:off x="778865" y="1549718"/>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1</a:t>
              </a:r>
            </a:p>
          </p:txBody>
        </p:sp>
        <p:sp>
          <p:nvSpPr>
            <p:cNvPr id="10" name="TextBox 10"/>
            <p:cNvSpPr txBox="1"/>
            <p:nvPr/>
          </p:nvSpPr>
          <p:spPr>
            <a:xfrm>
              <a:off x="1173099" y="1544479"/>
              <a:ext cx="776461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Bir alışveriş sepetindeki ürün birlikteliklerini sayısal olarak nasıl ölçeriz?</a:t>
              </a:r>
            </a:p>
          </p:txBody>
        </p:sp>
      </p:grpSp>
      <p:grpSp>
        <p:nvGrpSpPr>
          <p:cNvPr id="15" name="q2"/>
          <p:cNvGrpSpPr/>
          <p:nvPr/>
        </p:nvGrpSpPr>
        <p:grpSpPr>
          <a:xfrm>
            <a:off x="666750" y="2038350"/>
            <a:ext cx="10154083" cy="385668"/>
            <a:chOff x="666750" y="2038350"/>
            <a:chExt cx="10154083" cy="385668"/>
          </a:xfrm>
        </p:grpSpPr>
        <p:sp>
          <p:nvSpPr>
            <p:cNvPr id="12" name="Ellipse 12"/>
            <p:cNvSpPr/>
            <p:nvPr/>
          </p:nvSpPr>
          <p:spPr>
            <a:xfrm>
              <a:off x="666750" y="2038350"/>
              <a:ext cx="342900" cy="342900"/>
            </a:xfrm>
            <a:prstGeom prst="ellipse">
              <a:avLst/>
            </a:prstGeom>
            <a:solidFill>
              <a:srgbClr val="00A6A6"/>
            </a:solidFill>
            <a:ln>
              <a:noFill/>
            </a:ln>
          </p:spPr>
        </p:sp>
        <p:sp>
          <p:nvSpPr>
            <p:cNvPr id="13" name="TextBox 13"/>
            <p:cNvSpPr txBox="1"/>
            <p:nvPr/>
          </p:nvSpPr>
          <p:spPr>
            <a:xfrm>
              <a:off x="778865" y="2121218"/>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2</a:t>
              </a:r>
            </a:p>
          </p:txBody>
        </p:sp>
        <p:sp>
          <p:nvSpPr>
            <p:cNvPr id="14" name="TextBox 14"/>
            <p:cNvSpPr txBox="1"/>
            <p:nvPr/>
          </p:nvSpPr>
          <p:spPr>
            <a:xfrm>
              <a:off x="1173099" y="2115979"/>
              <a:ext cx="964773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Destek, güven ve kaldıraç birbirinden hangi noktada ayrılır; hangisi ne zaman yanıltıcıdır?</a:t>
              </a:r>
            </a:p>
          </p:txBody>
        </p:sp>
      </p:grpSp>
      <p:grpSp>
        <p:nvGrpSpPr>
          <p:cNvPr id="19" name="q3"/>
          <p:cNvGrpSpPr/>
          <p:nvPr/>
        </p:nvGrpSpPr>
        <p:grpSpPr>
          <a:xfrm>
            <a:off x="666750" y="2609850"/>
            <a:ext cx="6665545" cy="385668"/>
            <a:chOff x="666750" y="2609850"/>
            <a:chExt cx="6665545" cy="385668"/>
          </a:xfrm>
        </p:grpSpPr>
        <p:sp>
          <p:nvSpPr>
            <p:cNvPr id="16" name="Ellipse 16"/>
            <p:cNvSpPr/>
            <p:nvPr/>
          </p:nvSpPr>
          <p:spPr>
            <a:xfrm>
              <a:off x="666750" y="2609850"/>
              <a:ext cx="342900" cy="342900"/>
            </a:xfrm>
            <a:prstGeom prst="ellipse">
              <a:avLst/>
            </a:prstGeom>
            <a:solidFill>
              <a:srgbClr val="00A6A6"/>
            </a:solidFill>
            <a:ln>
              <a:noFill/>
            </a:ln>
          </p:spPr>
        </p:sp>
        <p:sp>
          <p:nvSpPr>
            <p:cNvPr id="17" name="TextBox 17"/>
            <p:cNvSpPr txBox="1"/>
            <p:nvPr/>
          </p:nvSpPr>
          <p:spPr>
            <a:xfrm>
              <a:off x="778865" y="2692718"/>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3</a:t>
              </a:r>
            </a:p>
          </p:txBody>
        </p:sp>
        <p:sp>
          <p:nvSpPr>
            <p:cNvPr id="18" name="TextBox 18"/>
            <p:cNvSpPr txBox="1"/>
            <p:nvPr/>
          </p:nvSpPr>
          <p:spPr>
            <a:xfrm>
              <a:off x="1173099" y="2687479"/>
              <a:ext cx="615919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Apriori algoritması aday öğe kümelerini nasıl üretip budar?</a:t>
              </a:r>
            </a:p>
          </p:txBody>
        </p:sp>
      </p:grpSp>
      <p:grpSp>
        <p:nvGrpSpPr>
          <p:cNvPr id="23" name="q4"/>
          <p:cNvGrpSpPr/>
          <p:nvPr/>
        </p:nvGrpSpPr>
        <p:grpSpPr>
          <a:xfrm>
            <a:off x="666750" y="3181350"/>
            <a:ext cx="9654521" cy="385668"/>
            <a:chOff x="666750" y="3181350"/>
            <a:chExt cx="9654521" cy="385668"/>
          </a:xfrm>
        </p:grpSpPr>
        <p:sp>
          <p:nvSpPr>
            <p:cNvPr id="20" name="Ellipse 20"/>
            <p:cNvSpPr/>
            <p:nvPr/>
          </p:nvSpPr>
          <p:spPr>
            <a:xfrm>
              <a:off x="666750" y="3181350"/>
              <a:ext cx="342900" cy="342900"/>
            </a:xfrm>
            <a:prstGeom prst="ellipse">
              <a:avLst/>
            </a:prstGeom>
            <a:solidFill>
              <a:srgbClr val="00A6A6"/>
            </a:solidFill>
            <a:ln>
              <a:noFill/>
            </a:ln>
          </p:spPr>
        </p:sp>
        <p:sp>
          <p:nvSpPr>
            <p:cNvPr id="21" name="TextBox 21"/>
            <p:cNvSpPr txBox="1"/>
            <p:nvPr/>
          </p:nvSpPr>
          <p:spPr>
            <a:xfrm>
              <a:off x="778865" y="3264218"/>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4</a:t>
              </a:r>
            </a:p>
          </p:txBody>
        </p:sp>
        <p:sp>
          <p:nvSpPr>
            <p:cNvPr id="22" name="TextBox 22"/>
            <p:cNvSpPr txBox="1"/>
            <p:nvPr/>
          </p:nvSpPr>
          <p:spPr>
            <a:xfrm>
              <a:off x="1173099" y="3258979"/>
              <a:ext cx="914817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FP-Growth, Apriori'nin veritabanını tekrar tekrar tarama maliyetinden nasıl kaçınır?</a:t>
              </a:r>
            </a:p>
          </p:txBody>
        </p:sp>
      </p:grpSp>
      <p:grpSp>
        <p:nvGrpSpPr>
          <p:cNvPr id="27" name="q5"/>
          <p:cNvGrpSpPr/>
          <p:nvPr/>
        </p:nvGrpSpPr>
        <p:grpSpPr>
          <a:xfrm>
            <a:off x="666750" y="3752850"/>
            <a:ext cx="8313733" cy="385668"/>
            <a:chOff x="666750" y="3752850"/>
            <a:chExt cx="8313733" cy="385668"/>
          </a:xfrm>
        </p:grpSpPr>
        <p:sp>
          <p:nvSpPr>
            <p:cNvPr id="24" name="Ellipse 24"/>
            <p:cNvSpPr/>
            <p:nvPr/>
          </p:nvSpPr>
          <p:spPr>
            <a:xfrm>
              <a:off x="666750" y="3752850"/>
              <a:ext cx="342900" cy="342900"/>
            </a:xfrm>
            <a:prstGeom prst="ellipse">
              <a:avLst/>
            </a:prstGeom>
            <a:solidFill>
              <a:srgbClr val="00A6A6"/>
            </a:solidFill>
            <a:ln>
              <a:noFill/>
            </a:ln>
          </p:spPr>
        </p:sp>
        <p:sp>
          <p:nvSpPr>
            <p:cNvPr id="25" name="TextBox 25"/>
            <p:cNvSpPr txBox="1"/>
            <p:nvPr/>
          </p:nvSpPr>
          <p:spPr>
            <a:xfrm>
              <a:off x="778865" y="3835718"/>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5</a:t>
              </a:r>
            </a:p>
          </p:txBody>
        </p:sp>
        <p:sp>
          <p:nvSpPr>
            <p:cNvPr id="26" name="TextBox 26"/>
            <p:cNvSpPr txBox="1"/>
            <p:nvPr/>
          </p:nvSpPr>
          <p:spPr>
            <a:xfrm>
              <a:off x="1173099" y="3830479"/>
              <a:ext cx="780738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Elde edilen yüzlerce kuraldan işe yarar olanları nasıl filtreleyip sıralarız?</a:t>
              </a:r>
            </a:p>
          </p:txBody>
        </p:sp>
      </p:grpSp>
      <p:grpSp>
        <p:nvGrpSpPr>
          <p:cNvPr id="33" name="goal-box"/>
          <p:cNvGrpSpPr/>
          <p:nvPr/>
        </p:nvGrpSpPr>
        <p:grpSpPr>
          <a:xfrm>
            <a:off x="609600" y="4476750"/>
            <a:ext cx="10972800" cy="1433418"/>
            <a:chOff x="609600" y="4476750"/>
            <a:chExt cx="10972800" cy="1433418"/>
          </a:xfrm>
        </p:grpSpPr>
        <p:sp>
          <p:nvSpPr>
            <p:cNvPr id="28" name="Rectangle 28"/>
            <p:cNvSpPr/>
            <p:nvPr/>
          </p:nvSpPr>
          <p:spPr>
            <a:xfrm>
              <a:off x="609600" y="4476750"/>
              <a:ext cx="10972800" cy="1428750"/>
            </a:xfrm>
            <a:prstGeom prst="roundRect">
              <a:avLst>
                <a:gd name="adj" fmla="val 6667"/>
              </a:avLst>
            </a:prstGeom>
            <a:solidFill>
              <a:srgbClr val="EAF4F6"/>
            </a:solidFill>
            <a:ln w="14288">
              <a:solidFill>
                <a:srgbClr val="00A6A6"/>
              </a:solidFill>
            </a:ln>
          </p:spPr>
        </p:sp>
        <p:sp>
          <p:nvSpPr>
            <p:cNvPr id="29" name="TextBox 29"/>
            <p:cNvSpPr txBox="1"/>
            <p:nvPr/>
          </p:nvSpPr>
          <p:spPr>
            <a:xfrm>
              <a:off x="905256" y="4663440"/>
              <a:ext cx="190760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 Bölüm Hedefi</a:t>
              </a:r>
            </a:p>
          </p:txBody>
        </p:sp>
        <p:sp>
          <p:nvSpPr>
            <p:cNvPr id="30" name="TextBox 30"/>
            <p:cNvSpPr txBox="1"/>
            <p:nvPr/>
          </p:nvSpPr>
          <p:spPr>
            <a:xfrm>
              <a:off x="906399" y="5030629"/>
              <a:ext cx="928606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Öğrenci, bir işlem veri setinden sık öğe kümelerini çıkarabilecek, destek/güven/kaldıraç</a:t>
              </a:r>
            </a:p>
          </p:txBody>
        </p:sp>
        <p:sp>
          <p:nvSpPr>
            <p:cNvPr id="31" name="TextBox 31"/>
            <p:cNvSpPr txBox="1"/>
            <p:nvPr/>
          </p:nvSpPr>
          <p:spPr>
            <a:xfrm>
              <a:off x="906399" y="5316379"/>
              <a:ext cx="939094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metriklerini elle ve kodla hesaplayabilecek, Apriori ile FP-Growth'u karşılaştırabilecek ve</a:t>
              </a:r>
            </a:p>
          </p:txBody>
        </p:sp>
        <p:sp>
          <p:nvSpPr>
            <p:cNvPr id="32" name="TextBox 32"/>
            <p:cNvSpPr txBox="1"/>
            <p:nvPr/>
          </p:nvSpPr>
          <p:spPr>
            <a:xfrm>
              <a:off x="906399" y="5602129"/>
              <a:ext cx="7449853"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üretilen birliktelik kurallarını iş değeri açısından filtreleyebilecektir.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02 / 25</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8104135" cy="668845"/>
            <a:chOff x="609600" y="171450"/>
            <a:chExt cx="8104135"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741376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Öğrenme hedefleri ve başarı ölçütleri</a:t>
              </a:r>
            </a:p>
          </p:txBody>
        </p:sp>
      </p:grpSp>
      <p:grpSp>
        <p:nvGrpSpPr>
          <p:cNvPr id="12" name="objective-1"/>
          <p:cNvGrpSpPr/>
          <p:nvPr/>
        </p:nvGrpSpPr>
        <p:grpSpPr>
          <a:xfrm>
            <a:off x="685800" y="1291590"/>
            <a:ext cx="9408886" cy="637128"/>
            <a:chOff x="685800" y="1291590"/>
            <a:chExt cx="9408886" cy="637128"/>
          </a:xfrm>
        </p:grpSpPr>
        <p:sp>
          <p:nvSpPr>
            <p:cNvPr id="9" name="Rectangle 9"/>
            <p:cNvSpPr/>
            <p:nvPr/>
          </p:nvSpPr>
          <p:spPr>
            <a:xfrm>
              <a:off x="685800" y="1295400"/>
              <a:ext cx="57150" cy="495300"/>
            </a:xfrm>
            <a:prstGeom prst="rect">
              <a:avLst/>
            </a:prstGeom>
            <a:solidFill>
              <a:srgbClr val="00A6A6"/>
            </a:solidFill>
            <a:ln>
              <a:noFill/>
            </a:ln>
          </p:spPr>
        </p:sp>
        <p:sp>
          <p:nvSpPr>
            <p:cNvPr id="10" name="TextBox 10"/>
            <p:cNvSpPr txBox="1"/>
            <p:nvPr/>
          </p:nvSpPr>
          <p:spPr>
            <a:xfrm>
              <a:off x="981456" y="1291590"/>
              <a:ext cx="911323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İşlem verisini TransactionEncoder ile one-hot öğe matrisine dönüştürmek</a:t>
              </a:r>
            </a:p>
          </p:txBody>
        </p:sp>
        <p:sp>
          <p:nvSpPr>
            <p:cNvPr id="11" name="TextBox 11"/>
            <p:cNvSpPr txBox="1"/>
            <p:nvPr/>
          </p:nvSpPr>
          <p:spPr>
            <a:xfrm>
              <a:off x="982599" y="1620679"/>
              <a:ext cx="710691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18 işlemlik bir listeden (18, 6) boyutlu doğru matrisi üretmek</a:t>
              </a:r>
            </a:p>
          </p:txBody>
        </p:sp>
      </p:grpSp>
      <p:grpSp>
        <p:nvGrpSpPr>
          <p:cNvPr id="16" name="objective-2"/>
          <p:cNvGrpSpPr/>
          <p:nvPr/>
        </p:nvGrpSpPr>
        <p:grpSpPr>
          <a:xfrm>
            <a:off x="685800" y="2091690"/>
            <a:ext cx="8947747" cy="637128"/>
            <a:chOff x="685800" y="2091690"/>
            <a:chExt cx="8947747" cy="637128"/>
          </a:xfrm>
        </p:grpSpPr>
        <p:sp>
          <p:nvSpPr>
            <p:cNvPr id="13" name="Rectangle 13"/>
            <p:cNvSpPr/>
            <p:nvPr/>
          </p:nvSpPr>
          <p:spPr>
            <a:xfrm>
              <a:off x="685800" y="2095500"/>
              <a:ext cx="57150" cy="495300"/>
            </a:xfrm>
            <a:prstGeom prst="rect">
              <a:avLst/>
            </a:prstGeom>
            <a:solidFill>
              <a:srgbClr val="00A6A6"/>
            </a:solidFill>
            <a:ln>
              <a:noFill/>
            </a:ln>
          </p:spPr>
        </p:sp>
        <p:sp>
          <p:nvSpPr>
            <p:cNvPr id="14" name="TextBox 14"/>
            <p:cNvSpPr txBox="1"/>
            <p:nvPr/>
          </p:nvSpPr>
          <p:spPr>
            <a:xfrm>
              <a:off x="981456" y="2091690"/>
              <a:ext cx="865209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Destek, güven ve kaldıracı hem elle hem kodla hesaplayıp yorumlamak</a:t>
              </a:r>
            </a:p>
          </p:txBody>
        </p:sp>
        <p:sp>
          <p:nvSpPr>
            <p:cNvPr id="15" name="TextBox 15"/>
            <p:cNvSpPr txBox="1"/>
            <p:nvPr/>
          </p:nvSpPr>
          <p:spPr>
            <a:xfrm>
              <a:off x="982599" y="2420779"/>
              <a:ext cx="7198194"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X→Y ile Y→X güveninin neden farklı çıktığını gerekçelendirmek</a:t>
              </a:r>
            </a:p>
          </p:txBody>
        </p:sp>
      </p:grpSp>
      <p:grpSp>
        <p:nvGrpSpPr>
          <p:cNvPr id="20" name="objective-3"/>
          <p:cNvGrpSpPr/>
          <p:nvPr/>
        </p:nvGrpSpPr>
        <p:grpSpPr>
          <a:xfrm>
            <a:off x="685800" y="2891790"/>
            <a:ext cx="9697921" cy="637128"/>
            <a:chOff x="685800" y="2891790"/>
            <a:chExt cx="9697921" cy="637128"/>
          </a:xfrm>
        </p:grpSpPr>
        <p:sp>
          <p:nvSpPr>
            <p:cNvPr id="17" name="Rectangle 17"/>
            <p:cNvSpPr/>
            <p:nvPr/>
          </p:nvSpPr>
          <p:spPr>
            <a:xfrm>
              <a:off x="685800" y="2895600"/>
              <a:ext cx="57150" cy="495300"/>
            </a:xfrm>
            <a:prstGeom prst="rect">
              <a:avLst/>
            </a:prstGeom>
            <a:solidFill>
              <a:srgbClr val="00A6A6"/>
            </a:solidFill>
            <a:ln>
              <a:noFill/>
            </a:ln>
          </p:spPr>
        </p:sp>
        <p:sp>
          <p:nvSpPr>
            <p:cNvPr id="18" name="TextBox 18"/>
            <p:cNvSpPr txBox="1"/>
            <p:nvPr/>
          </p:nvSpPr>
          <p:spPr>
            <a:xfrm>
              <a:off x="981456" y="2891790"/>
              <a:ext cx="940226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Apriori'nin aşağı doğru kapanış ilkesiyle aday üretip budamasını açıklamak</a:t>
              </a:r>
            </a:p>
          </p:txBody>
        </p:sp>
        <p:sp>
          <p:nvSpPr>
            <p:cNvPr id="19" name="TextBox 19"/>
            <p:cNvSpPr txBox="1"/>
            <p:nvPr/>
          </p:nvSpPr>
          <p:spPr>
            <a:xfrm>
              <a:off x="982599" y="3220879"/>
              <a:ext cx="6776164"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min_support değişince aday sayısındaki değişimi öngörmek</a:t>
              </a:r>
            </a:p>
          </p:txBody>
        </p:sp>
      </p:grpSp>
      <p:grpSp>
        <p:nvGrpSpPr>
          <p:cNvPr id="24" name="objective-4"/>
          <p:cNvGrpSpPr/>
          <p:nvPr/>
        </p:nvGrpSpPr>
        <p:grpSpPr>
          <a:xfrm>
            <a:off x="685800" y="3691890"/>
            <a:ext cx="10033659" cy="637128"/>
            <a:chOff x="685800" y="3691890"/>
            <a:chExt cx="10033659" cy="637128"/>
          </a:xfrm>
        </p:grpSpPr>
        <p:sp>
          <p:nvSpPr>
            <p:cNvPr id="21" name="Rectangle 21"/>
            <p:cNvSpPr/>
            <p:nvPr/>
          </p:nvSpPr>
          <p:spPr>
            <a:xfrm>
              <a:off x="685800" y="3695700"/>
              <a:ext cx="57150" cy="495300"/>
            </a:xfrm>
            <a:prstGeom prst="rect">
              <a:avLst/>
            </a:prstGeom>
            <a:solidFill>
              <a:srgbClr val="00A6A6"/>
            </a:solidFill>
            <a:ln>
              <a:noFill/>
            </a:ln>
          </p:spPr>
        </p:sp>
        <p:sp>
          <p:nvSpPr>
            <p:cNvPr id="22" name="TextBox 22"/>
            <p:cNvSpPr txBox="1"/>
            <p:nvPr/>
          </p:nvSpPr>
          <p:spPr>
            <a:xfrm>
              <a:off x="981456" y="3691890"/>
              <a:ext cx="973800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FP-Growth'un aday üretmeden FP-ağacıyla çalışmasını Apriori ile kıyaslamak</a:t>
              </a:r>
            </a:p>
          </p:txBody>
        </p:sp>
        <p:sp>
          <p:nvSpPr>
            <p:cNvPr id="23" name="TextBox 23"/>
            <p:cNvSpPr txBox="1"/>
            <p:nvPr/>
          </p:nvSpPr>
          <p:spPr>
            <a:xfrm>
              <a:off x="982599" y="4020979"/>
              <a:ext cx="738223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iki algoritmanın aynı eşikte aynı kümeleri bulduğunu doğrulamak</a:t>
              </a:r>
            </a:p>
          </p:txBody>
        </p:sp>
      </p:grpSp>
      <p:grpSp>
        <p:nvGrpSpPr>
          <p:cNvPr id="28" name="objective-5"/>
          <p:cNvGrpSpPr/>
          <p:nvPr/>
        </p:nvGrpSpPr>
        <p:grpSpPr>
          <a:xfrm>
            <a:off x="685800" y="4491990"/>
            <a:ext cx="8722915" cy="637128"/>
            <a:chOff x="685800" y="4491990"/>
            <a:chExt cx="8722915" cy="637128"/>
          </a:xfrm>
        </p:grpSpPr>
        <p:sp>
          <p:nvSpPr>
            <p:cNvPr id="25" name="Rectangle 25"/>
            <p:cNvSpPr/>
            <p:nvPr/>
          </p:nvSpPr>
          <p:spPr>
            <a:xfrm>
              <a:off x="685800" y="4495800"/>
              <a:ext cx="57150" cy="495300"/>
            </a:xfrm>
            <a:prstGeom prst="rect">
              <a:avLst/>
            </a:prstGeom>
            <a:solidFill>
              <a:srgbClr val="00A6A6"/>
            </a:solidFill>
            <a:ln>
              <a:noFill/>
            </a:ln>
          </p:spPr>
        </p:sp>
        <p:sp>
          <p:nvSpPr>
            <p:cNvPr id="26" name="TextBox 26"/>
            <p:cNvSpPr txBox="1"/>
            <p:nvPr/>
          </p:nvSpPr>
          <p:spPr>
            <a:xfrm>
              <a:off x="981456" y="4491990"/>
              <a:ext cx="842725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association_rules kurallarını kaldıraca göre filtreleyip raporlamak</a:t>
              </a:r>
            </a:p>
          </p:txBody>
        </p:sp>
        <p:sp>
          <p:nvSpPr>
            <p:cNvPr id="27" name="TextBox 27"/>
            <p:cNvSpPr txBox="1"/>
            <p:nvPr/>
          </p:nvSpPr>
          <p:spPr>
            <a:xfrm>
              <a:off x="982599" y="4821079"/>
              <a:ext cx="8105625"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yüksek güvenli fakat kaldıracı ~1 olan kuralı elemeyi gerekçelendirmek</a:t>
              </a:r>
            </a:p>
          </p:txBody>
        </p:sp>
      </p:grpSp>
      <p:grpSp>
        <p:nvGrpSpPr>
          <p:cNvPr id="33" name="success-box"/>
          <p:cNvGrpSpPr/>
          <p:nvPr/>
        </p:nvGrpSpPr>
        <p:grpSpPr>
          <a:xfrm>
            <a:off x="609600" y="5410200"/>
            <a:ext cx="10972800" cy="952500"/>
            <a:chOff x="609600" y="5410200"/>
            <a:chExt cx="10972800" cy="952500"/>
          </a:xfrm>
        </p:grpSpPr>
        <p:sp>
          <p:nvSpPr>
            <p:cNvPr id="29" name="Rectangle 29"/>
            <p:cNvSpPr/>
            <p:nvPr/>
          </p:nvSpPr>
          <p:spPr>
            <a:xfrm>
              <a:off x="609600" y="5410200"/>
              <a:ext cx="10972800" cy="952500"/>
            </a:xfrm>
            <a:prstGeom prst="roundRect">
              <a:avLst>
                <a:gd name="adj" fmla="val 10000"/>
              </a:avLst>
            </a:prstGeom>
            <a:solidFill>
              <a:srgbClr val="EAF4F6"/>
            </a:solidFill>
            <a:ln>
              <a:noFill/>
            </a:ln>
          </p:spPr>
        </p:sp>
        <p:sp>
          <p:nvSpPr>
            <p:cNvPr id="30" name="TextBox 30"/>
            <p:cNvSpPr txBox="1"/>
            <p:nvPr/>
          </p:nvSpPr>
          <p:spPr>
            <a:xfrm>
              <a:off x="907542" y="5569268"/>
              <a:ext cx="1288680"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Başarı ölçütü</a:t>
              </a:r>
            </a:p>
          </p:txBody>
        </p:sp>
        <p:sp>
          <p:nvSpPr>
            <p:cNvPr id="31" name="TextBox 31"/>
            <p:cNvSpPr txBox="1"/>
            <p:nvPr/>
          </p:nvSpPr>
          <p:spPr>
            <a:xfrm>
              <a:off x="907923" y="5825014"/>
              <a:ext cx="7881671"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Öğrenci, bir işlem veri kümesinden öğe matrisi üretebiliyor, Apriori ve FP-Growth ile aynı sık</a:t>
              </a:r>
            </a:p>
          </p:txBody>
        </p:sp>
        <p:sp>
          <p:nvSpPr>
            <p:cNvPr id="32" name="TextBox 32"/>
            <p:cNvSpPr txBox="1"/>
            <p:nvPr/>
          </p:nvSpPr>
          <p:spPr>
            <a:xfrm>
              <a:off x="907923" y="6053614"/>
              <a:ext cx="8189234"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öğe kümelerini çıkarıp güven ve kaldıraca göre filtrelenmiş anlamlı kuralları raporlayabiliyorsa.</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03 / 25</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3" name="page-title"/>
          <p:cNvGrpSpPr/>
          <p:nvPr/>
        </p:nvGrpSpPr>
        <p:grpSpPr>
          <a:xfrm>
            <a:off x="609600" y="171450"/>
            <a:ext cx="7803151" cy="668845"/>
            <a:chOff x="609600" y="171450"/>
            <a:chExt cx="7803151" cy="668845"/>
          </a:xfrm>
        </p:grpSpPr>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771334" y="412909"/>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7" name="Freeform 7"/>
                <p:cNvSpPr/>
                <p:nvPr/>
              </p:nvSpPr>
              <p:spPr>
                <a:xfrm>
                  <a:off x="771334" y="501491"/>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8" name="Freeform 8"/>
                <p:cNvSpPr/>
                <p:nvPr/>
              </p:nvSpPr>
              <p:spPr>
                <a:xfrm>
                  <a:off x="837224" y="324326"/>
                  <a:ext cx="50744" cy="265748"/>
                </a:xfrm>
                <a:custGeom>
                  <a:avLst/>
                  <a:gdLst/>
                  <a:ahLst/>
                  <a:cxnLst/>
                  <a:rect l="l" t="t" r="r" b="b"/>
                  <a:pathLst>
                    <a:path w="50744" h="265748">
                      <a:moveTo>
                        <a:pt x="50744" y="0"/>
                      </a:moveTo>
                      <a:cubicBezTo>
                        <a:pt x="0" y="81315"/>
                        <a:pt x="0" y="184432"/>
                        <a:pt x="50744" y="265748"/>
                      </a:cubicBezTo>
                    </a:path>
                  </a:pathLst>
                </a:custGeom>
                <a:noFill/>
                <a:ln w="24759" cap="rnd">
                  <a:solidFill>
                    <a:srgbClr val="FFFFFF"/>
                  </a:solidFill>
                  <a:round/>
                </a:ln>
              </p:spPr>
            </p:sp>
            <p:sp>
              <p:nvSpPr>
                <p:cNvPr id="9" name="Freeform 9"/>
                <p:cNvSpPr/>
                <p:nvPr/>
              </p:nvSpPr>
              <p:spPr>
                <a:xfrm>
                  <a:off x="902732" y="324326"/>
                  <a:ext cx="50744" cy="265748"/>
                </a:xfrm>
                <a:custGeom>
                  <a:avLst/>
                  <a:gdLst/>
                  <a:ahLst/>
                  <a:cxnLst/>
                  <a:rect l="l" t="t" r="r" b="b"/>
                  <a:pathLst>
                    <a:path w="50744" h="265748">
                      <a:moveTo>
                        <a:pt x="0" y="0"/>
                      </a:moveTo>
                      <a:cubicBezTo>
                        <a:pt x="50744" y="81315"/>
                        <a:pt x="50744" y="184432"/>
                        <a:pt x="0" y="265748"/>
                      </a:cubicBezTo>
                    </a:path>
                  </a:pathLst>
                </a:custGeom>
                <a:noFill/>
                <a:ln w="24759" cap="rnd">
                  <a:solidFill>
                    <a:srgbClr val="FFFFFF"/>
                  </a:solidFill>
                  <a:round/>
                </a:ln>
              </p:spPr>
            </p:sp>
          </p:grpSp>
        </p:grpSp>
        <p:sp>
          <p:nvSpPr>
            <p:cNvPr id="12" name="TextBox 12"/>
            <p:cNvSpPr txBox="1"/>
            <p:nvPr/>
          </p:nvSpPr>
          <p:spPr>
            <a:xfrm>
              <a:off x="1299972" y="282892"/>
              <a:ext cx="711277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haritası: altı temel kavram</a:t>
              </a:r>
            </a:p>
          </p:txBody>
        </p:sp>
      </p:grpSp>
      <p:grpSp>
        <p:nvGrpSpPr>
          <p:cNvPr id="51" name="concept-map"/>
          <p:cNvGrpSpPr/>
          <p:nvPr/>
        </p:nvGrpSpPr>
        <p:grpSpPr>
          <a:xfrm>
            <a:off x="685800" y="1219200"/>
            <a:ext cx="10896600" cy="4886706"/>
            <a:chOff x="685800" y="1219200"/>
            <a:chExt cx="10896600" cy="4886706"/>
          </a:xfrm>
        </p:grpSpPr>
        <p:grpSp>
          <p:nvGrpSpPr>
            <p:cNvPr id="22" name="Group 22"/>
            <p:cNvGrpSpPr/>
            <p:nvPr/>
          </p:nvGrpSpPr>
          <p:grpSpPr>
            <a:xfrm>
              <a:off x="3143250" y="1581150"/>
              <a:ext cx="6953250" cy="4038600"/>
              <a:chOff x="3143250" y="1581150"/>
              <a:chExt cx="6953250" cy="4038600"/>
            </a:xfrm>
          </p:grpSpPr>
          <p:sp>
            <p:nvSpPr>
              <p:cNvPr id="14" name="Line 14"/>
              <p:cNvSpPr/>
              <p:nvPr/>
            </p:nvSpPr>
            <p:spPr>
              <a:xfrm flipV="1">
                <a:off x="3143250" y="1581150"/>
                <a:ext cx="1352550" cy="1514475"/>
              </a:xfrm>
              <a:prstGeom prst="line">
                <a:avLst/>
              </a:prstGeom>
              <a:noFill/>
              <a:ln w="23812">
                <a:solidFill>
                  <a:srgbClr val="00A6A6"/>
                </a:solidFill>
                <a:tailEnd type="arrow" w="lg" len="lg"/>
              </a:ln>
            </p:spPr>
          </p:sp>
          <p:sp>
            <p:nvSpPr>
              <p:cNvPr id="15" name="Line 15"/>
              <p:cNvSpPr/>
              <p:nvPr/>
            </p:nvSpPr>
            <p:spPr>
              <a:xfrm flipV="1">
                <a:off x="3143250" y="2571750"/>
                <a:ext cx="1352550" cy="523875"/>
              </a:xfrm>
              <a:prstGeom prst="line">
                <a:avLst/>
              </a:prstGeom>
              <a:noFill/>
              <a:ln w="23812">
                <a:solidFill>
                  <a:srgbClr val="00A6A6"/>
                </a:solidFill>
                <a:tailEnd type="arrow" w="lg" len="lg"/>
              </a:ln>
            </p:spPr>
          </p:sp>
          <p:sp>
            <p:nvSpPr>
              <p:cNvPr id="16" name="Line 16"/>
              <p:cNvSpPr/>
              <p:nvPr/>
            </p:nvSpPr>
            <p:spPr>
              <a:xfrm>
                <a:off x="3143250" y="3095625"/>
                <a:ext cx="1352550" cy="466725"/>
              </a:xfrm>
              <a:prstGeom prst="line">
                <a:avLst/>
              </a:prstGeom>
              <a:noFill/>
              <a:ln w="23812">
                <a:solidFill>
                  <a:srgbClr val="00A6A6"/>
                </a:solidFill>
                <a:tailEnd type="arrow" w="lg" len="lg"/>
              </a:ln>
            </p:spPr>
          </p:sp>
          <p:sp>
            <p:nvSpPr>
              <p:cNvPr id="17" name="Line 17"/>
              <p:cNvSpPr/>
              <p:nvPr/>
            </p:nvSpPr>
            <p:spPr>
              <a:xfrm>
                <a:off x="3143250" y="3095625"/>
                <a:ext cx="1352550" cy="1457325"/>
              </a:xfrm>
              <a:prstGeom prst="line">
                <a:avLst/>
              </a:prstGeom>
              <a:noFill/>
              <a:ln w="23812">
                <a:solidFill>
                  <a:srgbClr val="00A6A6"/>
                </a:solidFill>
                <a:tailEnd type="arrow" w="lg" len="lg"/>
              </a:ln>
            </p:spPr>
          </p:sp>
          <p:sp>
            <p:nvSpPr>
              <p:cNvPr id="18" name="Line 18"/>
              <p:cNvSpPr/>
              <p:nvPr/>
            </p:nvSpPr>
            <p:spPr>
              <a:xfrm>
                <a:off x="3143250" y="3095625"/>
                <a:ext cx="1352550" cy="2524125"/>
              </a:xfrm>
              <a:prstGeom prst="line">
                <a:avLst/>
              </a:prstGeom>
              <a:noFill/>
              <a:ln w="23812">
                <a:solidFill>
                  <a:srgbClr val="00A6A6"/>
                </a:solidFill>
                <a:tailEnd type="arrow" w="lg" len="lg"/>
              </a:ln>
            </p:spPr>
          </p:sp>
          <p:sp>
            <p:nvSpPr>
              <p:cNvPr id="19" name="Line 19"/>
              <p:cNvSpPr/>
              <p:nvPr/>
            </p:nvSpPr>
            <p:spPr>
              <a:xfrm>
                <a:off x="6477000" y="2952750"/>
                <a:ext cx="1" cy="190500"/>
              </a:xfrm>
              <a:prstGeom prst="line">
                <a:avLst/>
              </a:prstGeom>
              <a:noFill/>
              <a:ln w="19050">
                <a:solidFill>
                  <a:srgbClr val="52616B"/>
                </a:solidFill>
                <a:custDash>
                  <a:ds d="300000" sp="200000"/>
                </a:custDash>
                <a:tailEnd type="arrow" w="lg" len="lg"/>
              </a:ln>
            </p:spPr>
          </p:sp>
          <p:sp>
            <p:nvSpPr>
              <p:cNvPr id="20" name="Line 20"/>
              <p:cNvSpPr/>
              <p:nvPr/>
            </p:nvSpPr>
            <p:spPr>
              <a:xfrm flipV="1">
                <a:off x="6477000" y="3981450"/>
                <a:ext cx="1" cy="190500"/>
              </a:xfrm>
              <a:prstGeom prst="line">
                <a:avLst/>
              </a:prstGeom>
              <a:noFill/>
              <a:ln w="19050">
                <a:solidFill>
                  <a:srgbClr val="52616B"/>
                </a:solidFill>
                <a:custDash>
                  <a:ds d="300000" sp="200000"/>
                </a:custDash>
                <a:tailEnd type="arrow" w="lg" len="lg"/>
              </a:ln>
            </p:spPr>
          </p:sp>
          <p:sp>
            <p:nvSpPr>
              <p:cNvPr id="21" name="Line 21"/>
              <p:cNvSpPr/>
              <p:nvPr/>
            </p:nvSpPr>
            <p:spPr>
              <a:xfrm>
                <a:off x="8496300" y="1676400"/>
                <a:ext cx="1600200" cy="3581400"/>
              </a:xfrm>
              <a:prstGeom prst="line">
                <a:avLst/>
              </a:prstGeom>
              <a:noFill/>
              <a:ln w="19050">
                <a:solidFill>
                  <a:srgbClr val="52616B"/>
                </a:solidFill>
                <a:custDash>
                  <a:ds d="300000" sp="200000"/>
                </a:custDash>
                <a:tailEnd type="arrow" w="lg" len="lg"/>
              </a:ln>
            </p:spPr>
          </p:sp>
        </p:grpSp>
        <p:grpSp>
          <p:nvGrpSpPr>
            <p:cNvPr id="25" name="map-hub"/>
            <p:cNvGrpSpPr/>
            <p:nvPr/>
          </p:nvGrpSpPr>
          <p:grpSpPr>
            <a:xfrm>
              <a:off x="685800" y="2381250"/>
              <a:ext cx="2381250" cy="1428750"/>
              <a:chOff x="685800" y="2381250"/>
              <a:chExt cx="2381250" cy="1428750"/>
            </a:xfrm>
          </p:grpSpPr>
          <p:sp>
            <p:nvSpPr>
              <p:cNvPr id="23" name="Rectangle 23"/>
              <p:cNvSpPr/>
              <p:nvPr/>
            </p:nvSpPr>
            <p:spPr>
              <a:xfrm>
                <a:off x="685800" y="2381250"/>
                <a:ext cx="2381250" cy="1428750"/>
              </a:xfrm>
              <a:prstGeom prst="roundRect">
                <a:avLst>
                  <a:gd name="adj" fmla="val 6667"/>
                </a:avLst>
              </a:prstGeom>
              <a:solidFill>
                <a:srgbClr val="12355B"/>
              </a:solidFill>
              <a:ln>
                <a:noFill/>
              </a:ln>
            </p:spPr>
          </p:sp>
          <p:sp>
            <p:nvSpPr>
              <p:cNvPr id="24" name="TextBox 24"/>
              <p:cNvSpPr txBox="1"/>
              <p:nvPr/>
            </p:nvSpPr>
            <p:spPr>
              <a:xfrm>
                <a:off x="941832" y="2630805"/>
                <a:ext cx="1491520" cy="1096518"/>
              </a:xfrm>
              <a:prstGeom prst="rect">
                <a:avLst/>
              </a:prstGeom>
              <a:noFill/>
              <a:ln>
                <a:noFill/>
              </a:ln>
            </p:spPr>
            <p:txBody>
              <a:bodyPr wrap="none" lIns="0" tIns="0" rIns="0" bIns="0" anchor="t" anchorCtr="0">
                <a:spAutoFit/>
              </a:bodyPr>
              <a:lstStyle/>
              <a:p>
                <a:pPr algn="l">
                  <a:lnSpc>
                    <a:spcPts val="2700"/>
                  </a:lnSpc>
                </a:pPr>
                <a:r>
                  <a:rPr lang="tr-TR" sz="2100" b="1" dirty="0">
                    <a:solidFill>
                      <a:srgbClr val="FFFFFF"/>
                    </a:solidFill>
                    <a:latin typeface="+mn-lt"/>
                    <a:ea typeface="+mn-ea"/>
                    <a:cs typeface="+mn-cs"/>
                  </a:rPr>
                  <a:t>Birliktelik</a:t>
                </a:r>
                <a:br/>
                <a:r>
                  <a:rPr lang="tr-TR" sz="2100" b="1" dirty="0">
                    <a:solidFill>
                      <a:srgbClr val="FFFFFF"/>
                    </a:solidFill>
                    <a:latin typeface="+mn-lt"/>
                    <a:ea typeface="+mn-ea"/>
                    <a:cs typeface="+mn-cs"/>
                  </a:rPr>
                  <a:t>Kuralı</a:t>
                </a:r>
                <a:br/>
                <a:r>
                  <a:rPr lang="tr-TR" sz="2100" b="1" dirty="0">
                    <a:solidFill>
                      <a:srgbClr val="FFFFFF"/>
                    </a:solidFill>
                    <a:latin typeface="+mn-lt"/>
                    <a:ea typeface="+mn-ea"/>
                    <a:cs typeface="+mn-cs"/>
                  </a:rPr>
                  <a:t>Madenciliği</a:t>
                </a:r>
              </a:p>
            </p:txBody>
          </p:sp>
        </p:grpSp>
        <p:grpSp>
          <p:nvGrpSpPr>
            <p:cNvPr id="29" name="map-node-onehot"/>
            <p:cNvGrpSpPr/>
            <p:nvPr/>
          </p:nvGrpSpPr>
          <p:grpSpPr>
            <a:xfrm>
              <a:off x="4572000" y="1219200"/>
              <a:ext cx="3810000" cy="723900"/>
              <a:chOff x="4572000" y="1219200"/>
              <a:chExt cx="3810000" cy="723900"/>
            </a:xfrm>
          </p:grpSpPr>
          <p:sp>
            <p:nvSpPr>
              <p:cNvPr id="26" name="Rectangle 26"/>
              <p:cNvSpPr/>
              <p:nvPr/>
            </p:nvSpPr>
            <p:spPr>
              <a:xfrm>
                <a:off x="4572000" y="1219200"/>
                <a:ext cx="3810000" cy="723900"/>
              </a:xfrm>
              <a:prstGeom prst="roundRect">
                <a:avLst>
                  <a:gd name="adj" fmla="val 13158"/>
                </a:avLst>
              </a:prstGeom>
              <a:solidFill>
                <a:srgbClr val="FFFFFF"/>
              </a:solidFill>
              <a:ln w="14288">
                <a:solidFill>
                  <a:srgbClr val="2E86AB"/>
                </a:solidFill>
              </a:ln>
            </p:spPr>
          </p:sp>
          <p:sp>
            <p:nvSpPr>
              <p:cNvPr id="27" name="TextBox 27"/>
              <p:cNvSpPr txBox="1"/>
              <p:nvPr/>
            </p:nvSpPr>
            <p:spPr>
              <a:xfrm>
                <a:off x="4791456" y="1329690"/>
                <a:ext cx="273650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One-hot işlem matrisi</a:t>
                </a:r>
              </a:p>
            </p:txBody>
          </p:sp>
          <p:sp>
            <p:nvSpPr>
              <p:cNvPr id="28" name="TextBox 28"/>
              <p:cNvSpPr txBox="1"/>
              <p:nvPr/>
            </p:nvSpPr>
            <p:spPr>
              <a:xfrm>
                <a:off x="4792599" y="1601629"/>
                <a:ext cx="310239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TransactionEncoder ile kodlar</a:t>
                </a:r>
              </a:p>
            </p:txBody>
          </p:sp>
        </p:grpSp>
        <p:grpSp>
          <p:nvGrpSpPr>
            <p:cNvPr id="33" name="map-node-metrikler"/>
            <p:cNvGrpSpPr/>
            <p:nvPr/>
          </p:nvGrpSpPr>
          <p:grpSpPr>
            <a:xfrm>
              <a:off x="4572000" y="2209800"/>
              <a:ext cx="3810000" cy="723900"/>
              <a:chOff x="4572000" y="2209800"/>
              <a:chExt cx="3810000" cy="723900"/>
            </a:xfrm>
          </p:grpSpPr>
          <p:sp>
            <p:nvSpPr>
              <p:cNvPr id="30" name="Rectangle 30"/>
              <p:cNvSpPr/>
              <p:nvPr/>
            </p:nvSpPr>
            <p:spPr>
              <a:xfrm>
                <a:off x="4572000" y="2209800"/>
                <a:ext cx="3810000" cy="723900"/>
              </a:xfrm>
              <a:prstGeom prst="roundRect">
                <a:avLst>
                  <a:gd name="adj" fmla="val 13158"/>
                </a:avLst>
              </a:prstGeom>
              <a:solidFill>
                <a:srgbClr val="FFFFFF"/>
              </a:solidFill>
              <a:ln w="14288">
                <a:solidFill>
                  <a:srgbClr val="2E86AB"/>
                </a:solidFill>
              </a:ln>
            </p:spPr>
          </p:sp>
          <p:sp>
            <p:nvSpPr>
              <p:cNvPr id="31" name="TextBox 31"/>
              <p:cNvSpPr txBox="1"/>
              <p:nvPr/>
            </p:nvSpPr>
            <p:spPr>
              <a:xfrm>
                <a:off x="4791456" y="2320290"/>
                <a:ext cx="322711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Destek / Güven / Kaldıraç</a:t>
                </a:r>
              </a:p>
            </p:txBody>
          </p:sp>
          <p:sp>
            <p:nvSpPr>
              <p:cNvPr id="32" name="TextBox 32"/>
              <p:cNvSpPr txBox="1"/>
              <p:nvPr/>
            </p:nvSpPr>
            <p:spPr>
              <a:xfrm>
                <a:off x="4792599" y="2592229"/>
                <a:ext cx="252585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birlikteliği sayısal ölçer</a:t>
                </a:r>
              </a:p>
            </p:txBody>
          </p:sp>
        </p:grpSp>
        <p:grpSp>
          <p:nvGrpSpPr>
            <p:cNvPr id="37" name="map-node-apriori"/>
            <p:cNvGrpSpPr/>
            <p:nvPr/>
          </p:nvGrpSpPr>
          <p:grpSpPr>
            <a:xfrm>
              <a:off x="4572000" y="3200400"/>
              <a:ext cx="3810000" cy="723900"/>
              <a:chOff x="4572000" y="3200400"/>
              <a:chExt cx="3810000" cy="723900"/>
            </a:xfrm>
          </p:grpSpPr>
          <p:sp>
            <p:nvSpPr>
              <p:cNvPr id="34" name="Rectangle 34"/>
              <p:cNvSpPr/>
              <p:nvPr/>
            </p:nvSpPr>
            <p:spPr>
              <a:xfrm>
                <a:off x="4572000" y="3200400"/>
                <a:ext cx="3810000" cy="723900"/>
              </a:xfrm>
              <a:prstGeom prst="roundRect">
                <a:avLst>
                  <a:gd name="adj" fmla="val 13158"/>
                </a:avLst>
              </a:prstGeom>
              <a:solidFill>
                <a:srgbClr val="FFFFFF"/>
              </a:solidFill>
              <a:ln w="14288">
                <a:solidFill>
                  <a:srgbClr val="2E86AB"/>
                </a:solidFill>
              </a:ln>
            </p:spPr>
          </p:sp>
          <p:sp>
            <p:nvSpPr>
              <p:cNvPr id="35" name="TextBox 35"/>
              <p:cNvSpPr txBox="1"/>
              <p:nvPr/>
            </p:nvSpPr>
            <p:spPr>
              <a:xfrm>
                <a:off x="4791456" y="3310890"/>
                <a:ext cx="87752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Apriori</a:t>
                </a:r>
              </a:p>
            </p:txBody>
          </p:sp>
          <p:sp>
            <p:nvSpPr>
              <p:cNvPr id="36" name="TextBox 36"/>
              <p:cNvSpPr txBox="1"/>
              <p:nvPr/>
            </p:nvSpPr>
            <p:spPr>
              <a:xfrm>
                <a:off x="4792599" y="3582829"/>
                <a:ext cx="327030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seviye seviye aday üretip budar</a:t>
                </a:r>
              </a:p>
            </p:txBody>
          </p:sp>
        </p:grpSp>
        <p:grpSp>
          <p:nvGrpSpPr>
            <p:cNvPr id="41" name="map-node-fpgrowth"/>
            <p:cNvGrpSpPr/>
            <p:nvPr/>
          </p:nvGrpSpPr>
          <p:grpSpPr>
            <a:xfrm>
              <a:off x="4572000" y="4191000"/>
              <a:ext cx="3810000" cy="723900"/>
              <a:chOff x="4572000" y="4191000"/>
              <a:chExt cx="3810000" cy="723900"/>
            </a:xfrm>
          </p:grpSpPr>
          <p:sp>
            <p:nvSpPr>
              <p:cNvPr id="38" name="Rectangle 38"/>
              <p:cNvSpPr/>
              <p:nvPr/>
            </p:nvSpPr>
            <p:spPr>
              <a:xfrm>
                <a:off x="4572000" y="4191000"/>
                <a:ext cx="3810000" cy="723900"/>
              </a:xfrm>
              <a:prstGeom prst="roundRect">
                <a:avLst>
                  <a:gd name="adj" fmla="val 13158"/>
                </a:avLst>
              </a:prstGeom>
              <a:solidFill>
                <a:srgbClr val="FFFFFF"/>
              </a:solidFill>
              <a:ln w="14288">
                <a:solidFill>
                  <a:srgbClr val="2E86AB"/>
                </a:solidFill>
              </a:ln>
            </p:spPr>
          </p:sp>
          <p:sp>
            <p:nvSpPr>
              <p:cNvPr id="39" name="TextBox 39"/>
              <p:cNvSpPr txBox="1"/>
              <p:nvPr/>
            </p:nvSpPr>
            <p:spPr>
              <a:xfrm>
                <a:off x="4791456" y="4301490"/>
                <a:ext cx="135642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FP-Growth</a:t>
                </a:r>
              </a:p>
            </p:txBody>
          </p:sp>
          <p:sp>
            <p:nvSpPr>
              <p:cNvPr id="40" name="TextBox 40"/>
              <p:cNvSpPr txBox="1"/>
              <p:nvPr/>
            </p:nvSpPr>
            <p:spPr>
              <a:xfrm>
                <a:off x="4792599" y="4573429"/>
                <a:ext cx="295125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aday üretmeden ağaçla bulur</a:t>
                </a:r>
              </a:p>
            </p:txBody>
          </p:sp>
        </p:grpSp>
        <p:grpSp>
          <p:nvGrpSpPr>
            <p:cNvPr id="45" name="map-node-kural"/>
            <p:cNvGrpSpPr/>
            <p:nvPr/>
          </p:nvGrpSpPr>
          <p:grpSpPr>
            <a:xfrm>
              <a:off x="4572000" y="5334000"/>
              <a:ext cx="7010400" cy="723900"/>
              <a:chOff x="4572000" y="5334000"/>
              <a:chExt cx="7010400" cy="723900"/>
            </a:xfrm>
          </p:grpSpPr>
          <p:sp>
            <p:nvSpPr>
              <p:cNvPr id="42" name="Rectangle 42"/>
              <p:cNvSpPr/>
              <p:nvPr/>
            </p:nvSpPr>
            <p:spPr>
              <a:xfrm>
                <a:off x="4572000" y="5334000"/>
                <a:ext cx="7010400" cy="723900"/>
              </a:xfrm>
              <a:prstGeom prst="roundRect">
                <a:avLst>
                  <a:gd name="adj" fmla="val 13158"/>
                </a:avLst>
              </a:prstGeom>
              <a:solidFill>
                <a:srgbClr val="EAF4F6"/>
              </a:solidFill>
              <a:ln w="14288">
                <a:solidFill>
                  <a:srgbClr val="00A6A6"/>
                </a:solidFill>
              </a:ln>
            </p:spPr>
          </p:sp>
          <p:sp>
            <p:nvSpPr>
              <p:cNvPr id="43" name="TextBox 43"/>
              <p:cNvSpPr txBox="1"/>
              <p:nvPr/>
            </p:nvSpPr>
            <p:spPr>
              <a:xfrm>
                <a:off x="4791456" y="5444490"/>
                <a:ext cx="413511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Kural üretimi ve kaldıraç filtresi</a:t>
                </a:r>
              </a:p>
            </p:txBody>
          </p:sp>
          <p:sp>
            <p:nvSpPr>
              <p:cNvPr id="44" name="TextBox 44"/>
              <p:cNvSpPr txBox="1"/>
              <p:nvPr/>
            </p:nvSpPr>
            <p:spPr>
              <a:xfrm>
                <a:off x="4792599" y="5716429"/>
                <a:ext cx="569508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sık öğe kümelerini yönlü, filtrelenmiş kurallara çevirir</a:t>
                </a:r>
              </a:p>
            </p:txBody>
          </p:sp>
        </p:grpSp>
        <p:grpSp>
          <p:nvGrpSpPr>
            <p:cNvPr id="50" name="map-legend"/>
            <p:cNvGrpSpPr/>
            <p:nvPr/>
          </p:nvGrpSpPr>
          <p:grpSpPr>
            <a:xfrm>
              <a:off x="685800" y="5528310"/>
              <a:ext cx="3141069" cy="577596"/>
              <a:chOff x="685800" y="5528310"/>
              <a:chExt cx="3141069" cy="577596"/>
            </a:xfrm>
          </p:grpSpPr>
          <p:sp>
            <p:nvSpPr>
              <p:cNvPr id="46" name="Line 46"/>
              <p:cNvSpPr/>
              <p:nvPr/>
            </p:nvSpPr>
            <p:spPr>
              <a:xfrm>
                <a:off x="685800" y="5600700"/>
                <a:ext cx="304800" cy="1"/>
              </a:xfrm>
              <a:prstGeom prst="line">
                <a:avLst/>
              </a:prstGeom>
              <a:noFill/>
              <a:ln w="23812">
                <a:solidFill>
                  <a:srgbClr val="00A6A6"/>
                </a:solidFill>
                <a:tailEnd type="arrow" w="lg" len="lg"/>
              </a:ln>
            </p:spPr>
          </p:sp>
          <p:sp>
            <p:nvSpPr>
              <p:cNvPr id="47" name="TextBox 47"/>
              <p:cNvSpPr txBox="1"/>
              <p:nvPr/>
            </p:nvSpPr>
            <p:spPr>
              <a:xfrm>
                <a:off x="1079754" y="5528310"/>
                <a:ext cx="240787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Ana disiplinden türeyen bileşen</a:t>
                </a:r>
              </a:p>
            </p:txBody>
          </p:sp>
          <p:sp>
            <p:nvSpPr>
              <p:cNvPr id="48" name="Line 48"/>
              <p:cNvSpPr/>
              <p:nvPr/>
            </p:nvSpPr>
            <p:spPr>
              <a:xfrm>
                <a:off x="685800" y="5943600"/>
                <a:ext cx="304800" cy="1"/>
              </a:xfrm>
              <a:prstGeom prst="line">
                <a:avLst/>
              </a:prstGeom>
              <a:noFill/>
              <a:ln w="19050">
                <a:solidFill>
                  <a:srgbClr val="52616B"/>
                </a:solidFill>
                <a:custDash>
                  <a:ds d="300000" sp="200000"/>
                </a:custDash>
                <a:tailEnd type="arrow" w="lg" len="lg"/>
              </a:ln>
            </p:spPr>
          </p:sp>
          <p:sp>
            <p:nvSpPr>
              <p:cNvPr id="49" name="TextBox 49"/>
              <p:cNvSpPr txBox="1"/>
              <p:nvPr/>
            </p:nvSpPr>
            <p:spPr>
              <a:xfrm>
                <a:off x="1079754" y="5871210"/>
                <a:ext cx="274711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Bileşenler arası tamamlayıcı ilişki</a:t>
                </a:r>
              </a:p>
            </p:txBody>
          </p:sp>
        </p:grpSp>
      </p:grpSp>
      <p:sp>
        <p:nvSpPr>
          <p:cNvPr id="52" name="TextBox 5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04 / 25</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11379660" cy="668845"/>
            <a:chOff x="609600" y="171450"/>
            <a:chExt cx="11379660"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24326"/>
                <a:ext cx="236220" cy="265748"/>
                <a:chOff x="777240" y="324326"/>
                <a:chExt cx="236220" cy="265748"/>
              </a:xfrm>
            </p:grpSpPr>
            <p:sp>
              <p:nvSpPr>
                <p:cNvPr id="5" name="Freeform 5"/>
                <p:cNvSpPr/>
                <p:nvPr/>
              </p:nvSpPr>
              <p:spPr>
                <a:xfrm>
                  <a:off x="777240" y="324326"/>
                  <a:ext cx="236220" cy="265748"/>
                </a:xfrm>
                <a:custGeom>
                  <a:avLst/>
                  <a:gdLst/>
                  <a:ahLst/>
                  <a:cxnLst/>
                  <a:rect l="l" t="t" r="r" b="b"/>
                  <a:pathLst>
                    <a:path w="236220" h="265748">
                      <a:moveTo>
                        <a:pt x="118110" y="0"/>
                      </a:moveTo>
                      <a:lnTo>
                        <a:pt x="236220" y="66437"/>
                      </a:lnTo>
                      <a:lnTo>
                        <a:pt x="236220" y="199311"/>
                      </a:lnTo>
                      <a:lnTo>
                        <a:pt x="118110" y="265748"/>
                      </a:lnTo>
                      <a:lnTo>
                        <a:pt x="0" y="199311"/>
                      </a:lnTo>
                      <a:lnTo>
                        <a:pt x="0" y="66437"/>
                      </a:lnTo>
                      <a:lnTo>
                        <a:pt x="118110" y="0"/>
                      </a:lnTo>
                    </a:path>
                  </a:pathLst>
                </a:custGeom>
                <a:noFill/>
                <a:ln w="24759" cap="rnd">
                  <a:solidFill>
                    <a:srgbClr val="FFFFFF"/>
                  </a:solidFill>
                  <a:round/>
                </a:ln>
              </p:spPr>
            </p:sp>
            <p:sp>
              <p:nvSpPr>
                <p:cNvPr id="6" name="Freeform 6"/>
                <p:cNvSpPr/>
                <p:nvPr/>
              </p:nvSpPr>
              <p:spPr>
                <a:xfrm>
                  <a:off x="895350" y="390763"/>
                  <a:ext cx="118110" cy="66437"/>
                </a:xfrm>
                <a:custGeom>
                  <a:avLst/>
                  <a:gdLst/>
                  <a:ahLst/>
                  <a:cxnLst/>
                  <a:rect l="l" t="t" r="r" b="b"/>
                  <a:pathLst>
                    <a:path w="118110" h="66437">
                      <a:moveTo>
                        <a:pt x="0" y="66437"/>
                      </a:moveTo>
                      <a:lnTo>
                        <a:pt x="118110" y="0"/>
                      </a:lnTo>
                    </a:path>
                  </a:pathLst>
                </a:custGeom>
                <a:noFill/>
                <a:ln w="24759" cap="rnd">
                  <a:solidFill>
                    <a:srgbClr val="FFFFFF"/>
                  </a:solidFill>
                  <a:round/>
                </a:ln>
              </p:spPr>
            </p:sp>
            <p:sp>
              <p:nvSpPr>
                <p:cNvPr id="7" name="Freeform 7"/>
                <p:cNvSpPr/>
                <p:nvPr/>
              </p:nvSpPr>
              <p:spPr>
                <a:xfrm>
                  <a:off x="895350" y="457200"/>
                  <a:ext cx="9525" cy="132874"/>
                </a:xfrm>
                <a:custGeom>
                  <a:avLst/>
                  <a:gdLst/>
                  <a:ahLst/>
                  <a:cxnLst/>
                  <a:rect l="l" t="t" r="r" b="b"/>
                  <a:pathLst>
                    <a:path w="9525" h="132874">
                      <a:moveTo>
                        <a:pt x="0" y="0"/>
                      </a:moveTo>
                      <a:lnTo>
                        <a:pt x="0" y="132874"/>
                      </a:lnTo>
                    </a:path>
                  </a:pathLst>
                </a:custGeom>
                <a:noFill/>
                <a:ln w="24759" cap="rnd">
                  <a:solidFill>
                    <a:srgbClr val="FFFFFF"/>
                  </a:solidFill>
                  <a:round/>
                </a:ln>
              </p:spPr>
            </p:sp>
            <p:sp>
              <p:nvSpPr>
                <p:cNvPr id="8" name="Freeform 8"/>
                <p:cNvSpPr/>
                <p:nvPr/>
              </p:nvSpPr>
              <p:spPr>
                <a:xfrm>
                  <a:off x="777240" y="390763"/>
                  <a:ext cx="118110" cy="66437"/>
                </a:xfrm>
                <a:custGeom>
                  <a:avLst/>
                  <a:gdLst/>
                  <a:ahLst/>
                  <a:cxnLst/>
                  <a:rect l="l" t="t" r="r" b="b"/>
                  <a:pathLst>
                    <a:path w="118110" h="66437">
                      <a:moveTo>
                        <a:pt x="118110" y="66437"/>
                      </a:moveTo>
                      <a:lnTo>
                        <a:pt x="0" y="0"/>
                      </a:lnTo>
                    </a:path>
                  </a:pathLst>
                </a:custGeom>
                <a:noFill/>
                <a:ln w="24759" cap="rnd">
                  <a:solidFill>
                    <a:srgbClr val="FFFFFF"/>
                  </a:solidFill>
                  <a:round/>
                </a:ln>
              </p:spPr>
            </p:sp>
          </p:grpSp>
        </p:grpSp>
        <p:sp>
          <p:nvSpPr>
            <p:cNvPr id="11" name="TextBox 11"/>
            <p:cNvSpPr txBox="1"/>
            <p:nvPr/>
          </p:nvSpPr>
          <p:spPr>
            <a:xfrm>
              <a:off x="1299972" y="282892"/>
              <a:ext cx="1068928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Neden birliktelik kuralı madenciliği? Yasemin'in sorusu</a:t>
              </a:r>
            </a:p>
          </p:txBody>
        </p:sp>
      </p:grpSp>
      <p:grpSp>
        <p:nvGrpSpPr>
          <p:cNvPr id="15" name="lead"/>
          <p:cNvGrpSpPr/>
          <p:nvPr/>
        </p:nvGrpSpPr>
        <p:grpSpPr>
          <a:xfrm>
            <a:off x="601599" y="1144429"/>
            <a:ext cx="10019784" cy="555689"/>
            <a:chOff x="601599" y="1144429"/>
            <a:chExt cx="10019784" cy="555689"/>
          </a:xfrm>
        </p:grpSpPr>
        <p:sp>
          <p:nvSpPr>
            <p:cNvPr id="13" name="TextBox 13"/>
            <p:cNvSpPr txBox="1"/>
            <p:nvPr/>
          </p:nvSpPr>
          <p:spPr>
            <a:xfrm>
              <a:off x="601599" y="1144429"/>
              <a:ext cx="1001978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Kasa fişleri tek başına bir hikâye anlatmaz; fakat binlerce fiş üzerinde doğru soru sorulduğunda</a:t>
              </a:r>
            </a:p>
          </p:txBody>
        </p:sp>
        <p:sp>
          <p:nvSpPr>
            <p:cNvPr id="14" name="TextBox 14"/>
            <p:cNvSpPr txBox="1"/>
            <p:nvPr/>
          </p:nvSpPr>
          <p:spPr>
            <a:xfrm>
              <a:off x="601599" y="1392079"/>
              <a:ext cx="983208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raf düzeninden kampanya tasarımına kadar birçok kararı etkileyecek örüntüler ortaya çıkar.</a:t>
              </a:r>
            </a:p>
          </p:txBody>
        </p:sp>
      </p:grpSp>
      <p:grpSp>
        <p:nvGrpSpPr>
          <p:cNvPr id="24" name="card-yasemin"/>
          <p:cNvGrpSpPr/>
          <p:nvPr/>
        </p:nvGrpSpPr>
        <p:grpSpPr>
          <a:xfrm>
            <a:off x="609600" y="1866900"/>
            <a:ext cx="5334000" cy="2133600"/>
            <a:chOff x="609600" y="1866900"/>
            <a:chExt cx="5334000" cy="2133600"/>
          </a:xfrm>
        </p:grpSpPr>
        <p:sp>
          <p:nvSpPr>
            <p:cNvPr id="16" name="Rectangle 16"/>
            <p:cNvSpPr/>
            <p:nvPr/>
          </p:nvSpPr>
          <p:spPr>
            <a:xfrm>
              <a:off x="609600" y="1866900"/>
              <a:ext cx="5334000" cy="2133600"/>
            </a:xfrm>
            <a:prstGeom prst="roundRect">
              <a:avLst>
                <a:gd name="adj" fmla="val 4464"/>
              </a:avLst>
            </a:prstGeom>
            <a:solidFill>
              <a:srgbClr val="FFFFFF"/>
            </a:solidFill>
            <a:ln w="14288">
              <a:solidFill>
                <a:srgbClr val="B8CBD3"/>
              </a:solidFill>
            </a:ln>
          </p:spPr>
        </p:sp>
        <p:sp>
          <p:nvSpPr>
            <p:cNvPr id="17" name="TextBox 17"/>
            <p:cNvSpPr txBox="1"/>
            <p:nvPr/>
          </p:nvSpPr>
          <p:spPr>
            <a:xfrm>
              <a:off x="829056" y="2015490"/>
              <a:ext cx="340610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Problem: Yasemin'in fişleri</a:t>
              </a:r>
            </a:p>
          </p:txBody>
        </p:sp>
        <p:sp>
          <p:nvSpPr>
            <p:cNvPr id="18" name="TextBox 18"/>
            <p:cNvSpPr txBox="1"/>
            <p:nvPr/>
          </p:nvSpPr>
          <p:spPr>
            <a:xfrm>
              <a:off x="831342" y="2368868"/>
              <a:ext cx="3563160"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Bir süpermarket zincirinin veri analisti,</a:t>
              </a:r>
            </a:p>
          </p:txBody>
        </p:sp>
        <p:sp>
          <p:nvSpPr>
            <p:cNvPr id="19" name="TextBox 19"/>
            <p:cNvSpPr txBox="1"/>
            <p:nvPr/>
          </p:nvSpPr>
          <p:spPr>
            <a:xfrm>
              <a:off x="831342" y="2597468"/>
              <a:ext cx="394832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binlerce aylık işlem satırı görür; her satır</a:t>
              </a:r>
            </a:p>
          </p:txBody>
        </p:sp>
        <p:sp>
          <p:nvSpPr>
            <p:cNvPr id="20" name="TextBox 20"/>
            <p:cNvSpPr txBox="1"/>
            <p:nvPr/>
          </p:nvSpPr>
          <p:spPr>
            <a:xfrm>
              <a:off x="831342" y="2826068"/>
              <a:ext cx="3866540"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yalnızca hangi ürünlerin birlikte alındığını</a:t>
              </a:r>
            </a:p>
          </p:txBody>
        </p:sp>
        <p:sp>
          <p:nvSpPr>
            <p:cNvPr id="21" name="TextBox 21"/>
            <p:cNvSpPr txBox="1"/>
            <p:nvPr/>
          </p:nvSpPr>
          <p:spPr>
            <a:xfrm>
              <a:off x="831342" y="3054668"/>
              <a:ext cx="2603468"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gösteren bir liste gibi durur.</a:t>
              </a:r>
            </a:p>
          </p:txBody>
        </p:sp>
        <p:sp>
          <p:nvSpPr>
            <p:cNvPr id="22" name="TextBox 22"/>
            <p:cNvSpPr txBox="1"/>
            <p:nvPr/>
          </p:nvSpPr>
          <p:spPr>
            <a:xfrm>
              <a:off x="831342" y="3397568"/>
              <a:ext cx="3833712" cy="264033"/>
            </a:xfrm>
            <a:prstGeom prst="rect">
              <a:avLst/>
            </a:prstGeom>
            <a:noFill/>
            <a:ln>
              <a:noFill/>
            </a:ln>
          </p:spPr>
          <p:txBody>
            <a:bodyPr wrap="none" lIns="0" tIns="0" rIns="0" bIns="0" anchor="t" anchorCtr="0">
              <a:spAutoFit/>
            </a:bodyPr>
            <a:lstStyle/>
            <a:p>
              <a:pPr algn="l"/>
              <a:r>
                <a:rPr lang="tr-TR" sz="1350" b="1" dirty="0">
                  <a:solidFill>
                    <a:srgbClr val="2E86AB"/>
                  </a:solidFill>
                  <a:latin typeface="+mn-lt"/>
                  <a:ea typeface="+mn-ea"/>
                  <a:cs typeface="+mn-cs"/>
                </a:rPr>
                <a:t>Soru: "Ekmek ve süt birlikte alındığında</a:t>
              </a:r>
            </a:p>
          </p:txBody>
        </p:sp>
        <p:sp>
          <p:nvSpPr>
            <p:cNvPr id="23" name="TextBox 23"/>
            <p:cNvSpPr txBox="1"/>
            <p:nvPr/>
          </p:nvSpPr>
          <p:spPr>
            <a:xfrm>
              <a:off x="831342" y="3626168"/>
              <a:ext cx="2952403" cy="264033"/>
            </a:xfrm>
            <a:prstGeom prst="rect">
              <a:avLst/>
            </a:prstGeom>
            <a:noFill/>
            <a:ln>
              <a:noFill/>
            </a:ln>
          </p:spPr>
          <p:txBody>
            <a:bodyPr wrap="none" lIns="0" tIns="0" rIns="0" bIns="0" anchor="t" anchorCtr="0">
              <a:spAutoFit/>
            </a:bodyPr>
            <a:lstStyle/>
            <a:p>
              <a:pPr algn="l"/>
              <a:r>
                <a:rPr lang="tr-TR" sz="1350" b="1" dirty="0">
                  <a:solidFill>
                    <a:srgbClr val="2E86AB"/>
                  </a:solidFill>
                  <a:latin typeface="+mn-lt"/>
                  <a:ea typeface="+mn-ea"/>
                  <a:cs typeface="+mn-cs"/>
                </a:rPr>
                <a:t>yumurta da sepete giriyor mu?"</a:t>
              </a:r>
            </a:p>
          </p:txBody>
        </p:sp>
      </p:grpSp>
      <p:grpSp>
        <p:nvGrpSpPr>
          <p:cNvPr id="33" name="card-kutuphaneci"/>
          <p:cNvGrpSpPr/>
          <p:nvPr/>
        </p:nvGrpSpPr>
        <p:grpSpPr>
          <a:xfrm>
            <a:off x="6248400" y="1866900"/>
            <a:ext cx="5334000" cy="2133600"/>
            <a:chOff x="6248400" y="1866900"/>
            <a:chExt cx="5334000" cy="2133600"/>
          </a:xfrm>
        </p:grpSpPr>
        <p:sp>
          <p:nvSpPr>
            <p:cNvPr id="25" name="Rectangle 25"/>
            <p:cNvSpPr/>
            <p:nvPr/>
          </p:nvSpPr>
          <p:spPr>
            <a:xfrm>
              <a:off x="6248400" y="1866900"/>
              <a:ext cx="5334000" cy="2133600"/>
            </a:xfrm>
            <a:prstGeom prst="roundRect">
              <a:avLst>
                <a:gd name="adj" fmla="val 4464"/>
              </a:avLst>
            </a:prstGeom>
            <a:solidFill>
              <a:srgbClr val="FFFFFF"/>
            </a:solidFill>
            <a:ln w="14288">
              <a:solidFill>
                <a:srgbClr val="B8CBD3"/>
              </a:solidFill>
            </a:ln>
          </p:spPr>
        </p:sp>
        <p:sp>
          <p:nvSpPr>
            <p:cNvPr id="26" name="TextBox 26"/>
            <p:cNvSpPr txBox="1"/>
            <p:nvPr/>
          </p:nvSpPr>
          <p:spPr>
            <a:xfrm>
              <a:off x="6467856" y="2015490"/>
              <a:ext cx="304143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Günlük hayat benzetmesi</a:t>
              </a:r>
            </a:p>
          </p:txBody>
        </p:sp>
        <p:sp>
          <p:nvSpPr>
            <p:cNvPr id="27" name="TextBox 27"/>
            <p:cNvSpPr txBox="1"/>
            <p:nvPr/>
          </p:nvSpPr>
          <p:spPr>
            <a:xfrm>
              <a:off x="6470142" y="2368868"/>
              <a:ext cx="3445518"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Bir kütüphaneci, birkaç yüz ödünç alma</a:t>
              </a:r>
            </a:p>
          </p:txBody>
        </p:sp>
        <p:sp>
          <p:nvSpPr>
            <p:cNvPr id="28" name="TextBox 28"/>
            <p:cNvSpPr txBox="1"/>
            <p:nvPr/>
          </p:nvSpPr>
          <p:spPr>
            <a:xfrm>
              <a:off x="6470142" y="2597468"/>
              <a:ext cx="3930148"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fişinde "bu romanı alanların çoğu şu deneme</a:t>
              </a:r>
            </a:p>
          </p:txBody>
        </p:sp>
        <p:sp>
          <p:nvSpPr>
            <p:cNvPr id="29" name="TextBox 29"/>
            <p:cNvSpPr txBox="1"/>
            <p:nvPr/>
          </p:nvSpPr>
          <p:spPr>
            <a:xfrm>
              <a:off x="6470142" y="2826068"/>
              <a:ext cx="4102798"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kitabını da alıyor" örüntüsünü gözle yakalar.</a:t>
              </a:r>
            </a:p>
          </p:txBody>
        </p:sp>
        <p:sp>
          <p:nvSpPr>
            <p:cNvPr id="30" name="TextBox 30"/>
            <p:cNvSpPr txBox="1"/>
            <p:nvPr/>
          </p:nvSpPr>
          <p:spPr>
            <a:xfrm>
              <a:off x="6470142" y="3168968"/>
              <a:ext cx="3721519" cy="264033"/>
            </a:xfrm>
            <a:prstGeom prst="rect">
              <a:avLst/>
            </a:prstGeom>
            <a:noFill/>
            <a:ln>
              <a:noFill/>
            </a:ln>
          </p:spPr>
          <p:txBody>
            <a:bodyPr wrap="none" lIns="0" tIns="0" rIns="0" bIns="0" anchor="t" anchorCtr="0">
              <a:spAutoFit/>
            </a:bodyPr>
            <a:lstStyle/>
            <a:p>
              <a:pPr algn="l"/>
              <a:r>
                <a:rPr lang="tr-TR" sz="1350" b="1" dirty="0">
                  <a:solidFill>
                    <a:srgbClr val="2E86AB"/>
                  </a:solidFill>
                  <a:latin typeface="+mn-lt"/>
                  <a:ea typeface="+mn-ea"/>
                  <a:cs typeface="+mn-cs"/>
                </a:rPr>
                <a:t>Veri milyonlarca işlemden oluşunca gözle</a:t>
              </a:r>
            </a:p>
          </p:txBody>
        </p:sp>
        <p:sp>
          <p:nvSpPr>
            <p:cNvPr id="31" name="TextBox 31"/>
            <p:cNvSpPr txBox="1"/>
            <p:nvPr/>
          </p:nvSpPr>
          <p:spPr>
            <a:xfrm>
              <a:off x="6470142" y="3397568"/>
              <a:ext cx="3877899" cy="264033"/>
            </a:xfrm>
            <a:prstGeom prst="rect">
              <a:avLst/>
            </a:prstGeom>
            <a:noFill/>
            <a:ln>
              <a:noFill/>
            </a:ln>
          </p:spPr>
          <p:txBody>
            <a:bodyPr wrap="none" lIns="0" tIns="0" rIns="0" bIns="0" anchor="t" anchorCtr="0">
              <a:spAutoFit/>
            </a:bodyPr>
            <a:lstStyle/>
            <a:p>
              <a:pPr algn="l"/>
              <a:r>
                <a:rPr lang="tr-TR" sz="1350" b="1" dirty="0">
                  <a:solidFill>
                    <a:srgbClr val="2E86AB"/>
                  </a:solidFill>
                  <a:latin typeface="+mn-lt"/>
                  <a:ea typeface="+mn-ea"/>
                  <a:cs typeface="+mn-cs"/>
                </a:rPr>
                <a:t>inceleme imkânsızlaşır; birliktelik kuralı</a:t>
              </a:r>
            </a:p>
          </p:txBody>
        </p:sp>
        <p:sp>
          <p:nvSpPr>
            <p:cNvPr id="32" name="TextBox 32"/>
            <p:cNvSpPr txBox="1"/>
            <p:nvPr/>
          </p:nvSpPr>
          <p:spPr>
            <a:xfrm>
              <a:off x="6470142" y="3626168"/>
              <a:ext cx="3706157" cy="264033"/>
            </a:xfrm>
            <a:prstGeom prst="rect">
              <a:avLst/>
            </a:prstGeom>
            <a:noFill/>
            <a:ln>
              <a:noFill/>
            </a:ln>
          </p:spPr>
          <p:txBody>
            <a:bodyPr wrap="none" lIns="0" tIns="0" rIns="0" bIns="0" anchor="t" anchorCtr="0">
              <a:spAutoFit/>
            </a:bodyPr>
            <a:lstStyle/>
            <a:p>
              <a:pPr algn="l"/>
              <a:r>
                <a:rPr lang="tr-TR" sz="1350" b="1" dirty="0">
                  <a:solidFill>
                    <a:srgbClr val="2E86AB"/>
                  </a:solidFill>
                  <a:latin typeface="+mn-lt"/>
                  <a:ea typeface="+mn-ea"/>
                  <a:cs typeface="+mn-cs"/>
                </a:rPr>
                <a:t>madenciliği bu gözlemi otomatikleştirir.</a:t>
              </a:r>
            </a:p>
          </p:txBody>
        </p:sp>
      </p:grpSp>
      <p:grpSp>
        <p:nvGrpSpPr>
          <p:cNvPr id="40" name="definition-box"/>
          <p:cNvGrpSpPr/>
          <p:nvPr/>
        </p:nvGrpSpPr>
        <p:grpSpPr>
          <a:xfrm>
            <a:off x="609600" y="4267200"/>
            <a:ext cx="10972800" cy="1638300"/>
            <a:chOff x="609600" y="4267200"/>
            <a:chExt cx="10972800" cy="1638300"/>
          </a:xfrm>
        </p:grpSpPr>
        <p:sp>
          <p:nvSpPr>
            <p:cNvPr id="34" name="Rectangle 34"/>
            <p:cNvSpPr/>
            <p:nvPr/>
          </p:nvSpPr>
          <p:spPr>
            <a:xfrm>
              <a:off x="609600" y="4267200"/>
              <a:ext cx="10972800" cy="1638300"/>
            </a:xfrm>
            <a:prstGeom prst="roundRect">
              <a:avLst>
                <a:gd name="adj" fmla="val 5814"/>
              </a:avLst>
            </a:prstGeom>
            <a:solidFill>
              <a:srgbClr val="EAF4F6"/>
            </a:solidFill>
            <a:ln w="14288">
              <a:solidFill>
                <a:srgbClr val="00A6A6"/>
              </a:solidFill>
            </a:ln>
          </p:spPr>
        </p:sp>
        <p:sp>
          <p:nvSpPr>
            <p:cNvPr id="35" name="TextBox 35"/>
            <p:cNvSpPr txBox="1"/>
            <p:nvPr/>
          </p:nvSpPr>
          <p:spPr>
            <a:xfrm>
              <a:off x="906399" y="4440079"/>
              <a:ext cx="337392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Neden var — hangi sorunu çözer</a:t>
              </a:r>
            </a:p>
          </p:txBody>
        </p:sp>
        <p:sp>
          <p:nvSpPr>
            <p:cNvPr id="36" name="TextBox 36"/>
            <p:cNvSpPr txBox="1"/>
            <p:nvPr/>
          </p:nvSpPr>
          <p:spPr>
            <a:xfrm>
              <a:off x="907542" y="4750118"/>
              <a:ext cx="781023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n farklı ürün için olası öğe kümesi sayısı 2^n mertebesindedir; kaba kuvvetle taraması</a:t>
              </a:r>
            </a:p>
          </p:txBody>
        </p:sp>
        <p:sp>
          <p:nvSpPr>
            <p:cNvPr id="37" name="TextBox 37"/>
            <p:cNvSpPr txBox="1"/>
            <p:nvPr/>
          </p:nvSpPr>
          <p:spPr>
            <a:xfrm>
              <a:off x="907542" y="4978718"/>
              <a:ext cx="839425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imkânsızdır. 1993'te Agrawal, Imieliński ve Swami'nin IBM'de yayımladığı makaleyle başlayan</a:t>
              </a:r>
            </a:p>
          </p:txBody>
        </p:sp>
        <p:sp>
          <p:nvSpPr>
            <p:cNvPr id="38" name="TextBox 38"/>
            <p:cNvSpPr txBox="1"/>
            <p:nvPr/>
          </p:nvSpPr>
          <p:spPr>
            <a:xfrm>
              <a:off x="907542" y="5207318"/>
              <a:ext cx="8891568"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bu alan, arama uzayını daraltan algoritmaları nesnel destek/güven/kaldıraç eşikleriyle birleştirir.</a:t>
              </a:r>
            </a:p>
          </p:txBody>
        </p:sp>
        <p:sp>
          <p:nvSpPr>
            <p:cNvPr id="39" name="TextBox 39"/>
            <p:cNvSpPr txBox="1"/>
            <p:nvPr/>
          </p:nvSpPr>
          <p:spPr>
            <a:xfrm>
              <a:off x="907542" y="5435918"/>
              <a:ext cx="967030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Yorumlanabilirlik yüksektir: "ekmek ve tereyağı alanların %86'sı reçel de alıyor" doğrudan eyleme dönüşür.</a:t>
              </a:r>
            </a:p>
          </p:txBody>
        </p:sp>
      </p:grpSp>
      <p:sp>
        <p:nvSpPr>
          <p:cNvPr id="41" name="TextBox 4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05 / 25</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6789020" cy="557403"/>
            <a:chOff x="595122" y="282892"/>
            <a:chExt cx="6789020" cy="557403"/>
          </a:xfrm>
        </p:grpSpPr>
        <p:sp>
          <p:nvSpPr>
            <p:cNvPr id="4" name="TextBox 4"/>
            <p:cNvSpPr txBox="1"/>
            <p:nvPr/>
          </p:nvSpPr>
          <p:spPr>
            <a:xfrm>
              <a:off x="595122" y="282892"/>
              <a:ext cx="678902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Pazar sepeti analizi ve işlem verisi</a:t>
              </a:r>
            </a:p>
          </p:txBody>
        </p:sp>
      </p:grpSp>
      <p:grpSp>
        <p:nvGrpSpPr>
          <p:cNvPr id="15" name="definition"/>
          <p:cNvGrpSpPr/>
          <p:nvPr/>
        </p:nvGrpSpPr>
        <p:grpSpPr>
          <a:xfrm>
            <a:off x="601599" y="1163479"/>
            <a:ext cx="4619002" cy="2212372"/>
            <a:chOff x="601599" y="1163479"/>
            <a:chExt cx="4619002" cy="2212372"/>
          </a:xfrm>
        </p:grpSpPr>
        <p:sp>
          <p:nvSpPr>
            <p:cNvPr id="6" name="TextBox 6"/>
            <p:cNvSpPr txBox="1"/>
            <p:nvPr/>
          </p:nvSpPr>
          <p:spPr>
            <a:xfrm>
              <a:off x="601599" y="1163479"/>
              <a:ext cx="6822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Tanım</a:t>
              </a:r>
            </a:p>
          </p:txBody>
        </p:sp>
        <p:sp>
          <p:nvSpPr>
            <p:cNvPr id="7" name="TextBox 7"/>
            <p:cNvSpPr txBox="1"/>
            <p:nvPr/>
          </p:nvSpPr>
          <p:spPr>
            <a:xfrm>
              <a:off x="602742" y="1454468"/>
              <a:ext cx="4363227"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İşlem (transaction): belirli bir anda gerçekleşen</a:t>
              </a:r>
            </a:p>
          </p:txBody>
        </p:sp>
        <p:sp>
          <p:nvSpPr>
            <p:cNvPr id="8" name="TextBox 8"/>
            <p:cNvSpPr txBox="1"/>
            <p:nvPr/>
          </p:nvSpPr>
          <p:spPr>
            <a:xfrm>
              <a:off x="602742" y="1664018"/>
              <a:ext cx="3875627"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ve bir veya daha fazla öğe içeren olay — fiş,</a:t>
              </a:r>
            </a:p>
          </p:txBody>
        </p:sp>
        <p:sp>
          <p:nvSpPr>
            <p:cNvPr id="9" name="TextBox 9"/>
            <p:cNvSpPr txBox="1"/>
            <p:nvPr/>
          </p:nvSpPr>
          <p:spPr>
            <a:xfrm>
              <a:off x="602742" y="1873568"/>
              <a:ext cx="4166406"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sipariş, tıklama dizisi, aynı vizitteki tanılar.</a:t>
              </a:r>
            </a:p>
          </p:txBody>
        </p:sp>
        <p:sp>
          <p:nvSpPr>
            <p:cNvPr id="10" name="TextBox 10"/>
            <p:cNvSpPr txBox="1"/>
            <p:nvPr/>
          </p:nvSpPr>
          <p:spPr>
            <a:xfrm>
              <a:off x="602742" y="2178368"/>
              <a:ext cx="4093224"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Birliktelik kuralı: X satın alınırsa Y de satın</a:t>
              </a:r>
            </a:p>
          </p:txBody>
        </p:sp>
        <p:sp>
          <p:nvSpPr>
            <p:cNvPr id="11" name="TextBox 11"/>
            <p:cNvSpPr txBox="1"/>
            <p:nvPr/>
          </p:nvSpPr>
          <p:spPr>
            <a:xfrm>
              <a:off x="602742" y="2387918"/>
              <a:ext cx="3969810"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alınır biçiminde X → Y yazılan örüntü kuralı;</a:t>
              </a:r>
            </a:p>
          </p:txBody>
        </p:sp>
        <p:sp>
          <p:nvSpPr>
            <p:cNvPr id="12" name="TextBox 12"/>
            <p:cNvSpPr txBox="1"/>
            <p:nvPr/>
          </p:nvSpPr>
          <p:spPr>
            <a:xfrm>
              <a:off x="602742" y="2597468"/>
              <a:ext cx="405343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X öncül (antecedent), Y sonuç (consequent).</a:t>
              </a:r>
            </a:p>
          </p:txBody>
        </p:sp>
        <p:sp>
          <p:nvSpPr>
            <p:cNvPr id="13" name="TextBox 13"/>
            <p:cNvSpPr txBox="1"/>
            <p:nvPr/>
          </p:nvSpPr>
          <p:spPr>
            <a:xfrm>
              <a:off x="602742" y="2902268"/>
              <a:ext cx="4617859"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Ham veri seyrektir (sparse): binlerce ürün olabilir,</a:t>
              </a:r>
            </a:p>
          </p:txBody>
        </p:sp>
        <p:sp>
          <p:nvSpPr>
            <p:cNvPr id="14" name="TextBox 14"/>
            <p:cNvSpPr txBox="1"/>
            <p:nvPr/>
          </p:nvSpPr>
          <p:spPr>
            <a:xfrm>
              <a:off x="602742" y="3111818"/>
              <a:ext cx="3394024"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tek sepette yalnızca birkaçı bulunur.</a:t>
              </a:r>
            </a:p>
          </p:txBody>
        </p:sp>
      </p:grpSp>
      <p:grpSp>
        <p:nvGrpSpPr>
          <p:cNvPr id="28" name="domains"/>
          <p:cNvGrpSpPr/>
          <p:nvPr/>
        </p:nvGrpSpPr>
        <p:grpSpPr>
          <a:xfrm>
            <a:off x="609600" y="3429000"/>
            <a:ext cx="5905500" cy="2486406"/>
            <a:chOff x="609600" y="3429000"/>
            <a:chExt cx="5905500" cy="2486406"/>
          </a:xfrm>
        </p:grpSpPr>
        <p:sp>
          <p:nvSpPr>
            <p:cNvPr id="16" name="Rectangle 16"/>
            <p:cNvSpPr/>
            <p:nvPr/>
          </p:nvSpPr>
          <p:spPr>
            <a:xfrm>
              <a:off x="609600" y="3429000"/>
              <a:ext cx="5905500" cy="2476500"/>
            </a:xfrm>
            <a:prstGeom prst="roundRect">
              <a:avLst>
                <a:gd name="adj" fmla="val 3846"/>
              </a:avLst>
            </a:prstGeom>
            <a:solidFill>
              <a:srgbClr val="EAF4F6"/>
            </a:solidFill>
            <a:ln>
              <a:noFill/>
            </a:ln>
          </p:spPr>
        </p:sp>
        <p:sp>
          <p:nvSpPr>
            <p:cNvPr id="17" name="TextBox 17"/>
            <p:cNvSpPr txBox="1"/>
            <p:nvPr/>
          </p:nvSpPr>
          <p:spPr>
            <a:xfrm>
              <a:off x="830580" y="3571875"/>
              <a:ext cx="2969359"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Aynı çerçeve, farklı alanlar</a:t>
              </a:r>
            </a:p>
          </p:txBody>
        </p:sp>
        <p:sp>
          <p:nvSpPr>
            <p:cNvPr id="18" name="Rectangle 18"/>
            <p:cNvSpPr/>
            <p:nvPr/>
          </p:nvSpPr>
          <p:spPr>
            <a:xfrm>
              <a:off x="838200" y="3962400"/>
              <a:ext cx="57150" cy="247650"/>
            </a:xfrm>
            <a:prstGeom prst="rect">
              <a:avLst/>
            </a:prstGeom>
            <a:solidFill>
              <a:srgbClr val="00A6A6"/>
            </a:solidFill>
            <a:ln>
              <a:noFill/>
            </a:ln>
          </p:spPr>
        </p:sp>
        <p:sp>
          <p:nvSpPr>
            <p:cNvPr id="19" name="TextBox 19"/>
            <p:cNvSpPr txBox="1"/>
            <p:nvPr/>
          </p:nvSpPr>
          <p:spPr>
            <a:xfrm>
              <a:off x="1022223" y="4015264"/>
              <a:ext cx="1827936"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Market: sepet fişleri</a:t>
              </a:r>
            </a:p>
          </p:txBody>
        </p:sp>
        <p:sp>
          <p:nvSpPr>
            <p:cNvPr id="20" name="Rectangle 20"/>
            <p:cNvSpPr/>
            <p:nvPr/>
          </p:nvSpPr>
          <p:spPr>
            <a:xfrm>
              <a:off x="838200" y="4305300"/>
              <a:ext cx="57150" cy="247650"/>
            </a:xfrm>
            <a:prstGeom prst="rect">
              <a:avLst/>
            </a:prstGeom>
            <a:solidFill>
              <a:srgbClr val="00A6A6"/>
            </a:solidFill>
            <a:ln>
              <a:noFill/>
            </a:ln>
          </p:spPr>
        </p:sp>
        <p:sp>
          <p:nvSpPr>
            <p:cNvPr id="21" name="TextBox 21"/>
            <p:cNvSpPr txBox="1"/>
            <p:nvPr/>
          </p:nvSpPr>
          <p:spPr>
            <a:xfrm>
              <a:off x="1022223" y="4358164"/>
              <a:ext cx="3861589"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E-ticaret: "bunu alanlar şunu da aldı" önerisi</a:t>
              </a:r>
            </a:p>
          </p:txBody>
        </p:sp>
        <p:sp>
          <p:nvSpPr>
            <p:cNvPr id="22" name="Rectangle 22"/>
            <p:cNvSpPr/>
            <p:nvPr/>
          </p:nvSpPr>
          <p:spPr>
            <a:xfrm>
              <a:off x="838200" y="4648200"/>
              <a:ext cx="57150" cy="247650"/>
            </a:xfrm>
            <a:prstGeom prst="rect">
              <a:avLst/>
            </a:prstGeom>
            <a:solidFill>
              <a:srgbClr val="00A6A6"/>
            </a:solidFill>
            <a:ln>
              <a:noFill/>
            </a:ln>
          </p:spPr>
        </p:sp>
        <p:sp>
          <p:nvSpPr>
            <p:cNvPr id="23" name="TextBox 23"/>
            <p:cNvSpPr txBox="1"/>
            <p:nvPr/>
          </p:nvSpPr>
          <p:spPr>
            <a:xfrm>
              <a:off x="1022223" y="4701064"/>
              <a:ext cx="4377853"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Hastane: birlikte reçete edilen ilaç kombinasyonları</a:t>
              </a:r>
            </a:p>
          </p:txBody>
        </p:sp>
        <p:sp>
          <p:nvSpPr>
            <p:cNvPr id="24" name="Rectangle 24"/>
            <p:cNvSpPr/>
            <p:nvPr/>
          </p:nvSpPr>
          <p:spPr>
            <a:xfrm>
              <a:off x="838200" y="4991100"/>
              <a:ext cx="57150" cy="247650"/>
            </a:xfrm>
            <a:prstGeom prst="rect">
              <a:avLst/>
            </a:prstGeom>
            <a:solidFill>
              <a:srgbClr val="00A6A6"/>
            </a:solidFill>
            <a:ln>
              <a:noFill/>
            </a:ln>
          </p:spPr>
        </p:sp>
        <p:sp>
          <p:nvSpPr>
            <p:cNvPr id="25" name="TextBox 25"/>
            <p:cNvSpPr txBox="1"/>
            <p:nvPr/>
          </p:nvSpPr>
          <p:spPr>
            <a:xfrm>
              <a:off x="1022223" y="5043964"/>
              <a:ext cx="4102290"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Web sitesi: art arda ziyaret edilen sayfa dizileri</a:t>
              </a:r>
            </a:p>
          </p:txBody>
        </p:sp>
        <p:sp>
          <p:nvSpPr>
            <p:cNvPr id="26" name="TextBox 26"/>
            <p:cNvSpPr txBox="1"/>
            <p:nvPr/>
          </p:nvSpPr>
          <p:spPr>
            <a:xfrm>
              <a:off x="832104" y="5490210"/>
              <a:ext cx="383542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Telco Churn verisinde her satır tek bir müşteri;</a:t>
              </a:r>
            </a:p>
          </p:txBody>
        </p:sp>
        <p:sp>
          <p:nvSpPr>
            <p:cNvPr id="27" name="TextBox 27"/>
            <p:cNvSpPr txBox="1"/>
            <p:nvPr/>
          </p:nvSpPr>
          <p:spPr>
            <a:xfrm>
              <a:off x="832104" y="5680710"/>
              <a:ext cx="480197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tekrarlanan sepet yapısı yoktur — bu yöntem uygun değildir.</a:t>
              </a:r>
            </a:p>
          </p:txBody>
        </p:sp>
      </p:grpSp>
      <p:grpSp>
        <p:nvGrpSpPr>
          <p:cNvPr id="41" name="basket-visual"/>
          <p:cNvGrpSpPr/>
          <p:nvPr/>
        </p:nvGrpSpPr>
        <p:grpSpPr>
          <a:xfrm>
            <a:off x="7048500" y="1171575"/>
            <a:ext cx="4447489" cy="4667631"/>
            <a:chOff x="7048500" y="1171575"/>
            <a:chExt cx="4447489" cy="4667631"/>
          </a:xfrm>
        </p:grpSpPr>
        <p:sp>
          <p:nvSpPr>
            <p:cNvPr id="29" name="TextBox 29"/>
            <p:cNvSpPr txBox="1"/>
            <p:nvPr/>
          </p:nvSpPr>
          <p:spPr>
            <a:xfrm>
              <a:off x="8230231" y="1171575"/>
              <a:ext cx="1941838" cy="293370"/>
            </a:xfrm>
            <a:prstGeom prst="rect">
              <a:avLst/>
            </a:prstGeom>
            <a:noFill/>
            <a:ln>
              <a:noFill/>
            </a:ln>
          </p:spPr>
          <p:txBody>
            <a:bodyPr wrap="none" lIns="0" tIns="0" rIns="0" bIns="0" anchor="t" anchorCtr="0">
              <a:spAutoFit/>
            </a:bodyPr>
            <a:lstStyle/>
            <a:p>
              <a:pPr algn="ctr"/>
              <a:r>
                <a:rPr lang="tr-TR" sz="1500" b="1" dirty="0">
                  <a:solidFill>
                    <a:srgbClr val="12355B"/>
                  </a:solidFill>
                  <a:latin typeface="+mn-lt"/>
                  <a:ea typeface="+mn-ea"/>
                  <a:cs typeface="+mn-cs"/>
                </a:rPr>
                <a:t>İşlem → öğe kümesi</a:t>
              </a:r>
            </a:p>
          </p:txBody>
        </p:sp>
        <p:sp>
          <p:nvSpPr>
            <p:cNvPr id="30" name="Rectangle 30"/>
            <p:cNvSpPr/>
            <p:nvPr/>
          </p:nvSpPr>
          <p:spPr>
            <a:xfrm>
              <a:off x="7048500" y="1581150"/>
              <a:ext cx="4305300" cy="666750"/>
            </a:xfrm>
            <a:prstGeom prst="roundRect">
              <a:avLst>
                <a:gd name="adj" fmla="val 11429"/>
              </a:avLst>
            </a:prstGeom>
            <a:solidFill>
              <a:srgbClr val="FFFFFF"/>
            </a:solidFill>
            <a:ln w="14288">
              <a:solidFill>
                <a:srgbClr val="B8CBD3"/>
              </a:solidFill>
            </a:ln>
          </p:spPr>
        </p:sp>
        <p:sp>
          <p:nvSpPr>
            <p:cNvPr id="31" name="TextBox 31"/>
            <p:cNvSpPr txBox="1"/>
            <p:nvPr/>
          </p:nvSpPr>
          <p:spPr>
            <a:xfrm>
              <a:off x="7232142" y="1825942"/>
              <a:ext cx="3384125"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İşlem #7 = { ekmek, tereyağı, reçel }</a:t>
              </a:r>
            </a:p>
          </p:txBody>
        </p:sp>
        <p:sp>
          <p:nvSpPr>
            <p:cNvPr id="32" name="Rectangle 32"/>
            <p:cNvSpPr/>
            <p:nvPr/>
          </p:nvSpPr>
          <p:spPr>
            <a:xfrm>
              <a:off x="7048500" y="2400300"/>
              <a:ext cx="4305300" cy="666750"/>
            </a:xfrm>
            <a:prstGeom prst="roundRect">
              <a:avLst>
                <a:gd name="adj" fmla="val 11429"/>
              </a:avLst>
            </a:prstGeom>
            <a:solidFill>
              <a:srgbClr val="FFFFFF"/>
            </a:solidFill>
            <a:ln w="14288">
              <a:solidFill>
                <a:srgbClr val="B8CBD3"/>
              </a:solidFill>
            </a:ln>
          </p:spPr>
        </p:sp>
        <p:sp>
          <p:nvSpPr>
            <p:cNvPr id="33" name="TextBox 33"/>
            <p:cNvSpPr txBox="1"/>
            <p:nvPr/>
          </p:nvSpPr>
          <p:spPr>
            <a:xfrm>
              <a:off x="7232142" y="2645092"/>
              <a:ext cx="3874928"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İşlem #9 = { ekmek, süt, yumurta, peynir }</a:t>
              </a:r>
            </a:p>
          </p:txBody>
        </p:sp>
        <p:sp>
          <p:nvSpPr>
            <p:cNvPr id="34" name="Rectangle 34"/>
            <p:cNvSpPr/>
            <p:nvPr/>
          </p:nvSpPr>
          <p:spPr>
            <a:xfrm>
              <a:off x="7048500" y="3219450"/>
              <a:ext cx="4305300" cy="666750"/>
            </a:xfrm>
            <a:prstGeom prst="roundRect">
              <a:avLst>
                <a:gd name="adj" fmla="val 11429"/>
              </a:avLst>
            </a:prstGeom>
            <a:solidFill>
              <a:srgbClr val="FFFFFF"/>
            </a:solidFill>
            <a:ln w="14288">
              <a:solidFill>
                <a:srgbClr val="B8CBD3"/>
              </a:solidFill>
            </a:ln>
          </p:spPr>
        </p:sp>
        <p:sp>
          <p:nvSpPr>
            <p:cNvPr id="35" name="TextBox 35"/>
            <p:cNvSpPr txBox="1"/>
            <p:nvPr/>
          </p:nvSpPr>
          <p:spPr>
            <a:xfrm>
              <a:off x="7232142" y="3464242"/>
              <a:ext cx="2793921"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İşlem #10 = { tereyağı, reçel }</a:t>
              </a:r>
            </a:p>
          </p:txBody>
        </p:sp>
        <p:sp>
          <p:nvSpPr>
            <p:cNvPr id="36" name="Rectangle 36"/>
            <p:cNvSpPr/>
            <p:nvPr/>
          </p:nvSpPr>
          <p:spPr>
            <a:xfrm>
              <a:off x="7048500" y="4114800"/>
              <a:ext cx="4305300" cy="1066800"/>
            </a:xfrm>
            <a:prstGeom prst="roundRect">
              <a:avLst>
                <a:gd name="adj" fmla="val 8929"/>
              </a:avLst>
            </a:prstGeom>
            <a:solidFill>
              <a:srgbClr val="12355B"/>
            </a:solidFill>
            <a:ln>
              <a:noFill/>
            </a:ln>
          </p:spPr>
        </p:sp>
        <p:sp>
          <p:nvSpPr>
            <p:cNvPr id="37" name="TextBox 37"/>
            <p:cNvSpPr txBox="1"/>
            <p:nvPr/>
          </p:nvSpPr>
          <p:spPr>
            <a:xfrm>
              <a:off x="8167918" y="4282440"/>
              <a:ext cx="2066464" cy="352044"/>
            </a:xfrm>
            <a:prstGeom prst="rect">
              <a:avLst/>
            </a:prstGeom>
            <a:noFill/>
            <a:ln>
              <a:noFill/>
            </a:ln>
          </p:spPr>
          <p:txBody>
            <a:bodyPr wrap="none" lIns="0" tIns="0" rIns="0" bIns="0" anchor="t" anchorCtr="0">
              <a:spAutoFit/>
            </a:bodyPr>
            <a:lstStyle/>
            <a:p>
              <a:pPr algn="ctr"/>
              <a:r>
                <a:rPr lang="tr-TR" sz="1800" b="1" dirty="0">
                  <a:solidFill>
                    <a:srgbClr val="FFFFFF"/>
                  </a:solidFill>
                  <a:latin typeface="+mn-lt"/>
                  <a:ea typeface="+mn-ea"/>
                  <a:cs typeface="+mn-cs"/>
                </a:rPr>
                <a:t>tereyağı → reçel</a:t>
              </a:r>
            </a:p>
          </p:txBody>
        </p:sp>
        <p:sp>
          <p:nvSpPr>
            <p:cNvPr id="38" name="TextBox 38"/>
            <p:cNvSpPr txBox="1"/>
            <p:nvPr/>
          </p:nvSpPr>
          <p:spPr>
            <a:xfrm>
              <a:off x="7318657" y="4624864"/>
              <a:ext cx="3764987" cy="249364"/>
            </a:xfrm>
            <a:prstGeom prst="rect">
              <a:avLst/>
            </a:prstGeom>
            <a:noFill/>
            <a:ln>
              <a:noFill/>
            </a:ln>
          </p:spPr>
          <p:txBody>
            <a:bodyPr wrap="none" lIns="0" tIns="0" rIns="0" bIns="0" anchor="t" anchorCtr="0">
              <a:spAutoFit/>
            </a:bodyPr>
            <a:lstStyle/>
            <a:p>
              <a:pPr algn="ctr"/>
              <a:r>
                <a:rPr lang="tr-TR" sz="1280" dirty="0">
                  <a:solidFill>
                    <a:srgbClr val="EAF4F6"/>
                  </a:solidFill>
                  <a:latin typeface="+mn-lt"/>
                  <a:ea typeface="+mn-ea"/>
                  <a:cs typeface="+mn-cs"/>
                </a:rPr>
                <a:t>öncül (X) satın alınırsa sonuç (Y) da alınır</a:t>
              </a:r>
            </a:p>
          </p:txBody>
        </p:sp>
        <p:sp>
          <p:nvSpPr>
            <p:cNvPr id="39" name="TextBox 39"/>
            <p:cNvSpPr txBox="1"/>
            <p:nvPr/>
          </p:nvSpPr>
          <p:spPr>
            <a:xfrm>
              <a:off x="7194804" y="5394960"/>
              <a:ext cx="430118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18 sentetik işlemlik veri kümesi bölüm boyunca hem elle</a:t>
              </a:r>
            </a:p>
          </p:txBody>
        </p:sp>
        <p:sp>
          <p:nvSpPr>
            <p:cNvPr id="40" name="TextBox 40"/>
            <p:cNvSpPr txBox="1"/>
            <p:nvPr/>
          </p:nvSpPr>
          <p:spPr>
            <a:xfrm>
              <a:off x="7194804" y="5604510"/>
              <a:ext cx="397809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hesapta hem mlxtend kodunda tekrar kullanılacak.</a:t>
              </a:r>
            </a:p>
          </p:txBody>
        </p:sp>
      </p:grpSp>
      <p:sp>
        <p:nvSpPr>
          <p:cNvPr id="42" name="TextBox 4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06 / 25</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10314012" cy="557403"/>
            <a:chOff x="595122" y="282892"/>
            <a:chExt cx="10314012" cy="557403"/>
          </a:xfrm>
        </p:grpSpPr>
        <p:sp>
          <p:nvSpPr>
            <p:cNvPr id="4" name="TextBox 4"/>
            <p:cNvSpPr txBox="1"/>
            <p:nvPr/>
          </p:nvSpPr>
          <p:spPr>
            <a:xfrm>
              <a:off x="595122" y="282892"/>
              <a:ext cx="1031401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Yöntem seçimi: öğe birlikteliğini keşfetmenin yolları</a:t>
              </a:r>
            </a:p>
          </p:txBody>
        </p:sp>
      </p:grpSp>
      <p:grpSp>
        <p:nvGrpSpPr>
          <p:cNvPr id="8" name="intro"/>
          <p:cNvGrpSpPr/>
          <p:nvPr/>
        </p:nvGrpSpPr>
        <p:grpSpPr>
          <a:xfrm>
            <a:off x="603504" y="1108710"/>
            <a:ext cx="6696823" cy="406146"/>
            <a:chOff x="603504" y="1108710"/>
            <a:chExt cx="6696823" cy="406146"/>
          </a:xfrm>
        </p:grpSpPr>
        <p:sp>
          <p:nvSpPr>
            <p:cNvPr id="6" name="TextBox 6"/>
            <p:cNvSpPr txBox="1"/>
            <p:nvPr/>
          </p:nvSpPr>
          <p:spPr>
            <a:xfrm>
              <a:off x="603504" y="1108710"/>
              <a:ext cx="669682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Öğe birlikteliklerini keşfetmenin tek yolu birliktelik kuralı madenciliği değildir; ancak</a:t>
              </a:r>
            </a:p>
          </p:txBody>
        </p:sp>
        <p:sp>
          <p:nvSpPr>
            <p:cNvPr id="7" name="TextBox 7"/>
            <p:cNvSpPr txBox="1"/>
            <p:nvPr/>
          </p:nvSpPr>
          <p:spPr>
            <a:xfrm>
              <a:off x="603504" y="1280160"/>
              <a:ext cx="384886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yönlü ve çok öğeli kurallar için en uygun araçtır.</a:t>
              </a:r>
            </a:p>
          </p:txBody>
        </p:sp>
      </p:grpSp>
      <p:grpSp>
        <p:nvGrpSpPr>
          <p:cNvPr id="14" name="table-header"/>
          <p:cNvGrpSpPr/>
          <p:nvPr/>
        </p:nvGrpSpPr>
        <p:grpSpPr>
          <a:xfrm>
            <a:off x="609600" y="1485900"/>
            <a:ext cx="10972800" cy="419100"/>
            <a:chOff x="609600" y="1485900"/>
            <a:chExt cx="10972800" cy="419100"/>
          </a:xfrm>
        </p:grpSpPr>
        <p:sp>
          <p:nvSpPr>
            <p:cNvPr id="9" name="Rectangle 9"/>
            <p:cNvSpPr/>
            <p:nvPr/>
          </p:nvSpPr>
          <p:spPr>
            <a:xfrm>
              <a:off x="609600" y="1485900"/>
              <a:ext cx="10972800" cy="419100"/>
            </a:xfrm>
            <a:prstGeom prst="rect">
              <a:avLst/>
            </a:prstGeom>
            <a:solidFill>
              <a:srgbClr val="12355B"/>
            </a:solidFill>
            <a:ln>
              <a:noFill/>
            </a:ln>
          </p:spPr>
        </p:sp>
        <p:sp>
          <p:nvSpPr>
            <p:cNvPr id="10" name="TextBox 10"/>
            <p:cNvSpPr txBox="1"/>
            <p:nvPr/>
          </p:nvSpPr>
          <p:spPr>
            <a:xfrm>
              <a:off x="755904" y="1623060"/>
              <a:ext cx="692810"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YÖNTEM</a:t>
              </a:r>
            </a:p>
          </p:txBody>
        </p:sp>
        <p:sp>
          <p:nvSpPr>
            <p:cNvPr id="11" name="TextBox 11"/>
            <p:cNvSpPr txBox="1"/>
            <p:nvPr/>
          </p:nvSpPr>
          <p:spPr>
            <a:xfrm>
              <a:off x="4375404" y="1623060"/>
              <a:ext cx="1396472"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ÜRETTİĞİ ÇIKTI</a:t>
              </a:r>
            </a:p>
          </p:txBody>
        </p:sp>
        <p:sp>
          <p:nvSpPr>
            <p:cNvPr id="12" name="TextBox 12"/>
            <p:cNvSpPr txBox="1"/>
            <p:nvPr/>
          </p:nvSpPr>
          <p:spPr>
            <a:xfrm>
              <a:off x="7232904" y="1623060"/>
              <a:ext cx="1804843"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ÇOKLU ÖĞE DESTEĞİ</a:t>
              </a:r>
            </a:p>
          </p:txBody>
        </p:sp>
        <p:sp>
          <p:nvSpPr>
            <p:cNvPr id="13" name="TextBox 13"/>
            <p:cNvSpPr txBox="1"/>
            <p:nvPr/>
          </p:nvSpPr>
          <p:spPr>
            <a:xfrm>
              <a:off x="9804654" y="1623060"/>
              <a:ext cx="72865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YORUM.</a:t>
              </a:r>
            </a:p>
          </p:txBody>
        </p:sp>
      </p:grpSp>
      <p:grpSp>
        <p:nvGrpSpPr>
          <p:cNvPr id="20" name="row1"/>
          <p:cNvGrpSpPr/>
          <p:nvPr/>
        </p:nvGrpSpPr>
        <p:grpSpPr>
          <a:xfrm>
            <a:off x="609600" y="1905000"/>
            <a:ext cx="10972800" cy="590550"/>
            <a:chOff x="609600" y="1905000"/>
            <a:chExt cx="10972800" cy="590550"/>
          </a:xfrm>
        </p:grpSpPr>
        <p:sp>
          <p:nvSpPr>
            <p:cNvPr id="15" name="Rectangle 15"/>
            <p:cNvSpPr/>
            <p:nvPr/>
          </p:nvSpPr>
          <p:spPr>
            <a:xfrm>
              <a:off x="609600" y="1905000"/>
              <a:ext cx="10972800" cy="590550"/>
            </a:xfrm>
            <a:prstGeom prst="rect">
              <a:avLst/>
            </a:prstGeom>
            <a:solidFill>
              <a:srgbClr val="EAF4F6"/>
            </a:solidFill>
            <a:ln>
              <a:noFill/>
            </a:ln>
          </p:spPr>
        </p:sp>
        <p:sp>
          <p:nvSpPr>
            <p:cNvPr id="16" name="TextBox 16"/>
            <p:cNvSpPr txBox="1"/>
            <p:nvPr/>
          </p:nvSpPr>
          <p:spPr>
            <a:xfrm>
              <a:off x="754761" y="2113121"/>
              <a:ext cx="2769879"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Birliktelik kuralı madenciliği</a:t>
              </a:r>
            </a:p>
          </p:txBody>
        </p:sp>
        <p:sp>
          <p:nvSpPr>
            <p:cNvPr id="17" name="TextBox 17"/>
            <p:cNvSpPr txBox="1"/>
            <p:nvPr/>
          </p:nvSpPr>
          <p:spPr>
            <a:xfrm>
              <a:off x="4375023" y="2129314"/>
              <a:ext cx="1576984"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Yönlü kural (X → Y)</a:t>
              </a:r>
            </a:p>
          </p:txBody>
        </p:sp>
        <p:sp>
          <p:nvSpPr>
            <p:cNvPr id="18" name="TextBox 18"/>
            <p:cNvSpPr txBox="1"/>
            <p:nvPr/>
          </p:nvSpPr>
          <p:spPr>
            <a:xfrm>
              <a:off x="7232523" y="2129314"/>
              <a:ext cx="2275992"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Doğal (Apriori/FP-Growth)</a:t>
              </a:r>
            </a:p>
          </p:txBody>
        </p:sp>
        <p:sp>
          <p:nvSpPr>
            <p:cNvPr id="19" name="TextBox 19"/>
            <p:cNvSpPr txBox="1"/>
            <p:nvPr/>
          </p:nvSpPr>
          <p:spPr>
            <a:xfrm>
              <a:off x="9804273" y="2129314"/>
              <a:ext cx="586953"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Yüksek</a:t>
              </a:r>
            </a:p>
          </p:txBody>
        </p:sp>
      </p:grpSp>
      <p:grpSp>
        <p:nvGrpSpPr>
          <p:cNvPr id="26" name="row2"/>
          <p:cNvGrpSpPr/>
          <p:nvPr/>
        </p:nvGrpSpPr>
        <p:grpSpPr>
          <a:xfrm>
            <a:off x="609600" y="2703671"/>
            <a:ext cx="10972800" cy="391954"/>
            <a:chOff x="609600" y="2703671"/>
            <a:chExt cx="10972800" cy="391954"/>
          </a:xfrm>
        </p:grpSpPr>
        <p:sp>
          <p:nvSpPr>
            <p:cNvPr id="21" name="TextBox 21"/>
            <p:cNvSpPr txBox="1"/>
            <p:nvPr/>
          </p:nvSpPr>
          <p:spPr>
            <a:xfrm>
              <a:off x="754761" y="2703671"/>
              <a:ext cx="934209"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Kümeleme</a:t>
              </a:r>
            </a:p>
          </p:txBody>
        </p:sp>
        <p:sp>
          <p:nvSpPr>
            <p:cNvPr id="22" name="TextBox 22"/>
            <p:cNvSpPr txBox="1"/>
            <p:nvPr/>
          </p:nvSpPr>
          <p:spPr>
            <a:xfrm>
              <a:off x="4375023" y="2719864"/>
              <a:ext cx="1956968"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Müşteri/işlem grupları</a:t>
              </a:r>
            </a:p>
          </p:txBody>
        </p:sp>
        <p:sp>
          <p:nvSpPr>
            <p:cNvPr id="23" name="TextBox 23"/>
            <p:cNvSpPr txBox="1"/>
            <p:nvPr/>
          </p:nvSpPr>
          <p:spPr>
            <a:xfrm>
              <a:off x="7232523" y="2719864"/>
              <a:ext cx="594872"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Dolaylı</a:t>
              </a:r>
            </a:p>
          </p:txBody>
        </p:sp>
        <p:sp>
          <p:nvSpPr>
            <p:cNvPr id="24" name="TextBox 24"/>
            <p:cNvSpPr txBox="1"/>
            <p:nvPr/>
          </p:nvSpPr>
          <p:spPr>
            <a:xfrm>
              <a:off x="9804273" y="2719864"/>
              <a:ext cx="432359"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Orta</a:t>
              </a:r>
            </a:p>
          </p:txBody>
        </p:sp>
        <p:sp>
          <p:nvSpPr>
            <p:cNvPr id="25" name="Line 25"/>
            <p:cNvSpPr/>
            <p:nvPr/>
          </p:nvSpPr>
          <p:spPr>
            <a:xfrm>
              <a:off x="609600" y="30861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2" name="row3"/>
          <p:cNvGrpSpPr/>
          <p:nvPr/>
        </p:nvGrpSpPr>
        <p:grpSpPr>
          <a:xfrm>
            <a:off x="609600" y="3086100"/>
            <a:ext cx="10972800" cy="590550"/>
            <a:chOff x="609600" y="3086100"/>
            <a:chExt cx="10972800" cy="590550"/>
          </a:xfrm>
        </p:grpSpPr>
        <p:sp>
          <p:nvSpPr>
            <p:cNvPr id="27" name="Rectangle 27"/>
            <p:cNvSpPr/>
            <p:nvPr/>
          </p:nvSpPr>
          <p:spPr>
            <a:xfrm>
              <a:off x="609600" y="3086100"/>
              <a:ext cx="10972800" cy="590550"/>
            </a:xfrm>
            <a:prstGeom prst="rect">
              <a:avLst/>
            </a:prstGeom>
            <a:solidFill>
              <a:srgbClr val="EAF4F6"/>
            </a:solidFill>
            <a:ln>
              <a:noFill/>
            </a:ln>
          </p:spPr>
        </p:sp>
        <p:sp>
          <p:nvSpPr>
            <p:cNvPr id="28" name="TextBox 28"/>
            <p:cNvSpPr txBox="1"/>
            <p:nvPr/>
          </p:nvSpPr>
          <p:spPr>
            <a:xfrm>
              <a:off x="754761" y="3294221"/>
              <a:ext cx="1847097"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Korelasyon matrisi</a:t>
              </a:r>
            </a:p>
          </p:txBody>
        </p:sp>
        <p:sp>
          <p:nvSpPr>
            <p:cNvPr id="29" name="TextBox 29"/>
            <p:cNvSpPr txBox="1"/>
            <p:nvPr/>
          </p:nvSpPr>
          <p:spPr>
            <a:xfrm>
              <a:off x="4375023" y="3310414"/>
              <a:ext cx="1715047"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İkili ilişki katsayısı</a:t>
              </a:r>
            </a:p>
          </p:txBody>
        </p:sp>
        <p:sp>
          <p:nvSpPr>
            <p:cNvPr id="30" name="TextBox 30"/>
            <p:cNvSpPr txBox="1"/>
            <p:nvPr/>
          </p:nvSpPr>
          <p:spPr>
            <a:xfrm>
              <a:off x="7232523" y="3310414"/>
              <a:ext cx="2043369"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Zayıf (esas olarak ikili)</a:t>
              </a:r>
            </a:p>
          </p:txBody>
        </p:sp>
        <p:sp>
          <p:nvSpPr>
            <p:cNvPr id="31" name="TextBox 31"/>
            <p:cNvSpPr txBox="1"/>
            <p:nvPr/>
          </p:nvSpPr>
          <p:spPr>
            <a:xfrm>
              <a:off x="9804273" y="3310414"/>
              <a:ext cx="432359"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Orta</a:t>
              </a:r>
            </a:p>
          </p:txBody>
        </p:sp>
      </p:grpSp>
      <p:grpSp>
        <p:nvGrpSpPr>
          <p:cNvPr id="38" name="note-cluster"/>
          <p:cNvGrpSpPr/>
          <p:nvPr/>
        </p:nvGrpSpPr>
        <p:grpSpPr>
          <a:xfrm>
            <a:off x="609600" y="3905250"/>
            <a:ext cx="5334000" cy="1238250"/>
            <a:chOff x="609600" y="3905250"/>
            <a:chExt cx="5334000" cy="1238250"/>
          </a:xfrm>
        </p:grpSpPr>
        <p:sp>
          <p:nvSpPr>
            <p:cNvPr id="33" name="Rectangle 33"/>
            <p:cNvSpPr/>
            <p:nvPr/>
          </p:nvSpPr>
          <p:spPr>
            <a:xfrm>
              <a:off x="609600" y="3905250"/>
              <a:ext cx="5334000" cy="1238250"/>
            </a:xfrm>
            <a:prstGeom prst="roundRect">
              <a:avLst>
                <a:gd name="adj" fmla="val 7692"/>
              </a:avLst>
            </a:prstGeom>
            <a:solidFill>
              <a:srgbClr val="FFFFFF"/>
            </a:solidFill>
            <a:ln w="14288">
              <a:solidFill>
                <a:srgbClr val="B8CBD3"/>
              </a:solidFill>
            </a:ln>
          </p:spPr>
        </p:sp>
        <p:sp>
          <p:nvSpPr>
            <p:cNvPr id="34" name="TextBox 34"/>
            <p:cNvSpPr txBox="1"/>
            <p:nvPr/>
          </p:nvSpPr>
          <p:spPr>
            <a:xfrm>
              <a:off x="831342" y="4045268"/>
              <a:ext cx="2653047"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Kümeleme neden yeterli değil</a:t>
              </a:r>
            </a:p>
          </p:txBody>
        </p:sp>
        <p:sp>
          <p:nvSpPr>
            <p:cNvPr id="35" name="TextBox 35"/>
            <p:cNvSpPr txBox="1"/>
            <p:nvPr/>
          </p:nvSpPr>
          <p:spPr>
            <a:xfrm>
              <a:off x="832104" y="4309110"/>
              <a:ext cx="322402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Müşterileri satın alma davranışına göre</a:t>
              </a:r>
            </a:p>
          </p:txBody>
        </p:sp>
        <p:sp>
          <p:nvSpPr>
            <p:cNvPr id="36" name="TextBox 36"/>
            <p:cNvSpPr txBox="1"/>
            <p:nvPr/>
          </p:nvSpPr>
          <p:spPr>
            <a:xfrm>
              <a:off x="832104" y="4518660"/>
              <a:ext cx="353682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gruplayabilir, fakat "X alınırsa Y de alınır"</a:t>
              </a:r>
            </a:p>
          </p:txBody>
        </p:sp>
        <p:sp>
          <p:nvSpPr>
            <p:cNvPr id="37" name="TextBox 37"/>
            <p:cNvSpPr txBox="1"/>
            <p:nvPr/>
          </p:nvSpPr>
          <p:spPr>
            <a:xfrm>
              <a:off x="832104" y="4728210"/>
              <a:ext cx="40346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biçiminde yönlü ve yorumlanabilir kurallar üretmez.</a:t>
              </a:r>
            </a:p>
          </p:txBody>
        </p:sp>
      </p:grpSp>
      <p:grpSp>
        <p:nvGrpSpPr>
          <p:cNvPr id="44" name="note-corr"/>
          <p:cNvGrpSpPr/>
          <p:nvPr/>
        </p:nvGrpSpPr>
        <p:grpSpPr>
          <a:xfrm>
            <a:off x="6248400" y="3905250"/>
            <a:ext cx="5334000" cy="1238250"/>
            <a:chOff x="6248400" y="3905250"/>
            <a:chExt cx="5334000" cy="1238250"/>
          </a:xfrm>
        </p:grpSpPr>
        <p:sp>
          <p:nvSpPr>
            <p:cNvPr id="39" name="Rectangle 39"/>
            <p:cNvSpPr/>
            <p:nvPr/>
          </p:nvSpPr>
          <p:spPr>
            <a:xfrm>
              <a:off x="6248400" y="3905250"/>
              <a:ext cx="5334000" cy="1238250"/>
            </a:xfrm>
            <a:prstGeom prst="roundRect">
              <a:avLst>
                <a:gd name="adj" fmla="val 7692"/>
              </a:avLst>
            </a:prstGeom>
            <a:solidFill>
              <a:srgbClr val="FFFFFF"/>
            </a:solidFill>
            <a:ln w="14288">
              <a:solidFill>
                <a:srgbClr val="B8CBD3"/>
              </a:solidFill>
            </a:ln>
          </p:spPr>
        </p:sp>
        <p:sp>
          <p:nvSpPr>
            <p:cNvPr id="40" name="TextBox 40"/>
            <p:cNvSpPr txBox="1"/>
            <p:nvPr/>
          </p:nvSpPr>
          <p:spPr>
            <a:xfrm>
              <a:off x="6470142" y="4045268"/>
              <a:ext cx="2786463"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Korelasyon neden yeterli değil</a:t>
              </a:r>
            </a:p>
          </p:txBody>
        </p:sp>
        <p:sp>
          <p:nvSpPr>
            <p:cNvPr id="41" name="TextBox 41"/>
            <p:cNvSpPr txBox="1"/>
            <p:nvPr/>
          </p:nvSpPr>
          <p:spPr>
            <a:xfrm>
              <a:off x="6470904" y="4309110"/>
              <a:ext cx="336922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İkili ilişki gösterebilir, ancak üç veya daha</a:t>
              </a:r>
            </a:p>
          </p:txBody>
        </p:sp>
        <p:sp>
          <p:nvSpPr>
            <p:cNvPr id="42" name="TextBox 42"/>
            <p:cNvSpPr txBox="1"/>
            <p:nvPr/>
          </p:nvSpPr>
          <p:spPr>
            <a:xfrm>
              <a:off x="6470904" y="4518660"/>
              <a:ext cx="340637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fazla öğeden oluşan kümeleri (X, Y → Z gibi)</a:t>
              </a:r>
            </a:p>
          </p:txBody>
        </p:sp>
        <p:sp>
          <p:nvSpPr>
            <p:cNvPr id="43" name="TextBox 43"/>
            <p:cNvSpPr txBox="1"/>
            <p:nvPr/>
          </p:nvSpPr>
          <p:spPr>
            <a:xfrm>
              <a:off x="6470904" y="4728210"/>
              <a:ext cx="189418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doğal olarak ele alamaz.</a:t>
              </a:r>
            </a:p>
          </p:txBody>
        </p:sp>
      </p:grpSp>
      <p:grpSp>
        <p:nvGrpSpPr>
          <p:cNvPr id="47" name="synthesis"/>
          <p:cNvGrpSpPr/>
          <p:nvPr/>
        </p:nvGrpSpPr>
        <p:grpSpPr>
          <a:xfrm>
            <a:off x="609600" y="5334000"/>
            <a:ext cx="10972800" cy="571500"/>
            <a:chOff x="609600" y="5334000"/>
            <a:chExt cx="10972800" cy="571500"/>
          </a:xfrm>
        </p:grpSpPr>
        <p:sp>
          <p:nvSpPr>
            <p:cNvPr id="45" name="Rectangle 45"/>
            <p:cNvSpPr/>
            <p:nvPr/>
          </p:nvSpPr>
          <p:spPr>
            <a:xfrm>
              <a:off x="609600" y="5334000"/>
              <a:ext cx="10972800" cy="571500"/>
            </a:xfrm>
            <a:prstGeom prst="roundRect">
              <a:avLst>
                <a:gd name="adj" fmla="val 13333"/>
              </a:avLst>
            </a:prstGeom>
            <a:solidFill>
              <a:srgbClr val="12355B"/>
            </a:solidFill>
            <a:ln>
              <a:noFill/>
            </a:ln>
          </p:spPr>
        </p:sp>
        <p:sp>
          <p:nvSpPr>
            <p:cNvPr id="46" name="TextBox 46"/>
            <p:cNvSpPr txBox="1"/>
            <p:nvPr/>
          </p:nvSpPr>
          <p:spPr>
            <a:xfrm>
              <a:off x="907161" y="5523071"/>
              <a:ext cx="9384536" cy="278702"/>
            </a:xfrm>
            <a:prstGeom prst="rect">
              <a:avLst/>
            </a:prstGeom>
            <a:noFill/>
            <a:ln>
              <a:noFill/>
            </a:ln>
          </p:spPr>
          <p:txBody>
            <a:bodyPr wrap="none" lIns="0" tIns="0" rIns="0" bIns="0" anchor="t" anchorCtr="0">
              <a:spAutoFit/>
            </a:bodyPr>
            <a:lstStyle/>
            <a:p>
              <a:pPr algn="l"/>
              <a:r>
                <a:rPr lang="tr-TR" sz="1420" b="1" dirty="0">
                  <a:solidFill>
                    <a:srgbClr val="FFFFFF"/>
                  </a:solidFill>
                  <a:latin typeface="+mn-lt"/>
                  <a:ea typeface="+mn-ea"/>
                  <a:cs typeface="+mn-cs"/>
                </a:rPr>
                <a:t>Bu bölüm, veri "işlem içinde birlikte görülen öğeler" biçimindeyken uygulanacak yöntemi ele alır.</a:t>
              </a:r>
            </a:p>
          </p:txBody>
        </p:sp>
      </p:grpSp>
      <p:sp>
        <p:nvSpPr>
          <p:cNvPr id="48" name="TextBox 4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07 / 25</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8079606" cy="557403"/>
            <a:chOff x="595122" y="282892"/>
            <a:chExt cx="8079606" cy="557403"/>
          </a:xfrm>
        </p:grpSpPr>
        <p:sp>
          <p:nvSpPr>
            <p:cNvPr id="4" name="TextBox 4"/>
            <p:cNvSpPr txBox="1"/>
            <p:nvPr/>
          </p:nvSpPr>
          <p:spPr>
            <a:xfrm>
              <a:off x="595122" y="282892"/>
              <a:ext cx="807960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One-hot işlem-öğe matrisine dönüştürme</a:t>
              </a:r>
            </a:p>
          </p:txBody>
        </p:sp>
      </p:grpSp>
      <p:grpSp>
        <p:nvGrpSpPr>
          <p:cNvPr id="8" name="definition"/>
          <p:cNvGrpSpPr/>
          <p:nvPr/>
        </p:nvGrpSpPr>
        <p:grpSpPr>
          <a:xfrm>
            <a:off x="601599" y="1144429"/>
            <a:ext cx="9611511" cy="555689"/>
            <a:chOff x="601599" y="1144429"/>
            <a:chExt cx="9611511" cy="555689"/>
          </a:xfrm>
        </p:grpSpPr>
        <p:sp>
          <p:nvSpPr>
            <p:cNvPr id="6" name="TextBox 6"/>
            <p:cNvSpPr txBox="1"/>
            <p:nvPr/>
          </p:nvSpPr>
          <p:spPr>
            <a:xfrm>
              <a:off x="601599" y="1144429"/>
              <a:ext cx="961151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mlxtend'in TransactionEncoder sınıfı, değişken uzunluktaki öğe listelerini sabit sütunlu bir</a:t>
              </a:r>
            </a:p>
          </p:txBody>
        </p:sp>
        <p:sp>
          <p:nvSpPr>
            <p:cNvPr id="7" name="TextBox 7"/>
            <p:cNvSpPr txBox="1"/>
            <p:nvPr/>
          </p:nvSpPr>
          <p:spPr>
            <a:xfrm>
              <a:off x="601599" y="1392079"/>
              <a:ext cx="958082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ikili (boolean) DataFrame'e çevirir; fit tüm ürünleri öğrenir, transform her satırı kodlar.</a:t>
              </a:r>
            </a:p>
          </p:txBody>
        </p:sp>
      </p:grpSp>
      <p:grpSp>
        <p:nvGrpSpPr>
          <p:cNvPr id="18" name="before"/>
          <p:cNvGrpSpPr/>
          <p:nvPr/>
        </p:nvGrpSpPr>
        <p:grpSpPr>
          <a:xfrm>
            <a:off x="602742" y="2025968"/>
            <a:ext cx="3245358" cy="2613088"/>
            <a:chOff x="602742" y="2025968"/>
            <a:chExt cx="3245358" cy="2613088"/>
          </a:xfrm>
        </p:grpSpPr>
        <p:sp>
          <p:nvSpPr>
            <p:cNvPr id="9" name="TextBox 9"/>
            <p:cNvSpPr txBox="1"/>
            <p:nvPr/>
          </p:nvSpPr>
          <p:spPr>
            <a:xfrm>
              <a:off x="602742" y="2025968"/>
              <a:ext cx="1546068"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Ham işlem listesi</a:t>
              </a:r>
            </a:p>
          </p:txBody>
        </p:sp>
        <p:sp>
          <p:nvSpPr>
            <p:cNvPr id="10" name="Rectangle 10"/>
            <p:cNvSpPr/>
            <p:nvPr/>
          </p:nvSpPr>
          <p:spPr>
            <a:xfrm>
              <a:off x="609600" y="2286000"/>
              <a:ext cx="3238500" cy="533400"/>
            </a:xfrm>
            <a:prstGeom prst="roundRect">
              <a:avLst>
                <a:gd name="adj" fmla="val 10714"/>
              </a:avLst>
            </a:prstGeom>
            <a:solidFill>
              <a:srgbClr val="FFFFFF"/>
            </a:solidFill>
            <a:ln w="14288">
              <a:solidFill>
                <a:srgbClr val="B8CBD3"/>
              </a:solidFill>
            </a:ln>
          </p:spPr>
        </p:sp>
        <p:sp>
          <p:nvSpPr>
            <p:cNvPr id="11" name="TextBox 11"/>
            <p:cNvSpPr txBox="1"/>
            <p:nvPr/>
          </p:nvSpPr>
          <p:spPr>
            <a:xfrm>
              <a:off x="755904" y="2480310"/>
              <a:ext cx="186187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[ekmek, süt, yumurta]</a:t>
              </a:r>
            </a:p>
          </p:txBody>
        </p:sp>
        <p:sp>
          <p:nvSpPr>
            <p:cNvPr id="12" name="Rectangle 12"/>
            <p:cNvSpPr/>
            <p:nvPr/>
          </p:nvSpPr>
          <p:spPr>
            <a:xfrm>
              <a:off x="609600" y="2895600"/>
              <a:ext cx="3238500" cy="533400"/>
            </a:xfrm>
            <a:prstGeom prst="roundRect">
              <a:avLst>
                <a:gd name="adj" fmla="val 10714"/>
              </a:avLst>
            </a:prstGeom>
            <a:solidFill>
              <a:srgbClr val="FFFFFF"/>
            </a:solidFill>
            <a:ln w="14288">
              <a:solidFill>
                <a:srgbClr val="B8CBD3"/>
              </a:solidFill>
            </a:ln>
          </p:spPr>
        </p:sp>
        <p:sp>
          <p:nvSpPr>
            <p:cNvPr id="13" name="TextBox 13"/>
            <p:cNvSpPr txBox="1"/>
            <p:nvPr/>
          </p:nvSpPr>
          <p:spPr>
            <a:xfrm>
              <a:off x="755904" y="3089910"/>
              <a:ext cx="151455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[ekmek, tereyağı]</a:t>
              </a:r>
            </a:p>
          </p:txBody>
        </p:sp>
        <p:sp>
          <p:nvSpPr>
            <p:cNvPr id="14" name="Rectangle 14"/>
            <p:cNvSpPr/>
            <p:nvPr/>
          </p:nvSpPr>
          <p:spPr>
            <a:xfrm>
              <a:off x="609600" y="3505200"/>
              <a:ext cx="3238500" cy="533400"/>
            </a:xfrm>
            <a:prstGeom prst="roundRect">
              <a:avLst>
                <a:gd name="adj" fmla="val 10714"/>
              </a:avLst>
            </a:prstGeom>
            <a:solidFill>
              <a:srgbClr val="FFFFFF"/>
            </a:solidFill>
            <a:ln w="14288">
              <a:solidFill>
                <a:srgbClr val="B8CBD3"/>
              </a:solidFill>
            </a:ln>
          </p:spPr>
        </p:sp>
        <p:sp>
          <p:nvSpPr>
            <p:cNvPr id="15" name="TextBox 15"/>
            <p:cNvSpPr txBox="1"/>
            <p:nvPr/>
          </p:nvSpPr>
          <p:spPr>
            <a:xfrm>
              <a:off x="755904" y="3699510"/>
              <a:ext cx="187802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[süt, yumurta, peynir]</a:t>
              </a:r>
            </a:p>
          </p:txBody>
        </p:sp>
        <p:sp>
          <p:nvSpPr>
            <p:cNvPr id="16" name="TextBox 16"/>
            <p:cNvSpPr txBox="1"/>
            <p:nvPr/>
          </p:nvSpPr>
          <p:spPr>
            <a:xfrm>
              <a:off x="755904" y="4156710"/>
              <a:ext cx="152262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 toplam 18 işlem</a:t>
              </a:r>
            </a:p>
          </p:txBody>
        </p:sp>
        <p:sp>
          <p:nvSpPr>
            <p:cNvPr id="17" name="TextBox 17"/>
            <p:cNvSpPr txBox="1"/>
            <p:nvPr/>
          </p:nvSpPr>
          <p:spPr>
            <a:xfrm>
              <a:off x="755904" y="4404360"/>
              <a:ext cx="149032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değişken uzunlukta</a:t>
              </a:r>
            </a:p>
          </p:txBody>
        </p:sp>
      </p:grpSp>
      <p:grpSp>
        <p:nvGrpSpPr>
          <p:cNvPr id="22" name="arrow-mid"/>
          <p:cNvGrpSpPr/>
          <p:nvPr/>
        </p:nvGrpSpPr>
        <p:grpSpPr>
          <a:xfrm>
            <a:off x="4000500" y="3037999"/>
            <a:ext cx="735191" cy="343090"/>
            <a:chOff x="4000500" y="3037999"/>
            <a:chExt cx="735191" cy="343090"/>
          </a:xfrm>
        </p:grpSpPr>
        <p:sp>
          <p:nvSpPr>
            <p:cNvPr id="19" name="Line 19"/>
            <p:cNvSpPr/>
            <p:nvPr/>
          </p:nvSpPr>
          <p:spPr>
            <a:xfrm>
              <a:off x="4000500" y="3333750"/>
              <a:ext cx="666750" cy="1"/>
            </a:xfrm>
            <a:prstGeom prst="line">
              <a:avLst/>
            </a:prstGeom>
            <a:noFill/>
            <a:ln w="28575">
              <a:solidFill>
                <a:srgbClr val="00A6A6"/>
              </a:solidFill>
              <a:tailEnd type="arrow" w="lg" len="lg"/>
            </a:ln>
          </p:spPr>
        </p:sp>
        <p:sp>
          <p:nvSpPr>
            <p:cNvPr id="20" name="TextBox 20"/>
            <p:cNvSpPr txBox="1"/>
            <p:nvPr/>
          </p:nvSpPr>
          <p:spPr>
            <a:xfrm>
              <a:off x="4237653" y="3037999"/>
              <a:ext cx="306743" cy="190690"/>
            </a:xfrm>
            <a:prstGeom prst="rect">
              <a:avLst/>
            </a:prstGeom>
            <a:noFill/>
            <a:ln>
              <a:noFill/>
            </a:ln>
          </p:spPr>
          <p:txBody>
            <a:bodyPr wrap="none" lIns="0" tIns="0" rIns="0" bIns="0" anchor="t" anchorCtr="0">
              <a:spAutoFit/>
            </a:bodyPr>
            <a:lstStyle/>
            <a:p>
              <a:pPr algn="ctr"/>
              <a:r>
                <a:rPr lang="tr-TR" sz="980" dirty="0">
                  <a:solidFill>
                    <a:srgbClr val="52616B"/>
                  </a:solidFill>
                  <a:latin typeface="+mn-lt"/>
                  <a:ea typeface="+mn-ea"/>
                  <a:cs typeface="+mn-cs"/>
                </a:rPr>
                <a:t>fit +</a:t>
              </a:r>
            </a:p>
          </p:txBody>
        </p:sp>
        <p:sp>
          <p:nvSpPr>
            <p:cNvPr id="21" name="TextBox 21"/>
            <p:cNvSpPr txBox="1"/>
            <p:nvPr/>
          </p:nvSpPr>
          <p:spPr>
            <a:xfrm>
              <a:off x="4046358" y="3190399"/>
              <a:ext cx="689333" cy="190690"/>
            </a:xfrm>
            <a:prstGeom prst="rect">
              <a:avLst/>
            </a:prstGeom>
            <a:noFill/>
            <a:ln>
              <a:noFill/>
            </a:ln>
          </p:spPr>
          <p:txBody>
            <a:bodyPr wrap="none" lIns="0" tIns="0" rIns="0" bIns="0" anchor="t" anchorCtr="0">
              <a:spAutoFit/>
            </a:bodyPr>
            <a:lstStyle/>
            <a:p>
              <a:pPr algn="ctr"/>
              <a:r>
                <a:rPr lang="tr-TR" sz="980" dirty="0">
                  <a:solidFill>
                    <a:srgbClr val="52616B"/>
                  </a:solidFill>
                  <a:latin typeface="+mn-lt"/>
                  <a:ea typeface="+mn-ea"/>
                  <a:cs typeface="+mn-cs"/>
                </a:rPr>
                <a:t>transform</a:t>
              </a:r>
            </a:p>
          </p:txBody>
        </p:sp>
      </p:grpSp>
      <p:grpSp>
        <p:nvGrpSpPr>
          <p:cNvPr id="54" name="after"/>
          <p:cNvGrpSpPr/>
          <p:nvPr/>
        </p:nvGrpSpPr>
        <p:grpSpPr>
          <a:xfrm>
            <a:off x="4984242" y="2025968"/>
            <a:ext cx="6598158" cy="2327338"/>
            <a:chOff x="4984242" y="2025968"/>
            <a:chExt cx="6598158" cy="2327338"/>
          </a:xfrm>
        </p:grpSpPr>
        <p:sp>
          <p:nvSpPr>
            <p:cNvPr id="23" name="TextBox 23"/>
            <p:cNvSpPr txBox="1"/>
            <p:nvPr/>
          </p:nvSpPr>
          <p:spPr>
            <a:xfrm>
              <a:off x="4984242" y="2025968"/>
              <a:ext cx="2017231"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İşlem matrisi (18, 6)</a:t>
              </a:r>
            </a:p>
          </p:txBody>
        </p:sp>
        <p:sp>
          <p:nvSpPr>
            <p:cNvPr id="24" name="Rectangle 24"/>
            <p:cNvSpPr/>
            <p:nvPr/>
          </p:nvSpPr>
          <p:spPr>
            <a:xfrm>
              <a:off x="4991100" y="2286000"/>
              <a:ext cx="6591300" cy="342900"/>
            </a:xfrm>
            <a:prstGeom prst="rect">
              <a:avLst/>
            </a:prstGeom>
            <a:solidFill>
              <a:srgbClr val="12355B"/>
            </a:solidFill>
            <a:ln>
              <a:noFill/>
            </a:ln>
          </p:spPr>
        </p:sp>
        <p:sp>
          <p:nvSpPr>
            <p:cNvPr id="25" name="TextBox 25"/>
            <p:cNvSpPr txBox="1"/>
            <p:nvPr/>
          </p:nvSpPr>
          <p:spPr>
            <a:xfrm>
              <a:off x="5138166" y="2401252"/>
              <a:ext cx="448503" cy="205359"/>
            </a:xfrm>
            <a:prstGeom prst="rect">
              <a:avLst/>
            </a:prstGeom>
            <a:noFill/>
            <a:ln>
              <a:noFill/>
            </a:ln>
          </p:spPr>
          <p:txBody>
            <a:bodyPr wrap="none" lIns="0" tIns="0" rIns="0" bIns="0" anchor="t" anchorCtr="0">
              <a:spAutoFit/>
            </a:bodyPr>
            <a:lstStyle/>
            <a:p>
              <a:pPr algn="l"/>
              <a:r>
                <a:rPr lang="tr-TR" sz="1050" b="1" dirty="0">
                  <a:solidFill>
                    <a:srgbClr val="FFFFFF"/>
                  </a:solidFill>
                  <a:latin typeface="+mn-lt"/>
                  <a:ea typeface="+mn-ea"/>
                  <a:cs typeface="+mn-cs"/>
                </a:rPr>
                <a:t>ekmek</a:t>
              </a:r>
            </a:p>
          </p:txBody>
        </p:sp>
        <p:sp>
          <p:nvSpPr>
            <p:cNvPr id="26" name="TextBox 26"/>
            <p:cNvSpPr txBox="1"/>
            <p:nvPr/>
          </p:nvSpPr>
          <p:spPr>
            <a:xfrm>
              <a:off x="6090666" y="2401252"/>
              <a:ext cx="463345" cy="205359"/>
            </a:xfrm>
            <a:prstGeom prst="rect">
              <a:avLst/>
            </a:prstGeom>
            <a:noFill/>
            <a:ln>
              <a:noFill/>
            </a:ln>
          </p:spPr>
          <p:txBody>
            <a:bodyPr wrap="none" lIns="0" tIns="0" rIns="0" bIns="0" anchor="t" anchorCtr="0">
              <a:spAutoFit/>
            </a:bodyPr>
            <a:lstStyle/>
            <a:p>
              <a:pPr algn="l"/>
              <a:r>
                <a:rPr lang="tr-TR" sz="1050" b="1" dirty="0">
                  <a:solidFill>
                    <a:srgbClr val="FFFFFF"/>
                  </a:solidFill>
                  <a:latin typeface="+mn-lt"/>
                  <a:ea typeface="+mn-ea"/>
                  <a:cs typeface="+mn-cs"/>
                </a:rPr>
                <a:t>peynir</a:t>
              </a:r>
            </a:p>
          </p:txBody>
        </p:sp>
        <p:sp>
          <p:nvSpPr>
            <p:cNvPr id="27" name="TextBox 27"/>
            <p:cNvSpPr txBox="1"/>
            <p:nvPr/>
          </p:nvSpPr>
          <p:spPr>
            <a:xfrm>
              <a:off x="7043166" y="2401252"/>
              <a:ext cx="381714" cy="205359"/>
            </a:xfrm>
            <a:prstGeom prst="rect">
              <a:avLst/>
            </a:prstGeom>
            <a:noFill/>
            <a:ln>
              <a:noFill/>
            </a:ln>
          </p:spPr>
          <p:txBody>
            <a:bodyPr wrap="none" lIns="0" tIns="0" rIns="0" bIns="0" anchor="t" anchorCtr="0">
              <a:spAutoFit/>
            </a:bodyPr>
            <a:lstStyle/>
            <a:p>
              <a:pPr algn="l"/>
              <a:r>
                <a:rPr lang="tr-TR" sz="1050" b="1" dirty="0">
                  <a:solidFill>
                    <a:srgbClr val="FFFFFF"/>
                  </a:solidFill>
                  <a:latin typeface="+mn-lt"/>
                  <a:ea typeface="+mn-ea"/>
                  <a:cs typeface="+mn-cs"/>
                </a:rPr>
                <a:t>reçel</a:t>
              </a:r>
            </a:p>
          </p:txBody>
        </p:sp>
        <p:sp>
          <p:nvSpPr>
            <p:cNvPr id="28" name="TextBox 28"/>
            <p:cNvSpPr txBox="1"/>
            <p:nvPr/>
          </p:nvSpPr>
          <p:spPr>
            <a:xfrm>
              <a:off x="7900416" y="2401252"/>
              <a:ext cx="255559" cy="205359"/>
            </a:xfrm>
            <a:prstGeom prst="rect">
              <a:avLst/>
            </a:prstGeom>
            <a:noFill/>
            <a:ln>
              <a:noFill/>
            </a:ln>
          </p:spPr>
          <p:txBody>
            <a:bodyPr wrap="none" lIns="0" tIns="0" rIns="0" bIns="0" anchor="t" anchorCtr="0">
              <a:spAutoFit/>
            </a:bodyPr>
            <a:lstStyle/>
            <a:p>
              <a:pPr algn="l"/>
              <a:r>
                <a:rPr lang="tr-TR" sz="1050" b="1" dirty="0">
                  <a:solidFill>
                    <a:srgbClr val="FFFFFF"/>
                  </a:solidFill>
                  <a:latin typeface="+mn-lt"/>
                  <a:ea typeface="+mn-ea"/>
                  <a:cs typeface="+mn-cs"/>
                </a:rPr>
                <a:t>süt</a:t>
              </a:r>
            </a:p>
          </p:txBody>
        </p:sp>
        <p:sp>
          <p:nvSpPr>
            <p:cNvPr id="29" name="TextBox 29"/>
            <p:cNvSpPr txBox="1"/>
            <p:nvPr/>
          </p:nvSpPr>
          <p:spPr>
            <a:xfrm>
              <a:off x="8662416" y="2401252"/>
              <a:ext cx="663710" cy="205359"/>
            </a:xfrm>
            <a:prstGeom prst="rect">
              <a:avLst/>
            </a:prstGeom>
            <a:noFill/>
            <a:ln>
              <a:noFill/>
            </a:ln>
          </p:spPr>
          <p:txBody>
            <a:bodyPr wrap="none" lIns="0" tIns="0" rIns="0" bIns="0" anchor="t" anchorCtr="0">
              <a:spAutoFit/>
            </a:bodyPr>
            <a:lstStyle/>
            <a:p>
              <a:pPr algn="l"/>
              <a:r>
                <a:rPr lang="tr-TR" sz="1050" b="1" dirty="0">
                  <a:solidFill>
                    <a:srgbClr val="FFFFFF"/>
                  </a:solidFill>
                  <a:latin typeface="+mn-lt"/>
                  <a:ea typeface="+mn-ea"/>
                  <a:cs typeface="+mn-cs"/>
                </a:rPr>
                <a:t>tereyağı</a:t>
              </a:r>
            </a:p>
          </p:txBody>
        </p:sp>
        <p:sp>
          <p:nvSpPr>
            <p:cNvPr id="30" name="TextBox 30"/>
            <p:cNvSpPr txBox="1"/>
            <p:nvPr/>
          </p:nvSpPr>
          <p:spPr>
            <a:xfrm>
              <a:off x="9805416" y="2401252"/>
              <a:ext cx="611763" cy="205359"/>
            </a:xfrm>
            <a:prstGeom prst="rect">
              <a:avLst/>
            </a:prstGeom>
            <a:noFill/>
            <a:ln>
              <a:noFill/>
            </a:ln>
          </p:spPr>
          <p:txBody>
            <a:bodyPr wrap="none" lIns="0" tIns="0" rIns="0" bIns="0" anchor="t" anchorCtr="0">
              <a:spAutoFit/>
            </a:bodyPr>
            <a:lstStyle/>
            <a:p>
              <a:pPr algn="l"/>
              <a:r>
                <a:rPr lang="tr-TR" sz="1050" b="1" dirty="0">
                  <a:solidFill>
                    <a:srgbClr val="FFFFFF"/>
                  </a:solidFill>
                  <a:latin typeface="+mn-lt"/>
                  <a:ea typeface="+mn-ea"/>
                  <a:cs typeface="+mn-cs"/>
                </a:rPr>
                <a:t>yumurta</a:t>
              </a:r>
            </a:p>
          </p:txBody>
        </p:sp>
        <p:sp>
          <p:nvSpPr>
            <p:cNvPr id="31" name="Rectangle 31"/>
            <p:cNvSpPr/>
            <p:nvPr/>
          </p:nvSpPr>
          <p:spPr>
            <a:xfrm>
              <a:off x="4991100" y="2628900"/>
              <a:ext cx="6591300" cy="342900"/>
            </a:xfrm>
            <a:prstGeom prst="rect">
              <a:avLst/>
            </a:prstGeom>
            <a:solidFill>
              <a:srgbClr val="FFFFFF"/>
            </a:solidFill>
            <a:ln w="9525">
              <a:solidFill>
                <a:srgbClr val="B8CBD3"/>
              </a:solidFill>
            </a:ln>
          </p:spPr>
        </p:sp>
        <p:sp>
          <p:nvSpPr>
            <p:cNvPr id="32" name="TextBox 32"/>
            <p:cNvSpPr txBox="1"/>
            <p:nvPr/>
          </p:nvSpPr>
          <p:spPr>
            <a:xfrm>
              <a:off x="5137785" y="2736056"/>
              <a:ext cx="34782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True</a:t>
              </a:r>
            </a:p>
          </p:txBody>
        </p:sp>
        <p:sp>
          <p:nvSpPr>
            <p:cNvPr id="33" name="TextBox 33"/>
            <p:cNvSpPr txBox="1"/>
            <p:nvPr/>
          </p:nvSpPr>
          <p:spPr>
            <a:xfrm>
              <a:off x="6090285" y="2736056"/>
              <a:ext cx="39263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False</a:t>
              </a:r>
            </a:p>
          </p:txBody>
        </p:sp>
        <p:sp>
          <p:nvSpPr>
            <p:cNvPr id="34" name="TextBox 34"/>
            <p:cNvSpPr txBox="1"/>
            <p:nvPr/>
          </p:nvSpPr>
          <p:spPr>
            <a:xfrm>
              <a:off x="7042785" y="2736056"/>
              <a:ext cx="39263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False</a:t>
              </a:r>
            </a:p>
          </p:txBody>
        </p:sp>
        <p:sp>
          <p:nvSpPr>
            <p:cNvPr id="35" name="TextBox 35"/>
            <p:cNvSpPr txBox="1"/>
            <p:nvPr/>
          </p:nvSpPr>
          <p:spPr>
            <a:xfrm>
              <a:off x="7900035" y="2736056"/>
              <a:ext cx="34782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True</a:t>
              </a:r>
            </a:p>
          </p:txBody>
        </p:sp>
        <p:sp>
          <p:nvSpPr>
            <p:cNvPr id="36" name="TextBox 36"/>
            <p:cNvSpPr txBox="1"/>
            <p:nvPr/>
          </p:nvSpPr>
          <p:spPr>
            <a:xfrm>
              <a:off x="8662035" y="2736056"/>
              <a:ext cx="39263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False</a:t>
              </a:r>
            </a:p>
          </p:txBody>
        </p:sp>
        <p:sp>
          <p:nvSpPr>
            <p:cNvPr id="37" name="TextBox 37"/>
            <p:cNvSpPr txBox="1"/>
            <p:nvPr/>
          </p:nvSpPr>
          <p:spPr>
            <a:xfrm>
              <a:off x="9805035" y="2736056"/>
              <a:ext cx="34782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True</a:t>
              </a:r>
            </a:p>
          </p:txBody>
        </p:sp>
        <p:sp>
          <p:nvSpPr>
            <p:cNvPr id="38" name="Rectangle 38"/>
            <p:cNvSpPr/>
            <p:nvPr/>
          </p:nvSpPr>
          <p:spPr>
            <a:xfrm>
              <a:off x="4991100" y="2971800"/>
              <a:ext cx="6591300" cy="342900"/>
            </a:xfrm>
            <a:prstGeom prst="rect">
              <a:avLst/>
            </a:prstGeom>
            <a:solidFill>
              <a:srgbClr val="EAF4F6"/>
            </a:solidFill>
            <a:ln>
              <a:noFill/>
            </a:ln>
          </p:spPr>
        </p:sp>
        <p:sp>
          <p:nvSpPr>
            <p:cNvPr id="39" name="TextBox 39"/>
            <p:cNvSpPr txBox="1"/>
            <p:nvPr/>
          </p:nvSpPr>
          <p:spPr>
            <a:xfrm>
              <a:off x="5137785" y="3078956"/>
              <a:ext cx="34782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True</a:t>
              </a:r>
            </a:p>
          </p:txBody>
        </p:sp>
        <p:sp>
          <p:nvSpPr>
            <p:cNvPr id="40" name="TextBox 40"/>
            <p:cNvSpPr txBox="1"/>
            <p:nvPr/>
          </p:nvSpPr>
          <p:spPr>
            <a:xfrm>
              <a:off x="6090285" y="3078956"/>
              <a:ext cx="39263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False</a:t>
              </a:r>
            </a:p>
          </p:txBody>
        </p:sp>
        <p:sp>
          <p:nvSpPr>
            <p:cNvPr id="41" name="TextBox 41"/>
            <p:cNvSpPr txBox="1"/>
            <p:nvPr/>
          </p:nvSpPr>
          <p:spPr>
            <a:xfrm>
              <a:off x="7042785" y="3078956"/>
              <a:ext cx="39263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False</a:t>
              </a:r>
            </a:p>
          </p:txBody>
        </p:sp>
        <p:sp>
          <p:nvSpPr>
            <p:cNvPr id="42" name="TextBox 42"/>
            <p:cNvSpPr txBox="1"/>
            <p:nvPr/>
          </p:nvSpPr>
          <p:spPr>
            <a:xfrm>
              <a:off x="7900035" y="3078956"/>
              <a:ext cx="39263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False</a:t>
              </a:r>
            </a:p>
          </p:txBody>
        </p:sp>
        <p:sp>
          <p:nvSpPr>
            <p:cNvPr id="43" name="TextBox 43"/>
            <p:cNvSpPr txBox="1"/>
            <p:nvPr/>
          </p:nvSpPr>
          <p:spPr>
            <a:xfrm>
              <a:off x="8662035" y="3078956"/>
              <a:ext cx="34782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True</a:t>
              </a:r>
            </a:p>
          </p:txBody>
        </p:sp>
        <p:sp>
          <p:nvSpPr>
            <p:cNvPr id="44" name="TextBox 44"/>
            <p:cNvSpPr txBox="1"/>
            <p:nvPr/>
          </p:nvSpPr>
          <p:spPr>
            <a:xfrm>
              <a:off x="9805035" y="3078956"/>
              <a:ext cx="39263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False</a:t>
              </a:r>
            </a:p>
          </p:txBody>
        </p:sp>
        <p:sp>
          <p:nvSpPr>
            <p:cNvPr id="45" name="Rectangle 45"/>
            <p:cNvSpPr/>
            <p:nvPr/>
          </p:nvSpPr>
          <p:spPr>
            <a:xfrm>
              <a:off x="4991100" y="3314700"/>
              <a:ext cx="6591300" cy="342900"/>
            </a:xfrm>
            <a:prstGeom prst="rect">
              <a:avLst/>
            </a:prstGeom>
            <a:solidFill>
              <a:srgbClr val="FFFFFF"/>
            </a:solidFill>
            <a:ln w="9525">
              <a:solidFill>
                <a:srgbClr val="B8CBD3"/>
              </a:solidFill>
            </a:ln>
          </p:spPr>
        </p:sp>
        <p:sp>
          <p:nvSpPr>
            <p:cNvPr id="46" name="TextBox 46"/>
            <p:cNvSpPr txBox="1"/>
            <p:nvPr/>
          </p:nvSpPr>
          <p:spPr>
            <a:xfrm>
              <a:off x="5137785" y="3421856"/>
              <a:ext cx="39263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False</a:t>
              </a:r>
            </a:p>
          </p:txBody>
        </p:sp>
        <p:sp>
          <p:nvSpPr>
            <p:cNvPr id="47" name="TextBox 47"/>
            <p:cNvSpPr txBox="1"/>
            <p:nvPr/>
          </p:nvSpPr>
          <p:spPr>
            <a:xfrm>
              <a:off x="6090285" y="3421856"/>
              <a:ext cx="34782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True</a:t>
              </a:r>
            </a:p>
          </p:txBody>
        </p:sp>
        <p:sp>
          <p:nvSpPr>
            <p:cNvPr id="48" name="TextBox 48"/>
            <p:cNvSpPr txBox="1"/>
            <p:nvPr/>
          </p:nvSpPr>
          <p:spPr>
            <a:xfrm>
              <a:off x="7042785" y="3421856"/>
              <a:ext cx="39263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False</a:t>
              </a:r>
            </a:p>
          </p:txBody>
        </p:sp>
        <p:sp>
          <p:nvSpPr>
            <p:cNvPr id="49" name="TextBox 49"/>
            <p:cNvSpPr txBox="1"/>
            <p:nvPr/>
          </p:nvSpPr>
          <p:spPr>
            <a:xfrm>
              <a:off x="7900035" y="3421856"/>
              <a:ext cx="34782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True</a:t>
              </a:r>
            </a:p>
          </p:txBody>
        </p:sp>
        <p:sp>
          <p:nvSpPr>
            <p:cNvPr id="50" name="TextBox 50"/>
            <p:cNvSpPr txBox="1"/>
            <p:nvPr/>
          </p:nvSpPr>
          <p:spPr>
            <a:xfrm>
              <a:off x="8662035" y="3421856"/>
              <a:ext cx="39263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False</a:t>
              </a:r>
            </a:p>
          </p:txBody>
        </p:sp>
        <p:sp>
          <p:nvSpPr>
            <p:cNvPr id="51" name="TextBox 51"/>
            <p:cNvSpPr txBox="1"/>
            <p:nvPr/>
          </p:nvSpPr>
          <p:spPr>
            <a:xfrm>
              <a:off x="9805035" y="3421856"/>
              <a:ext cx="34782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True</a:t>
              </a:r>
            </a:p>
          </p:txBody>
        </p:sp>
        <p:sp>
          <p:nvSpPr>
            <p:cNvPr id="52" name="TextBox 52"/>
            <p:cNvSpPr txBox="1"/>
            <p:nvPr/>
          </p:nvSpPr>
          <p:spPr>
            <a:xfrm>
              <a:off x="4985004" y="3909060"/>
              <a:ext cx="378945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Sütun adları alfabetik sıradaki ürün adlarıdır;</a:t>
              </a:r>
            </a:p>
          </p:txBody>
        </p:sp>
        <p:sp>
          <p:nvSpPr>
            <p:cNvPr id="53" name="TextBox 53"/>
            <p:cNvSpPr txBox="1"/>
            <p:nvPr/>
          </p:nvSpPr>
          <p:spPr>
            <a:xfrm>
              <a:off x="4985004" y="4118610"/>
              <a:ext cx="474281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use_colnames=True olmadan yalnızca sütun indeksi görünür.</a:t>
              </a:r>
            </a:p>
          </p:txBody>
        </p:sp>
      </p:grpSp>
      <p:grpSp>
        <p:nvGrpSpPr>
          <p:cNvPr id="58" name="tip-box"/>
          <p:cNvGrpSpPr/>
          <p:nvPr/>
        </p:nvGrpSpPr>
        <p:grpSpPr>
          <a:xfrm>
            <a:off x="609600" y="5715000"/>
            <a:ext cx="10972800" cy="628650"/>
            <a:chOff x="609600" y="5715000"/>
            <a:chExt cx="10972800" cy="628650"/>
          </a:xfrm>
        </p:grpSpPr>
        <p:sp>
          <p:nvSpPr>
            <p:cNvPr id="55" name="Rectangle 55"/>
            <p:cNvSpPr/>
            <p:nvPr/>
          </p:nvSpPr>
          <p:spPr>
            <a:xfrm>
              <a:off x="609600" y="5715000"/>
              <a:ext cx="10972800" cy="628650"/>
            </a:xfrm>
            <a:prstGeom prst="roundRect">
              <a:avLst>
                <a:gd name="adj" fmla="val 12121"/>
              </a:avLst>
            </a:prstGeom>
            <a:solidFill>
              <a:srgbClr val="EAF4F6"/>
            </a:solidFill>
            <a:ln>
              <a:noFill/>
            </a:ln>
          </p:spPr>
        </p:sp>
        <p:sp>
          <p:nvSpPr>
            <p:cNvPr id="56" name="TextBox 56"/>
            <p:cNvSpPr txBox="1"/>
            <p:nvPr/>
          </p:nvSpPr>
          <p:spPr>
            <a:xfrm>
              <a:off x="907923" y="5825014"/>
              <a:ext cx="754013"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 İpucu</a:t>
              </a:r>
            </a:p>
          </p:txBody>
        </p:sp>
        <p:sp>
          <p:nvSpPr>
            <p:cNvPr id="57" name="TextBox 57"/>
            <p:cNvSpPr txBox="1"/>
            <p:nvPr/>
          </p:nvSpPr>
          <p:spPr>
            <a:xfrm>
              <a:off x="908304" y="6061710"/>
              <a:ext cx="940043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Kodda ürün adı ile sütun indeksini karıştırmamak için her zaman urunKodlayici.columns_ üzerinden isim eşlemesi yapın.</a:t>
              </a:r>
            </a:p>
          </p:txBody>
        </p:sp>
      </p:grpSp>
      <p:sp>
        <p:nvSpPr>
          <p:cNvPr id="59" name="TextBox 5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08 / 25</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9294150" cy="668845"/>
            <a:chOff x="609600" y="171450"/>
            <a:chExt cx="9294150"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860377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Destek, güven ve kaldıraç: üç temel metrik</a:t>
              </a:r>
            </a:p>
          </p:txBody>
        </p:sp>
      </p:grpSp>
      <p:grpSp>
        <p:nvGrpSpPr>
          <p:cNvPr id="19" name="card-destek"/>
          <p:cNvGrpSpPr/>
          <p:nvPr/>
        </p:nvGrpSpPr>
        <p:grpSpPr>
          <a:xfrm>
            <a:off x="609600" y="1143000"/>
            <a:ext cx="3505200" cy="3048000"/>
            <a:chOff x="609600" y="1143000"/>
            <a:chExt cx="3505200" cy="3048000"/>
          </a:xfrm>
        </p:grpSpPr>
        <p:sp>
          <p:nvSpPr>
            <p:cNvPr id="9" name="Rectangle 9"/>
            <p:cNvSpPr/>
            <p:nvPr/>
          </p:nvSpPr>
          <p:spPr>
            <a:xfrm>
              <a:off x="609600" y="1143000"/>
              <a:ext cx="3505200" cy="3048000"/>
            </a:xfrm>
            <a:prstGeom prst="roundRect">
              <a:avLst>
                <a:gd name="adj" fmla="val 3125"/>
              </a:avLst>
            </a:prstGeom>
            <a:solidFill>
              <a:srgbClr val="FFFFFF"/>
            </a:solidFill>
            <a:ln w="14288">
              <a:solidFill>
                <a:srgbClr val="B8CBD3"/>
              </a:solidFill>
            </a:ln>
          </p:spPr>
        </p:sp>
        <p:sp>
          <p:nvSpPr>
            <p:cNvPr id="10" name="TextBox 10"/>
            <p:cNvSpPr txBox="1"/>
            <p:nvPr/>
          </p:nvSpPr>
          <p:spPr>
            <a:xfrm>
              <a:off x="829818" y="1307782"/>
              <a:ext cx="2019556"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Destek (support)</a:t>
              </a:r>
            </a:p>
          </p:txBody>
        </p:sp>
        <p:sp>
          <p:nvSpPr>
            <p:cNvPr id="11" name="Rectangle 11"/>
            <p:cNvSpPr/>
            <p:nvPr/>
          </p:nvSpPr>
          <p:spPr>
            <a:xfrm>
              <a:off x="838200" y="1676400"/>
              <a:ext cx="3048000" cy="495300"/>
            </a:xfrm>
            <a:prstGeom prst="roundRect">
              <a:avLst>
                <a:gd name="adj" fmla="val 11538"/>
              </a:avLst>
            </a:prstGeom>
            <a:solidFill>
              <a:srgbClr val="EAF4F6"/>
            </a:solidFill>
            <a:ln>
              <a:noFill/>
            </a:ln>
          </p:spPr>
        </p:sp>
        <p:sp>
          <p:nvSpPr>
            <p:cNvPr id="12" name="TextBox 12"/>
            <p:cNvSpPr txBox="1"/>
            <p:nvPr/>
          </p:nvSpPr>
          <p:spPr>
            <a:xfrm>
              <a:off x="984504" y="1851660"/>
              <a:ext cx="2932645" cy="234696"/>
            </a:xfrm>
            <a:prstGeom prst="rect">
              <a:avLst/>
            </a:prstGeom>
            <a:noFill/>
            <a:ln>
              <a:noFill/>
            </a:ln>
          </p:spPr>
          <p:txBody>
            <a:bodyPr wrap="none" lIns="0" tIns="0" rIns="0" bIns="0" anchor="t" anchorCtr="0">
              <a:spAutoFit/>
            </a:bodyPr>
            <a:lstStyle/>
            <a:p>
              <a:pPr algn="l"/>
              <a:r>
                <a:rPr lang="tr-TR" sz="1200" dirty="0">
                  <a:solidFill>
                    <a:srgbClr val="12355B"/>
                  </a:solidFill>
                  <a:latin typeface="+mn-lt"/>
                  <a:ea typeface="+mn-ea"/>
                  <a:cs typeface="+mn-cs"/>
                </a:rPr>
                <a:t>destek(X) = X'i içeren işlem / toplam</a:t>
              </a:r>
            </a:p>
          </p:txBody>
        </p:sp>
        <p:sp>
          <p:nvSpPr>
            <p:cNvPr id="13" name="TextBox 13"/>
            <p:cNvSpPr txBox="1"/>
            <p:nvPr/>
          </p:nvSpPr>
          <p:spPr>
            <a:xfrm>
              <a:off x="832104" y="2308860"/>
              <a:ext cx="237586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Bir öğe kümesinin tüm işlemler</a:t>
              </a:r>
            </a:p>
          </p:txBody>
        </p:sp>
        <p:sp>
          <p:nvSpPr>
            <p:cNvPr id="14" name="TextBox 14"/>
            <p:cNvSpPr txBox="1"/>
            <p:nvPr/>
          </p:nvSpPr>
          <p:spPr>
            <a:xfrm>
              <a:off x="832104" y="2518410"/>
              <a:ext cx="170840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içinde görülme oranı.</a:t>
              </a:r>
            </a:p>
          </p:txBody>
        </p:sp>
        <p:sp>
          <p:nvSpPr>
            <p:cNvPr id="15" name="TextBox 15"/>
            <p:cNvSpPr txBox="1"/>
            <p:nvPr/>
          </p:nvSpPr>
          <p:spPr>
            <a:xfrm>
              <a:off x="832104" y="2880360"/>
              <a:ext cx="2986564" cy="234696"/>
            </a:xfrm>
            <a:prstGeom prst="rect">
              <a:avLst/>
            </a:prstGeom>
            <a:noFill/>
            <a:ln>
              <a:noFill/>
            </a:ln>
          </p:spPr>
          <p:txBody>
            <a:bodyPr wrap="none" lIns="0" tIns="0" rIns="0" bIns="0" anchor="t" anchorCtr="0">
              <a:spAutoFit/>
            </a:bodyPr>
            <a:lstStyle/>
            <a:p>
              <a:pPr algn="l"/>
              <a:r>
                <a:rPr lang="tr-TR" sz="1200" b="1" dirty="0">
                  <a:solidFill>
                    <a:srgbClr val="2E86AB"/>
                  </a:solidFill>
                  <a:latin typeface="+mn-lt"/>
                  <a:ea typeface="+mn-ea"/>
                  <a:cs typeface="+mn-cs"/>
                </a:rPr>
                <a:t>"Sınıfın yüzde kaçı hem matematik</a:t>
              </a:r>
            </a:p>
          </p:txBody>
        </p:sp>
        <p:sp>
          <p:nvSpPr>
            <p:cNvPr id="16" name="TextBox 16"/>
            <p:cNvSpPr txBox="1"/>
            <p:nvPr/>
          </p:nvSpPr>
          <p:spPr>
            <a:xfrm>
              <a:off x="832104" y="3089910"/>
              <a:ext cx="1699923" cy="234696"/>
            </a:xfrm>
            <a:prstGeom prst="rect">
              <a:avLst/>
            </a:prstGeom>
            <a:noFill/>
            <a:ln>
              <a:noFill/>
            </a:ln>
          </p:spPr>
          <p:txBody>
            <a:bodyPr wrap="none" lIns="0" tIns="0" rIns="0" bIns="0" anchor="t" anchorCtr="0">
              <a:spAutoFit/>
            </a:bodyPr>
            <a:lstStyle/>
            <a:p>
              <a:pPr algn="l"/>
              <a:r>
                <a:rPr lang="tr-TR" sz="1200" b="1" dirty="0">
                  <a:solidFill>
                    <a:srgbClr val="2E86AB"/>
                  </a:solidFill>
                  <a:latin typeface="+mn-lt"/>
                  <a:ea typeface="+mn-ea"/>
                  <a:cs typeface="+mn-cs"/>
                </a:rPr>
                <a:t>hem fizikten geçti?"</a:t>
              </a:r>
            </a:p>
          </p:txBody>
        </p:sp>
        <p:sp>
          <p:nvSpPr>
            <p:cNvPr id="17" name="TextBox 17"/>
            <p:cNvSpPr txBox="1"/>
            <p:nvPr/>
          </p:nvSpPr>
          <p:spPr>
            <a:xfrm>
              <a:off x="832485" y="3536156"/>
              <a:ext cx="1682726"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Tuzak: nadir ama güçlü</a:t>
              </a:r>
            </a:p>
          </p:txBody>
        </p:sp>
        <p:sp>
          <p:nvSpPr>
            <p:cNvPr id="18" name="TextBox 18"/>
            <p:cNvSpPr txBox="1"/>
            <p:nvPr/>
          </p:nvSpPr>
          <p:spPr>
            <a:xfrm>
              <a:off x="832485" y="3726656"/>
              <a:ext cx="1036696"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ilişkileri eler.</a:t>
              </a:r>
            </a:p>
          </p:txBody>
        </p:sp>
      </p:grpSp>
      <p:grpSp>
        <p:nvGrpSpPr>
          <p:cNvPr id="31" name="card-guven"/>
          <p:cNvGrpSpPr/>
          <p:nvPr/>
        </p:nvGrpSpPr>
        <p:grpSpPr>
          <a:xfrm>
            <a:off x="4343400" y="1143000"/>
            <a:ext cx="3505200" cy="3048000"/>
            <a:chOff x="4343400" y="1143000"/>
            <a:chExt cx="3505200" cy="3048000"/>
          </a:xfrm>
        </p:grpSpPr>
        <p:sp>
          <p:nvSpPr>
            <p:cNvPr id="20" name="Rectangle 20"/>
            <p:cNvSpPr/>
            <p:nvPr/>
          </p:nvSpPr>
          <p:spPr>
            <a:xfrm>
              <a:off x="4343400" y="1143000"/>
              <a:ext cx="3505200" cy="3048000"/>
            </a:xfrm>
            <a:prstGeom prst="roundRect">
              <a:avLst>
                <a:gd name="adj" fmla="val 3125"/>
              </a:avLst>
            </a:prstGeom>
            <a:solidFill>
              <a:srgbClr val="FFFFFF"/>
            </a:solidFill>
            <a:ln w="14288">
              <a:solidFill>
                <a:srgbClr val="B8CBD3"/>
              </a:solidFill>
            </a:ln>
          </p:spPr>
        </p:sp>
        <p:sp>
          <p:nvSpPr>
            <p:cNvPr id="21" name="TextBox 21"/>
            <p:cNvSpPr txBox="1"/>
            <p:nvPr/>
          </p:nvSpPr>
          <p:spPr>
            <a:xfrm>
              <a:off x="4563618" y="1307782"/>
              <a:ext cx="2217391"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Güven (confidence)</a:t>
              </a:r>
            </a:p>
          </p:txBody>
        </p:sp>
        <p:sp>
          <p:nvSpPr>
            <p:cNvPr id="22" name="Rectangle 22"/>
            <p:cNvSpPr/>
            <p:nvPr/>
          </p:nvSpPr>
          <p:spPr>
            <a:xfrm>
              <a:off x="4572000" y="1676400"/>
              <a:ext cx="3048000" cy="495300"/>
            </a:xfrm>
            <a:prstGeom prst="roundRect">
              <a:avLst>
                <a:gd name="adj" fmla="val 11538"/>
              </a:avLst>
            </a:prstGeom>
            <a:solidFill>
              <a:srgbClr val="EAF4F6"/>
            </a:solidFill>
            <a:ln>
              <a:noFill/>
            </a:ln>
          </p:spPr>
        </p:sp>
        <p:sp>
          <p:nvSpPr>
            <p:cNvPr id="23" name="TextBox 23"/>
            <p:cNvSpPr txBox="1"/>
            <p:nvPr/>
          </p:nvSpPr>
          <p:spPr>
            <a:xfrm>
              <a:off x="4718685" y="1783556"/>
              <a:ext cx="984331" cy="220028"/>
            </a:xfrm>
            <a:prstGeom prst="rect">
              <a:avLst/>
            </a:prstGeom>
            <a:noFill/>
            <a:ln>
              <a:noFill/>
            </a:ln>
          </p:spPr>
          <p:txBody>
            <a:bodyPr wrap="none" lIns="0" tIns="0" rIns="0" bIns="0" anchor="t" anchorCtr="0">
              <a:spAutoFit/>
            </a:bodyPr>
            <a:lstStyle/>
            <a:p>
              <a:pPr algn="l"/>
              <a:r>
                <a:rPr lang="tr-TR" sz="1120" dirty="0">
                  <a:solidFill>
                    <a:srgbClr val="12355B"/>
                  </a:solidFill>
                  <a:latin typeface="+mn-lt"/>
                  <a:ea typeface="+mn-ea"/>
                  <a:cs typeface="+mn-cs"/>
                </a:rPr>
                <a:t>güven(X→Y) =</a:t>
              </a:r>
            </a:p>
          </p:txBody>
        </p:sp>
        <p:sp>
          <p:nvSpPr>
            <p:cNvPr id="24" name="TextBox 24"/>
            <p:cNvSpPr txBox="1"/>
            <p:nvPr/>
          </p:nvSpPr>
          <p:spPr>
            <a:xfrm>
              <a:off x="4718685" y="1974056"/>
              <a:ext cx="1864078" cy="220028"/>
            </a:xfrm>
            <a:prstGeom prst="rect">
              <a:avLst/>
            </a:prstGeom>
            <a:noFill/>
            <a:ln>
              <a:noFill/>
            </a:ln>
          </p:spPr>
          <p:txBody>
            <a:bodyPr wrap="none" lIns="0" tIns="0" rIns="0" bIns="0" anchor="t" anchorCtr="0">
              <a:spAutoFit/>
            </a:bodyPr>
            <a:lstStyle/>
            <a:p>
              <a:pPr algn="l"/>
              <a:r>
                <a:rPr lang="tr-TR" sz="1120" dirty="0">
                  <a:solidFill>
                    <a:srgbClr val="12355B"/>
                  </a:solidFill>
                  <a:latin typeface="+mn-lt"/>
                  <a:ea typeface="+mn-ea"/>
                  <a:cs typeface="+mn-cs"/>
                </a:rPr>
                <a:t>destek(X∪Y) / destek(X)</a:t>
              </a:r>
            </a:p>
          </p:txBody>
        </p:sp>
        <p:sp>
          <p:nvSpPr>
            <p:cNvPr id="25" name="TextBox 25"/>
            <p:cNvSpPr txBox="1"/>
            <p:nvPr/>
          </p:nvSpPr>
          <p:spPr>
            <a:xfrm>
              <a:off x="4565904" y="2308860"/>
              <a:ext cx="186476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X görüldüğünde Y'nin de</a:t>
              </a:r>
            </a:p>
          </p:txBody>
        </p:sp>
        <p:sp>
          <p:nvSpPr>
            <p:cNvPr id="26" name="TextBox 26"/>
            <p:cNvSpPr txBox="1"/>
            <p:nvPr/>
          </p:nvSpPr>
          <p:spPr>
            <a:xfrm>
              <a:off x="4565904" y="2518410"/>
              <a:ext cx="207187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görülme koşullu olasılığı.</a:t>
              </a:r>
            </a:p>
          </p:txBody>
        </p:sp>
        <p:sp>
          <p:nvSpPr>
            <p:cNvPr id="27" name="TextBox 27"/>
            <p:cNvSpPr txBox="1"/>
            <p:nvPr/>
          </p:nvSpPr>
          <p:spPr>
            <a:xfrm>
              <a:off x="4565904" y="2880360"/>
              <a:ext cx="2672329" cy="234696"/>
            </a:xfrm>
            <a:prstGeom prst="rect">
              <a:avLst/>
            </a:prstGeom>
            <a:noFill/>
            <a:ln>
              <a:noFill/>
            </a:ln>
          </p:spPr>
          <p:txBody>
            <a:bodyPr wrap="none" lIns="0" tIns="0" rIns="0" bIns="0" anchor="t" anchorCtr="0">
              <a:spAutoFit/>
            </a:bodyPr>
            <a:lstStyle/>
            <a:p>
              <a:pPr algn="l"/>
              <a:r>
                <a:rPr lang="tr-TR" sz="1200" b="1" dirty="0">
                  <a:solidFill>
                    <a:srgbClr val="2E86AB"/>
                  </a:solidFill>
                  <a:latin typeface="+mn-lt"/>
                  <a:ea typeface="+mn-ea"/>
                  <a:cs typeface="+mn-cs"/>
                </a:rPr>
                <a:t>"Matematikten geçenlerin yüzde</a:t>
              </a:r>
            </a:p>
          </p:txBody>
        </p:sp>
        <p:sp>
          <p:nvSpPr>
            <p:cNvPr id="28" name="TextBox 28"/>
            <p:cNvSpPr txBox="1"/>
            <p:nvPr/>
          </p:nvSpPr>
          <p:spPr>
            <a:xfrm>
              <a:off x="4565904" y="3089910"/>
              <a:ext cx="1996760" cy="234696"/>
            </a:xfrm>
            <a:prstGeom prst="rect">
              <a:avLst/>
            </a:prstGeom>
            <a:noFill/>
            <a:ln>
              <a:noFill/>
            </a:ln>
          </p:spPr>
          <p:txBody>
            <a:bodyPr wrap="none" lIns="0" tIns="0" rIns="0" bIns="0" anchor="t" anchorCtr="0">
              <a:spAutoFit/>
            </a:bodyPr>
            <a:lstStyle/>
            <a:p>
              <a:pPr algn="l"/>
              <a:r>
                <a:rPr lang="tr-TR" sz="1200" b="1" dirty="0">
                  <a:solidFill>
                    <a:srgbClr val="2E86AB"/>
                  </a:solidFill>
                  <a:latin typeface="+mn-lt"/>
                  <a:ea typeface="+mn-ea"/>
                  <a:cs typeface="+mn-cs"/>
                </a:rPr>
                <a:t>kaçı fizikten de geçti?"</a:t>
              </a:r>
            </a:p>
          </p:txBody>
        </p:sp>
        <p:sp>
          <p:nvSpPr>
            <p:cNvPr id="29" name="TextBox 29"/>
            <p:cNvSpPr txBox="1"/>
            <p:nvPr/>
          </p:nvSpPr>
          <p:spPr>
            <a:xfrm>
              <a:off x="4566285" y="3536156"/>
              <a:ext cx="2297669"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Tuzak: Y'nin genel popülerliğini</a:t>
              </a:r>
            </a:p>
          </p:txBody>
        </p:sp>
        <p:sp>
          <p:nvSpPr>
            <p:cNvPr id="30" name="TextBox 30"/>
            <p:cNvSpPr txBox="1"/>
            <p:nvPr/>
          </p:nvSpPr>
          <p:spPr>
            <a:xfrm>
              <a:off x="4566285" y="3726656"/>
              <a:ext cx="2551979"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görmezden gelir; yöne duyarlıdır.</a:t>
              </a:r>
            </a:p>
          </p:txBody>
        </p:sp>
      </p:grpSp>
      <p:grpSp>
        <p:nvGrpSpPr>
          <p:cNvPr id="43" name="card-kaldirac"/>
          <p:cNvGrpSpPr/>
          <p:nvPr/>
        </p:nvGrpSpPr>
        <p:grpSpPr>
          <a:xfrm>
            <a:off x="8077200" y="1143000"/>
            <a:ext cx="3505200" cy="3048000"/>
            <a:chOff x="8077200" y="1143000"/>
            <a:chExt cx="3505200" cy="3048000"/>
          </a:xfrm>
        </p:grpSpPr>
        <p:sp>
          <p:nvSpPr>
            <p:cNvPr id="32" name="Rectangle 32"/>
            <p:cNvSpPr/>
            <p:nvPr/>
          </p:nvSpPr>
          <p:spPr>
            <a:xfrm>
              <a:off x="8077200" y="1143000"/>
              <a:ext cx="3505200" cy="3048000"/>
            </a:xfrm>
            <a:prstGeom prst="roundRect">
              <a:avLst>
                <a:gd name="adj" fmla="val 3125"/>
              </a:avLst>
            </a:prstGeom>
            <a:solidFill>
              <a:srgbClr val="EAF4F6"/>
            </a:solidFill>
            <a:ln w="14288">
              <a:solidFill>
                <a:srgbClr val="00A6A6"/>
              </a:solidFill>
            </a:ln>
          </p:spPr>
        </p:sp>
        <p:sp>
          <p:nvSpPr>
            <p:cNvPr id="33" name="TextBox 33"/>
            <p:cNvSpPr txBox="1"/>
            <p:nvPr/>
          </p:nvSpPr>
          <p:spPr>
            <a:xfrm>
              <a:off x="8297418" y="1307782"/>
              <a:ext cx="1715651"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Kaldıraç (lift)</a:t>
              </a:r>
            </a:p>
          </p:txBody>
        </p:sp>
        <p:sp>
          <p:nvSpPr>
            <p:cNvPr id="34" name="Rectangle 34"/>
            <p:cNvSpPr/>
            <p:nvPr/>
          </p:nvSpPr>
          <p:spPr>
            <a:xfrm>
              <a:off x="8305800" y="1676400"/>
              <a:ext cx="3048000" cy="495300"/>
            </a:xfrm>
            <a:prstGeom prst="roundRect">
              <a:avLst>
                <a:gd name="adj" fmla="val 11538"/>
              </a:avLst>
            </a:prstGeom>
            <a:solidFill>
              <a:srgbClr val="FFFFFF"/>
            </a:solidFill>
            <a:ln>
              <a:noFill/>
            </a:ln>
          </p:spPr>
        </p:sp>
        <p:sp>
          <p:nvSpPr>
            <p:cNvPr id="35" name="TextBox 35"/>
            <p:cNvSpPr txBox="1"/>
            <p:nvPr/>
          </p:nvSpPr>
          <p:spPr>
            <a:xfrm>
              <a:off x="8452485" y="1783556"/>
              <a:ext cx="2293860" cy="220028"/>
            </a:xfrm>
            <a:prstGeom prst="rect">
              <a:avLst/>
            </a:prstGeom>
            <a:noFill/>
            <a:ln>
              <a:noFill/>
            </a:ln>
          </p:spPr>
          <p:txBody>
            <a:bodyPr wrap="none" lIns="0" tIns="0" rIns="0" bIns="0" anchor="t" anchorCtr="0">
              <a:spAutoFit/>
            </a:bodyPr>
            <a:lstStyle/>
            <a:p>
              <a:pPr algn="l"/>
              <a:r>
                <a:rPr lang="tr-TR" sz="1120" dirty="0">
                  <a:solidFill>
                    <a:srgbClr val="12355B"/>
                  </a:solidFill>
                  <a:latin typeface="+mn-lt"/>
                  <a:ea typeface="+mn-ea"/>
                  <a:cs typeface="+mn-cs"/>
                </a:rPr>
                <a:t>kaldıraç(X→Y) = destek(X∪Y) /</a:t>
              </a:r>
            </a:p>
          </p:txBody>
        </p:sp>
        <p:sp>
          <p:nvSpPr>
            <p:cNvPr id="36" name="TextBox 36"/>
            <p:cNvSpPr txBox="1"/>
            <p:nvPr/>
          </p:nvSpPr>
          <p:spPr>
            <a:xfrm>
              <a:off x="8452485" y="1974056"/>
              <a:ext cx="1858152" cy="220028"/>
            </a:xfrm>
            <a:prstGeom prst="rect">
              <a:avLst/>
            </a:prstGeom>
            <a:noFill/>
            <a:ln>
              <a:noFill/>
            </a:ln>
          </p:spPr>
          <p:txBody>
            <a:bodyPr wrap="none" lIns="0" tIns="0" rIns="0" bIns="0" anchor="t" anchorCtr="0">
              <a:spAutoFit/>
            </a:bodyPr>
            <a:lstStyle/>
            <a:p>
              <a:pPr algn="l"/>
              <a:r>
                <a:rPr lang="tr-TR" sz="1120" dirty="0">
                  <a:solidFill>
                    <a:srgbClr val="12355B"/>
                  </a:solidFill>
                  <a:latin typeface="+mn-lt"/>
                  <a:ea typeface="+mn-ea"/>
                  <a:cs typeface="+mn-cs"/>
                </a:rPr>
                <a:t>(destek(X) × destek(Y))</a:t>
              </a:r>
            </a:p>
          </p:txBody>
        </p:sp>
        <p:sp>
          <p:nvSpPr>
            <p:cNvPr id="37" name="TextBox 37"/>
            <p:cNvSpPr txBox="1"/>
            <p:nvPr/>
          </p:nvSpPr>
          <p:spPr>
            <a:xfrm>
              <a:off x="8299704" y="2308860"/>
              <a:ext cx="238377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Bağımsızlık beklentisine göre</a:t>
              </a:r>
            </a:p>
          </p:txBody>
        </p:sp>
        <p:sp>
          <p:nvSpPr>
            <p:cNvPr id="38" name="TextBox 38"/>
            <p:cNvSpPr txBox="1"/>
            <p:nvPr/>
          </p:nvSpPr>
          <p:spPr>
            <a:xfrm>
              <a:off x="8299704" y="2518410"/>
              <a:ext cx="242727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gerçek birlikte görülme oranı.</a:t>
              </a:r>
            </a:p>
          </p:txBody>
        </p:sp>
        <p:sp>
          <p:nvSpPr>
            <p:cNvPr id="39" name="TextBox 39"/>
            <p:cNvSpPr txBox="1"/>
            <p:nvPr/>
          </p:nvSpPr>
          <p:spPr>
            <a:xfrm>
              <a:off x="8299704" y="2880360"/>
              <a:ext cx="3079445"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"Matematikten geçmiş olmak fizikten</a:t>
              </a:r>
            </a:p>
          </p:txBody>
        </p:sp>
        <p:sp>
          <p:nvSpPr>
            <p:cNvPr id="40" name="TextBox 40"/>
            <p:cNvSpPr txBox="1"/>
            <p:nvPr/>
          </p:nvSpPr>
          <p:spPr>
            <a:xfrm>
              <a:off x="8299704" y="3089910"/>
              <a:ext cx="289575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geçmeyi gerçekten artırıyor mu?"</a:t>
              </a:r>
            </a:p>
          </p:txBody>
        </p:sp>
        <p:sp>
          <p:nvSpPr>
            <p:cNvPr id="41" name="TextBox 41"/>
            <p:cNvSpPr txBox="1"/>
            <p:nvPr/>
          </p:nvSpPr>
          <p:spPr>
            <a:xfrm>
              <a:off x="8300085" y="3536156"/>
              <a:ext cx="1893631"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Bu tuzağı ortaya çıkaran</a:t>
              </a:r>
            </a:p>
          </p:txBody>
        </p:sp>
        <p:sp>
          <p:nvSpPr>
            <p:cNvPr id="42" name="TextBox 42"/>
            <p:cNvSpPr txBox="1"/>
            <p:nvPr/>
          </p:nvSpPr>
          <p:spPr>
            <a:xfrm>
              <a:off x="8300085" y="3726656"/>
              <a:ext cx="1232703"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ikinci süzgeçtir.</a:t>
              </a:r>
            </a:p>
          </p:txBody>
        </p:sp>
      </p:grpSp>
      <p:grpSp>
        <p:nvGrpSpPr>
          <p:cNvPr id="49" name="scale"/>
          <p:cNvGrpSpPr/>
          <p:nvPr/>
        </p:nvGrpSpPr>
        <p:grpSpPr>
          <a:xfrm>
            <a:off x="609600" y="4419600"/>
            <a:ext cx="10972800" cy="1428750"/>
            <a:chOff x="609600" y="4419600"/>
            <a:chExt cx="10972800" cy="1428750"/>
          </a:xfrm>
        </p:grpSpPr>
        <p:sp>
          <p:nvSpPr>
            <p:cNvPr id="44" name="Rectangle 44"/>
            <p:cNvSpPr/>
            <p:nvPr/>
          </p:nvSpPr>
          <p:spPr>
            <a:xfrm>
              <a:off x="609600" y="4419600"/>
              <a:ext cx="10972800" cy="1428750"/>
            </a:xfrm>
            <a:prstGeom prst="roundRect">
              <a:avLst>
                <a:gd name="adj" fmla="val 6667"/>
              </a:avLst>
            </a:prstGeom>
            <a:solidFill>
              <a:srgbClr val="12355B"/>
            </a:solidFill>
            <a:ln>
              <a:noFill/>
            </a:ln>
          </p:spPr>
        </p:sp>
        <p:sp>
          <p:nvSpPr>
            <p:cNvPr id="45" name="TextBox 45"/>
            <p:cNvSpPr txBox="1"/>
            <p:nvPr/>
          </p:nvSpPr>
          <p:spPr>
            <a:xfrm>
              <a:off x="907542" y="4597718"/>
              <a:ext cx="1402782"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Kaldıraç ölçeği</a:t>
              </a:r>
            </a:p>
          </p:txBody>
        </p:sp>
        <p:sp>
          <p:nvSpPr>
            <p:cNvPr id="46" name="TextBox 46"/>
            <p:cNvSpPr txBox="1"/>
            <p:nvPr/>
          </p:nvSpPr>
          <p:spPr>
            <a:xfrm>
              <a:off x="907923" y="4967764"/>
              <a:ext cx="4118639"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mn-lt"/>
                  <a:ea typeface="+mn-ea"/>
                  <a:cs typeface="+mn-cs"/>
                </a:rPr>
                <a:t>kaldıraç &lt; 1 → X, Y'yi caydırıyor (negatif ilişki)</a:t>
              </a:r>
            </a:p>
          </p:txBody>
        </p:sp>
        <p:sp>
          <p:nvSpPr>
            <p:cNvPr id="47" name="TextBox 47"/>
            <p:cNvSpPr txBox="1"/>
            <p:nvPr/>
          </p:nvSpPr>
          <p:spPr>
            <a:xfrm>
              <a:off x="907923" y="5272564"/>
              <a:ext cx="4246892" cy="249364"/>
            </a:xfrm>
            <a:prstGeom prst="rect">
              <a:avLst/>
            </a:prstGeom>
            <a:noFill/>
            <a:ln>
              <a:noFill/>
            </a:ln>
          </p:spPr>
          <p:txBody>
            <a:bodyPr wrap="none" lIns="0" tIns="0" rIns="0" bIns="0" anchor="t" anchorCtr="0">
              <a:spAutoFit/>
            </a:bodyPr>
            <a:lstStyle/>
            <a:p>
              <a:pPr algn="l"/>
              <a:r>
                <a:rPr lang="tr-TR" sz="1280" dirty="0">
                  <a:solidFill>
                    <a:srgbClr val="00A6A6"/>
                  </a:solidFill>
                  <a:latin typeface="+mn-lt"/>
                  <a:ea typeface="+mn-ea"/>
                  <a:cs typeface="+mn-cs"/>
                </a:rPr>
                <a:t>kaldıraç = 1 → X ve Y istatistiksel olarak bağımsız</a:t>
              </a:r>
            </a:p>
          </p:txBody>
        </p:sp>
        <p:sp>
          <p:nvSpPr>
            <p:cNvPr id="48" name="TextBox 48"/>
            <p:cNvSpPr txBox="1"/>
            <p:nvPr/>
          </p:nvSpPr>
          <p:spPr>
            <a:xfrm>
              <a:off x="907923" y="5577364"/>
              <a:ext cx="5208209"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mn-lt"/>
                  <a:ea typeface="+mn-ea"/>
                  <a:cs typeface="+mn-cs"/>
                </a:rPr>
                <a:t>kaldıraç &gt; 1 → birlikte görülme beklenenden sık (pozitif ilişki)</a:t>
              </a:r>
            </a:p>
          </p:txBody>
        </p:sp>
      </p:grpSp>
      <p:sp>
        <p:nvSpPr>
          <p:cNvPr id="50" name="TextBox 5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09 / 25</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8" name="page-title"/>
          <p:cNvGrpSpPr/>
          <p:nvPr/>
        </p:nvGrpSpPr>
        <p:grpSpPr>
          <a:xfrm>
            <a:off x="609600" y="171450"/>
            <a:ext cx="8111632" cy="668845"/>
            <a:chOff x="609600" y="171450"/>
            <a:chExt cx="8111632" cy="668845"/>
          </a:xfrm>
        </p:grpSpPr>
        <p:grpSp>
          <p:nvGrpSpPr>
            <p:cNvPr id="1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5" name="Group 15"/>
              <p:cNvGrpSpPr/>
              <p:nvPr/>
            </p:nvGrpSpPr>
            <p:grpSpPr>
              <a:xfrm>
                <a:off x="762476" y="324326"/>
                <a:ext cx="265748" cy="265748"/>
                <a:chOff x="762476" y="324326"/>
                <a:chExt cx="265748" cy="265748"/>
              </a:xfrm>
            </p:grpSpPr>
            <p:sp>
              <p:nvSpPr>
                <p:cNvPr id="5" name="Freeform 5"/>
                <p:cNvSpPr/>
                <p:nvPr/>
              </p:nvSpPr>
              <p:spPr>
                <a:xfrm>
                  <a:off x="792004" y="353854"/>
                  <a:ext cx="206693" cy="206692"/>
                </a:xfrm>
                <a:custGeom>
                  <a:avLst/>
                  <a:gdLst/>
                  <a:ahLst/>
                  <a:cxnLst/>
                  <a:rect l="l" t="t" r="r" b="b"/>
                  <a:pathLst>
                    <a:path w="206693" h="206692">
                      <a:moveTo>
                        <a:pt x="0" y="14764"/>
                      </a:moveTo>
                      <a:cubicBezTo>
                        <a:pt x="0" y="6610"/>
                        <a:pt x="6610" y="0"/>
                        <a:pt x="14764" y="0"/>
                      </a:cubicBezTo>
                      <a:lnTo>
                        <a:pt x="191929" y="0"/>
                      </a:lnTo>
                      <a:cubicBezTo>
                        <a:pt x="200083" y="0"/>
                        <a:pt x="206693" y="6610"/>
                        <a:pt x="206693" y="14764"/>
                      </a:cubicBezTo>
                      <a:lnTo>
                        <a:pt x="206693" y="191929"/>
                      </a:lnTo>
                      <a:cubicBezTo>
                        <a:pt x="206693" y="200083"/>
                        <a:pt x="200083" y="206692"/>
                        <a:pt x="191929" y="206692"/>
                      </a:cubicBezTo>
                      <a:lnTo>
                        <a:pt x="14764" y="206692"/>
                      </a:lnTo>
                      <a:cubicBezTo>
                        <a:pt x="6610" y="206692"/>
                        <a:pt x="0" y="200083"/>
                        <a:pt x="0" y="191929"/>
                      </a:cubicBezTo>
                      <a:lnTo>
                        <a:pt x="0" y="14764"/>
                      </a:lnTo>
                    </a:path>
                  </a:pathLst>
                </a:custGeom>
                <a:noFill/>
                <a:ln w="24759" cap="rnd">
                  <a:solidFill>
                    <a:srgbClr val="FFFFFF"/>
                  </a:solidFill>
                  <a:round/>
                </a:ln>
              </p:spPr>
            </p:sp>
            <p:sp>
              <p:nvSpPr>
                <p:cNvPr id="6" name="Freeform 6"/>
                <p:cNvSpPr/>
                <p:nvPr/>
              </p:nvSpPr>
              <p:spPr>
                <a:xfrm>
                  <a:off x="851059" y="412909"/>
                  <a:ext cx="88582" cy="88582"/>
                </a:xfrm>
                <a:custGeom>
                  <a:avLst/>
                  <a:gdLst/>
                  <a:ahLst/>
                  <a:cxnLst/>
                  <a:rect l="l" t="t" r="r" b="b"/>
                  <a:pathLst>
                    <a:path w="88582" h="88582">
                      <a:moveTo>
                        <a:pt x="0" y="0"/>
                      </a:moveTo>
                      <a:lnTo>
                        <a:pt x="88582" y="0"/>
                      </a:lnTo>
                      <a:lnTo>
                        <a:pt x="88582" y="88582"/>
                      </a:lnTo>
                      <a:lnTo>
                        <a:pt x="0" y="88582"/>
                      </a:lnTo>
                      <a:lnTo>
                        <a:pt x="0" y="0"/>
                      </a:lnTo>
                    </a:path>
                  </a:pathLst>
                </a:custGeom>
                <a:noFill/>
                <a:ln w="24759" cap="rnd">
                  <a:solidFill>
                    <a:srgbClr val="FFFFFF"/>
                  </a:solidFill>
                  <a:round/>
                </a:ln>
              </p:spPr>
            </p:sp>
            <p:sp>
              <p:nvSpPr>
                <p:cNvPr id="7" name="Freeform 7"/>
                <p:cNvSpPr/>
                <p:nvPr/>
              </p:nvSpPr>
              <p:spPr>
                <a:xfrm>
                  <a:off x="762476" y="427672"/>
                  <a:ext cx="29527" cy="9525"/>
                </a:xfrm>
                <a:custGeom>
                  <a:avLst/>
                  <a:gdLst/>
                  <a:ahLst/>
                  <a:cxnLst/>
                  <a:rect l="l" t="t" r="r" b="b"/>
                  <a:pathLst>
                    <a:path w="29527" h="9525">
                      <a:moveTo>
                        <a:pt x="0" y="0"/>
                      </a:moveTo>
                      <a:lnTo>
                        <a:pt x="29527" y="0"/>
                      </a:lnTo>
                    </a:path>
                  </a:pathLst>
                </a:custGeom>
                <a:noFill/>
                <a:ln w="24759" cap="rnd">
                  <a:solidFill>
                    <a:srgbClr val="FFFFFF"/>
                  </a:solidFill>
                  <a:round/>
                </a:ln>
              </p:spPr>
            </p:sp>
            <p:sp>
              <p:nvSpPr>
                <p:cNvPr id="8" name="Freeform 8"/>
                <p:cNvSpPr/>
                <p:nvPr/>
              </p:nvSpPr>
              <p:spPr>
                <a:xfrm>
                  <a:off x="762476" y="486727"/>
                  <a:ext cx="29527" cy="9525"/>
                </a:xfrm>
                <a:custGeom>
                  <a:avLst/>
                  <a:gdLst/>
                  <a:ahLst/>
                  <a:cxnLst/>
                  <a:rect l="l" t="t" r="r" b="b"/>
                  <a:pathLst>
                    <a:path w="29527" h="9525">
                      <a:moveTo>
                        <a:pt x="0" y="0"/>
                      </a:moveTo>
                      <a:lnTo>
                        <a:pt x="29527" y="0"/>
                      </a:lnTo>
                    </a:path>
                  </a:pathLst>
                </a:custGeom>
                <a:noFill/>
                <a:ln w="24759" cap="rnd">
                  <a:solidFill>
                    <a:srgbClr val="FFFFFF"/>
                  </a:solidFill>
                  <a:round/>
                </a:ln>
              </p:spPr>
            </p:sp>
            <p:sp>
              <p:nvSpPr>
                <p:cNvPr id="9" name="Freeform 9"/>
                <p:cNvSpPr/>
                <p:nvPr/>
              </p:nvSpPr>
              <p:spPr>
                <a:xfrm>
                  <a:off x="865822" y="324326"/>
                  <a:ext cx="9525" cy="29528"/>
                </a:xfrm>
                <a:custGeom>
                  <a:avLst/>
                  <a:gdLst/>
                  <a:ahLst/>
                  <a:cxnLst/>
                  <a:rect l="l" t="t" r="r" b="b"/>
                  <a:pathLst>
                    <a:path w="9525" h="29528">
                      <a:moveTo>
                        <a:pt x="0" y="0"/>
                      </a:moveTo>
                      <a:lnTo>
                        <a:pt x="0" y="29528"/>
                      </a:lnTo>
                    </a:path>
                  </a:pathLst>
                </a:custGeom>
                <a:noFill/>
                <a:ln w="24759" cap="rnd">
                  <a:solidFill>
                    <a:srgbClr val="FFFFFF"/>
                  </a:solidFill>
                  <a:round/>
                </a:ln>
              </p:spPr>
            </p:sp>
            <p:sp>
              <p:nvSpPr>
                <p:cNvPr id="10" name="Freeform 10"/>
                <p:cNvSpPr/>
                <p:nvPr/>
              </p:nvSpPr>
              <p:spPr>
                <a:xfrm>
                  <a:off x="924878" y="324326"/>
                  <a:ext cx="9525" cy="29528"/>
                </a:xfrm>
                <a:custGeom>
                  <a:avLst/>
                  <a:gdLst/>
                  <a:ahLst/>
                  <a:cxnLst/>
                  <a:rect l="l" t="t" r="r" b="b"/>
                  <a:pathLst>
                    <a:path w="9525" h="29528">
                      <a:moveTo>
                        <a:pt x="0" y="0"/>
                      </a:moveTo>
                      <a:lnTo>
                        <a:pt x="0" y="29528"/>
                      </a:lnTo>
                    </a:path>
                  </a:pathLst>
                </a:custGeom>
                <a:noFill/>
                <a:ln w="24759" cap="rnd">
                  <a:solidFill>
                    <a:srgbClr val="FFFFFF"/>
                  </a:solidFill>
                  <a:round/>
                </a:ln>
              </p:spPr>
            </p:sp>
            <p:sp>
              <p:nvSpPr>
                <p:cNvPr id="11" name="Freeform 11"/>
                <p:cNvSpPr/>
                <p:nvPr/>
              </p:nvSpPr>
              <p:spPr>
                <a:xfrm>
                  <a:off x="998696" y="427672"/>
                  <a:ext cx="29528" cy="9525"/>
                </a:xfrm>
                <a:custGeom>
                  <a:avLst/>
                  <a:gdLst/>
                  <a:ahLst/>
                  <a:cxnLst/>
                  <a:rect l="l" t="t" r="r" b="b"/>
                  <a:pathLst>
                    <a:path w="29528" h="9525">
                      <a:moveTo>
                        <a:pt x="29528" y="0"/>
                      </a:moveTo>
                      <a:lnTo>
                        <a:pt x="0" y="0"/>
                      </a:lnTo>
                    </a:path>
                  </a:pathLst>
                </a:custGeom>
                <a:noFill/>
                <a:ln w="24759" cap="rnd">
                  <a:solidFill>
                    <a:srgbClr val="FFFFFF"/>
                  </a:solidFill>
                  <a:round/>
                </a:ln>
              </p:spPr>
            </p:sp>
            <p:sp>
              <p:nvSpPr>
                <p:cNvPr id="12" name="Freeform 12"/>
                <p:cNvSpPr/>
                <p:nvPr/>
              </p:nvSpPr>
              <p:spPr>
                <a:xfrm>
                  <a:off x="998696" y="486727"/>
                  <a:ext cx="29528" cy="9525"/>
                </a:xfrm>
                <a:custGeom>
                  <a:avLst/>
                  <a:gdLst/>
                  <a:ahLst/>
                  <a:cxnLst/>
                  <a:rect l="l" t="t" r="r" b="b"/>
                  <a:pathLst>
                    <a:path w="29528" h="9525">
                      <a:moveTo>
                        <a:pt x="29528" y="0"/>
                      </a:moveTo>
                      <a:lnTo>
                        <a:pt x="0" y="0"/>
                      </a:lnTo>
                    </a:path>
                  </a:pathLst>
                </a:custGeom>
                <a:noFill/>
                <a:ln w="24759" cap="rnd">
                  <a:solidFill>
                    <a:srgbClr val="FFFFFF"/>
                  </a:solidFill>
                  <a:round/>
                </a:ln>
              </p:spPr>
            </p:sp>
            <p:sp>
              <p:nvSpPr>
                <p:cNvPr id="13" name="Freeform 13"/>
                <p:cNvSpPr/>
                <p:nvPr/>
              </p:nvSpPr>
              <p:spPr>
                <a:xfrm>
                  <a:off x="924878" y="560546"/>
                  <a:ext cx="9525" cy="29528"/>
                </a:xfrm>
                <a:custGeom>
                  <a:avLst/>
                  <a:gdLst/>
                  <a:ahLst/>
                  <a:cxnLst/>
                  <a:rect l="l" t="t" r="r" b="b"/>
                  <a:pathLst>
                    <a:path w="9525" h="29528">
                      <a:moveTo>
                        <a:pt x="0" y="29528"/>
                      </a:moveTo>
                      <a:lnTo>
                        <a:pt x="0" y="0"/>
                      </a:lnTo>
                    </a:path>
                  </a:pathLst>
                </a:custGeom>
                <a:noFill/>
                <a:ln w="24759" cap="rnd">
                  <a:solidFill>
                    <a:srgbClr val="FFFFFF"/>
                  </a:solidFill>
                  <a:round/>
                </a:ln>
              </p:spPr>
            </p:sp>
            <p:sp>
              <p:nvSpPr>
                <p:cNvPr id="14" name="Freeform 14"/>
                <p:cNvSpPr/>
                <p:nvPr/>
              </p:nvSpPr>
              <p:spPr>
                <a:xfrm>
                  <a:off x="865822" y="560546"/>
                  <a:ext cx="9525" cy="29528"/>
                </a:xfrm>
                <a:custGeom>
                  <a:avLst/>
                  <a:gdLst/>
                  <a:ahLst/>
                  <a:cxnLst/>
                  <a:rect l="l" t="t" r="r" b="b"/>
                  <a:pathLst>
                    <a:path w="9525" h="29528">
                      <a:moveTo>
                        <a:pt x="0" y="29528"/>
                      </a:moveTo>
                      <a:lnTo>
                        <a:pt x="0" y="0"/>
                      </a:lnTo>
                    </a:path>
                  </a:pathLst>
                </a:custGeom>
                <a:noFill/>
                <a:ln w="24759" cap="rnd">
                  <a:solidFill>
                    <a:srgbClr val="FFFFFF"/>
                  </a:solidFill>
                  <a:round/>
                </a:ln>
              </p:spPr>
            </p:sp>
          </p:grpSp>
        </p:grpSp>
        <p:sp>
          <p:nvSpPr>
            <p:cNvPr id="17" name="TextBox 17"/>
            <p:cNvSpPr txBox="1"/>
            <p:nvPr/>
          </p:nvSpPr>
          <p:spPr>
            <a:xfrm>
              <a:off x="1299972" y="282892"/>
              <a:ext cx="742126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ekmek → süt: elle hesaplanan bir kural</a:t>
              </a:r>
            </a:p>
          </p:txBody>
        </p:sp>
      </p:grpSp>
      <p:grpSp>
        <p:nvGrpSpPr>
          <p:cNvPr id="43" name="worked"/>
          <p:cNvGrpSpPr/>
          <p:nvPr/>
        </p:nvGrpSpPr>
        <p:grpSpPr>
          <a:xfrm>
            <a:off x="609600" y="1123950"/>
            <a:ext cx="5905500" cy="4000500"/>
            <a:chOff x="609600" y="1123950"/>
            <a:chExt cx="5905500" cy="4000500"/>
          </a:xfrm>
        </p:grpSpPr>
        <p:sp>
          <p:nvSpPr>
            <p:cNvPr id="19" name="Rectangle 19"/>
            <p:cNvSpPr/>
            <p:nvPr/>
          </p:nvSpPr>
          <p:spPr>
            <a:xfrm>
              <a:off x="609600" y="1123950"/>
              <a:ext cx="5905500" cy="4000500"/>
            </a:xfrm>
            <a:prstGeom prst="roundRect">
              <a:avLst>
                <a:gd name="adj" fmla="val 2381"/>
              </a:avLst>
            </a:prstGeom>
            <a:solidFill>
              <a:srgbClr val="FFFFFF"/>
            </a:solidFill>
            <a:ln w="14288">
              <a:solidFill>
                <a:srgbClr val="B8CBD3"/>
              </a:solidFill>
            </a:ln>
          </p:spPr>
        </p:sp>
        <p:sp>
          <p:nvSpPr>
            <p:cNvPr id="20" name="TextBox 20"/>
            <p:cNvSpPr txBox="1"/>
            <p:nvPr/>
          </p:nvSpPr>
          <p:spPr>
            <a:xfrm>
              <a:off x="830580" y="1285875"/>
              <a:ext cx="2548957"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18 işlemlik veriden hesap</a:t>
              </a:r>
            </a:p>
          </p:txBody>
        </p:sp>
        <p:sp>
          <p:nvSpPr>
            <p:cNvPr id="21" name="TextBox 21"/>
            <p:cNvSpPr txBox="1"/>
            <p:nvPr/>
          </p:nvSpPr>
          <p:spPr>
            <a:xfrm>
              <a:off x="831342" y="1606868"/>
              <a:ext cx="2068778"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Destek(ekmek) = 0,611</a:t>
              </a:r>
            </a:p>
          </p:txBody>
        </p:sp>
        <p:sp>
          <p:nvSpPr>
            <p:cNvPr id="22" name="TextBox 22"/>
            <p:cNvSpPr txBox="1"/>
            <p:nvPr/>
          </p:nvSpPr>
          <p:spPr>
            <a:xfrm>
              <a:off x="831342" y="1873568"/>
              <a:ext cx="183337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Destek(süt) = 0,667</a:t>
              </a:r>
            </a:p>
          </p:txBody>
        </p:sp>
        <p:sp>
          <p:nvSpPr>
            <p:cNvPr id="23" name="TextBox 23"/>
            <p:cNvSpPr txBox="1"/>
            <p:nvPr/>
          </p:nvSpPr>
          <p:spPr>
            <a:xfrm>
              <a:off x="831342" y="2140268"/>
              <a:ext cx="252270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Destek(ekmek, süt) = 0,389</a:t>
              </a:r>
            </a:p>
          </p:txBody>
        </p:sp>
        <p:sp>
          <p:nvSpPr>
            <p:cNvPr id="24" name="Line 24"/>
            <p:cNvSpPr/>
            <p:nvPr/>
          </p:nvSpPr>
          <p:spPr>
            <a:xfrm>
              <a:off x="838200" y="2457450"/>
              <a:ext cx="5448300" cy="9525"/>
            </a:xfrm>
            <a:custGeom>
              <a:avLst/>
              <a:gdLst/>
              <a:ahLst/>
              <a:cxnLst/>
              <a:rect l="l" t="t" r="r" b="b"/>
              <a:pathLst>
                <a:path w="5448300" h="9525">
                  <a:moveTo>
                    <a:pt x="0" y="0"/>
                  </a:moveTo>
                  <a:lnTo>
                    <a:pt x="5448300" y="0"/>
                  </a:lnTo>
                </a:path>
              </a:pathLst>
            </a:custGeom>
            <a:noFill/>
            <a:ln w="9525">
              <a:solidFill>
                <a:srgbClr val="B8CBD3"/>
              </a:solidFill>
            </a:ln>
          </p:spPr>
        </p:sp>
        <p:sp>
          <p:nvSpPr>
            <p:cNvPr id="25" name="Ellipse 25"/>
            <p:cNvSpPr/>
            <p:nvPr/>
          </p:nvSpPr>
          <p:spPr>
            <a:xfrm>
              <a:off x="971550" y="2628900"/>
              <a:ext cx="304800" cy="304800"/>
            </a:xfrm>
            <a:prstGeom prst="ellipse">
              <a:avLst/>
            </a:prstGeom>
            <a:solidFill>
              <a:srgbClr val="12355B"/>
            </a:solidFill>
            <a:ln>
              <a:noFill/>
            </a:ln>
          </p:spPr>
        </p:sp>
        <p:sp>
          <p:nvSpPr>
            <p:cNvPr id="26" name="TextBox 26"/>
            <p:cNvSpPr txBox="1"/>
            <p:nvPr/>
          </p:nvSpPr>
          <p:spPr>
            <a:xfrm>
              <a:off x="1036986" y="2725102"/>
              <a:ext cx="173928"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ek</a:t>
              </a:r>
            </a:p>
          </p:txBody>
        </p:sp>
        <p:sp>
          <p:nvSpPr>
            <p:cNvPr id="27" name="TextBox 27"/>
            <p:cNvSpPr txBox="1"/>
            <p:nvPr/>
          </p:nvSpPr>
          <p:spPr>
            <a:xfrm>
              <a:off x="1421892" y="2692718"/>
              <a:ext cx="113671"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a:t>
              </a:r>
            </a:p>
          </p:txBody>
        </p:sp>
        <p:sp>
          <p:nvSpPr>
            <p:cNvPr id="28" name="Ellipse 28"/>
            <p:cNvSpPr/>
            <p:nvPr/>
          </p:nvSpPr>
          <p:spPr>
            <a:xfrm>
              <a:off x="1581150" y="2628900"/>
              <a:ext cx="304800" cy="304800"/>
            </a:xfrm>
            <a:prstGeom prst="ellipse">
              <a:avLst/>
            </a:prstGeom>
            <a:solidFill>
              <a:srgbClr val="00A6A6"/>
            </a:solidFill>
            <a:ln>
              <a:noFill/>
            </a:ln>
          </p:spPr>
        </p:sp>
        <p:sp>
          <p:nvSpPr>
            <p:cNvPr id="29" name="TextBox 29"/>
            <p:cNvSpPr txBox="1"/>
            <p:nvPr/>
          </p:nvSpPr>
          <p:spPr>
            <a:xfrm>
              <a:off x="1605771" y="2725102"/>
              <a:ext cx="255559"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süt</a:t>
              </a:r>
            </a:p>
          </p:txBody>
        </p:sp>
        <p:sp>
          <p:nvSpPr>
            <p:cNvPr id="30" name="TextBox 30"/>
            <p:cNvSpPr txBox="1"/>
            <p:nvPr/>
          </p:nvSpPr>
          <p:spPr>
            <a:xfrm>
              <a:off x="2012442" y="2692718"/>
              <a:ext cx="1297060"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Güven = 0,636</a:t>
              </a:r>
            </a:p>
          </p:txBody>
        </p:sp>
        <p:sp>
          <p:nvSpPr>
            <p:cNvPr id="31" name="Ellipse 31"/>
            <p:cNvSpPr/>
            <p:nvPr/>
          </p:nvSpPr>
          <p:spPr>
            <a:xfrm>
              <a:off x="971550" y="3009900"/>
              <a:ext cx="304800" cy="304800"/>
            </a:xfrm>
            <a:prstGeom prst="ellipse">
              <a:avLst/>
            </a:prstGeom>
            <a:solidFill>
              <a:srgbClr val="00A6A6"/>
            </a:solidFill>
            <a:ln>
              <a:noFill/>
            </a:ln>
          </p:spPr>
        </p:sp>
        <p:sp>
          <p:nvSpPr>
            <p:cNvPr id="32" name="TextBox 32"/>
            <p:cNvSpPr txBox="1"/>
            <p:nvPr/>
          </p:nvSpPr>
          <p:spPr>
            <a:xfrm>
              <a:off x="996171" y="3106102"/>
              <a:ext cx="255559"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süt</a:t>
              </a:r>
            </a:p>
          </p:txBody>
        </p:sp>
        <p:sp>
          <p:nvSpPr>
            <p:cNvPr id="33" name="TextBox 33"/>
            <p:cNvSpPr txBox="1"/>
            <p:nvPr/>
          </p:nvSpPr>
          <p:spPr>
            <a:xfrm>
              <a:off x="1440942" y="3073718"/>
              <a:ext cx="113671"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a:t>
              </a:r>
            </a:p>
          </p:txBody>
        </p:sp>
        <p:sp>
          <p:nvSpPr>
            <p:cNvPr id="34" name="Ellipse 34"/>
            <p:cNvSpPr/>
            <p:nvPr/>
          </p:nvSpPr>
          <p:spPr>
            <a:xfrm>
              <a:off x="1581150" y="3009900"/>
              <a:ext cx="304800" cy="304800"/>
            </a:xfrm>
            <a:prstGeom prst="ellipse">
              <a:avLst/>
            </a:prstGeom>
            <a:solidFill>
              <a:srgbClr val="12355B"/>
            </a:solidFill>
            <a:ln>
              <a:noFill/>
            </a:ln>
          </p:spPr>
        </p:sp>
        <p:sp>
          <p:nvSpPr>
            <p:cNvPr id="35" name="TextBox 35"/>
            <p:cNvSpPr txBox="1"/>
            <p:nvPr/>
          </p:nvSpPr>
          <p:spPr>
            <a:xfrm>
              <a:off x="1646586" y="3106102"/>
              <a:ext cx="173928"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ek</a:t>
              </a:r>
            </a:p>
          </p:txBody>
        </p:sp>
        <p:sp>
          <p:nvSpPr>
            <p:cNvPr id="36" name="TextBox 36"/>
            <p:cNvSpPr txBox="1"/>
            <p:nvPr/>
          </p:nvSpPr>
          <p:spPr>
            <a:xfrm>
              <a:off x="2012442" y="3073718"/>
              <a:ext cx="1297060"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Güven = 0,583</a:t>
              </a:r>
            </a:p>
          </p:txBody>
        </p:sp>
        <p:sp>
          <p:nvSpPr>
            <p:cNvPr id="37" name="TextBox 37"/>
            <p:cNvSpPr txBox="1"/>
            <p:nvPr/>
          </p:nvSpPr>
          <p:spPr>
            <a:xfrm>
              <a:off x="832104" y="3470910"/>
              <a:ext cx="379861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Paydalar farklı (destek(ekmek)≠destek(süt)),</a:t>
              </a:r>
            </a:p>
          </p:txBody>
        </p:sp>
        <p:sp>
          <p:nvSpPr>
            <p:cNvPr id="38" name="TextBox 38"/>
            <p:cNvSpPr txBox="1"/>
            <p:nvPr/>
          </p:nvSpPr>
          <p:spPr>
            <a:xfrm>
              <a:off x="832104" y="3661410"/>
              <a:ext cx="298460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bu yüzden iki yön farklı güven üretir.</a:t>
              </a:r>
            </a:p>
          </p:txBody>
        </p:sp>
        <p:sp>
          <p:nvSpPr>
            <p:cNvPr id="39" name="Rectangle 39"/>
            <p:cNvSpPr/>
            <p:nvPr/>
          </p:nvSpPr>
          <p:spPr>
            <a:xfrm>
              <a:off x="838200" y="4038600"/>
              <a:ext cx="4762500" cy="857250"/>
            </a:xfrm>
            <a:prstGeom prst="roundRect">
              <a:avLst>
                <a:gd name="adj" fmla="val 8889"/>
              </a:avLst>
            </a:prstGeom>
            <a:solidFill>
              <a:srgbClr val="EAF4F6"/>
            </a:solidFill>
            <a:ln>
              <a:noFill/>
            </a:ln>
          </p:spPr>
        </p:sp>
        <p:sp>
          <p:nvSpPr>
            <p:cNvPr id="40" name="TextBox 40"/>
            <p:cNvSpPr txBox="1"/>
            <p:nvPr/>
          </p:nvSpPr>
          <p:spPr>
            <a:xfrm>
              <a:off x="983361" y="4170521"/>
              <a:ext cx="3015763"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Kaldıraç(ekmek → süt) = 0,955</a:t>
              </a:r>
            </a:p>
          </p:txBody>
        </p:sp>
        <p:sp>
          <p:nvSpPr>
            <p:cNvPr id="41" name="TextBox 41"/>
            <p:cNvSpPr txBox="1"/>
            <p:nvPr/>
          </p:nvSpPr>
          <p:spPr>
            <a:xfrm>
              <a:off x="984504" y="4461510"/>
              <a:ext cx="335615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1'e yakın: ekmek ve süt bu veri kümesinde</a:t>
              </a:r>
            </a:p>
          </p:txBody>
        </p:sp>
        <p:sp>
          <p:nvSpPr>
            <p:cNvPr id="42" name="TextBox 42"/>
            <p:cNvSpPr txBox="1"/>
            <p:nvPr/>
          </p:nvSpPr>
          <p:spPr>
            <a:xfrm>
              <a:off x="984504" y="4632960"/>
              <a:ext cx="262920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neredeyse bağımsız davranıyor.</a:t>
              </a:r>
            </a:p>
          </p:txBody>
        </p:sp>
      </p:grpSp>
      <p:grpSp>
        <p:nvGrpSpPr>
          <p:cNvPr id="52" name="analogy"/>
          <p:cNvGrpSpPr/>
          <p:nvPr/>
        </p:nvGrpSpPr>
        <p:grpSpPr>
          <a:xfrm>
            <a:off x="6819900" y="1123950"/>
            <a:ext cx="4762500" cy="2095500"/>
            <a:chOff x="6819900" y="1123950"/>
            <a:chExt cx="4762500" cy="2095500"/>
          </a:xfrm>
        </p:grpSpPr>
        <p:sp>
          <p:nvSpPr>
            <p:cNvPr id="44" name="Rectangle 44"/>
            <p:cNvSpPr/>
            <p:nvPr/>
          </p:nvSpPr>
          <p:spPr>
            <a:xfrm>
              <a:off x="6819900" y="1123950"/>
              <a:ext cx="4762500" cy="2095500"/>
            </a:xfrm>
            <a:prstGeom prst="roundRect">
              <a:avLst>
                <a:gd name="adj" fmla="val 4545"/>
              </a:avLst>
            </a:prstGeom>
            <a:solidFill>
              <a:srgbClr val="EAF4F6"/>
            </a:solidFill>
            <a:ln>
              <a:noFill/>
            </a:ln>
          </p:spPr>
        </p:sp>
        <p:sp>
          <p:nvSpPr>
            <p:cNvPr id="45" name="TextBox 45"/>
            <p:cNvSpPr txBox="1"/>
            <p:nvPr/>
          </p:nvSpPr>
          <p:spPr>
            <a:xfrm>
              <a:off x="7040880" y="1266825"/>
              <a:ext cx="1505426"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Sınav analojisi</a:t>
              </a:r>
            </a:p>
          </p:txBody>
        </p:sp>
        <p:sp>
          <p:nvSpPr>
            <p:cNvPr id="46" name="TextBox 46"/>
            <p:cNvSpPr txBox="1"/>
            <p:nvPr/>
          </p:nvSpPr>
          <p:spPr>
            <a:xfrm>
              <a:off x="7042023" y="1576864"/>
              <a:ext cx="2724403"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Destek: sınıfın yüzde kaçı hem</a:t>
              </a:r>
            </a:p>
          </p:txBody>
        </p:sp>
        <p:sp>
          <p:nvSpPr>
            <p:cNvPr id="47" name="TextBox 47"/>
            <p:cNvSpPr txBox="1"/>
            <p:nvPr/>
          </p:nvSpPr>
          <p:spPr>
            <a:xfrm>
              <a:off x="7042023" y="1786414"/>
              <a:ext cx="2847513"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matematikten hem fizikten geçti?</a:t>
              </a:r>
            </a:p>
          </p:txBody>
        </p:sp>
        <p:sp>
          <p:nvSpPr>
            <p:cNvPr id="48" name="TextBox 48"/>
            <p:cNvSpPr txBox="1"/>
            <p:nvPr/>
          </p:nvSpPr>
          <p:spPr>
            <a:xfrm>
              <a:off x="7042023" y="2053114"/>
              <a:ext cx="3240918"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Güven: matematikten geçenlerin yüzde</a:t>
              </a:r>
            </a:p>
          </p:txBody>
        </p:sp>
        <p:sp>
          <p:nvSpPr>
            <p:cNvPr id="49" name="TextBox 49"/>
            <p:cNvSpPr txBox="1"/>
            <p:nvPr/>
          </p:nvSpPr>
          <p:spPr>
            <a:xfrm>
              <a:off x="7042023" y="2262664"/>
              <a:ext cx="1934251"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kaçı fizikten de geçti?</a:t>
              </a:r>
            </a:p>
          </p:txBody>
        </p:sp>
        <p:sp>
          <p:nvSpPr>
            <p:cNvPr id="50" name="TextBox 50"/>
            <p:cNvSpPr txBox="1"/>
            <p:nvPr/>
          </p:nvSpPr>
          <p:spPr>
            <a:xfrm>
              <a:off x="7042023" y="2529364"/>
              <a:ext cx="2913891" cy="249364"/>
            </a:xfrm>
            <a:prstGeom prst="rect">
              <a:avLst/>
            </a:prstGeom>
            <a:noFill/>
            <a:ln>
              <a:noFill/>
            </a:ln>
          </p:spPr>
          <p:txBody>
            <a:bodyPr wrap="none" lIns="0" tIns="0" rIns="0" bIns="0" anchor="t" anchorCtr="0">
              <a:spAutoFit/>
            </a:bodyPr>
            <a:lstStyle/>
            <a:p>
              <a:pPr algn="l"/>
              <a:r>
                <a:rPr lang="tr-TR" sz="1280" b="1" dirty="0">
                  <a:solidFill>
                    <a:srgbClr val="2E86AB"/>
                  </a:solidFill>
                  <a:latin typeface="+mn-lt"/>
                  <a:ea typeface="+mn-ea"/>
                  <a:cs typeface="+mn-cs"/>
                </a:rPr>
                <a:t>Kaldıraç: geçmiş olmak, fizikten</a:t>
              </a:r>
            </a:p>
          </p:txBody>
        </p:sp>
        <p:sp>
          <p:nvSpPr>
            <p:cNvPr id="51" name="TextBox 51"/>
            <p:cNvSpPr txBox="1"/>
            <p:nvPr/>
          </p:nvSpPr>
          <p:spPr>
            <a:xfrm>
              <a:off x="7042023" y="2738914"/>
              <a:ext cx="2989241" cy="249364"/>
            </a:xfrm>
            <a:prstGeom prst="rect">
              <a:avLst/>
            </a:prstGeom>
            <a:noFill/>
            <a:ln>
              <a:noFill/>
            </a:ln>
          </p:spPr>
          <p:txBody>
            <a:bodyPr wrap="none" lIns="0" tIns="0" rIns="0" bIns="0" anchor="t" anchorCtr="0">
              <a:spAutoFit/>
            </a:bodyPr>
            <a:lstStyle/>
            <a:p>
              <a:pPr algn="l"/>
              <a:r>
                <a:rPr lang="tr-TR" sz="1280" b="1" dirty="0">
                  <a:solidFill>
                    <a:srgbClr val="2E86AB"/>
                  </a:solidFill>
                  <a:latin typeface="+mn-lt"/>
                  <a:ea typeface="+mn-ea"/>
                  <a:cs typeface="+mn-cs"/>
                </a:rPr>
                <a:t>geçmeyi gerçekten artırıyor mu?</a:t>
              </a:r>
            </a:p>
          </p:txBody>
        </p:sp>
      </p:grpSp>
      <p:grpSp>
        <p:nvGrpSpPr>
          <p:cNvPr id="60" name="warning"/>
          <p:cNvGrpSpPr/>
          <p:nvPr/>
        </p:nvGrpSpPr>
        <p:grpSpPr>
          <a:xfrm>
            <a:off x="6819900" y="3409950"/>
            <a:ext cx="4762500" cy="1714500"/>
            <a:chOff x="6819900" y="3409950"/>
            <a:chExt cx="4762500" cy="1714500"/>
          </a:xfrm>
        </p:grpSpPr>
        <p:sp>
          <p:nvSpPr>
            <p:cNvPr id="53" name="Rectangle 53"/>
            <p:cNvSpPr/>
            <p:nvPr/>
          </p:nvSpPr>
          <p:spPr>
            <a:xfrm>
              <a:off x="6819900" y="3409950"/>
              <a:ext cx="4762500" cy="1714500"/>
            </a:xfrm>
            <a:prstGeom prst="roundRect">
              <a:avLst>
                <a:gd name="adj" fmla="val 5556"/>
              </a:avLst>
            </a:prstGeom>
            <a:solidFill>
              <a:srgbClr val="12355B"/>
            </a:solidFill>
            <a:ln>
              <a:noFill/>
            </a:ln>
          </p:spPr>
        </p:sp>
        <p:sp>
          <p:nvSpPr>
            <p:cNvPr id="54" name="TextBox 54"/>
            <p:cNvSpPr txBox="1"/>
            <p:nvPr/>
          </p:nvSpPr>
          <p:spPr>
            <a:xfrm>
              <a:off x="7041642" y="3588068"/>
              <a:ext cx="851631"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 Dikkat</a:t>
              </a:r>
            </a:p>
          </p:txBody>
        </p:sp>
        <p:sp>
          <p:nvSpPr>
            <p:cNvPr id="55" name="TextBox 55"/>
            <p:cNvSpPr txBox="1"/>
            <p:nvPr/>
          </p:nvSpPr>
          <p:spPr>
            <a:xfrm>
              <a:off x="7042404" y="3890010"/>
              <a:ext cx="3105760"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%63,6 gibi göze çarpan bir güven değeri</a:t>
              </a:r>
            </a:p>
          </p:txBody>
        </p:sp>
        <p:sp>
          <p:nvSpPr>
            <p:cNvPr id="56" name="TextBox 56"/>
            <p:cNvSpPr txBox="1"/>
            <p:nvPr/>
          </p:nvSpPr>
          <p:spPr>
            <a:xfrm>
              <a:off x="7042404" y="4099560"/>
              <a:ext cx="3522919"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tek başına yanıltıcı olabilir. Sınıfın zaten</a:t>
              </a:r>
            </a:p>
          </p:txBody>
        </p:sp>
        <p:sp>
          <p:nvSpPr>
            <p:cNvPr id="57" name="TextBox 57"/>
            <p:cNvSpPr txBox="1"/>
            <p:nvPr/>
          </p:nvSpPr>
          <p:spPr>
            <a:xfrm>
              <a:off x="7042404" y="4309110"/>
              <a:ext cx="3344880"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%95'i fizikten geçiyorsa, X → Y'nin yüksek</a:t>
              </a:r>
            </a:p>
          </p:txBody>
        </p:sp>
        <p:sp>
          <p:nvSpPr>
            <p:cNvPr id="58" name="TextBox 58"/>
            <p:cNvSpPr txBox="1"/>
            <p:nvPr/>
          </p:nvSpPr>
          <p:spPr>
            <a:xfrm>
              <a:off x="7042404" y="4518660"/>
              <a:ext cx="3530874"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güveni yalnızca Y'nin popülerliğini yansıtır;</a:t>
              </a:r>
            </a:p>
          </p:txBody>
        </p:sp>
        <p:sp>
          <p:nvSpPr>
            <p:cNvPr id="59" name="TextBox 59"/>
            <p:cNvSpPr txBox="1"/>
            <p:nvPr/>
          </p:nvSpPr>
          <p:spPr>
            <a:xfrm>
              <a:off x="7042404" y="4728210"/>
              <a:ext cx="2831135"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kaldıraç bu tuzağı ortaya çıkarır.</a:t>
              </a:r>
            </a:p>
          </p:txBody>
        </p:sp>
      </p:grpSp>
      <p:sp>
        <p:nvSpPr>
          <p:cNvPr id="61" name="TextBox 6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10 / 25</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9812256" cy="557403"/>
            <a:chOff x="595122" y="282892"/>
            <a:chExt cx="9812256" cy="557403"/>
          </a:xfrm>
        </p:grpSpPr>
        <p:sp>
          <p:nvSpPr>
            <p:cNvPr id="4" name="TextBox 4"/>
            <p:cNvSpPr txBox="1"/>
            <p:nvPr/>
          </p:nvSpPr>
          <p:spPr>
            <a:xfrm>
              <a:off x="595122" y="282892"/>
              <a:ext cx="981225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Apriori: aşağı doğru kapanış (downward closure)</a:t>
              </a:r>
            </a:p>
          </p:txBody>
        </p:sp>
      </p:grpSp>
      <p:grpSp>
        <p:nvGrpSpPr>
          <p:cNvPr id="9" name="definition"/>
          <p:cNvGrpSpPr/>
          <p:nvPr/>
        </p:nvGrpSpPr>
        <p:grpSpPr>
          <a:xfrm>
            <a:off x="601599" y="1144429"/>
            <a:ext cx="9722053" cy="803339"/>
            <a:chOff x="601599" y="1144429"/>
            <a:chExt cx="9722053" cy="803339"/>
          </a:xfrm>
        </p:grpSpPr>
        <p:sp>
          <p:nvSpPr>
            <p:cNvPr id="6" name="TextBox 6"/>
            <p:cNvSpPr txBox="1"/>
            <p:nvPr/>
          </p:nvSpPr>
          <p:spPr>
            <a:xfrm>
              <a:off x="601599" y="1144429"/>
              <a:ext cx="935011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Apriori, sık öğe kümelerini seviye seviye — önce tekli, sonra ikili, sonra üçlü — aday üretip</a:t>
              </a:r>
            </a:p>
          </p:txBody>
        </p:sp>
        <p:sp>
          <p:nvSpPr>
            <p:cNvPr id="7" name="TextBox 7"/>
            <p:cNvSpPr txBox="1"/>
            <p:nvPr/>
          </p:nvSpPr>
          <p:spPr>
            <a:xfrm>
              <a:off x="601599" y="1392079"/>
              <a:ext cx="9722053"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budayarak bulan klasik bir algoritmadır. Temel özelliği: bir öğe kümesi sık değilse, onu içeren</a:t>
              </a:r>
            </a:p>
          </p:txBody>
        </p:sp>
        <p:sp>
          <p:nvSpPr>
            <p:cNvPr id="8" name="TextBox 8"/>
            <p:cNvSpPr txBox="1"/>
            <p:nvPr/>
          </p:nvSpPr>
          <p:spPr>
            <a:xfrm>
              <a:off x="601599" y="1639729"/>
              <a:ext cx="844624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hiçbir daha büyük öğe kümesi de sık olamaz — Apriori özelliği (downward closure).</a:t>
              </a:r>
            </a:p>
          </p:txBody>
        </p:sp>
      </p:grpSp>
      <p:grpSp>
        <p:nvGrpSpPr>
          <p:cNvPr id="18" name="card-history"/>
          <p:cNvGrpSpPr/>
          <p:nvPr/>
        </p:nvGrpSpPr>
        <p:grpSpPr>
          <a:xfrm>
            <a:off x="609600" y="2076450"/>
            <a:ext cx="5334000" cy="2095500"/>
            <a:chOff x="609600" y="2076450"/>
            <a:chExt cx="5334000" cy="2095500"/>
          </a:xfrm>
        </p:grpSpPr>
        <p:sp>
          <p:nvSpPr>
            <p:cNvPr id="10" name="Rectangle 10"/>
            <p:cNvSpPr/>
            <p:nvPr/>
          </p:nvSpPr>
          <p:spPr>
            <a:xfrm>
              <a:off x="609600" y="2076450"/>
              <a:ext cx="5334000" cy="2095500"/>
            </a:xfrm>
            <a:prstGeom prst="roundRect">
              <a:avLst>
                <a:gd name="adj" fmla="val 4545"/>
              </a:avLst>
            </a:prstGeom>
            <a:solidFill>
              <a:srgbClr val="FFFFFF"/>
            </a:solidFill>
            <a:ln w="14288">
              <a:solidFill>
                <a:srgbClr val="B8CBD3"/>
              </a:solidFill>
            </a:ln>
          </p:spPr>
        </p:sp>
        <p:sp>
          <p:nvSpPr>
            <p:cNvPr id="11" name="TextBox 11"/>
            <p:cNvSpPr txBox="1"/>
            <p:nvPr/>
          </p:nvSpPr>
          <p:spPr>
            <a:xfrm>
              <a:off x="829056" y="2225040"/>
              <a:ext cx="94164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Tarihçe</a:t>
              </a:r>
            </a:p>
          </p:txBody>
        </p:sp>
        <p:sp>
          <p:nvSpPr>
            <p:cNvPr id="12" name="TextBox 12"/>
            <p:cNvSpPr txBox="1"/>
            <p:nvPr/>
          </p:nvSpPr>
          <p:spPr>
            <a:xfrm>
              <a:off x="831342" y="2597468"/>
              <a:ext cx="375692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1994'te Agrawal ve Srikant (IBM Almaden)</a:t>
              </a:r>
            </a:p>
          </p:txBody>
        </p:sp>
        <p:sp>
          <p:nvSpPr>
            <p:cNvPr id="13" name="TextBox 13"/>
            <p:cNvSpPr txBox="1"/>
            <p:nvPr/>
          </p:nvSpPr>
          <p:spPr>
            <a:xfrm>
              <a:off x="831342" y="2826068"/>
              <a:ext cx="341840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tarafından önerildi. Adı, "önsel bilgi"</a:t>
              </a:r>
            </a:p>
          </p:txBody>
        </p:sp>
        <p:sp>
          <p:nvSpPr>
            <p:cNvPr id="14" name="TextBox 14"/>
            <p:cNvSpPr txBox="1"/>
            <p:nvPr/>
          </p:nvSpPr>
          <p:spPr>
            <a:xfrm>
              <a:off x="831342" y="3054668"/>
              <a:ext cx="3809061"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anlamına gelen "a priori"den gelir. Sonraki</a:t>
              </a:r>
            </a:p>
          </p:txBody>
        </p:sp>
        <p:sp>
          <p:nvSpPr>
            <p:cNvPr id="15" name="TextBox 15"/>
            <p:cNvSpPr txBox="1"/>
            <p:nvPr/>
          </p:nvSpPr>
          <p:spPr>
            <a:xfrm>
              <a:off x="831342" y="3283268"/>
              <a:ext cx="3612109"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on yılın en çok atıf alan veri madenciliği</a:t>
              </a:r>
            </a:p>
          </p:txBody>
        </p:sp>
        <p:sp>
          <p:nvSpPr>
            <p:cNvPr id="16" name="TextBox 16"/>
            <p:cNvSpPr txBox="1"/>
            <p:nvPr/>
          </p:nvSpPr>
          <p:spPr>
            <a:xfrm>
              <a:off x="831342" y="3511868"/>
              <a:ext cx="3993756"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çalışmalarından biri oldu; "aday üret, buda,</a:t>
              </a:r>
            </a:p>
          </p:txBody>
        </p:sp>
        <p:sp>
          <p:nvSpPr>
            <p:cNvPr id="17" name="TextBox 17"/>
            <p:cNvSpPr txBox="1"/>
            <p:nvPr/>
          </p:nvSpPr>
          <p:spPr>
            <a:xfrm>
              <a:off x="831342" y="3740468"/>
              <a:ext cx="2885161"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say" desenini standartlaştırdı.</a:t>
              </a:r>
            </a:p>
          </p:txBody>
        </p:sp>
      </p:grpSp>
      <p:grpSp>
        <p:nvGrpSpPr>
          <p:cNvPr id="27" name="card-analogy"/>
          <p:cNvGrpSpPr/>
          <p:nvPr/>
        </p:nvGrpSpPr>
        <p:grpSpPr>
          <a:xfrm>
            <a:off x="6248400" y="2076450"/>
            <a:ext cx="5334000" cy="2095500"/>
            <a:chOff x="6248400" y="2076450"/>
            <a:chExt cx="5334000" cy="2095500"/>
          </a:xfrm>
        </p:grpSpPr>
        <p:sp>
          <p:nvSpPr>
            <p:cNvPr id="19" name="Rectangle 19"/>
            <p:cNvSpPr/>
            <p:nvPr/>
          </p:nvSpPr>
          <p:spPr>
            <a:xfrm>
              <a:off x="6248400" y="2076450"/>
              <a:ext cx="5334000" cy="2095500"/>
            </a:xfrm>
            <a:prstGeom prst="roundRect">
              <a:avLst>
                <a:gd name="adj" fmla="val 4545"/>
              </a:avLst>
            </a:prstGeom>
            <a:solidFill>
              <a:srgbClr val="FFFFFF"/>
            </a:solidFill>
            <a:ln w="14288">
              <a:solidFill>
                <a:srgbClr val="B8CBD3"/>
              </a:solidFill>
            </a:ln>
          </p:spPr>
        </p:sp>
        <p:sp>
          <p:nvSpPr>
            <p:cNvPr id="20" name="TextBox 20"/>
            <p:cNvSpPr txBox="1"/>
            <p:nvPr/>
          </p:nvSpPr>
          <p:spPr>
            <a:xfrm>
              <a:off x="6467856" y="2225040"/>
              <a:ext cx="343644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Benzetme: eleme turnuvası</a:t>
              </a:r>
            </a:p>
          </p:txBody>
        </p:sp>
        <p:sp>
          <p:nvSpPr>
            <p:cNvPr id="21" name="TextBox 21"/>
            <p:cNvSpPr txBox="1"/>
            <p:nvPr/>
          </p:nvSpPr>
          <p:spPr>
            <a:xfrm>
              <a:off x="6470142" y="2597468"/>
              <a:ext cx="349103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Tüm tekil öğeler bir ön elemeden geçer;</a:t>
              </a:r>
            </a:p>
          </p:txBody>
        </p:sp>
        <p:sp>
          <p:nvSpPr>
            <p:cNvPr id="22" name="TextBox 22"/>
            <p:cNvSpPr txBox="1"/>
            <p:nvPr/>
          </p:nvSpPr>
          <p:spPr>
            <a:xfrm>
              <a:off x="6470142" y="2826068"/>
              <a:ext cx="3357677"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yalnızca yeterince popüler olanlar bir</a:t>
              </a:r>
            </a:p>
          </p:txBody>
        </p:sp>
        <p:sp>
          <p:nvSpPr>
            <p:cNvPr id="23" name="TextBox 23"/>
            <p:cNvSpPr txBox="1"/>
            <p:nvPr/>
          </p:nvSpPr>
          <p:spPr>
            <a:xfrm>
              <a:off x="6470142" y="3054668"/>
              <a:ext cx="3693890"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sonraki tura (ikili kombinasyon) taşınır.</a:t>
              </a:r>
            </a:p>
          </p:txBody>
        </p:sp>
        <p:sp>
          <p:nvSpPr>
            <p:cNvPr id="24" name="TextBox 24"/>
            <p:cNvSpPr txBox="1"/>
            <p:nvPr/>
          </p:nvSpPr>
          <p:spPr>
            <a:xfrm>
              <a:off x="6470142" y="3283268"/>
              <a:ext cx="3481249"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Elenmiş bir öğeyi içeren hiçbir ikili veya</a:t>
              </a:r>
            </a:p>
          </p:txBody>
        </p:sp>
        <p:sp>
          <p:nvSpPr>
            <p:cNvPr id="25" name="TextBox 25"/>
            <p:cNvSpPr txBox="1"/>
            <p:nvPr/>
          </p:nvSpPr>
          <p:spPr>
            <a:xfrm>
              <a:off x="6470142" y="3511868"/>
              <a:ext cx="377567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üçlü kombinasyon, elenmiş öğeden daha sık</a:t>
              </a:r>
            </a:p>
          </p:txBody>
        </p:sp>
        <p:sp>
          <p:nvSpPr>
            <p:cNvPr id="26" name="TextBox 26"/>
            <p:cNvSpPr txBox="1"/>
            <p:nvPr/>
          </p:nvSpPr>
          <p:spPr>
            <a:xfrm>
              <a:off x="6470142" y="3740468"/>
              <a:ext cx="704317"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olamaz.</a:t>
              </a:r>
            </a:p>
          </p:txBody>
        </p:sp>
      </p:grpSp>
      <p:grpSp>
        <p:nvGrpSpPr>
          <p:cNvPr id="40" name="lattice"/>
          <p:cNvGrpSpPr/>
          <p:nvPr/>
        </p:nvGrpSpPr>
        <p:grpSpPr>
          <a:xfrm>
            <a:off x="609600" y="4381500"/>
            <a:ext cx="10972800" cy="1524000"/>
            <a:chOff x="609600" y="4381500"/>
            <a:chExt cx="10972800" cy="1524000"/>
          </a:xfrm>
        </p:grpSpPr>
        <p:sp>
          <p:nvSpPr>
            <p:cNvPr id="28" name="Rectangle 28"/>
            <p:cNvSpPr/>
            <p:nvPr/>
          </p:nvSpPr>
          <p:spPr>
            <a:xfrm>
              <a:off x="609600" y="4381500"/>
              <a:ext cx="10972800" cy="1524000"/>
            </a:xfrm>
            <a:prstGeom prst="roundRect">
              <a:avLst>
                <a:gd name="adj" fmla="val 6250"/>
              </a:avLst>
            </a:prstGeom>
            <a:solidFill>
              <a:srgbClr val="EAF4F6"/>
            </a:solidFill>
            <a:ln>
              <a:noFill/>
            </a:ln>
          </p:spPr>
        </p:sp>
        <p:sp>
          <p:nvSpPr>
            <p:cNvPr id="29" name="TextBox 29"/>
            <p:cNvSpPr txBox="1"/>
            <p:nvPr/>
          </p:nvSpPr>
          <p:spPr>
            <a:xfrm>
              <a:off x="906399" y="4535329"/>
              <a:ext cx="318431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Örnek: {reçel} nadir çıkarsa</a:t>
              </a:r>
            </a:p>
          </p:txBody>
        </p:sp>
        <p:sp>
          <p:nvSpPr>
            <p:cNvPr id="30" name="Rectangle 30"/>
            <p:cNvSpPr/>
            <p:nvPr/>
          </p:nvSpPr>
          <p:spPr>
            <a:xfrm>
              <a:off x="1143000" y="4953000"/>
              <a:ext cx="1333500" cy="400050"/>
            </a:xfrm>
            <a:prstGeom prst="roundRect">
              <a:avLst>
                <a:gd name="adj" fmla="val 14286"/>
              </a:avLst>
            </a:prstGeom>
            <a:solidFill>
              <a:srgbClr val="FFFFFF"/>
            </a:solidFill>
            <a:ln w="14288">
              <a:solidFill>
                <a:srgbClr val="B8CBD3"/>
              </a:solidFill>
            </a:ln>
          </p:spPr>
        </p:sp>
        <p:sp>
          <p:nvSpPr>
            <p:cNvPr id="31" name="TextBox 31"/>
            <p:cNvSpPr txBox="1"/>
            <p:nvPr/>
          </p:nvSpPr>
          <p:spPr>
            <a:xfrm>
              <a:off x="1532641" y="5079206"/>
              <a:ext cx="554218" cy="220028"/>
            </a:xfrm>
            <a:prstGeom prst="rect">
              <a:avLst/>
            </a:prstGeom>
            <a:noFill/>
            <a:ln>
              <a:noFill/>
            </a:ln>
          </p:spPr>
          <p:txBody>
            <a:bodyPr wrap="none" lIns="0" tIns="0" rIns="0" bIns="0" anchor="t" anchorCtr="0">
              <a:spAutoFit/>
            </a:bodyPr>
            <a:lstStyle/>
            <a:p>
              <a:pPr algn="ctr"/>
              <a:r>
                <a:rPr lang="tr-TR" sz="1120" dirty="0">
                  <a:solidFill>
                    <a:srgbClr val="172B3A"/>
                  </a:solidFill>
                  <a:latin typeface="+mn-lt"/>
                  <a:ea typeface="+mn-ea"/>
                  <a:cs typeface="+mn-cs"/>
                </a:rPr>
                <a:t>{reçel}</a:t>
              </a:r>
            </a:p>
          </p:txBody>
        </p:sp>
        <p:sp>
          <p:nvSpPr>
            <p:cNvPr id="32" name="TextBox 32"/>
            <p:cNvSpPr txBox="1"/>
            <p:nvPr/>
          </p:nvSpPr>
          <p:spPr>
            <a:xfrm>
              <a:off x="2735580" y="5038725"/>
              <a:ext cx="217170" cy="293370"/>
            </a:xfrm>
            <a:prstGeom prst="rect">
              <a:avLst/>
            </a:prstGeom>
            <a:noFill/>
            <a:ln>
              <a:noFill/>
            </a:ln>
          </p:spPr>
          <p:txBody>
            <a:bodyPr wrap="none" lIns="0" tIns="0" rIns="0" bIns="0" anchor="t" anchorCtr="0">
              <a:spAutoFit/>
            </a:bodyPr>
            <a:lstStyle/>
            <a:p>
              <a:pPr algn="l"/>
              <a:r>
                <a:rPr lang="tr-TR" sz="1500" dirty="0">
                  <a:solidFill>
                    <a:srgbClr val="172B3A"/>
                  </a:solidFill>
                  <a:latin typeface="+mn-lt"/>
                  <a:ea typeface="+mn-ea"/>
                  <a:cs typeface="+mn-cs"/>
                </a:rPr>
                <a:t>✗</a:t>
              </a:r>
            </a:p>
          </p:txBody>
        </p:sp>
        <p:sp>
          <p:nvSpPr>
            <p:cNvPr id="33" name="Rectangle 33"/>
            <p:cNvSpPr/>
            <p:nvPr/>
          </p:nvSpPr>
          <p:spPr>
            <a:xfrm>
              <a:off x="3238500" y="4953000"/>
              <a:ext cx="2095500" cy="400050"/>
            </a:xfrm>
            <a:prstGeom prst="roundRect">
              <a:avLst>
                <a:gd name="adj" fmla="val 14286"/>
              </a:avLst>
            </a:prstGeom>
            <a:solidFill>
              <a:srgbClr val="FFFFFF"/>
            </a:solidFill>
            <a:ln w="9525">
              <a:solidFill>
                <a:srgbClr val="B8CBD3"/>
              </a:solidFill>
              <a:custDash>
                <a:ds d="400000" sp="300000"/>
              </a:custDash>
            </a:ln>
          </p:spPr>
        </p:sp>
        <p:sp>
          <p:nvSpPr>
            <p:cNvPr id="34" name="TextBox 34"/>
            <p:cNvSpPr txBox="1"/>
            <p:nvPr/>
          </p:nvSpPr>
          <p:spPr>
            <a:xfrm>
              <a:off x="3722670" y="5079206"/>
              <a:ext cx="1127161" cy="220028"/>
            </a:xfrm>
            <a:prstGeom prst="rect">
              <a:avLst/>
            </a:prstGeom>
            <a:noFill/>
            <a:ln>
              <a:noFill/>
            </a:ln>
          </p:spPr>
          <p:txBody>
            <a:bodyPr wrap="none" lIns="0" tIns="0" rIns="0" bIns="0" anchor="t" anchorCtr="0">
              <a:spAutoFit/>
            </a:bodyPr>
            <a:lstStyle/>
            <a:p>
              <a:pPr algn="ctr"/>
              <a:r>
                <a:rPr lang="tr-TR" sz="1120" dirty="0">
                  <a:solidFill>
                    <a:srgbClr val="52616B"/>
                  </a:solidFill>
                  <a:latin typeface="+mn-lt"/>
                  <a:ea typeface="+mn-ea"/>
                  <a:cs typeface="+mn-cs"/>
                </a:rPr>
                <a:t>{reçel, ekmek}</a:t>
              </a:r>
            </a:p>
          </p:txBody>
        </p:sp>
        <p:sp>
          <p:nvSpPr>
            <p:cNvPr id="35" name="TextBox 35"/>
            <p:cNvSpPr txBox="1"/>
            <p:nvPr/>
          </p:nvSpPr>
          <p:spPr>
            <a:xfrm>
              <a:off x="5574030" y="5038725"/>
              <a:ext cx="1065276" cy="293370"/>
            </a:xfrm>
            <a:prstGeom prst="rect">
              <a:avLst/>
            </a:prstGeom>
            <a:noFill/>
            <a:ln>
              <a:noFill/>
            </a:ln>
          </p:spPr>
          <p:txBody>
            <a:bodyPr wrap="none" lIns="0" tIns="0" rIns="0" bIns="0" anchor="t" anchorCtr="0">
              <a:spAutoFit/>
            </a:bodyPr>
            <a:lstStyle/>
            <a:p>
              <a:pPr algn="l"/>
              <a:r>
                <a:rPr lang="tr-TR" sz="1500" dirty="0">
                  <a:solidFill>
                    <a:srgbClr val="52616B"/>
                  </a:solidFill>
                  <a:latin typeface="+mn-lt"/>
                  <a:ea typeface="+mn-ea"/>
                  <a:cs typeface="+mn-cs"/>
                </a:rPr>
                <a:t>✗ (elenir)</a:t>
              </a:r>
            </a:p>
          </p:txBody>
        </p:sp>
        <p:sp>
          <p:nvSpPr>
            <p:cNvPr id="36" name="Rectangle 36"/>
            <p:cNvSpPr/>
            <p:nvPr/>
          </p:nvSpPr>
          <p:spPr>
            <a:xfrm>
              <a:off x="6667500" y="4953000"/>
              <a:ext cx="2476500" cy="400050"/>
            </a:xfrm>
            <a:prstGeom prst="roundRect">
              <a:avLst>
                <a:gd name="adj" fmla="val 14286"/>
              </a:avLst>
            </a:prstGeom>
            <a:solidFill>
              <a:srgbClr val="FFFFFF"/>
            </a:solidFill>
            <a:ln w="9525">
              <a:solidFill>
                <a:srgbClr val="B8CBD3"/>
              </a:solidFill>
              <a:custDash>
                <a:ds d="400000" sp="300000"/>
              </a:custDash>
            </a:ln>
          </p:spPr>
        </p:sp>
        <p:sp>
          <p:nvSpPr>
            <p:cNvPr id="37" name="TextBox 37"/>
            <p:cNvSpPr txBox="1"/>
            <p:nvPr/>
          </p:nvSpPr>
          <p:spPr>
            <a:xfrm>
              <a:off x="7153702" y="5079206"/>
              <a:ext cx="1504097" cy="220028"/>
            </a:xfrm>
            <a:prstGeom prst="rect">
              <a:avLst/>
            </a:prstGeom>
            <a:noFill/>
            <a:ln>
              <a:noFill/>
            </a:ln>
          </p:spPr>
          <p:txBody>
            <a:bodyPr wrap="none" lIns="0" tIns="0" rIns="0" bIns="0" anchor="t" anchorCtr="0">
              <a:spAutoFit/>
            </a:bodyPr>
            <a:lstStyle/>
            <a:p>
              <a:pPr algn="ctr"/>
              <a:r>
                <a:rPr lang="tr-TR" sz="1120" dirty="0">
                  <a:solidFill>
                    <a:srgbClr val="52616B"/>
                  </a:solidFill>
                  <a:latin typeface="+mn-lt"/>
                  <a:ea typeface="+mn-ea"/>
                  <a:cs typeface="+mn-cs"/>
                </a:rPr>
                <a:t>{reçel, ekmek, süt}</a:t>
              </a:r>
            </a:p>
          </p:txBody>
        </p:sp>
        <p:sp>
          <p:nvSpPr>
            <p:cNvPr id="38" name="TextBox 38"/>
            <p:cNvSpPr txBox="1"/>
            <p:nvPr/>
          </p:nvSpPr>
          <p:spPr>
            <a:xfrm>
              <a:off x="9384030" y="5038725"/>
              <a:ext cx="1438846" cy="293370"/>
            </a:xfrm>
            <a:prstGeom prst="rect">
              <a:avLst/>
            </a:prstGeom>
            <a:noFill/>
            <a:ln>
              <a:noFill/>
            </a:ln>
          </p:spPr>
          <p:txBody>
            <a:bodyPr wrap="none" lIns="0" tIns="0" rIns="0" bIns="0" anchor="t" anchorCtr="0">
              <a:spAutoFit/>
            </a:bodyPr>
            <a:lstStyle/>
            <a:p>
              <a:pPr algn="l"/>
              <a:r>
                <a:rPr lang="tr-TR" sz="1500" dirty="0">
                  <a:solidFill>
                    <a:srgbClr val="52616B"/>
                  </a:solidFill>
                  <a:latin typeface="+mn-lt"/>
                  <a:ea typeface="+mn-ea"/>
                  <a:cs typeface="+mn-cs"/>
                </a:rPr>
                <a:t>✗ (üretilmez)</a:t>
              </a:r>
            </a:p>
          </p:txBody>
        </p:sp>
        <p:sp>
          <p:nvSpPr>
            <p:cNvPr id="39" name="TextBox 39"/>
            <p:cNvSpPr txBox="1"/>
            <p:nvPr/>
          </p:nvSpPr>
          <p:spPr>
            <a:xfrm>
              <a:off x="908304" y="5585460"/>
              <a:ext cx="852295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Asimetri yalnızca "azalan" yönde çalışır: bir küme sıksa alt kümeleri mutlaka sıktır, tersi doğru değildir.</a:t>
              </a:r>
            </a:p>
          </p:txBody>
        </p:sp>
      </p:grpSp>
      <p:sp>
        <p:nvSpPr>
          <p:cNvPr id="41" name="TextBox 4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11 / 25</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536598" cy="557403"/>
            <a:chOff x="595122" y="282892"/>
            <a:chExt cx="7536598" cy="557403"/>
          </a:xfrm>
        </p:grpSpPr>
        <p:sp>
          <p:nvSpPr>
            <p:cNvPr id="4" name="TextBox 4"/>
            <p:cNvSpPr txBox="1"/>
            <p:nvPr/>
          </p:nvSpPr>
          <p:spPr>
            <a:xfrm>
              <a:off x="595122" y="282892"/>
              <a:ext cx="753659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Apriori döngüsü: aday üret, buda, say</a:t>
              </a:r>
            </a:p>
          </p:txBody>
        </p:sp>
      </p:grpSp>
      <p:grpSp>
        <p:nvGrpSpPr>
          <p:cNvPr id="8" name="definition"/>
          <p:cNvGrpSpPr/>
          <p:nvPr/>
        </p:nvGrpSpPr>
        <p:grpSpPr>
          <a:xfrm>
            <a:off x="601599" y="1144429"/>
            <a:ext cx="10044788" cy="555689"/>
            <a:chOff x="601599" y="1144429"/>
            <a:chExt cx="10044788" cy="555689"/>
          </a:xfrm>
        </p:grpSpPr>
        <p:sp>
          <p:nvSpPr>
            <p:cNvPr id="6" name="TextBox 6"/>
            <p:cNvSpPr txBox="1"/>
            <p:nvPr/>
          </p:nvSpPr>
          <p:spPr>
            <a:xfrm>
              <a:off x="601599" y="1144429"/>
              <a:ext cx="955204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2^n mertebesindeki tüm öğe kümelerini tek tek saymak imkânsızdır; Apriori özelliği bu üstel</a:t>
              </a:r>
            </a:p>
          </p:txBody>
        </p:sp>
        <p:sp>
          <p:nvSpPr>
            <p:cNvPr id="7" name="TextBox 7"/>
            <p:cNvSpPr txBox="1"/>
            <p:nvPr/>
          </p:nvSpPr>
          <p:spPr>
            <a:xfrm>
              <a:off x="601599" y="1392079"/>
              <a:ext cx="10044788"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arama uzayını her seviyede daraltarak yalnızca "hayatta kalan" öğelerden yeni adaylar türetir.</a:t>
              </a:r>
            </a:p>
          </p:txBody>
        </p:sp>
      </p:grpSp>
      <p:grpSp>
        <p:nvGrpSpPr>
          <p:cNvPr id="33" name="steps"/>
          <p:cNvGrpSpPr/>
          <p:nvPr/>
        </p:nvGrpSpPr>
        <p:grpSpPr>
          <a:xfrm>
            <a:off x="609600" y="1905000"/>
            <a:ext cx="10972800" cy="1905000"/>
            <a:chOff x="609600" y="1905000"/>
            <a:chExt cx="10972800" cy="1905000"/>
          </a:xfrm>
        </p:grpSpPr>
        <p:sp>
          <p:nvSpPr>
            <p:cNvPr id="9" name="Rectangle 9"/>
            <p:cNvSpPr/>
            <p:nvPr/>
          </p:nvSpPr>
          <p:spPr>
            <a:xfrm>
              <a:off x="609600" y="1905000"/>
              <a:ext cx="10972800" cy="1905000"/>
            </a:xfrm>
            <a:prstGeom prst="roundRect">
              <a:avLst>
                <a:gd name="adj" fmla="val 5000"/>
              </a:avLst>
            </a:prstGeom>
            <a:solidFill>
              <a:srgbClr val="EAF4F6"/>
            </a:solidFill>
            <a:ln>
              <a:noFill/>
            </a:ln>
          </p:spPr>
        </p:sp>
        <p:sp>
          <p:nvSpPr>
            <p:cNvPr id="10" name="TextBox 10"/>
            <p:cNvSpPr txBox="1"/>
            <p:nvPr/>
          </p:nvSpPr>
          <p:spPr>
            <a:xfrm>
              <a:off x="906399" y="2058829"/>
              <a:ext cx="213354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Seviye seviye döngü</a:t>
              </a:r>
            </a:p>
          </p:txBody>
        </p:sp>
        <p:sp>
          <p:nvSpPr>
            <p:cNvPr id="11" name="Ellipse 11"/>
            <p:cNvSpPr/>
            <p:nvPr/>
          </p:nvSpPr>
          <p:spPr>
            <a:xfrm>
              <a:off x="1276350" y="2705100"/>
              <a:ext cx="495300" cy="495300"/>
            </a:xfrm>
            <a:prstGeom prst="ellipse">
              <a:avLst/>
            </a:prstGeom>
            <a:solidFill>
              <a:srgbClr val="12355B"/>
            </a:solidFill>
            <a:ln>
              <a:noFill/>
            </a:ln>
          </p:spPr>
        </p:sp>
        <p:sp>
          <p:nvSpPr>
            <p:cNvPr id="12" name="TextBox 12"/>
            <p:cNvSpPr txBox="1"/>
            <p:nvPr/>
          </p:nvSpPr>
          <p:spPr>
            <a:xfrm>
              <a:off x="1461563" y="2875121"/>
              <a:ext cx="124873" cy="278702"/>
            </a:xfrm>
            <a:prstGeom prst="rect">
              <a:avLst/>
            </a:prstGeom>
            <a:noFill/>
            <a:ln>
              <a:noFill/>
            </a:ln>
          </p:spPr>
          <p:txBody>
            <a:bodyPr wrap="none" lIns="0" tIns="0" rIns="0" bIns="0" anchor="t" anchorCtr="0">
              <a:spAutoFit/>
            </a:bodyPr>
            <a:lstStyle/>
            <a:p>
              <a:pPr algn="ctr"/>
              <a:r>
                <a:rPr lang="tr-TR" sz="1420" b="1" dirty="0">
                  <a:solidFill>
                    <a:srgbClr val="FFFFFF"/>
                  </a:solidFill>
                  <a:latin typeface="+mn-lt"/>
                  <a:ea typeface="+mn-ea"/>
                  <a:cs typeface="+mn-cs"/>
                </a:rPr>
                <a:t>1</a:t>
              </a:r>
            </a:p>
          </p:txBody>
        </p:sp>
        <p:sp>
          <p:nvSpPr>
            <p:cNvPr id="13" name="TextBox 13"/>
            <p:cNvSpPr txBox="1"/>
            <p:nvPr/>
          </p:nvSpPr>
          <p:spPr>
            <a:xfrm>
              <a:off x="996925" y="3261360"/>
              <a:ext cx="1054151"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tekli öğelerin</a:t>
              </a:r>
            </a:p>
          </p:txBody>
        </p:sp>
        <p:sp>
          <p:nvSpPr>
            <p:cNvPr id="14" name="TextBox 14"/>
            <p:cNvSpPr txBox="1"/>
            <p:nvPr/>
          </p:nvSpPr>
          <p:spPr>
            <a:xfrm>
              <a:off x="1000963" y="3451860"/>
              <a:ext cx="1046074"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desteğini say</a:t>
              </a:r>
            </a:p>
          </p:txBody>
        </p:sp>
        <p:sp>
          <p:nvSpPr>
            <p:cNvPr id="15" name="Line 15"/>
            <p:cNvSpPr/>
            <p:nvPr/>
          </p:nvSpPr>
          <p:spPr>
            <a:xfrm>
              <a:off x="2019300" y="2952750"/>
              <a:ext cx="1143000" cy="1"/>
            </a:xfrm>
            <a:prstGeom prst="line">
              <a:avLst/>
            </a:prstGeom>
            <a:noFill/>
            <a:ln w="23812">
              <a:solidFill>
                <a:srgbClr val="00A6A6"/>
              </a:solidFill>
              <a:tailEnd type="arrow" w="lg" len="lg"/>
            </a:ln>
          </p:spPr>
        </p:sp>
        <p:sp>
          <p:nvSpPr>
            <p:cNvPr id="16" name="Ellipse 16"/>
            <p:cNvSpPr/>
            <p:nvPr/>
          </p:nvSpPr>
          <p:spPr>
            <a:xfrm>
              <a:off x="3352800" y="2705100"/>
              <a:ext cx="495300" cy="495300"/>
            </a:xfrm>
            <a:prstGeom prst="ellipse">
              <a:avLst/>
            </a:prstGeom>
            <a:solidFill>
              <a:srgbClr val="12355B"/>
            </a:solidFill>
            <a:ln>
              <a:noFill/>
            </a:ln>
          </p:spPr>
        </p:sp>
        <p:sp>
          <p:nvSpPr>
            <p:cNvPr id="17" name="TextBox 17"/>
            <p:cNvSpPr txBox="1"/>
            <p:nvPr/>
          </p:nvSpPr>
          <p:spPr>
            <a:xfrm>
              <a:off x="3538013" y="2875121"/>
              <a:ext cx="124873" cy="278702"/>
            </a:xfrm>
            <a:prstGeom prst="rect">
              <a:avLst/>
            </a:prstGeom>
            <a:noFill/>
            <a:ln>
              <a:noFill/>
            </a:ln>
          </p:spPr>
          <p:txBody>
            <a:bodyPr wrap="none" lIns="0" tIns="0" rIns="0" bIns="0" anchor="t" anchorCtr="0">
              <a:spAutoFit/>
            </a:bodyPr>
            <a:lstStyle/>
            <a:p>
              <a:pPr algn="ctr"/>
              <a:r>
                <a:rPr lang="tr-TR" sz="1420" b="1" dirty="0">
                  <a:solidFill>
                    <a:srgbClr val="FFFFFF"/>
                  </a:solidFill>
                  <a:latin typeface="+mn-lt"/>
                  <a:ea typeface="+mn-ea"/>
                  <a:cs typeface="+mn-cs"/>
                </a:rPr>
                <a:t>2</a:t>
              </a:r>
            </a:p>
          </p:txBody>
        </p:sp>
        <p:sp>
          <p:nvSpPr>
            <p:cNvPr id="18" name="TextBox 18"/>
            <p:cNvSpPr txBox="1"/>
            <p:nvPr/>
          </p:nvSpPr>
          <p:spPr>
            <a:xfrm>
              <a:off x="2839136" y="3261360"/>
              <a:ext cx="1522628"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min_support altını</a:t>
              </a:r>
            </a:p>
          </p:txBody>
        </p:sp>
        <p:sp>
          <p:nvSpPr>
            <p:cNvPr id="19" name="TextBox 19"/>
            <p:cNvSpPr txBox="1"/>
            <p:nvPr/>
          </p:nvSpPr>
          <p:spPr>
            <a:xfrm>
              <a:off x="3085490" y="3451860"/>
              <a:ext cx="1029919"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buda (eleme)</a:t>
              </a:r>
            </a:p>
          </p:txBody>
        </p:sp>
        <p:sp>
          <p:nvSpPr>
            <p:cNvPr id="20" name="Line 20"/>
            <p:cNvSpPr/>
            <p:nvPr/>
          </p:nvSpPr>
          <p:spPr>
            <a:xfrm>
              <a:off x="4095750" y="2952750"/>
              <a:ext cx="1143000" cy="1"/>
            </a:xfrm>
            <a:prstGeom prst="line">
              <a:avLst/>
            </a:prstGeom>
            <a:noFill/>
            <a:ln w="23812">
              <a:solidFill>
                <a:srgbClr val="00A6A6"/>
              </a:solidFill>
              <a:tailEnd type="arrow" w="lg" len="lg"/>
            </a:ln>
          </p:spPr>
        </p:sp>
        <p:sp>
          <p:nvSpPr>
            <p:cNvPr id="21" name="Ellipse 21"/>
            <p:cNvSpPr/>
            <p:nvPr/>
          </p:nvSpPr>
          <p:spPr>
            <a:xfrm>
              <a:off x="5429250" y="2705100"/>
              <a:ext cx="495300" cy="495300"/>
            </a:xfrm>
            <a:prstGeom prst="ellipse">
              <a:avLst/>
            </a:prstGeom>
            <a:solidFill>
              <a:srgbClr val="12355B"/>
            </a:solidFill>
            <a:ln>
              <a:noFill/>
            </a:ln>
          </p:spPr>
        </p:sp>
        <p:sp>
          <p:nvSpPr>
            <p:cNvPr id="22" name="TextBox 22"/>
            <p:cNvSpPr txBox="1"/>
            <p:nvPr/>
          </p:nvSpPr>
          <p:spPr>
            <a:xfrm>
              <a:off x="5614463" y="2875121"/>
              <a:ext cx="124873" cy="278702"/>
            </a:xfrm>
            <a:prstGeom prst="rect">
              <a:avLst/>
            </a:prstGeom>
            <a:noFill/>
            <a:ln>
              <a:noFill/>
            </a:ln>
          </p:spPr>
          <p:txBody>
            <a:bodyPr wrap="none" lIns="0" tIns="0" rIns="0" bIns="0" anchor="t" anchorCtr="0">
              <a:spAutoFit/>
            </a:bodyPr>
            <a:lstStyle/>
            <a:p>
              <a:pPr algn="ctr"/>
              <a:r>
                <a:rPr lang="tr-TR" sz="1420" b="1" dirty="0">
                  <a:solidFill>
                    <a:srgbClr val="FFFFFF"/>
                  </a:solidFill>
                  <a:latin typeface="+mn-lt"/>
                  <a:ea typeface="+mn-ea"/>
                  <a:cs typeface="+mn-cs"/>
                </a:rPr>
                <a:t>3</a:t>
              </a:r>
            </a:p>
          </p:txBody>
        </p:sp>
        <p:sp>
          <p:nvSpPr>
            <p:cNvPr id="23" name="TextBox 23"/>
            <p:cNvSpPr txBox="1"/>
            <p:nvPr/>
          </p:nvSpPr>
          <p:spPr>
            <a:xfrm>
              <a:off x="4887316" y="3261360"/>
              <a:ext cx="1579169"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hayatta kalanlardan</a:t>
              </a:r>
            </a:p>
          </p:txBody>
        </p:sp>
        <p:sp>
          <p:nvSpPr>
            <p:cNvPr id="24" name="TextBox 24"/>
            <p:cNvSpPr txBox="1"/>
            <p:nvPr/>
          </p:nvSpPr>
          <p:spPr>
            <a:xfrm>
              <a:off x="5133670" y="3451860"/>
              <a:ext cx="1086460"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k+1 aday üret</a:t>
              </a:r>
            </a:p>
          </p:txBody>
        </p:sp>
        <p:sp>
          <p:nvSpPr>
            <p:cNvPr id="25" name="Line 25"/>
            <p:cNvSpPr/>
            <p:nvPr/>
          </p:nvSpPr>
          <p:spPr>
            <a:xfrm>
              <a:off x="6172200" y="2952750"/>
              <a:ext cx="1143000" cy="1"/>
            </a:xfrm>
            <a:prstGeom prst="line">
              <a:avLst/>
            </a:prstGeom>
            <a:noFill/>
            <a:ln w="23812">
              <a:solidFill>
                <a:srgbClr val="00A6A6"/>
              </a:solidFill>
              <a:tailEnd type="arrow" w="lg" len="lg"/>
            </a:ln>
          </p:spPr>
        </p:sp>
        <p:sp>
          <p:nvSpPr>
            <p:cNvPr id="26" name="Ellipse 26"/>
            <p:cNvSpPr/>
            <p:nvPr/>
          </p:nvSpPr>
          <p:spPr>
            <a:xfrm>
              <a:off x="7505700" y="2705100"/>
              <a:ext cx="495300" cy="495300"/>
            </a:xfrm>
            <a:prstGeom prst="ellipse">
              <a:avLst/>
            </a:prstGeom>
            <a:solidFill>
              <a:srgbClr val="12355B"/>
            </a:solidFill>
            <a:ln>
              <a:noFill/>
            </a:ln>
          </p:spPr>
        </p:sp>
        <p:sp>
          <p:nvSpPr>
            <p:cNvPr id="27" name="TextBox 27"/>
            <p:cNvSpPr txBox="1"/>
            <p:nvPr/>
          </p:nvSpPr>
          <p:spPr>
            <a:xfrm>
              <a:off x="7690913" y="2875121"/>
              <a:ext cx="124873" cy="278702"/>
            </a:xfrm>
            <a:prstGeom prst="rect">
              <a:avLst/>
            </a:prstGeom>
            <a:noFill/>
            <a:ln>
              <a:noFill/>
            </a:ln>
          </p:spPr>
          <p:txBody>
            <a:bodyPr wrap="none" lIns="0" tIns="0" rIns="0" bIns="0" anchor="t" anchorCtr="0">
              <a:spAutoFit/>
            </a:bodyPr>
            <a:lstStyle/>
            <a:p>
              <a:pPr algn="ctr"/>
              <a:r>
                <a:rPr lang="tr-TR" sz="1420" b="1" dirty="0">
                  <a:solidFill>
                    <a:srgbClr val="FFFFFF"/>
                  </a:solidFill>
                  <a:latin typeface="+mn-lt"/>
                  <a:ea typeface="+mn-ea"/>
                  <a:cs typeface="+mn-cs"/>
                </a:rPr>
                <a:t>4</a:t>
              </a:r>
            </a:p>
          </p:txBody>
        </p:sp>
        <p:sp>
          <p:nvSpPr>
            <p:cNvPr id="28" name="TextBox 28"/>
            <p:cNvSpPr txBox="1"/>
            <p:nvPr/>
          </p:nvSpPr>
          <p:spPr>
            <a:xfrm>
              <a:off x="6987997" y="3261360"/>
              <a:ext cx="1530706"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veritabanını tara,</a:t>
              </a:r>
            </a:p>
          </p:txBody>
        </p:sp>
        <p:sp>
          <p:nvSpPr>
            <p:cNvPr id="29" name="TextBox 29"/>
            <p:cNvSpPr txBox="1"/>
            <p:nvPr/>
          </p:nvSpPr>
          <p:spPr>
            <a:xfrm>
              <a:off x="7117232" y="3451860"/>
              <a:ext cx="1272235"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yeni desteği say</a:t>
              </a:r>
            </a:p>
          </p:txBody>
        </p:sp>
        <p:sp>
          <p:nvSpPr>
            <p:cNvPr id="30" name="Freeform 30"/>
            <p:cNvSpPr/>
            <p:nvPr/>
          </p:nvSpPr>
          <p:spPr>
            <a:xfrm>
              <a:off x="7753350" y="2298700"/>
              <a:ext cx="3105150" cy="1098550"/>
            </a:xfrm>
            <a:custGeom>
              <a:avLst/>
              <a:gdLst/>
              <a:ahLst/>
              <a:cxnLst/>
              <a:rect l="l" t="t" r="r" b="b"/>
              <a:pathLst>
                <a:path w="3105150" h="1098550">
                  <a:moveTo>
                    <a:pt x="0" y="406400"/>
                  </a:moveTo>
                  <a:cubicBezTo>
                    <a:pt x="2070100" y="0"/>
                    <a:pt x="3105150" y="82550"/>
                    <a:pt x="3105150" y="654050"/>
                  </a:cubicBezTo>
                  <a:cubicBezTo>
                    <a:pt x="3105150" y="1098550"/>
                    <a:pt x="2235200" y="1098550"/>
                    <a:pt x="495300" y="654050"/>
                  </a:cubicBezTo>
                </a:path>
              </a:pathLst>
            </a:custGeom>
            <a:noFill/>
            <a:ln w="19050">
              <a:solidFill>
                <a:srgbClr val="52616B"/>
              </a:solidFill>
              <a:custDash>
                <a:ds d="300000" sp="200000"/>
              </a:custDash>
              <a:tailEnd type="arrow" w="lg" len="lg"/>
            </a:ln>
          </p:spPr>
        </p:sp>
        <p:sp>
          <p:nvSpPr>
            <p:cNvPr id="31" name="TextBox 31"/>
            <p:cNvSpPr txBox="1"/>
            <p:nvPr/>
          </p:nvSpPr>
          <p:spPr>
            <a:xfrm>
              <a:off x="10538660" y="2458402"/>
              <a:ext cx="639680"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yeni aday</a:t>
              </a:r>
            </a:p>
          </p:txBody>
        </p:sp>
        <p:sp>
          <p:nvSpPr>
            <p:cNvPr id="32" name="TextBox 32"/>
            <p:cNvSpPr txBox="1"/>
            <p:nvPr/>
          </p:nvSpPr>
          <p:spPr>
            <a:xfrm>
              <a:off x="10369039" y="2629852"/>
              <a:ext cx="978922"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kalmayana dek</a:t>
              </a:r>
            </a:p>
          </p:txBody>
        </p:sp>
      </p:grpSp>
      <p:grpSp>
        <p:nvGrpSpPr>
          <p:cNvPr id="42" name="pruning-note"/>
          <p:cNvGrpSpPr/>
          <p:nvPr/>
        </p:nvGrpSpPr>
        <p:grpSpPr>
          <a:xfrm>
            <a:off x="609600" y="4038600"/>
            <a:ext cx="5334000" cy="1819656"/>
            <a:chOff x="609600" y="4038600"/>
            <a:chExt cx="5334000" cy="1819656"/>
          </a:xfrm>
        </p:grpSpPr>
        <p:sp>
          <p:nvSpPr>
            <p:cNvPr id="34" name="Rectangle 34"/>
            <p:cNvSpPr/>
            <p:nvPr/>
          </p:nvSpPr>
          <p:spPr>
            <a:xfrm>
              <a:off x="609600" y="4038600"/>
              <a:ext cx="5334000" cy="1809750"/>
            </a:xfrm>
            <a:prstGeom prst="roundRect">
              <a:avLst>
                <a:gd name="adj" fmla="val 5263"/>
              </a:avLst>
            </a:prstGeom>
            <a:solidFill>
              <a:srgbClr val="FFFFFF"/>
            </a:solidFill>
            <a:ln w="14288">
              <a:solidFill>
                <a:srgbClr val="B8CBD3"/>
              </a:solidFill>
            </a:ln>
          </p:spPr>
        </p:sp>
        <p:sp>
          <p:nvSpPr>
            <p:cNvPr id="35" name="TextBox 35"/>
            <p:cNvSpPr txBox="1"/>
            <p:nvPr/>
          </p:nvSpPr>
          <p:spPr>
            <a:xfrm>
              <a:off x="830961" y="4208621"/>
              <a:ext cx="1998137"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Budama neden önemli</a:t>
              </a:r>
            </a:p>
          </p:txBody>
        </p:sp>
        <p:sp>
          <p:nvSpPr>
            <p:cNvPr id="36" name="TextBox 36"/>
            <p:cNvSpPr txBox="1"/>
            <p:nvPr/>
          </p:nvSpPr>
          <p:spPr>
            <a:xfrm>
              <a:off x="832104" y="4518660"/>
              <a:ext cx="292529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Bir önceki seviyede sık çıkmayan öğe</a:t>
              </a:r>
            </a:p>
          </p:txBody>
        </p:sp>
        <p:sp>
          <p:nvSpPr>
            <p:cNvPr id="37" name="TextBox 37"/>
            <p:cNvSpPr txBox="1"/>
            <p:nvPr/>
          </p:nvSpPr>
          <p:spPr>
            <a:xfrm>
              <a:off x="832104" y="4728210"/>
              <a:ext cx="283921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kümeleri, bir sonraki seviyenin aday</a:t>
              </a:r>
            </a:p>
          </p:txBody>
        </p:sp>
        <p:sp>
          <p:nvSpPr>
            <p:cNvPr id="38" name="TextBox 38"/>
            <p:cNvSpPr txBox="1"/>
            <p:nvPr/>
          </p:nvSpPr>
          <p:spPr>
            <a:xfrm>
              <a:off x="832104" y="4937760"/>
              <a:ext cx="320268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üretiminden tamamen dışlanır; gereksiz</a:t>
              </a:r>
            </a:p>
          </p:txBody>
        </p:sp>
        <p:sp>
          <p:nvSpPr>
            <p:cNvPr id="39" name="TextBox 39"/>
            <p:cNvSpPr txBox="1"/>
            <p:nvPr/>
          </p:nvSpPr>
          <p:spPr>
            <a:xfrm>
              <a:off x="832104" y="5147310"/>
              <a:ext cx="260497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destek hesaplarından kaçınılır.</a:t>
              </a:r>
            </a:p>
          </p:txBody>
        </p:sp>
        <p:sp>
          <p:nvSpPr>
            <p:cNvPr id="40" name="TextBox 40"/>
            <p:cNvSpPr txBox="1"/>
            <p:nvPr/>
          </p:nvSpPr>
          <p:spPr>
            <a:xfrm>
              <a:off x="832104" y="5452110"/>
              <a:ext cx="372474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Apriori olmadan analistler kaba kuvvet aramaya</a:t>
              </a:r>
            </a:p>
          </p:txBody>
        </p:sp>
        <p:sp>
          <p:nvSpPr>
            <p:cNvPr id="41" name="TextBox 41"/>
            <p:cNvSpPr txBox="1"/>
            <p:nvPr/>
          </p:nvSpPr>
          <p:spPr>
            <a:xfrm>
              <a:off x="832104" y="5623560"/>
              <a:ext cx="268574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ya da öznel sezgiye mahkûm kalır.</a:t>
              </a:r>
            </a:p>
          </p:txBody>
        </p:sp>
      </p:grpSp>
      <p:grpSp>
        <p:nvGrpSpPr>
          <p:cNvPr id="50" name="mistake-note"/>
          <p:cNvGrpSpPr/>
          <p:nvPr/>
        </p:nvGrpSpPr>
        <p:grpSpPr>
          <a:xfrm>
            <a:off x="6248400" y="4038600"/>
            <a:ext cx="5334000" cy="1809750"/>
            <a:chOff x="6248400" y="4038600"/>
            <a:chExt cx="5334000" cy="1809750"/>
          </a:xfrm>
        </p:grpSpPr>
        <p:sp>
          <p:nvSpPr>
            <p:cNvPr id="43" name="Rectangle 43"/>
            <p:cNvSpPr/>
            <p:nvPr/>
          </p:nvSpPr>
          <p:spPr>
            <a:xfrm>
              <a:off x="6248400" y="4038600"/>
              <a:ext cx="5334000" cy="1809750"/>
            </a:xfrm>
            <a:prstGeom prst="roundRect">
              <a:avLst>
                <a:gd name="adj" fmla="val 5263"/>
              </a:avLst>
            </a:prstGeom>
            <a:solidFill>
              <a:srgbClr val="EAF4F6"/>
            </a:solidFill>
            <a:ln>
              <a:noFill/>
            </a:ln>
          </p:spPr>
        </p:sp>
        <p:sp>
          <p:nvSpPr>
            <p:cNvPr id="44" name="TextBox 44"/>
            <p:cNvSpPr txBox="1"/>
            <p:nvPr/>
          </p:nvSpPr>
          <p:spPr>
            <a:xfrm>
              <a:off x="6469761" y="4208621"/>
              <a:ext cx="1185234"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Yaygın hata</a:t>
              </a:r>
            </a:p>
          </p:txBody>
        </p:sp>
        <p:sp>
          <p:nvSpPr>
            <p:cNvPr id="45" name="TextBox 45"/>
            <p:cNvSpPr txBox="1"/>
            <p:nvPr/>
          </p:nvSpPr>
          <p:spPr>
            <a:xfrm>
              <a:off x="6470904" y="4518660"/>
              <a:ext cx="317037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min_support değerini çok düşük seçmek,</a:t>
              </a:r>
            </a:p>
          </p:txBody>
        </p:sp>
        <p:sp>
          <p:nvSpPr>
            <p:cNvPr id="46" name="TextBox 46"/>
            <p:cNvSpPr txBox="1"/>
            <p:nvPr/>
          </p:nvSpPr>
          <p:spPr>
            <a:xfrm>
              <a:off x="6470904" y="4728210"/>
              <a:ext cx="331576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binlerce anlamsız aday öğe kümesi üretir;</a:t>
              </a:r>
            </a:p>
          </p:txBody>
        </p:sp>
        <p:sp>
          <p:nvSpPr>
            <p:cNvPr id="47" name="TextBox 47"/>
            <p:cNvSpPr txBox="1"/>
            <p:nvPr/>
          </p:nvSpPr>
          <p:spPr>
            <a:xfrm>
              <a:off x="6470904" y="4937760"/>
              <a:ext cx="303306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bu hem hesaplama süresini hem sonraki</a:t>
              </a:r>
            </a:p>
          </p:txBody>
        </p:sp>
        <p:sp>
          <p:nvSpPr>
            <p:cNvPr id="48" name="TextBox 48"/>
            <p:cNvSpPr txBox="1"/>
            <p:nvPr/>
          </p:nvSpPr>
          <p:spPr>
            <a:xfrm>
              <a:off x="6470904" y="5147310"/>
              <a:ext cx="343692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kural üretiminin kombinatoryal patlamasını</a:t>
              </a:r>
            </a:p>
          </p:txBody>
        </p:sp>
        <p:sp>
          <p:nvSpPr>
            <p:cNvPr id="49" name="TextBox 49"/>
            <p:cNvSpPr txBox="1"/>
            <p:nvPr/>
          </p:nvSpPr>
          <p:spPr>
            <a:xfrm>
              <a:off x="6470904" y="5356860"/>
              <a:ext cx="72298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büyütür.</a:t>
              </a:r>
            </a:p>
          </p:txBody>
        </p:sp>
      </p:grpSp>
      <p:sp>
        <p:nvSpPr>
          <p:cNvPr id="51" name="TextBox 5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12 / 25</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10100215" cy="557403"/>
            <a:chOff x="595122" y="282892"/>
            <a:chExt cx="10100215" cy="557403"/>
          </a:xfrm>
        </p:grpSpPr>
        <p:sp>
          <p:nvSpPr>
            <p:cNvPr id="4" name="TextBox 4"/>
            <p:cNvSpPr txBox="1"/>
            <p:nvPr/>
          </p:nvSpPr>
          <p:spPr>
            <a:xfrm>
              <a:off x="595122" y="282892"/>
              <a:ext cx="1010021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apriori(): min_support eşiği aday sayısını belirler</a:t>
              </a:r>
            </a:p>
          </p:txBody>
        </p:sp>
      </p:grpSp>
      <p:grpSp>
        <p:nvGrpSpPr>
          <p:cNvPr id="20" name="bars"/>
          <p:cNvGrpSpPr/>
          <p:nvPr/>
        </p:nvGrpSpPr>
        <p:grpSpPr>
          <a:xfrm>
            <a:off x="602742" y="1187768"/>
            <a:ext cx="5003206" cy="4149566"/>
            <a:chOff x="602742" y="1187768"/>
            <a:chExt cx="5003206" cy="4149566"/>
          </a:xfrm>
        </p:grpSpPr>
        <p:sp>
          <p:nvSpPr>
            <p:cNvPr id="6" name="TextBox 6"/>
            <p:cNvSpPr txBox="1"/>
            <p:nvPr/>
          </p:nvSpPr>
          <p:spPr>
            <a:xfrm>
              <a:off x="602742" y="1187768"/>
              <a:ext cx="3407024"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Eşik düşürüldükçe aday sayısı artar</a:t>
              </a:r>
            </a:p>
          </p:txBody>
        </p:sp>
        <p:sp>
          <p:nvSpPr>
            <p:cNvPr id="7" name="Line 7"/>
            <p:cNvSpPr/>
            <p:nvPr/>
          </p:nvSpPr>
          <p:spPr>
            <a:xfrm>
              <a:off x="1333500" y="1714500"/>
              <a:ext cx="9525" cy="2857500"/>
            </a:xfrm>
            <a:custGeom>
              <a:avLst/>
              <a:gdLst/>
              <a:ahLst/>
              <a:cxnLst/>
              <a:rect l="l" t="t" r="r" b="b"/>
              <a:pathLst>
                <a:path w="9525" h="2857500">
                  <a:moveTo>
                    <a:pt x="0" y="0"/>
                  </a:moveTo>
                  <a:lnTo>
                    <a:pt x="0" y="2857500"/>
                  </a:lnTo>
                </a:path>
              </a:pathLst>
            </a:custGeom>
            <a:noFill/>
            <a:ln w="14288">
              <a:solidFill>
                <a:srgbClr val="52616B"/>
              </a:solidFill>
            </a:ln>
          </p:spPr>
        </p:sp>
        <p:sp>
          <p:nvSpPr>
            <p:cNvPr id="8" name="Line 8"/>
            <p:cNvSpPr/>
            <p:nvPr/>
          </p:nvSpPr>
          <p:spPr>
            <a:xfrm>
              <a:off x="1333500" y="4572000"/>
              <a:ext cx="4000500" cy="9525"/>
            </a:xfrm>
            <a:custGeom>
              <a:avLst/>
              <a:gdLst/>
              <a:ahLst/>
              <a:cxnLst/>
              <a:rect l="l" t="t" r="r" b="b"/>
              <a:pathLst>
                <a:path w="4000500" h="9525">
                  <a:moveTo>
                    <a:pt x="0" y="0"/>
                  </a:moveTo>
                  <a:lnTo>
                    <a:pt x="4000500" y="0"/>
                  </a:lnTo>
                </a:path>
              </a:pathLst>
            </a:custGeom>
            <a:noFill/>
            <a:ln w="14288">
              <a:solidFill>
                <a:srgbClr val="52616B"/>
              </a:solidFill>
            </a:ln>
          </p:spPr>
        </p:sp>
        <p:sp>
          <p:nvSpPr>
            <p:cNvPr id="9" name="Rectangle 9"/>
            <p:cNvSpPr/>
            <p:nvPr/>
          </p:nvSpPr>
          <p:spPr>
            <a:xfrm>
              <a:off x="1714500" y="4191000"/>
              <a:ext cx="762000" cy="381000"/>
            </a:xfrm>
            <a:prstGeom prst="rect">
              <a:avLst/>
            </a:prstGeom>
            <a:solidFill>
              <a:srgbClr val="2E86AB"/>
            </a:solidFill>
            <a:ln>
              <a:noFill/>
            </a:ln>
          </p:spPr>
        </p:sp>
        <p:sp>
          <p:nvSpPr>
            <p:cNvPr id="10" name="TextBox 10"/>
            <p:cNvSpPr txBox="1"/>
            <p:nvPr/>
          </p:nvSpPr>
          <p:spPr>
            <a:xfrm>
              <a:off x="2042758" y="3985260"/>
              <a:ext cx="105484"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4</a:t>
              </a:r>
            </a:p>
          </p:txBody>
        </p:sp>
        <p:sp>
          <p:nvSpPr>
            <p:cNvPr id="11" name="TextBox 11"/>
            <p:cNvSpPr txBox="1"/>
            <p:nvPr/>
          </p:nvSpPr>
          <p:spPr>
            <a:xfrm>
              <a:off x="1965396" y="4660106"/>
              <a:ext cx="260208" cy="220028"/>
            </a:xfrm>
            <a:prstGeom prst="rect">
              <a:avLst/>
            </a:prstGeom>
            <a:noFill/>
            <a:ln>
              <a:noFill/>
            </a:ln>
          </p:spPr>
          <p:txBody>
            <a:bodyPr wrap="none" lIns="0" tIns="0" rIns="0" bIns="0" anchor="t" anchorCtr="0">
              <a:spAutoFit/>
            </a:bodyPr>
            <a:lstStyle/>
            <a:p>
              <a:pPr algn="ctr"/>
              <a:r>
                <a:rPr lang="tr-TR" sz="1120" dirty="0">
                  <a:solidFill>
                    <a:srgbClr val="52616B"/>
                  </a:solidFill>
                  <a:latin typeface="+mn-lt"/>
                  <a:ea typeface="+mn-ea"/>
                  <a:cs typeface="+mn-cs"/>
                </a:rPr>
                <a:t>0,5</a:t>
              </a:r>
            </a:p>
          </p:txBody>
        </p:sp>
        <p:sp>
          <p:nvSpPr>
            <p:cNvPr id="12" name="Rectangle 12"/>
            <p:cNvSpPr/>
            <p:nvPr/>
          </p:nvSpPr>
          <p:spPr>
            <a:xfrm>
              <a:off x="2857500" y="3619500"/>
              <a:ext cx="762000" cy="952500"/>
            </a:xfrm>
            <a:prstGeom prst="rect">
              <a:avLst/>
            </a:prstGeom>
            <a:solidFill>
              <a:srgbClr val="2E86AB"/>
            </a:solidFill>
            <a:ln>
              <a:noFill/>
            </a:ln>
          </p:spPr>
        </p:sp>
        <p:sp>
          <p:nvSpPr>
            <p:cNvPr id="13" name="TextBox 13"/>
            <p:cNvSpPr txBox="1"/>
            <p:nvPr/>
          </p:nvSpPr>
          <p:spPr>
            <a:xfrm>
              <a:off x="3185758" y="3413760"/>
              <a:ext cx="105484"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7</a:t>
              </a:r>
            </a:p>
          </p:txBody>
        </p:sp>
        <p:sp>
          <p:nvSpPr>
            <p:cNvPr id="14" name="TextBox 14"/>
            <p:cNvSpPr txBox="1"/>
            <p:nvPr/>
          </p:nvSpPr>
          <p:spPr>
            <a:xfrm>
              <a:off x="3108396" y="4660106"/>
              <a:ext cx="260208" cy="220028"/>
            </a:xfrm>
            <a:prstGeom prst="rect">
              <a:avLst/>
            </a:prstGeom>
            <a:noFill/>
            <a:ln>
              <a:noFill/>
            </a:ln>
          </p:spPr>
          <p:txBody>
            <a:bodyPr wrap="none" lIns="0" tIns="0" rIns="0" bIns="0" anchor="t" anchorCtr="0">
              <a:spAutoFit/>
            </a:bodyPr>
            <a:lstStyle/>
            <a:p>
              <a:pPr algn="ctr"/>
              <a:r>
                <a:rPr lang="tr-TR" sz="1120" dirty="0">
                  <a:solidFill>
                    <a:srgbClr val="52616B"/>
                  </a:solidFill>
                  <a:latin typeface="+mn-lt"/>
                  <a:ea typeface="+mn-ea"/>
                  <a:cs typeface="+mn-cs"/>
                </a:rPr>
                <a:t>0,3</a:t>
              </a:r>
            </a:p>
          </p:txBody>
        </p:sp>
        <p:sp>
          <p:nvSpPr>
            <p:cNvPr id="15" name="Rectangle 15"/>
            <p:cNvSpPr/>
            <p:nvPr/>
          </p:nvSpPr>
          <p:spPr>
            <a:xfrm>
              <a:off x="4000500" y="1905000"/>
              <a:ext cx="762000" cy="2667000"/>
            </a:xfrm>
            <a:prstGeom prst="rect">
              <a:avLst/>
            </a:prstGeom>
            <a:solidFill>
              <a:srgbClr val="00A6A6"/>
            </a:solidFill>
            <a:ln>
              <a:noFill/>
            </a:ln>
          </p:spPr>
        </p:sp>
        <p:sp>
          <p:nvSpPr>
            <p:cNvPr id="16" name="TextBox 16"/>
            <p:cNvSpPr txBox="1"/>
            <p:nvPr/>
          </p:nvSpPr>
          <p:spPr>
            <a:xfrm>
              <a:off x="4282112" y="1699260"/>
              <a:ext cx="198775"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16</a:t>
              </a:r>
            </a:p>
          </p:txBody>
        </p:sp>
        <p:sp>
          <p:nvSpPr>
            <p:cNvPr id="17" name="TextBox 17"/>
            <p:cNvSpPr txBox="1"/>
            <p:nvPr/>
          </p:nvSpPr>
          <p:spPr>
            <a:xfrm>
              <a:off x="4209933" y="4660106"/>
              <a:ext cx="343134" cy="220028"/>
            </a:xfrm>
            <a:prstGeom prst="rect">
              <a:avLst/>
            </a:prstGeom>
            <a:noFill/>
            <a:ln>
              <a:noFill/>
            </a:ln>
          </p:spPr>
          <p:txBody>
            <a:bodyPr wrap="none" lIns="0" tIns="0" rIns="0" bIns="0" anchor="t" anchorCtr="0">
              <a:spAutoFit/>
            </a:bodyPr>
            <a:lstStyle/>
            <a:p>
              <a:pPr algn="ctr"/>
              <a:r>
                <a:rPr lang="tr-TR" sz="1120" dirty="0">
                  <a:solidFill>
                    <a:srgbClr val="52616B"/>
                  </a:solidFill>
                  <a:latin typeface="+mn-lt"/>
                  <a:ea typeface="+mn-ea"/>
                  <a:cs typeface="+mn-cs"/>
                </a:rPr>
                <a:t>0,15</a:t>
              </a:r>
            </a:p>
          </p:txBody>
        </p:sp>
        <p:sp>
          <p:nvSpPr>
            <p:cNvPr id="18" name="TextBox 18"/>
            <p:cNvSpPr txBox="1"/>
            <p:nvPr/>
          </p:nvSpPr>
          <p:spPr>
            <a:xfrm>
              <a:off x="2432665" y="4926806"/>
              <a:ext cx="1421171" cy="220028"/>
            </a:xfrm>
            <a:prstGeom prst="rect">
              <a:avLst/>
            </a:prstGeom>
            <a:noFill/>
            <a:ln>
              <a:noFill/>
            </a:ln>
          </p:spPr>
          <p:txBody>
            <a:bodyPr wrap="none" lIns="0" tIns="0" rIns="0" bIns="0" anchor="t" anchorCtr="0">
              <a:spAutoFit/>
            </a:bodyPr>
            <a:lstStyle/>
            <a:p>
              <a:pPr algn="ctr"/>
              <a:r>
                <a:rPr lang="tr-TR" sz="1120" dirty="0">
                  <a:solidFill>
                    <a:srgbClr val="172B3A"/>
                  </a:solidFill>
                  <a:latin typeface="+mn-lt"/>
                  <a:ea typeface="+mn-ea"/>
                  <a:cs typeface="+mn-cs"/>
                </a:rPr>
                <a:t>min_support değeri</a:t>
              </a:r>
            </a:p>
          </p:txBody>
        </p:sp>
        <p:sp>
          <p:nvSpPr>
            <p:cNvPr id="19" name="TextBox 19"/>
            <p:cNvSpPr txBox="1"/>
            <p:nvPr/>
          </p:nvSpPr>
          <p:spPr>
            <a:xfrm>
              <a:off x="603885" y="5117306"/>
              <a:ext cx="5002063"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min_support=0,5 → 4 · min_support=0,3 → 7 · min_support=0,15 → 16</a:t>
              </a:r>
            </a:p>
          </p:txBody>
        </p:sp>
      </p:grpSp>
      <p:grpSp>
        <p:nvGrpSpPr>
          <p:cNvPr id="44" name="top5"/>
          <p:cNvGrpSpPr/>
          <p:nvPr/>
        </p:nvGrpSpPr>
        <p:grpSpPr>
          <a:xfrm>
            <a:off x="6241542" y="1187768"/>
            <a:ext cx="5340858" cy="3689032"/>
            <a:chOff x="6241542" y="1187768"/>
            <a:chExt cx="5340858" cy="3689032"/>
          </a:xfrm>
        </p:grpSpPr>
        <p:sp>
          <p:nvSpPr>
            <p:cNvPr id="21" name="TextBox 21"/>
            <p:cNvSpPr txBox="1"/>
            <p:nvPr/>
          </p:nvSpPr>
          <p:spPr>
            <a:xfrm>
              <a:off x="6241542" y="1187768"/>
              <a:ext cx="3610746"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min_support=0,3 — destek azalan, ilk 5</a:t>
              </a:r>
            </a:p>
          </p:txBody>
        </p:sp>
        <p:sp>
          <p:nvSpPr>
            <p:cNvPr id="22" name="Rectangle 22"/>
            <p:cNvSpPr/>
            <p:nvPr/>
          </p:nvSpPr>
          <p:spPr>
            <a:xfrm>
              <a:off x="6248400" y="1485900"/>
              <a:ext cx="5334000" cy="342900"/>
            </a:xfrm>
            <a:prstGeom prst="rect">
              <a:avLst/>
            </a:prstGeom>
            <a:solidFill>
              <a:srgbClr val="12355B"/>
            </a:solidFill>
            <a:ln>
              <a:noFill/>
            </a:ln>
          </p:spPr>
        </p:sp>
        <p:sp>
          <p:nvSpPr>
            <p:cNvPr id="23" name="TextBox 23"/>
            <p:cNvSpPr txBox="1"/>
            <p:nvPr/>
          </p:nvSpPr>
          <p:spPr>
            <a:xfrm>
              <a:off x="6395085" y="1593056"/>
              <a:ext cx="923075" cy="220028"/>
            </a:xfrm>
            <a:prstGeom prst="rect">
              <a:avLst/>
            </a:prstGeom>
            <a:noFill/>
            <a:ln>
              <a:noFill/>
            </a:ln>
          </p:spPr>
          <p:txBody>
            <a:bodyPr wrap="none" lIns="0" tIns="0" rIns="0" bIns="0" anchor="t" anchorCtr="0">
              <a:spAutoFit/>
            </a:bodyPr>
            <a:lstStyle/>
            <a:p>
              <a:pPr algn="l"/>
              <a:r>
                <a:rPr lang="tr-TR" sz="1120" b="1" dirty="0">
                  <a:solidFill>
                    <a:srgbClr val="FFFFFF"/>
                  </a:solidFill>
                  <a:latin typeface="+mn-lt"/>
                  <a:ea typeface="+mn-ea"/>
                  <a:cs typeface="+mn-cs"/>
                </a:rPr>
                <a:t>ÖĞE KÜMESİ</a:t>
              </a:r>
            </a:p>
          </p:txBody>
        </p:sp>
        <p:sp>
          <p:nvSpPr>
            <p:cNvPr id="24" name="TextBox 24"/>
            <p:cNvSpPr txBox="1"/>
            <p:nvPr/>
          </p:nvSpPr>
          <p:spPr>
            <a:xfrm>
              <a:off x="9519285" y="1593056"/>
              <a:ext cx="563435" cy="220028"/>
            </a:xfrm>
            <a:prstGeom prst="rect">
              <a:avLst/>
            </a:prstGeom>
            <a:noFill/>
            <a:ln>
              <a:noFill/>
            </a:ln>
          </p:spPr>
          <p:txBody>
            <a:bodyPr wrap="none" lIns="0" tIns="0" rIns="0" bIns="0" anchor="t" anchorCtr="0">
              <a:spAutoFit/>
            </a:bodyPr>
            <a:lstStyle/>
            <a:p>
              <a:pPr algn="l"/>
              <a:r>
                <a:rPr lang="tr-TR" sz="1120" b="1" dirty="0">
                  <a:solidFill>
                    <a:srgbClr val="FFFFFF"/>
                  </a:solidFill>
                  <a:latin typeface="+mn-lt"/>
                  <a:ea typeface="+mn-ea"/>
                  <a:cs typeface="+mn-cs"/>
                </a:rPr>
                <a:t>DESTEK</a:t>
              </a:r>
            </a:p>
          </p:txBody>
        </p:sp>
        <p:sp>
          <p:nvSpPr>
            <p:cNvPr id="25" name="Rectangle 25"/>
            <p:cNvSpPr/>
            <p:nvPr/>
          </p:nvSpPr>
          <p:spPr>
            <a:xfrm>
              <a:off x="6248400" y="1828800"/>
              <a:ext cx="5334000" cy="381000"/>
            </a:xfrm>
            <a:prstGeom prst="rect">
              <a:avLst/>
            </a:prstGeom>
            <a:solidFill>
              <a:srgbClr val="EAF4F6"/>
            </a:solidFill>
            <a:ln>
              <a:noFill/>
            </a:ln>
          </p:spPr>
        </p:sp>
        <p:sp>
          <p:nvSpPr>
            <p:cNvPr id="26" name="TextBox 26"/>
            <p:cNvSpPr txBox="1"/>
            <p:nvPr/>
          </p:nvSpPr>
          <p:spPr>
            <a:xfrm>
              <a:off x="6394704" y="1946910"/>
              <a:ext cx="4564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{süt}</a:t>
              </a:r>
            </a:p>
          </p:txBody>
        </p:sp>
        <p:sp>
          <p:nvSpPr>
            <p:cNvPr id="27" name="TextBox 27"/>
            <p:cNvSpPr txBox="1"/>
            <p:nvPr/>
          </p:nvSpPr>
          <p:spPr>
            <a:xfrm>
              <a:off x="9518904" y="1946910"/>
              <a:ext cx="4564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0,667</a:t>
              </a:r>
            </a:p>
          </p:txBody>
        </p:sp>
        <p:sp>
          <p:nvSpPr>
            <p:cNvPr id="28" name="Rectangle 28"/>
            <p:cNvSpPr/>
            <p:nvPr/>
          </p:nvSpPr>
          <p:spPr>
            <a:xfrm>
              <a:off x="6248400" y="2209800"/>
              <a:ext cx="5334000" cy="381000"/>
            </a:xfrm>
            <a:prstGeom prst="rect">
              <a:avLst/>
            </a:prstGeom>
            <a:solidFill>
              <a:srgbClr val="FFFFFF"/>
            </a:solidFill>
            <a:ln>
              <a:noFill/>
            </a:ln>
          </p:spPr>
        </p:sp>
        <p:sp>
          <p:nvSpPr>
            <p:cNvPr id="29" name="TextBox 29"/>
            <p:cNvSpPr txBox="1"/>
            <p:nvPr/>
          </p:nvSpPr>
          <p:spPr>
            <a:xfrm>
              <a:off x="6394704" y="2327910"/>
              <a:ext cx="66644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{ekmek}</a:t>
              </a:r>
            </a:p>
          </p:txBody>
        </p:sp>
        <p:sp>
          <p:nvSpPr>
            <p:cNvPr id="30" name="TextBox 30"/>
            <p:cNvSpPr txBox="1"/>
            <p:nvPr/>
          </p:nvSpPr>
          <p:spPr>
            <a:xfrm>
              <a:off x="9518904" y="2327910"/>
              <a:ext cx="4564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0,611</a:t>
              </a:r>
            </a:p>
          </p:txBody>
        </p:sp>
        <p:sp>
          <p:nvSpPr>
            <p:cNvPr id="31" name="Rectangle 31"/>
            <p:cNvSpPr/>
            <p:nvPr/>
          </p:nvSpPr>
          <p:spPr>
            <a:xfrm>
              <a:off x="6248400" y="2590800"/>
              <a:ext cx="5334000" cy="381000"/>
            </a:xfrm>
            <a:prstGeom prst="rect">
              <a:avLst/>
            </a:prstGeom>
            <a:solidFill>
              <a:srgbClr val="EAF4F6"/>
            </a:solidFill>
            <a:ln>
              <a:noFill/>
            </a:ln>
          </p:spPr>
        </p:sp>
        <p:sp>
          <p:nvSpPr>
            <p:cNvPr id="32" name="TextBox 32"/>
            <p:cNvSpPr txBox="1"/>
            <p:nvPr/>
          </p:nvSpPr>
          <p:spPr>
            <a:xfrm>
              <a:off x="6394704" y="2708910"/>
              <a:ext cx="84414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{yumurta}</a:t>
              </a:r>
            </a:p>
          </p:txBody>
        </p:sp>
        <p:sp>
          <p:nvSpPr>
            <p:cNvPr id="33" name="TextBox 33"/>
            <p:cNvSpPr txBox="1"/>
            <p:nvPr/>
          </p:nvSpPr>
          <p:spPr>
            <a:xfrm>
              <a:off x="9518904" y="2708910"/>
              <a:ext cx="4564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0,556</a:t>
              </a:r>
            </a:p>
          </p:txBody>
        </p:sp>
        <p:sp>
          <p:nvSpPr>
            <p:cNvPr id="34" name="Rectangle 34"/>
            <p:cNvSpPr/>
            <p:nvPr/>
          </p:nvSpPr>
          <p:spPr>
            <a:xfrm>
              <a:off x="6248400" y="2971800"/>
              <a:ext cx="5334000" cy="381000"/>
            </a:xfrm>
            <a:prstGeom prst="rect">
              <a:avLst/>
            </a:prstGeom>
            <a:solidFill>
              <a:srgbClr val="FFFFFF"/>
            </a:solidFill>
            <a:ln>
              <a:noFill/>
            </a:ln>
          </p:spPr>
        </p:sp>
        <p:sp>
          <p:nvSpPr>
            <p:cNvPr id="35" name="TextBox 35"/>
            <p:cNvSpPr txBox="1"/>
            <p:nvPr/>
          </p:nvSpPr>
          <p:spPr>
            <a:xfrm>
              <a:off x="6394704" y="3089910"/>
              <a:ext cx="124800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{süt, yumurta}</a:t>
              </a:r>
            </a:p>
          </p:txBody>
        </p:sp>
        <p:sp>
          <p:nvSpPr>
            <p:cNvPr id="36" name="TextBox 36"/>
            <p:cNvSpPr txBox="1"/>
            <p:nvPr/>
          </p:nvSpPr>
          <p:spPr>
            <a:xfrm>
              <a:off x="9518904" y="3089910"/>
              <a:ext cx="4564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0,500</a:t>
              </a:r>
            </a:p>
          </p:txBody>
        </p:sp>
        <p:sp>
          <p:nvSpPr>
            <p:cNvPr id="37" name="Rectangle 37"/>
            <p:cNvSpPr/>
            <p:nvPr/>
          </p:nvSpPr>
          <p:spPr>
            <a:xfrm>
              <a:off x="6248400" y="3352800"/>
              <a:ext cx="5334000" cy="381000"/>
            </a:xfrm>
            <a:prstGeom prst="rect">
              <a:avLst/>
            </a:prstGeom>
            <a:solidFill>
              <a:srgbClr val="EAF4F6"/>
            </a:solidFill>
            <a:ln>
              <a:noFill/>
            </a:ln>
          </p:spPr>
        </p:sp>
        <p:sp>
          <p:nvSpPr>
            <p:cNvPr id="38" name="TextBox 38"/>
            <p:cNvSpPr txBox="1"/>
            <p:nvPr/>
          </p:nvSpPr>
          <p:spPr>
            <a:xfrm>
              <a:off x="6394704" y="3470910"/>
              <a:ext cx="90068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{tereyağı}</a:t>
              </a:r>
            </a:p>
          </p:txBody>
        </p:sp>
        <p:sp>
          <p:nvSpPr>
            <p:cNvPr id="39" name="TextBox 39"/>
            <p:cNvSpPr txBox="1"/>
            <p:nvPr/>
          </p:nvSpPr>
          <p:spPr>
            <a:xfrm>
              <a:off x="9518904" y="3470910"/>
              <a:ext cx="4564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0,389</a:t>
              </a:r>
            </a:p>
          </p:txBody>
        </p:sp>
        <p:sp>
          <p:nvSpPr>
            <p:cNvPr id="40" name="Rectangle 40"/>
            <p:cNvSpPr/>
            <p:nvPr/>
          </p:nvSpPr>
          <p:spPr>
            <a:xfrm>
              <a:off x="6248400" y="3924300"/>
              <a:ext cx="5334000" cy="952500"/>
            </a:xfrm>
            <a:prstGeom prst="roundRect">
              <a:avLst>
                <a:gd name="adj" fmla="val 8000"/>
              </a:avLst>
            </a:prstGeom>
            <a:solidFill>
              <a:srgbClr val="FFFFFF"/>
            </a:solidFill>
            <a:ln w="14288">
              <a:solidFill>
                <a:srgbClr val="B8CBD3"/>
              </a:solidFill>
            </a:ln>
          </p:spPr>
        </p:sp>
        <p:sp>
          <p:nvSpPr>
            <p:cNvPr id="41" name="TextBox 41"/>
            <p:cNvSpPr txBox="1"/>
            <p:nvPr/>
          </p:nvSpPr>
          <p:spPr>
            <a:xfrm>
              <a:off x="6470904" y="4061460"/>
              <a:ext cx="159562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use_colnames=True</a:t>
              </a:r>
            </a:p>
          </p:txBody>
        </p:sp>
        <p:sp>
          <p:nvSpPr>
            <p:cNvPr id="42" name="TextBox 42"/>
            <p:cNvSpPr txBox="1"/>
            <p:nvPr/>
          </p:nvSpPr>
          <p:spPr>
            <a:xfrm>
              <a:off x="6471285" y="4298156"/>
              <a:ext cx="308425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Sonuçta sütun indeksleri yerine okunabilir</a:t>
              </a:r>
            </a:p>
          </p:txBody>
        </p:sp>
        <p:sp>
          <p:nvSpPr>
            <p:cNvPr id="43" name="TextBox 43"/>
            <p:cNvSpPr txBox="1"/>
            <p:nvPr/>
          </p:nvSpPr>
          <p:spPr>
            <a:xfrm>
              <a:off x="6471285" y="4488656"/>
              <a:ext cx="397679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ürün adları görünür — hata ayıklamayı kolaylaştırır.</a:t>
              </a:r>
            </a:p>
          </p:txBody>
        </p:sp>
      </p:grpSp>
      <p:grpSp>
        <p:nvGrpSpPr>
          <p:cNvPr id="48" name="mistake"/>
          <p:cNvGrpSpPr/>
          <p:nvPr/>
        </p:nvGrpSpPr>
        <p:grpSpPr>
          <a:xfrm>
            <a:off x="609600" y="5334000"/>
            <a:ext cx="10972800" cy="628650"/>
            <a:chOff x="609600" y="5334000"/>
            <a:chExt cx="10972800" cy="628650"/>
          </a:xfrm>
        </p:grpSpPr>
        <p:sp>
          <p:nvSpPr>
            <p:cNvPr id="45" name="Rectangle 45"/>
            <p:cNvSpPr/>
            <p:nvPr/>
          </p:nvSpPr>
          <p:spPr>
            <a:xfrm>
              <a:off x="609600" y="5334000"/>
              <a:ext cx="10972800" cy="628650"/>
            </a:xfrm>
            <a:prstGeom prst="roundRect">
              <a:avLst>
                <a:gd name="adj" fmla="val 12121"/>
              </a:avLst>
            </a:prstGeom>
            <a:solidFill>
              <a:srgbClr val="EAF4F6"/>
            </a:solidFill>
            <a:ln>
              <a:noFill/>
            </a:ln>
          </p:spPr>
        </p:sp>
        <p:sp>
          <p:nvSpPr>
            <p:cNvPr id="46" name="TextBox 46"/>
            <p:cNvSpPr txBox="1"/>
            <p:nvPr/>
          </p:nvSpPr>
          <p:spPr>
            <a:xfrm>
              <a:off x="908304" y="5452110"/>
              <a:ext cx="1001564"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Yaygın hata</a:t>
              </a:r>
            </a:p>
          </p:txBody>
        </p:sp>
        <p:sp>
          <p:nvSpPr>
            <p:cNvPr id="47" name="TextBox 47"/>
            <p:cNvSpPr txBox="1"/>
            <p:nvPr/>
          </p:nvSpPr>
          <p:spPr>
            <a:xfrm>
              <a:off x="908685" y="5688806"/>
              <a:ext cx="828649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use_colnames=False bırakıp itemsets sütununu sütun indeksleriyle yorumlamaya çalışmak — hataya çok açıktır.</a:t>
              </a:r>
            </a:p>
          </p:txBody>
        </p:sp>
      </p:grpSp>
      <p:sp>
        <p:nvSpPr>
          <p:cNvPr id="49" name="TextBox 4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13 / 25</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10518765" cy="668845"/>
            <a:chOff x="609600" y="171450"/>
            <a:chExt cx="10518765"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77240" y="324326"/>
                <a:ext cx="236220" cy="265748"/>
                <a:chOff x="777240" y="324326"/>
                <a:chExt cx="236220" cy="265748"/>
              </a:xfrm>
            </p:grpSpPr>
            <p:sp>
              <p:nvSpPr>
                <p:cNvPr id="5" name="Freeform 5"/>
                <p:cNvSpPr/>
                <p:nvPr/>
              </p:nvSpPr>
              <p:spPr>
                <a:xfrm>
                  <a:off x="777240" y="324326"/>
                  <a:ext cx="236220" cy="88583"/>
                </a:xfrm>
                <a:custGeom>
                  <a:avLst/>
                  <a:gdLst/>
                  <a:ahLst/>
                  <a:cxnLst/>
                  <a:rect l="l" t="t" r="r" b="b"/>
                  <a:pathLst>
                    <a:path w="236220" h="88583">
                      <a:moveTo>
                        <a:pt x="0" y="44291"/>
                      </a:moveTo>
                      <a:cubicBezTo>
                        <a:pt x="0" y="68753"/>
                        <a:pt x="52880" y="88583"/>
                        <a:pt x="118110" y="88583"/>
                      </a:cubicBezTo>
                      <a:cubicBezTo>
                        <a:pt x="183340" y="88583"/>
                        <a:pt x="236220" y="68753"/>
                        <a:pt x="236220" y="44291"/>
                      </a:cubicBezTo>
                      <a:cubicBezTo>
                        <a:pt x="236220" y="19830"/>
                        <a:pt x="183340" y="0"/>
                        <a:pt x="118110" y="0"/>
                      </a:cubicBezTo>
                      <a:cubicBezTo>
                        <a:pt x="52880" y="0"/>
                        <a:pt x="0" y="19830"/>
                        <a:pt x="0" y="44291"/>
                      </a:cubicBezTo>
                    </a:path>
                  </a:pathLst>
                </a:custGeom>
                <a:noFill/>
                <a:ln w="24759" cap="rnd">
                  <a:solidFill>
                    <a:srgbClr val="FFFFFF"/>
                  </a:solidFill>
                  <a:round/>
                </a:ln>
              </p:spPr>
            </p:sp>
            <p:sp>
              <p:nvSpPr>
                <p:cNvPr id="6" name="Freeform 6"/>
                <p:cNvSpPr/>
                <p:nvPr/>
              </p:nvSpPr>
              <p:spPr>
                <a:xfrm>
                  <a:off x="777240" y="368618"/>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sp>
              <p:nvSpPr>
                <p:cNvPr id="7" name="Freeform 7"/>
                <p:cNvSpPr/>
                <p:nvPr/>
              </p:nvSpPr>
              <p:spPr>
                <a:xfrm>
                  <a:off x="777240" y="457200"/>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grpSp>
        </p:grpSp>
        <p:sp>
          <p:nvSpPr>
            <p:cNvPr id="10" name="TextBox 10"/>
            <p:cNvSpPr txBox="1"/>
            <p:nvPr/>
          </p:nvSpPr>
          <p:spPr>
            <a:xfrm>
              <a:off x="1299972" y="282892"/>
              <a:ext cx="982839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FP-Growth: veritabanını FP-ağacına sıkıştırma</a:t>
              </a:r>
            </a:p>
          </p:txBody>
        </p:sp>
      </p:grpSp>
      <p:grpSp>
        <p:nvGrpSpPr>
          <p:cNvPr id="20" name="definition"/>
          <p:cNvGrpSpPr/>
          <p:nvPr/>
        </p:nvGrpSpPr>
        <p:grpSpPr>
          <a:xfrm>
            <a:off x="601599" y="1163479"/>
            <a:ext cx="4444225" cy="2002822"/>
            <a:chOff x="601599" y="1163479"/>
            <a:chExt cx="4444225" cy="2002822"/>
          </a:xfrm>
        </p:grpSpPr>
        <p:sp>
          <p:nvSpPr>
            <p:cNvPr id="12" name="TextBox 12"/>
            <p:cNvSpPr txBox="1"/>
            <p:nvPr/>
          </p:nvSpPr>
          <p:spPr>
            <a:xfrm>
              <a:off x="601599" y="1163479"/>
              <a:ext cx="6822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Tanım</a:t>
              </a:r>
            </a:p>
          </p:txBody>
        </p:sp>
        <p:sp>
          <p:nvSpPr>
            <p:cNvPr id="13" name="TextBox 13"/>
            <p:cNvSpPr txBox="1"/>
            <p:nvPr/>
          </p:nvSpPr>
          <p:spPr>
            <a:xfrm>
              <a:off x="602742" y="1454468"/>
              <a:ext cx="4199438"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Veritabanını tek bir geçişte sıkıştırılmış bir</a:t>
              </a:r>
            </a:p>
          </p:txBody>
        </p:sp>
        <p:sp>
          <p:nvSpPr>
            <p:cNvPr id="14" name="TextBox 14"/>
            <p:cNvSpPr txBox="1"/>
            <p:nvPr/>
          </p:nvSpPr>
          <p:spPr>
            <a:xfrm>
              <a:off x="602742" y="1664018"/>
              <a:ext cx="444308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FP-ağacına (frequent pattern tree) dönüştürüp,</a:t>
              </a:r>
            </a:p>
          </p:txBody>
        </p:sp>
        <p:sp>
          <p:nvSpPr>
            <p:cNvPr id="15" name="TextBox 15"/>
            <p:cNvSpPr txBox="1"/>
            <p:nvPr/>
          </p:nvSpPr>
          <p:spPr>
            <a:xfrm>
              <a:off x="602742" y="1873568"/>
              <a:ext cx="3421285"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hiçbir aday öğe kümesi üretmeden ağaç</a:t>
              </a:r>
            </a:p>
          </p:txBody>
        </p:sp>
        <p:sp>
          <p:nvSpPr>
            <p:cNvPr id="16" name="TextBox 16"/>
            <p:cNvSpPr txBox="1"/>
            <p:nvPr/>
          </p:nvSpPr>
          <p:spPr>
            <a:xfrm>
              <a:off x="602742" y="2083118"/>
              <a:ext cx="3121419"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üzerinde özyinelemeli arama yapar.</a:t>
              </a:r>
            </a:p>
          </p:txBody>
        </p:sp>
        <p:sp>
          <p:nvSpPr>
            <p:cNvPr id="17" name="TextBox 17"/>
            <p:cNvSpPr txBox="1"/>
            <p:nvPr/>
          </p:nvSpPr>
          <p:spPr>
            <a:xfrm>
              <a:off x="602742" y="2387918"/>
              <a:ext cx="409053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Ortak önekleri paylaşan işlemler, ağaçta aynı</a:t>
              </a:r>
            </a:p>
          </p:txBody>
        </p:sp>
        <p:sp>
          <p:nvSpPr>
            <p:cNvPr id="18" name="TextBox 18"/>
            <p:cNvSpPr txBox="1"/>
            <p:nvPr/>
          </p:nvSpPr>
          <p:spPr>
            <a:xfrm>
              <a:off x="602742" y="2597468"/>
              <a:ext cx="417549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dalları paylaşır; kök düğüm her zaman boştur.</a:t>
              </a:r>
            </a:p>
          </p:txBody>
        </p:sp>
        <p:sp>
          <p:nvSpPr>
            <p:cNvPr id="19" name="TextBox 19"/>
            <p:cNvSpPr txBox="1"/>
            <p:nvPr/>
          </p:nvSpPr>
          <p:spPr>
            <a:xfrm>
              <a:off x="602742" y="2902268"/>
              <a:ext cx="3933328"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2000'de Han, Pei ve Yin tarafından önerildi.</a:t>
              </a:r>
            </a:p>
          </p:txBody>
        </p:sp>
      </p:grpSp>
      <p:grpSp>
        <p:nvGrpSpPr>
          <p:cNvPr id="28" name="analogy"/>
          <p:cNvGrpSpPr/>
          <p:nvPr/>
        </p:nvGrpSpPr>
        <p:grpSpPr>
          <a:xfrm>
            <a:off x="609600" y="3390900"/>
            <a:ext cx="5905500" cy="1600200"/>
            <a:chOff x="609600" y="3390900"/>
            <a:chExt cx="5905500" cy="1600200"/>
          </a:xfrm>
        </p:grpSpPr>
        <p:sp>
          <p:nvSpPr>
            <p:cNvPr id="21" name="Rectangle 21"/>
            <p:cNvSpPr/>
            <p:nvPr/>
          </p:nvSpPr>
          <p:spPr>
            <a:xfrm>
              <a:off x="609600" y="3390900"/>
              <a:ext cx="5905500" cy="1600200"/>
            </a:xfrm>
            <a:prstGeom prst="roundRect">
              <a:avLst>
                <a:gd name="adj" fmla="val 5952"/>
              </a:avLst>
            </a:prstGeom>
            <a:solidFill>
              <a:srgbClr val="FFFFFF"/>
            </a:solidFill>
            <a:ln w="14288">
              <a:solidFill>
                <a:srgbClr val="B8CBD3"/>
              </a:solidFill>
            </a:ln>
          </p:spPr>
        </p:sp>
        <p:sp>
          <p:nvSpPr>
            <p:cNvPr id="22" name="TextBox 22"/>
            <p:cNvSpPr txBox="1"/>
            <p:nvPr/>
          </p:nvSpPr>
          <p:spPr>
            <a:xfrm>
              <a:off x="830580" y="3533775"/>
              <a:ext cx="3552882"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Benzetme: posta dağıtım merkezi</a:t>
              </a:r>
            </a:p>
          </p:txBody>
        </p:sp>
        <p:sp>
          <p:nvSpPr>
            <p:cNvPr id="23" name="TextBox 23"/>
            <p:cNvSpPr txBox="1"/>
            <p:nvPr/>
          </p:nvSpPr>
          <p:spPr>
            <a:xfrm>
              <a:off x="831723" y="3824764"/>
              <a:ext cx="3887157"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Apriori her turda tüm adresleri baştan tarar;</a:t>
              </a:r>
            </a:p>
          </p:txBody>
        </p:sp>
        <p:sp>
          <p:nvSpPr>
            <p:cNvPr id="24" name="TextBox 24"/>
            <p:cNvSpPr txBox="1"/>
            <p:nvPr/>
          </p:nvSpPr>
          <p:spPr>
            <a:xfrm>
              <a:off x="831723" y="4034314"/>
              <a:ext cx="3502414"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FP-Growth önce adresleri ortak güzergâh</a:t>
              </a:r>
            </a:p>
          </p:txBody>
        </p:sp>
        <p:sp>
          <p:nvSpPr>
            <p:cNvPr id="25" name="TextBox 25"/>
            <p:cNvSpPr txBox="1"/>
            <p:nvPr/>
          </p:nvSpPr>
          <p:spPr>
            <a:xfrm>
              <a:off x="831723" y="4243864"/>
              <a:ext cx="4019245"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segmentlerine göre bir kez gruplandırır, sonra</a:t>
              </a:r>
            </a:p>
          </p:txBody>
        </p:sp>
        <p:sp>
          <p:nvSpPr>
            <p:cNvPr id="26" name="TextBox 26"/>
            <p:cNvSpPr txBox="1"/>
            <p:nvPr/>
          </p:nvSpPr>
          <p:spPr>
            <a:xfrm>
              <a:off x="831723" y="4453414"/>
              <a:ext cx="4131249"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her segmeni yalnızca kendi dalı üzerinde inceler.</a:t>
              </a:r>
            </a:p>
          </p:txBody>
        </p:sp>
        <p:sp>
          <p:nvSpPr>
            <p:cNvPr id="27" name="TextBox 27"/>
            <p:cNvSpPr txBox="1"/>
            <p:nvPr/>
          </p:nvSpPr>
          <p:spPr>
            <a:xfrm>
              <a:off x="831723" y="4662964"/>
              <a:ext cx="3017063"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Aynı sokak tekrar tekrar geçilmez.</a:t>
              </a:r>
            </a:p>
          </p:txBody>
        </p:sp>
      </p:grpSp>
      <p:grpSp>
        <p:nvGrpSpPr>
          <p:cNvPr id="49" name="tree"/>
          <p:cNvGrpSpPr/>
          <p:nvPr/>
        </p:nvGrpSpPr>
        <p:grpSpPr>
          <a:xfrm>
            <a:off x="7143750" y="1187768"/>
            <a:ext cx="4133774" cy="3997166"/>
            <a:chOff x="7143750" y="1187768"/>
            <a:chExt cx="4133774" cy="3997166"/>
          </a:xfrm>
        </p:grpSpPr>
        <p:sp>
          <p:nvSpPr>
            <p:cNvPr id="29" name="TextBox 29"/>
            <p:cNvSpPr txBox="1"/>
            <p:nvPr/>
          </p:nvSpPr>
          <p:spPr>
            <a:xfrm>
              <a:off x="7837568" y="1187768"/>
              <a:ext cx="2727164" cy="264033"/>
            </a:xfrm>
            <a:prstGeom prst="rect">
              <a:avLst/>
            </a:prstGeom>
            <a:noFill/>
            <a:ln>
              <a:noFill/>
            </a:ln>
          </p:spPr>
          <p:txBody>
            <a:bodyPr wrap="none" lIns="0" tIns="0" rIns="0" bIns="0" anchor="t" anchorCtr="0">
              <a:spAutoFit/>
            </a:bodyPr>
            <a:lstStyle/>
            <a:p>
              <a:pPr algn="ctr"/>
              <a:r>
                <a:rPr lang="tr-TR" sz="1350" b="1" dirty="0">
                  <a:solidFill>
                    <a:srgbClr val="12355B"/>
                  </a:solidFill>
                  <a:latin typeface="+mn-lt"/>
                  <a:ea typeface="+mn-ea"/>
                  <a:cs typeface="+mn-cs"/>
                </a:rPr>
                <a:t>FP-ağacı: ortak önek dalları</a:t>
              </a:r>
            </a:p>
          </p:txBody>
        </p:sp>
        <p:sp>
          <p:nvSpPr>
            <p:cNvPr id="30" name="Ellipse 30"/>
            <p:cNvSpPr/>
            <p:nvPr/>
          </p:nvSpPr>
          <p:spPr>
            <a:xfrm>
              <a:off x="9067800" y="1543050"/>
              <a:ext cx="266700" cy="266700"/>
            </a:xfrm>
            <a:prstGeom prst="ellipse">
              <a:avLst/>
            </a:prstGeom>
            <a:solidFill>
              <a:srgbClr val="12355B"/>
            </a:solidFill>
            <a:ln>
              <a:noFill/>
            </a:ln>
          </p:spPr>
        </p:sp>
        <p:sp>
          <p:nvSpPr>
            <p:cNvPr id="31" name="TextBox 31"/>
            <p:cNvSpPr txBox="1"/>
            <p:nvPr/>
          </p:nvSpPr>
          <p:spPr>
            <a:xfrm>
              <a:off x="9163069" y="1626870"/>
              <a:ext cx="76162" cy="176212"/>
            </a:xfrm>
            <a:prstGeom prst="rect">
              <a:avLst/>
            </a:prstGeom>
            <a:noFill/>
            <a:ln>
              <a:noFill/>
            </a:ln>
          </p:spPr>
          <p:txBody>
            <a:bodyPr wrap="none" lIns="0" tIns="0" rIns="0" bIns="0" anchor="t" anchorCtr="0">
              <a:spAutoFit/>
            </a:bodyPr>
            <a:lstStyle/>
            <a:p>
              <a:pPr algn="ctr"/>
              <a:r>
                <a:rPr lang="tr-TR" sz="900" dirty="0">
                  <a:solidFill>
                    <a:srgbClr val="FFFFFF"/>
                  </a:solidFill>
                  <a:latin typeface="+mn-lt"/>
                  <a:ea typeface="+mn-ea"/>
                  <a:cs typeface="+mn-cs"/>
                </a:rPr>
                <a:t>∅</a:t>
              </a:r>
            </a:p>
          </p:txBody>
        </p:sp>
        <p:sp>
          <p:nvSpPr>
            <p:cNvPr id="32" name="Line 32"/>
            <p:cNvSpPr/>
            <p:nvPr/>
          </p:nvSpPr>
          <p:spPr>
            <a:xfrm flipH="1">
              <a:off x="8382000" y="1809750"/>
              <a:ext cx="819150" cy="476250"/>
            </a:xfrm>
            <a:prstGeom prst="line">
              <a:avLst/>
            </a:prstGeom>
            <a:noFill/>
            <a:ln w="19050">
              <a:solidFill>
                <a:srgbClr val="2E86AB"/>
              </a:solidFill>
              <a:tailEnd type="arrow" w="lg" len="lg"/>
            </a:ln>
          </p:spPr>
        </p:sp>
        <p:sp>
          <p:nvSpPr>
            <p:cNvPr id="33" name="Line 33"/>
            <p:cNvSpPr/>
            <p:nvPr/>
          </p:nvSpPr>
          <p:spPr>
            <a:xfrm>
              <a:off x="9201150" y="1809750"/>
              <a:ext cx="1085850" cy="476250"/>
            </a:xfrm>
            <a:prstGeom prst="line">
              <a:avLst/>
            </a:prstGeom>
            <a:noFill/>
            <a:ln w="19050">
              <a:solidFill>
                <a:srgbClr val="2E86AB"/>
              </a:solidFill>
              <a:tailEnd type="arrow" w="lg" len="lg"/>
            </a:ln>
          </p:spPr>
        </p:sp>
        <p:sp>
          <p:nvSpPr>
            <p:cNvPr id="34" name="Rectangle 34"/>
            <p:cNvSpPr/>
            <p:nvPr/>
          </p:nvSpPr>
          <p:spPr>
            <a:xfrm>
              <a:off x="7715250" y="2362200"/>
              <a:ext cx="1333500" cy="400050"/>
            </a:xfrm>
            <a:prstGeom prst="roundRect">
              <a:avLst>
                <a:gd name="adj" fmla="val 14286"/>
              </a:avLst>
            </a:prstGeom>
            <a:solidFill>
              <a:srgbClr val="FFFFFF"/>
            </a:solidFill>
            <a:ln w="14288">
              <a:solidFill>
                <a:srgbClr val="00A6A6"/>
              </a:solidFill>
            </a:ln>
          </p:spPr>
        </p:sp>
        <p:sp>
          <p:nvSpPr>
            <p:cNvPr id="35" name="TextBox 35"/>
            <p:cNvSpPr txBox="1"/>
            <p:nvPr/>
          </p:nvSpPr>
          <p:spPr>
            <a:xfrm>
              <a:off x="8006888" y="2488406"/>
              <a:ext cx="750225" cy="220028"/>
            </a:xfrm>
            <a:prstGeom prst="rect">
              <a:avLst/>
            </a:prstGeom>
            <a:noFill/>
            <a:ln>
              <a:noFill/>
            </a:ln>
          </p:spPr>
          <p:txBody>
            <a:bodyPr wrap="none" lIns="0" tIns="0" rIns="0" bIns="0" anchor="t" anchorCtr="0">
              <a:spAutoFit/>
            </a:bodyPr>
            <a:lstStyle/>
            <a:p>
              <a:pPr algn="ctr"/>
              <a:r>
                <a:rPr lang="tr-TR" sz="1120" dirty="0">
                  <a:solidFill>
                    <a:srgbClr val="12355B"/>
                  </a:solidFill>
                  <a:latin typeface="+mn-lt"/>
                  <a:ea typeface="+mn-ea"/>
                  <a:cs typeface="+mn-cs"/>
                </a:rPr>
                <a:t>ekmek: 11</a:t>
              </a:r>
            </a:p>
          </p:txBody>
        </p:sp>
        <p:sp>
          <p:nvSpPr>
            <p:cNvPr id="36" name="Rectangle 36"/>
            <p:cNvSpPr/>
            <p:nvPr/>
          </p:nvSpPr>
          <p:spPr>
            <a:xfrm>
              <a:off x="9620250" y="2362200"/>
              <a:ext cx="1333500" cy="400050"/>
            </a:xfrm>
            <a:prstGeom prst="roundRect">
              <a:avLst>
                <a:gd name="adj" fmla="val 14286"/>
              </a:avLst>
            </a:prstGeom>
            <a:solidFill>
              <a:srgbClr val="FFFFFF"/>
            </a:solidFill>
            <a:ln w="14288">
              <a:solidFill>
                <a:srgbClr val="B8CBD3"/>
              </a:solidFill>
            </a:ln>
          </p:spPr>
        </p:sp>
        <p:sp>
          <p:nvSpPr>
            <p:cNvPr id="37" name="TextBox 37"/>
            <p:cNvSpPr txBox="1"/>
            <p:nvPr/>
          </p:nvSpPr>
          <p:spPr>
            <a:xfrm>
              <a:off x="9945812" y="2488406"/>
              <a:ext cx="682376" cy="220028"/>
            </a:xfrm>
            <a:prstGeom prst="rect">
              <a:avLst/>
            </a:prstGeom>
            <a:noFill/>
            <a:ln>
              <a:noFill/>
            </a:ln>
          </p:spPr>
          <p:txBody>
            <a:bodyPr wrap="none" lIns="0" tIns="0" rIns="0" bIns="0" anchor="t" anchorCtr="0">
              <a:spAutoFit/>
            </a:bodyPr>
            <a:lstStyle/>
            <a:p>
              <a:pPr algn="ctr"/>
              <a:r>
                <a:rPr lang="tr-TR" sz="1120" dirty="0">
                  <a:solidFill>
                    <a:srgbClr val="172B3A"/>
                  </a:solidFill>
                  <a:latin typeface="+mn-lt"/>
                  <a:ea typeface="+mn-ea"/>
                  <a:cs typeface="+mn-cs"/>
                </a:rPr>
                <a:t>peynir: 1</a:t>
              </a:r>
            </a:p>
          </p:txBody>
        </p:sp>
        <p:sp>
          <p:nvSpPr>
            <p:cNvPr id="38" name="Line 38"/>
            <p:cNvSpPr/>
            <p:nvPr/>
          </p:nvSpPr>
          <p:spPr>
            <a:xfrm flipH="1">
              <a:off x="7810500" y="2762250"/>
              <a:ext cx="571500" cy="476250"/>
            </a:xfrm>
            <a:prstGeom prst="line">
              <a:avLst/>
            </a:prstGeom>
            <a:noFill/>
            <a:ln w="19050">
              <a:solidFill>
                <a:srgbClr val="2E86AB"/>
              </a:solidFill>
              <a:tailEnd type="arrow" w="lg" len="lg"/>
            </a:ln>
          </p:spPr>
        </p:sp>
        <p:sp>
          <p:nvSpPr>
            <p:cNvPr id="39" name="Line 39"/>
            <p:cNvSpPr/>
            <p:nvPr/>
          </p:nvSpPr>
          <p:spPr>
            <a:xfrm>
              <a:off x="8382000" y="2762250"/>
              <a:ext cx="571500" cy="476250"/>
            </a:xfrm>
            <a:prstGeom prst="line">
              <a:avLst/>
            </a:prstGeom>
            <a:noFill/>
            <a:ln w="19050">
              <a:solidFill>
                <a:srgbClr val="2E86AB"/>
              </a:solidFill>
              <a:tailEnd type="arrow" w="lg" len="lg"/>
            </a:ln>
          </p:spPr>
        </p:sp>
        <p:sp>
          <p:nvSpPr>
            <p:cNvPr id="40" name="Rectangle 40"/>
            <p:cNvSpPr/>
            <p:nvPr/>
          </p:nvSpPr>
          <p:spPr>
            <a:xfrm>
              <a:off x="7143750" y="3314700"/>
              <a:ext cx="1333500" cy="400050"/>
            </a:xfrm>
            <a:prstGeom prst="roundRect">
              <a:avLst>
                <a:gd name="adj" fmla="val 14286"/>
              </a:avLst>
            </a:prstGeom>
            <a:solidFill>
              <a:srgbClr val="EAF4F6"/>
            </a:solidFill>
            <a:ln w="14288">
              <a:solidFill>
                <a:srgbClr val="00A6A6"/>
              </a:solidFill>
            </a:ln>
          </p:spPr>
        </p:sp>
        <p:sp>
          <p:nvSpPr>
            <p:cNvPr id="41" name="TextBox 41"/>
            <p:cNvSpPr txBox="1"/>
            <p:nvPr/>
          </p:nvSpPr>
          <p:spPr>
            <a:xfrm>
              <a:off x="7574854" y="3440906"/>
              <a:ext cx="471292" cy="220028"/>
            </a:xfrm>
            <a:prstGeom prst="rect">
              <a:avLst/>
            </a:prstGeom>
            <a:noFill/>
            <a:ln>
              <a:noFill/>
            </a:ln>
          </p:spPr>
          <p:txBody>
            <a:bodyPr wrap="none" lIns="0" tIns="0" rIns="0" bIns="0" anchor="t" anchorCtr="0">
              <a:spAutoFit/>
            </a:bodyPr>
            <a:lstStyle/>
            <a:p>
              <a:pPr algn="ctr"/>
              <a:r>
                <a:rPr lang="tr-TR" sz="1120" dirty="0">
                  <a:solidFill>
                    <a:srgbClr val="12355B"/>
                  </a:solidFill>
                  <a:latin typeface="+mn-lt"/>
                  <a:ea typeface="+mn-ea"/>
                  <a:cs typeface="+mn-cs"/>
                </a:rPr>
                <a:t>süt: 7</a:t>
              </a:r>
            </a:p>
          </p:txBody>
        </p:sp>
        <p:sp>
          <p:nvSpPr>
            <p:cNvPr id="42" name="Rectangle 42"/>
            <p:cNvSpPr/>
            <p:nvPr/>
          </p:nvSpPr>
          <p:spPr>
            <a:xfrm>
              <a:off x="8286750" y="3314700"/>
              <a:ext cx="1333500" cy="400050"/>
            </a:xfrm>
            <a:prstGeom prst="roundRect">
              <a:avLst>
                <a:gd name="adj" fmla="val 14286"/>
              </a:avLst>
            </a:prstGeom>
            <a:solidFill>
              <a:srgbClr val="FFFFFF"/>
            </a:solidFill>
            <a:ln w="14288">
              <a:solidFill>
                <a:srgbClr val="B8CBD3"/>
              </a:solidFill>
            </a:ln>
          </p:spPr>
        </p:sp>
        <p:sp>
          <p:nvSpPr>
            <p:cNvPr id="43" name="TextBox 43"/>
            <p:cNvSpPr txBox="1"/>
            <p:nvPr/>
          </p:nvSpPr>
          <p:spPr>
            <a:xfrm>
              <a:off x="8510539" y="3440906"/>
              <a:ext cx="885922" cy="220028"/>
            </a:xfrm>
            <a:prstGeom prst="rect">
              <a:avLst/>
            </a:prstGeom>
            <a:noFill/>
            <a:ln>
              <a:noFill/>
            </a:ln>
          </p:spPr>
          <p:txBody>
            <a:bodyPr wrap="none" lIns="0" tIns="0" rIns="0" bIns="0" anchor="t" anchorCtr="0">
              <a:spAutoFit/>
            </a:bodyPr>
            <a:lstStyle/>
            <a:p>
              <a:pPr algn="ctr"/>
              <a:r>
                <a:rPr lang="tr-TR" sz="1120" dirty="0">
                  <a:solidFill>
                    <a:srgbClr val="172B3A"/>
                  </a:solidFill>
                  <a:latin typeface="+mn-lt"/>
                  <a:ea typeface="+mn-ea"/>
                  <a:cs typeface="+mn-cs"/>
                </a:rPr>
                <a:t>tereyağı: 4</a:t>
              </a:r>
            </a:p>
          </p:txBody>
        </p:sp>
        <p:sp>
          <p:nvSpPr>
            <p:cNvPr id="44" name="Line 44"/>
            <p:cNvSpPr/>
            <p:nvPr/>
          </p:nvSpPr>
          <p:spPr>
            <a:xfrm>
              <a:off x="7810500" y="3714750"/>
              <a:ext cx="1" cy="381000"/>
            </a:xfrm>
            <a:prstGeom prst="line">
              <a:avLst/>
            </a:prstGeom>
            <a:noFill/>
            <a:ln w="19050">
              <a:solidFill>
                <a:srgbClr val="2E86AB"/>
              </a:solidFill>
              <a:tailEnd type="arrow" w="lg" len="lg"/>
            </a:ln>
          </p:spPr>
        </p:sp>
        <p:sp>
          <p:nvSpPr>
            <p:cNvPr id="45" name="Rectangle 45"/>
            <p:cNvSpPr/>
            <p:nvPr/>
          </p:nvSpPr>
          <p:spPr>
            <a:xfrm>
              <a:off x="7143750" y="4171950"/>
              <a:ext cx="1333500" cy="400050"/>
            </a:xfrm>
            <a:prstGeom prst="roundRect">
              <a:avLst>
                <a:gd name="adj" fmla="val 14286"/>
              </a:avLst>
            </a:prstGeom>
            <a:solidFill>
              <a:srgbClr val="EAF4F6"/>
            </a:solidFill>
            <a:ln w="14288">
              <a:solidFill>
                <a:srgbClr val="00A6A6"/>
              </a:solidFill>
            </a:ln>
          </p:spPr>
        </p:sp>
        <p:sp>
          <p:nvSpPr>
            <p:cNvPr id="46" name="TextBox 46"/>
            <p:cNvSpPr txBox="1"/>
            <p:nvPr/>
          </p:nvSpPr>
          <p:spPr>
            <a:xfrm>
              <a:off x="7393925" y="4298156"/>
              <a:ext cx="833150" cy="220028"/>
            </a:xfrm>
            <a:prstGeom prst="rect">
              <a:avLst/>
            </a:prstGeom>
            <a:noFill/>
            <a:ln>
              <a:noFill/>
            </a:ln>
          </p:spPr>
          <p:txBody>
            <a:bodyPr wrap="none" lIns="0" tIns="0" rIns="0" bIns="0" anchor="t" anchorCtr="0">
              <a:spAutoFit/>
            </a:bodyPr>
            <a:lstStyle/>
            <a:p>
              <a:pPr algn="ctr"/>
              <a:r>
                <a:rPr lang="tr-TR" sz="1120" dirty="0">
                  <a:solidFill>
                    <a:srgbClr val="12355B"/>
                  </a:solidFill>
                  <a:latin typeface="+mn-lt"/>
                  <a:ea typeface="+mn-ea"/>
                  <a:cs typeface="+mn-cs"/>
                </a:rPr>
                <a:t>yumurta: 5</a:t>
              </a:r>
            </a:p>
          </p:txBody>
        </p:sp>
        <p:sp>
          <p:nvSpPr>
            <p:cNvPr id="47" name="TextBox 47"/>
            <p:cNvSpPr txBox="1"/>
            <p:nvPr/>
          </p:nvSpPr>
          <p:spPr>
            <a:xfrm>
              <a:off x="7195185" y="4755356"/>
              <a:ext cx="2980358"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Aynı öneki (ör. "ekmek → süt") paylaşan</a:t>
              </a:r>
            </a:p>
          </p:txBody>
        </p:sp>
        <p:sp>
          <p:nvSpPr>
            <p:cNvPr id="48" name="TextBox 48"/>
            <p:cNvSpPr txBox="1"/>
            <p:nvPr/>
          </p:nvSpPr>
          <p:spPr>
            <a:xfrm>
              <a:off x="7195185" y="4964906"/>
              <a:ext cx="4082339"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işlemler tek bir dalda birikir; sayaçlar frekansı tutar.</a:t>
              </a:r>
            </a:p>
          </p:txBody>
        </p:sp>
      </p:grpSp>
      <p:sp>
        <p:nvSpPr>
          <p:cNvPr id="50" name="TextBox 5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14 / 25</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11146406" cy="668845"/>
            <a:chOff x="609600" y="171450"/>
            <a:chExt cx="11146406"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77240" y="324326"/>
                <a:ext cx="236220" cy="265748"/>
                <a:chOff x="777240" y="324326"/>
                <a:chExt cx="236220" cy="265748"/>
              </a:xfrm>
            </p:grpSpPr>
            <p:sp>
              <p:nvSpPr>
                <p:cNvPr id="5" name="Freeform 5"/>
                <p:cNvSpPr/>
                <p:nvPr/>
              </p:nvSpPr>
              <p:spPr>
                <a:xfrm>
                  <a:off x="777240" y="324326"/>
                  <a:ext cx="236220" cy="88583"/>
                </a:xfrm>
                <a:custGeom>
                  <a:avLst/>
                  <a:gdLst/>
                  <a:ahLst/>
                  <a:cxnLst/>
                  <a:rect l="l" t="t" r="r" b="b"/>
                  <a:pathLst>
                    <a:path w="236220" h="88583">
                      <a:moveTo>
                        <a:pt x="0" y="44291"/>
                      </a:moveTo>
                      <a:cubicBezTo>
                        <a:pt x="0" y="68753"/>
                        <a:pt x="52880" y="88583"/>
                        <a:pt x="118110" y="88583"/>
                      </a:cubicBezTo>
                      <a:cubicBezTo>
                        <a:pt x="183340" y="88583"/>
                        <a:pt x="236220" y="68753"/>
                        <a:pt x="236220" y="44291"/>
                      </a:cubicBezTo>
                      <a:cubicBezTo>
                        <a:pt x="236220" y="19830"/>
                        <a:pt x="183340" y="0"/>
                        <a:pt x="118110" y="0"/>
                      </a:cubicBezTo>
                      <a:cubicBezTo>
                        <a:pt x="52880" y="0"/>
                        <a:pt x="0" y="19830"/>
                        <a:pt x="0" y="44291"/>
                      </a:cubicBezTo>
                    </a:path>
                  </a:pathLst>
                </a:custGeom>
                <a:noFill/>
                <a:ln w="24759" cap="rnd">
                  <a:solidFill>
                    <a:srgbClr val="FFFFFF"/>
                  </a:solidFill>
                  <a:round/>
                </a:ln>
              </p:spPr>
            </p:sp>
            <p:sp>
              <p:nvSpPr>
                <p:cNvPr id="6" name="Freeform 6"/>
                <p:cNvSpPr/>
                <p:nvPr/>
              </p:nvSpPr>
              <p:spPr>
                <a:xfrm>
                  <a:off x="777240" y="368618"/>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sp>
              <p:nvSpPr>
                <p:cNvPr id="7" name="Freeform 7"/>
                <p:cNvSpPr/>
                <p:nvPr/>
              </p:nvSpPr>
              <p:spPr>
                <a:xfrm>
                  <a:off x="777240" y="457200"/>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grpSp>
        </p:grpSp>
        <p:sp>
          <p:nvSpPr>
            <p:cNvPr id="10" name="TextBox 10"/>
            <p:cNvSpPr txBox="1"/>
            <p:nvPr/>
          </p:nvSpPr>
          <p:spPr>
            <a:xfrm>
              <a:off x="1299972" y="282892"/>
              <a:ext cx="1045603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Neden var: veritabanı tarama maliyetinden kaçınmak</a:t>
              </a:r>
            </a:p>
          </p:txBody>
        </p:sp>
      </p:grpSp>
      <p:grpSp>
        <p:nvGrpSpPr>
          <p:cNvPr id="13" name="lead"/>
          <p:cNvGrpSpPr/>
          <p:nvPr/>
        </p:nvGrpSpPr>
        <p:grpSpPr>
          <a:xfrm>
            <a:off x="601599" y="1144429"/>
            <a:ext cx="10604854" cy="308039"/>
            <a:chOff x="601599" y="1144429"/>
            <a:chExt cx="10604854" cy="308039"/>
          </a:xfrm>
        </p:grpSpPr>
        <p:sp>
          <p:nvSpPr>
            <p:cNvPr id="12" name="TextBox 12"/>
            <p:cNvSpPr txBox="1"/>
            <p:nvPr/>
          </p:nvSpPr>
          <p:spPr>
            <a:xfrm>
              <a:off x="601599" y="1144429"/>
              <a:ext cx="1060485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Apriori'nin en büyük maliyeti: k. seviyedeki adayların desteğini saymak için veritabanı k kez taranır.</a:t>
              </a:r>
            </a:p>
          </p:txBody>
        </p:sp>
      </p:grpSp>
      <p:grpSp>
        <p:nvGrpSpPr>
          <p:cNvPr id="28" name="scan-apriori"/>
          <p:cNvGrpSpPr/>
          <p:nvPr/>
        </p:nvGrpSpPr>
        <p:grpSpPr>
          <a:xfrm>
            <a:off x="609600" y="1695450"/>
            <a:ext cx="5334000" cy="2476500"/>
            <a:chOff x="609600" y="1695450"/>
            <a:chExt cx="5334000" cy="2476500"/>
          </a:xfrm>
        </p:grpSpPr>
        <p:sp>
          <p:nvSpPr>
            <p:cNvPr id="14" name="Rectangle 14"/>
            <p:cNvSpPr/>
            <p:nvPr/>
          </p:nvSpPr>
          <p:spPr>
            <a:xfrm>
              <a:off x="609600" y="1695450"/>
              <a:ext cx="5334000" cy="2476500"/>
            </a:xfrm>
            <a:prstGeom prst="roundRect">
              <a:avLst>
                <a:gd name="adj" fmla="val 3846"/>
              </a:avLst>
            </a:prstGeom>
            <a:solidFill>
              <a:srgbClr val="FFFFFF"/>
            </a:solidFill>
            <a:ln w="14288">
              <a:solidFill>
                <a:srgbClr val="B8CBD3"/>
              </a:solidFill>
            </a:ln>
          </p:spPr>
        </p:sp>
        <p:sp>
          <p:nvSpPr>
            <p:cNvPr id="15" name="TextBox 15"/>
            <p:cNvSpPr txBox="1"/>
            <p:nvPr/>
          </p:nvSpPr>
          <p:spPr>
            <a:xfrm>
              <a:off x="830580" y="1857375"/>
              <a:ext cx="2970352"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Apriori — k seviye = k tarama</a:t>
              </a:r>
            </a:p>
          </p:txBody>
        </p:sp>
        <p:sp>
          <p:nvSpPr>
            <p:cNvPr id="16" name="Rectangle 16"/>
            <p:cNvSpPr/>
            <p:nvPr/>
          </p:nvSpPr>
          <p:spPr>
            <a:xfrm>
              <a:off x="838200" y="2209800"/>
              <a:ext cx="857250" cy="342900"/>
            </a:xfrm>
            <a:prstGeom prst="rect">
              <a:avLst/>
            </a:prstGeom>
            <a:solidFill>
              <a:srgbClr val="2E86AB"/>
            </a:solidFill>
            <a:ln>
              <a:noFill/>
            </a:ln>
          </p:spPr>
        </p:sp>
        <p:sp>
          <p:nvSpPr>
            <p:cNvPr id="17" name="TextBox 17"/>
            <p:cNvSpPr txBox="1"/>
            <p:nvPr/>
          </p:nvSpPr>
          <p:spPr>
            <a:xfrm>
              <a:off x="935635" y="2325052"/>
              <a:ext cx="662379"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Tarama 1</a:t>
              </a:r>
            </a:p>
          </p:txBody>
        </p:sp>
        <p:sp>
          <p:nvSpPr>
            <p:cNvPr id="18" name="Rectangle 18"/>
            <p:cNvSpPr/>
            <p:nvPr/>
          </p:nvSpPr>
          <p:spPr>
            <a:xfrm>
              <a:off x="1790700" y="2209800"/>
              <a:ext cx="857250" cy="342900"/>
            </a:xfrm>
            <a:prstGeom prst="rect">
              <a:avLst/>
            </a:prstGeom>
            <a:solidFill>
              <a:srgbClr val="2E86AB"/>
            </a:solidFill>
            <a:ln>
              <a:noFill/>
            </a:ln>
          </p:spPr>
        </p:sp>
        <p:sp>
          <p:nvSpPr>
            <p:cNvPr id="19" name="TextBox 19"/>
            <p:cNvSpPr txBox="1"/>
            <p:nvPr/>
          </p:nvSpPr>
          <p:spPr>
            <a:xfrm>
              <a:off x="1888135" y="2325052"/>
              <a:ext cx="662379"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Tarama 2</a:t>
              </a:r>
            </a:p>
          </p:txBody>
        </p:sp>
        <p:sp>
          <p:nvSpPr>
            <p:cNvPr id="20" name="Rectangle 20"/>
            <p:cNvSpPr/>
            <p:nvPr/>
          </p:nvSpPr>
          <p:spPr>
            <a:xfrm>
              <a:off x="2743200" y="2209800"/>
              <a:ext cx="857250" cy="342900"/>
            </a:xfrm>
            <a:prstGeom prst="rect">
              <a:avLst/>
            </a:prstGeom>
            <a:solidFill>
              <a:srgbClr val="2E86AB"/>
            </a:solidFill>
            <a:ln>
              <a:noFill/>
            </a:ln>
          </p:spPr>
        </p:sp>
        <p:sp>
          <p:nvSpPr>
            <p:cNvPr id="21" name="TextBox 21"/>
            <p:cNvSpPr txBox="1"/>
            <p:nvPr/>
          </p:nvSpPr>
          <p:spPr>
            <a:xfrm>
              <a:off x="2840635" y="2325052"/>
              <a:ext cx="662379"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Tarama 3</a:t>
              </a:r>
            </a:p>
          </p:txBody>
        </p:sp>
        <p:sp>
          <p:nvSpPr>
            <p:cNvPr id="22" name="TextBox 22"/>
            <p:cNvSpPr txBox="1"/>
            <p:nvPr/>
          </p:nvSpPr>
          <p:spPr>
            <a:xfrm>
              <a:off x="3899154" y="2308860"/>
              <a:ext cx="41605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 k</a:t>
              </a:r>
            </a:p>
          </p:txBody>
        </p:sp>
        <p:sp>
          <p:nvSpPr>
            <p:cNvPr id="23" name="TextBox 23"/>
            <p:cNvSpPr txBox="1"/>
            <p:nvPr/>
          </p:nvSpPr>
          <p:spPr>
            <a:xfrm>
              <a:off x="831723" y="2757964"/>
              <a:ext cx="3068474"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Her seviyede tüm veritabanı yeniden</a:t>
              </a:r>
            </a:p>
          </p:txBody>
        </p:sp>
        <p:sp>
          <p:nvSpPr>
            <p:cNvPr id="24" name="TextBox 24"/>
            <p:cNvSpPr txBox="1"/>
            <p:nvPr/>
          </p:nvSpPr>
          <p:spPr>
            <a:xfrm>
              <a:off x="831723" y="2967514"/>
              <a:ext cx="3123214"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taranır — büyük veri ve düşük destek</a:t>
              </a:r>
            </a:p>
          </p:txBody>
        </p:sp>
        <p:sp>
          <p:nvSpPr>
            <p:cNvPr id="25" name="TextBox 25"/>
            <p:cNvSpPr txBox="1"/>
            <p:nvPr/>
          </p:nvSpPr>
          <p:spPr>
            <a:xfrm>
              <a:off x="831723" y="3177064"/>
              <a:ext cx="3375294"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eşiğinde G/Ç maliyeti ve bellek kullanımı</a:t>
              </a:r>
            </a:p>
          </p:txBody>
        </p:sp>
        <p:sp>
          <p:nvSpPr>
            <p:cNvPr id="26" name="TextBox 26"/>
            <p:cNvSpPr txBox="1"/>
            <p:nvPr/>
          </p:nvSpPr>
          <p:spPr>
            <a:xfrm>
              <a:off x="831723" y="3386614"/>
              <a:ext cx="1684396"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ciddi biçimde artar.</a:t>
              </a:r>
            </a:p>
          </p:txBody>
        </p:sp>
        <p:sp>
          <p:nvSpPr>
            <p:cNvPr id="27" name="TextBox 27"/>
            <p:cNvSpPr txBox="1"/>
            <p:nvPr/>
          </p:nvSpPr>
          <p:spPr>
            <a:xfrm>
              <a:off x="831723" y="3710464"/>
              <a:ext cx="3260635"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 aday üretimi uzun kümelerde patlar</a:t>
              </a:r>
            </a:p>
          </p:txBody>
        </p:sp>
      </p:grpSp>
      <p:grpSp>
        <p:nvGrpSpPr>
          <p:cNvPr id="40" name="scan-fp"/>
          <p:cNvGrpSpPr/>
          <p:nvPr/>
        </p:nvGrpSpPr>
        <p:grpSpPr>
          <a:xfrm>
            <a:off x="6248400" y="1695450"/>
            <a:ext cx="5334000" cy="2476500"/>
            <a:chOff x="6248400" y="1695450"/>
            <a:chExt cx="5334000" cy="2476500"/>
          </a:xfrm>
        </p:grpSpPr>
        <p:sp>
          <p:nvSpPr>
            <p:cNvPr id="29" name="Rectangle 29"/>
            <p:cNvSpPr/>
            <p:nvPr/>
          </p:nvSpPr>
          <p:spPr>
            <a:xfrm>
              <a:off x="6248400" y="1695450"/>
              <a:ext cx="5334000" cy="2476500"/>
            </a:xfrm>
            <a:prstGeom prst="roundRect">
              <a:avLst>
                <a:gd name="adj" fmla="val 3846"/>
              </a:avLst>
            </a:prstGeom>
            <a:solidFill>
              <a:srgbClr val="EAF4F6"/>
            </a:solidFill>
            <a:ln w="14288">
              <a:solidFill>
                <a:srgbClr val="00A6A6"/>
              </a:solidFill>
            </a:ln>
          </p:spPr>
        </p:sp>
        <p:sp>
          <p:nvSpPr>
            <p:cNvPr id="30" name="TextBox 30"/>
            <p:cNvSpPr txBox="1"/>
            <p:nvPr/>
          </p:nvSpPr>
          <p:spPr>
            <a:xfrm>
              <a:off x="6469380" y="1857375"/>
              <a:ext cx="3010141"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FP-Growth — sabit ~2 tarama</a:t>
              </a:r>
            </a:p>
          </p:txBody>
        </p:sp>
        <p:sp>
          <p:nvSpPr>
            <p:cNvPr id="31" name="Rectangle 31"/>
            <p:cNvSpPr/>
            <p:nvPr/>
          </p:nvSpPr>
          <p:spPr>
            <a:xfrm>
              <a:off x="6477000" y="2209800"/>
              <a:ext cx="1047750" cy="342900"/>
            </a:xfrm>
            <a:prstGeom prst="rect">
              <a:avLst/>
            </a:prstGeom>
            <a:solidFill>
              <a:srgbClr val="00A6A6"/>
            </a:solidFill>
            <a:ln>
              <a:noFill/>
            </a:ln>
          </p:spPr>
        </p:sp>
        <p:sp>
          <p:nvSpPr>
            <p:cNvPr id="32" name="TextBox 32"/>
            <p:cNvSpPr txBox="1"/>
            <p:nvPr/>
          </p:nvSpPr>
          <p:spPr>
            <a:xfrm>
              <a:off x="6562691" y="2325052"/>
              <a:ext cx="876368"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Frekans say</a:t>
              </a:r>
            </a:p>
          </p:txBody>
        </p:sp>
        <p:sp>
          <p:nvSpPr>
            <p:cNvPr id="33" name="Rectangle 33"/>
            <p:cNvSpPr/>
            <p:nvPr/>
          </p:nvSpPr>
          <p:spPr>
            <a:xfrm>
              <a:off x="7620000" y="2209800"/>
              <a:ext cx="1047750" cy="342900"/>
            </a:xfrm>
            <a:prstGeom prst="rect">
              <a:avLst/>
            </a:prstGeom>
            <a:solidFill>
              <a:srgbClr val="00A6A6"/>
            </a:solidFill>
            <a:ln>
              <a:noFill/>
            </a:ln>
          </p:spPr>
        </p:sp>
        <p:sp>
          <p:nvSpPr>
            <p:cNvPr id="34" name="TextBox 34"/>
            <p:cNvSpPr txBox="1"/>
            <p:nvPr/>
          </p:nvSpPr>
          <p:spPr>
            <a:xfrm>
              <a:off x="7828082" y="2325052"/>
              <a:ext cx="631586" cy="205359"/>
            </a:xfrm>
            <a:prstGeom prst="rect">
              <a:avLst/>
            </a:prstGeom>
            <a:noFill/>
            <a:ln>
              <a:noFill/>
            </a:ln>
          </p:spPr>
          <p:txBody>
            <a:bodyPr wrap="none" lIns="0" tIns="0" rIns="0" bIns="0" anchor="t" anchorCtr="0">
              <a:spAutoFit/>
            </a:bodyPr>
            <a:lstStyle/>
            <a:p>
              <a:pPr algn="ctr"/>
              <a:r>
                <a:rPr lang="tr-TR" sz="1050" b="1" dirty="0">
                  <a:solidFill>
                    <a:srgbClr val="FFFFFF"/>
                  </a:solidFill>
                  <a:latin typeface="+mn-lt"/>
                  <a:ea typeface="+mn-ea"/>
                  <a:cs typeface="+mn-cs"/>
                </a:rPr>
                <a:t>Ağaç kur</a:t>
              </a:r>
            </a:p>
          </p:txBody>
        </p:sp>
        <p:sp>
          <p:nvSpPr>
            <p:cNvPr id="35" name="TextBox 35"/>
            <p:cNvSpPr txBox="1"/>
            <p:nvPr/>
          </p:nvSpPr>
          <p:spPr>
            <a:xfrm>
              <a:off x="6470523" y="2757964"/>
              <a:ext cx="3430281"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Veritabanı yalnızca iki kez taranır: biri</a:t>
              </a:r>
            </a:p>
          </p:txBody>
        </p:sp>
        <p:sp>
          <p:nvSpPr>
            <p:cNvPr id="36" name="TextBox 36"/>
            <p:cNvSpPr txBox="1"/>
            <p:nvPr/>
          </p:nvSpPr>
          <p:spPr>
            <a:xfrm>
              <a:off x="6470523" y="2967514"/>
              <a:ext cx="3304144"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öğe frekanslarını bulmak, diğeri ağacı</a:t>
              </a:r>
            </a:p>
          </p:txBody>
        </p:sp>
        <p:sp>
          <p:nvSpPr>
            <p:cNvPr id="37" name="TextBox 37"/>
            <p:cNvSpPr txBox="1"/>
            <p:nvPr/>
          </p:nvSpPr>
          <p:spPr>
            <a:xfrm>
              <a:off x="6470523" y="3177064"/>
              <a:ext cx="3301335"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kurmak için. Sık öğe kümeleri doğrudan</a:t>
              </a:r>
            </a:p>
          </p:txBody>
        </p:sp>
        <p:sp>
          <p:nvSpPr>
            <p:cNvPr id="38" name="TextBox 38"/>
            <p:cNvSpPr txBox="1"/>
            <p:nvPr/>
          </p:nvSpPr>
          <p:spPr>
            <a:xfrm>
              <a:off x="6470523" y="3386614"/>
              <a:ext cx="3717696"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ağaçtan "büyütülerek" (growth) çıkarılır.</a:t>
              </a:r>
            </a:p>
          </p:txBody>
        </p:sp>
        <p:sp>
          <p:nvSpPr>
            <p:cNvPr id="39" name="TextBox 39"/>
            <p:cNvSpPr txBox="1"/>
            <p:nvPr/>
          </p:nvSpPr>
          <p:spPr>
            <a:xfrm>
              <a:off x="6470523" y="3710464"/>
              <a:ext cx="3441564"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 aday üretimi tamamen ortadan kalkar</a:t>
              </a:r>
            </a:p>
          </p:txBody>
        </p:sp>
      </p:grpSp>
      <p:grpSp>
        <p:nvGrpSpPr>
          <p:cNvPr id="47" name="mistake"/>
          <p:cNvGrpSpPr/>
          <p:nvPr/>
        </p:nvGrpSpPr>
        <p:grpSpPr>
          <a:xfrm>
            <a:off x="609600" y="4362450"/>
            <a:ext cx="10972800" cy="1502378"/>
            <a:chOff x="609600" y="4362450"/>
            <a:chExt cx="10972800" cy="1502378"/>
          </a:xfrm>
        </p:grpSpPr>
        <p:sp>
          <p:nvSpPr>
            <p:cNvPr id="41" name="Rectangle 41"/>
            <p:cNvSpPr/>
            <p:nvPr/>
          </p:nvSpPr>
          <p:spPr>
            <a:xfrm>
              <a:off x="609600" y="4362450"/>
              <a:ext cx="10972800" cy="1485900"/>
            </a:xfrm>
            <a:prstGeom prst="roundRect">
              <a:avLst>
                <a:gd name="adj" fmla="val 6410"/>
              </a:avLst>
            </a:prstGeom>
            <a:solidFill>
              <a:srgbClr val="12355B"/>
            </a:solidFill>
            <a:ln>
              <a:noFill/>
            </a:ln>
          </p:spPr>
        </p:sp>
        <p:sp>
          <p:nvSpPr>
            <p:cNvPr id="42" name="TextBox 42"/>
            <p:cNvSpPr txBox="1"/>
            <p:nvPr/>
          </p:nvSpPr>
          <p:spPr>
            <a:xfrm>
              <a:off x="907161" y="4532471"/>
              <a:ext cx="2519852" cy="278702"/>
            </a:xfrm>
            <a:prstGeom prst="rect">
              <a:avLst/>
            </a:prstGeom>
            <a:noFill/>
            <a:ln>
              <a:noFill/>
            </a:ln>
          </p:spPr>
          <p:txBody>
            <a:bodyPr wrap="none" lIns="0" tIns="0" rIns="0" bIns="0" anchor="t" anchorCtr="0">
              <a:spAutoFit/>
            </a:bodyPr>
            <a:lstStyle/>
            <a:p>
              <a:pPr algn="l"/>
              <a:r>
                <a:rPr lang="tr-TR" sz="1420" b="1" dirty="0">
                  <a:solidFill>
                    <a:srgbClr val="FFFFFF"/>
                  </a:solidFill>
                  <a:latin typeface="+mn-lt"/>
                  <a:ea typeface="+mn-ea"/>
                  <a:cs typeface="+mn-cs"/>
                </a:rPr>
                <a:t>Sık yapılan yanlış anlama</a:t>
              </a:r>
            </a:p>
          </p:txBody>
        </p:sp>
        <p:sp>
          <p:nvSpPr>
            <p:cNvPr id="43" name="TextBox 43"/>
            <p:cNvSpPr txBox="1"/>
            <p:nvPr/>
          </p:nvSpPr>
          <p:spPr>
            <a:xfrm>
              <a:off x="907923" y="4853464"/>
              <a:ext cx="7807568"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mn-lt"/>
                  <a:ea typeface="+mn-ea"/>
                  <a:cs typeface="+mn-cs"/>
                </a:rPr>
                <a:t>"Aday üretmeden çalışmak" = "hiç arama yapmadan çalışmak" değildir; algoritma yine koşullu</a:t>
              </a:r>
            </a:p>
          </p:txBody>
        </p:sp>
        <p:sp>
          <p:nvSpPr>
            <p:cNvPr id="44" name="TextBox 44"/>
            <p:cNvSpPr txBox="1"/>
            <p:nvPr/>
          </p:nvSpPr>
          <p:spPr>
            <a:xfrm>
              <a:off x="907923" y="5101114"/>
              <a:ext cx="6974423"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mn-lt"/>
                  <a:ea typeface="+mn-ea"/>
                  <a:cs typeface="+mn-cs"/>
                </a:rPr>
                <a:t>örüntü tabanları üzerinde özyinelemeli arama yapar, yalnızca aday listesi tutmaz.</a:t>
              </a:r>
            </a:p>
          </p:txBody>
        </p:sp>
        <p:sp>
          <p:nvSpPr>
            <p:cNvPr id="45" name="TextBox 45"/>
            <p:cNvSpPr txBox="1"/>
            <p:nvPr/>
          </p:nvSpPr>
          <p:spPr>
            <a:xfrm>
              <a:off x="907923" y="5405914"/>
              <a:ext cx="7109312" cy="249364"/>
            </a:xfrm>
            <a:prstGeom prst="rect">
              <a:avLst/>
            </a:prstGeom>
            <a:noFill/>
            <a:ln>
              <a:noFill/>
            </a:ln>
          </p:spPr>
          <p:txBody>
            <a:bodyPr wrap="none" lIns="0" tIns="0" rIns="0" bIns="0" anchor="t" anchorCtr="0">
              <a:spAutoFit/>
            </a:bodyPr>
            <a:lstStyle/>
            <a:p>
              <a:pPr algn="l"/>
              <a:r>
                <a:rPr lang="tr-TR" sz="1280" dirty="0">
                  <a:solidFill>
                    <a:srgbClr val="00A6A6"/>
                  </a:solidFill>
                  <a:latin typeface="+mn-lt"/>
                  <a:ea typeface="+mn-ea"/>
                  <a:cs typeface="+mn-cs"/>
                </a:rPr>
                <a:t>Aynı min_support eşiğinde iki algoritma matematiksel olarak özdeş sonucu döndürür;</a:t>
              </a:r>
            </a:p>
          </p:txBody>
        </p:sp>
        <p:sp>
          <p:nvSpPr>
            <p:cNvPr id="46" name="TextBox 46"/>
            <p:cNvSpPr txBox="1"/>
            <p:nvPr/>
          </p:nvSpPr>
          <p:spPr>
            <a:xfrm>
              <a:off x="907923" y="5615464"/>
              <a:ext cx="4639574" cy="249364"/>
            </a:xfrm>
            <a:prstGeom prst="rect">
              <a:avLst/>
            </a:prstGeom>
            <a:noFill/>
            <a:ln>
              <a:noFill/>
            </a:ln>
          </p:spPr>
          <p:txBody>
            <a:bodyPr wrap="none" lIns="0" tIns="0" rIns="0" bIns="0" anchor="t" anchorCtr="0">
              <a:spAutoFit/>
            </a:bodyPr>
            <a:lstStyle/>
            <a:p>
              <a:pPr algn="l"/>
              <a:r>
                <a:rPr lang="tr-TR" sz="1280" dirty="0">
                  <a:solidFill>
                    <a:srgbClr val="00A6A6"/>
                  </a:solidFill>
                  <a:latin typeface="+mn-lt"/>
                  <a:ea typeface="+mn-ea"/>
                  <a:cs typeface="+mn-cs"/>
                </a:rPr>
                <a:t>fark yalnızca hesaplama hızındadır, doğrulukta değil.</a:t>
              </a:r>
            </a:p>
          </p:txBody>
        </p:sp>
      </p:grpSp>
      <p:sp>
        <p:nvSpPr>
          <p:cNvPr id="48" name="TextBox 4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15 / 25</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8300266" cy="557403"/>
            <a:chOff x="595122" y="282892"/>
            <a:chExt cx="8300266" cy="557403"/>
          </a:xfrm>
        </p:grpSpPr>
        <p:sp>
          <p:nvSpPr>
            <p:cNvPr id="4" name="TextBox 4"/>
            <p:cNvSpPr txBox="1"/>
            <p:nvPr/>
          </p:nvSpPr>
          <p:spPr>
            <a:xfrm>
              <a:off x="595122" y="282892"/>
              <a:ext cx="830026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Apriori ile FP-Growth'un karşılaştırması</a:t>
              </a:r>
            </a:p>
          </p:txBody>
        </p:sp>
      </p:grpSp>
      <p:grpSp>
        <p:nvGrpSpPr>
          <p:cNvPr id="10" name="table-header"/>
          <p:cNvGrpSpPr/>
          <p:nvPr/>
        </p:nvGrpSpPr>
        <p:grpSpPr>
          <a:xfrm>
            <a:off x="609600" y="1123950"/>
            <a:ext cx="10972800" cy="419100"/>
            <a:chOff x="609600" y="1123950"/>
            <a:chExt cx="10972800" cy="419100"/>
          </a:xfrm>
        </p:grpSpPr>
        <p:sp>
          <p:nvSpPr>
            <p:cNvPr id="6" name="Rectangle 6"/>
            <p:cNvSpPr/>
            <p:nvPr/>
          </p:nvSpPr>
          <p:spPr>
            <a:xfrm>
              <a:off x="609600" y="1123950"/>
              <a:ext cx="10972800" cy="419100"/>
            </a:xfrm>
            <a:prstGeom prst="rect">
              <a:avLst/>
            </a:prstGeom>
            <a:solidFill>
              <a:srgbClr val="12355B"/>
            </a:solidFill>
            <a:ln>
              <a:noFill/>
            </a:ln>
          </p:spPr>
        </p:sp>
        <p:sp>
          <p:nvSpPr>
            <p:cNvPr id="7" name="TextBox 7"/>
            <p:cNvSpPr txBox="1"/>
            <p:nvPr/>
          </p:nvSpPr>
          <p:spPr>
            <a:xfrm>
              <a:off x="755904" y="1261110"/>
              <a:ext cx="76620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ÖZELLİK</a:t>
              </a:r>
            </a:p>
          </p:txBody>
        </p:sp>
        <p:sp>
          <p:nvSpPr>
            <p:cNvPr id="8" name="TextBox 8"/>
            <p:cNvSpPr txBox="1"/>
            <p:nvPr/>
          </p:nvSpPr>
          <p:spPr>
            <a:xfrm>
              <a:off x="6147054" y="1261110"/>
              <a:ext cx="712440"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APRIORI</a:t>
              </a:r>
            </a:p>
          </p:txBody>
        </p:sp>
        <p:sp>
          <p:nvSpPr>
            <p:cNvPr id="9" name="TextBox 9"/>
            <p:cNvSpPr txBox="1"/>
            <p:nvPr/>
          </p:nvSpPr>
          <p:spPr>
            <a:xfrm>
              <a:off x="8871204" y="1261110"/>
              <a:ext cx="105637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FP-GROWTH</a:t>
              </a:r>
            </a:p>
          </p:txBody>
        </p:sp>
      </p:grpSp>
      <p:grpSp>
        <p:nvGrpSpPr>
          <p:cNvPr id="15" name="row1"/>
          <p:cNvGrpSpPr/>
          <p:nvPr/>
        </p:nvGrpSpPr>
        <p:grpSpPr>
          <a:xfrm>
            <a:off x="609600" y="1721168"/>
            <a:ext cx="10972800" cy="364807"/>
            <a:chOff x="609600" y="1721168"/>
            <a:chExt cx="10972800" cy="364807"/>
          </a:xfrm>
        </p:grpSpPr>
        <p:sp>
          <p:nvSpPr>
            <p:cNvPr id="11" name="TextBox 11"/>
            <p:cNvSpPr txBox="1"/>
            <p:nvPr/>
          </p:nvSpPr>
          <p:spPr>
            <a:xfrm>
              <a:off x="755142" y="1721168"/>
              <a:ext cx="2433848"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Veritabanı tarama sayısı</a:t>
              </a:r>
            </a:p>
          </p:txBody>
        </p:sp>
        <p:sp>
          <p:nvSpPr>
            <p:cNvPr id="12" name="TextBox 12"/>
            <p:cNvSpPr txBox="1"/>
            <p:nvPr/>
          </p:nvSpPr>
          <p:spPr>
            <a:xfrm>
              <a:off x="6146673" y="1729264"/>
              <a:ext cx="2905742"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Her seviyede bir kez (k seviye = k)</a:t>
              </a:r>
            </a:p>
          </p:txBody>
        </p:sp>
        <p:sp>
          <p:nvSpPr>
            <p:cNvPr id="13" name="TextBox 13"/>
            <p:cNvSpPr txBox="1"/>
            <p:nvPr/>
          </p:nvSpPr>
          <p:spPr>
            <a:xfrm>
              <a:off x="8870823" y="1729264"/>
              <a:ext cx="1889171"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Sabit (yaklaşık 2 kez)</a:t>
              </a:r>
            </a:p>
          </p:txBody>
        </p:sp>
        <p:sp>
          <p:nvSpPr>
            <p:cNvPr id="14" name="Line 14"/>
            <p:cNvSpPr/>
            <p:nvPr/>
          </p:nvSpPr>
          <p:spPr>
            <a:xfrm>
              <a:off x="609600" y="20764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0" name="row2"/>
          <p:cNvGrpSpPr/>
          <p:nvPr/>
        </p:nvGrpSpPr>
        <p:grpSpPr>
          <a:xfrm>
            <a:off x="609600" y="2076450"/>
            <a:ext cx="10972800" cy="533400"/>
            <a:chOff x="609600" y="2076450"/>
            <a:chExt cx="10972800" cy="533400"/>
          </a:xfrm>
        </p:grpSpPr>
        <p:sp>
          <p:nvSpPr>
            <p:cNvPr id="16" name="Rectangle 16"/>
            <p:cNvSpPr/>
            <p:nvPr/>
          </p:nvSpPr>
          <p:spPr>
            <a:xfrm>
              <a:off x="609600" y="2076450"/>
              <a:ext cx="10972800" cy="533400"/>
            </a:xfrm>
            <a:prstGeom prst="rect">
              <a:avLst/>
            </a:prstGeom>
            <a:solidFill>
              <a:srgbClr val="EAF4F6"/>
            </a:solidFill>
            <a:ln>
              <a:noFill/>
            </a:ln>
          </p:spPr>
        </p:sp>
        <p:sp>
          <p:nvSpPr>
            <p:cNvPr id="17" name="TextBox 17"/>
            <p:cNvSpPr txBox="1"/>
            <p:nvPr/>
          </p:nvSpPr>
          <p:spPr>
            <a:xfrm>
              <a:off x="755142" y="2254568"/>
              <a:ext cx="2223969"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Aday öğe kümesi üretimi</a:t>
              </a:r>
            </a:p>
          </p:txBody>
        </p:sp>
        <p:sp>
          <p:nvSpPr>
            <p:cNvPr id="18" name="TextBox 18"/>
            <p:cNvSpPr txBox="1"/>
            <p:nvPr/>
          </p:nvSpPr>
          <p:spPr>
            <a:xfrm>
              <a:off x="6146673" y="2262664"/>
              <a:ext cx="1552332"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Var, seviye seviye</a:t>
              </a:r>
            </a:p>
          </p:txBody>
        </p:sp>
        <p:sp>
          <p:nvSpPr>
            <p:cNvPr id="19" name="TextBox 19"/>
            <p:cNvSpPr txBox="1"/>
            <p:nvPr/>
          </p:nvSpPr>
          <p:spPr>
            <a:xfrm>
              <a:off x="8870823" y="2262664"/>
              <a:ext cx="302636"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Yok</a:t>
              </a:r>
            </a:p>
          </p:txBody>
        </p:sp>
      </p:grpSp>
      <p:grpSp>
        <p:nvGrpSpPr>
          <p:cNvPr id="25" name="row3"/>
          <p:cNvGrpSpPr/>
          <p:nvPr/>
        </p:nvGrpSpPr>
        <p:grpSpPr>
          <a:xfrm>
            <a:off x="609600" y="2787968"/>
            <a:ext cx="11226696" cy="364807"/>
            <a:chOff x="609600" y="2787968"/>
            <a:chExt cx="11226696" cy="364807"/>
          </a:xfrm>
        </p:grpSpPr>
        <p:sp>
          <p:nvSpPr>
            <p:cNvPr id="21" name="TextBox 21"/>
            <p:cNvSpPr txBox="1"/>
            <p:nvPr/>
          </p:nvSpPr>
          <p:spPr>
            <a:xfrm>
              <a:off x="755142" y="2787968"/>
              <a:ext cx="149818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Bellek kullanımı</a:t>
              </a:r>
            </a:p>
          </p:txBody>
        </p:sp>
        <p:sp>
          <p:nvSpPr>
            <p:cNvPr id="22" name="TextBox 22"/>
            <p:cNvSpPr txBox="1"/>
            <p:nvPr/>
          </p:nvSpPr>
          <p:spPr>
            <a:xfrm>
              <a:off x="6146673" y="2796064"/>
              <a:ext cx="2413536"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Aday listesi büyüdükçe artar</a:t>
              </a:r>
            </a:p>
          </p:txBody>
        </p:sp>
        <p:sp>
          <p:nvSpPr>
            <p:cNvPr id="23" name="TextBox 23"/>
            <p:cNvSpPr txBox="1"/>
            <p:nvPr/>
          </p:nvSpPr>
          <p:spPr>
            <a:xfrm>
              <a:off x="8870823" y="2796064"/>
              <a:ext cx="2965473"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Ağaç yapısına bağlı, daha kompakt</a:t>
              </a:r>
            </a:p>
          </p:txBody>
        </p:sp>
        <p:sp>
          <p:nvSpPr>
            <p:cNvPr id="24" name="Line 24"/>
            <p:cNvSpPr/>
            <p:nvPr/>
          </p:nvSpPr>
          <p:spPr>
            <a:xfrm>
              <a:off x="609600" y="31432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0" name="row4"/>
          <p:cNvGrpSpPr/>
          <p:nvPr/>
        </p:nvGrpSpPr>
        <p:grpSpPr>
          <a:xfrm>
            <a:off x="609600" y="3143250"/>
            <a:ext cx="11468201" cy="533400"/>
            <a:chOff x="609600" y="3143250"/>
            <a:chExt cx="11468201" cy="533400"/>
          </a:xfrm>
        </p:grpSpPr>
        <p:sp>
          <p:nvSpPr>
            <p:cNvPr id="26" name="Rectangle 26"/>
            <p:cNvSpPr/>
            <p:nvPr/>
          </p:nvSpPr>
          <p:spPr>
            <a:xfrm>
              <a:off x="609600" y="3143250"/>
              <a:ext cx="10972800" cy="533400"/>
            </a:xfrm>
            <a:prstGeom prst="rect">
              <a:avLst/>
            </a:prstGeom>
            <a:solidFill>
              <a:srgbClr val="EAF4F6"/>
            </a:solidFill>
            <a:ln>
              <a:noFill/>
            </a:ln>
          </p:spPr>
        </p:sp>
        <p:sp>
          <p:nvSpPr>
            <p:cNvPr id="27" name="TextBox 27"/>
            <p:cNvSpPr txBox="1"/>
            <p:nvPr/>
          </p:nvSpPr>
          <p:spPr>
            <a:xfrm>
              <a:off x="755142" y="3321368"/>
              <a:ext cx="215699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Kavramsal karmaşıklık</a:t>
              </a:r>
            </a:p>
          </p:txBody>
        </p:sp>
        <p:sp>
          <p:nvSpPr>
            <p:cNvPr id="28" name="TextBox 28"/>
            <p:cNvSpPr txBox="1"/>
            <p:nvPr/>
          </p:nvSpPr>
          <p:spPr>
            <a:xfrm>
              <a:off x="6146673" y="3329464"/>
              <a:ext cx="2336038"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Düşük — izlenebilir, öğretici</a:t>
              </a:r>
            </a:p>
          </p:txBody>
        </p:sp>
        <p:sp>
          <p:nvSpPr>
            <p:cNvPr id="29" name="TextBox 29"/>
            <p:cNvSpPr txBox="1"/>
            <p:nvPr/>
          </p:nvSpPr>
          <p:spPr>
            <a:xfrm>
              <a:off x="8870823" y="3329464"/>
              <a:ext cx="3206978"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Orta-yüksek — ağaç ve öneki soyuttur</a:t>
              </a:r>
            </a:p>
          </p:txBody>
        </p:sp>
      </p:grpSp>
      <p:grpSp>
        <p:nvGrpSpPr>
          <p:cNvPr id="35" name="row5"/>
          <p:cNvGrpSpPr/>
          <p:nvPr/>
        </p:nvGrpSpPr>
        <p:grpSpPr>
          <a:xfrm>
            <a:off x="609600" y="3854768"/>
            <a:ext cx="10972800" cy="364807"/>
            <a:chOff x="609600" y="3854768"/>
            <a:chExt cx="10972800" cy="364807"/>
          </a:xfrm>
        </p:grpSpPr>
        <p:sp>
          <p:nvSpPr>
            <p:cNvPr id="31" name="TextBox 31"/>
            <p:cNvSpPr txBox="1"/>
            <p:nvPr/>
          </p:nvSpPr>
          <p:spPr>
            <a:xfrm>
              <a:off x="755142" y="3854768"/>
              <a:ext cx="2958801"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Büyük/yoğun veride performans</a:t>
              </a:r>
            </a:p>
          </p:txBody>
        </p:sp>
        <p:sp>
          <p:nvSpPr>
            <p:cNvPr id="32" name="TextBox 32"/>
            <p:cNvSpPr txBox="1"/>
            <p:nvPr/>
          </p:nvSpPr>
          <p:spPr>
            <a:xfrm>
              <a:off x="6146673" y="3862864"/>
              <a:ext cx="492181"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Zayıf</a:t>
              </a:r>
            </a:p>
          </p:txBody>
        </p:sp>
        <p:sp>
          <p:nvSpPr>
            <p:cNvPr id="33" name="TextBox 33"/>
            <p:cNvSpPr txBox="1"/>
            <p:nvPr/>
          </p:nvSpPr>
          <p:spPr>
            <a:xfrm>
              <a:off x="8870823" y="3862864"/>
              <a:ext cx="448615"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Güçlü</a:t>
              </a:r>
            </a:p>
          </p:txBody>
        </p:sp>
        <p:sp>
          <p:nvSpPr>
            <p:cNvPr id="34" name="Line 34"/>
            <p:cNvSpPr/>
            <p:nvPr/>
          </p:nvSpPr>
          <p:spPr>
            <a:xfrm>
              <a:off x="609600" y="42100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0" name="row6"/>
          <p:cNvGrpSpPr/>
          <p:nvPr/>
        </p:nvGrpSpPr>
        <p:grpSpPr>
          <a:xfrm>
            <a:off x="609600" y="4210050"/>
            <a:ext cx="10972800" cy="533400"/>
            <a:chOff x="609600" y="4210050"/>
            <a:chExt cx="10972800" cy="533400"/>
          </a:xfrm>
        </p:grpSpPr>
        <p:sp>
          <p:nvSpPr>
            <p:cNvPr id="36" name="Rectangle 36"/>
            <p:cNvSpPr/>
            <p:nvPr/>
          </p:nvSpPr>
          <p:spPr>
            <a:xfrm>
              <a:off x="609600" y="4210050"/>
              <a:ext cx="10972800" cy="533400"/>
            </a:xfrm>
            <a:prstGeom prst="rect">
              <a:avLst/>
            </a:prstGeom>
            <a:solidFill>
              <a:srgbClr val="EAF4F6"/>
            </a:solidFill>
            <a:ln>
              <a:noFill/>
            </a:ln>
          </p:spPr>
        </p:sp>
        <p:sp>
          <p:nvSpPr>
            <p:cNvPr id="37" name="TextBox 37"/>
            <p:cNvSpPr txBox="1"/>
            <p:nvPr/>
          </p:nvSpPr>
          <p:spPr>
            <a:xfrm>
              <a:off x="755142" y="4388168"/>
              <a:ext cx="2548947"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Sonuç kümesi (aynı eşikte)</a:t>
              </a:r>
            </a:p>
          </p:txBody>
        </p:sp>
        <p:sp>
          <p:nvSpPr>
            <p:cNvPr id="38" name="TextBox 38"/>
            <p:cNvSpPr txBox="1"/>
            <p:nvPr/>
          </p:nvSpPr>
          <p:spPr>
            <a:xfrm>
              <a:off x="6146673" y="4396264"/>
              <a:ext cx="2241270"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Matematiksel olarak özdeş</a:t>
              </a:r>
            </a:p>
          </p:txBody>
        </p:sp>
        <p:sp>
          <p:nvSpPr>
            <p:cNvPr id="39" name="TextBox 39"/>
            <p:cNvSpPr txBox="1"/>
            <p:nvPr/>
          </p:nvSpPr>
          <p:spPr>
            <a:xfrm>
              <a:off x="8870823" y="4396264"/>
              <a:ext cx="2241270"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Matematiksel olarak özdeş</a:t>
              </a:r>
            </a:p>
          </p:txBody>
        </p:sp>
      </p:grpSp>
      <p:grpSp>
        <p:nvGrpSpPr>
          <p:cNvPr id="45" name="synthesis"/>
          <p:cNvGrpSpPr/>
          <p:nvPr/>
        </p:nvGrpSpPr>
        <p:grpSpPr>
          <a:xfrm>
            <a:off x="609600" y="4972050"/>
            <a:ext cx="10972800" cy="1123950"/>
            <a:chOff x="609600" y="4972050"/>
            <a:chExt cx="10972800" cy="1123950"/>
          </a:xfrm>
        </p:grpSpPr>
        <p:sp>
          <p:nvSpPr>
            <p:cNvPr id="41" name="Rectangle 41"/>
            <p:cNvSpPr/>
            <p:nvPr/>
          </p:nvSpPr>
          <p:spPr>
            <a:xfrm>
              <a:off x="609600" y="4972050"/>
              <a:ext cx="10972800" cy="1123950"/>
            </a:xfrm>
            <a:prstGeom prst="roundRect">
              <a:avLst>
                <a:gd name="adj" fmla="val 8475"/>
              </a:avLst>
            </a:prstGeom>
            <a:solidFill>
              <a:srgbClr val="FFFFFF"/>
            </a:solidFill>
            <a:ln w="14288">
              <a:solidFill>
                <a:srgbClr val="00A6A6"/>
              </a:solidFill>
            </a:ln>
          </p:spPr>
        </p:sp>
        <p:sp>
          <p:nvSpPr>
            <p:cNvPr id="42" name="TextBox 42"/>
            <p:cNvSpPr txBox="1"/>
            <p:nvPr/>
          </p:nvSpPr>
          <p:spPr>
            <a:xfrm>
              <a:off x="906780" y="5114925"/>
              <a:ext cx="721528"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Sentez</a:t>
              </a:r>
            </a:p>
          </p:txBody>
        </p:sp>
        <p:sp>
          <p:nvSpPr>
            <p:cNvPr id="43" name="TextBox 43"/>
            <p:cNvSpPr txBox="1"/>
            <p:nvPr/>
          </p:nvSpPr>
          <p:spPr>
            <a:xfrm>
              <a:off x="907923" y="5405914"/>
              <a:ext cx="7510988"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Küçük mağaza kataloğunda Apriori'nin izlenebilir mantığı hata ayıklamayı kolaylaştırır;</a:t>
              </a:r>
            </a:p>
          </p:txBody>
        </p:sp>
        <p:sp>
          <p:nvSpPr>
            <p:cNvPr id="44" name="TextBox 44"/>
            <p:cNvSpPr txBox="1"/>
            <p:nvPr/>
          </p:nvSpPr>
          <p:spPr>
            <a:xfrm>
              <a:off x="907923" y="5634514"/>
              <a:ext cx="8215009"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binlerce ürünlü bir e-ticaret kataloğunda FP-Growth'un tek geçişli tarayışı süreyi pratik tutar.</a:t>
              </a:r>
            </a:p>
          </p:txBody>
        </p:sp>
      </p:grpSp>
      <p:sp>
        <p:nvSpPr>
          <p:cNvPr id="46" name="TextBox 4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16 / 25</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11340776" cy="557403"/>
            <a:chOff x="595122" y="282892"/>
            <a:chExt cx="11340776" cy="557403"/>
          </a:xfrm>
        </p:grpSpPr>
        <p:sp>
          <p:nvSpPr>
            <p:cNvPr id="4" name="TextBox 4"/>
            <p:cNvSpPr txBox="1"/>
            <p:nvPr/>
          </p:nvSpPr>
          <p:spPr>
            <a:xfrm>
              <a:off x="595122" y="282892"/>
              <a:ext cx="1134077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Performans karşılaştırması: Apriori mi, FP-Growth mu?</a:t>
              </a:r>
            </a:p>
          </p:txBody>
        </p:sp>
      </p:grpSp>
      <p:grpSp>
        <p:nvGrpSpPr>
          <p:cNvPr id="12" name="method"/>
          <p:cNvGrpSpPr/>
          <p:nvPr/>
        </p:nvGrpSpPr>
        <p:grpSpPr>
          <a:xfrm>
            <a:off x="601599" y="1163479"/>
            <a:ext cx="4531023" cy="1488472"/>
            <a:chOff x="601599" y="1163479"/>
            <a:chExt cx="4531023" cy="1488472"/>
          </a:xfrm>
        </p:grpSpPr>
        <p:sp>
          <p:nvSpPr>
            <p:cNvPr id="6" name="TextBox 6"/>
            <p:cNvSpPr txBox="1"/>
            <p:nvPr/>
          </p:nvSpPr>
          <p:spPr>
            <a:xfrm>
              <a:off x="601599" y="1163479"/>
              <a:ext cx="154184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Ölçüm yöntemi</a:t>
              </a:r>
            </a:p>
          </p:txBody>
        </p:sp>
        <p:sp>
          <p:nvSpPr>
            <p:cNvPr id="7" name="TextBox 7"/>
            <p:cNvSpPr txBox="1"/>
            <p:nvPr/>
          </p:nvSpPr>
          <p:spPr>
            <a:xfrm>
              <a:off x="602742" y="1454468"/>
              <a:ext cx="3911975"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time.perf_counter ile min_support=0,15'te</a:t>
              </a:r>
            </a:p>
          </p:txBody>
        </p:sp>
        <p:sp>
          <p:nvSpPr>
            <p:cNvPr id="8" name="TextBox 8"/>
            <p:cNvSpPr txBox="1"/>
            <p:nvPr/>
          </p:nvSpPr>
          <p:spPr>
            <a:xfrm>
              <a:off x="602742" y="1664018"/>
              <a:ext cx="3439458"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50 tekrarlı ortalama süre ölçülür; tek</a:t>
              </a:r>
            </a:p>
          </p:txBody>
        </p:sp>
        <p:sp>
          <p:nvSpPr>
            <p:cNvPr id="9" name="TextBox 9"/>
            <p:cNvSpPr txBox="1"/>
            <p:nvPr/>
          </p:nvSpPr>
          <p:spPr>
            <a:xfrm>
              <a:off x="602742" y="1873568"/>
              <a:ext cx="4529880"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çalıştırmanın işletim sistemi gürültüsü azaltılır.</a:t>
              </a:r>
            </a:p>
          </p:txBody>
        </p:sp>
        <p:sp>
          <p:nvSpPr>
            <p:cNvPr id="10" name="TextBox 10"/>
            <p:cNvSpPr txBox="1"/>
            <p:nvPr/>
          </p:nvSpPr>
          <p:spPr>
            <a:xfrm>
              <a:off x="602742" y="2178368"/>
              <a:ext cx="384513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Sentetik veri küçük olduğundan mutlak süre</a:t>
              </a:r>
            </a:p>
          </p:txBody>
        </p:sp>
        <p:sp>
          <p:nvSpPr>
            <p:cNvPr id="11" name="TextBox 11"/>
            <p:cNvSpPr txBox="1"/>
            <p:nvPr/>
          </p:nvSpPr>
          <p:spPr>
            <a:xfrm>
              <a:off x="602742" y="2387918"/>
              <a:ext cx="1931041"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değil, oran önemlidir.</a:t>
              </a:r>
            </a:p>
          </p:txBody>
        </p:sp>
      </p:grpSp>
      <p:grpSp>
        <p:nvGrpSpPr>
          <p:cNvPr id="22" name="scale-note"/>
          <p:cNvGrpSpPr/>
          <p:nvPr/>
        </p:nvGrpSpPr>
        <p:grpSpPr>
          <a:xfrm>
            <a:off x="609600" y="2914650"/>
            <a:ext cx="5905500" cy="2228850"/>
            <a:chOff x="609600" y="2914650"/>
            <a:chExt cx="5905500" cy="2228850"/>
          </a:xfrm>
        </p:grpSpPr>
        <p:sp>
          <p:nvSpPr>
            <p:cNvPr id="13" name="Rectangle 13"/>
            <p:cNvSpPr/>
            <p:nvPr/>
          </p:nvSpPr>
          <p:spPr>
            <a:xfrm>
              <a:off x="609600" y="2914650"/>
              <a:ext cx="5905500" cy="2228850"/>
            </a:xfrm>
            <a:prstGeom prst="roundRect">
              <a:avLst>
                <a:gd name="adj" fmla="val 4274"/>
              </a:avLst>
            </a:prstGeom>
            <a:solidFill>
              <a:srgbClr val="EAF4F6"/>
            </a:solidFill>
            <a:ln>
              <a:noFill/>
            </a:ln>
          </p:spPr>
        </p:sp>
        <p:sp>
          <p:nvSpPr>
            <p:cNvPr id="14" name="TextBox 14"/>
            <p:cNvSpPr txBox="1"/>
            <p:nvPr/>
          </p:nvSpPr>
          <p:spPr>
            <a:xfrm>
              <a:off x="830961" y="3065621"/>
              <a:ext cx="1687177"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Fark neden büyür</a:t>
              </a:r>
            </a:p>
          </p:txBody>
        </p:sp>
        <p:sp>
          <p:nvSpPr>
            <p:cNvPr id="15" name="TextBox 15"/>
            <p:cNvSpPr txBox="1"/>
            <p:nvPr/>
          </p:nvSpPr>
          <p:spPr>
            <a:xfrm>
              <a:off x="831723" y="3348514"/>
              <a:ext cx="4119821"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Bu küçük sentetik veri kümesinde fark küçüktür;</a:t>
              </a:r>
            </a:p>
          </p:txBody>
        </p:sp>
        <p:sp>
          <p:nvSpPr>
            <p:cNvPr id="16" name="TextBox 16"/>
            <p:cNvSpPr txBox="1"/>
            <p:nvPr/>
          </p:nvSpPr>
          <p:spPr>
            <a:xfrm>
              <a:off x="831723" y="3558064"/>
              <a:ext cx="4157096"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işlem sayısı ve öğe çeşitliliği arttıkça — özellikle</a:t>
              </a:r>
            </a:p>
          </p:txBody>
        </p:sp>
        <p:sp>
          <p:nvSpPr>
            <p:cNvPr id="17" name="TextBox 17"/>
            <p:cNvSpPr txBox="1"/>
            <p:nvPr/>
          </p:nvSpPr>
          <p:spPr>
            <a:xfrm>
              <a:off x="831723" y="3767614"/>
              <a:ext cx="4012174"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min_support düşürüldükçe — FP-Growth'un aday</a:t>
              </a:r>
            </a:p>
          </p:txBody>
        </p:sp>
        <p:sp>
          <p:nvSpPr>
            <p:cNvPr id="18" name="TextBox 18"/>
            <p:cNvSpPr txBox="1"/>
            <p:nvPr/>
          </p:nvSpPr>
          <p:spPr>
            <a:xfrm>
              <a:off x="831723" y="3977164"/>
              <a:ext cx="3545383"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üretmeyen yapısı belirgin avantaj sağlar.</a:t>
              </a:r>
            </a:p>
          </p:txBody>
        </p:sp>
        <p:sp>
          <p:nvSpPr>
            <p:cNvPr id="19" name="TextBox 19"/>
            <p:cNvSpPr txBox="1"/>
            <p:nvPr/>
          </p:nvSpPr>
          <p:spPr>
            <a:xfrm>
              <a:off x="831723" y="4281964"/>
              <a:ext cx="3511066" cy="249364"/>
            </a:xfrm>
            <a:prstGeom prst="rect">
              <a:avLst/>
            </a:prstGeom>
            <a:noFill/>
            <a:ln>
              <a:noFill/>
            </a:ln>
          </p:spPr>
          <p:txBody>
            <a:bodyPr wrap="none" lIns="0" tIns="0" rIns="0" bIns="0" anchor="t" anchorCtr="0">
              <a:spAutoFit/>
            </a:bodyPr>
            <a:lstStyle/>
            <a:p>
              <a:pPr algn="l"/>
              <a:r>
                <a:rPr lang="tr-TR" sz="1280" b="1" dirty="0">
                  <a:solidFill>
                    <a:srgbClr val="2E86AB"/>
                  </a:solidFill>
                  <a:latin typeface="+mn-lt"/>
                  <a:ea typeface="+mn-ea"/>
                  <a:cs typeface="+mn-cs"/>
                </a:rPr>
                <a:t>Bu, veritabanı tarama sayısı farkının</a:t>
              </a:r>
            </a:p>
          </p:txBody>
        </p:sp>
        <p:sp>
          <p:nvSpPr>
            <p:cNvPr id="20" name="TextBox 20"/>
            <p:cNvSpPr txBox="1"/>
            <p:nvPr/>
          </p:nvSpPr>
          <p:spPr>
            <a:xfrm>
              <a:off x="831723" y="4491514"/>
              <a:ext cx="1858433" cy="249364"/>
            </a:xfrm>
            <a:prstGeom prst="rect">
              <a:avLst/>
            </a:prstGeom>
            <a:noFill/>
            <a:ln>
              <a:noFill/>
            </a:ln>
          </p:spPr>
          <p:txBody>
            <a:bodyPr wrap="none" lIns="0" tIns="0" rIns="0" bIns="0" anchor="t" anchorCtr="0">
              <a:spAutoFit/>
            </a:bodyPr>
            <a:lstStyle/>
            <a:p>
              <a:pPr algn="l"/>
              <a:r>
                <a:rPr lang="tr-TR" sz="1280" b="1" dirty="0">
                  <a:solidFill>
                    <a:srgbClr val="2E86AB"/>
                  </a:solidFill>
                  <a:latin typeface="+mn-lt"/>
                  <a:ea typeface="+mn-ea"/>
                  <a:cs typeface="+mn-cs"/>
                </a:rPr>
                <a:t>doğrudan sonucudur.</a:t>
              </a:r>
            </a:p>
          </p:txBody>
        </p:sp>
        <p:sp>
          <p:nvSpPr>
            <p:cNvPr id="21" name="TextBox 21"/>
            <p:cNvSpPr txBox="1"/>
            <p:nvPr/>
          </p:nvSpPr>
          <p:spPr>
            <a:xfrm>
              <a:off x="832104" y="4804410"/>
              <a:ext cx="434964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1000 işlemlik alıştırma verisinde fark katbekat büyür.</a:t>
              </a:r>
            </a:p>
          </p:txBody>
        </p:sp>
      </p:grpSp>
      <p:grpSp>
        <p:nvGrpSpPr>
          <p:cNvPr id="35" name="chart"/>
          <p:cNvGrpSpPr/>
          <p:nvPr/>
        </p:nvGrpSpPr>
        <p:grpSpPr>
          <a:xfrm>
            <a:off x="7200900" y="1187768"/>
            <a:ext cx="4381500" cy="4870132"/>
            <a:chOff x="7200900" y="1187768"/>
            <a:chExt cx="4381500" cy="4870132"/>
          </a:xfrm>
        </p:grpSpPr>
        <p:sp>
          <p:nvSpPr>
            <p:cNvPr id="23" name="TextBox 23"/>
            <p:cNvSpPr txBox="1"/>
            <p:nvPr/>
          </p:nvSpPr>
          <p:spPr>
            <a:xfrm>
              <a:off x="7463716" y="1187768"/>
              <a:ext cx="3474869" cy="264033"/>
            </a:xfrm>
            <a:prstGeom prst="rect">
              <a:avLst/>
            </a:prstGeom>
            <a:noFill/>
            <a:ln>
              <a:noFill/>
            </a:ln>
          </p:spPr>
          <p:txBody>
            <a:bodyPr wrap="none" lIns="0" tIns="0" rIns="0" bIns="0" anchor="t" anchorCtr="0">
              <a:spAutoFit/>
            </a:bodyPr>
            <a:lstStyle/>
            <a:p>
              <a:pPr algn="ctr"/>
              <a:r>
                <a:rPr lang="tr-TR" sz="1350" b="1" dirty="0">
                  <a:solidFill>
                    <a:srgbClr val="12355B"/>
                  </a:solidFill>
                  <a:latin typeface="+mn-lt"/>
                  <a:ea typeface="+mn-ea"/>
                  <a:cs typeface="+mn-cs"/>
                </a:rPr>
                <a:t>Ortalama çalışma süresi (50 tekrar)</a:t>
              </a:r>
            </a:p>
          </p:txBody>
        </p:sp>
        <p:sp>
          <p:nvSpPr>
            <p:cNvPr id="24" name="Line 24"/>
            <p:cNvSpPr/>
            <p:nvPr/>
          </p:nvSpPr>
          <p:spPr>
            <a:xfrm>
              <a:off x="7620000" y="1714500"/>
              <a:ext cx="9525" cy="2857500"/>
            </a:xfrm>
            <a:custGeom>
              <a:avLst/>
              <a:gdLst/>
              <a:ahLst/>
              <a:cxnLst/>
              <a:rect l="l" t="t" r="r" b="b"/>
              <a:pathLst>
                <a:path w="9525" h="2857500">
                  <a:moveTo>
                    <a:pt x="0" y="0"/>
                  </a:moveTo>
                  <a:lnTo>
                    <a:pt x="0" y="2857500"/>
                  </a:lnTo>
                </a:path>
              </a:pathLst>
            </a:custGeom>
            <a:noFill/>
            <a:ln w="14288">
              <a:solidFill>
                <a:srgbClr val="52616B"/>
              </a:solidFill>
            </a:ln>
          </p:spPr>
        </p:sp>
        <p:sp>
          <p:nvSpPr>
            <p:cNvPr id="25" name="Line 25"/>
            <p:cNvSpPr/>
            <p:nvPr/>
          </p:nvSpPr>
          <p:spPr>
            <a:xfrm>
              <a:off x="7620000" y="4572000"/>
              <a:ext cx="3619500" cy="9525"/>
            </a:xfrm>
            <a:custGeom>
              <a:avLst/>
              <a:gdLst/>
              <a:ahLst/>
              <a:cxnLst/>
              <a:rect l="l" t="t" r="r" b="b"/>
              <a:pathLst>
                <a:path w="3619500" h="9525">
                  <a:moveTo>
                    <a:pt x="0" y="0"/>
                  </a:moveTo>
                  <a:lnTo>
                    <a:pt x="3619500" y="0"/>
                  </a:lnTo>
                </a:path>
              </a:pathLst>
            </a:custGeom>
            <a:noFill/>
            <a:ln w="14288">
              <a:solidFill>
                <a:srgbClr val="52616B"/>
              </a:solidFill>
            </a:ln>
          </p:spPr>
        </p:sp>
        <p:sp>
          <p:nvSpPr>
            <p:cNvPr id="26" name="Rectangle 26"/>
            <p:cNvSpPr/>
            <p:nvPr/>
          </p:nvSpPr>
          <p:spPr>
            <a:xfrm>
              <a:off x="8191500" y="2190750"/>
              <a:ext cx="1047750" cy="2381250"/>
            </a:xfrm>
            <a:prstGeom prst="rect">
              <a:avLst/>
            </a:prstGeom>
            <a:solidFill>
              <a:srgbClr val="2E86AB"/>
            </a:solidFill>
            <a:ln>
              <a:noFill/>
            </a:ln>
          </p:spPr>
        </p:sp>
        <p:sp>
          <p:nvSpPr>
            <p:cNvPr id="27" name="TextBox 27"/>
            <p:cNvSpPr txBox="1"/>
            <p:nvPr/>
          </p:nvSpPr>
          <p:spPr>
            <a:xfrm>
              <a:off x="8315377" y="1957864"/>
              <a:ext cx="799996" cy="249364"/>
            </a:xfrm>
            <a:prstGeom prst="rect">
              <a:avLst/>
            </a:prstGeom>
            <a:noFill/>
            <a:ln>
              <a:noFill/>
            </a:ln>
          </p:spPr>
          <p:txBody>
            <a:bodyPr wrap="none" lIns="0" tIns="0" rIns="0" bIns="0" anchor="t" anchorCtr="0">
              <a:spAutoFit/>
            </a:bodyPr>
            <a:lstStyle/>
            <a:p>
              <a:pPr algn="ctr"/>
              <a:r>
                <a:rPr lang="tr-TR" sz="1280" b="1" dirty="0">
                  <a:solidFill>
                    <a:srgbClr val="12355B"/>
                  </a:solidFill>
                  <a:latin typeface="+mn-lt"/>
                  <a:ea typeface="+mn-ea"/>
                  <a:cs typeface="+mn-cs"/>
                </a:rPr>
                <a:t>0,751 ms</a:t>
              </a:r>
            </a:p>
          </p:txBody>
        </p:sp>
        <p:sp>
          <p:nvSpPr>
            <p:cNvPr id="28" name="TextBox 28"/>
            <p:cNvSpPr txBox="1"/>
            <p:nvPr/>
          </p:nvSpPr>
          <p:spPr>
            <a:xfrm>
              <a:off x="8436505" y="4671060"/>
              <a:ext cx="557740"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Apriori</a:t>
              </a:r>
            </a:p>
          </p:txBody>
        </p:sp>
        <p:sp>
          <p:nvSpPr>
            <p:cNvPr id="29" name="Rectangle 29"/>
            <p:cNvSpPr/>
            <p:nvPr/>
          </p:nvSpPr>
          <p:spPr>
            <a:xfrm>
              <a:off x="9715500" y="3000375"/>
              <a:ext cx="1047750" cy="1571625"/>
            </a:xfrm>
            <a:prstGeom prst="rect">
              <a:avLst/>
            </a:prstGeom>
            <a:solidFill>
              <a:srgbClr val="00A6A6"/>
            </a:solidFill>
            <a:ln>
              <a:noFill/>
            </a:ln>
          </p:spPr>
        </p:sp>
        <p:sp>
          <p:nvSpPr>
            <p:cNvPr id="30" name="TextBox 30"/>
            <p:cNvSpPr txBox="1"/>
            <p:nvPr/>
          </p:nvSpPr>
          <p:spPr>
            <a:xfrm>
              <a:off x="9839377" y="2767489"/>
              <a:ext cx="799996" cy="249364"/>
            </a:xfrm>
            <a:prstGeom prst="rect">
              <a:avLst/>
            </a:prstGeom>
            <a:noFill/>
            <a:ln>
              <a:noFill/>
            </a:ln>
          </p:spPr>
          <p:txBody>
            <a:bodyPr wrap="none" lIns="0" tIns="0" rIns="0" bIns="0" anchor="t" anchorCtr="0">
              <a:spAutoFit/>
            </a:bodyPr>
            <a:lstStyle/>
            <a:p>
              <a:pPr algn="ctr"/>
              <a:r>
                <a:rPr lang="tr-TR" sz="1280" b="1" dirty="0">
                  <a:solidFill>
                    <a:srgbClr val="12355B"/>
                  </a:solidFill>
                  <a:latin typeface="+mn-lt"/>
                  <a:ea typeface="+mn-ea"/>
                  <a:cs typeface="+mn-cs"/>
                </a:rPr>
                <a:t>0,494 ms</a:t>
              </a:r>
            </a:p>
          </p:txBody>
        </p:sp>
        <p:sp>
          <p:nvSpPr>
            <p:cNvPr id="31" name="TextBox 31"/>
            <p:cNvSpPr txBox="1"/>
            <p:nvPr/>
          </p:nvSpPr>
          <p:spPr>
            <a:xfrm>
              <a:off x="9808474" y="4671060"/>
              <a:ext cx="861803"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FP-Growth</a:t>
              </a:r>
            </a:p>
          </p:txBody>
        </p:sp>
        <p:sp>
          <p:nvSpPr>
            <p:cNvPr id="32" name="TextBox 32"/>
            <p:cNvSpPr txBox="1"/>
            <p:nvPr/>
          </p:nvSpPr>
          <p:spPr>
            <a:xfrm>
              <a:off x="7440857" y="5022056"/>
              <a:ext cx="3482486" cy="220028"/>
            </a:xfrm>
            <a:prstGeom prst="rect">
              <a:avLst/>
            </a:prstGeom>
            <a:noFill/>
            <a:ln>
              <a:noFill/>
            </a:ln>
          </p:spPr>
          <p:txBody>
            <a:bodyPr wrap="none" lIns="0" tIns="0" rIns="0" bIns="0" anchor="t" anchorCtr="0">
              <a:spAutoFit/>
            </a:bodyPr>
            <a:lstStyle/>
            <a:p>
              <a:pPr algn="ctr"/>
              <a:r>
                <a:rPr lang="tr-TR" sz="1120" dirty="0">
                  <a:solidFill>
                    <a:srgbClr val="52616B"/>
                  </a:solidFill>
                  <a:latin typeface="+mn-lt"/>
                  <a:ea typeface="+mn-ea"/>
                  <a:cs typeface="+mn-cs"/>
                </a:rPr>
                <a:t>FP-Growth, bu küçük veride de ~%34 daha hızlı</a:t>
              </a:r>
            </a:p>
          </p:txBody>
        </p:sp>
        <p:sp>
          <p:nvSpPr>
            <p:cNvPr id="33" name="Rectangle 33"/>
            <p:cNvSpPr/>
            <p:nvPr/>
          </p:nvSpPr>
          <p:spPr>
            <a:xfrm>
              <a:off x="7200900" y="5486400"/>
              <a:ext cx="4381500" cy="571500"/>
            </a:xfrm>
            <a:prstGeom prst="roundRect">
              <a:avLst>
                <a:gd name="adj" fmla="val 13333"/>
              </a:avLst>
            </a:prstGeom>
            <a:solidFill>
              <a:srgbClr val="12355B"/>
            </a:solidFill>
            <a:ln>
              <a:noFill/>
            </a:ln>
          </p:spPr>
        </p:sp>
        <p:sp>
          <p:nvSpPr>
            <p:cNvPr id="34" name="TextBox 34"/>
            <p:cNvSpPr txBox="1"/>
            <p:nvPr/>
          </p:nvSpPr>
          <p:spPr>
            <a:xfrm>
              <a:off x="7495779" y="5699760"/>
              <a:ext cx="3791741"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Aynı eşikte iki algoritma da aynı sonucu bulur</a:t>
              </a:r>
            </a:p>
          </p:txBody>
        </p:sp>
      </p:grpSp>
      <p:sp>
        <p:nvSpPr>
          <p:cNvPr id="36" name="TextBox 3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17 / 25</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9877303" cy="668845"/>
            <a:chOff x="609600" y="171450"/>
            <a:chExt cx="9877303"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24326"/>
                <a:ext cx="236220" cy="265748"/>
                <a:chOff x="777240" y="324326"/>
                <a:chExt cx="236220" cy="265748"/>
              </a:xfrm>
            </p:grpSpPr>
            <p:sp>
              <p:nvSpPr>
                <p:cNvPr id="5" name="Freeform 5"/>
                <p:cNvSpPr/>
                <p:nvPr/>
              </p:nvSpPr>
              <p:spPr>
                <a:xfrm>
                  <a:off x="777240" y="324326"/>
                  <a:ext cx="236220" cy="265748"/>
                </a:xfrm>
                <a:custGeom>
                  <a:avLst/>
                  <a:gdLst/>
                  <a:ahLst/>
                  <a:cxnLst/>
                  <a:rect l="l" t="t" r="r" b="b"/>
                  <a:pathLst>
                    <a:path w="236220" h="265748">
                      <a:moveTo>
                        <a:pt x="118110" y="0"/>
                      </a:moveTo>
                      <a:lnTo>
                        <a:pt x="236220" y="66437"/>
                      </a:lnTo>
                      <a:lnTo>
                        <a:pt x="236220" y="199311"/>
                      </a:lnTo>
                      <a:lnTo>
                        <a:pt x="118110" y="265748"/>
                      </a:lnTo>
                      <a:lnTo>
                        <a:pt x="0" y="199311"/>
                      </a:lnTo>
                      <a:lnTo>
                        <a:pt x="0" y="66437"/>
                      </a:lnTo>
                      <a:lnTo>
                        <a:pt x="118110" y="0"/>
                      </a:lnTo>
                    </a:path>
                  </a:pathLst>
                </a:custGeom>
                <a:noFill/>
                <a:ln w="24759" cap="rnd">
                  <a:solidFill>
                    <a:srgbClr val="FFFFFF"/>
                  </a:solidFill>
                  <a:round/>
                </a:ln>
              </p:spPr>
            </p:sp>
            <p:sp>
              <p:nvSpPr>
                <p:cNvPr id="6" name="Freeform 6"/>
                <p:cNvSpPr/>
                <p:nvPr/>
              </p:nvSpPr>
              <p:spPr>
                <a:xfrm>
                  <a:off x="895350" y="390763"/>
                  <a:ext cx="118110" cy="66437"/>
                </a:xfrm>
                <a:custGeom>
                  <a:avLst/>
                  <a:gdLst/>
                  <a:ahLst/>
                  <a:cxnLst/>
                  <a:rect l="l" t="t" r="r" b="b"/>
                  <a:pathLst>
                    <a:path w="118110" h="66437">
                      <a:moveTo>
                        <a:pt x="0" y="66437"/>
                      </a:moveTo>
                      <a:lnTo>
                        <a:pt x="118110" y="0"/>
                      </a:lnTo>
                    </a:path>
                  </a:pathLst>
                </a:custGeom>
                <a:noFill/>
                <a:ln w="24759" cap="rnd">
                  <a:solidFill>
                    <a:srgbClr val="FFFFFF"/>
                  </a:solidFill>
                  <a:round/>
                </a:ln>
              </p:spPr>
            </p:sp>
            <p:sp>
              <p:nvSpPr>
                <p:cNvPr id="7" name="Freeform 7"/>
                <p:cNvSpPr/>
                <p:nvPr/>
              </p:nvSpPr>
              <p:spPr>
                <a:xfrm>
                  <a:off x="895350" y="457200"/>
                  <a:ext cx="9525" cy="132874"/>
                </a:xfrm>
                <a:custGeom>
                  <a:avLst/>
                  <a:gdLst/>
                  <a:ahLst/>
                  <a:cxnLst/>
                  <a:rect l="l" t="t" r="r" b="b"/>
                  <a:pathLst>
                    <a:path w="9525" h="132874">
                      <a:moveTo>
                        <a:pt x="0" y="0"/>
                      </a:moveTo>
                      <a:lnTo>
                        <a:pt x="0" y="132874"/>
                      </a:lnTo>
                    </a:path>
                  </a:pathLst>
                </a:custGeom>
                <a:noFill/>
                <a:ln w="24759" cap="rnd">
                  <a:solidFill>
                    <a:srgbClr val="FFFFFF"/>
                  </a:solidFill>
                  <a:round/>
                </a:ln>
              </p:spPr>
            </p:sp>
            <p:sp>
              <p:nvSpPr>
                <p:cNvPr id="8" name="Freeform 8"/>
                <p:cNvSpPr/>
                <p:nvPr/>
              </p:nvSpPr>
              <p:spPr>
                <a:xfrm>
                  <a:off x="777240" y="390763"/>
                  <a:ext cx="118110" cy="66437"/>
                </a:xfrm>
                <a:custGeom>
                  <a:avLst/>
                  <a:gdLst/>
                  <a:ahLst/>
                  <a:cxnLst/>
                  <a:rect l="l" t="t" r="r" b="b"/>
                  <a:pathLst>
                    <a:path w="118110" h="66437">
                      <a:moveTo>
                        <a:pt x="118110" y="66437"/>
                      </a:moveTo>
                      <a:lnTo>
                        <a:pt x="0" y="0"/>
                      </a:lnTo>
                    </a:path>
                  </a:pathLst>
                </a:custGeom>
                <a:noFill/>
                <a:ln w="24759" cap="rnd">
                  <a:solidFill>
                    <a:srgbClr val="FFFFFF"/>
                  </a:solidFill>
                  <a:round/>
                </a:ln>
              </p:spPr>
            </p:sp>
          </p:grpSp>
        </p:grpSp>
        <p:sp>
          <p:nvSpPr>
            <p:cNvPr id="11" name="TextBox 11"/>
            <p:cNvSpPr txBox="1"/>
            <p:nvPr/>
          </p:nvSpPr>
          <p:spPr>
            <a:xfrm>
              <a:off x="1299972" y="282892"/>
              <a:ext cx="918693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Kural üretimi: sık öğe kümesinden yönlü kurala</a:t>
              </a:r>
            </a:p>
          </p:txBody>
        </p:sp>
      </p:grpSp>
      <p:grpSp>
        <p:nvGrpSpPr>
          <p:cNvPr id="15" name="definition"/>
          <p:cNvGrpSpPr/>
          <p:nvPr/>
        </p:nvGrpSpPr>
        <p:grpSpPr>
          <a:xfrm>
            <a:off x="601599" y="1144429"/>
            <a:ext cx="9882379" cy="555689"/>
            <a:chOff x="601599" y="1144429"/>
            <a:chExt cx="9882379" cy="555689"/>
          </a:xfrm>
        </p:grpSpPr>
        <p:sp>
          <p:nvSpPr>
            <p:cNvPr id="13" name="TextBox 13"/>
            <p:cNvSpPr txBox="1"/>
            <p:nvPr/>
          </p:nvSpPr>
          <p:spPr>
            <a:xfrm>
              <a:off x="601599" y="1144429"/>
              <a:ext cx="988237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Sık öğe kümeleri tek başına yönlü öneri sunmaz: {ekmek, süt}'ün sık olması, kime hangi ürünü</a:t>
              </a:r>
            </a:p>
          </p:txBody>
        </p:sp>
        <p:sp>
          <p:nvSpPr>
            <p:cNvPr id="14" name="TextBox 14"/>
            <p:cNvSpPr txBox="1"/>
            <p:nvPr/>
          </p:nvSpPr>
          <p:spPr>
            <a:xfrm>
              <a:off x="601599" y="1392079"/>
              <a:ext cx="9087640"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önereceğinizi söylemez. association_rules, olası tüm öncül/sonuç bölünmelerini üretir.</a:t>
              </a:r>
            </a:p>
          </p:txBody>
        </p:sp>
      </p:grpSp>
      <p:grpSp>
        <p:nvGrpSpPr>
          <p:cNvPr id="28" name="explosion"/>
          <p:cNvGrpSpPr/>
          <p:nvPr/>
        </p:nvGrpSpPr>
        <p:grpSpPr>
          <a:xfrm>
            <a:off x="609600" y="1905000"/>
            <a:ext cx="5334000" cy="3238500"/>
            <a:chOff x="609600" y="1905000"/>
            <a:chExt cx="5334000" cy="3238500"/>
          </a:xfrm>
        </p:grpSpPr>
        <p:sp>
          <p:nvSpPr>
            <p:cNvPr id="16" name="Rectangle 16"/>
            <p:cNvSpPr/>
            <p:nvPr/>
          </p:nvSpPr>
          <p:spPr>
            <a:xfrm>
              <a:off x="609600" y="1905000"/>
              <a:ext cx="5334000" cy="3238500"/>
            </a:xfrm>
            <a:prstGeom prst="roundRect">
              <a:avLst>
                <a:gd name="adj" fmla="val 2941"/>
              </a:avLst>
            </a:prstGeom>
            <a:solidFill>
              <a:srgbClr val="FFFFFF"/>
            </a:solidFill>
            <a:ln w="14288">
              <a:solidFill>
                <a:srgbClr val="B8CBD3"/>
              </a:solidFill>
            </a:ln>
          </p:spPr>
        </p:sp>
        <p:sp>
          <p:nvSpPr>
            <p:cNvPr id="17" name="TextBox 17"/>
            <p:cNvSpPr txBox="1"/>
            <p:nvPr/>
          </p:nvSpPr>
          <p:spPr>
            <a:xfrm>
              <a:off x="830580" y="2066925"/>
              <a:ext cx="2343501"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Kombinatoryal patlama</a:t>
              </a:r>
            </a:p>
          </p:txBody>
        </p:sp>
        <p:sp>
          <p:nvSpPr>
            <p:cNvPr id="18" name="Rectangle 18"/>
            <p:cNvSpPr/>
            <p:nvPr/>
          </p:nvSpPr>
          <p:spPr>
            <a:xfrm>
              <a:off x="838200" y="2419350"/>
              <a:ext cx="3048000" cy="495300"/>
            </a:xfrm>
            <a:prstGeom prst="roundRect">
              <a:avLst>
                <a:gd name="adj" fmla="val 11538"/>
              </a:avLst>
            </a:prstGeom>
            <a:solidFill>
              <a:srgbClr val="EAF4F6"/>
            </a:solidFill>
            <a:ln>
              <a:noFill/>
            </a:ln>
          </p:spPr>
        </p:sp>
        <p:sp>
          <p:nvSpPr>
            <p:cNvPr id="19" name="TextBox 19"/>
            <p:cNvSpPr txBox="1"/>
            <p:nvPr/>
          </p:nvSpPr>
          <p:spPr>
            <a:xfrm>
              <a:off x="984123" y="2586514"/>
              <a:ext cx="1839478" cy="249364"/>
            </a:xfrm>
            <a:prstGeom prst="rect">
              <a:avLst/>
            </a:prstGeom>
            <a:noFill/>
            <a:ln>
              <a:noFill/>
            </a:ln>
          </p:spPr>
          <p:txBody>
            <a:bodyPr wrap="none" lIns="0" tIns="0" rIns="0" bIns="0" anchor="t" anchorCtr="0">
              <a:spAutoFit/>
            </a:bodyPr>
            <a:lstStyle/>
            <a:p>
              <a:pPr algn="l"/>
              <a:r>
                <a:rPr lang="tr-TR" sz="1280" dirty="0">
                  <a:solidFill>
                    <a:srgbClr val="12355B"/>
                  </a:solidFill>
                  <a:latin typeface="+mn-lt"/>
                  <a:ea typeface="+mn-ea"/>
                  <a:cs typeface="+mn-cs"/>
                </a:rPr>
                <a:t>kural sayısı ≈ 2^n − 2</a:t>
              </a:r>
            </a:p>
          </p:txBody>
        </p:sp>
        <p:sp>
          <p:nvSpPr>
            <p:cNvPr id="20" name="TextBox 20"/>
            <p:cNvSpPr txBox="1"/>
            <p:nvPr/>
          </p:nvSpPr>
          <p:spPr>
            <a:xfrm>
              <a:off x="831723" y="3005614"/>
              <a:ext cx="3226603"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n öğeli bir sık kümeden türetilebilecek</a:t>
              </a:r>
            </a:p>
          </p:txBody>
        </p:sp>
        <p:sp>
          <p:nvSpPr>
            <p:cNvPr id="21" name="TextBox 21"/>
            <p:cNvSpPr txBox="1"/>
            <p:nvPr/>
          </p:nvSpPr>
          <p:spPr>
            <a:xfrm>
              <a:off x="831723" y="3215164"/>
              <a:ext cx="3278297"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yönlü bölünme sayısı (boş küme ve tüm</a:t>
              </a:r>
            </a:p>
          </p:txBody>
        </p:sp>
        <p:sp>
          <p:nvSpPr>
            <p:cNvPr id="22" name="TextBox 22"/>
            <p:cNvSpPr txBox="1"/>
            <p:nvPr/>
          </p:nvSpPr>
          <p:spPr>
            <a:xfrm>
              <a:off x="831723" y="3424714"/>
              <a:ext cx="3008863"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küme hariç). Sık öğe kümesi sayısı</a:t>
              </a:r>
            </a:p>
          </p:txBody>
        </p:sp>
        <p:sp>
          <p:nvSpPr>
            <p:cNvPr id="23" name="TextBox 23"/>
            <p:cNvSpPr txBox="1"/>
            <p:nvPr/>
          </p:nvSpPr>
          <p:spPr>
            <a:xfrm>
              <a:off x="831723" y="3634264"/>
              <a:ext cx="2976748"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arttıkça kural sayısı üstel büyür.</a:t>
              </a:r>
            </a:p>
          </p:txBody>
        </p:sp>
        <p:sp>
          <p:nvSpPr>
            <p:cNvPr id="24" name="TextBox 24"/>
            <p:cNvSpPr txBox="1"/>
            <p:nvPr/>
          </p:nvSpPr>
          <p:spPr>
            <a:xfrm>
              <a:off x="831723" y="3977164"/>
              <a:ext cx="2922739" cy="249364"/>
            </a:xfrm>
            <a:prstGeom prst="rect">
              <a:avLst/>
            </a:prstGeom>
            <a:noFill/>
            <a:ln>
              <a:noFill/>
            </a:ln>
          </p:spPr>
          <p:txBody>
            <a:bodyPr wrap="none" lIns="0" tIns="0" rIns="0" bIns="0" anchor="t" anchorCtr="0">
              <a:spAutoFit/>
            </a:bodyPr>
            <a:lstStyle/>
            <a:p>
              <a:pPr algn="l"/>
              <a:r>
                <a:rPr lang="tr-TR" sz="1280" b="1" dirty="0">
                  <a:solidFill>
                    <a:srgbClr val="2E86AB"/>
                  </a:solidFill>
                  <a:latin typeface="+mn-lt"/>
                  <a:ea typeface="+mn-ea"/>
                  <a:cs typeface="+mn-cs"/>
                </a:rPr>
                <a:t>Birkaç düzine sık öğe kümesinden</a:t>
              </a:r>
            </a:p>
          </p:txBody>
        </p:sp>
        <p:sp>
          <p:nvSpPr>
            <p:cNvPr id="25" name="TextBox 25"/>
            <p:cNvSpPr txBox="1"/>
            <p:nvPr/>
          </p:nvSpPr>
          <p:spPr>
            <a:xfrm>
              <a:off x="831723" y="4186714"/>
              <a:ext cx="2383128" cy="249364"/>
            </a:xfrm>
            <a:prstGeom prst="rect">
              <a:avLst/>
            </a:prstGeom>
            <a:noFill/>
            <a:ln>
              <a:noFill/>
            </a:ln>
          </p:spPr>
          <p:txBody>
            <a:bodyPr wrap="none" lIns="0" tIns="0" rIns="0" bIns="0" anchor="t" anchorCtr="0">
              <a:spAutoFit/>
            </a:bodyPr>
            <a:lstStyle/>
            <a:p>
              <a:pPr algn="l"/>
              <a:r>
                <a:rPr lang="tr-TR" sz="1280" b="1" dirty="0">
                  <a:solidFill>
                    <a:srgbClr val="2E86AB"/>
                  </a:solidFill>
                  <a:latin typeface="+mn-lt"/>
                  <a:ea typeface="+mn-ea"/>
                  <a:cs typeface="+mn-cs"/>
                </a:rPr>
                <a:t>yüzlerce kural türeyebilir.</a:t>
              </a:r>
            </a:p>
          </p:txBody>
        </p:sp>
        <p:sp>
          <p:nvSpPr>
            <p:cNvPr id="26" name="TextBox 26"/>
            <p:cNvSpPr txBox="1"/>
            <p:nvPr/>
          </p:nvSpPr>
          <p:spPr>
            <a:xfrm>
              <a:off x="832104" y="4537710"/>
              <a:ext cx="403254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Örnek: min_support=0,2 ile bulunan sık kümelerden</a:t>
              </a:r>
            </a:p>
          </p:txBody>
        </p:sp>
        <p:sp>
          <p:nvSpPr>
            <p:cNvPr id="27" name="TextBox 27"/>
            <p:cNvSpPr txBox="1"/>
            <p:nvPr/>
          </p:nvSpPr>
          <p:spPr>
            <a:xfrm>
              <a:off x="832104" y="4747260"/>
              <a:ext cx="325922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confidence≥0,5 eşiğiyle 13 kural üretilir.</a:t>
              </a:r>
            </a:p>
          </p:txBody>
        </p:sp>
      </p:grpSp>
      <p:grpSp>
        <p:nvGrpSpPr>
          <p:cNvPr id="44" name="usage"/>
          <p:cNvGrpSpPr/>
          <p:nvPr/>
        </p:nvGrpSpPr>
        <p:grpSpPr>
          <a:xfrm>
            <a:off x="6248400" y="1905000"/>
            <a:ext cx="5334000" cy="3238500"/>
            <a:chOff x="6248400" y="1905000"/>
            <a:chExt cx="5334000" cy="3238500"/>
          </a:xfrm>
        </p:grpSpPr>
        <p:sp>
          <p:nvSpPr>
            <p:cNvPr id="29" name="Rectangle 29"/>
            <p:cNvSpPr/>
            <p:nvPr/>
          </p:nvSpPr>
          <p:spPr>
            <a:xfrm>
              <a:off x="6248400" y="1905000"/>
              <a:ext cx="5334000" cy="3238500"/>
            </a:xfrm>
            <a:prstGeom prst="roundRect">
              <a:avLst>
                <a:gd name="adj" fmla="val 2941"/>
              </a:avLst>
            </a:prstGeom>
            <a:solidFill>
              <a:srgbClr val="EAF4F6"/>
            </a:solidFill>
            <a:ln>
              <a:noFill/>
            </a:ln>
          </p:spPr>
        </p:sp>
        <p:sp>
          <p:nvSpPr>
            <p:cNvPr id="30" name="TextBox 30"/>
            <p:cNvSpPr txBox="1"/>
            <p:nvPr/>
          </p:nvSpPr>
          <p:spPr>
            <a:xfrm>
              <a:off x="6469380" y="2066925"/>
              <a:ext cx="2782186"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association_rules ne yapar</a:t>
              </a:r>
            </a:p>
          </p:txBody>
        </p:sp>
        <p:sp>
          <p:nvSpPr>
            <p:cNvPr id="31" name="Rectangle 31"/>
            <p:cNvSpPr/>
            <p:nvPr/>
          </p:nvSpPr>
          <p:spPr>
            <a:xfrm>
              <a:off x="6477000" y="2419350"/>
              <a:ext cx="57150" cy="247650"/>
            </a:xfrm>
            <a:prstGeom prst="rect">
              <a:avLst/>
            </a:prstGeom>
            <a:solidFill>
              <a:srgbClr val="00A6A6"/>
            </a:solidFill>
            <a:ln>
              <a:noFill/>
            </a:ln>
          </p:spPr>
        </p:sp>
        <p:sp>
          <p:nvSpPr>
            <p:cNvPr id="32" name="TextBox 32"/>
            <p:cNvSpPr txBox="1"/>
            <p:nvPr/>
          </p:nvSpPr>
          <p:spPr>
            <a:xfrm>
              <a:off x="6661023" y="2472214"/>
              <a:ext cx="4438357"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Sık kümelerden tüm öncül/sonuç bölünmelerini üretir</a:t>
              </a:r>
            </a:p>
          </p:txBody>
        </p:sp>
        <p:sp>
          <p:nvSpPr>
            <p:cNvPr id="33" name="Rectangle 33"/>
            <p:cNvSpPr/>
            <p:nvPr/>
          </p:nvSpPr>
          <p:spPr>
            <a:xfrm>
              <a:off x="6477000" y="2762250"/>
              <a:ext cx="57150" cy="247650"/>
            </a:xfrm>
            <a:prstGeom prst="rect">
              <a:avLst/>
            </a:prstGeom>
            <a:solidFill>
              <a:srgbClr val="00A6A6"/>
            </a:solidFill>
            <a:ln>
              <a:noFill/>
            </a:ln>
          </p:spPr>
        </p:sp>
        <p:sp>
          <p:nvSpPr>
            <p:cNvPr id="34" name="TextBox 34"/>
            <p:cNvSpPr txBox="1"/>
            <p:nvPr/>
          </p:nvSpPr>
          <p:spPr>
            <a:xfrm>
              <a:off x="6661023" y="2815114"/>
              <a:ext cx="3861271"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Her biri için destek, güven, kaldıraç hesaplar</a:t>
              </a:r>
            </a:p>
          </p:txBody>
        </p:sp>
        <p:sp>
          <p:nvSpPr>
            <p:cNvPr id="35" name="Rectangle 35"/>
            <p:cNvSpPr/>
            <p:nvPr/>
          </p:nvSpPr>
          <p:spPr>
            <a:xfrm>
              <a:off x="6477000" y="3105150"/>
              <a:ext cx="57150" cy="247650"/>
            </a:xfrm>
            <a:prstGeom prst="rect">
              <a:avLst/>
            </a:prstGeom>
            <a:solidFill>
              <a:srgbClr val="00A6A6"/>
            </a:solidFill>
            <a:ln>
              <a:noFill/>
            </a:ln>
          </p:spPr>
        </p:sp>
        <p:sp>
          <p:nvSpPr>
            <p:cNvPr id="36" name="TextBox 36"/>
            <p:cNvSpPr txBox="1"/>
            <p:nvPr/>
          </p:nvSpPr>
          <p:spPr>
            <a:xfrm>
              <a:off x="6661023" y="3158014"/>
              <a:ext cx="4010630"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metric ve min_threshold ile baştan eleme sağlar</a:t>
              </a:r>
            </a:p>
          </p:txBody>
        </p:sp>
        <p:sp>
          <p:nvSpPr>
            <p:cNvPr id="37" name="Rectangle 37"/>
            <p:cNvSpPr/>
            <p:nvPr/>
          </p:nvSpPr>
          <p:spPr>
            <a:xfrm>
              <a:off x="6477000" y="3448050"/>
              <a:ext cx="57150" cy="438150"/>
            </a:xfrm>
            <a:prstGeom prst="rect">
              <a:avLst/>
            </a:prstGeom>
            <a:solidFill>
              <a:srgbClr val="00A6A6"/>
            </a:solidFill>
            <a:ln>
              <a:noFill/>
            </a:ln>
          </p:spPr>
        </p:sp>
        <p:sp>
          <p:nvSpPr>
            <p:cNvPr id="38" name="TextBox 38"/>
            <p:cNvSpPr txBox="1"/>
            <p:nvPr/>
          </p:nvSpPr>
          <p:spPr>
            <a:xfrm>
              <a:off x="6661404" y="3470910"/>
              <a:ext cx="234650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num_itemsets parametresiyle</a:t>
              </a:r>
            </a:p>
          </p:txBody>
        </p:sp>
        <p:sp>
          <p:nvSpPr>
            <p:cNvPr id="39" name="TextBox 39"/>
            <p:cNvSpPr txBox="1"/>
            <p:nvPr/>
          </p:nvSpPr>
          <p:spPr>
            <a:xfrm>
              <a:off x="6661404" y="3661410"/>
              <a:ext cx="250804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metrikleri doğru normalize eder</a:t>
              </a:r>
            </a:p>
          </p:txBody>
        </p:sp>
        <p:sp>
          <p:nvSpPr>
            <p:cNvPr id="40" name="TextBox 40"/>
            <p:cNvSpPr txBox="1"/>
            <p:nvPr/>
          </p:nvSpPr>
          <p:spPr>
            <a:xfrm>
              <a:off x="6470523" y="3958114"/>
              <a:ext cx="3755552"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Bu adım her zaman gereklidir; atlanamaz —</a:t>
              </a:r>
            </a:p>
          </p:txBody>
        </p:sp>
        <p:sp>
          <p:nvSpPr>
            <p:cNvPr id="41" name="TextBox 41"/>
            <p:cNvSpPr txBox="1"/>
            <p:nvPr/>
          </p:nvSpPr>
          <p:spPr>
            <a:xfrm>
              <a:off x="6470523" y="4167664"/>
              <a:ext cx="3875794"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ancak filtreleme eşiği bağlama göre değişir.</a:t>
              </a:r>
            </a:p>
          </p:txBody>
        </p:sp>
        <p:sp>
          <p:nvSpPr>
            <p:cNvPr id="42" name="TextBox 42"/>
            <p:cNvSpPr txBox="1"/>
            <p:nvPr/>
          </p:nvSpPr>
          <p:spPr>
            <a:xfrm>
              <a:off x="6470904" y="4518660"/>
              <a:ext cx="297384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Öneri motoru: yüksek güven öncelikli.</a:t>
              </a:r>
            </a:p>
          </p:txBody>
        </p:sp>
        <p:sp>
          <p:nvSpPr>
            <p:cNvPr id="43" name="TextBox 43"/>
            <p:cNvSpPr txBox="1"/>
            <p:nvPr/>
          </p:nvSpPr>
          <p:spPr>
            <a:xfrm>
              <a:off x="6470904" y="4728210"/>
              <a:ext cx="357968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Kampanya tasarımı: yüksek destek öncelikli.</a:t>
              </a:r>
            </a:p>
          </p:txBody>
        </p:sp>
      </p:grpSp>
      <p:grpSp>
        <p:nvGrpSpPr>
          <p:cNvPr id="48" name="warning"/>
          <p:cNvGrpSpPr/>
          <p:nvPr/>
        </p:nvGrpSpPr>
        <p:grpSpPr>
          <a:xfrm>
            <a:off x="609600" y="5334000"/>
            <a:ext cx="10972800" cy="628650"/>
            <a:chOff x="609600" y="5334000"/>
            <a:chExt cx="10972800" cy="628650"/>
          </a:xfrm>
        </p:grpSpPr>
        <p:sp>
          <p:nvSpPr>
            <p:cNvPr id="45" name="Rectangle 45"/>
            <p:cNvSpPr/>
            <p:nvPr/>
          </p:nvSpPr>
          <p:spPr>
            <a:xfrm>
              <a:off x="609600" y="5334000"/>
              <a:ext cx="10972800" cy="628650"/>
            </a:xfrm>
            <a:prstGeom prst="roundRect">
              <a:avLst>
                <a:gd name="adj" fmla="val 12121"/>
              </a:avLst>
            </a:prstGeom>
            <a:solidFill>
              <a:srgbClr val="12355B"/>
            </a:solidFill>
            <a:ln>
              <a:noFill/>
            </a:ln>
          </p:spPr>
        </p:sp>
        <p:sp>
          <p:nvSpPr>
            <p:cNvPr id="46" name="TextBox 46"/>
            <p:cNvSpPr txBox="1"/>
            <p:nvPr/>
          </p:nvSpPr>
          <p:spPr>
            <a:xfrm>
              <a:off x="907923" y="5463064"/>
              <a:ext cx="1068284" cy="249364"/>
            </a:xfrm>
            <a:prstGeom prst="rect">
              <a:avLst/>
            </a:prstGeom>
            <a:noFill/>
            <a:ln>
              <a:noFill/>
            </a:ln>
          </p:spPr>
          <p:txBody>
            <a:bodyPr wrap="none" lIns="0" tIns="0" rIns="0" bIns="0" anchor="t" anchorCtr="0">
              <a:spAutoFit/>
            </a:bodyPr>
            <a:lstStyle/>
            <a:p>
              <a:pPr algn="l"/>
              <a:r>
                <a:rPr lang="tr-TR" sz="1280" b="1" dirty="0">
                  <a:solidFill>
                    <a:srgbClr val="FFFFFF"/>
                  </a:solidFill>
                  <a:latin typeface="+mn-lt"/>
                  <a:ea typeface="+mn-ea"/>
                  <a:cs typeface="+mn-cs"/>
                </a:rPr>
                <a:t>Yaygın hata</a:t>
              </a:r>
            </a:p>
          </p:txBody>
        </p:sp>
        <p:sp>
          <p:nvSpPr>
            <p:cNvPr id="47" name="TextBox 47"/>
            <p:cNvSpPr txBox="1"/>
            <p:nvPr/>
          </p:nvSpPr>
          <p:spPr>
            <a:xfrm>
              <a:off x="908304" y="5699760"/>
              <a:ext cx="9839168"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Üretilen tüm kuralları filtresiz raporlamak — iş paydaşlarına yüzlerce anlamsız kural sunmak raporun güvenilirliğini zedeler.</a:t>
              </a:r>
            </a:p>
          </p:txBody>
        </p:sp>
      </p:grpSp>
      <p:sp>
        <p:nvSpPr>
          <p:cNvPr id="49" name="TextBox 4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18 / 25</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10274226" cy="557403"/>
            <a:chOff x="595122" y="282892"/>
            <a:chExt cx="10274226" cy="557403"/>
          </a:xfrm>
        </p:grpSpPr>
        <p:sp>
          <p:nvSpPr>
            <p:cNvPr id="4" name="TextBox 4"/>
            <p:cNvSpPr txBox="1"/>
            <p:nvPr/>
          </p:nvSpPr>
          <p:spPr>
            <a:xfrm>
              <a:off x="595122" y="282892"/>
              <a:ext cx="1027422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Kaldıraca göre filtreleme: anlamlı kuralı ayıklamak</a:t>
              </a:r>
            </a:p>
          </p:txBody>
        </p:sp>
      </p:grpSp>
      <p:grpSp>
        <p:nvGrpSpPr>
          <p:cNvPr id="8" name="lead"/>
          <p:cNvGrpSpPr/>
          <p:nvPr/>
        </p:nvGrpSpPr>
        <p:grpSpPr>
          <a:xfrm>
            <a:off x="602742" y="1149668"/>
            <a:ext cx="7764799" cy="473583"/>
            <a:chOff x="602742" y="1149668"/>
            <a:chExt cx="7764799" cy="473583"/>
          </a:xfrm>
        </p:grpSpPr>
        <p:sp>
          <p:nvSpPr>
            <p:cNvPr id="6" name="TextBox 6"/>
            <p:cNvSpPr txBox="1"/>
            <p:nvPr/>
          </p:nvSpPr>
          <p:spPr>
            <a:xfrm>
              <a:off x="602742" y="1149668"/>
              <a:ext cx="7764799"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13 kuralın hepsi yüksek güvene sahip olabilir; ama yalnızca lift &gt; 1 olanlar rastlantıdan</a:t>
              </a:r>
            </a:p>
          </p:txBody>
        </p:sp>
        <p:sp>
          <p:nvSpPr>
            <p:cNvPr id="7" name="TextBox 7"/>
            <p:cNvSpPr txBox="1"/>
            <p:nvPr/>
          </p:nvSpPr>
          <p:spPr>
            <a:xfrm>
              <a:off x="602742" y="1359218"/>
              <a:ext cx="2312689"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güçlü bir ilişkiyi gösterir.</a:t>
              </a:r>
            </a:p>
          </p:txBody>
        </p:sp>
      </p:grpSp>
      <p:grpSp>
        <p:nvGrpSpPr>
          <p:cNvPr id="14" name="table-header"/>
          <p:cNvGrpSpPr/>
          <p:nvPr/>
        </p:nvGrpSpPr>
        <p:grpSpPr>
          <a:xfrm>
            <a:off x="609600" y="1695450"/>
            <a:ext cx="10972800" cy="381000"/>
            <a:chOff x="609600" y="1695450"/>
            <a:chExt cx="10972800" cy="381000"/>
          </a:xfrm>
        </p:grpSpPr>
        <p:sp>
          <p:nvSpPr>
            <p:cNvPr id="9" name="Rectangle 9"/>
            <p:cNvSpPr/>
            <p:nvPr/>
          </p:nvSpPr>
          <p:spPr>
            <a:xfrm>
              <a:off x="609600" y="1695450"/>
              <a:ext cx="10972800" cy="381000"/>
            </a:xfrm>
            <a:prstGeom prst="rect">
              <a:avLst/>
            </a:prstGeom>
            <a:solidFill>
              <a:srgbClr val="12355B"/>
            </a:solidFill>
            <a:ln>
              <a:noFill/>
            </a:ln>
          </p:spPr>
        </p:sp>
        <p:sp>
          <p:nvSpPr>
            <p:cNvPr id="10" name="TextBox 10"/>
            <p:cNvSpPr txBox="1"/>
            <p:nvPr/>
          </p:nvSpPr>
          <p:spPr>
            <a:xfrm>
              <a:off x="756285" y="1821656"/>
              <a:ext cx="514106"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KURAL</a:t>
              </a:r>
            </a:p>
          </p:txBody>
        </p:sp>
        <p:sp>
          <p:nvSpPr>
            <p:cNvPr id="11" name="TextBox 11"/>
            <p:cNvSpPr txBox="1"/>
            <p:nvPr/>
          </p:nvSpPr>
          <p:spPr>
            <a:xfrm>
              <a:off x="5899785" y="1821656"/>
              <a:ext cx="514106"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GÜVEN</a:t>
              </a:r>
            </a:p>
          </p:txBody>
        </p:sp>
        <p:sp>
          <p:nvSpPr>
            <p:cNvPr id="12" name="TextBox 12"/>
            <p:cNvSpPr txBox="1"/>
            <p:nvPr/>
          </p:nvSpPr>
          <p:spPr>
            <a:xfrm>
              <a:off x="7614285" y="1821656"/>
              <a:ext cx="780294"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KALDIRAÇ</a:t>
              </a:r>
            </a:p>
          </p:txBody>
        </p:sp>
        <p:sp>
          <p:nvSpPr>
            <p:cNvPr id="13" name="TextBox 13"/>
            <p:cNvSpPr txBox="1"/>
            <p:nvPr/>
          </p:nvSpPr>
          <p:spPr>
            <a:xfrm>
              <a:off x="9328785" y="1821656"/>
              <a:ext cx="581016"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YORUM</a:t>
              </a:r>
            </a:p>
          </p:txBody>
        </p:sp>
      </p:grpSp>
      <p:grpSp>
        <p:nvGrpSpPr>
          <p:cNvPr id="20" name="row1"/>
          <p:cNvGrpSpPr/>
          <p:nvPr/>
        </p:nvGrpSpPr>
        <p:grpSpPr>
          <a:xfrm>
            <a:off x="609600" y="2213610"/>
            <a:ext cx="10972800" cy="310515"/>
            <a:chOff x="609600" y="2213610"/>
            <a:chExt cx="10972800" cy="310515"/>
          </a:xfrm>
        </p:grpSpPr>
        <p:sp>
          <p:nvSpPr>
            <p:cNvPr id="15" name="TextBox 15"/>
            <p:cNvSpPr txBox="1"/>
            <p:nvPr/>
          </p:nvSpPr>
          <p:spPr>
            <a:xfrm>
              <a:off x="755904" y="2213610"/>
              <a:ext cx="208803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{yumurta, ekmek} → {süt}</a:t>
              </a:r>
            </a:p>
          </p:txBody>
        </p:sp>
        <p:sp>
          <p:nvSpPr>
            <p:cNvPr id="16" name="TextBox 16"/>
            <p:cNvSpPr txBox="1"/>
            <p:nvPr/>
          </p:nvSpPr>
          <p:spPr>
            <a:xfrm>
              <a:off x="5899404" y="2213610"/>
              <a:ext cx="4564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1,000</a:t>
              </a:r>
            </a:p>
          </p:txBody>
        </p:sp>
        <p:sp>
          <p:nvSpPr>
            <p:cNvPr id="17" name="TextBox 17"/>
            <p:cNvSpPr txBox="1"/>
            <p:nvPr/>
          </p:nvSpPr>
          <p:spPr>
            <a:xfrm>
              <a:off x="7613904" y="2213610"/>
              <a:ext cx="478650"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1,500</a:t>
              </a:r>
            </a:p>
          </p:txBody>
        </p:sp>
        <p:sp>
          <p:nvSpPr>
            <p:cNvPr id="18" name="TextBox 18"/>
            <p:cNvSpPr txBox="1"/>
            <p:nvPr/>
          </p:nvSpPr>
          <p:spPr>
            <a:xfrm>
              <a:off x="9328785" y="2221706"/>
              <a:ext cx="1538788"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Güçlü, öncelikli kural</a:t>
              </a:r>
            </a:p>
          </p:txBody>
        </p:sp>
        <p:sp>
          <p:nvSpPr>
            <p:cNvPr id="19" name="Line 19"/>
            <p:cNvSpPr/>
            <p:nvPr/>
          </p:nvSpPr>
          <p:spPr>
            <a:xfrm>
              <a:off x="609600" y="25146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6" name="row2"/>
          <p:cNvGrpSpPr/>
          <p:nvPr/>
        </p:nvGrpSpPr>
        <p:grpSpPr>
          <a:xfrm>
            <a:off x="609600" y="2514600"/>
            <a:ext cx="10972800" cy="438150"/>
            <a:chOff x="609600" y="2514600"/>
            <a:chExt cx="10972800" cy="438150"/>
          </a:xfrm>
        </p:grpSpPr>
        <p:sp>
          <p:nvSpPr>
            <p:cNvPr id="21" name="Rectangle 21"/>
            <p:cNvSpPr/>
            <p:nvPr/>
          </p:nvSpPr>
          <p:spPr>
            <a:xfrm>
              <a:off x="609600" y="2514600"/>
              <a:ext cx="10972800" cy="438150"/>
            </a:xfrm>
            <a:prstGeom prst="rect">
              <a:avLst/>
            </a:prstGeom>
            <a:solidFill>
              <a:srgbClr val="EAF4F6"/>
            </a:solidFill>
            <a:ln>
              <a:noFill/>
            </a:ln>
          </p:spPr>
        </p:sp>
        <p:sp>
          <p:nvSpPr>
            <p:cNvPr id="22" name="TextBox 22"/>
            <p:cNvSpPr txBox="1"/>
            <p:nvPr/>
          </p:nvSpPr>
          <p:spPr>
            <a:xfrm>
              <a:off x="755904" y="2651760"/>
              <a:ext cx="170032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{peynir} → {yumurta}</a:t>
              </a:r>
            </a:p>
          </p:txBody>
        </p:sp>
        <p:sp>
          <p:nvSpPr>
            <p:cNvPr id="23" name="TextBox 23"/>
            <p:cNvSpPr txBox="1"/>
            <p:nvPr/>
          </p:nvSpPr>
          <p:spPr>
            <a:xfrm>
              <a:off x="5899404" y="2651760"/>
              <a:ext cx="4564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0,800</a:t>
              </a:r>
            </a:p>
          </p:txBody>
        </p:sp>
        <p:sp>
          <p:nvSpPr>
            <p:cNvPr id="24" name="TextBox 24"/>
            <p:cNvSpPr txBox="1"/>
            <p:nvPr/>
          </p:nvSpPr>
          <p:spPr>
            <a:xfrm>
              <a:off x="7613904" y="2651760"/>
              <a:ext cx="478650"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1,440</a:t>
              </a:r>
            </a:p>
          </p:txBody>
        </p:sp>
        <p:sp>
          <p:nvSpPr>
            <p:cNvPr id="25" name="TextBox 25"/>
            <p:cNvSpPr txBox="1"/>
            <p:nvPr/>
          </p:nvSpPr>
          <p:spPr>
            <a:xfrm>
              <a:off x="9328785" y="2659856"/>
              <a:ext cx="784336"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Güçlü ilişki</a:t>
              </a:r>
            </a:p>
          </p:txBody>
        </p:sp>
      </p:grpSp>
      <p:grpSp>
        <p:nvGrpSpPr>
          <p:cNvPr id="32" name="row3"/>
          <p:cNvGrpSpPr/>
          <p:nvPr/>
        </p:nvGrpSpPr>
        <p:grpSpPr>
          <a:xfrm>
            <a:off x="609600" y="3089910"/>
            <a:ext cx="10972800" cy="310515"/>
            <a:chOff x="609600" y="3089910"/>
            <a:chExt cx="10972800" cy="310515"/>
          </a:xfrm>
        </p:grpSpPr>
        <p:sp>
          <p:nvSpPr>
            <p:cNvPr id="27" name="TextBox 27"/>
            <p:cNvSpPr txBox="1"/>
            <p:nvPr/>
          </p:nvSpPr>
          <p:spPr>
            <a:xfrm>
              <a:off x="755904" y="3089910"/>
              <a:ext cx="174071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{tereyağı} → {ekmek}</a:t>
              </a:r>
            </a:p>
          </p:txBody>
        </p:sp>
        <p:sp>
          <p:nvSpPr>
            <p:cNvPr id="28" name="TextBox 28"/>
            <p:cNvSpPr txBox="1"/>
            <p:nvPr/>
          </p:nvSpPr>
          <p:spPr>
            <a:xfrm>
              <a:off x="5899404" y="3089910"/>
              <a:ext cx="4564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0,857</a:t>
              </a:r>
            </a:p>
          </p:txBody>
        </p:sp>
        <p:sp>
          <p:nvSpPr>
            <p:cNvPr id="29" name="TextBox 29"/>
            <p:cNvSpPr txBox="1"/>
            <p:nvPr/>
          </p:nvSpPr>
          <p:spPr>
            <a:xfrm>
              <a:off x="7613904" y="3089910"/>
              <a:ext cx="478650"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1,403</a:t>
              </a:r>
            </a:p>
          </p:txBody>
        </p:sp>
        <p:sp>
          <p:nvSpPr>
            <p:cNvPr id="30" name="TextBox 30"/>
            <p:cNvSpPr txBox="1"/>
            <p:nvPr/>
          </p:nvSpPr>
          <p:spPr>
            <a:xfrm>
              <a:off x="9328785" y="3098006"/>
              <a:ext cx="1773185"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Yüksek güven + kaldıraç</a:t>
              </a:r>
            </a:p>
          </p:txBody>
        </p:sp>
        <p:sp>
          <p:nvSpPr>
            <p:cNvPr id="31" name="Line 31"/>
            <p:cNvSpPr/>
            <p:nvPr/>
          </p:nvSpPr>
          <p:spPr>
            <a:xfrm>
              <a:off x="609600" y="33909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8" name="row4"/>
          <p:cNvGrpSpPr/>
          <p:nvPr/>
        </p:nvGrpSpPr>
        <p:grpSpPr>
          <a:xfrm>
            <a:off x="609600" y="3390900"/>
            <a:ext cx="10972800" cy="438150"/>
            <a:chOff x="609600" y="3390900"/>
            <a:chExt cx="10972800" cy="438150"/>
          </a:xfrm>
        </p:grpSpPr>
        <p:sp>
          <p:nvSpPr>
            <p:cNvPr id="33" name="Rectangle 33"/>
            <p:cNvSpPr/>
            <p:nvPr/>
          </p:nvSpPr>
          <p:spPr>
            <a:xfrm>
              <a:off x="609600" y="3390900"/>
              <a:ext cx="10972800" cy="438150"/>
            </a:xfrm>
            <a:prstGeom prst="rect">
              <a:avLst/>
            </a:prstGeom>
            <a:solidFill>
              <a:srgbClr val="EAF4F6"/>
            </a:solidFill>
            <a:ln>
              <a:noFill/>
            </a:ln>
          </p:spPr>
        </p:sp>
        <p:sp>
          <p:nvSpPr>
            <p:cNvPr id="34" name="TextBox 34"/>
            <p:cNvSpPr txBox="1"/>
            <p:nvPr/>
          </p:nvSpPr>
          <p:spPr>
            <a:xfrm>
              <a:off x="755904" y="3528060"/>
              <a:ext cx="174071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{ekmek} → {tereyağı}</a:t>
              </a:r>
            </a:p>
          </p:txBody>
        </p:sp>
        <p:sp>
          <p:nvSpPr>
            <p:cNvPr id="35" name="TextBox 35"/>
            <p:cNvSpPr txBox="1"/>
            <p:nvPr/>
          </p:nvSpPr>
          <p:spPr>
            <a:xfrm>
              <a:off x="5899404" y="3528060"/>
              <a:ext cx="4564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0,545</a:t>
              </a:r>
            </a:p>
          </p:txBody>
        </p:sp>
        <p:sp>
          <p:nvSpPr>
            <p:cNvPr id="36" name="TextBox 36"/>
            <p:cNvSpPr txBox="1"/>
            <p:nvPr/>
          </p:nvSpPr>
          <p:spPr>
            <a:xfrm>
              <a:off x="7613904" y="3528060"/>
              <a:ext cx="478650"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1,403</a:t>
              </a:r>
            </a:p>
          </p:txBody>
        </p:sp>
        <p:sp>
          <p:nvSpPr>
            <p:cNvPr id="37" name="TextBox 37"/>
            <p:cNvSpPr txBox="1"/>
            <p:nvPr/>
          </p:nvSpPr>
          <p:spPr>
            <a:xfrm>
              <a:off x="9328785" y="3536156"/>
              <a:ext cx="2104795"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Düşük güven, yine de anlamlı</a:t>
              </a:r>
            </a:p>
          </p:txBody>
        </p:sp>
      </p:grpSp>
      <p:grpSp>
        <p:nvGrpSpPr>
          <p:cNvPr id="44" name="row5"/>
          <p:cNvGrpSpPr/>
          <p:nvPr/>
        </p:nvGrpSpPr>
        <p:grpSpPr>
          <a:xfrm>
            <a:off x="609600" y="3966210"/>
            <a:ext cx="10972800" cy="310515"/>
            <a:chOff x="609600" y="3966210"/>
            <a:chExt cx="10972800" cy="310515"/>
          </a:xfrm>
        </p:grpSpPr>
        <p:sp>
          <p:nvSpPr>
            <p:cNvPr id="39" name="TextBox 39"/>
            <p:cNvSpPr txBox="1"/>
            <p:nvPr/>
          </p:nvSpPr>
          <p:spPr>
            <a:xfrm>
              <a:off x="755904" y="3966210"/>
              <a:ext cx="147416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{yumurta} → {süt}</a:t>
              </a:r>
            </a:p>
          </p:txBody>
        </p:sp>
        <p:sp>
          <p:nvSpPr>
            <p:cNvPr id="40" name="TextBox 40"/>
            <p:cNvSpPr txBox="1"/>
            <p:nvPr/>
          </p:nvSpPr>
          <p:spPr>
            <a:xfrm>
              <a:off x="5899404" y="3966210"/>
              <a:ext cx="4564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0,900</a:t>
              </a:r>
            </a:p>
          </p:txBody>
        </p:sp>
        <p:sp>
          <p:nvSpPr>
            <p:cNvPr id="41" name="TextBox 41"/>
            <p:cNvSpPr txBox="1"/>
            <p:nvPr/>
          </p:nvSpPr>
          <p:spPr>
            <a:xfrm>
              <a:off x="7613904" y="3966210"/>
              <a:ext cx="478650"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1,350</a:t>
              </a:r>
            </a:p>
          </p:txBody>
        </p:sp>
        <p:sp>
          <p:nvSpPr>
            <p:cNvPr id="42" name="TextBox 42"/>
            <p:cNvSpPr txBox="1"/>
            <p:nvPr/>
          </p:nvSpPr>
          <p:spPr>
            <a:xfrm>
              <a:off x="9328785" y="3974306"/>
              <a:ext cx="1712695"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Kampanyaya uygun aday</a:t>
              </a:r>
            </a:p>
          </p:txBody>
        </p:sp>
        <p:sp>
          <p:nvSpPr>
            <p:cNvPr id="43" name="Line 43"/>
            <p:cNvSpPr/>
            <p:nvPr/>
          </p:nvSpPr>
          <p:spPr>
            <a:xfrm>
              <a:off x="609600" y="42672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50" name="insight"/>
          <p:cNvGrpSpPr/>
          <p:nvPr/>
        </p:nvGrpSpPr>
        <p:grpSpPr>
          <a:xfrm>
            <a:off x="609600" y="4533900"/>
            <a:ext cx="5334000" cy="1314450"/>
            <a:chOff x="609600" y="4533900"/>
            <a:chExt cx="5334000" cy="1314450"/>
          </a:xfrm>
        </p:grpSpPr>
        <p:sp>
          <p:nvSpPr>
            <p:cNvPr id="45" name="Rectangle 45"/>
            <p:cNvSpPr/>
            <p:nvPr/>
          </p:nvSpPr>
          <p:spPr>
            <a:xfrm>
              <a:off x="609600" y="4533900"/>
              <a:ext cx="5334000" cy="1314450"/>
            </a:xfrm>
            <a:prstGeom prst="roundRect">
              <a:avLst>
                <a:gd name="adj" fmla="val 7246"/>
              </a:avLst>
            </a:prstGeom>
            <a:solidFill>
              <a:srgbClr val="FFFFFF"/>
            </a:solidFill>
            <a:ln w="14288">
              <a:solidFill>
                <a:srgbClr val="00A6A6"/>
              </a:solidFill>
            </a:ln>
          </p:spPr>
        </p:sp>
        <p:sp>
          <p:nvSpPr>
            <p:cNvPr id="46" name="TextBox 46"/>
            <p:cNvSpPr txBox="1"/>
            <p:nvPr/>
          </p:nvSpPr>
          <p:spPr>
            <a:xfrm>
              <a:off x="830961" y="4684871"/>
              <a:ext cx="3302630"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Neden düşük güvenli kural elenmez</a:t>
              </a:r>
            </a:p>
          </p:txBody>
        </p:sp>
        <p:sp>
          <p:nvSpPr>
            <p:cNvPr id="47" name="TextBox 47"/>
            <p:cNvSpPr txBox="1"/>
            <p:nvPr/>
          </p:nvSpPr>
          <p:spPr>
            <a:xfrm>
              <a:off x="832104" y="4975860"/>
              <a:ext cx="372770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{ekmek}→{tereyağı} güveni 0,545 olsa da lift'i</a:t>
              </a:r>
            </a:p>
          </p:txBody>
        </p:sp>
        <p:sp>
          <p:nvSpPr>
            <p:cNvPr id="48" name="TextBox 48"/>
            <p:cNvSpPr txBox="1"/>
            <p:nvPr/>
          </p:nvSpPr>
          <p:spPr>
            <a:xfrm>
              <a:off x="832104" y="5185410"/>
              <a:ext cx="402656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1,403 — yani tereyağı, ekmek alanlarda ortalamaya</a:t>
              </a:r>
            </a:p>
          </p:txBody>
        </p:sp>
        <p:sp>
          <p:nvSpPr>
            <p:cNvPr id="49" name="TextBox 49"/>
            <p:cNvSpPr txBox="1"/>
            <p:nvPr/>
          </p:nvSpPr>
          <p:spPr>
            <a:xfrm>
              <a:off x="832104" y="5394960"/>
              <a:ext cx="404271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göre %40 daha sık görülüyor: iş açısından değerli.</a:t>
              </a:r>
            </a:p>
          </p:txBody>
        </p:sp>
      </p:grpSp>
      <p:grpSp>
        <p:nvGrpSpPr>
          <p:cNvPr id="56" name="warning"/>
          <p:cNvGrpSpPr/>
          <p:nvPr/>
        </p:nvGrpSpPr>
        <p:grpSpPr>
          <a:xfrm>
            <a:off x="6248400" y="4533900"/>
            <a:ext cx="5334000" cy="1314450"/>
            <a:chOff x="6248400" y="4533900"/>
            <a:chExt cx="5334000" cy="1314450"/>
          </a:xfrm>
        </p:grpSpPr>
        <p:sp>
          <p:nvSpPr>
            <p:cNvPr id="51" name="Rectangle 51"/>
            <p:cNvSpPr/>
            <p:nvPr/>
          </p:nvSpPr>
          <p:spPr>
            <a:xfrm>
              <a:off x="6248400" y="4533900"/>
              <a:ext cx="5334000" cy="1314450"/>
            </a:xfrm>
            <a:prstGeom prst="roundRect">
              <a:avLst>
                <a:gd name="adj" fmla="val 7246"/>
              </a:avLst>
            </a:prstGeom>
            <a:solidFill>
              <a:srgbClr val="12355B"/>
            </a:solidFill>
            <a:ln>
              <a:noFill/>
            </a:ln>
          </p:spPr>
        </p:sp>
        <p:sp>
          <p:nvSpPr>
            <p:cNvPr id="52" name="TextBox 52"/>
            <p:cNvSpPr txBox="1"/>
            <p:nvPr/>
          </p:nvSpPr>
          <p:spPr>
            <a:xfrm>
              <a:off x="6469761" y="4684871"/>
              <a:ext cx="1185234" cy="278702"/>
            </a:xfrm>
            <a:prstGeom prst="rect">
              <a:avLst/>
            </a:prstGeom>
            <a:noFill/>
            <a:ln>
              <a:noFill/>
            </a:ln>
          </p:spPr>
          <p:txBody>
            <a:bodyPr wrap="none" lIns="0" tIns="0" rIns="0" bIns="0" anchor="t" anchorCtr="0">
              <a:spAutoFit/>
            </a:bodyPr>
            <a:lstStyle/>
            <a:p>
              <a:pPr algn="l"/>
              <a:r>
                <a:rPr lang="tr-TR" sz="1420" b="1" dirty="0">
                  <a:solidFill>
                    <a:srgbClr val="FFFFFF"/>
                  </a:solidFill>
                  <a:latin typeface="+mn-lt"/>
                  <a:ea typeface="+mn-ea"/>
                  <a:cs typeface="+mn-cs"/>
                </a:rPr>
                <a:t>Yaygın hata</a:t>
              </a:r>
            </a:p>
          </p:txBody>
        </p:sp>
        <p:sp>
          <p:nvSpPr>
            <p:cNvPr id="53" name="TextBox 53"/>
            <p:cNvSpPr txBox="1"/>
            <p:nvPr/>
          </p:nvSpPr>
          <p:spPr>
            <a:xfrm>
              <a:off x="6470904" y="4975860"/>
              <a:ext cx="349879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Yalnızca güvene göre sıralayıp raporlamak;</a:t>
              </a:r>
            </a:p>
          </p:txBody>
        </p:sp>
        <p:sp>
          <p:nvSpPr>
            <p:cNvPr id="54" name="TextBox 54"/>
            <p:cNvSpPr txBox="1"/>
            <p:nvPr/>
          </p:nvSpPr>
          <p:spPr>
            <a:xfrm>
              <a:off x="6470904" y="5185410"/>
              <a:ext cx="3655009"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yüksek güvenli ama lift≈1 olan kurallar aslında</a:t>
              </a:r>
            </a:p>
          </p:txBody>
        </p:sp>
        <p:sp>
          <p:nvSpPr>
            <p:cNvPr id="55" name="TextBox 55"/>
            <p:cNvSpPr txBox="1"/>
            <p:nvPr/>
          </p:nvSpPr>
          <p:spPr>
            <a:xfrm>
              <a:off x="6470904" y="5394960"/>
              <a:ext cx="3453079"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yalnızca popülerliği yansıtır, ilişkiyi değil.</a:t>
              </a:r>
            </a:p>
          </p:txBody>
        </p:sp>
      </p:grpSp>
      <p:sp>
        <p:nvSpPr>
          <p:cNvPr id="57" name="TextBox 5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19 / 25</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10501936" cy="668845"/>
            <a:chOff x="609600" y="171450"/>
            <a:chExt cx="10501936"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7624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691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658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99972" y="282892"/>
              <a:ext cx="981156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Elle doğrulama: kütüphaneye güvenmeden önce say</a:t>
              </a:r>
            </a:p>
          </p:txBody>
        </p:sp>
      </p:grpSp>
      <p:grpSp>
        <p:nvGrpSpPr>
          <p:cNvPr id="13" name="lead"/>
          <p:cNvGrpSpPr/>
          <p:nvPr/>
        </p:nvGrpSpPr>
        <p:grpSpPr>
          <a:xfrm>
            <a:off x="601599" y="1144429"/>
            <a:ext cx="11428556" cy="308039"/>
            <a:chOff x="601599" y="1144429"/>
            <a:chExt cx="11428556" cy="308039"/>
          </a:xfrm>
        </p:grpSpPr>
        <p:sp>
          <p:nvSpPr>
            <p:cNvPr id="12" name="TextBox 12"/>
            <p:cNvSpPr txBox="1"/>
            <p:nvPr/>
          </p:nvSpPr>
          <p:spPr>
            <a:xfrm>
              <a:off x="601599" y="1144429"/>
              <a:ext cx="1142855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10 işlemlik küçük bir örnek üzerinde {A,B} → {C} kuralını elle hesaplayıp mlxtend çıktısıyla karşılaştıralım.</a:t>
              </a:r>
            </a:p>
          </p:txBody>
        </p:sp>
      </p:grpSp>
      <p:grpSp>
        <p:nvGrpSpPr>
          <p:cNvPr id="28" name="data"/>
          <p:cNvGrpSpPr/>
          <p:nvPr/>
        </p:nvGrpSpPr>
        <p:grpSpPr>
          <a:xfrm>
            <a:off x="609600" y="1695450"/>
            <a:ext cx="3810000" cy="3619500"/>
            <a:chOff x="609600" y="1695450"/>
            <a:chExt cx="3810000" cy="3619500"/>
          </a:xfrm>
        </p:grpSpPr>
        <p:sp>
          <p:nvSpPr>
            <p:cNvPr id="14" name="Rectangle 14"/>
            <p:cNvSpPr/>
            <p:nvPr/>
          </p:nvSpPr>
          <p:spPr>
            <a:xfrm>
              <a:off x="609600" y="1695450"/>
              <a:ext cx="3810000" cy="3619500"/>
            </a:xfrm>
            <a:prstGeom prst="roundRect">
              <a:avLst>
                <a:gd name="adj" fmla="val 2632"/>
              </a:avLst>
            </a:prstGeom>
            <a:solidFill>
              <a:srgbClr val="FFFFFF"/>
            </a:solidFill>
            <a:ln w="14288">
              <a:solidFill>
                <a:srgbClr val="B8CBD3"/>
              </a:solidFill>
            </a:ln>
          </p:spPr>
        </p:sp>
        <p:sp>
          <p:nvSpPr>
            <p:cNvPr id="15" name="TextBox 15"/>
            <p:cNvSpPr txBox="1"/>
            <p:nvPr/>
          </p:nvSpPr>
          <p:spPr>
            <a:xfrm>
              <a:off x="830961" y="1865471"/>
              <a:ext cx="1949765"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Sayımlar (10 işlem)</a:t>
              </a:r>
            </a:p>
          </p:txBody>
        </p:sp>
        <p:sp>
          <p:nvSpPr>
            <p:cNvPr id="16" name="Rectangle 16"/>
            <p:cNvSpPr/>
            <p:nvPr/>
          </p:nvSpPr>
          <p:spPr>
            <a:xfrm>
              <a:off x="838200" y="2190750"/>
              <a:ext cx="57150" cy="247650"/>
            </a:xfrm>
            <a:prstGeom prst="rect">
              <a:avLst/>
            </a:prstGeom>
            <a:solidFill>
              <a:srgbClr val="00A6A6"/>
            </a:solidFill>
            <a:ln>
              <a:noFill/>
            </a:ln>
          </p:spPr>
        </p:sp>
        <p:sp>
          <p:nvSpPr>
            <p:cNvPr id="17" name="TextBox 17"/>
            <p:cNvSpPr txBox="1"/>
            <p:nvPr/>
          </p:nvSpPr>
          <p:spPr>
            <a:xfrm>
              <a:off x="1022223" y="2243614"/>
              <a:ext cx="1795831"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{A, B} geçen işlem: 4</a:t>
              </a:r>
            </a:p>
          </p:txBody>
        </p:sp>
        <p:sp>
          <p:nvSpPr>
            <p:cNvPr id="18" name="Rectangle 18"/>
            <p:cNvSpPr/>
            <p:nvPr/>
          </p:nvSpPr>
          <p:spPr>
            <a:xfrm>
              <a:off x="838200" y="2533650"/>
              <a:ext cx="57150" cy="247650"/>
            </a:xfrm>
            <a:prstGeom prst="rect">
              <a:avLst/>
            </a:prstGeom>
            <a:solidFill>
              <a:srgbClr val="00A6A6"/>
            </a:solidFill>
            <a:ln>
              <a:noFill/>
            </a:ln>
          </p:spPr>
        </p:sp>
        <p:sp>
          <p:nvSpPr>
            <p:cNvPr id="19" name="TextBox 19"/>
            <p:cNvSpPr txBox="1"/>
            <p:nvPr/>
          </p:nvSpPr>
          <p:spPr>
            <a:xfrm>
              <a:off x="1022223" y="2586514"/>
              <a:ext cx="2046630"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{A, B, C} geçen işlem: 3</a:t>
              </a:r>
            </a:p>
          </p:txBody>
        </p:sp>
        <p:sp>
          <p:nvSpPr>
            <p:cNvPr id="20" name="Rectangle 20"/>
            <p:cNvSpPr/>
            <p:nvPr/>
          </p:nvSpPr>
          <p:spPr>
            <a:xfrm>
              <a:off x="838200" y="2876550"/>
              <a:ext cx="57150" cy="247650"/>
            </a:xfrm>
            <a:prstGeom prst="rect">
              <a:avLst/>
            </a:prstGeom>
            <a:solidFill>
              <a:srgbClr val="00A6A6"/>
            </a:solidFill>
            <a:ln>
              <a:noFill/>
            </a:ln>
          </p:spPr>
        </p:sp>
        <p:sp>
          <p:nvSpPr>
            <p:cNvPr id="21" name="TextBox 21"/>
            <p:cNvSpPr txBox="1"/>
            <p:nvPr/>
          </p:nvSpPr>
          <p:spPr>
            <a:xfrm>
              <a:off x="1022223" y="2929414"/>
              <a:ext cx="1545777"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{C} geçen işlem: 5</a:t>
              </a:r>
            </a:p>
          </p:txBody>
        </p:sp>
        <p:sp>
          <p:nvSpPr>
            <p:cNvPr id="22" name="TextBox 22"/>
            <p:cNvSpPr txBox="1"/>
            <p:nvPr/>
          </p:nvSpPr>
          <p:spPr>
            <a:xfrm>
              <a:off x="831723" y="3348514"/>
              <a:ext cx="1948897"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Destek = 3 / 10 = 0,30</a:t>
              </a:r>
            </a:p>
          </p:txBody>
        </p:sp>
        <p:sp>
          <p:nvSpPr>
            <p:cNvPr id="23" name="TextBox 23"/>
            <p:cNvSpPr txBox="1"/>
            <p:nvPr/>
          </p:nvSpPr>
          <p:spPr>
            <a:xfrm>
              <a:off x="831723" y="3653314"/>
              <a:ext cx="1751241"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Güven = 3 / 4 = 0,75</a:t>
              </a:r>
            </a:p>
          </p:txBody>
        </p:sp>
        <p:sp>
          <p:nvSpPr>
            <p:cNvPr id="24" name="TextBox 24"/>
            <p:cNvSpPr txBox="1"/>
            <p:nvPr/>
          </p:nvSpPr>
          <p:spPr>
            <a:xfrm>
              <a:off x="831723" y="3958114"/>
              <a:ext cx="1829074"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P(C) = 5 / 10 = 0,50</a:t>
              </a:r>
            </a:p>
          </p:txBody>
        </p:sp>
        <p:sp>
          <p:nvSpPr>
            <p:cNvPr id="25" name="TextBox 25"/>
            <p:cNvSpPr txBox="1"/>
            <p:nvPr/>
          </p:nvSpPr>
          <p:spPr>
            <a:xfrm>
              <a:off x="831723" y="4262914"/>
              <a:ext cx="2600328" cy="249364"/>
            </a:xfrm>
            <a:prstGeom prst="rect">
              <a:avLst/>
            </a:prstGeom>
            <a:noFill/>
            <a:ln>
              <a:noFill/>
            </a:ln>
          </p:spPr>
          <p:txBody>
            <a:bodyPr wrap="none" lIns="0" tIns="0" rIns="0" bIns="0" anchor="t" anchorCtr="0">
              <a:spAutoFit/>
            </a:bodyPr>
            <a:lstStyle/>
            <a:p>
              <a:pPr algn="l"/>
              <a:r>
                <a:rPr lang="tr-TR" sz="1280" b="1" dirty="0">
                  <a:solidFill>
                    <a:srgbClr val="00A6A6"/>
                  </a:solidFill>
                  <a:latin typeface="+mn-lt"/>
                  <a:ea typeface="+mn-ea"/>
                  <a:cs typeface="+mn-cs"/>
                </a:rPr>
                <a:t>Kaldıraç = 0,75 / 0,50 = 1,50</a:t>
              </a:r>
            </a:p>
          </p:txBody>
        </p:sp>
        <p:sp>
          <p:nvSpPr>
            <p:cNvPr id="26" name="TextBox 26"/>
            <p:cNvSpPr txBox="1"/>
            <p:nvPr/>
          </p:nvSpPr>
          <p:spPr>
            <a:xfrm>
              <a:off x="832485" y="4660106"/>
              <a:ext cx="2820794"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Elle hesaplanan üç değer de mlxtend'in</a:t>
              </a:r>
            </a:p>
          </p:txBody>
        </p:sp>
        <p:sp>
          <p:nvSpPr>
            <p:cNvPr id="27" name="TextBox 27"/>
            <p:cNvSpPr txBox="1"/>
            <p:nvPr/>
          </p:nvSpPr>
          <p:spPr>
            <a:xfrm>
              <a:off x="832485" y="4869656"/>
              <a:ext cx="3403854"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association_rules çıktısıyla birebir örtüşür.</a:t>
              </a:r>
            </a:p>
          </p:txBody>
        </p:sp>
      </p:grpSp>
      <p:grpSp>
        <p:nvGrpSpPr>
          <p:cNvPr id="42" name="steps"/>
          <p:cNvGrpSpPr/>
          <p:nvPr/>
        </p:nvGrpSpPr>
        <p:grpSpPr>
          <a:xfrm>
            <a:off x="4717161" y="1789271"/>
            <a:ext cx="6395187" cy="2037207"/>
            <a:chOff x="4717161" y="1789271"/>
            <a:chExt cx="6395187" cy="2037207"/>
          </a:xfrm>
        </p:grpSpPr>
        <p:sp>
          <p:nvSpPr>
            <p:cNvPr id="29" name="TextBox 29"/>
            <p:cNvSpPr txBox="1"/>
            <p:nvPr/>
          </p:nvSpPr>
          <p:spPr>
            <a:xfrm>
              <a:off x="4717161" y="1789271"/>
              <a:ext cx="1937721"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Doğrulama adımları</a:t>
              </a:r>
            </a:p>
          </p:txBody>
        </p:sp>
        <p:sp>
          <p:nvSpPr>
            <p:cNvPr id="30" name="Ellipse 30"/>
            <p:cNvSpPr/>
            <p:nvPr/>
          </p:nvSpPr>
          <p:spPr>
            <a:xfrm>
              <a:off x="4781550" y="2133600"/>
              <a:ext cx="304800" cy="304800"/>
            </a:xfrm>
            <a:prstGeom prst="ellipse">
              <a:avLst/>
            </a:prstGeom>
            <a:solidFill>
              <a:srgbClr val="12355B"/>
            </a:solidFill>
            <a:ln>
              <a:noFill/>
            </a:ln>
          </p:spPr>
        </p:sp>
        <p:sp>
          <p:nvSpPr>
            <p:cNvPr id="31" name="TextBox 31"/>
            <p:cNvSpPr txBox="1"/>
            <p:nvPr/>
          </p:nvSpPr>
          <p:spPr>
            <a:xfrm>
              <a:off x="4884699" y="2221706"/>
              <a:ext cx="98502" cy="220028"/>
            </a:xfrm>
            <a:prstGeom prst="rect">
              <a:avLst/>
            </a:prstGeom>
            <a:noFill/>
            <a:ln>
              <a:noFill/>
            </a:ln>
          </p:spPr>
          <p:txBody>
            <a:bodyPr wrap="none" lIns="0" tIns="0" rIns="0" bIns="0" anchor="t" anchorCtr="0">
              <a:spAutoFit/>
            </a:bodyPr>
            <a:lstStyle/>
            <a:p>
              <a:pPr algn="ctr"/>
              <a:r>
                <a:rPr lang="tr-TR" sz="1120" b="1" dirty="0">
                  <a:solidFill>
                    <a:srgbClr val="FFFFFF"/>
                  </a:solidFill>
                  <a:latin typeface="+mn-lt"/>
                  <a:ea typeface="+mn-ea"/>
                  <a:cs typeface="+mn-cs"/>
                </a:rPr>
                <a:t>1</a:t>
              </a:r>
            </a:p>
          </p:txBody>
        </p:sp>
        <p:sp>
          <p:nvSpPr>
            <p:cNvPr id="32" name="TextBox 32"/>
            <p:cNvSpPr txBox="1"/>
            <p:nvPr/>
          </p:nvSpPr>
          <p:spPr>
            <a:xfrm>
              <a:off x="5213223" y="2205514"/>
              <a:ext cx="5899125"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Ham işlem listesini gözle sayarak {A,B} ve {A,B,C} geçişlerini işaretle</a:t>
              </a:r>
            </a:p>
          </p:txBody>
        </p:sp>
        <p:sp>
          <p:nvSpPr>
            <p:cNvPr id="33" name="Ellipse 33"/>
            <p:cNvSpPr/>
            <p:nvPr/>
          </p:nvSpPr>
          <p:spPr>
            <a:xfrm>
              <a:off x="4781550" y="2590800"/>
              <a:ext cx="304800" cy="304800"/>
            </a:xfrm>
            <a:prstGeom prst="ellipse">
              <a:avLst/>
            </a:prstGeom>
            <a:solidFill>
              <a:srgbClr val="12355B"/>
            </a:solidFill>
            <a:ln>
              <a:noFill/>
            </a:ln>
          </p:spPr>
        </p:sp>
        <p:sp>
          <p:nvSpPr>
            <p:cNvPr id="34" name="TextBox 34"/>
            <p:cNvSpPr txBox="1"/>
            <p:nvPr/>
          </p:nvSpPr>
          <p:spPr>
            <a:xfrm>
              <a:off x="4884699" y="2678906"/>
              <a:ext cx="98502" cy="220028"/>
            </a:xfrm>
            <a:prstGeom prst="rect">
              <a:avLst/>
            </a:prstGeom>
            <a:noFill/>
            <a:ln>
              <a:noFill/>
            </a:ln>
          </p:spPr>
          <p:txBody>
            <a:bodyPr wrap="none" lIns="0" tIns="0" rIns="0" bIns="0" anchor="t" anchorCtr="0">
              <a:spAutoFit/>
            </a:bodyPr>
            <a:lstStyle/>
            <a:p>
              <a:pPr algn="ctr"/>
              <a:r>
                <a:rPr lang="tr-TR" sz="1120" b="1" dirty="0">
                  <a:solidFill>
                    <a:srgbClr val="FFFFFF"/>
                  </a:solidFill>
                  <a:latin typeface="+mn-lt"/>
                  <a:ea typeface="+mn-ea"/>
                  <a:cs typeface="+mn-cs"/>
                </a:rPr>
                <a:t>2</a:t>
              </a:r>
            </a:p>
          </p:txBody>
        </p:sp>
        <p:sp>
          <p:nvSpPr>
            <p:cNvPr id="35" name="TextBox 35"/>
            <p:cNvSpPr txBox="1"/>
            <p:nvPr/>
          </p:nvSpPr>
          <p:spPr>
            <a:xfrm>
              <a:off x="5213223" y="2662714"/>
              <a:ext cx="3938778"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Destek, güven, kaldıracı formülle elle hesapla</a:t>
              </a:r>
            </a:p>
          </p:txBody>
        </p:sp>
        <p:sp>
          <p:nvSpPr>
            <p:cNvPr id="36" name="Ellipse 36"/>
            <p:cNvSpPr/>
            <p:nvPr/>
          </p:nvSpPr>
          <p:spPr>
            <a:xfrm>
              <a:off x="4781550" y="3048000"/>
              <a:ext cx="304800" cy="304800"/>
            </a:xfrm>
            <a:prstGeom prst="ellipse">
              <a:avLst/>
            </a:prstGeom>
            <a:solidFill>
              <a:srgbClr val="12355B"/>
            </a:solidFill>
            <a:ln>
              <a:noFill/>
            </a:ln>
          </p:spPr>
        </p:sp>
        <p:sp>
          <p:nvSpPr>
            <p:cNvPr id="37" name="TextBox 37"/>
            <p:cNvSpPr txBox="1"/>
            <p:nvPr/>
          </p:nvSpPr>
          <p:spPr>
            <a:xfrm>
              <a:off x="4884699" y="3136106"/>
              <a:ext cx="98502" cy="220028"/>
            </a:xfrm>
            <a:prstGeom prst="rect">
              <a:avLst/>
            </a:prstGeom>
            <a:noFill/>
            <a:ln>
              <a:noFill/>
            </a:ln>
          </p:spPr>
          <p:txBody>
            <a:bodyPr wrap="none" lIns="0" tIns="0" rIns="0" bIns="0" anchor="t" anchorCtr="0">
              <a:spAutoFit/>
            </a:bodyPr>
            <a:lstStyle/>
            <a:p>
              <a:pPr algn="ctr"/>
              <a:r>
                <a:rPr lang="tr-TR" sz="1120" b="1" dirty="0">
                  <a:solidFill>
                    <a:srgbClr val="FFFFFF"/>
                  </a:solidFill>
                  <a:latin typeface="+mn-lt"/>
                  <a:ea typeface="+mn-ea"/>
                  <a:cs typeface="+mn-cs"/>
                </a:rPr>
                <a:t>3</a:t>
              </a:r>
            </a:p>
          </p:txBody>
        </p:sp>
        <p:sp>
          <p:nvSpPr>
            <p:cNvPr id="38" name="TextBox 38"/>
            <p:cNvSpPr txBox="1"/>
            <p:nvPr/>
          </p:nvSpPr>
          <p:spPr>
            <a:xfrm>
              <a:off x="5213223" y="3119914"/>
              <a:ext cx="5802074"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Aynı veriyi TransactionEncoder + apriori + association_rules ile işlet</a:t>
              </a:r>
            </a:p>
          </p:txBody>
        </p:sp>
        <p:sp>
          <p:nvSpPr>
            <p:cNvPr id="39" name="Ellipse 39"/>
            <p:cNvSpPr/>
            <p:nvPr/>
          </p:nvSpPr>
          <p:spPr>
            <a:xfrm>
              <a:off x="4781550" y="3505200"/>
              <a:ext cx="304800" cy="304800"/>
            </a:xfrm>
            <a:prstGeom prst="ellipse">
              <a:avLst/>
            </a:prstGeom>
            <a:solidFill>
              <a:srgbClr val="12355B"/>
            </a:solidFill>
            <a:ln>
              <a:noFill/>
            </a:ln>
          </p:spPr>
        </p:sp>
        <p:sp>
          <p:nvSpPr>
            <p:cNvPr id="40" name="TextBox 40"/>
            <p:cNvSpPr txBox="1"/>
            <p:nvPr/>
          </p:nvSpPr>
          <p:spPr>
            <a:xfrm>
              <a:off x="4884699" y="3593306"/>
              <a:ext cx="98502" cy="220028"/>
            </a:xfrm>
            <a:prstGeom prst="rect">
              <a:avLst/>
            </a:prstGeom>
            <a:noFill/>
            <a:ln>
              <a:noFill/>
            </a:ln>
          </p:spPr>
          <p:txBody>
            <a:bodyPr wrap="none" lIns="0" tIns="0" rIns="0" bIns="0" anchor="t" anchorCtr="0">
              <a:spAutoFit/>
            </a:bodyPr>
            <a:lstStyle/>
            <a:p>
              <a:pPr algn="ctr"/>
              <a:r>
                <a:rPr lang="tr-TR" sz="1120" b="1" dirty="0">
                  <a:solidFill>
                    <a:srgbClr val="FFFFFF"/>
                  </a:solidFill>
                  <a:latin typeface="+mn-lt"/>
                  <a:ea typeface="+mn-ea"/>
                  <a:cs typeface="+mn-cs"/>
                </a:rPr>
                <a:t>4</a:t>
              </a:r>
            </a:p>
          </p:txBody>
        </p:sp>
        <p:sp>
          <p:nvSpPr>
            <p:cNvPr id="41" name="TextBox 41"/>
            <p:cNvSpPr txBox="1"/>
            <p:nvPr/>
          </p:nvSpPr>
          <p:spPr>
            <a:xfrm>
              <a:off x="5213223" y="3577114"/>
              <a:ext cx="5326103"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İki sonucu satır satır karşılaştır; fark varsa kodda hata ara</a:t>
              </a:r>
            </a:p>
          </p:txBody>
        </p:sp>
      </p:grpSp>
      <p:grpSp>
        <p:nvGrpSpPr>
          <p:cNvPr id="47" name="why"/>
          <p:cNvGrpSpPr/>
          <p:nvPr/>
        </p:nvGrpSpPr>
        <p:grpSpPr>
          <a:xfrm>
            <a:off x="4724400" y="4400550"/>
            <a:ext cx="6858000" cy="914400"/>
            <a:chOff x="4724400" y="4400550"/>
            <a:chExt cx="6858000" cy="914400"/>
          </a:xfrm>
        </p:grpSpPr>
        <p:sp>
          <p:nvSpPr>
            <p:cNvPr id="43" name="Rectangle 43"/>
            <p:cNvSpPr/>
            <p:nvPr/>
          </p:nvSpPr>
          <p:spPr>
            <a:xfrm>
              <a:off x="4724400" y="4400550"/>
              <a:ext cx="6858000" cy="914400"/>
            </a:xfrm>
            <a:prstGeom prst="roundRect">
              <a:avLst>
                <a:gd name="adj" fmla="val 10417"/>
              </a:avLst>
            </a:prstGeom>
            <a:solidFill>
              <a:srgbClr val="EAF4F6"/>
            </a:solidFill>
            <a:ln>
              <a:noFill/>
            </a:ln>
          </p:spPr>
        </p:sp>
        <p:sp>
          <p:nvSpPr>
            <p:cNvPr id="44" name="TextBox 44"/>
            <p:cNvSpPr txBox="1"/>
            <p:nvPr/>
          </p:nvSpPr>
          <p:spPr>
            <a:xfrm>
              <a:off x="4946142" y="4540568"/>
              <a:ext cx="2452708"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Neden bu alışkanlık önemli</a:t>
              </a:r>
            </a:p>
          </p:txBody>
        </p:sp>
        <p:sp>
          <p:nvSpPr>
            <p:cNvPr id="45" name="TextBox 45"/>
            <p:cNvSpPr txBox="1"/>
            <p:nvPr/>
          </p:nvSpPr>
          <p:spPr>
            <a:xfrm>
              <a:off x="4946904" y="4804410"/>
              <a:ext cx="504157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Kütüphane çıktısını sorgulamadan kabul etmek, veri hazırlama</a:t>
              </a:r>
            </a:p>
          </p:txBody>
        </p:sp>
        <p:sp>
          <p:nvSpPr>
            <p:cNvPr id="46" name="TextBox 46"/>
            <p:cNvSpPr txBox="1"/>
            <p:nvPr/>
          </p:nvSpPr>
          <p:spPr>
            <a:xfrm>
              <a:off x="4946904" y="5013960"/>
              <a:ext cx="395386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hatalarını (yanlış kodlama, yanlış sütun) gizler.</a:t>
              </a:r>
            </a:p>
          </p:txBody>
        </p:sp>
      </p:grpSp>
      <p:grpSp>
        <p:nvGrpSpPr>
          <p:cNvPr id="50" name="footer-note"/>
          <p:cNvGrpSpPr/>
          <p:nvPr/>
        </p:nvGrpSpPr>
        <p:grpSpPr>
          <a:xfrm>
            <a:off x="609600" y="5486400"/>
            <a:ext cx="10972800" cy="438150"/>
            <a:chOff x="609600" y="5486400"/>
            <a:chExt cx="10972800" cy="438150"/>
          </a:xfrm>
        </p:grpSpPr>
        <p:sp>
          <p:nvSpPr>
            <p:cNvPr id="48" name="Rectangle 48"/>
            <p:cNvSpPr/>
            <p:nvPr/>
          </p:nvSpPr>
          <p:spPr>
            <a:xfrm>
              <a:off x="609600" y="5486400"/>
              <a:ext cx="10972800" cy="438150"/>
            </a:xfrm>
            <a:prstGeom prst="roundRect">
              <a:avLst>
                <a:gd name="adj" fmla="val 17391"/>
              </a:avLst>
            </a:prstGeom>
            <a:solidFill>
              <a:srgbClr val="12355B"/>
            </a:solidFill>
            <a:ln>
              <a:noFill/>
            </a:ln>
          </p:spPr>
        </p:sp>
        <p:sp>
          <p:nvSpPr>
            <p:cNvPr id="49" name="TextBox 49"/>
            <p:cNvSpPr txBox="1"/>
            <p:nvPr/>
          </p:nvSpPr>
          <p:spPr>
            <a:xfrm>
              <a:off x="908304" y="5633085"/>
              <a:ext cx="7252146"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İlke: küçük ve elle izlenebilir bir alt kümede doğrulama yapmadan büyük veriye güvenme.</a:t>
              </a:r>
            </a:p>
          </p:txBody>
        </p:sp>
      </p:grpSp>
      <p:sp>
        <p:nvSpPr>
          <p:cNvPr id="51" name="TextBox 5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20 / 25</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9768522" cy="557403"/>
            <a:chOff x="595122" y="282892"/>
            <a:chExt cx="9768522" cy="557403"/>
          </a:xfrm>
        </p:grpSpPr>
        <p:sp>
          <p:nvSpPr>
            <p:cNvPr id="4" name="TextBox 4"/>
            <p:cNvSpPr txBox="1"/>
            <p:nvPr/>
          </p:nvSpPr>
          <p:spPr>
            <a:xfrm>
              <a:off x="595122" y="282892"/>
              <a:ext cx="976852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Uçtan uca: PazarSepetiAnalizcisi mini-uygulaması</a:t>
              </a:r>
            </a:p>
          </p:txBody>
        </p:sp>
      </p:grpSp>
      <p:grpSp>
        <p:nvGrpSpPr>
          <p:cNvPr id="7" name="lead"/>
          <p:cNvGrpSpPr/>
          <p:nvPr/>
        </p:nvGrpSpPr>
        <p:grpSpPr>
          <a:xfrm>
            <a:off x="601599" y="1144429"/>
            <a:ext cx="10264920" cy="308039"/>
            <a:chOff x="601599" y="1144429"/>
            <a:chExt cx="10264920" cy="308039"/>
          </a:xfrm>
        </p:grpSpPr>
        <p:sp>
          <p:nvSpPr>
            <p:cNvPr id="6" name="TextBox 6"/>
            <p:cNvSpPr txBox="1"/>
            <p:nvPr/>
          </p:nvSpPr>
          <p:spPr>
            <a:xfrm>
              <a:off x="601599" y="1144429"/>
              <a:ext cx="10264920"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Tüm boruhattını (kodlama → iki algoritma → kural üretimi → filtreleme) tek bir sınıfta topluyoruz.</a:t>
              </a:r>
            </a:p>
          </p:txBody>
        </p:sp>
      </p:grpSp>
      <p:grpSp>
        <p:nvGrpSpPr>
          <p:cNvPr id="27" name="pipeline"/>
          <p:cNvGrpSpPr/>
          <p:nvPr/>
        </p:nvGrpSpPr>
        <p:grpSpPr>
          <a:xfrm>
            <a:off x="609600" y="1695450"/>
            <a:ext cx="10972800" cy="685800"/>
            <a:chOff x="609600" y="1695450"/>
            <a:chExt cx="10972800" cy="685800"/>
          </a:xfrm>
        </p:grpSpPr>
        <p:sp>
          <p:nvSpPr>
            <p:cNvPr id="8" name="Rectangle 8"/>
            <p:cNvSpPr/>
            <p:nvPr/>
          </p:nvSpPr>
          <p:spPr>
            <a:xfrm>
              <a:off x="609600" y="1695450"/>
              <a:ext cx="1828800" cy="685800"/>
            </a:xfrm>
            <a:prstGeom prst="roundRect">
              <a:avLst>
                <a:gd name="adj" fmla="val 11111"/>
              </a:avLst>
            </a:prstGeom>
            <a:solidFill>
              <a:srgbClr val="FFFFFF"/>
            </a:solidFill>
            <a:ln w="14288">
              <a:solidFill>
                <a:srgbClr val="B8CBD3"/>
              </a:solidFill>
            </a:ln>
          </p:spPr>
        </p:sp>
        <p:sp>
          <p:nvSpPr>
            <p:cNvPr id="9" name="TextBox 9"/>
            <p:cNvSpPr txBox="1"/>
            <p:nvPr/>
          </p:nvSpPr>
          <p:spPr>
            <a:xfrm>
              <a:off x="1233321" y="1878806"/>
              <a:ext cx="581357" cy="220028"/>
            </a:xfrm>
            <a:prstGeom prst="rect">
              <a:avLst/>
            </a:prstGeom>
            <a:noFill/>
            <a:ln>
              <a:noFill/>
            </a:ln>
          </p:spPr>
          <p:txBody>
            <a:bodyPr wrap="none" lIns="0" tIns="0" rIns="0" bIns="0" anchor="t" anchorCtr="0">
              <a:spAutoFit/>
            </a:bodyPr>
            <a:lstStyle/>
            <a:p>
              <a:pPr algn="ctr"/>
              <a:r>
                <a:rPr lang="tr-TR" sz="1120" b="1" dirty="0">
                  <a:solidFill>
                    <a:srgbClr val="12355B"/>
                  </a:solidFill>
                  <a:latin typeface="+mn-lt"/>
                  <a:ea typeface="+mn-ea"/>
                  <a:cs typeface="+mn-cs"/>
                </a:rPr>
                <a:t>kodla()</a:t>
              </a:r>
            </a:p>
          </p:txBody>
        </p:sp>
        <p:sp>
          <p:nvSpPr>
            <p:cNvPr id="10" name="TextBox 10"/>
            <p:cNvSpPr txBox="1"/>
            <p:nvPr/>
          </p:nvSpPr>
          <p:spPr>
            <a:xfrm>
              <a:off x="878493" y="2104549"/>
              <a:ext cx="1291014" cy="190690"/>
            </a:xfrm>
            <a:prstGeom prst="rect">
              <a:avLst/>
            </a:prstGeom>
            <a:noFill/>
            <a:ln>
              <a:noFill/>
            </a:ln>
          </p:spPr>
          <p:txBody>
            <a:bodyPr wrap="none" lIns="0" tIns="0" rIns="0" bIns="0" anchor="t" anchorCtr="0">
              <a:spAutoFit/>
            </a:bodyPr>
            <a:lstStyle/>
            <a:p>
              <a:pPr algn="ctr"/>
              <a:r>
                <a:rPr lang="tr-TR" sz="980" dirty="0">
                  <a:solidFill>
                    <a:srgbClr val="52616B"/>
                  </a:solidFill>
                  <a:latin typeface="+mn-lt"/>
                  <a:ea typeface="+mn-ea"/>
                  <a:cs typeface="+mn-cs"/>
                </a:rPr>
                <a:t>TransactionEncoder</a:t>
              </a:r>
            </a:p>
          </p:txBody>
        </p:sp>
        <p:sp>
          <p:nvSpPr>
            <p:cNvPr id="11" name="Line 11"/>
            <p:cNvSpPr/>
            <p:nvPr/>
          </p:nvSpPr>
          <p:spPr>
            <a:xfrm>
              <a:off x="2438400" y="2038350"/>
              <a:ext cx="457200" cy="1"/>
            </a:xfrm>
            <a:prstGeom prst="line">
              <a:avLst/>
            </a:prstGeom>
            <a:noFill/>
            <a:ln w="19050">
              <a:solidFill>
                <a:srgbClr val="2E86AB"/>
              </a:solidFill>
              <a:tailEnd type="arrow" w="lg" len="lg"/>
            </a:ln>
          </p:spPr>
        </p:sp>
        <p:sp>
          <p:nvSpPr>
            <p:cNvPr id="12" name="Rectangle 12"/>
            <p:cNvSpPr/>
            <p:nvPr/>
          </p:nvSpPr>
          <p:spPr>
            <a:xfrm>
              <a:off x="2895600" y="1695450"/>
              <a:ext cx="1828800" cy="685800"/>
            </a:xfrm>
            <a:prstGeom prst="roundRect">
              <a:avLst>
                <a:gd name="adj" fmla="val 11111"/>
              </a:avLst>
            </a:prstGeom>
            <a:solidFill>
              <a:srgbClr val="FFFFFF"/>
            </a:solidFill>
            <a:ln w="14288">
              <a:solidFill>
                <a:srgbClr val="B8CBD3"/>
              </a:solidFill>
            </a:ln>
          </p:spPr>
        </p:sp>
        <p:sp>
          <p:nvSpPr>
            <p:cNvPr id="13" name="TextBox 13"/>
            <p:cNvSpPr txBox="1"/>
            <p:nvPr/>
          </p:nvSpPr>
          <p:spPr>
            <a:xfrm>
              <a:off x="3119581" y="1878806"/>
              <a:ext cx="1380838" cy="220028"/>
            </a:xfrm>
            <a:prstGeom prst="rect">
              <a:avLst/>
            </a:prstGeom>
            <a:noFill/>
            <a:ln>
              <a:noFill/>
            </a:ln>
          </p:spPr>
          <p:txBody>
            <a:bodyPr wrap="none" lIns="0" tIns="0" rIns="0" bIns="0" anchor="t" anchorCtr="0">
              <a:spAutoFit/>
            </a:bodyPr>
            <a:lstStyle/>
            <a:p>
              <a:pPr algn="ctr"/>
              <a:r>
                <a:rPr lang="tr-TR" sz="1120" b="1" dirty="0">
                  <a:solidFill>
                    <a:srgbClr val="12355B"/>
                  </a:solidFill>
                  <a:latin typeface="+mn-lt"/>
                  <a:ea typeface="+mn-ea"/>
                  <a:cs typeface="+mn-cs"/>
                </a:rPr>
                <a:t>apriori_calistir()</a:t>
              </a:r>
            </a:p>
          </p:txBody>
        </p:sp>
        <p:sp>
          <p:nvSpPr>
            <p:cNvPr id="14" name="TextBox 14"/>
            <p:cNvSpPr txBox="1"/>
            <p:nvPr/>
          </p:nvSpPr>
          <p:spPr>
            <a:xfrm>
              <a:off x="3518104" y="2104549"/>
              <a:ext cx="583791" cy="190690"/>
            </a:xfrm>
            <a:prstGeom prst="rect">
              <a:avLst/>
            </a:prstGeom>
            <a:noFill/>
            <a:ln>
              <a:noFill/>
            </a:ln>
          </p:spPr>
          <p:txBody>
            <a:bodyPr wrap="none" lIns="0" tIns="0" rIns="0" bIns="0" anchor="t" anchorCtr="0">
              <a:spAutoFit/>
            </a:bodyPr>
            <a:lstStyle/>
            <a:p>
              <a:pPr algn="ctr"/>
              <a:r>
                <a:rPr lang="tr-TR" sz="980" dirty="0">
                  <a:solidFill>
                    <a:srgbClr val="52616B"/>
                  </a:solidFill>
                  <a:latin typeface="+mn-lt"/>
                  <a:ea typeface="+mn-ea"/>
                  <a:cs typeface="+mn-cs"/>
                </a:rPr>
                <a:t>1,418 ms</a:t>
              </a:r>
            </a:p>
          </p:txBody>
        </p:sp>
        <p:sp>
          <p:nvSpPr>
            <p:cNvPr id="15" name="Line 15"/>
            <p:cNvSpPr/>
            <p:nvPr/>
          </p:nvSpPr>
          <p:spPr>
            <a:xfrm>
              <a:off x="4724400" y="2038350"/>
              <a:ext cx="457200" cy="1"/>
            </a:xfrm>
            <a:prstGeom prst="line">
              <a:avLst/>
            </a:prstGeom>
            <a:noFill/>
            <a:ln w="19050">
              <a:solidFill>
                <a:srgbClr val="2E86AB"/>
              </a:solidFill>
              <a:tailEnd type="arrow" w="lg" len="lg"/>
            </a:ln>
          </p:spPr>
        </p:sp>
        <p:sp>
          <p:nvSpPr>
            <p:cNvPr id="16" name="Rectangle 16"/>
            <p:cNvSpPr/>
            <p:nvPr/>
          </p:nvSpPr>
          <p:spPr>
            <a:xfrm>
              <a:off x="5181600" y="1695450"/>
              <a:ext cx="1828800" cy="685800"/>
            </a:xfrm>
            <a:prstGeom prst="roundRect">
              <a:avLst>
                <a:gd name="adj" fmla="val 11111"/>
              </a:avLst>
            </a:prstGeom>
            <a:solidFill>
              <a:srgbClr val="EAF4F6"/>
            </a:solidFill>
            <a:ln w="14288">
              <a:solidFill>
                <a:srgbClr val="00A6A6"/>
              </a:solidFill>
            </a:ln>
          </p:spPr>
        </p:sp>
        <p:sp>
          <p:nvSpPr>
            <p:cNvPr id="17" name="TextBox 17"/>
            <p:cNvSpPr txBox="1"/>
            <p:nvPr/>
          </p:nvSpPr>
          <p:spPr>
            <a:xfrm>
              <a:off x="5306635" y="1878806"/>
              <a:ext cx="1578730" cy="220028"/>
            </a:xfrm>
            <a:prstGeom prst="rect">
              <a:avLst/>
            </a:prstGeom>
            <a:noFill/>
            <a:ln>
              <a:noFill/>
            </a:ln>
          </p:spPr>
          <p:txBody>
            <a:bodyPr wrap="none" lIns="0" tIns="0" rIns="0" bIns="0" anchor="t" anchorCtr="0">
              <a:spAutoFit/>
            </a:bodyPr>
            <a:lstStyle/>
            <a:p>
              <a:pPr algn="ctr"/>
              <a:r>
                <a:rPr lang="tr-TR" sz="1120" b="1" dirty="0">
                  <a:solidFill>
                    <a:srgbClr val="12355B"/>
                  </a:solidFill>
                  <a:latin typeface="+mn-lt"/>
                  <a:ea typeface="+mn-ea"/>
                  <a:cs typeface="+mn-cs"/>
                </a:rPr>
                <a:t>fpgrowth_calistir()</a:t>
              </a:r>
            </a:p>
          </p:txBody>
        </p:sp>
        <p:sp>
          <p:nvSpPr>
            <p:cNvPr id="18" name="TextBox 18"/>
            <p:cNvSpPr txBox="1"/>
            <p:nvPr/>
          </p:nvSpPr>
          <p:spPr>
            <a:xfrm>
              <a:off x="5804104" y="2104549"/>
              <a:ext cx="583791" cy="190690"/>
            </a:xfrm>
            <a:prstGeom prst="rect">
              <a:avLst/>
            </a:prstGeom>
            <a:noFill/>
            <a:ln>
              <a:noFill/>
            </a:ln>
          </p:spPr>
          <p:txBody>
            <a:bodyPr wrap="none" lIns="0" tIns="0" rIns="0" bIns="0" anchor="t" anchorCtr="0">
              <a:spAutoFit/>
            </a:bodyPr>
            <a:lstStyle/>
            <a:p>
              <a:pPr algn="ctr"/>
              <a:r>
                <a:rPr lang="tr-TR" sz="980" dirty="0">
                  <a:solidFill>
                    <a:srgbClr val="52616B"/>
                  </a:solidFill>
                  <a:latin typeface="+mn-lt"/>
                  <a:ea typeface="+mn-ea"/>
                  <a:cs typeface="+mn-cs"/>
                </a:rPr>
                <a:t>0,633 ms</a:t>
              </a:r>
            </a:p>
          </p:txBody>
        </p:sp>
        <p:sp>
          <p:nvSpPr>
            <p:cNvPr id="19" name="Line 19"/>
            <p:cNvSpPr/>
            <p:nvPr/>
          </p:nvSpPr>
          <p:spPr>
            <a:xfrm>
              <a:off x="7010400" y="2038350"/>
              <a:ext cx="457200" cy="1"/>
            </a:xfrm>
            <a:prstGeom prst="line">
              <a:avLst/>
            </a:prstGeom>
            <a:noFill/>
            <a:ln w="19050">
              <a:solidFill>
                <a:srgbClr val="2E86AB"/>
              </a:solidFill>
              <a:tailEnd type="arrow" w="lg" len="lg"/>
            </a:ln>
          </p:spPr>
        </p:sp>
        <p:sp>
          <p:nvSpPr>
            <p:cNvPr id="20" name="Rectangle 20"/>
            <p:cNvSpPr/>
            <p:nvPr/>
          </p:nvSpPr>
          <p:spPr>
            <a:xfrm>
              <a:off x="7467600" y="1695450"/>
              <a:ext cx="1828800" cy="685800"/>
            </a:xfrm>
            <a:prstGeom prst="roundRect">
              <a:avLst>
                <a:gd name="adj" fmla="val 11111"/>
              </a:avLst>
            </a:prstGeom>
            <a:solidFill>
              <a:srgbClr val="FFFFFF"/>
            </a:solidFill>
            <a:ln w="14288">
              <a:solidFill>
                <a:srgbClr val="B8CBD3"/>
              </a:solidFill>
            </a:ln>
          </p:spPr>
        </p:sp>
        <p:sp>
          <p:nvSpPr>
            <p:cNvPr id="21" name="TextBox 21"/>
            <p:cNvSpPr txBox="1"/>
            <p:nvPr/>
          </p:nvSpPr>
          <p:spPr>
            <a:xfrm>
              <a:off x="7873641" y="1878806"/>
              <a:ext cx="1016718" cy="220028"/>
            </a:xfrm>
            <a:prstGeom prst="rect">
              <a:avLst/>
            </a:prstGeom>
            <a:noFill/>
            <a:ln>
              <a:noFill/>
            </a:ln>
          </p:spPr>
          <p:txBody>
            <a:bodyPr wrap="none" lIns="0" tIns="0" rIns="0" bIns="0" anchor="t" anchorCtr="0">
              <a:spAutoFit/>
            </a:bodyPr>
            <a:lstStyle/>
            <a:p>
              <a:pPr algn="ctr"/>
              <a:r>
                <a:rPr lang="tr-TR" sz="1120" b="1" dirty="0">
                  <a:solidFill>
                    <a:srgbClr val="12355B"/>
                  </a:solidFill>
                  <a:latin typeface="+mn-lt"/>
                  <a:ea typeface="+mn-ea"/>
                  <a:cs typeface="+mn-cs"/>
                </a:rPr>
                <a:t>kural_uret()</a:t>
              </a:r>
            </a:p>
          </p:txBody>
        </p:sp>
        <p:sp>
          <p:nvSpPr>
            <p:cNvPr id="22" name="TextBox 22"/>
            <p:cNvSpPr txBox="1"/>
            <p:nvPr/>
          </p:nvSpPr>
          <p:spPr>
            <a:xfrm>
              <a:off x="7809758" y="2104549"/>
              <a:ext cx="1144483" cy="190690"/>
            </a:xfrm>
            <a:prstGeom prst="rect">
              <a:avLst/>
            </a:prstGeom>
            <a:noFill/>
            <a:ln>
              <a:noFill/>
            </a:ln>
          </p:spPr>
          <p:txBody>
            <a:bodyPr wrap="none" lIns="0" tIns="0" rIns="0" bIns="0" anchor="t" anchorCtr="0">
              <a:spAutoFit/>
            </a:bodyPr>
            <a:lstStyle/>
            <a:p>
              <a:pPr algn="ctr"/>
              <a:r>
                <a:rPr lang="tr-TR" sz="980" dirty="0">
                  <a:solidFill>
                    <a:srgbClr val="52616B"/>
                  </a:solidFill>
                  <a:latin typeface="+mn-lt"/>
                  <a:ea typeface="+mn-ea"/>
                  <a:cs typeface="+mn-cs"/>
                </a:rPr>
                <a:t>association_rules</a:t>
              </a:r>
            </a:p>
          </p:txBody>
        </p:sp>
        <p:sp>
          <p:nvSpPr>
            <p:cNvPr id="23" name="Line 23"/>
            <p:cNvSpPr/>
            <p:nvPr/>
          </p:nvSpPr>
          <p:spPr>
            <a:xfrm>
              <a:off x="9296400" y="2038350"/>
              <a:ext cx="457200" cy="1"/>
            </a:xfrm>
            <a:prstGeom prst="line">
              <a:avLst/>
            </a:prstGeom>
            <a:noFill/>
            <a:ln w="19050">
              <a:solidFill>
                <a:srgbClr val="2E86AB"/>
              </a:solidFill>
              <a:tailEnd type="arrow" w="lg" len="lg"/>
            </a:ln>
          </p:spPr>
        </p:sp>
        <p:sp>
          <p:nvSpPr>
            <p:cNvPr id="24" name="Rectangle 24"/>
            <p:cNvSpPr/>
            <p:nvPr/>
          </p:nvSpPr>
          <p:spPr>
            <a:xfrm>
              <a:off x="9753600" y="1695450"/>
              <a:ext cx="1828800" cy="685800"/>
            </a:xfrm>
            <a:prstGeom prst="roundRect">
              <a:avLst>
                <a:gd name="adj" fmla="val 11111"/>
              </a:avLst>
            </a:prstGeom>
            <a:solidFill>
              <a:srgbClr val="FFFFFF"/>
            </a:solidFill>
            <a:ln w="14288">
              <a:solidFill>
                <a:srgbClr val="B8CBD3"/>
              </a:solidFill>
            </a:ln>
          </p:spPr>
        </p:sp>
        <p:sp>
          <p:nvSpPr>
            <p:cNvPr id="25" name="TextBox 25"/>
            <p:cNvSpPr txBox="1"/>
            <p:nvPr/>
          </p:nvSpPr>
          <p:spPr>
            <a:xfrm>
              <a:off x="9866762" y="1878806"/>
              <a:ext cx="1602477" cy="220028"/>
            </a:xfrm>
            <a:prstGeom prst="rect">
              <a:avLst/>
            </a:prstGeom>
            <a:noFill/>
            <a:ln>
              <a:noFill/>
            </a:ln>
          </p:spPr>
          <p:txBody>
            <a:bodyPr wrap="none" lIns="0" tIns="0" rIns="0" bIns="0" anchor="t" anchorCtr="0">
              <a:spAutoFit/>
            </a:bodyPr>
            <a:lstStyle/>
            <a:p>
              <a:pPr algn="ctr"/>
              <a:r>
                <a:rPr lang="tr-TR" sz="1120" b="1" dirty="0">
                  <a:solidFill>
                    <a:srgbClr val="12355B"/>
                  </a:solidFill>
                  <a:latin typeface="+mn-lt"/>
                  <a:ea typeface="+mn-ea"/>
                  <a:cs typeface="+mn-cs"/>
                </a:rPr>
                <a:t>en_iyi_onerileri_al()</a:t>
              </a:r>
            </a:p>
          </p:txBody>
        </p:sp>
        <p:sp>
          <p:nvSpPr>
            <p:cNvPr id="26" name="TextBox 26"/>
            <p:cNvSpPr txBox="1"/>
            <p:nvPr/>
          </p:nvSpPr>
          <p:spPr>
            <a:xfrm>
              <a:off x="10092460" y="2104549"/>
              <a:ext cx="1151080" cy="190690"/>
            </a:xfrm>
            <a:prstGeom prst="rect">
              <a:avLst/>
            </a:prstGeom>
            <a:noFill/>
            <a:ln>
              <a:noFill/>
            </a:ln>
          </p:spPr>
          <p:txBody>
            <a:bodyPr wrap="none" lIns="0" tIns="0" rIns="0" bIns="0" anchor="t" anchorCtr="0">
              <a:spAutoFit/>
            </a:bodyPr>
            <a:lstStyle/>
            <a:p>
              <a:pPr algn="ctr"/>
              <a:r>
                <a:rPr lang="tr-TR" sz="980" dirty="0">
                  <a:solidFill>
                    <a:srgbClr val="52616B"/>
                  </a:solidFill>
                  <a:latin typeface="+mn-lt"/>
                  <a:ea typeface="+mn-ea"/>
                  <a:cs typeface="+mn-cs"/>
                </a:rPr>
                <a:t>lift'e göre sırala</a:t>
              </a:r>
            </a:p>
          </p:txBody>
        </p:sp>
      </p:grpSp>
      <p:grpSp>
        <p:nvGrpSpPr>
          <p:cNvPr id="37" name="class-note"/>
          <p:cNvGrpSpPr/>
          <p:nvPr/>
        </p:nvGrpSpPr>
        <p:grpSpPr>
          <a:xfrm>
            <a:off x="609600" y="2876550"/>
            <a:ext cx="5334000" cy="2228850"/>
            <a:chOff x="609600" y="2876550"/>
            <a:chExt cx="5334000" cy="2228850"/>
          </a:xfrm>
        </p:grpSpPr>
        <p:sp>
          <p:nvSpPr>
            <p:cNvPr id="28" name="Rectangle 28"/>
            <p:cNvSpPr/>
            <p:nvPr/>
          </p:nvSpPr>
          <p:spPr>
            <a:xfrm>
              <a:off x="609600" y="2876550"/>
              <a:ext cx="5334000" cy="2228850"/>
            </a:xfrm>
            <a:prstGeom prst="roundRect">
              <a:avLst>
                <a:gd name="adj" fmla="val 4274"/>
              </a:avLst>
            </a:prstGeom>
            <a:solidFill>
              <a:srgbClr val="FFFFFF"/>
            </a:solidFill>
            <a:ln w="14288">
              <a:solidFill>
                <a:srgbClr val="B8CBD3"/>
              </a:solidFill>
            </a:ln>
          </p:spPr>
        </p:sp>
        <p:sp>
          <p:nvSpPr>
            <p:cNvPr id="29" name="TextBox 29"/>
            <p:cNvSpPr txBox="1"/>
            <p:nvPr/>
          </p:nvSpPr>
          <p:spPr>
            <a:xfrm>
              <a:off x="830961" y="3027521"/>
              <a:ext cx="2540284"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Sınıf tasarımının amacı</a:t>
              </a:r>
            </a:p>
          </p:txBody>
        </p:sp>
        <p:sp>
          <p:nvSpPr>
            <p:cNvPr id="30" name="TextBox 30"/>
            <p:cNvSpPr txBox="1"/>
            <p:nvPr/>
          </p:nvSpPr>
          <p:spPr>
            <a:xfrm>
              <a:off x="831723" y="3310414"/>
              <a:ext cx="3938778"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Her adım ayrı bir metotta izole edilir; böylece</a:t>
              </a:r>
            </a:p>
          </p:txBody>
        </p:sp>
        <p:sp>
          <p:nvSpPr>
            <p:cNvPr id="31" name="TextBox 31"/>
            <p:cNvSpPr txBox="1"/>
            <p:nvPr/>
          </p:nvSpPr>
          <p:spPr>
            <a:xfrm>
              <a:off x="831723" y="3519964"/>
              <a:ext cx="3741662"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algoritma değişse (Apriori↔FP-Growth) veya</a:t>
              </a:r>
            </a:p>
          </p:txBody>
        </p:sp>
        <p:sp>
          <p:nvSpPr>
            <p:cNvPr id="32" name="TextBox 32"/>
            <p:cNvSpPr txBox="1"/>
            <p:nvPr/>
          </p:nvSpPr>
          <p:spPr>
            <a:xfrm>
              <a:off x="831723" y="3729514"/>
              <a:ext cx="3579846"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filtre eşiği değişse bile boru hattının geri</a:t>
              </a:r>
            </a:p>
          </p:txBody>
        </p:sp>
        <p:sp>
          <p:nvSpPr>
            <p:cNvPr id="33" name="TextBox 33"/>
            <p:cNvSpPr txBox="1"/>
            <p:nvPr/>
          </p:nvSpPr>
          <p:spPr>
            <a:xfrm>
              <a:off x="831723" y="3939064"/>
              <a:ext cx="1434541"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kalanı bozulmaz.</a:t>
              </a:r>
            </a:p>
          </p:txBody>
        </p:sp>
        <p:sp>
          <p:nvSpPr>
            <p:cNvPr id="34" name="TextBox 34"/>
            <p:cNvSpPr txBox="1"/>
            <p:nvPr/>
          </p:nvSpPr>
          <p:spPr>
            <a:xfrm>
              <a:off x="831723" y="4281964"/>
              <a:ext cx="3520128" cy="249364"/>
            </a:xfrm>
            <a:prstGeom prst="rect">
              <a:avLst/>
            </a:prstGeom>
            <a:noFill/>
            <a:ln>
              <a:noFill/>
            </a:ln>
          </p:spPr>
          <p:txBody>
            <a:bodyPr wrap="none" lIns="0" tIns="0" rIns="0" bIns="0" anchor="t" anchorCtr="0">
              <a:spAutoFit/>
            </a:bodyPr>
            <a:lstStyle/>
            <a:p>
              <a:pPr algn="l"/>
              <a:r>
                <a:rPr lang="tr-TR" sz="1280" b="1" dirty="0">
                  <a:solidFill>
                    <a:srgbClr val="2E86AB"/>
                  </a:solidFill>
                  <a:latin typeface="+mn-lt"/>
                  <a:ea typeface="+mn-ea"/>
                  <a:cs typeface="+mn-cs"/>
                </a:rPr>
                <a:t>Bu, üretim koduna geçişin ilk adımıdır:</a:t>
              </a:r>
            </a:p>
          </p:txBody>
        </p:sp>
        <p:sp>
          <p:nvSpPr>
            <p:cNvPr id="35" name="TextBox 35"/>
            <p:cNvSpPr txBox="1"/>
            <p:nvPr/>
          </p:nvSpPr>
          <p:spPr>
            <a:xfrm>
              <a:off x="831723" y="4491514"/>
              <a:ext cx="3911980" cy="249364"/>
            </a:xfrm>
            <a:prstGeom prst="rect">
              <a:avLst/>
            </a:prstGeom>
            <a:noFill/>
            <a:ln>
              <a:noFill/>
            </a:ln>
          </p:spPr>
          <p:txBody>
            <a:bodyPr wrap="none" lIns="0" tIns="0" rIns="0" bIns="0" anchor="t" anchorCtr="0">
              <a:spAutoFit/>
            </a:bodyPr>
            <a:lstStyle/>
            <a:p>
              <a:pPr algn="l"/>
              <a:r>
                <a:rPr lang="tr-TR" sz="1280" b="1" dirty="0">
                  <a:solidFill>
                    <a:srgbClr val="2E86AB"/>
                  </a:solidFill>
                  <a:latin typeface="+mn-lt"/>
                  <a:ea typeface="+mn-ea"/>
                  <a:cs typeface="+mn-cs"/>
                </a:rPr>
                <a:t>not defteri hücrelerini yeniden kullanılabilir</a:t>
              </a:r>
            </a:p>
          </p:txBody>
        </p:sp>
        <p:sp>
          <p:nvSpPr>
            <p:cNvPr id="36" name="TextBox 36"/>
            <p:cNvSpPr txBox="1"/>
            <p:nvPr/>
          </p:nvSpPr>
          <p:spPr>
            <a:xfrm>
              <a:off x="831723" y="4701064"/>
              <a:ext cx="2301709" cy="249364"/>
            </a:xfrm>
            <a:prstGeom prst="rect">
              <a:avLst/>
            </a:prstGeom>
            <a:noFill/>
            <a:ln>
              <a:noFill/>
            </a:ln>
          </p:spPr>
          <p:txBody>
            <a:bodyPr wrap="none" lIns="0" tIns="0" rIns="0" bIns="0" anchor="t" anchorCtr="0">
              <a:spAutoFit/>
            </a:bodyPr>
            <a:lstStyle/>
            <a:p>
              <a:pPr algn="l"/>
              <a:r>
                <a:rPr lang="tr-TR" sz="1280" b="1" dirty="0">
                  <a:solidFill>
                    <a:srgbClr val="2E86AB"/>
                  </a:solidFill>
                  <a:latin typeface="+mn-lt"/>
                  <a:ea typeface="+mn-ea"/>
                  <a:cs typeface="+mn-cs"/>
                </a:rPr>
                <a:t>bir arayüze dönüştürmek.</a:t>
              </a:r>
            </a:p>
          </p:txBody>
        </p:sp>
      </p:grpSp>
      <p:grpSp>
        <p:nvGrpSpPr>
          <p:cNvPr id="49" name="result-card"/>
          <p:cNvGrpSpPr/>
          <p:nvPr/>
        </p:nvGrpSpPr>
        <p:grpSpPr>
          <a:xfrm>
            <a:off x="6248400" y="2876550"/>
            <a:ext cx="5334000" cy="2228850"/>
            <a:chOff x="6248400" y="2876550"/>
            <a:chExt cx="5334000" cy="2228850"/>
          </a:xfrm>
        </p:grpSpPr>
        <p:sp>
          <p:nvSpPr>
            <p:cNvPr id="38" name="Rectangle 38"/>
            <p:cNvSpPr/>
            <p:nvPr/>
          </p:nvSpPr>
          <p:spPr>
            <a:xfrm>
              <a:off x="6248400" y="2876550"/>
              <a:ext cx="5334000" cy="2228850"/>
            </a:xfrm>
            <a:prstGeom prst="roundRect">
              <a:avLst>
                <a:gd name="adj" fmla="val 4274"/>
              </a:avLst>
            </a:prstGeom>
            <a:solidFill>
              <a:srgbClr val="EAF4F6"/>
            </a:solidFill>
            <a:ln>
              <a:noFill/>
            </a:ln>
          </p:spPr>
        </p:sp>
        <p:sp>
          <p:nvSpPr>
            <p:cNvPr id="39" name="TextBox 39"/>
            <p:cNvSpPr txBox="1"/>
            <p:nvPr/>
          </p:nvSpPr>
          <p:spPr>
            <a:xfrm>
              <a:off x="6469761" y="3027521"/>
              <a:ext cx="2218892"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Mini-uygulama çıktısı</a:t>
              </a:r>
            </a:p>
          </p:txBody>
        </p:sp>
        <p:sp>
          <p:nvSpPr>
            <p:cNvPr id="40" name="Rectangle 40"/>
            <p:cNvSpPr/>
            <p:nvPr/>
          </p:nvSpPr>
          <p:spPr>
            <a:xfrm>
              <a:off x="6477000" y="3352800"/>
              <a:ext cx="57150" cy="247650"/>
            </a:xfrm>
            <a:prstGeom prst="rect">
              <a:avLst/>
            </a:prstGeom>
            <a:solidFill>
              <a:srgbClr val="00A6A6"/>
            </a:solidFill>
            <a:ln>
              <a:noFill/>
            </a:ln>
          </p:spPr>
        </p:sp>
        <p:sp>
          <p:nvSpPr>
            <p:cNvPr id="41" name="TextBox 41"/>
            <p:cNvSpPr txBox="1"/>
            <p:nvPr/>
          </p:nvSpPr>
          <p:spPr>
            <a:xfrm>
              <a:off x="6661404" y="3413760"/>
              <a:ext cx="328974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Apriori: 1,418 ms — FP-Growth: 0,633 ms</a:t>
              </a:r>
            </a:p>
          </p:txBody>
        </p:sp>
        <p:sp>
          <p:nvSpPr>
            <p:cNvPr id="42" name="Rectangle 42"/>
            <p:cNvSpPr/>
            <p:nvPr/>
          </p:nvSpPr>
          <p:spPr>
            <a:xfrm>
              <a:off x="6477000" y="3695700"/>
              <a:ext cx="57150" cy="247650"/>
            </a:xfrm>
            <a:prstGeom prst="rect">
              <a:avLst/>
            </a:prstGeom>
            <a:solidFill>
              <a:srgbClr val="00A6A6"/>
            </a:solidFill>
            <a:ln>
              <a:noFill/>
            </a:ln>
          </p:spPr>
        </p:sp>
        <p:sp>
          <p:nvSpPr>
            <p:cNvPr id="43" name="TextBox 43"/>
            <p:cNvSpPr txBox="1"/>
            <p:nvPr/>
          </p:nvSpPr>
          <p:spPr>
            <a:xfrm>
              <a:off x="6661404" y="3756660"/>
              <a:ext cx="378403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FP-Growth burada da belirgin biçimde daha hızlı</a:t>
              </a:r>
            </a:p>
          </p:txBody>
        </p:sp>
        <p:sp>
          <p:nvSpPr>
            <p:cNvPr id="44" name="Rectangle 44"/>
            <p:cNvSpPr/>
            <p:nvPr/>
          </p:nvSpPr>
          <p:spPr>
            <a:xfrm>
              <a:off x="6477000" y="4038600"/>
              <a:ext cx="57150" cy="247650"/>
            </a:xfrm>
            <a:prstGeom prst="rect">
              <a:avLst/>
            </a:prstGeom>
            <a:solidFill>
              <a:srgbClr val="00A6A6"/>
            </a:solidFill>
            <a:ln>
              <a:noFill/>
            </a:ln>
          </p:spPr>
        </p:sp>
        <p:sp>
          <p:nvSpPr>
            <p:cNvPr id="45" name="TextBox 45"/>
            <p:cNvSpPr txBox="1"/>
            <p:nvPr/>
          </p:nvSpPr>
          <p:spPr>
            <a:xfrm>
              <a:off x="6661404" y="4099560"/>
              <a:ext cx="352320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En yüksek kaldıraçlı öneri: tereyağı → reçel</a:t>
              </a:r>
            </a:p>
          </p:txBody>
        </p:sp>
        <p:sp>
          <p:nvSpPr>
            <p:cNvPr id="46" name="TextBox 46"/>
            <p:cNvSpPr txBox="1"/>
            <p:nvPr/>
          </p:nvSpPr>
          <p:spPr>
            <a:xfrm>
              <a:off x="6661404" y="4309110"/>
              <a:ext cx="96207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lift = 2,500</a:t>
              </a:r>
            </a:p>
          </p:txBody>
        </p:sp>
        <p:sp>
          <p:nvSpPr>
            <p:cNvPr id="47" name="TextBox 47"/>
            <p:cNvSpPr txBox="1"/>
            <p:nvPr/>
          </p:nvSpPr>
          <p:spPr>
            <a:xfrm>
              <a:off x="6471285" y="4660106"/>
              <a:ext cx="3363480"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Yani tereyağı alanlar, reçeli ortalamaya göre</a:t>
              </a:r>
            </a:p>
          </p:txBody>
        </p:sp>
        <p:sp>
          <p:nvSpPr>
            <p:cNvPr id="48" name="TextBox 48"/>
            <p:cNvSpPr txBox="1"/>
            <p:nvPr/>
          </p:nvSpPr>
          <p:spPr>
            <a:xfrm>
              <a:off x="6471285" y="4869656"/>
              <a:ext cx="2273046"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2,5 kat daha sık satın alıyor.</a:t>
              </a:r>
            </a:p>
          </p:txBody>
        </p:sp>
      </p:grpSp>
      <p:sp>
        <p:nvSpPr>
          <p:cNvPr id="50" name="TextBox 5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21 / 25</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527853" cy="668845"/>
            <a:chOff x="609600" y="171450"/>
            <a:chExt cx="852785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83748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yanılgıları ve anti-pattern'lar</a:t>
              </a:r>
            </a:p>
          </p:txBody>
        </p:sp>
      </p:grpSp>
      <p:grpSp>
        <p:nvGrpSpPr>
          <p:cNvPr id="16" name="fallacy-header"/>
          <p:cNvGrpSpPr/>
          <p:nvPr/>
        </p:nvGrpSpPr>
        <p:grpSpPr>
          <a:xfrm>
            <a:off x="609600" y="1333500"/>
            <a:ext cx="10972800" cy="381000"/>
            <a:chOff x="609600" y="1333500"/>
            <a:chExt cx="10972800" cy="381000"/>
          </a:xfrm>
        </p:grpSpPr>
        <p:sp>
          <p:nvSpPr>
            <p:cNvPr id="12" name="Rectangle 12"/>
            <p:cNvSpPr/>
            <p:nvPr/>
          </p:nvSpPr>
          <p:spPr>
            <a:xfrm>
              <a:off x="609600" y="1333500"/>
              <a:ext cx="10972800" cy="381000"/>
            </a:xfrm>
            <a:prstGeom prst="rect">
              <a:avLst/>
            </a:prstGeom>
            <a:solidFill>
              <a:srgbClr val="12355B"/>
            </a:solidFill>
            <a:ln>
              <a:noFill/>
            </a:ln>
          </p:spPr>
        </p:sp>
        <p:sp>
          <p:nvSpPr>
            <p:cNvPr id="13" name="TextBox 13"/>
            <p:cNvSpPr txBox="1"/>
            <p:nvPr/>
          </p:nvSpPr>
          <p:spPr>
            <a:xfrm>
              <a:off x="755904" y="1451610"/>
              <a:ext cx="67659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YANILGI</a:t>
              </a:r>
            </a:p>
          </p:txBody>
        </p:sp>
        <p:sp>
          <p:nvSpPr>
            <p:cNvPr id="14" name="TextBox 14"/>
            <p:cNvSpPr txBox="1"/>
            <p:nvPr/>
          </p:nvSpPr>
          <p:spPr>
            <a:xfrm>
              <a:off x="4375404" y="1451610"/>
              <a:ext cx="1376843"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TEKNİK GERÇEK</a:t>
              </a:r>
            </a:p>
          </p:txBody>
        </p:sp>
        <p:sp>
          <p:nvSpPr>
            <p:cNvPr id="15" name="TextBox 15"/>
            <p:cNvSpPr txBox="1"/>
            <p:nvPr/>
          </p:nvSpPr>
          <p:spPr>
            <a:xfrm>
              <a:off x="8185404" y="1451610"/>
              <a:ext cx="151296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DOĞRU YAKLAŞIM</a:t>
              </a:r>
            </a:p>
          </p:txBody>
        </p:sp>
      </p:grpSp>
      <p:grpSp>
        <p:nvGrpSpPr>
          <p:cNvPr id="21" name="fallacy-confidence"/>
          <p:cNvGrpSpPr/>
          <p:nvPr/>
        </p:nvGrpSpPr>
        <p:grpSpPr>
          <a:xfrm>
            <a:off x="609600" y="1849279"/>
            <a:ext cx="10972800" cy="1313021"/>
            <a:chOff x="609600" y="1849279"/>
            <a:chExt cx="10972800" cy="1313021"/>
          </a:xfrm>
        </p:grpSpPr>
        <p:sp>
          <p:nvSpPr>
            <p:cNvPr id="17" name="TextBox 17"/>
            <p:cNvSpPr txBox="1"/>
            <p:nvPr/>
          </p:nvSpPr>
          <p:spPr>
            <a:xfrm>
              <a:off x="753999" y="1849279"/>
              <a:ext cx="1701546"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"Güven yüksekse</a:t>
              </a:r>
              <a:br/>
              <a:r>
                <a:rPr lang="tr-TR" sz="1580" b="1" dirty="0">
                  <a:solidFill>
                    <a:srgbClr val="12355B"/>
                  </a:solidFill>
                  <a:latin typeface="+mn-lt"/>
                  <a:ea typeface="+mn-ea"/>
                  <a:cs typeface="+mn-cs"/>
                </a:rPr>
                <a:t>kural mutlaka</a:t>
              </a:r>
              <a:br/>
              <a:r>
                <a:rPr lang="tr-TR" sz="1580" b="1" dirty="0">
                  <a:solidFill>
                    <a:srgbClr val="12355B"/>
                  </a:solidFill>
                  <a:latin typeface="+mn-lt"/>
                  <a:ea typeface="+mn-ea"/>
                  <a:cs typeface="+mn-cs"/>
                </a:rPr>
                <a:t>anlamlıdır."</a:t>
              </a:r>
            </a:p>
          </p:txBody>
        </p:sp>
        <p:sp>
          <p:nvSpPr>
            <p:cNvPr id="18" name="TextBox 18"/>
            <p:cNvSpPr txBox="1"/>
            <p:nvPr/>
          </p:nvSpPr>
          <p:spPr>
            <a:xfrm>
              <a:off x="4375404" y="1889760"/>
              <a:ext cx="301447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Yüksek güven, yalnızca sonucun sık</a:t>
              </a:r>
              <a:br/>
              <a:r>
                <a:rPr lang="tr-TR" sz="1200" dirty="0">
                  <a:solidFill>
                    <a:srgbClr val="172B3A"/>
                  </a:solidFill>
                  <a:latin typeface="+mn-lt"/>
                  <a:ea typeface="+mn-ea"/>
                  <a:cs typeface="+mn-cs"/>
                </a:rPr>
                <a:t>satın alınan bir ürün olmasından da</a:t>
              </a:r>
              <a:br/>
              <a:r>
                <a:rPr lang="tr-TR" sz="1200" dirty="0">
                  <a:solidFill>
                    <a:srgbClr val="172B3A"/>
                  </a:solidFill>
                  <a:latin typeface="+mn-lt"/>
                  <a:ea typeface="+mn-ea"/>
                  <a:cs typeface="+mn-cs"/>
                </a:rPr>
                <a:t>kaynaklanabilir; ilişkiyi değil, popülerliği</a:t>
              </a:r>
              <a:br/>
              <a:r>
                <a:rPr lang="tr-TR" sz="1200" dirty="0">
                  <a:solidFill>
                    <a:srgbClr val="172B3A"/>
                  </a:solidFill>
                  <a:latin typeface="+mn-lt"/>
                  <a:ea typeface="+mn-ea"/>
                  <a:cs typeface="+mn-cs"/>
                </a:rPr>
                <a:t>yansıtabilir.</a:t>
              </a:r>
            </a:p>
          </p:txBody>
        </p:sp>
        <p:sp>
          <p:nvSpPr>
            <p:cNvPr id="19" name="TextBox 19"/>
            <p:cNvSpPr txBox="1"/>
            <p:nvPr/>
          </p:nvSpPr>
          <p:spPr>
            <a:xfrm>
              <a:off x="8185404" y="1889760"/>
              <a:ext cx="26791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Güveni her zaman kaldıraçla birlikte</a:t>
              </a:r>
              <a:br/>
              <a:r>
                <a:rPr lang="tr-TR" sz="1200" dirty="0">
                  <a:solidFill>
                    <a:srgbClr val="172B3A"/>
                  </a:solidFill>
                  <a:latin typeface="+mn-lt"/>
                  <a:ea typeface="+mn-ea"/>
                  <a:cs typeface="+mn-cs"/>
                </a:rPr>
                <a:t>okumalı; lift ≈ 1 olan kurallar</a:t>
              </a:r>
              <a:br/>
              <a:r>
                <a:rPr lang="tr-TR" sz="1200" dirty="0">
                  <a:solidFill>
                    <a:srgbClr val="172B3A"/>
                  </a:solidFill>
                  <a:latin typeface="+mn-lt"/>
                  <a:ea typeface="+mn-ea"/>
                  <a:cs typeface="+mn-cs"/>
                </a:rPr>
                <a:t>rastlantısal popülerlik olarak</a:t>
              </a:r>
              <a:br/>
              <a:r>
                <a:rPr lang="tr-TR" sz="1200" dirty="0">
                  <a:solidFill>
                    <a:srgbClr val="172B3A"/>
                  </a:solidFill>
                  <a:latin typeface="+mn-lt"/>
                  <a:ea typeface="+mn-ea"/>
                  <a:cs typeface="+mn-cs"/>
                </a:rPr>
                <a:t>elenmelidir.</a:t>
              </a:r>
            </a:p>
          </p:txBody>
        </p:sp>
        <p:sp>
          <p:nvSpPr>
            <p:cNvPr id="20" name="Line 20"/>
            <p:cNvSpPr/>
            <p:nvPr/>
          </p:nvSpPr>
          <p:spPr>
            <a:xfrm>
              <a:off x="609600" y="31527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7" name="fallacy-support"/>
          <p:cNvGrpSpPr/>
          <p:nvPr/>
        </p:nvGrpSpPr>
        <p:grpSpPr>
          <a:xfrm>
            <a:off x="609600" y="3162300"/>
            <a:ext cx="10972800" cy="1447800"/>
            <a:chOff x="609600" y="3162300"/>
            <a:chExt cx="10972800" cy="1447800"/>
          </a:xfrm>
        </p:grpSpPr>
        <p:sp>
          <p:nvSpPr>
            <p:cNvPr id="22" name="Rectangle 22"/>
            <p:cNvSpPr/>
            <p:nvPr/>
          </p:nvSpPr>
          <p:spPr>
            <a:xfrm>
              <a:off x="609600" y="3162300"/>
              <a:ext cx="10972800" cy="1447800"/>
            </a:xfrm>
            <a:prstGeom prst="rect">
              <a:avLst/>
            </a:prstGeom>
            <a:solidFill>
              <a:srgbClr val="EAF4F6"/>
            </a:solidFill>
            <a:ln>
              <a:noFill/>
            </a:ln>
          </p:spPr>
        </p:sp>
        <p:sp>
          <p:nvSpPr>
            <p:cNvPr id="23" name="TextBox 23"/>
            <p:cNvSpPr txBox="1"/>
            <p:nvPr/>
          </p:nvSpPr>
          <p:spPr>
            <a:xfrm>
              <a:off x="753999" y="3297079"/>
              <a:ext cx="2112397"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"min_support'u</a:t>
              </a:r>
              <a:br/>
              <a:r>
                <a:rPr lang="tr-TR" sz="1580" b="1" dirty="0">
                  <a:solidFill>
                    <a:srgbClr val="12355B"/>
                  </a:solidFill>
                  <a:latin typeface="+mn-lt"/>
                  <a:ea typeface="+mn-ea"/>
                  <a:cs typeface="+mn-cs"/>
                </a:rPr>
                <a:t>olabildiğince düşük</a:t>
              </a:r>
              <a:br/>
              <a:r>
                <a:rPr lang="tr-TR" sz="1580" b="1" dirty="0">
                  <a:solidFill>
                    <a:srgbClr val="12355B"/>
                  </a:solidFill>
                  <a:latin typeface="+mn-lt"/>
                  <a:ea typeface="+mn-ea"/>
                  <a:cs typeface="+mn-cs"/>
                </a:rPr>
                <a:t>tutmak daha iyidir."</a:t>
              </a:r>
            </a:p>
          </p:txBody>
        </p:sp>
        <p:sp>
          <p:nvSpPr>
            <p:cNvPr id="24" name="TextBox 24"/>
            <p:cNvSpPr txBox="1"/>
            <p:nvPr/>
          </p:nvSpPr>
          <p:spPr>
            <a:xfrm>
              <a:off x="4375404" y="3337560"/>
              <a:ext cx="307543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Çok düşük eşik, aday öğe kümesi</a:t>
              </a:r>
              <a:br/>
              <a:r>
                <a:rPr lang="tr-TR" sz="1200" dirty="0">
                  <a:solidFill>
                    <a:srgbClr val="172B3A"/>
                  </a:solidFill>
                  <a:latin typeface="+mn-lt"/>
                  <a:ea typeface="+mn-ea"/>
                  <a:cs typeface="+mn-cs"/>
                </a:rPr>
                <a:t>sayısını patlatır; hem hesaplama süresi</a:t>
              </a:r>
              <a:br/>
              <a:r>
                <a:rPr lang="tr-TR" sz="1200" dirty="0">
                  <a:solidFill>
                    <a:srgbClr val="172B3A"/>
                  </a:solidFill>
                  <a:latin typeface="+mn-lt"/>
                  <a:ea typeface="+mn-ea"/>
                  <a:cs typeface="+mn-cs"/>
                </a:rPr>
                <a:t>saniyelerden dakikalara çıkar hem de</a:t>
              </a:r>
              <a:br/>
              <a:r>
                <a:rPr lang="tr-TR" sz="1200" dirty="0">
                  <a:solidFill>
                    <a:srgbClr val="172B3A"/>
                  </a:solidFill>
                  <a:latin typeface="+mn-lt"/>
                  <a:ea typeface="+mn-ea"/>
                  <a:cs typeface="+mn-cs"/>
                </a:rPr>
                <a:t>binlerce anlamsız kural üretilir.</a:t>
              </a:r>
            </a:p>
          </p:txBody>
        </p:sp>
        <p:sp>
          <p:nvSpPr>
            <p:cNvPr id="25" name="TextBox 25"/>
            <p:cNvSpPr txBox="1"/>
            <p:nvPr/>
          </p:nvSpPr>
          <p:spPr>
            <a:xfrm>
              <a:off x="8185404" y="3337560"/>
              <a:ext cx="30220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Eşik iş bağlamına göre kademeli</a:t>
              </a:r>
              <a:br/>
              <a:r>
                <a:rPr lang="tr-TR" sz="1200" dirty="0">
                  <a:solidFill>
                    <a:srgbClr val="172B3A"/>
                  </a:solidFill>
                  <a:latin typeface="+mn-lt"/>
                  <a:ea typeface="+mn-ea"/>
                  <a:cs typeface="+mn-cs"/>
                </a:rPr>
                <a:t>artırılıp azaltılarak (0,5 → 0,3 → 0,15)</a:t>
              </a:r>
              <a:br/>
              <a:r>
                <a:rPr lang="tr-TR" sz="1200" dirty="0">
                  <a:solidFill>
                    <a:srgbClr val="172B3A"/>
                  </a:solidFill>
                  <a:latin typeface="+mn-lt"/>
                  <a:ea typeface="+mn-ea"/>
                  <a:cs typeface="+mn-cs"/>
                </a:rPr>
                <a:t>aday sayısı ve çalışma süresi izlenerek</a:t>
              </a:r>
              <a:br/>
              <a:r>
                <a:rPr lang="tr-TR" sz="1200" dirty="0">
                  <a:solidFill>
                    <a:srgbClr val="172B3A"/>
                  </a:solidFill>
                  <a:latin typeface="+mn-lt"/>
                  <a:ea typeface="+mn-ea"/>
                  <a:cs typeface="+mn-cs"/>
                </a:rPr>
                <a:t>ayarlanmalıdır.</a:t>
              </a:r>
            </a:p>
          </p:txBody>
        </p:sp>
        <p:sp>
          <p:nvSpPr>
            <p:cNvPr id="26" name="Line 26"/>
            <p:cNvSpPr/>
            <p:nvPr/>
          </p:nvSpPr>
          <p:spPr>
            <a:xfrm>
              <a:off x="609600" y="46005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fallacy-frozenset"/>
          <p:cNvGrpSpPr/>
          <p:nvPr/>
        </p:nvGrpSpPr>
        <p:grpSpPr>
          <a:xfrm>
            <a:off x="753999" y="4744879"/>
            <a:ext cx="10362057" cy="903827"/>
            <a:chOff x="753999" y="4744879"/>
            <a:chExt cx="10362057" cy="903827"/>
          </a:xfrm>
        </p:grpSpPr>
        <p:sp>
          <p:nvSpPr>
            <p:cNvPr id="28" name="TextBox 28"/>
            <p:cNvSpPr txBox="1"/>
            <p:nvPr/>
          </p:nvSpPr>
          <p:spPr>
            <a:xfrm>
              <a:off x="753999" y="4744879"/>
              <a:ext cx="2228279"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"Öğe kümelerini</a:t>
              </a:r>
              <a:br/>
              <a:r>
                <a:rPr lang="tr-TR" sz="1580" b="1" dirty="0">
                  <a:solidFill>
                    <a:srgbClr val="12355B"/>
                  </a:solidFill>
                  <a:latin typeface="+mn-lt"/>
                  <a:ea typeface="+mn-ea"/>
                  <a:cs typeface="+mn-cs"/>
                </a:rPr>
                <a:t>liste (list) olarak</a:t>
              </a:r>
              <a:br/>
              <a:r>
                <a:rPr lang="tr-TR" sz="1580" b="1" dirty="0">
                  <a:solidFill>
                    <a:srgbClr val="12355B"/>
                  </a:solidFill>
                  <a:latin typeface="+mn-lt"/>
                  <a:ea typeface="+mn-ea"/>
                  <a:cs typeface="+mn-cs"/>
                </a:rPr>
                <a:t>karşılaştırabilirim."</a:t>
              </a:r>
            </a:p>
          </p:txBody>
        </p:sp>
        <p:sp>
          <p:nvSpPr>
            <p:cNvPr id="29" name="TextBox 29"/>
            <p:cNvSpPr txBox="1"/>
            <p:nvPr/>
          </p:nvSpPr>
          <p:spPr>
            <a:xfrm>
              <a:off x="4375404" y="4785360"/>
              <a:ext cx="365455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mlxtend öğe kümelerini frozenset olarak</a:t>
              </a:r>
              <a:br/>
              <a:r>
                <a:rPr lang="tr-TR" sz="1200" dirty="0">
                  <a:solidFill>
                    <a:srgbClr val="172B3A"/>
                  </a:solidFill>
                  <a:latin typeface="+mn-lt"/>
                  <a:ea typeface="+mn-ea"/>
                  <a:cs typeface="+mn-cs"/>
                </a:rPr>
                <a:t>döndürür; {'ekmek','süt'} ile ['süt','ekmek']</a:t>
              </a:r>
              <a:br/>
              <a:r>
                <a:rPr lang="tr-TR" sz="1200" dirty="0">
                  <a:solidFill>
                    <a:srgbClr val="172B3A"/>
                  </a:solidFill>
                  <a:latin typeface="+mn-lt"/>
                  <a:ea typeface="+mn-ea"/>
                  <a:cs typeface="+mn-cs"/>
                </a:rPr>
                <a:t>sırası farklı listeler eşit sayılmaz, filtreleme</a:t>
              </a:r>
              <a:br/>
              <a:r>
                <a:rPr lang="tr-TR" sz="1200" dirty="0">
                  <a:solidFill>
                    <a:srgbClr val="172B3A"/>
                  </a:solidFill>
                  <a:latin typeface="+mn-lt"/>
                  <a:ea typeface="+mn-ea"/>
                  <a:cs typeface="+mn-cs"/>
                </a:rPr>
                <a:t>ve eşleştirme sessizce başarısız olur.</a:t>
              </a:r>
            </a:p>
          </p:txBody>
        </p:sp>
        <p:sp>
          <p:nvSpPr>
            <p:cNvPr id="30" name="TextBox 30"/>
            <p:cNvSpPr txBox="1"/>
            <p:nvPr/>
          </p:nvSpPr>
          <p:spPr>
            <a:xfrm>
              <a:off x="8185404" y="4785360"/>
              <a:ext cx="293065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Karşılaştırma ve arama işlemlerinde</a:t>
              </a:r>
              <a:br/>
              <a:r>
                <a:rPr lang="tr-TR" sz="1200" dirty="0">
                  <a:solidFill>
                    <a:srgbClr val="172B3A"/>
                  </a:solidFill>
                  <a:latin typeface="+mn-lt"/>
                  <a:ea typeface="+mn-ea"/>
                  <a:cs typeface="+mn-cs"/>
                </a:rPr>
                <a:t>daima frozenset veya set türü</a:t>
              </a:r>
              <a:br/>
              <a:r>
                <a:rPr lang="tr-TR" sz="1200" dirty="0">
                  <a:solidFill>
                    <a:srgbClr val="172B3A"/>
                  </a:solidFill>
                  <a:latin typeface="+mn-lt"/>
                  <a:ea typeface="+mn-ea"/>
                  <a:cs typeface="+mn-cs"/>
                </a:rPr>
                <a:t>kullanılmalı; liste dönüşümü yalnızca</a:t>
              </a:r>
              <a:br/>
              <a:r>
                <a:rPr lang="tr-TR" sz="1200" dirty="0">
                  <a:solidFill>
                    <a:srgbClr val="172B3A"/>
                  </a:solidFill>
                  <a:latin typeface="+mn-lt"/>
                  <a:ea typeface="+mn-ea"/>
                  <a:cs typeface="+mn-cs"/>
                </a:rPr>
                <a:t>görüntüleme aşamasında yapılmalıdır.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22 / 25</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11206051" cy="668845"/>
            <a:chOff x="609600" y="171450"/>
            <a:chExt cx="11206051"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1051567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Kuramsal çerçeve: korelasyon nedenselliği ispatlamaz</a:t>
              </a:r>
            </a:p>
          </p:txBody>
        </p:sp>
      </p:grpSp>
      <p:grpSp>
        <p:nvGrpSpPr>
          <p:cNvPr id="17" name="table-header"/>
          <p:cNvGrpSpPr/>
          <p:nvPr/>
        </p:nvGrpSpPr>
        <p:grpSpPr>
          <a:xfrm>
            <a:off x="609600" y="1123950"/>
            <a:ext cx="10972800" cy="381000"/>
            <a:chOff x="609600" y="1123950"/>
            <a:chExt cx="10972800" cy="381000"/>
          </a:xfrm>
        </p:grpSpPr>
        <p:sp>
          <p:nvSpPr>
            <p:cNvPr id="13" name="Rectangle 13"/>
            <p:cNvSpPr/>
            <p:nvPr/>
          </p:nvSpPr>
          <p:spPr>
            <a:xfrm>
              <a:off x="609600" y="1123950"/>
              <a:ext cx="10972800" cy="381000"/>
            </a:xfrm>
            <a:prstGeom prst="rect">
              <a:avLst/>
            </a:prstGeom>
            <a:solidFill>
              <a:srgbClr val="12355B"/>
            </a:solidFill>
            <a:ln>
              <a:noFill/>
            </a:ln>
          </p:spPr>
        </p:sp>
        <p:sp>
          <p:nvSpPr>
            <p:cNvPr id="14" name="TextBox 14"/>
            <p:cNvSpPr txBox="1"/>
            <p:nvPr/>
          </p:nvSpPr>
          <p:spPr>
            <a:xfrm>
              <a:off x="756285" y="1250156"/>
              <a:ext cx="650230"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KAVRAM</a:t>
              </a:r>
            </a:p>
          </p:txBody>
        </p:sp>
        <p:sp>
          <p:nvSpPr>
            <p:cNvPr id="15" name="TextBox 15"/>
            <p:cNvSpPr txBox="1"/>
            <p:nvPr/>
          </p:nvSpPr>
          <p:spPr>
            <a:xfrm>
              <a:off x="3994785" y="1250156"/>
              <a:ext cx="780294"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NE ÖLÇER</a:t>
              </a:r>
            </a:p>
          </p:txBody>
        </p:sp>
        <p:sp>
          <p:nvSpPr>
            <p:cNvPr id="16" name="TextBox 16"/>
            <p:cNvSpPr txBox="1"/>
            <p:nvPr/>
          </p:nvSpPr>
          <p:spPr>
            <a:xfrm>
              <a:off x="7804785" y="1250156"/>
              <a:ext cx="491319"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SINIRI</a:t>
              </a:r>
            </a:p>
          </p:txBody>
        </p:sp>
      </p:grpSp>
      <p:grpSp>
        <p:nvGrpSpPr>
          <p:cNvPr id="22" name="r1"/>
          <p:cNvGrpSpPr/>
          <p:nvPr/>
        </p:nvGrpSpPr>
        <p:grpSpPr>
          <a:xfrm>
            <a:off x="609600" y="1672114"/>
            <a:ext cx="10972800" cy="337661"/>
            <a:chOff x="609600" y="1672114"/>
            <a:chExt cx="10972800" cy="337661"/>
          </a:xfrm>
        </p:grpSpPr>
        <p:sp>
          <p:nvSpPr>
            <p:cNvPr id="18" name="TextBox 18"/>
            <p:cNvSpPr txBox="1"/>
            <p:nvPr/>
          </p:nvSpPr>
          <p:spPr>
            <a:xfrm>
              <a:off x="755523" y="1672114"/>
              <a:ext cx="615653"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Destek</a:t>
              </a:r>
            </a:p>
          </p:txBody>
        </p:sp>
        <p:sp>
          <p:nvSpPr>
            <p:cNvPr id="19" name="TextBox 19"/>
            <p:cNvSpPr txBox="1"/>
            <p:nvPr/>
          </p:nvSpPr>
          <p:spPr>
            <a:xfrm>
              <a:off x="3994404" y="1680210"/>
              <a:ext cx="252910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Kümenin veri içindeki yaygınlığı</a:t>
              </a:r>
            </a:p>
          </p:txBody>
        </p:sp>
        <p:sp>
          <p:nvSpPr>
            <p:cNvPr id="20" name="TextBox 20"/>
            <p:cNvSpPr txBox="1"/>
            <p:nvPr/>
          </p:nvSpPr>
          <p:spPr>
            <a:xfrm>
              <a:off x="7804404" y="1680210"/>
              <a:ext cx="296488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Nadir ama değerli ilişkileri gizleyebilir</a:t>
              </a:r>
            </a:p>
          </p:txBody>
        </p:sp>
        <p:sp>
          <p:nvSpPr>
            <p:cNvPr id="21" name="Line 21"/>
            <p:cNvSpPr/>
            <p:nvPr/>
          </p:nvSpPr>
          <p:spPr>
            <a:xfrm>
              <a:off x="609600" y="20002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7" name="r2"/>
          <p:cNvGrpSpPr/>
          <p:nvPr/>
        </p:nvGrpSpPr>
        <p:grpSpPr>
          <a:xfrm>
            <a:off x="609600" y="2000250"/>
            <a:ext cx="10972800" cy="495300"/>
            <a:chOff x="609600" y="2000250"/>
            <a:chExt cx="10972800" cy="495300"/>
          </a:xfrm>
        </p:grpSpPr>
        <p:sp>
          <p:nvSpPr>
            <p:cNvPr id="23" name="Rectangle 23"/>
            <p:cNvSpPr/>
            <p:nvPr/>
          </p:nvSpPr>
          <p:spPr>
            <a:xfrm>
              <a:off x="609600" y="2000250"/>
              <a:ext cx="10972800" cy="495300"/>
            </a:xfrm>
            <a:prstGeom prst="rect">
              <a:avLst/>
            </a:prstGeom>
            <a:solidFill>
              <a:srgbClr val="EAF4F6"/>
            </a:solidFill>
            <a:ln>
              <a:noFill/>
            </a:ln>
          </p:spPr>
        </p:sp>
        <p:sp>
          <p:nvSpPr>
            <p:cNvPr id="24" name="TextBox 24"/>
            <p:cNvSpPr txBox="1"/>
            <p:nvPr/>
          </p:nvSpPr>
          <p:spPr>
            <a:xfrm>
              <a:off x="755523" y="2167414"/>
              <a:ext cx="516142"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Güven</a:t>
              </a:r>
            </a:p>
          </p:txBody>
        </p:sp>
        <p:sp>
          <p:nvSpPr>
            <p:cNvPr id="25" name="TextBox 25"/>
            <p:cNvSpPr txBox="1"/>
            <p:nvPr/>
          </p:nvSpPr>
          <p:spPr>
            <a:xfrm>
              <a:off x="3994404" y="2175510"/>
              <a:ext cx="359545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Öncül gerçekleştiğinde sonucun görülme oranı</a:t>
              </a:r>
            </a:p>
          </p:txBody>
        </p:sp>
        <p:sp>
          <p:nvSpPr>
            <p:cNvPr id="26" name="TextBox 26"/>
            <p:cNvSpPr txBox="1"/>
            <p:nvPr/>
          </p:nvSpPr>
          <p:spPr>
            <a:xfrm>
              <a:off x="7804404" y="2175510"/>
              <a:ext cx="311885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Popüler ürünlerde yapay olarak yükselir</a:t>
              </a:r>
            </a:p>
          </p:txBody>
        </p:sp>
      </p:grpSp>
      <p:grpSp>
        <p:nvGrpSpPr>
          <p:cNvPr id="32" name="r3"/>
          <p:cNvGrpSpPr/>
          <p:nvPr/>
        </p:nvGrpSpPr>
        <p:grpSpPr>
          <a:xfrm>
            <a:off x="609600" y="2662714"/>
            <a:ext cx="11500944" cy="337661"/>
            <a:chOff x="609600" y="2662714"/>
            <a:chExt cx="11500944" cy="337661"/>
          </a:xfrm>
        </p:grpSpPr>
        <p:sp>
          <p:nvSpPr>
            <p:cNvPr id="28" name="TextBox 28"/>
            <p:cNvSpPr txBox="1"/>
            <p:nvPr/>
          </p:nvSpPr>
          <p:spPr>
            <a:xfrm>
              <a:off x="755523" y="2662714"/>
              <a:ext cx="769123"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Kaldıraç</a:t>
              </a:r>
            </a:p>
          </p:txBody>
        </p:sp>
        <p:sp>
          <p:nvSpPr>
            <p:cNvPr id="29" name="TextBox 29"/>
            <p:cNvSpPr txBox="1"/>
            <p:nvPr/>
          </p:nvSpPr>
          <p:spPr>
            <a:xfrm>
              <a:off x="3994404" y="2670810"/>
              <a:ext cx="296542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Rastlantısal beklentiden sapma oranı</a:t>
              </a:r>
            </a:p>
          </p:txBody>
        </p:sp>
        <p:sp>
          <p:nvSpPr>
            <p:cNvPr id="30" name="TextBox 30"/>
            <p:cNvSpPr txBox="1"/>
            <p:nvPr/>
          </p:nvSpPr>
          <p:spPr>
            <a:xfrm>
              <a:off x="7804404" y="2670810"/>
              <a:ext cx="430614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İstatistiksel ilişkiyi gösterir, mekanizmayı açıklamaz</a:t>
              </a:r>
            </a:p>
          </p:txBody>
        </p:sp>
        <p:sp>
          <p:nvSpPr>
            <p:cNvPr id="31" name="Line 31"/>
            <p:cNvSpPr/>
            <p:nvPr/>
          </p:nvSpPr>
          <p:spPr>
            <a:xfrm>
              <a:off x="609600" y="29908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0" name="causality"/>
          <p:cNvGrpSpPr/>
          <p:nvPr/>
        </p:nvGrpSpPr>
        <p:grpSpPr>
          <a:xfrm>
            <a:off x="609600" y="3257550"/>
            <a:ext cx="10972800" cy="2000250"/>
            <a:chOff x="609600" y="3257550"/>
            <a:chExt cx="10972800" cy="2000250"/>
          </a:xfrm>
        </p:grpSpPr>
        <p:sp>
          <p:nvSpPr>
            <p:cNvPr id="33" name="Rectangle 33"/>
            <p:cNvSpPr/>
            <p:nvPr/>
          </p:nvSpPr>
          <p:spPr>
            <a:xfrm>
              <a:off x="609600" y="3257550"/>
              <a:ext cx="10972800" cy="2000250"/>
            </a:xfrm>
            <a:prstGeom prst="roundRect">
              <a:avLst>
                <a:gd name="adj" fmla="val 4762"/>
              </a:avLst>
            </a:prstGeom>
            <a:solidFill>
              <a:srgbClr val="FFFFFF"/>
            </a:solidFill>
            <a:ln w="14288">
              <a:solidFill>
                <a:srgbClr val="00A6A6"/>
              </a:solidFill>
            </a:ln>
          </p:spPr>
        </p:sp>
        <p:sp>
          <p:nvSpPr>
            <p:cNvPr id="34" name="TextBox 34"/>
            <p:cNvSpPr txBox="1"/>
            <p:nvPr/>
          </p:nvSpPr>
          <p:spPr>
            <a:xfrm>
              <a:off x="906399" y="3411379"/>
              <a:ext cx="263606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Korelasyon ≠ nedensellik</a:t>
              </a:r>
            </a:p>
          </p:txBody>
        </p:sp>
        <p:sp>
          <p:nvSpPr>
            <p:cNvPr id="35" name="TextBox 35"/>
            <p:cNvSpPr txBox="1"/>
            <p:nvPr/>
          </p:nvSpPr>
          <p:spPr>
            <a:xfrm>
              <a:off x="907923" y="3729514"/>
              <a:ext cx="8565991"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Kaldıraç, tereyağı ve reçel arasında güçlü bir birliktelik gösterir (lift = 2,500); ancak bu, tereyağı</a:t>
              </a:r>
            </a:p>
          </p:txBody>
        </p:sp>
        <p:sp>
          <p:nvSpPr>
            <p:cNvPr id="36" name="TextBox 36"/>
            <p:cNvSpPr txBox="1"/>
            <p:nvPr/>
          </p:nvSpPr>
          <p:spPr>
            <a:xfrm>
              <a:off x="907923" y="3958114"/>
              <a:ext cx="7996863"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almanın reçel almaya "sebep olduğu" anlamına gelmez. Her iki ürün de kahvaltı rutini gibi ortak</a:t>
              </a:r>
            </a:p>
          </p:txBody>
        </p:sp>
        <p:sp>
          <p:nvSpPr>
            <p:cNvPr id="37" name="TextBox 37"/>
            <p:cNvSpPr txBox="1"/>
            <p:nvPr/>
          </p:nvSpPr>
          <p:spPr>
            <a:xfrm>
              <a:off x="907923" y="4186714"/>
              <a:ext cx="4587880"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bir gizli değişkenden (confounder) etkileniyor olabilir.</a:t>
              </a:r>
            </a:p>
          </p:txBody>
        </p:sp>
        <p:sp>
          <p:nvSpPr>
            <p:cNvPr id="38" name="TextBox 38"/>
            <p:cNvSpPr txBox="1"/>
            <p:nvPr/>
          </p:nvSpPr>
          <p:spPr>
            <a:xfrm>
              <a:off x="907923" y="4529614"/>
              <a:ext cx="6532355" cy="249364"/>
            </a:xfrm>
            <a:prstGeom prst="rect">
              <a:avLst/>
            </a:prstGeom>
            <a:noFill/>
            <a:ln>
              <a:noFill/>
            </a:ln>
          </p:spPr>
          <p:txBody>
            <a:bodyPr wrap="none" lIns="0" tIns="0" rIns="0" bIns="0" anchor="t" anchorCtr="0">
              <a:spAutoFit/>
            </a:bodyPr>
            <a:lstStyle/>
            <a:p>
              <a:pPr algn="l"/>
              <a:r>
                <a:rPr lang="tr-TR" sz="1280" b="1" dirty="0">
                  <a:solidFill>
                    <a:srgbClr val="2E86AB"/>
                  </a:solidFill>
                  <a:latin typeface="+mn-lt"/>
                  <a:ea typeface="+mn-ea"/>
                  <a:cs typeface="+mn-cs"/>
                </a:rPr>
                <a:t>Birliktelik kuralları "birlikte görülür" der; "biri diğerini yaratır" demez.</a:t>
              </a:r>
            </a:p>
          </p:txBody>
        </p:sp>
        <p:sp>
          <p:nvSpPr>
            <p:cNvPr id="39" name="TextBox 39"/>
            <p:cNvSpPr txBox="1"/>
            <p:nvPr/>
          </p:nvSpPr>
          <p:spPr>
            <a:xfrm>
              <a:off x="908304" y="4842510"/>
              <a:ext cx="678832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Nedensellik iddiası için A/B testi veya kontrollü deney gibi ayrı bir doğrulama gerekir.</a:t>
              </a:r>
            </a:p>
          </p:txBody>
        </p:sp>
      </p:grpSp>
      <p:grpSp>
        <p:nvGrpSpPr>
          <p:cNvPr id="43" name="footer-note"/>
          <p:cNvGrpSpPr/>
          <p:nvPr/>
        </p:nvGrpSpPr>
        <p:grpSpPr>
          <a:xfrm>
            <a:off x="609600" y="5486400"/>
            <a:ext cx="10972800" cy="438150"/>
            <a:chOff x="609600" y="5486400"/>
            <a:chExt cx="10972800" cy="438150"/>
          </a:xfrm>
        </p:grpSpPr>
        <p:sp>
          <p:nvSpPr>
            <p:cNvPr id="41" name="Rectangle 41"/>
            <p:cNvSpPr/>
            <p:nvPr/>
          </p:nvSpPr>
          <p:spPr>
            <a:xfrm>
              <a:off x="609600" y="5486400"/>
              <a:ext cx="10972800" cy="438150"/>
            </a:xfrm>
            <a:prstGeom prst="roundRect">
              <a:avLst>
                <a:gd name="adj" fmla="val 17391"/>
              </a:avLst>
            </a:prstGeom>
            <a:solidFill>
              <a:srgbClr val="12355B"/>
            </a:solidFill>
            <a:ln>
              <a:noFill/>
            </a:ln>
          </p:spPr>
        </p:sp>
        <p:sp>
          <p:nvSpPr>
            <p:cNvPr id="42" name="TextBox 42"/>
            <p:cNvSpPr txBox="1"/>
            <p:nvPr/>
          </p:nvSpPr>
          <p:spPr>
            <a:xfrm>
              <a:off x="908304" y="5633085"/>
              <a:ext cx="9592896"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Uygulama önerisi: kaldıraçla bulunan güçlü kuralları kampanya kararına dönüştürmeden önce küçük ölçekte test et.</a:t>
              </a:r>
            </a:p>
          </p:txBody>
        </p:sp>
      </p:grpSp>
      <p:sp>
        <p:nvSpPr>
          <p:cNvPr id="44" name="TextBox 4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23 / 25</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2257174" cy="557403"/>
            <a:chOff x="595122" y="282892"/>
            <a:chExt cx="2257174" cy="557403"/>
          </a:xfrm>
        </p:grpSpPr>
        <p:sp>
          <p:nvSpPr>
            <p:cNvPr id="4" name="TextBox 4"/>
            <p:cNvSpPr txBox="1"/>
            <p:nvPr/>
          </p:nvSpPr>
          <p:spPr>
            <a:xfrm>
              <a:off x="595122" y="282892"/>
              <a:ext cx="22571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özeti</a:t>
              </a:r>
            </a:p>
          </p:txBody>
        </p:sp>
      </p:grpSp>
      <p:grpSp>
        <p:nvGrpSpPr>
          <p:cNvPr id="9" name="summary-pazar-sepeti"/>
          <p:cNvGrpSpPr/>
          <p:nvPr/>
        </p:nvGrpSpPr>
        <p:grpSpPr>
          <a:xfrm>
            <a:off x="609600" y="1333500"/>
            <a:ext cx="3505200" cy="1524000"/>
            <a:chOff x="609600" y="1333500"/>
            <a:chExt cx="3505200" cy="1524000"/>
          </a:xfrm>
        </p:grpSpPr>
        <p:sp>
          <p:nvSpPr>
            <p:cNvPr id="6" name="Rectangle 6"/>
            <p:cNvSpPr/>
            <p:nvPr/>
          </p:nvSpPr>
          <p:spPr>
            <a:xfrm>
              <a:off x="609600" y="1333500"/>
              <a:ext cx="3505200" cy="1524000"/>
            </a:xfrm>
            <a:prstGeom prst="roundRect">
              <a:avLst>
                <a:gd name="adj" fmla="val 6250"/>
              </a:avLst>
            </a:prstGeom>
            <a:solidFill>
              <a:srgbClr val="FFFFFF"/>
            </a:solidFill>
            <a:ln w="14288">
              <a:solidFill>
                <a:srgbClr val="B8CBD3"/>
              </a:solidFill>
            </a:ln>
          </p:spPr>
        </p:sp>
        <p:sp>
          <p:nvSpPr>
            <p:cNvPr id="7" name="TextBox 7"/>
            <p:cNvSpPr txBox="1"/>
            <p:nvPr/>
          </p:nvSpPr>
          <p:spPr>
            <a:xfrm>
              <a:off x="829056" y="1520190"/>
              <a:ext cx="244299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Pazar sepeti analizi</a:t>
              </a:r>
            </a:p>
          </p:txBody>
        </p:sp>
        <p:sp>
          <p:nvSpPr>
            <p:cNvPr id="8" name="TextBox 8"/>
            <p:cNvSpPr txBox="1"/>
            <p:nvPr/>
          </p:nvSpPr>
          <p:spPr>
            <a:xfrm>
              <a:off x="832104" y="1908810"/>
              <a:ext cx="22829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İşlemler tek-sıcak kodlanarak</a:t>
              </a:r>
              <a:br/>
              <a:r>
                <a:rPr lang="tr-TR" sz="1200" dirty="0">
                  <a:solidFill>
                    <a:srgbClr val="172B3A"/>
                  </a:solidFill>
                  <a:latin typeface="+mn-lt"/>
                  <a:ea typeface="+mn-ea"/>
                  <a:cs typeface="+mn-cs"/>
                </a:rPr>
                <a:t>öğe birlikteliği aranabilir</a:t>
              </a:r>
              <a:br/>
              <a:r>
                <a:rPr lang="tr-TR" sz="1200" dirty="0">
                  <a:solidFill>
                    <a:srgbClr val="172B3A"/>
                  </a:solidFill>
                  <a:latin typeface="+mn-lt"/>
                  <a:ea typeface="+mn-ea"/>
                  <a:cs typeface="+mn-cs"/>
                </a:rPr>
                <a:t>ikili bir matrise dönüştürüldü.</a:t>
              </a:r>
            </a:p>
          </p:txBody>
        </p:sp>
      </p:grpSp>
      <p:grpSp>
        <p:nvGrpSpPr>
          <p:cNvPr id="13" name="summary-metrikler"/>
          <p:cNvGrpSpPr/>
          <p:nvPr/>
        </p:nvGrpSpPr>
        <p:grpSpPr>
          <a:xfrm>
            <a:off x="4343400" y="1333500"/>
            <a:ext cx="3505200" cy="1524000"/>
            <a:chOff x="4343400" y="1333500"/>
            <a:chExt cx="3505200" cy="1524000"/>
          </a:xfrm>
        </p:grpSpPr>
        <p:sp>
          <p:nvSpPr>
            <p:cNvPr id="10" name="Rectangle 10"/>
            <p:cNvSpPr/>
            <p:nvPr/>
          </p:nvSpPr>
          <p:spPr>
            <a:xfrm>
              <a:off x="4343400" y="1333500"/>
              <a:ext cx="3505200" cy="1524000"/>
            </a:xfrm>
            <a:prstGeom prst="roundRect">
              <a:avLst>
                <a:gd name="adj" fmla="val 6250"/>
              </a:avLst>
            </a:prstGeom>
            <a:solidFill>
              <a:srgbClr val="FFFFFF"/>
            </a:solidFill>
            <a:ln w="14288">
              <a:solidFill>
                <a:srgbClr val="B8CBD3"/>
              </a:solidFill>
            </a:ln>
          </p:spPr>
        </p:sp>
        <p:sp>
          <p:nvSpPr>
            <p:cNvPr id="11" name="TextBox 11"/>
            <p:cNvSpPr txBox="1"/>
            <p:nvPr/>
          </p:nvSpPr>
          <p:spPr>
            <a:xfrm>
              <a:off x="4562856" y="1520190"/>
              <a:ext cx="197316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Üç temel metrik</a:t>
              </a:r>
            </a:p>
          </p:txBody>
        </p:sp>
        <p:sp>
          <p:nvSpPr>
            <p:cNvPr id="12" name="TextBox 12"/>
            <p:cNvSpPr txBox="1"/>
            <p:nvPr/>
          </p:nvSpPr>
          <p:spPr>
            <a:xfrm>
              <a:off x="4565904" y="1908810"/>
              <a:ext cx="23362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Destek yaygınlığı, güven yönlü</a:t>
              </a:r>
              <a:br/>
              <a:r>
                <a:rPr lang="tr-TR" sz="1200" dirty="0">
                  <a:solidFill>
                    <a:srgbClr val="172B3A"/>
                  </a:solidFill>
                  <a:latin typeface="+mn-lt"/>
                  <a:ea typeface="+mn-ea"/>
                  <a:cs typeface="+mn-cs"/>
                </a:rPr>
                <a:t>gücü, kaldıraç rastlantıdan</a:t>
              </a:r>
              <a:br/>
              <a:r>
                <a:rPr lang="tr-TR" sz="1200" dirty="0">
                  <a:solidFill>
                    <a:srgbClr val="172B3A"/>
                  </a:solidFill>
                  <a:latin typeface="+mn-lt"/>
                  <a:ea typeface="+mn-ea"/>
                  <a:cs typeface="+mn-cs"/>
                </a:rPr>
                <a:t>sapmayı ölçer.</a:t>
              </a:r>
            </a:p>
          </p:txBody>
        </p:sp>
      </p:grpSp>
      <p:grpSp>
        <p:nvGrpSpPr>
          <p:cNvPr id="17" name="summary-apriori"/>
          <p:cNvGrpSpPr/>
          <p:nvPr/>
        </p:nvGrpSpPr>
        <p:grpSpPr>
          <a:xfrm>
            <a:off x="8077200" y="1333500"/>
            <a:ext cx="3505200" cy="1524000"/>
            <a:chOff x="8077200" y="1333500"/>
            <a:chExt cx="3505200" cy="1524000"/>
          </a:xfrm>
        </p:grpSpPr>
        <p:sp>
          <p:nvSpPr>
            <p:cNvPr id="14" name="Rectangle 14"/>
            <p:cNvSpPr/>
            <p:nvPr/>
          </p:nvSpPr>
          <p:spPr>
            <a:xfrm>
              <a:off x="8077200" y="1333500"/>
              <a:ext cx="3505200" cy="1524000"/>
            </a:xfrm>
            <a:prstGeom prst="roundRect">
              <a:avLst>
                <a:gd name="adj" fmla="val 6250"/>
              </a:avLst>
            </a:prstGeom>
            <a:solidFill>
              <a:srgbClr val="FFFFFF"/>
            </a:solidFill>
            <a:ln w="14288">
              <a:solidFill>
                <a:srgbClr val="B8CBD3"/>
              </a:solidFill>
            </a:ln>
          </p:spPr>
        </p:sp>
        <p:sp>
          <p:nvSpPr>
            <p:cNvPr id="15" name="TextBox 15"/>
            <p:cNvSpPr txBox="1"/>
            <p:nvPr/>
          </p:nvSpPr>
          <p:spPr>
            <a:xfrm>
              <a:off x="8296656" y="1520190"/>
              <a:ext cx="87752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Apriori</a:t>
              </a:r>
            </a:p>
          </p:txBody>
        </p:sp>
        <p:sp>
          <p:nvSpPr>
            <p:cNvPr id="16" name="TextBox 16"/>
            <p:cNvSpPr txBox="1"/>
            <p:nvPr/>
          </p:nvSpPr>
          <p:spPr>
            <a:xfrm>
              <a:off x="8299704" y="1908810"/>
              <a:ext cx="24124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Downward closure ilkesiyle</a:t>
              </a:r>
              <a:br/>
              <a:r>
                <a:rPr lang="tr-TR" sz="1200" dirty="0">
                  <a:solidFill>
                    <a:srgbClr val="172B3A"/>
                  </a:solidFill>
                  <a:latin typeface="+mn-lt"/>
                  <a:ea typeface="+mn-ea"/>
                  <a:cs typeface="+mn-cs"/>
                </a:rPr>
                <a:t>seviye seviye aday üretir ve</a:t>
              </a:r>
              <a:br/>
              <a:r>
                <a:rPr lang="tr-TR" sz="1200" dirty="0">
                  <a:solidFill>
                    <a:srgbClr val="172B3A"/>
                  </a:solidFill>
                  <a:latin typeface="+mn-lt"/>
                  <a:ea typeface="+mn-ea"/>
                  <a:cs typeface="+mn-cs"/>
                </a:rPr>
                <a:t>budar; her seviyede bir tarama.</a:t>
              </a:r>
            </a:p>
          </p:txBody>
        </p:sp>
      </p:grpSp>
      <p:grpSp>
        <p:nvGrpSpPr>
          <p:cNvPr id="21" name="summary-fpgrowth"/>
          <p:cNvGrpSpPr/>
          <p:nvPr/>
        </p:nvGrpSpPr>
        <p:grpSpPr>
          <a:xfrm>
            <a:off x="609600" y="3143250"/>
            <a:ext cx="3505200" cy="1524000"/>
            <a:chOff x="609600" y="3143250"/>
            <a:chExt cx="3505200" cy="1524000"/>
          </a:xfrm>
        </p:grpSpPr>
        <p:sp>
          <p:nvSpPr>
            <p:cNvPr id="18" name="Rectangle 18"/>
            <p:cNvSpPr/>
            <p:nvPr/>
          </p:nvSpPr>
          <p:spPr>
            <a:xfrm>
              <a:off x="609600" y="3143250"/>
              <a:ext cx="3505200" cy="1524000"/>
            </a:xfrm>
            <a:prstGeom prst="roundRect">
              <a:avLst>
                <a:gd name="adj" fmla="val 6250"/>
              </a:avLst>
            </a:prstGeom>
            <a:solidFill>
              <a:srgbClr val="FFFFFF"/>
            </a:solidFill>
            <a:ln w="14288">
              <a:solidFill>
                <a:srgbClr val="B8CBD3"/>
              </a:solidFill>
            </a:ln>
          </p:spPr>
        </p:sp>
        <p:sp>
          <p:nvSpPr>
            <p:cNvPr id="19" name="TextBox 19"/>
            <p:cNvSpPr txBox="1"/>
            <p:nvPr/>
          </p:nvSpPr>
          <p:spPr>
            <a:xfrm>
              <a:off x="829056" y="3329940"/>
              <a:ext cx="135642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FP-Growth</a:t>
              </a:r>
            </a:p>
          </p:txBody>
        </p:sp>
        <p:sp>
          <p:nvSpPr>
            <p:cNvPr id="20" name="TextBox 20"/>
            <p:cNvSpPr txBox="1"/>
            <p:nvPr/>
          </p:nvSpPr>
          <p:spPr>
            <a:xfrm>
              <a:off x="832104" y="3718560"/>
              <a:ext cx="25039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Veriyi FP-ağacına sıkıştırıp</a:t>
              </a:r>
              <a:br/>
              <a:r>
                <a:rPr lang="tr-TR" sz="1200" dirty="0">
                  <a:solidFill>
                    <a:srgbClr val="172B3A"/>
                  </a:solidFill>
                  <a:latin typeface="+mn-lt"/>
                  <a:ea typeface="+mn-ea"/>
                  <a:cs typeface="+mn-cs"/>
                </a:rPr>
                <a:t>aday üretmeden özyinelemeli</a:t>
              </a:r>
              <a:br/>
              <a:r>
                <a:rPr lang="tr-TR" sz="1200" dirty="0">
                  <a:solidFill>
                    <a:srgbClr val="172B3A"/>
                  </a:solidFill>
                  <a:latin typeface="+mn-lt"/>
                  <a:ea typeface="+mn-ea"/>
                  <a:cs typeface="+mn-cs"/>
                </a:rPr>
                <a:t>arar; sabit ~2 tarama yeterlidir.</a:t>
              </a:r>
            </a:p>
          </p:txBody>
        </p:sp>
      </p:grpSp>
      <p:grpSp>
        <p:nvGrpSpPr>
          <p:cNvPr id="25" name="summary-kural-uretimi"/>
          <p:cNvGrpSpPr/>
          <p:nvPr/>
        </p:nvGrpSpPr>
        <p:grpSpPr>
          <a:xfrm>
            <a:off x="4343400" y="3143250"/>
            <a:ext cx="3505200" cy="1524000"/>
            <a:chOff x="4343400" y="3143250"/>
            <a:chExt cx="3505200" cy="1524000"/>
          </a:xfrm>
        </p:grpSpPr>
        <p:sp>
          <p:nvSpPr>
            <p:cNvPr id="22" name="Rectangle 22"/>
            <p:cNvSpPr/>
            <p:nvPr/>
          </p:nvSpPr>
          <p:spPr>
            <a:xfrm>
              <a:off x="4343400" y="3143250"/>
              <a:ext cx="3505200" cy="1524000"/>
            </a:xfrm>
            <a:prstGeom prst="roundRect">
              <a:avLst>
                <a:gd name="adj" fmla="val 6250"/>
              </a:avLst>
            </a:prstGeom>
            <a:solidFill>
              <a:srgbClr val="FFFFFF"/>
            </a:solidFill>
            <a:ln w="14288">
              <a:solidFill>
                <a:srgbClr val="B8CBD3"/>
              </a:solidFill>
            </a:ln>
          </p:spPr>
        </p:sp>
        <p:sp>
          <p:nvSpPr>
            <p:cNvPr id="23" name="TextBox 23"/>
            <p:cNvSpPr txBox="1"/>
            <p:nvPr/>
          </p:nvSpPr>
          <p:spPr>
            <a:xfrm>
              <a:off x="4562856" y="3329940"/>
              <a:ext cx="164155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Kural üretimi</a:t>
              </a:r>
            </a:p>
          </p:txBody>
        </p:sp>
        <p:sp>
          <p:nvSpPr>
            <p:cNvPr id="24" name="TextBox 24"/>
            <p:cNvSpPr txBox="1"/>
            <p:nvPr/>
          </p:nvSpPr>
          <p:spPr>
            <a:xfrm>
              <a:off x="4565904" y="3718560"/>
              <a:ext cx="22600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Sık kümelerden 2^n−2 yönlü</a:t>
              </a:r>
              <a:br/>
              <a:r>
                <a:rPr lang="tr-TR" sz="1200" dirty="0">
                  <a:solidFill>
                    <a:srgbClr val="172B3A"/>
                  </a:solidFill>
                  <a:latin typeface="+mn-lt"/>
                  <a:ea typeface="+mn-ea"/>
                  <a:cs typeface="+mn-cs"/>
                </a:rPr>
                <a:t>bölünme türer; metrik ve</a:t>
              </a:r>
              <a:br/>
              <a:r>
                <a:rPr lang="tr-TR" sz="1200" dirty="0">
                  <a:solidFill>
                    <a:srgbClr val="172B3A"/>
                  </a:solidFill>
                  <a:latin typeface="+mn-lt"/>
                  <a:ea typeface="+mn-ea"/>
                  <a:cs typeface="+mn-cs"/>
                </a:rPr>
                <a:t>eşikle baştan filtrelenmelidir.</a:t>
              </a:r>
            </a:p>
          </p:txBody>
        </p:sp>
      </p:grpSp>
      <p:grpSp>
        <p:nvGrpSpPr>
          <p:cNvPr id="29" name="summary-kaldirac-nedensellik"/>
          <p:cNvGrpSpPr/>
          <p:nvPr/>
        </p:nvGrpSpPr>
        <p:grpSpPr>
          <a:xfrm>
            <a:off x="8077200" y="3143250"/>
            <a:ext cx="3505200" cy="1524000"/>
            <a:chOff x="8077200" y="3143250"/>
            <a:chExt cx="3505200" cy="1524000"/>
          </a:xfrm>
        </p:grpSpPr>
        <p:sp>
          <p:nvSpPr>
            <p:cNvPr id="26" name="Rectangle 26"/>
            <p:cNvSpPr/>
            <p:nvPr/>
          </p:nvSpPr>
          <p:spPr>
            <a:xfrm>
              <a:off x="8077200" y="3143250"/>
              <a:ext cx="3505200" cy="1524000"/>
            </a:xfrm>
            <a:prstGeom prst="roundRect">
              <a:avLst>
                <a:gd name="adj" fmla="val 6250"/>
              </a:avLst>
            </a:prstGeom>
            <a:solidFill>
              <a:srgbClr val="FFFFFF"/>
            </a:solidFill>
            <a:ln w="14288">
              <a:solidFill>
                <a:srgbClr val="00A6A6"/>
              </a:solidFill>
            </a:ln>
          </p:spPr>
        </p:sp>
        <p:sp>
          <p:nvSpPr>
            <p:cNvPr id="27" name="TextBox 27"/>
            <p:cNvSpPr txBox="1"/>
            <p:nvPr/>
          </p:nvSpPr>
          <p:spPr>
            <a:xfrm>
              <a:off x="8296656" y="3329940"/>
              <a:ext cx="286284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Kaldıraç ve nedensellik</a:t>
              </a:r>
            </a:p>
          </p:txBody>
        </p:sp>
        <p:sp>
          <p:nvSpPr>
            <p:cNvPr id="28" name="TextBox 28"/>
            <p:cNvSpPr txBox="1"/>
            <p:nvPr/>
          </p:nvSpPr>
          <p:spPr>
            <a:xfrm>
              <a:off x="8299704" y="3718560"/>
              <a:ext cx="21610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Yalnızca güvenle sıralamak</a:t>
              </a:r>
              <a:br/>
              <a:r>
                <a:rPr lang="tr-TR" sz="1200" dirty="0">
                  <a:solidFill>
                    <a:srgbClr val="172B3A"/>
                  </a:solidFill>
                  <a:latin typeface="+mn-lt"/>
                  <a:ea typeface="+mn-ea"/>
                  <a:cs typeface="+mn-cs"/>
                </a:rPr>
                <a:t>yanıltır; kaldıraç ilişkiyi</a:t>
              </a:r>
              <a:br/>
              <a:r>
                <a:rPr lang="tr-TR" sz="1200" dirty="0">
                  <a:solidFill>
                    <a:srgbClr val="172B3A"/>
                  </a:solidFill>
                  <a:latin typeface="+mn-lt"/>
                  <a:ea typeface="+mn-ea"/>
                  <a:cs typeface="+mn-cs"/>
                </a:rPr>
                <a:t>gösterir, nedeni ispatlamaz.</a:t>
              </a:r>
            </a:p>
          </p:txBody>
        </p:sp>
      </p:grpSp>
      <p:grpSp>
        <p:nvGrpSpPr>
          <p:cNvPr id="33" name="exam-note"/>
          <p:cNvGrpSpPr/>
          <p:nvPr/>
        </p:nvGrpSpPr>
        <p:grpSpPr>
          <a:xfrm>
            <a:off x="609600" y="5048250"/>
            <a:ext cx="10972800" cy="952500"/>
            <a:chOff x="609600" y="5048250"/>
            <a:chExt cx="10972800" cy="952500"/>
          </a:xfrm>
        </p:grpSpPr>
        <p:sp>
          <p:nvSpPr>
            <p:cNvPr id="30" name="Rectangle 30"/>
            <p:cNvSpPr/>
            <p:nvPr/>
          </p:nvSpPr>
          <p:spPr>
            <a:xfrm>
              <a:off x="609600" y="5048250"/>
              <a:ext cx="10972800" cy="952500"/>
            </a:xfrm>
            <a:prstGeom prst="roundRect">
              <a:avLst>
                <a:gd name="adj" fmla="val 8000"/>
              </a:avLst>
            </a:prstGeom>
            <a:solidFill>
              <a:srgbClr val="EAF4F6"/>
            </a:solidFill>
            <a:ln>
              <a:noFill/>
            </a:ln>
          </p:spPr>
        </p:sp>
        <p:sp>
          <p:nvSpPr>
            <p:cNvPr id="31" name="TextBox 31"/>
            <p:cNvSpPr txBox="1"/>
            <p:nvPr/>
          </p:nvSpPr>
          <p:spPr>
            <a:xfrm>
              <a:off x="905256" y="5234940"/>
              <a:ext cx="1035645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Birliktelik kuralı madenciliğinin en önemli katkısı, "en çok satanı" bulmak değildir.</a:t>
              </a:r>
            </a:p>
          </p:txBody>
        </p:sp>
        <p:sp>
          <p:nvSpPr>
            <p:cNvPr id="32" name="TextBox 32"/>
            <p:cNvSpPr txBox="1"/>
            <p:nvPr/>
          </p:nvSpPr>
          <p:spPr>
            <a:xfrm>
              <a:off x="906399" y="5583079"/>
              <a:ext cx="794585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Rastlantıdan güçlü, birlikte satın alınan ürün çiftlerini görünür kılmaktır.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24 / 25</a:t>
            </a:r>
          </a:p>
        </p:txBody>
      </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sp>
        <p:nvSpPr>
          <p:cNvPr id="4" name="Line 4"/>
          <p:cNvSpPr/>
          <p:nvPr/>
        </p:nvSpPr>
        <p:spPr>
          <a:xfrm>
            <a:off x="4476750" y="3810000"/>
            <a:ext cx="2190750" cy="1"/>
          </a:xfrm>
          <a:prstGeom prst="line">
            <a:avLst/>
          </a:prstGeom>
          <a:noFill/>
          <a:ln w="28575">
            <a:solidFill>
              <a:srgbClr val="00A6A6"/>
            </a:solidFill>
            <a:tailEnd type="arrow" w="lg" len="lg"/>
          </a:ln>
        </p:spPr>
      </p:sp>
      <p:grpSp>
        <p:nvGrpSpPr>
          <p:cNvPr id="6" name="page-title"/>
          <p:cNvGrpSpPr/>
          <p:nvPr/>
        </p:nvGrpSpPr>
        <p:grpSpPr>
          <a:xfrm>
            <a:off x="595122" y="282892"/>
            <a:ext cx="4150951" cy="557403"/>
            <a:chOff x="595122" y="282892"/>
            <a:chExt cx="4150951" cy="557403"/>
          </a:xfrm>
        </p:grpSpPr>
        <p:sp>
          <p:nvSpPr>
            <p:cNvPr id="5" name="TextBox 5"/>
            <p:cNvSpPr txBox="1"/>
            <p:nvPr/>
          </p:nvSpPr>
          <p:spPr>
            <a:xfrm>
              <a:off x="595122" y="282892"/>
              <a:ext cx="41509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Sonraki bölüme köprü</a:t>
              </a:r>
            </a:p>
          </p:txBody>
        </p:sp>
      </p:grpSp>
      <p:grpSp>
        <p:nvGrpSpPr>
          <p:cNvPr id="8" name="bridge-claim"/>
          <p:cNvGrpSpPr/>
          <p:nvPr/>
        </p:nvGrpSpPr>
        <p:grpSpPr>
          <a:xfrm>
            <a:off x="600837" y="1413986"/>
            <a:ext cx="8908034" cy="642176"/>
            <a:chOff x="600837" y="1413986"/>
            <a:chExt cx="8908034" cy="642176"/>
          </a:xfrm>
        </p:grpSpPr>
        <p:sp>
          <p:nvSpPr>
            <p:cNvPr id="7" name="TextBox 7"/>
            <p:cNvSpPr txBox="1"/>
            <p:nvPr/>
          </p:nvSpPr>
          <p:spPr>
            <a:xfrm>
              <a:off x="600837" y="1413986"/>
              <a:ext cx="8908034" cy="642176"/>
            </a:xfrm>
            <a:prstGeom prst="rect">
              <a:avLst/>
            </a:prstGeom>
            <a:noFill/>
            <a:ln>
              <a:noFill/>
            </a:ln>
          </p:spPr>
          <p:txBody>
            <a:bodyPr wrap="none" lIns="0" tIns="0" rIns="0" bIns="0" anchor="t" anchorCtr="0">
              <a:spAutoFit/>
            </a:bodyPr>
            <a:lstStyle/>
            <a:p>
              <a:pPr algn="l">
                <a:lnSpc>
                  <a:spcPts val="2400"/>
                </a:lnSpc>
              </a:pPr>
              <a:r>
                <a:rPr lang="tr-TR" sz="1720" dirty="0">
                  <a:solidFill>
                    <a:srgbClr val="172B3A"/>
                  </a:solidFill>
                  <a:latin typeface="+mn-lt"/>
                  <a:ea typeface="+mn-ea"/>
                  <a:cs typeface="+mn-cs"/>
                </a:rPr>
                <a:t>Birliktelik kuralları, hangi ürünlerin birlikte göründüğünü ortaya çıkardı. Sıradaki</a:t>
              </a:r>
              <a:br/>
              <a:r>
                <a:rPr lang="tr-TR" sz="1720" dirty="0">
                  <a:solidFill>
                    <a:srgbClr val="172B3A"/>
                  </a:solidFill>
                  <a:latin typeface="+mn-lt"/>
                  <a:ea typeface="+mn-ea"/>
                  <a:cs typeface="+mn-cs"/>
                </a:rPr>
                <a:t>adım, tek bir modelin kararsızlığını çok sayıda modeli birleştirerek gidermektir.</a:t>
              </a:r>
            </a:p>
          </p:txBody>
        </p:sp>
      </p:grpSp>
      <p:grpSp>
        <p:nvGrpSpPr>
          <p:cNvPr id="14" name="bridge-now"/>
          <p:cNvGrpSpPr/>
          <p:nvPr/>
        </p:nvGrpSpPr>
        <p:grpSpPr>
          <a:xfrm>
            <a:off x="599694" y="2799398"/>
            <a:ext cx="2994533" cy="1834419"/>
            <a:chOff x="599694" y="2799398"/>
            <a:chExt cx="2994533" cy="1834419"/>
          </a:xfrm>
        </p:grpSpPr>
        <p:sp>
          <p:nvSpPr>
            <p:cNvPr id="9" name="TextBox 9"/>
            <p:cNvSpPr txBox="1"/>
            <p:nvPr/>
          </p:nvSpPr>
          <p:spPr>
            <a:xfrm>
              <a:off x="599694" y="2799398"/>
              <a:ext cx="264614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Artık yapabilirsiniz</a:t>
              </a:r>
            </a:p>
          </p:txBody>
        </p:sp>
        <p:sp>
          <p:nvSpPr>
            <p:cNvPr id="10" name="Rectangle 10"/>
            <p:cNvSpPr/>
            <p:nvPr/>
          </p:nvSpPr>
          <p:spPr>
            <a:xfrm>
              <a:off x="609600" y="3333750"/>
              <a:ext cx="57150" cy="285750"/>
            </a:xfrm>
            <a:prstGeom prst="rect">
              <a:avLst/>
            </a:prstGeom>
            <a:solidFill>
              <a:srgbClr val="00A6A6"/>
            </a:solidFill>
            <a:ln>
              <a:noFill/>
            </a:ln>
          </p:spPr>
        </p:sp>
        <p:sp>
          <p:nvSpPr>
            <p:cNvPr id="11" name="TextBox 11"/>
            <p:cNvSpPr txBox="1"/>
            <p:nvPr/>
          </p:nvSpPr>
          <p:spPr>
            <a:xfrm>
              <a:off x="849249" y="3373279"/>
              <a:ext cx="2744978"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Apriori ve FP-Growth ile sık</a:t>
              </a:r>
              <a:br/>
              <a:r>
                <a:rPr lang="tr-TR" sz="1580" dirty="0">
                  <a:solidFill>
                    <a:srgbClr val="172B3A"/>
                  </a:solidFill>
                  <a:latin typeface="+mn-lt"/>
                  <a:ea typeface="+mn-ea"/>
                  <a:cs typeface="+mn-cs"/>
                </a:rPr>
                <a:t>öğe kümesi çıkarmak</a:t>
              </a:r>
            </a:p>
          </p:txBody>
        </p:sp>
        <p:sp>
          <p:nvSpPr>
            <p:cNvPr id="12" name="Rectangle 12"/>
            <p:cNvSpPr/>
            <p:nvPr/>
          </p:nvSpPr>
          <p:spPr>
            <a:xfrm>
              <a:off x="609600" y="4038600"/>
              <a:ext cx="57150" cy="285750"/>
            </a:xfrm>
            <a:prstGeom prst="rect">
              <a:avLst/>
            </a:prstGeom>
            <a:solidFill>
              <a:srgbClr val="00A6A6"/>
            </a:solidFill>
            <a:ln>
              <a:noFill/>
            </a:ln>
          </p:spPr>
        </p:sp>
        <p:sp>
          <p:nvSpPr>
            <p:cNvPr id="13" name="TextBox 13"/>
            <p:cNvSpPr txBox="1"/>
            <p:nvPr/>
          </p:nvSpPr>
          <p:spPr>
            <a:xfrm>
              <a:off x="849249" y="4078129"/>
              <a:ext cx="2574417"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Destek, güven, kaldıraçla</a:t>
              </a:r>
              <a:br/>
              <a:r>
                <a:rPr lang="tr-TR" sz="1580" dirty="0">
                  <a:solidFill>
                    <a:srgbClr val="172B3A"/>
                  </a:solidFill>
                  <a:latin typeface="+mn-lt"/>
                  <a:ea typeface="+mn-ea"/>
                  <a:cs typeface="+mn-cs"/>
                </a:rPr>
                <a:t>anlamlı kuralı ayıklamak</a:t>
              </a:r>
            </a:p>
          </p:txBody>
        </p:sp>
      </p:grpSp>
      <p:grpSp>
        <p:nvGrpSpPr>
          <p:cNvPr id="19" name="bridge-next"/>
          <p:cNvGrpSpPr/>
          <p:nvPr/>
        </p:nvGrpSpPr>
        <p:grpSpPr>
          <a:xfrm>
            <a:off x="7010400" y="2667000"/>
            <a:ext cx="4572000" cy="2286000"/>
            <a:chOff x="7010400" y="2667000"/>
            <a:chExt cx="4572000" cy="2286000"/>
          </a:xfrm>
        </p:grpSpPr>
        <p:sp>
          <p:nvSpPr>
            <p:cNvPr id="15" name="Rectangle 15"/>
            <p:cNvSpPr/>
            <p:nvPr/>
          </p:nvSpPr>
          <p:spPr>
            <a:xfrm>
              <a:off x="7010400" y="2667000"/>
              <a:ext cx="4572000" cy="2286000"/>
            </a:xfrm>
            <a:prstGeom prst="roundRect">
              <a:avLst>
                <a:gd name="adj" fmla="val 4167"/>
              </a:avLst>
            </a:prstGeom>
            <a:solidFill>
              <a:srgbClr val="12355B"/>
            </a:solidFill>
            <a:ln>
              <a:noFill/>
            </a:ln>
          </p:spPr>
        </p:sp>
        <p:sp>
          <p:nvSpPr>
            <p:cNvPr id="16" name="TextBox 16"/>
            <p:cNvSpPr txBox="1"/>
            <p:nvPr/>
          </p:nvSpPr>
          <p:spPr>
            <a:xfrm>
              <a:off x="7309104" y="2975610"/>
              <a:ext cx="1704564" cy="234696"/>
            </a:xfrm>
            <a:prstGeom prst="rect">
              <a:avLst/>
            </a:prstGeom>
            <a:noFill/>
            <a:ln>
              <a:noFill/>
            </a:ln>
          </p:spPr>
          <p:txBody>
            <a:bodyPr wrap="none" lIns="0" tIns="0" rIns="0" bIns="0" anchor="t" anchorCtr="0">
              <a:spAutoFit/>
            </a:bodyPr>
            <a:lstStyle/>
            <a:p>
              <a:pPr algn="l"/>
              <a:r>
                <a:rPr lang="tr-TR" sz="1200" b="1" spc="225" dirty="0">
                  <a:solidFill>
                    <a:srgbClr val="00A6A6"/>
                  </a:solidFill>
                  <a:latin typeface="+mn-lt"/>
                  <a:ea typeface="+mn-ea"/>
                  <a:cs typeface="+mn-cs"/>
                </a:rPr>
                <a:t>SONRAKİ BÖLÜM</a:t>
              </a:r>
            </a:p>
          </p:txBody>
        </p:sp>
        <p:sp>
          <p:nvSpPr>
            <p:cNvPr id="17" name="TextBox 17"/>
            <p:cNvSpPr txBox="1"/>
            <p:nvPr/>
          </p:nvSpPr>
          <p:spPr>
            <a:xfrm>
              <a:off x="7303770" y="3319462"/>
              <a:ext cx="3743325" cy="802005"/>
            </a:xfrm>
            <a:prstGeom prst="rect">
              <a:avLst/>
            </a:prstGeom>
            <a:noFill/>
            <a:ln>
              <a:noFill/>
            </a:ln>
          </p:spPr>
          <p:txBody>
            <a:bodyPr wrap="none" lIns="0" tIns="0" rIns="0" bIns="0" anchor="t" anchorCtr="0">
              <a:spAutoFit/>
            </a:bodyPr>
            <a:lstStyle/>
            <a:p>
              <a:pPr algn="l">
                <a:lnSpc>
                  <a:spcPts val="2850"/>
                </a:lnSpc>
              </a:pPr>
              <a:r>
                <a:rPr lang="tr-TR" sz="2250" b="1" dirty="0">
                  <a:solidFill>
                    <a:srgbClr val="FFFFFF"/>
                  </a:solidFill>
                  <a:latin typeface="+mn-lt"/>
                  <a:ea typeface="+mn-ea"/>
                  <a:cs typeface="+mn-cs"/>
                </a:rPr>
                <a:t>Topluluk öğrenmesi:</a:t>
              </a:r>
              <a:br/>
              <a:r>
                <a:rPr lang="tr-TR" sz="2250" b="1" dirty="0">
                  <a:solidFill>
                    <a:srgbClr val="FFFFFF"/>
                  </a:solidFill>
                  <a:latin typeface="+mn-lt"/>
                  <a:ea typeface="+mn-ea"/>
                  <a:cs typeface="+mn-cs"/>
                </a:rPr>
                <a:t>Bagging ve Random Forest</a:t>
              </a:r>
            </a:p>
          </p:txBody>
        </p:sp>
        <p:sp>
          <p:nvSpPr>
            <p:cNvPr id="18" name="TextBox 18"/>
            <p:cNvSpPr txBox="1"/>
            <p:nvPr/>
          </p:nvSpPr>
          <p:spPr>
            <a:xfrm>
              <a:off x="7307199" y="4135279"/>
              <a:ext cx="4079367"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EAF4F6"/>
                  </a:solidFill>
                  <a:latin typeface="+mn-lt"/>
                  <a:ea typeface="+mn-ea"/>
                  <a:cs typeface="+mn-cs"/>
                </a:rPr>
                <a:t>Tek bir kararsız modeli, çok</a:t>
              </a:r>
              <a:br/>
              <a:r>
                <a:rPr lang="tr-TR" sz="1580" dirty="0">
                  <a:solidFill>
                    <a:srgbClr val="EAF4F6"/>
                  </a:solidFill>
                  <a:latin typeface="+mn-lt"/>
                  <a:ea typeface="+mn-ea"/>
                  <a:cs typeface="+mn-cs"/>
                </a:rPr>
                <a:t>sayıda modelin oyuyla güçlendireceksiniz.</a:t>
              </a:r>
            </a:p>
          </p:txBody>
        </p:sp>
      </p:grpSp>
      <p:grpSp>
        <p:nvGrpSpPr>
          <p:cNvPr id="22" name="bridge-closing"/>
          <p:cNvGrpSpPr/>
          <p:nvPr/>
        </p:nvGrpSpPr>
        <p:grpSpPr>
          <a:xfrm>
            <a:off x="609600" y="5429250"/>
            <a:ext cx="10972800" cy="729234"/>
            <a:chOff x="609600" y="5429250"/>
            <a:chExt cx="10972800" cy="729234"/>
          </a:xfrm>
        </p:grpSpPr>
        <p:sp>
          <p:nvSpPr>
            <p:cNvPr id="20" name="Rectangle 20"/>
            <p:cNvSpPr/>
            <p:nvPr/>
          </p:nvSpPr>
          <p:spPr>
            <a:xfrm>
              <a:off x="609600" y="5429250"/>
              <a:ext cx="10972800" cy="666750"/>
            </a:xfrm>
            <a:prstGeom prst="roundRect">
              <a:avLst>
                <a:gd name="adj" fmla="val 11429"/>
              </a:avLst>
            </a:prstGeom>
            <a:solidFill>
              <a:srgbClr val="EAF4F6"/>
            </a:solidFill>
            <a:ln>
              <a:noFill/>
            </a:ln>
          </p:spPr>
        </p:sp>
        <p:sp>
          <p:nvSpPr>
            <p:cNvPr id="21" name="TextBox 21"/>
            <p:cNvSpPr txBox="1"/>
            <p:nvPr/>
          </p:nvSpPr>
          <p:spPr>
            <a:xfrm>
              <a:off x="905256" y="5520690"/>
              <a:ext cx="7939278" cy="637794"/>
            </a:xfrm>
            <a:prstGeom prst="rect">
              <a:avLst/>
            </a:prstGeom>
            <a:noFill/>
            <a:ln>
              <a:noFill/>
            </a:ln>
          </p:spPr>
          <p:txBody>
            <a:bodyPr wrap="none" lIns="0" tIns="0" rIns="0" bIns="0" anchor="t" anchorCtr="0">
              <a:spAutoFit/>
            </a:bodyPr>
            <a:lstStyle/>
            <a:p>
              <a:pPr algn="l">
                <a:lnSpc>
                  <a:spcPts val="2250"/>
                </a:lnSpc>
              </a:pPr>
              <a:r>
                <a:rPr lang="tr-TR" sz="1800" b="1" dirty="0">
                  <a:solidFill>
                    <a:srgbClr val="12355B"/>
                  </a:solidFill>
                  <a:latin typeface="+mn-lt"/>
                  <a:ea typeface="+mn-ea"/>
                  <a:cs typeface="+mn-cs"/>
                </a:rPr>
                <a:t>Her yeni kuralı raporlamadan önce kaldıraç değerini ve iş bağlamını</a:t>
              </a:r>
              <a:br/>
              <a:r>
                <a:rPr lang="tr-TR" sz="1800" b="1" dirty="0">
                  <a:solidFill>
                    <a:srgbClr val="12355B"/>
                  </a:solidFill>
                  <a:latin typeface="+mn-lt"/>
                  <a:ea typeface="+mn-ea"/>
                  <a:cs typeface="+mn-cs"/>
                </a:rPr>
                <a:t>birlikte değerlendirmeyi alışkanlık hâline getirin.</a:t>
              </a:r>
            </a:p>
          </p:txBody>
        </p:sp>
      </p:grpSp>
      <p:sp>
        <p:nvSpPr>
          <p:cNvPr id="23" name="TextBox 2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25 / 25</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ch08_birliktelik_kurallari-20260916">
  <a:themeElements>
    <a:clrScheme name="ch08_birliktelik_kurallari-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h08_birliktelik_kurallari-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08_birliktelik_kurallari-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h08_birliktelik_kurallari-20260916">
  <a:themeElements>
    <a:clrScheme name="ch08_birliktelik_kurallari-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h08_birliktelik_kurallari-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08_birliktelik_kurallari-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tr-TR</dc:language>
  <cp:lastModifiedBy/>
  <cp:revision>1</cp:revision>
  <dcterms:created xsi:type="dcterms:W3CDTF">2026-09-19T21:22:54Z</dcterms:created>
  <dcterms:modified xsi:type="dcterms:W3CDTF">2026-09-19T21:22:54Z</dcterms:modified>
  <cp:category/>
  <cp:contentStatus/>
</cp:coreProperties>
</file>