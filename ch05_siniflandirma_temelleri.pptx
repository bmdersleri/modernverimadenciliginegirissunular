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sınıflandırmayı veri madenciliğinin en sık karşılaşılan görevlerinden biri olarak ele alıyor ve üç temel algoritmayı — karar ağaçları, k-NN ve Naive Bayes — aynı churn problemi üzerinden karşılaştırmalı olarak işliyor. Amaç yalnızca bu üç yöntemin matematiğini öğrenmek değil, hangi yöntemin hangi veri karakteristiğinde tercih edileceğine dair gerekçeli bir sezgi geliştirmektir. Bölüm boyunca kullanılan örnek senaryo, bir telekomünikasyon şirketinde müşteri kaybını (churn) tahmin etmeye çalışan bir stajyerin bakış açısıyla ilerleyecek; bu sürekli anlatı, soyut formüllerin somut bir iş kararına nasıl dönüştüğünü göstermek için bilinçli bir tercih.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soru, bölümün iskeletini oluşturuyor ve öğrencinin kendi öğrenmesini ölçebileceği kontrol noktaları sunuyor. İlk iki soru karar ağaçlarına odaklanır: bölünme kriteri seçimi ve aşırı öğrenmeyi durdurma mekanizması. Üçüncü soru k-NN'nin mesafe ve k parametresi seçimini, dördüncü soru Naive Bayes'in bağımsızlık varsayımının neden ihlal edilse de pratikte işe yaradığını sorguluyor. Son soru ise bölümün asıl amacına bağlanıyor: hiçbir algoritma evrensel olarak üstün değildir, doğru seçim veri ve problem karakteristiğine bağlıdır — bu fikir bölümün sonunda özet ve köprü sayfalarında tekrar vurgulanacak.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Beş hedef, bölümün üç algoritmasını kapsıyor ve her biri somut, ölçülebilir bir başarı ölçütüyle eşleşiyor; bu, öğrencinin "anladım" hissiyle "yapabiliyorum" durumu arasındaki farkı görmesini sağlamak için bilinçli bir tasarım. Özellikle üçüncü ve beşinci hedeflerdeki "veriye göre ayarlama" ve "etkileşime göre karşılaştırma" ifadeleri kısaltılmış görünse de, alttaki ölçüt cümleleri (Öklid/Manhattan karşılaştırması, churn probleminde gerekçelendirme) asıl derinliği taşıyor. Alttaki başarı ölçütü kutusu, tüm hedefleri tek bir sınavlanabilir davranışta birleştiriyor: ham bir churn veri kümesinde üç modeli doğru veri temsiliyle eğitip test edebilmek ve hangi senaryoda hangi algoritmanın tercih edileceğini savunabilmek.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üç algoritmanın "sınıflandırma" şemsiyesi altında birbirinden bağımsız ama birbirini tamamlayan yaklaşımlar olduğunu görsel olarak vurguluyor: karar ağacı kural tabanlı, k-NN benzerlik tabanlı, Naive Bayes olasılık tabanlı düşünür. Merkezdeki hub'dan üç düğüme giden teal oklar "somut bir algoritma" ilişkisini, alttaki kesikli gri oklar ise üç algoritmanın ortak bir değerlendirme çerçevesine (accuracy, precision, recall, confusion matrix) bağlı olduğunu gösteriyor — yani farklı mantıklarla çalışsalar da aynı ölçütlerle yargılanırlar. Bu harita, bölümün geri kalanında tekrar tekrar karşılaşılacak "hangi algoritma ne zaman" sorusunun görsel bir ön izlemesi niteliğinde.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Elif'in stajyer olarak karşılaştığı soru — "bu müşteri ayrılacak mı, kalacak mı?" — sınıflandırmanın gündelik bir iş sorusundan matematiksel bir öğrenme problemine nasıl dönüştüğünü somutlaştırıyor. Tanım kutusundaki f: x → Y eşlemesi, sınıflandırmayı regresyondan ayıran temel farkı biçimlendiriyor: çıktı sürekli bir sayı değil, önceden tanımlı ve sonlu sayıda kategoriden biri. Regresyon-sınıflandırma karşılaştırması, aynı problemin farklı çerçevelenebileceğini gösteriyor — "bu müşterinin churn olasılığı nedir" bir regresyon sorusu gibi görünse de, iş kararı nihayetinde ikili bir eşiğe (ayrılacak/kalacak) indirgeniyor. Sayfa altındaki pazarlama senaryosu, bu ayrımın neden önemli olduğunu açıklıyor: kısıtlı bütçe yalnızca yüksek riskli müşterilere yönlendirilmek istendiğinde, net bir sınıf etiketine ihtiyaç duyulur.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Diyagramdaki üç seviyeli ağaç — "süre 12 aydan az mı" kök sorusundan başlayıp "şikâyet sayısı" ile dallanan yapı — karar ağacının nasıl art arda ikili sorularla bir tahmine ulaştığını gösteriyor. Sağdaki tanım metni, bu sürecin resmi çerçevesini veriyor: her iç düğüm bir öznitelik sorgusu, her dal bir yanıt, her yaprak nihai bir tahmindir ve bu yapı özyinelemeli olarak, yani her alt dalda aynı mantık tekrarlanarak kurulur. Doktor analojisi bilinçli olarak seçildi çünkü karar ağacının en güçlü yanını — insan tarafından takip edilebilir bir akıl yürütme zinciri sunması — sezgisel olarak aktarıyor; bu yorumlanabilirlik özelliği, bölümün ilerleyen sayfalarında k-NN ve Naive Bayes ile karşılaştırıldığında karar ağacının en büyük avantajı olarak öne çıkacak.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Gini indeksi ve entropi, bir düğümdeki "karışıklığı" (impurity) ölçen iki farklı formül olsa da pratikte çok benzer sonuçlar üretir; CART algoritması Gini'yi, ID3/C4.5 ailesi entropiyi varsayılan olarak kullanır. Sayfadaki elle hesaplama örneği bu soyut formülleri somutlaştırıyor: 100 müşterilik bir düğüm "sözleşme süresi" eşiğine göre bölündüğünde, ebeveyn düğümün Gini'si 0.480'den ağırlıklı ortalamayla 0.300'e düşüyor — bu düşüş, bölünmenin "iyi" olduğunun sayısal kanıtı. Bilgi kazanımı hesabı (0.971 − 0.675 = 0.296 bit) özellikle önemli çünkü karar ağacı algoritması, her adımda mümkün olan tüm bölünmeler arasından bilgi kazanımını maksimize edeni seçiyor; yani bu tek örnek, ağacın her düğümde arka planda binlerce kez tekrarladığı optimizasyonun küçük bir kesitini gösteriyor.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Grafikteki eğitim ve test doğruluğu eğrileri, aşırı öğrenmenin (overfitting) klasik imzasını gösteriyor: derinlik arttıkça eğitim doğruluğu 1.0'a doğru tırmanırken, test doğruluğu bir noktadan sonra düşüşe geçiyor — bu makas, modelin eğitim verisini ezberlemeye başladığının işareti. Pre-pruning ve post-pruning, bu soruna iki farklı zamanlı müdahale sunuyor: pre-pruning ağaç büyürken durdurma koşulu koyarak ucuz ama "erken durdurma" riski taşıyan bir çözüm sunarken, post-pruning ağacı tam büyütüp sonra maliyet-karmaşıklık analiziyle geriye doğru budayarak daha isabetli ama hesaplama açısından daha pahalı bir yol izliyor. Alttaki sonuç kutusu bunu somutlaştırıyor: min_samples_leaf=10 ayarı derinliği 18'den 6'ya indirirken test doğruluğu 0.733'te sabit kalıyor — yani çok daha basit, daha yorumlanabilir bir ağaç, aynı genelleme gücünü koruyor.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Karar ağacının güçlü olduğu senaryolar — yorumlanabilirlik ihtiyacı, öznitelikler arası karmaşık etkileşim, karışık veri tipleri, ölçeklendirme istenmemesi — hepsi bir önceki sayfalardaki teknik özelliklerden doğrudan türüyor. Zayıf olduğu durumlar da aynı mantıkla açıklanıyor: küçük ve gürültülü veri yüksek varyansa yol açar çünkü tek bir ağaç kolayca farklı eğitim örneklemlerinde çok farklı yapılar üretebilir; bu yüzden pratikte tek ağaç yerine orman veya gradyan artırma yöntemleri tercih edilir. Sağdaki Gini-entropi karşılaştırma tablosu ek bir pratik notla kapanıyor: iki kriter arasındaki fark genellikle %1'in altında kalır, bu yüzden scikit-learn'ün varsayılanı olan Gini ile başlamak çoğu durumda yeterlidir; entropi seçimi daha çok teorik gerekçelerle veya belirli algoritma ailelerinde (ID3/C4.5) tercih edilir.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k-NN'nin "tembel öğrenme" (lazy learning) olarak sınıflandırılması, karar ağacının "hevesli öğrenme" (eager learning) yaklaşımıyla doğrudan tezat oluşturuyor: karar ağacı eğitim anında ağır hesaplama yapıp kompakt bir kural seti üretirken, k-NN eğitimde hiçbir şey öğrenmez, tüm veriyi olduğu gibi saklar ve asıl hesaplamayı tahmin anına erteler. Saçılım grafiğindeki yeni müşteri örneği bunu somutlaştırıyor: "?" işaretli nokta, k=5 komşuluğundaki en yakın beş noktanın çoğunluk sınıfına (bu örnekte teal, yani kalan müşteri) göre etiketleniyor — model kurmadan, sadece benzerlik ölçerek karar veriliyor. Bu yaklaşımın doğrudan sonucu, tahmin anının eğitim anından çok daha maliyetli olmasıdır; her yeni tahmin için tüm eğitim verisiyle mesafe hesaplamak gerekir, bu da büyük veri kümelerinde k-NN'yi pratik olarak zorlaştırır.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Öklid ve Manhattan mesafeleri, "benzerliği" farklı geometrik varsayımlarla tanımlıyor — Öklid kuş uçuşu mesafeyi, Manhattan ise dik açılı sokaklarda yürüme mesafesini modelliyor; hangisinin daha uygun olduğu verinin yapısına bağlıdır. Tablodaki 250 sentetik müşteri üzerindeki deney, k parametresinin doğruluğu nasıl etkilediğini gösteriyor: k=1'de doğruluk 0.893 iken k=3'te 0.947'ye yükseliyor, ardından k arttıkça (k=9, k=15) tekrar düşüyor — bu, yanlılık-varyans dengesinin klasik bir görünümü. Çok küçük k tek bir gürültülü komşuya aşırı duyarlıdır (yüksek varyans), çok büyük k ise farklı sınıflardaki noktaları aynı oya dahil ederek sınırları bulanıklaştırır (yüksek yanlılık); bu veri kümesinde en dengeli nokta k=3 civarında bulunuyor. Ölçeklendirmenin (StandardScaler) zorunlu olması ayrıca vurgulanmalı: mesafe hesabı, farklı birimlerdeki özniteliklerin (örneğin fatura tutarı ile sözleşme ayı sayısı) adil bir şekilde karşılaştırılmasını gerektirir, aksi halde büyük ölçekli bir öznitelik mesafeyi tek başına domine eder.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k-NN'nin avantajlı olduğu senaryolar — küçük/orta ölçekli veri, düzensiz karar sınırları, yorumlanabilirlikten çok doğruluğa öncelik verilmesi, sık gelen yeni veri — hepsi onun "tembel öğrenme" doğasından kaynaklanıyor; özellikle yeniden eğitim gerektirmeden yeni örnekleri doğrudan veri havuzuna ekleyebilmesi, online benzeri senaryolarda önemli bir avantaj sunuyor. Dezavantajlı olduğu durumlar ise ölçeklenebilirlik sorunlarına işaret ediyor: büyük veride tahmin maliyeti yükselir, yüksek boyutlu uzaylarda "boyutsallık laneti" nedeniyle mesafe kavramı anlamını yitirmeye başlar. Karşılaştırma tablosu, karar ağacı ile k-NN'yi beş boyutta yan yana koyarak bu farkları netleştiriyor — özellikle ölçeklendirme zorunluluğu ve tahmin hızındaki tersine dönmüş ilişki (ağaç eğitimde yavaş tahminde hızlı, k-NN eğitimde hızlı tahminde yavaş) dikkat çekici bir karşıtlık oluşturuyor.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Bayes teoremi, P(y|x) = P(x|y)·P(y)/P(x) formülüyle, "özniteliklere bakmadan önceki inanç" (öncül) ile "özniteliklere baktıktan sonraki güncellenmiş inancı" (sonsal) birbirine bağlıyor. Üç kart bu bileşenleri ayrı ayrı açıklıyor: öncül P(y) yalnızca eğitim verisindeki sınıf oranını yansıtır (bu örnekte ayrılanların oranı %61.7), olabilirlik P(x|y) bu sınıfa ait örneklerde gözlemlenen özniteliklerin ne kadar tipik olduğunu ölçer, sonsal P(y|x) ise bu iki bilginin çarpımıyla elde edilen ve predict_proba'nın döndürdüğü nihai olasılıktır. "Naive" (saf) sıfatı, tüm özniteliklerin sınıf verildiğinde koşullu olarak bağımsız olduğu varsayımından geliyor — bu varsayım hesabı büyük ölçüde basitleştirir çünkü çok boyutlu bir olasılık yerine tek boyutlu olasılıkların çarpımı hesaplanır, ama gerçek veride öznitelikler nadiren tam bağımsızdır; doktor analojisindeki gibi, belirtiler birbirinden bağımsızmış gibi değerlendirilse de makul bir teşhise ulaşılabilir.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0.909 test doğruluğu, bağımsızlık varsayımı ihlal edilmesine rağmen Naive Bayes'in neden hâlâ iyi çalıştığı sorusunu gündeme getiriyor; cevap, sınıflandırma kararının olasılıkların mutlak değerine değil, yalnızca göreli sıralamasına bağlı olmasında yatıyor. Öncül %38.3/%61.7'den sonsal %81.5/%18.5'e geçiş, tek bir örnek üzerinden bu güncellemenin nasıl işlediğini gösteriyor — özniteliklere bakıldıktan sonra bu müşterinin kalma olasılığı belirgin şekilde yükseliyor, çünkü doğru sınıfın olasılığı yanlış sınıftan daha yüksek çıkması yeterlidir, kalibrasyon hatası olsa bile karar genellikle doğru kalır. Sağdaki churn kutusu ise bu iyimserliğin sınırını çiziyor: "şikâyet sayısı" ile "sözleşme süresi" arasında muhtemelen gerçek bir ilişki var (uzun süreli müşteriler daha az şikâyet eder), bağımsızlık varsayımı bunu görmezden gelir; etkileşim çok güçlü olduğunda (kısa sözleşme VE yüksek şikâyet birlikte riskli) bu ihmal ciddi hatalara yol açabilir — bu nokta, sonraki sayfalardaki "ne zaman tercih edilmeli" tartışmasının temelini oluşturuyor.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Naive Bayes'in en güçlü olduğu alan — metin sınıflandırma, yüksek boyutlu ve seyrek veri, az eğitim verisiyle hızlı başlangıç — hepsi onun hesaplama hafifliğinden ve bağımsızlık varsayımının yüksek boyutlu uzaylarda görece zararsız kalmasından kaynaklanıyor. Zayıf olduğu senaryo net: öznitelikler arasında güçlü ve anlamlı etkileşim olduğunda (kısa sözleşme VE yüksek fatura birlikte riskli gibi), bağımsızlık varsayımı bu etkileşimi yakalayamaz ve karar ağacı veya topluluk yöntemleri tercih edilmelidir. Üç yöntemi yan yana koyan tablo, bölümün genel mesajını pekiştiriyor: Naive Bayes az veriyle iyi performans gösterirken etkileşim yakalamada zayıf kalıyor, karar ağacı tam tersi bir profil sergiliyor — bu karşıtlık, sonraki karşılaştırma sayfasında daha da netleşecek.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bölümün üç algoritmasını beş boyutta (karar mantığı, temel varsayım, güçlü yön, başlıca sınırlılık) yan yana koyarak bir çeşit zihinsel harita sunuyor: karar ağacı öznitelik eşikleriyle ardışık bölme yapar ve yorumlanabilirlik sunar ama derinlik sınırlanmazsa yüksek varyansa düşer; k-NN en yakın k gözlemin oyuna bakar ve doğrusal olmayan yerel sınırları yakalar ama ölçekleme/k/boyuta duyarlıdır; Naive Bayes koşullu bağımsızlıkla P(y|x) hesaplar, hızlı ve az veride yararlıdır ama bağımsızlık varsayımı kalibrasyonu bozabilir. Alttaki sınav notu — "ağaç kural yazar, k-NN benzer arar, Naive Bayes olasılık hesaplar" — bu üç farklı mantığı tek bir hatırlatıcı cümlede özetliyor; ikinci cümle ise bölümün en kritik mesajını taşıyor: en yüksek tekil doğruluk, yöntem seçimi için tek başına yeterli kanıt değildir, çünkü yorumlanabilirlik, hesaplama maliyeti ve veri karakteristiği de karar sürecinin parçasıdır.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Genelleme kavramı, bu bölümün üç algoritmasını birleştiren ortak teorik zemin: amaç yalnızca eğitim örneklerini doğru etiketlemek değil, görülmeyen gözlemlerde de benzer çalışabilen bir kural öğrenmektir, ve eğitim/test ayrımı tam olarak bunu sınamak için var. Kapasite spektrumu — yetersiz, dengeli, aşırı — bu genelleme hedefinin nasıl başarısız olabileceğini üç senaryoyla gösteriyor: çok sınırlı bir ağaç veya çok büyük bir k düşük varyans ama yüksek yanlılığa (underfitting), budanmamış bir ağaç veya k=1 ise yüksek varyansa ve gürültüye aşırı duyarlılığa (overfitting) yol açar. Bu çerçeve, bölümün önceki sayfalarında görülen somut örnekleri (budama grafiğindeki makas, k seçimindeki U şeklindeki doğruluk eğrisi) tek bir kavramsal şemsiye altında birleştiriyor; doğrulama veya çapraz doğrulama, bu dengeli bölgeyi bulmanın standart yoludur.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ChurnSiniflandiriciKarsilastirici sınıfının beş metotlu iş akışı — veri üretiminden raporlamaya — bölümdeki teorik bilgiyi tek bir yeniden kullanılabilir kod yapısında somutlaştırıyor. Sol kutudaki tasarım kararı özellikle önemli: karar ağacı ve Naive Bayes ham veriyle eğitilirken k-NN ölçeklenmiş veriyle eğitiliyor, çünkü her algoritmanın veri temsiline duyarlılığı farklıdır — bu tutarlılık test aşamasında da korunuyor, aksi halde (sayfa 22'deki hata örneklerinden biri gibi) eğitim ve tahmin arasında tutarsızlık oluşur. Sağdaki genişletilebilirlik notu ise yazılım mühendisliği açısından bir ders veriyor: self.modeller ve self.sonuclar birer sözlük olduğu için dördüncü bir algoritma eklemek tek satırla mümkün, çünkü degerlendir() ve rapor_yazdir() metotları sabit model adları yerine sözlük üzerinde döngü kuruyor — bu, kırılgan kod ile esnek kod arasındaki farkı gösteren küçük ama öğretici bir tasarım tercihi.</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Karar ağacı ve k-NN'nin ikisi de 0.789 doğrulukla eşit çıkarken Naive Bayes'in 0.744'te kalması, bölümün en somut kanıtı: hiçbir algoritma evrensel olarak üstün değildir ve bu veri kümesinde Naive Bayes'in koşullu bağımsızlık varsayımı, sözleşme süresi, fatura tutarı ve şikâyet sayısı arasındaki etkileşimi tam yakalayamıyor. Karar ağacının kartındaki "en yüksek doğruluk (eşit)" notu bilinçli bir vurgu — iki model istatistiksel olarak aynı performansı gösterse de, karar ağacının yorumlanabilirlik avantajı burada onu pratik tercih olarak öne çıkarabilir; bu, sayfa 16'daki "en yüksek doğruluk tek başına yeterli kanıt değildir" mesajının somut bir örneği. Capstone notu bu sayfayı bölümün geri kalanına bağlıyor: öğrencinin bu sınıfı gerçek Telco Churn verisine uygulaması ve en dengeli sonucu veren modeli bir referans model olarak kaydetmesi bekleniyor — bu referans model, Bölüm 6'nın doğrulama protokolünün başlangıç noktası olacak.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dengeli örnekler öğretim amaçlı olsa da, gerçek churn verisinde ayrılan müşteriler genellikle azınlıktadır (örneğin %5-10); sınıf dengesizliği, üç algoritmayı birbirinden tamamen farklı mekanizmalarla kırılgan kılıyor. Karar ağacında, %95 kalan-%5 ayrılan bir düğümün Gini'si zaten düşük olduğu için düğüm bölünmeden de "yeterince saf" görünür ve ağaç azınlık sınıfını ayırt eden bölünmeleri aramaya daha az teşvik edilir. k-NN'de çoğunluğun sayıca üstünlüğü nedeniyle gerçek bir azınlık örneği bile çoğunluk sınıfından komşularla çevrili çıkabilir, bu da sınır bölgesindeki azınlık örneklerinin sistematik olarak yanlış sınıflandırılmasına yol açar. Naive Bayes'te ise öncül olasılık doğrudan sınıf frekansından geldiği için çarpık dağılımda azınlık sınıf baştan dezavantajlıdır — özniteliklerin kanıtının orantısız derecede güçlü olması gerekir ki azınlık sınıf öne çıksın. Ortak sonuç şu: sadece accuracy'ye bakmak yanıltıcıdır, bu üç kırılganlığın sistematik çözümü Bölüm 11'de (Dengesiz Veri ve Tuzaklar) ele alınacak.</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İlk yanılgı, karar ağacına gereksiz yere ölçekleme uygulama alışkanlığından geliyor; ağaç her özniteliği bağımsız bir eşik değerine göre böldüğü için öznitelik 0-1 aralığında mı yoksa 0-100.000 aralığında mı olduğu eşik seçimini etkilemez — zararsız ama gereksiz bir adım, ölçeklendirmeyi mesafe tabanlı k-NN gibi algoritmalar için saklamak daha doğru bir alışkanlıktır. İkinci yanılgı daha tehlikeli: Gini veya entropi değerini doğrudan bir başarı yüzdesi gibi okumak, çünkü bunlar bir düğümün saflığını ölçen impurity metrikleridir, modelin genel doğruluğunu değil — bu ikisi karıştırılırsa yanlış bir model değerlendirmesi yapılabilir. Üçüncü yanılgı, predict_proba çıktısındaki yüksek bir olasılığı (örneğin %99) kesinlik olarak yorumlamak; bağımsızlık varsayımının ihlali, özellikle Naive Bayes'te olasılık değerlerinin iyi kalibre edilmemesine yol açabilir, bu yüzden olasılık bir risk skoru veya sıralama aracı olarak kullanılmalı, mutlak değerine aşırı güvenilmemelidir.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İlk hata — test verisine fit_transform uygulamak — veri sızıntısının (data leakage) en klasik örneği; ölçekleyici yalnızca eğitim verisiyle fit edilmeli, test verisine sadece transform uygulanmalıdır, aksi halde test verisinin istatistikleri eğitim sürecine sızar ve gerçek dünyada elde edilemeyecek kadar iyimser bir performans ölçülür. İkinci hata, n_neighbors=0 gibi geçersiz bir parametre değeri; k-NN en az bir komşu gerektirir, bu basit ama sık yapılan bir hata sınıfıdır. Üçüncü hata daha sinsi: karar ağacının ölçeklenmiş veriyle eğitilip ham veriyle test edilmesi, yani eğitim ve tahmin aşamalarında farklı veri temsili kullanmak — bu, sayfa 18'deki tasarım kararının neden bu kadar vurgulandığını açıklıyor, çünkü bu tutarsızlık sessizce yanlış sonuçlar üretebilir. Dördüncü hata, random_state belirtilmeden train_test_split çağırmak; bu, her çalıştırmada farklı bir bölünme anlamına gelir ve sonuçların tekrarlanabilir olmasını engeller — akademik ve üretim ortamlarında tekrarlanabilirlik temel bir gereksinimdir. Bu dört hata düzeltildiğinde, üç modelin de %83-%87 aralığında tutarlı bir test doğruluğu ürettiği gözlemleniyor.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Altı kart, bölümün tüm ana fikirlerini tek bir bakışta topluyor: karar ağacı Gini/entropi ile art arda bölünen okunabilir kural setleri üretirken, budama bu süreci sınırlandırılmazsa aşırı öğrenmeye kayan ağacı dizginliyor; k-NN model kurmadan benzerliğe bakıyor ve sonucu mesafe metriği ile k seçimi belirliyor; Naive Bayes bağımsızlık varsayımı ihlal edilse de sınıflandırma kararının genellikle doğru kalmasını sağlıyor. Sınıf dengesizliği kartı, bu üç algoritmanın farklı mekanizmalarla kırılgan hale geldiğini ve accuracy'nin tek başına yeterli olmadığını hatırlatıyor; algoritma seçimi kartı ise bölümün nihai mesajını taşıyor — veri büyüklüğü, boyutsallık, etkileşim ve yorumlanabilirlik ihtiyacına göre değişen bir karar. Alttaki sınav notu bu altı fikri tek bir cümleye sıkıştırıyor: ağaç kural yazar, k-NN benzer arar, Naive Bayes olasılık hesaplar — ve hiçbiri evrensel olarak üstün değildir.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tamamlayan bir öğrenci artık üç algoritmayı doğru veri temsiliyle eğitip test edebiliyor ve bir referans model belirleyip gerekçelendirebiliyor — bu iki yetkinlik, bir sonraki bölümün ön koşulunu oluşturuyor. Şimdiye kadar modeller yalnızca tek bir sayıyla, test doğruluğuyla değerlendirildi; ancak sayfa 19'daki churn sonuçlarının da gösterdiği gibi, eşit doğruluk gösteren iki model çok farklı hatalar yapabilir (örneğin biri yanlış pozitiflere, diğeri yanlış negatiflere daha yatkın olabilir) ve bu fark yalnızca confusion matrix, precision/recall, F1-skoru ve ROC/AUC gibi daha zengin metriklerle görünür hale gelir. Bölüm 6, tam olarak bu boşluğu dolduracak: model değerlendirme ve doğrulama başlığı altında, bu bölümde kaydedilen referans model ve karşılaştırma tablosu doğrulama protokolüne bağlanacak — bu yüzden o çıktıları elinizin altında tutmanız isteniyor.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5_siniflandirma_temelleri-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5_siniflandirma_temelleri-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05</a:t>
              </a:r>
            </a:p>
          </p:txBody>
        </p:sp>
      </p:grpSp>
      <p:grpSp>
        <p:nvGrpSpPr>
          <p:cNvPr id="8" name="cover-title"/>
          <p:cNvGrpSpPr/>
          <p:nvPr/>
        </p:nvGrpSpPr>
        <p:grpSpPr>
          <a:xfrm>
            <a:off x="4934712" y="1802130"/>
            <a:ext cx="5461254" cy="1847088"/>
            <a:chOff x="4934712" y="1802130"/>
            <a:chExt cx="5461254" cy="1847088"/>
          </a:xfrm>
        </p:grpSpPr>
        <p:sp>
          <p:nvSpPr>
            <p:cNvPr id="7" name="TextBox 7"/>
            <p:cNvSpPr txBox="1"/>
            <p:nvPr/>
          </p:nvSpPr>
          <p:spPr>
            <a:xfrm>
              <a:off x="4934712" y="1802130"/>
              <a:ext cx="5461254" cy="1847088"/>
            </a:xfrm>
            <a:prstGeom prst="rect">
              <a:avLst/>
            </a:prstGeom>
            <a:noFill/>
            <a:ln>
              <a:noFill/>
            </a:ln>
          </p:spPr>
          <p:txBody>
            <a:bodyPr wrap="none" lIns="0" tIns="0" rIns="0" bIns="0" anchor="t" anchorCtr="0">
              <a:spAutoFit/>
            </a:bodyPr>
            <a:lstStyle/>
            <a:p>
              <a:pPr algn="l">
                <a:lnSpc>
                  <a:spcPts val="4500"/>
                </a:lnSpc>
              </a:pPr>
              <a:r>
                <a:rPr lang="tr-TR" sz="3600" b="1" dirty="0">
                  <a:solidFill>
                    <a:srgbClr val="12355B"/>
                  </a:solidFill>
                  <a:latin typeface="+mj-lt"/>
                  <a:ea typeface="+mj-ea"/>
                  <a:cs typeface="+mj-cs"/>
                </a:rPr>
                <a:t>Sınıflandırmaya Giriş:</a:t>
              </a:r>
              <a:br/>
              <a:r>
                <a:rPr lang="tr-TR" sz="3600" b="1" dirty="0">
                  <a:solidFill>
                    <a:srgbClr val="12355B"/>
                  </a:solidFill>
                  <a:latin typeface="+mj-lt"/>
                  <a:ea typeface="+mj-ea"/>
                  <a:cs typeface="+mj-cs"/>
                </a:rPr>
                <a:t>Karar Ağaçları, k-NN</a:t>
              </a:r>
              <a:br/>
              <a:r>
                <a:rPr lang="tr-TR" sz="3600" b="1" dirty="0">
                  <a:solidFill>
                    <a:srgbClr val="12355B"/>
                  </a:solidFill>
                  <a:latin typeface="+mj-lt"/>
                  <a:ea typeface="+mj-ea"/>
                  <a:cs typeface="+mj-cs"/>
                </a:rPr>
                <a:t>ve Naive Bayes</a:t>
              </a:r>
            </a:p>
          </p:txBody>
        </p:sp>
      </p:grpSp>
      <p:grpSp>
        <p:nvGrpSpPr>
          <p:cNvPr id="12" name="cover-subtitle"/>
          <p:cNvGrpSpPr/>
          <p:nvPr/>
        </p:nvGrpSpPr>
        <p:grpSpPr>
          <a:xfrm>
            <a:off x="4943094" y="4038600"/>
            <a:ext cx="3976056" cy="900018"/>
            <a:chOff x="4943094" y="4038600"/>
            <a:chExt cx="3976056" cy="900018"/>
          </a:xfrm>
        </p:grpSpPr>
        <p:sp>
          <p:nvSpPr>
            <p:cNvPr id="9" name="Rectangle 9"/>
            <p:cNvSpPr/>
            <p:nvPr/>
          </p:nvSpPr>
          <p:spPr>
            <a:xfrm>
              <a:off x="4953000" y="4038600"/>
              <a:ext cx="1143000" cy="38100"/>
            </a:xfrm>
            <a:prstGeom prst="rect">
              <a:avLst/>
            </a:prstGeom>
            <a:solidFill>
              <a:srgbClr val="00A6A6"/>
            </a:solidFill>
            <a:ln>
              <a:noFill/>
            </a:ln>
          </p:spPr>
        </p:sp>
        <p:sp>
          <p:nvSpPr>
            <p:cNvPr id="10" name="TextBox 10"/>
            <p:cNvSpPr txBox="1"/>
            <p:nvPr/>
          </p:nvSpPr>
          <p:spPr>
            <a:xfrm>
              <a:off x="4943094" y="417099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63057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3328416" cy="234696"/>
            <a:chOff x="4946904" y="6233160"/>
            <a:chExt cx="3328416" cy="234696"/>
          </a:xfrm>
        </p:grpSpPr>
        <p:sp>
          <p:nvSpPr>
            <p:cNvPr id="13" name="TextBox 13"/>
            <p:cNvSpPr txBox="1"/>
            <p:nvPr/>
          </p:nvSpPr>
          <p:spPr>
            <a:xfrm>
              <a:off x="4946904" y="6233160"/>
              <a:ext cx="33284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Bölüm 05 · Sınıflandırma Temelleri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intro"/>
          <p:cNvGrpSpPr/>
          <p:nvPr/>
        </p:nvGrpSpPr>
        <p:grpSpPr>
          <a:xfrm>
            <a:off x="601599" y="1182529"/>
            <a:ext cx="4968445" cy="308039"/>
            <a:chOff x="601599" y="1182529"/>
            <a:chExt cx="4968445" cy="308039"/>
          </a:xfrm>
        </p:grpSpPr>
        <p:sp>
          <p:nvSpPr>
            <p:cNvPr id="6" name="TextBox 6"/>
            <p:cNvSpPr txBox="1"/>
            <p:nvPr/>
          </p:nvSpPr>
          <p:spPr>
            <a:xfrm>
              <a:off x="601599" y="118252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1" name="road-q1"/>
          <p:cNvGrpSpPr/>
          <p:nvPr/>
        </p:nvGrpSpPr>
        <p:grpSpPr>
          <a:xfrm>
            <a:off x="666750" y="1657350"/>
            <a:ext cx="9395306" cy="395859"/>
            <a:chOff x="666750" y="1657350"/>
            <a:chExt cx="9395306" cy="395859"/>
          </a:xfrm>
        </p:grpSpPr>
        <p:sp>
          <p:nvSpPr>
            <p:cNvPr id="8" name="Ellipse 8"/>
            <p:cNvSpPr/>
            <p:nvPr/>
          </p:nvSpPr>
          <p:spPr>
            <a:xfrm>
              <a:off x="666750" y="1657350"/>
              <a:ext cx="342900" cy="342900"/>
            </a:xfrm>
            <a:prstGeom prst="ellipse">
              <a:avLst/>
            </a:prstGeom>
            <a:solidFill>
              <a:srgbClr val="12355B"/>
            </a:solidFill>
            <a:ln>
              <a:noFill/>
            </a:ln>
          </p:spPr>
        </p:sp>
        <p:sp>
          <p:nvSpPr>
            <p:cNvPr id="9" name="TextBox 9"/>
            <p:cNvSpPr txBox="1"/>
            <p:nvPr/>
          </p:nvSpPr>
          <p:spPr>
            <a:xfrm>
              <a:off x="778865" y="17497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71956" y="1701165"/>
              <a:ext cx="889010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Karar ağacı "en iyi" bölünmeyi nasıl seçer? Gini ve entropi farkı nedir?</a:t>
              </a:r>
            </a:p>
          </p:txBody>
        </p:sp>
      </p:grpSp>
      <p:grpSp>
        <p:nvGrpSpPr>
          <p:cNvPr id="15" name="road-q2"/>
          <p:cNvGrpSpPr/>
          <p:nvPr/>
        </p:nvGrpSpPr>
        <p:grpSpPr>
          <a:xfrm>
            <a:off x="666750" y="2286000"/>
            <a:ext cx="9280894" cy="395859"/>
            <a:chOff x="666750" y="2286000"/>
            <a:chExt cx="9280894" cy="395859"/>
          </a:xfrm>
        </p:grpSpPr>
        <p:sp>
          <p:nvSpPr>
            <p:cNvPr id="12" name="Ellipse 12"/>
            <p:cNvSpPr/>
            <p:nvPr/>
          </p:nvSpPr>
          <p:spPr>
            <a:xfrm>
              <a:off x="666750" y="2286000"/>
              <a:ext cx="342900" cy="342900"/>
            </a:xfrm>
            <a:prstGeom prst="ellipse">
              <a:avLst/>
            </a:prstGeom>
            <a:solidFill>
              <a:srgbClr val="12355B"/>
            </a:solidFill>
            <a:ln>
              <a:noFill/>
            </a:ln>
          </p:spPr>
        </p:sp>
        <p:sp>
          <p:nvSpPr>
            <p:cNvPr id="13" name="TextBox 13"/>
            <p:cNvSpPr txBox="1"/>
            <p:nvPr/>
          </p:nvSpPr>
          <p:spPr>
            <a:xfrm>
              <a:off x="778865" y="23783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71956" y="2329815"/>
              <a:ext cx="877568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 ağaç neden aşırı büyürse ezberler? Budama bu sorunu nasıl çözer?</a:t>
              </a:r>
            </a:p>
          </p:txBody>
        </p:sp>
      </p:grpSp>
      <p:grpSp>
        <p:nvGrpSpPr>
          <p:cNvPr id="19" name="road-q3"/>
          <p:cNvGrpSpPr/>
          <p:nvPr/>
        </p:nvGrpSpPr>
        <p:grpSpPr>
          <a:xfrm>
            <a:off x="666750" y="2914650"/>
            <a:ext cx="9891505" cy="395859"/>
            <a:chOff x="666750" y="2914650"/>
            <a:chExt cx="9891505" cy="395859"/>
          </a:xfrm>
        </p:grpSpPr>
        <p:sp>
          <p:nvSpPr>
            <p:cNvPr id="16" name="Ellipse 16"/>
            <p:cNvSpPr/>
            <p:nvPr/>
          </p:nvSpPr>
          <p:spPr>
            <a:xfrm>
              <a:off x="666750" y="2914650"/>
              <a:ext cx="342900" cy="342900"/>
            </a:xfrm>
            <a:prstGeom prst="ellipse">
              <a:avLst/>
            </a:prstGeom>
            <a:solidFill>
              <a:srgbClr val="12355B"/>
            </a:solidFill>
            <a:ln>
              <a:noFill/>
            </a:ln>
          </p:spPr>
        </p:sp>
        <p:sp>
          <p:nvSpPr>
            <p:cNvPr id="17" name="TextBox 17"/>
            <p:cNvSpPr txBox="1"/>
            <p:nvPr/>
          </p:nvSpPr>
          <p:spPr>
            <a:xfrm>
              <a:off x="778865" y="30070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71956" y="2958465"/>
              <a:ext cx="93862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k-NN'de "komşuluk" hangi mesafe metrikleriyle tanımlanır, k nasıl seçilir?</a:t>
              </a:r>
            </a:p>
          </p:txBody>
        </p:sp>
      </p:grpSp>
      <p:grpSp>
        <p:nvGrpSpPr>
          <p:cNvPr id="23" name="road-q4"/>
          <p:cNvGrpSpPr/>
          <p:nvPr/>
        </p:nvGrpSpPr>
        <p:grpSpPr>
          <a:xfrm>
            <a:off x="666750" y="3543300"/>
            <a:ext cx="9328009" cy="395859"/>
            <a:chOff x="666750" y="3543300"/>
            <a:chExt cx="9328009" cy="395859"/>
          </a:xfrm>
        </p:grpSpPr>
        <p:sp>
          <p:nvSpPr>
            <p:cNvPr id="20" name="Ellipse 20"/>
            <p:cNvSpPr/>
            <p:nvPr/>
          </p:nvSpPr>
          <p:spPr>
            <a:xfrm>
              <a:off x="666750" y="3543300"/>
              <a:ext cx="342900" cy="342900"/>
            </a:xfrm>
            <a:prstGeom prst="ellipse">
              <a:avLst/>
            </a:prstGeom>
            <a:solidFill>
              <a:srgbClr val="12355B"/>
            </a:solidFill>
            <a:ln>
              <a:noFill/>
            </a:ln>
          </p:spPr>
        </p:sp>
        <p:sp>
          <p:nvSpPr>
            <p:cNvPr id="21" name="TextBox 21"/>
            <p:cNvSpPr txBox="1"/>
            <p:nvPr/>
          </p:nvSpPr>
          <p:spPr>
            <a:xfrm>
              <a:off x="778865" y="36356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71956" y="3587115"/>
              <a:ext cx="882280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Naive Bayes'teki "saf" varsayım nedir? Neden ihlal edilse de işe yarar?</a:t>
              </a:r>
            </a:p>
          </p:txBody>
        </p:sp>
      </p:grpSp>
      <p:grpSp>
        <p:nvGrpSpPr>
          <p:cNvPr id="27" name="road-q5"/>
          <p:cNvGrpSpPr/>
          <p:nvPr/>
        </p:nvGrpSpPr>
        <p:grpSpPr>
          <a:xfrm>
            <a:off x="666750" y="4171950"/>
            <a:ext cx="9423750" cy="395859"/>
            <a:chOff x="666750" y="4171950"/>
            <a:chExt cx="9423750" cy="395859"/>
          </a:xfrm>
        </p:grpSpPr>
        <p:sp>
          <p:nvSpPr>
            <p:cNvPr id="24" name="Ellipse 24"/>
            <p:cNvSpPr/>
            <p:nvPr/>
          </p:nvSpPr>
          <p:spPr>
            <a:xfrm>
              <a:off x="666750" y="4171950"/>
              <a:ext cx="342900" cy="342900"/>
            </a:xfrm>
            <a:prstGeom prst="ellipse">
              <a:avLst/>
            </a:prstGeom>
            <a:solidFill>
              <a:srgbClr val="12355B"/>
            </a:solidFill>
            <a:ln>
              <a:noFill/>
            </a:ln>
          </p:spPr>
        </p:sp>
        <p:sp>
          <p:nvSpPr>
            <p:cNvPr id="25" name="TextBox 25"/>
            <p:cNvSpPr txBox="1"/>
            <p:nvPr/>
          </p:nvSpPr>
          <p:spPr>
            <a:xfrm>
              <a:off x="778865" y="4264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71956" y="4215765"/>
              <a:ext cx="891854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Hangi algoritma hangi veri/problem karakteristiğinde tercih edilmelidir?</a:t>
              </a:r>
            </a:p>
          </p:txBody>
        </p:sp>
      </p:grpSp>
      <p:grpSp>
        <p:nvGrpSpPr>
          <p:cNvPr id="31" name="road-goal"/>
          <p:cNvGrpSpPr/>
          <p:nvPr/>
        </p:nvGrpSpPr>
        <p:grpSpPr>
          <a:xfrm>
            <a:off x="609600" y="4857750"/>
            <a:ext cx="10972800" cy="1047750"/>
            <a:chOff x="609600" y="4857750"/>
            <a:chExt cx="10972800" cy="1047750"/>
          </a:xfrm>
        </p:grpSpPr>
        <p:sp>
          <p:nvSpPr>
            <p:cNvPr id="28" name="Rectangle 28"/>
            <p:cNvSpPr/>
            <p:nvPr/>
          </p:nvSpPr>
          <p:spPr>
            <a:xfrm>
              <a:off x="609600" y="4857750"/>
              <a:ext cx="10972800" cy="1047750"/>
            </a:xfrm>
            <a:prstGeom prst="roundRect">
              <a:avLst>
                <a:gd name="adj" fmla="val 7273"/>
              </a:avLst>
            </a:prstGeom>
            <a:solidFill>
              <a:srgbClr val="EAF4F6"/>
            </a:solidFill>
            <a:ln>
              <a:noFill/>
            </a:ln>
          </p:spPr>
        </p:sp>
        <p:sp>
          <p:nvSpPr>
            <p:cNvPr id="29" name="TextBox 29"/>
            <p:cNvSpPr txBox="1"/>
            <p:nvPr/>
          </p:nvSpPr>
          <p:spPr>
            <a:xfrm>
              <a:off x="905256" y="5006340"/>
              <a:ext cx="19076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Bölüm Hedefi</a:t>
              </a:r>
            </a:p>
          </p:txBody>
        </p:sp>
        <p:sp>
          <p:nvSpPr>
            <p:cNvPr id="30" name="TextBox 30"/>
            <p:cNvSpPr txBox="1"/>
            <p:nvPr/>
          </p:nvSpPr>
          <p:spPr>
            <a:xfrm>
              <a:off x="907542" y="5378768"/>
              <a:ext cx="862907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Gini/entropi hesaplayıp yorumlamak, k-NN'de mesafe metriği ve k parametresini doğru seçmek,</a:t>
              </a:r>
              <a:br/>
              <a:r>
                <a:rPr lang="tr-TR" sz="1350" dirty="0">
                  <a:solidFill>
                    <a:srgbClr val="172B3A"/>
                  </a:solidFill>
                  <a:latin typeface="+mn-lt"/>
                  <a:ea typeface="+mn-ea"/>
                  <a:cs typeface="+mn-cs"/>
                </a:rPr>
                <a:t>Naive Bayes ile olasılıksal sınıflandırma yapmak ve üç algoritmayı churn probleminde karşılaştırmak.</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641247" cy="668845"/>
            <a:chOff x="609600" y="171450"/>
            <a:chExt cx="7641247"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9508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ölçütü</a:t>
              </a:r>
            </a:p>
          </p:txBody>
        </p:sp>
      </p:grpSp>
      <p:grpSp>
        <p:nvGrpSpPr>
          <p:cNvPr id="12" name="objective-1"/>
          <p:cNvGrpSpPr/>
          <p:nvPr/>
        </p:nvGrpSpPr>
        <p:grpSpPr>
          <a:xfrm>
            <a:off x="685800" y="1295400"/>
            <a:ext cx="9907584" cy="651701"/>
            <a:chOff x="685800" y="1295400"/>
            <a:chExt cx="9907584" cy="651701"/>
          </a:xfrm>
        </p:grpSpPr>
        <p:sp>
          <p:nvSpPr>
            <p:cNvPr id="9" name="Rectangle 9"/>
            <p:cNvSpPr/>
            <p:nvPr/>
          </p:nvSpPr>
          <p:spPr>
            <a:xfrm>
              <a:off x="685800" y="1295400"/>
              <a:ext cx="57150" cy="571500"/>
            </a:xfrm>
            <a:prstGeom prst="rect">
              <a:avLst/>
            </a:prstGeom>
            <a:solidFill>
              <a:srgbClr val="00A6A6"/>
            </a:solidFill>
            <a:ln>
              <a:noFill/>
            </a:ln>
          </p:spPr>
        </p:sp>
        <p:sp>
          <p:nvSpPr>
            <p:cNvPr id="10" name="TextBox 10"/>
            <p:cNvSpPr txBox="1"/>
            <p:nvPr/>
          </p:nvSpPr>
          <p:spPr>
            <a:xfrm>
              <a:off x="982599" y="1353979"/>
              <a:ext cx="96107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Karar ağacının bir bölünmeyi Gini indeksi veya entropi ile nasıl seçtiğini hesaplayabilmek</a:t>
              </a:r>
            </a:p>
          </p:txBody>
        </p:sp>
        <p:sp>
          <p:nvSpPr>
            <p:cNvPr id="11" name="TextBox 11"/>
            <p:cNvSpPr txBox="1"/>
            <p:nvPr/>
          </p:nvSpPr>
          <p:spPr>
            <a:xfrm>
              <a:off x="983742" y="1683068"/>
              <a:ext cx="681650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ebeveyn/alt dal impurity değerlerinden bilgi kazanımını elle çıkarmak</a:t>
              </a:r>
            </a:p>
          </p:txBody>
        </p:sp>
      </p:grpSp>
      <p:grpSp>
        <p:nvGrpSpPr>
          <p:cNvPr id="16" name="objective-2"/>
          <p:cNvGrpSpPr/>
          <p:nvPr/>
        </p:nvGrpSpPr>
        <p:grpSpPr>
          <a:xfrm>
            <a:off x="685800" y="2095500"/>
            <a:ext cx="7590105" cy="651701"/>
            <a:chOff x="685800" y="2095500"/>
            <a:chExt cx="7590105" cy="651701"/>
          </a:xfrm>
        </p:grpSpPr>
        <p:sp>
          <p:nvSpPr>
            <p:cNvPr id="13" name="Rectangle 13"/>
            <p:cNvSpPr/>
            <p:nvPr/>
          </p:nvSpPr>
          <p:spPr>
            <a:xfrm>
              <a:off x="685800" y="2095500"/>
              <a:ext cx="57150" cy="571500"/>
            </a:xfrm>
            <a:prstGeom prst="rect">
              <a:avLst/>
            </a:prstGeom>
            <a:solidFill>
              <a:srgbClr val="00A6A6"/>
            </a:solidFill>
            <a:ln>
              <a:noFill/>
            </a:ln>
          </p:spPr>
        </p:sp>
        <p:sp>
          <p:nvSpPr>
            <p:cNvPr id="14" name="TextBox 14"/>
            <p:cNvSpPr txBox="1"/>
            <p:nvPr/>
          </p:nvSpPr>
          <p:spPr>
            <a:xfrm>
              <a:off x="982599" y="2154079"/>
              <a:ext cx="729330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Budama (pre-/post-pruning) ile aşırı öğrenmeyi kontrol edebilmek</a:t>
              </a:r>
            </a:p>
          </p:txBody>
        </p:sp>
        <p:sp>
          <p:nvSpPr>
            <p:cNvPr id="15" name="TextBox 15"/>
            <p:cNvSpPr txBox="1"/>
            <p:nvPr/>
          </p:nvSpPr>
          <p:spPr>
            <a:xfrm>
              <a:off x="983742" y="2483168"/>
              <a:ext cx="639901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max_depth/min_samples_leaf ile eğitim-test makasını daraltmak</a:t>
              </a:r>
            </a:p>
          </p:txBody>
        </p:sp>
      </p:grpSp>
      <p:grpSp>
        <p:nvGrpSpPr>
          <p:cNvPr id="20" name="objective-3"/>
          <p:cNvGrpSpPr/>
          <p:nvPr/>
        </p:nvGrpSpPr>
        <p:grpSpPr>
          <a:xfrm>
            <a:off x="685800" y="2895600"/>
            <a:ext cx="7965752" cy="651701"/>
            <a:chOff x="685800" y="2895600"/>
            <a:chExt cx="7965752" cy="651701"/>
          </a:xfrm>
        </p:grpSpPr>
        <p:sp>
          <p:nvSpPr>
            <p:cNvPr id="17" name="Rectangle 17"/>
            <p:cNvSpPr/>
            <p:nvPr/>
          </p:nvSpPr>
          <p:spPr>
            <a:xfrm>
              <a:off x="685800" y="2895600"/>
              <a:ext cx="57150" cy="571500"/>
            </a:xfrm>
            <a:prstGeom prst="rect">
              <a:avLst/>
            </a:prstGeom>
            <a:solidFill>
              <a:srgbClr val="00A6A6"/>
            </a:solidFill>
            <a:ln>
              <a:noFill/>
            </a:ln>
          </p:spPr>
        </p:sp>
        <p:sp>
          <p:nvSpPr>
            <p:cNvPr id="18" name="TextBox 18"/>
            <p:cNvSpPr txBox="1"/>
            <p:nvPr/>
          </p:nvSpPr>
          <p:spPr>
            <a:xfrm>
              <a:off x="982599" y="2954179"/>
              <a:ext cx="766895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k-NN'de mesafe metriği ve k parametresini veriye göre ayarlayabilmek</a:t>
              </a:r>
            </a:p>
          </p:txBody>
        </p:sp>
        <p:sp>
          <p:nvSpPr>
            <p:cNvPr id="19" name="TextBox 19"/>
            <p:cNvSpPr txBox="1"/>
            <p:nvPr/>
          </p:nvSpPr>
          <p:spPr>
            <a:xfrm>
              <a:off x="983742" y="3283268"/>
              <a:ext cx="7318800"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Öklid/Manhattan karşılaştırmasıyla en dengeli k değerini gerekçelendirmek</a:t>
              </a:r>
            </a:p>
          </p:txBody>
        </p:sp>
      </p:grpSp>
      <p:grpSp>
        <p:nvGrpSpPr>
          <p:cNvPr id="24" name="objective-4"/>
          <p:cNvGrpSpPr/>
          <p:nvPr/>
        </p:nvGrpSpPr>
        <p:grpSpPr>
          <a:xfrm>
            <a:off x="685800" y="3695700"/>
            <a:ext cx="10086687" cy="651701"/>
            <a:chOff x="685800" y="3695700"/>
            <a:chExt cx="10086687" cy="651701"/>
          </a:xfrm>
        </p:grpSpPr>
        <p:sp>
          <p:nvSpPr>
            <p:cNvPr id="21" name="Rectangle 21"/>
            <p:cNvSpPr/>
            <p:nvPr/>
          </p:nvSpPr>
          <p:spPr>
            <a:xfrm>
              <a:off x="685800" y="3695700"/>
              <a:ext cx="57150" cy="571500"/>
            </a:xfrm>
            <a:prstGeom prst="rect">
              <a:avLst/>
            </a:prstGeom>
            <a:solidFill>
              <a:srgbClr val="00A6A6"/>
            </a:solidFill>
            <a:ln>
              <a:noFill/>
            </a:ln>
          </p:spPr>
        </p:sp>
        <p:sp>
          <p:nvSpPr>
            <p:cNvPr id="22" name="TextBox 22"/>
            <p:cNvSpPr txBox="1"/>
            <p:nvPr/>
          </p:nvSpPr>
          <p:spPr>
            <a:xfrm>
              <a:off x="982599" y="3754279"/>
              <a:ext cx="978988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Naive Bayes ile olasılıksal sınıflandırma yapıp predict_proba çıktısını yorumlayabilmek</a:t>
              </a:r>
            </a:p>
          </p:txBody>
        </p:sp>
        <p:sp>
          <p:nvSpPr>
            <p:cNvPr id="23" name="TextBox 23"/>
            <p:cNvSpPr txBox="1"/>
            <p:nvPr/>
          </p:nvSpPr>
          <p:spPr>
            <a:xfrm>
              <a:off x="983742" y="4083368"/>
              <a:ext cx="598060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öncül/sonsal olasılıkları bir risk skoru olarak doğru okumak</a:t>
              </a:r>
            </a:p>
          </p:txBody>
        </p:sp>
      </p:grpSp>
      <p:grpSp>
        <p:nvGrpSpPr>
          <p:cNvPr id="28" name="objective-5"/>
          <p:cNvGrpSpPr/>
          <p:nvPr/>
        </p:nvGrpSpPr>
        <p:grpSpPr>
          <a:xfrm>
            <a:off x="685800" y="4495800"/>
            <a:ext cx="9722099" cy="651701"/>
            <a:chOff x="685800" y="4495800"/>
            <a:chExt cx="9722099" cy="651701"/>
          </a:xfrm>
        </p:grpSpPr>
        <p:sp>
          <p:nvSpPr>
            <p:cNvPr id="25" name="Rectangle 25"/>
            <p:cNvSpPr/>
            <p:nvPr/>
          </p:nvSpPr>
          <p:spPr>
            <a:xfrm>
              <a:off x="685800" y="4495800"/>
              <a:ext cx="57150" cy="571500"/>
            </a:xfrm>
            <a:prstGeom prst="rect">
              <a:avLst/>
            </a:prstGeom>
            <a:solidFill>
              <a:srgbClr val="00A6A6"/>
            </a:solidFill>
            <a:ln>
              <a:noFill/>
            </a:ln>
          </p:spPr>
        </p:sp>
        <p:sp>
          <p:nvSpPr>
            <p:cNvPr id="26" name="TextBox 26"/>
            <p:cNvSpPr txBox="1"/>
            <p:nvPr/>
          </p:nvSpPr>
          <p:spPr>
            <a:xfrm>
              <a:off x="982599" y="4554379"/>
              <a:ext cx="942530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Üç algoritmayı yorumlanabilirlik, veri büyüklüğü ve etkileşime göre karşılaştırabilmek</a:t>
              </a:r>
            </a:p>
          </p:txBody>
        </p:sp>
        <p:sp>
          <p:nvSpPr>
            <p:cNvPr id="27" name="TextBox 27"/>
            <p:cNvSpPr txBox="1"/>
            <p:nvPr/>
          </p:nvSpPr>
          <p:spPr>
            <a:xfrm>
              <a:off x="983742" y="4883468"/>
              <a:ext cx="5989603"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Ölçüt: churn probleminde doğru algoritmayı seçip gerekçelendirmek</a:t>
              </a:r>
            </a:p>
          </p:txBody>
        </p:sp>
      </p:grpSp>
      <p:grpSp>
        <p:nvGrpSpPr>
          <p:cNvPr id="31" name="objective-success"/>
          <p:cNvGrpSpPr/>
          <p:nvPr/>
        </p:nvGrpSpPr>
        <p:grpSpPr>
          <a:xfrm>
            <a:off x="609600" y="5372100"/>
            <a:ext cx="10972800" cy="819150"/>
            <a:chOff x="609600" y="5372100"/>
            <a:chExt cx="10972800" cy="819150"/>
          </a:xfrm>
        </p:grpSpPr>
        <p:sp>
          <p:nvSpPr>
            <p:cNvPr id="29" name="Rectangle 29"/>
            <p:cNvSpPr/>
            <p:nvPr/>
          </p:nvSpPr>
          <p:spPr>
            <a:xfrm>
              <a:off x="609600" y="5372100"/>
              <a:ext cx="10972800" cy="819150"/>
            </a:xfrm>
            <a:prstGeom prst="roundRect">
              <a:avLst>
                <a:gd name="adj" fmla="val 9302"/>
              </a:avLst>
            </a:prstGeom>
            <a:solidFill>
              <a:srgbClr val="EAF4F6"/>
            </a:solidFill>
            <a:ln>
              <a:noFill/>
            </a:ln>
          </p:spPr>
        </p:sp>
        <p:sp>
          <p:nvSpPr>
            <p:cNvPr id="30" name="TextBox 30"/>
            <p:cNvSpPr txBox="1"/>
            <p:nvPr/>
          </p:nvSpPr>
          <p:spPr>
            <a:xfrm>
              <a:off x="908304" y="5471160"/>
              <a:ext cx="8213217" cy="653796"/>
            </a:xfrm>
            <a:prstGeom prst="rect">
              <a:avLst/>
            </a:prstGeom>
            <a:noFill/>
            <a:ln>
              <a:noFill/>
            </a:ln>
          </p:spPr>
          <p:txBody>
            <a:bodyPr wrap="none" lIns="0" tIns="0" rIns="0" bIns="0" anchor="t" anchorCtr="0">
              <a:spAutoFit/>
            </a:bodyPr>
            <a:lstStyle/>
            <a:p>
              <a:pPr algn="l">
                <a:lnSpc>
                  <a:spcPts val="1650"/>
                </a:lnSpc>
              </a:pPr>
              <a:r>
                <a:rPr lang="tr-TR" sz="1200" b="1" dirty="0">
                  <a:solidFill>
                    <a:srgbClr val="12355B"/>
                  </a:solidFill>
                  <a:latin typeface="+mn-lt"/>
                  <a:ea typeface="+mn-ea"/>
                  <a:cs typeface="+mn-cs"/>
                </a:rPr>
                <a:t>Başarı ölçütü: Ham bir churn veri kümesinde karar ağacı, k-NN ve Naive Bayes modellerini</a:t>
              </a:r>
              <a:br/>
              <a:r>
                <a:rPr lang="tr-TR" sz="1200" dirty="0">
                  <a:solidFill>
                    <a:srgbClr val="172B3A"/>
                  </a:solidFill>
                  <a:latin typeface="+mn-lt"/>
                  <a:ea typeface="+mn-ea"/>
                  <a:cs typeface="+mn-cs"/>
                </a:rPr>
                <a:t>doğru veri temsiliyle (ölçeklenmiş/ham) eğitip test edebiliyor, her algoritmanın mantığını</a:t>
              </a:r>
              <a:br/>
              <a:r>
                <a:rPr lang="tr-TR" sz="1200" b="1" dirty="0">
                  <a:solidFill>
                    <a:srgbClr val="12355B"/>
                  </a:solidFill>
                  <a:latin typeface="+mn-lt"/>
                  <a:ea typeface="+mn-ea"/>
                  <a:cs typeface="+mn-cs"/>
                </a:rPr>
                <a:t>gösterip hangi senaryoda hangisinin tercih edileceğini gerekçelendirebiliyorsanız hedef tamamlanmıştır.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10139195" cy="668845"/>
            <a:chOff x="609600" y="171450"/>
            <a:chExt cx="10139195" cy="668845"/>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94488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üç sınıflandırma algoritması</a:t>
              </a:r>
            </a:p>
          </p:txBody>
        </p:sp>
      </p:grpSp>
      <p:grpSp>
        <p:nvGrpSpPr>
          <p:cNvPr id="48" name="concept-map"/>
          <p:cNvGrpSpPr/>
          <p:nvPr/>
        </p:nvGrpSpPr>
        <p:grpSpPr>
          <a:xfrm>
            <a:off x="685800" y="1447800"/>
            <a:ext cx="10287000" cy="4876800"/>
            <a:chOff x="685800" y="1447800"/>
            <a:chExt cx="10287000" cy="4876800"/>
          </a:xfrm>
        </p:grpSpPr>
        <p:grpSp>
          <p:nvGrpSpPr>
            <p:cNvPr id="24" name="Group 24"/>
            <p:cNvGrpSpPr/>
            <p:nvPr/>
          </p:nvGrpSpPr>
          <p:grpSpPr>
            <a:xfrm>
              <a:off x="3067050" y="1866900"/>
              <a:ext cx="6934200" cy="4057650"/>
              <a:chOff x="3067050" y="1866900"/>
              <a:chExt cx="6934200" cy="4057650"/>
            </a:xfrm>
          </p:grpSpPr>
          <p:sp>
            <p:nvSpPr>
              <p:cNvPr id="19" name="Line 19"/>
              <p:cNvSpPr/>
              <p:nvPr/>
            </p:nvSpPr>
            <p:spPr>
              <a:xfrm flipV="1">
                <a:off x="3067050" y="1866900"/>
                <a:ext cx="1428750" cy="1562100"/>
              </a:xfrm>
              <a:prstGeom prst="line">
                <a:avLst/>
              </a:prstGeom>
              <a:noFill/>
              <a:ln w="23812">
                <a:solidFill>
                  <a:srgbClr val="00A6A6"/>
                </a:solidFill>
                <a:tailEnd type="arrow" w="lg" len="lg"/>
              </a:ln>
            </p:spPr>
          </p:sp>
          <p:sp>
            <p:nvSpPr>
              <p:cNvPr id="20" name="Line 20"/>
              <p:cNvSpPr/>
              <p:nvPr/>
            </p:nvSpPr>
            <p:spPr>
              <a:xfrm>
                <a:off x="3067050" y="3429000"/>
                <a:ext cx="1428750" cy="57150"/>
              </a:xfrm>
              <a:prstGeom prst="line">
                <a:avLst/>
              </a:prstGeom>
              <a:noFill/>
              <a:ln w="23812">
                <a:solidFill>
                  <a:srgbClr val="00A6A6"/>
                </a:solidFill>
                <a:tailEnd type="arrow" w="lg" len="lg"/>
              </a:ln>
            </p:spPr>
          </p:sp>
          <p:sp>
            <p:nvSpPr>
              <p:cNvPr id="21" name="Line 21"/>
              <p:cNvSpPr/>
              <p:nvPr/>
            </p:nvSpPr>
            <p:spPr>
              <a:xfrm>
                <a:off x="3067050" y="3429000"/>
                <a:ext cx="1428750" cy="1676400"/>
              </a:xfrm>
              <a:prstGeom prst="line">
                <a:avLst/>
              </a:prstGeom>
              <a:noFill/>
              <a:ln w="23812">
                <a:solidFill>
                  <a:srgbClr val="00A6A6"/>
                </a:solidFill>
                <a:tailEnd type="arrow" w="lg" len="lg"/>
              </a:ln>
            </p:spPr>
          </p:sp>
          <p:sp>
            <p:nvSpPr>
              <p:cNvPr id="22" name="Line 22"/>
              <p:cNvSpPr/>
              <p:nvPr/>
            </p:nvSpPr>
            <p:spPr>
              <a:xfrm>
                <a:off x="8496300" y="2190750"/>
                <a:ext cx="1504950" cy="3638550"/>
              </a:xfrm>
              <a:prstGeom prst="line">
                <a:avLst/>
              </a:prstGeom>
              <a:noFill/>
              <a:ln w="19050">
                <a:solidFill>
                  <a:srgbClr val="52616B"/>
                </a:solidFill>
                <a:custDash>
                  <a:ds d="300000" sp="200000"/>
                </a:custDash>
                <a:tailEnd type="arrow" w="lg" len="lg"/>
              </a:ln>
            </p:spPr>
          </p:sp>
          <p:sp>
            <p:nvSpPr>
              <p:cNvPr id="23" name="Line 23"/>
              <p:cNvSpPr/>
              <p:nvPr/>
            </p:nvSpPr>
            <p:spPr>
              <a:xfrm>
                <a:off x="8496300" y="5429250"/>
                <a:ext cx="1504950" cy="495300"/>
              </a:xfrm>
              <a:prstGeom prst="line">
                <a:avLst/>
              </a:prstGeom>
              <a:noFill/>
              <a:ln w="19050">
                <a:solidFill>
                  <a:srgbClr val="52616B"/>
                </a:solidFill>
                <a:custDash>
                  <a:ds d="300000" sp="200000"/>
                </a:custDash>
                <a:tailEnd type="arrow" w="lg" len="lg"/>
              </a:ln>
            </p:spPr>
          </p:sp>
        </p:grpSp>
        <p:grpSp>
          <p:nvGrpSpPr>
            <p:cNvPr id="27" name="map-hub"/>
            <p:cNvGrpSpPr/>
            <p:nvPr/>
          </p:nvGrpSpPr>
          <p:grpSpPr>
            <a:xfrm>
              <a:off x="685800" y="2571750"/>
              <a:ext cx="2381250" cy="1714500"/>
              <a:chOff x="685800" y="2571750"/>
              <a:chExt cx="2381250" cy="1714500"/>
            </a:xfrm>
          </p:grpSpPr>
          <p:sp>
            <p:nvSpPr>
              <p:cNvPr id="25" name="Rectangle 25"/>
              <p:cNvSpPr/>
              <p:nvPr/>
            </p:nvSpPr>
            <p:spPr>
              <a:xfrm>
                <a:off x="685800" y="2571750"/>
                <a:ext cx="2381250" cy="1714500"/>
              </a:xfrm>
              <a:prstGeom prst="roundRect">
                <a:avLst>
                  <a:gd name="adj" fmla="val 5556"/>
                </a:avLst>
              </a:prstGeom>
              <a:solidFill>
                <a:srgbClr val="12355B"/>
              </a:solidFill>
              <a:ln>
                <a:noFill/>
              </a:ln>
            </p:spPr>
          </p:sp>
          <p:sp>
            <p:nvSpPr>
              <p:cNvPr id="26" name="TextBox 26"/>
              <p:cNvSpPr txBox="1"/>
              <p:nvPr/>
            </p:nvSpPr>
            <p:spPr>
              <a:xfrm>
                <a:off x="941832" y="2916555"/>
                <a:ext cx="2009585" cy="734568"/>
              </a:xfrm>
              <a:prstGeom prst="rect">
                <a:avLst/>
              </a:prstGeom>
              <a:noFill/>
              <a:ln>
                <a:noFill/>
              </a:ln>
            </p:spPr>
            <p:txBody>
              <a:bodyPr wrap="none" lIns="0" tIns="0" rIns="0" bIns="0" anchor="t" anchorCtr="0">
                <a:spAutoFit/>
              </a:bodyPr>
              <a:lstStyle/>
              <a:p>
                <a:pPr algn="l">
                  <a:lnSpc>
                    <a:spcPts val="2550"/>
                  </a:lnSpc>
                </a:pPr>
                <a:r>
                  <a:rPr lang="tr-TR" sz="2100" b="1" dirty="0">
                    <a:solidFill>
                      <a:srgbClr val="FFFFFF"/>
                    </a:solidFill>
                    <a:latin typeface="+mn-lt"/>
                    <a:ea typeface="+mn-ea"/>
                    <a:cs typeface="+mn-cs"/>
                  </a:rPr>
                  <a:t>Sınıflandırma</a:t>
                </a:r>
              </a:p>
              <a:p>
                <a:pPr algn="l">
                  <a:lnSpc>
                    <a:spcPts val="2550"/>
                  </a:lnSpc>
                </a:pPr>
                <a:r>
                  <a:rPr lang="tr-TR" sz="1350" dirty="0">
                    <a:solidFill>
                      <a:srgbClr val="EAF4F6"/>
                    </a:solidFill>
                    <a:latin typeface="+mn-lt"/>
                    <a:ea typeface="+mn-ea"/>
                    <a:cs typeface="+mn-cs"/>
                  </a:rPr>
                  <a:t>(gözetimli öğrenme)</a:t>
                </a:r>
              </a:p>
            </p:txBody>
          </p:sp>
        </p:grpSp>
        <p:grpSp>
          <p:nvGrpSpPr>
            <p:cNvPr id="31" name="map-node-tree"/>
            <p:cNvGrpSpPr/>
            <p:nvPr/>
          </p:nvGrpSpPr>
          <p:grpSpPr>
            <a:xfrm>
              <a:off x="4572000" y="1447800"/>
              <a:ext cx="4394025" cy="838200"/>
              <a:chOff x="4572000" y="1447800"/>
              <a:chExt cx="4394025" cy="838200"/>
            </a:xfrm>
          </p:grpSpPr>
          <p:sp>
            <p:nvSpPr>
              <p:cNvPr id="28" name="Rectangle 28"/>
              <p:cNvSpPr/>
              <p:nvPr/>
            </p:nvSpPr>
            <p:spPr>
              <a:xfrm>
                <a:off x="4572000" y="1447800"/>
                <a:ext cx="3810000" cy="838200"/>
              </a:xfrm>
              <a:prstGeom prst="roundRect">
                <a:avLst>
                  <a:gd name="adj" fmla="val 11364"/>
                </a:avLst>
              </a:prstGeom>
              <a:solidFill>
                <a:srgbClr val="FFFFFF"/>
              </a:solidFill>
              <a:ln w="14288">
                <a:solidFill>
                  <a:srgbClr val="2E86AB"/>
                </a:solidFill>
              </a:ln>
            </p:spPr>
          </p:sp>
          <p:sp>
            <p:nvSpPr>
              <p:cNvPr id="29" name="TextBox 29"/>
              <p:cNvSpPr txBox="1"/>
              <p:nvPr/>
            </p:nvSpPr>
            <p:spPr>
              <a:xfrm>
                <a:off x="4791456" y="1596390"/>
                <a:ext cx="15106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Karar Ağacı</a:t>
                </a:r>
              </a:p>
            </p:txBody>
          </p:sp>
          <p:sp>
            <p:nvSpPr>
              <p:cNvPr id="30" name="TextBox 30"/>
              <p:cNvSpPr txBox="1"/>
              <p:nvPr/>
            </p:nvSpPr>
            <p:spPr>
              <a:xfrm>
                <a:off x="4793742" y="1911668"/>
                <a:ext cx="4172283"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if-then kurallarıyla Gini/entropi'ye göre böler</a:t>
                </a:r>
              </a:p>
            </p:txBody>
          </p:sp>
        </p:grpSp>
        <p:grpSp>
          <p:nvGrpSpPr>
            <p:cNvPr id="35" name="map-node-knn"/>
            <p:cNvGrpSpPr/>
            <p:nvPr/>
          </p:nvGrpSpPr>
          <p:grpSpPr>
            <a:xfrm>
              <a:off x="4572000" y="3067050"/>
              <a:ext cx="3951980" cy="838200"/>
              <a:chOff x="4572000" y="3067050"/>
              <a:chExt cx="3951980" cy="838200"/>
            </a:xfrm>
          </p:grpSpPr>
          <p:sp>
            <p:nvSpPr>
              <p:cNvPr id="32" name="Rectangle 32"/>
              <p:cNvSpPr/>
              <p:nvPr/>
            </p:nvSpPr>
            <p:spPr>
              <a:xfrm>
                <a:off x="4572000" y="3067050"/>
                <a:ext cx="3810000" cy="838200"/>
              </a:xfrm>
              <a:prstGeom prst="roundRect">
                <a:avLst>
                  <a:gd name="adj" fmla="val 11364"/>
                </a:avLst>
              </a:prstGeom>
              <a:solidFill>
                <a:srgbClr val="FFFFFF"/>
              </a:solidFill>
              <a:ln w="14288">
                <a:solidFill>
                  <a:srgbClr val="2E86AB"/>
                </a:solidFill>
              </a:ln>
            </p:spPr>
          </p:sp>
          <p:sp>
            <p:nvSpPr>
              <p:cNvPr id="33" name="TextBox 33"/>
              <p:cNvSpPr txBox="1"/>
              <p:nvPr/>
            </p:nvSpPr>
            <p:spPr>
              <a:xfrm>
                <a:off x="4791456" y="3215640"/>
                <a:ext cx="59916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k-NN</a:t>
                </a:r>
              </a:p>
            </p:txBody>
          </p:sp>
          <p:sp>
            <p:nvSpPr>
              <p:cNvPr id="34" name="TextBox 34"/>
              <p:cNvSpPr txBox="1"/>
              <p:nvPr/>
            </p:nvSpPr>
            <p:spPr>
              <a:xfrm>
                <a:off x="4793742" y="3530918"/>
                <a:ext cx="3730238"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en yakın k komşunun çoğunluk oyuna bakar</a:t>
                </a:r>
              </a:p>
            </p:txBody>
          </p:sp>
        </p:grpSp>
        <p:grpSp>
          <p:nvGrpSpPr>
            <p:cNvPr id="39" name="map-node-nb"/>
            <p:cNvGrpSpPr/>
            <p:nvPr/>
          </p:nvGrpSpPr>
          <p:grpSpPr>
            <a:xfrm>
              <a:off x="4572000" y="4686300"/>
              <a:ext cx="4166675" cy="838200"/>
              <a:chOff x="4572000" y="4686300"/>
              <a:chExt cx="4166675" cy="838200"/>
            </a:xfrm>
          </p:grpSpPr>
          <p:sp>
            <p:nvSpPr>
              <p:cNvPr id="36" name="Rectangle 36"/>
              <p:cNvSpPr/>
              <p:nvPr/>
            </p:nvSpPr>
            <p:spPr>
              <a:xfrm>
                <a:off x="4572000" y="4686300"/>
                <a:ext cx="3810000" cy="838200"/>
              </a:xfrm>
              <a:prstGeom prst="roundRect">
                <a:avLst>
                  <a:gd name="adj" fmla="val 11364"/>
                </a:avLst>
              </a:prstGeom>
              <a:solidFill>
                <a:srgbClr val="FFFFFF"/>
              </a:solidFill>
              <a:ln w="14288">
                <a:solidFill>
                  <a:srgbClr val="2E86AB"/>
                </a:solidFill>
              </a:ln>
            </p:spPr>
          </p:sp>
          <p:sp>
            <p:nvSpPr>
              <p:cNvPr id="37" name="TextBox 37"/>
              <p:cNvSpPr txBox="1"/>
              <p:nvPr/>
            </p:nvSpPr>
            <p:spPr>
              <a:xfrm>
                <a:off x="4791456" y="4834890"/>
                <a:ext cx="144637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Naive Bayes</a:t>
                </a:r>
              </a:p>
            </p:txBody>
          </p:sp>
          <p:sp>
            <p:nvSpPr>
              <p:cNvPr id="38" name="TextBox 38"/>
              <p:cNvSpPr txBox="1"/>
              <p:nvPr/>
            </p:nvSpPr>
            <p:spPr>
              <a:xfrm>
                <a:off x="4793742" y="5150168"/>
                <a:ext cx="3944933"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Bayes teoremiyle sınıf olasılığını hesaplar</a:t>
                </a:r>
              </a:p>
            </p:txBody>
          </p:sp>
        </p:grpSp>
        <p:grpSp>
          <p:nvGrpSpPr>
            <p:cNvPr id="42" name="map-node-eval"/>
            <p:cNvGrpSpPr/>
            <p:nvPr/>
          </p:nvGrpSpPr>
          <p:grpSpPr>
            <a:xfrm>
              <a:off x="4572000" y="5676900"/>
              <a:ext cx="6400800" cy="647700"/>
              <a:chOff x="4572000" y="5676900"/>
              <a:chExt cx="6400800" cy="647700"/>
            </a:xfrm>
          </p:grpSpPr>
          <p:sp>
            <p:nvSpPr>
              <p:cNvPr id="40" name="Rectangle 40"/>
              <p:cNvSpPr/>
              <p:nvPr/>
            </p:nvSpPr>
            <p:spPr>
              <a:xfrm>
                <a:off x="4572000" y="5676900"/>
                <a:ext cx="6400800" cy="647700"/>
              </a:xfrm>
              <a:prstGeom prst="roundRect">
                <a:avLst>
                  <a:gd name="adj" fmla="val 14706"/>
                </a:avLst>
              </a:prstGeom>
              <a:solidFill>
                <a:srgbClr val="EAF4F6"/>
              </a:solidFill>
              <a:ln w="14288">
                <a:solidFill>
                  <a:srgbClr val="00A6A6"/>
                </a:solidFill>
              </a:ln>
            </p:spPr>
          </p:sp>
          <p:sp>
            <p:nvSpPr>
              <p:cNvPr id="41" name="TextBox 41"/>
              <p:cNvSpPr txBox="1"/>
              <p:nvPr/>
            </p:nvSpPr>
            <p:spPr>
              <a:xfrm>
                <a:off x="4792599" y="5754529"/>
                <a:ext cx="5251723" cy="498539"/>
              </a:xfrm>
              <a:prstGeom prst="rect">
                <a:avLst/>
              </a:prstGeom>
              <a:noFill/>
              <a:ln>
                <a:noFill/>
              </a:ln>
            </p:spPr>
            <p:txBody>
              <a:bodyPr wrap="none" lIns="0" tIns="0" rIns="0" bIns="0" anchor="t" anchorCtr="0">
                <a:spAutoFit/>
              </a:bodyPr>
              <a:lstStyle/>
              <a:p>
                <a:pPr algn="l">
                  <a:lnSpc>
                    <a:spcPts val="1500"/>
                  </a:lnSpc>
                </a:pPr>
                <a:r>
                  <a:rPr lang="tr-TR" sz="1580" b="1" dirty="0">
                    <a:solidFill>
                      <a:srgbClr val="12355B"/>
                    </a:solidFill>
                    <a:latin typeface="+mn-lt"/>
                    <a:ea typeface="+mn-ea"/>
                    <a:cs typeface="+mn-cs"/>
                  </a:rPr>
                  <a:t>Ortak değerlendirme: accuracy, precision, recall,</a:t>
                </a:r>
                <a:br/>
                <a:r>
                  <a:rPr lang="tr-TR" sz="1580" dirty="0">
                    <a:solidFill>
                      <a:srgbClr val="52616B"/>
                    </a:solidFill>
                    <a:latin typeface="+mn-lt"/>
                    <a:ea typeface="+mn-ea"/>
                    <a:cs typeface="+mn-cs"/>
                  </a:rPr>
                  <a:t>confusion matrix ile karşılaştırılır</a:t>
                </a:r>
              </a:p>
            </p:txBody>
          </p:sp>
        </p:grpSp>
        <p:grpSp>
          <p:nvGrpSpPr>
            <p:cNvPr id="47" name="map-legend"/>
            <p:cNvGrpSpPr/>
            <p:nvPr/>
          </p:nvGrpSpPr>
          <p:grpSpPr>
            <a:xfrm>
              <a:off x="685800" y="4594860"/>
              <a:ext cx="3601800" cy="577596"/>
              <a:chOff x="685800" y="4594860"/>
              <a:chExt cx="3601800" cy="577596"/>
            </a:xfrm>
          </p:grpSpPr>
          <p:sp>
            <p:nvSpPr>
              <p:cNvPr id="43" name="Line 43"/>
              <p:cNvSpPr/>
              <p:nvPr/>
            </p:nvSpPr>
            <p:spPr>
              <a:xfrm>
                <a:off x="685800" y="4667250"/>
                <a:ext cx="304800" cy="1"/>
              </a:xfrm>
              <a:prstGeom prst="line">
                <a:avLst/>
              </a:prstGeom>
              <a:noFill/>
              <a:ln w="23812">
                <a:solidFill>
                  <a:srgbClr val="00A6A6"/>
                </a:solidFill>
                <a:tailEnd type="arrow" w="lg" len="lg"/>
              </a:ln>
            </p:spPr>
          </p:sp>
          <p:sp>
            <p:nvSpPr>
              <p:cNvPr id="44" name="TextBox 44"/>
              <p:cNvSpPr txBox="1"/>
              <p:nvPr/>
            </p:nvSpPr>
            <p:spPr>
              <a:xfrm>
                <a:off x="1079754" y="4594860"/>
                <a:ext cx="32078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Sınıflandırmanın somut bir algoritması</a:t>
                </a:r>
              </a:p>
            </p:txBody>
          </p:sp>
          <p:sp>
            <p:nvSpPr>
              <p:cNvPr id="45" name="Line 45"/>
              <p:cNvSpPr/>
              <p:nvPr/>
            </p:nvSpPr>
            <p:spPr>
              <a:xfrm>
                <a:off x="685800" y="5010150"/>
                <a:ext cx="304800" cy="1"/>
              </a:xfrm>
              <a:prstGeom prst="line">
                <a:avLst/>
              </a:prstGeom>
              <a:noFill/>
              <a:ln w="19050">
                <a:solidFill>
                  <a:srgbClr val="52616B"/>
                </a:solidFill>
                <a:custDash>
                  <a:ds d="300000" sp="200000"/>
                </a:custDash>
                <a:tailEnd type="arrow" w="lg" len="lg"/>
              </a:ln>
            </p:spPr>
          </p:sp>
          <p:sp>
            <p:nvSpPr>
              <p:cNvPr id="46" name="TextBox 46"/>
              <p:cNvSpPr txBox="1"/>
              <p:nvPr/>
            </p:nvSpPr>
            <p:spPr>
              <a:xfrm>
                <a:off x="1079754" y="4937760"/>
                <a:ext cx="236724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ölçütlerle değerlendirilir</a:t>
                </a:r>
              </a:p>
            </p:txBody>
          </p:sp>
        </p:gr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4942352" cy="668845"/>
            <a:chOff x="609600" y="171450"/>
            <a:chExt cx="4942352"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425198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Sınıflandırma nedir?</a:t>
              </a:r>
            </a:p>
          </p:txBody>
        </p:sp>
      </p:grpSp>
      <p:grpSp>
        <p:nvGrpSpPr>
          <p:cNvPr id="10" name="scenario"/>
          <p:cNvGrpSpPr/>
          <p:nvPr/>
        </p:nvGrpSpPr>
        <p:grpSpPr>
          <a:xfrm>
            <a:off x="601599" y="1258729"/>
            <a:ext cx="8885174" cy="574738"/>
            <a:chOff x="601599" y="1258729"/>
            <a:chExt cx="8885174" cy="574738"/>
          </a:xfrm>
        </p:grpSpPr>
        <p:sp>
          <p:nvSpPr>
            <p:cNvPr id="9" name="TextBox 9"/>
            <p:cNvSpPr txBox="1"/>
            <p:nvPr/>
          </p:nvSpPr>
          <p:spPr>
            <a:xfrm>
              <a:off x="601599" y="1258729"/>
              <a:ext cx="8885174"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Elif, telekomünikasyon şirketinde stajyerdir: her satırın bir aboneyi temsil ettiği tabloda</a:t>
              </a:r>
              <a:br/>
              <a:r>
                <a:rPr lang="tr-TR" sz="1580" dirty="0">
                  <a:solidFill>
                    <a:srgbClr val="172B3A"/>
                  </a:solidFill>
                  <a:latin typeface="+mn-lt"/>
                  <a:ea typeface="+mn-ea"/>
                  <a:cs typeface="+mn-cs"/>
                </a:rPr>
                <a:t>"bu müşteri gelecek ay ayrılacak mı, kalacak mı?" sorusuna yanıt aramaktadır.</a:t>
              </a:r>
            </a:p>
          </p:txBody>
        </p:sp>
      </p:grpSp>
      <p:grpSp>
        <p:nvGrpSpPr>
          <p:cNvPr id="13" name="def-box"/>
          <p:cNvGrpSpPr/>
          <p:nvPr/>
        </p:nvGrpSpPr>
        <p:grpSpPr>
          <a:xfrm>
            <a:off x="609600" y="2209800"/>
            <a:ext cx="10972800" cy="914400"/>
            <a:chOff x="609600" y="2209800"/>
            <a:chExt cx="10972800" cy="914400"/>
          </a:xfrm>
        </p:grpSpPr>
        <p:sp>
          <p:nvSpPr>
            <p:cNvPr id="11" name="Rectangle 11"/>
            <p:cNvSpPr/>
            <p:nvPr/>
          </p:nvSpPr>
          <p:spPr>
            <a:xfrm>
              <a:off x="609600" y="2209800"/>
              <a:ext cx="10972800" cy="914400"/>
            </a:xfrm>
            <a:prstGeom prst="roundRect">
              <a:avLst>
                <a:gd name="adj" fmla="val 8333"/>
              </a:avLst>
            </a:prstGeom>
            <a:solidFill>
              <a:srgbClr val="EAF4F6"/>
            </a:solidFill>
            <a:ln>
              <a:noFill/>
            </a:ln>
          </p:spPr>
        </p:sp>
        <p:sp>
          <p:nvSpPr>
            <p:cNvPr id="12" name="TextBox 12"/>
            <p:cNvSpPr txBox="1"/>
            <p:nvPr/>
          </p:nvSpPr>
          <p:spPr>
            <a:xfrm>
              <a:off x="906399" y="2363629"/>
              <a:ext cx="8022336" cy="5747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Sınıflandırma: girdi özniteliklerine (x) dayanarak bir örneği önceden tanımlı</a:t>
              </a:r>
              <a:br/>
              <a:r>
                <a:rPr lang="tr-TR" sz="1580" dirty="0">
                  <a:solidFill>
                    <a:srgbClr val="172B3A"/>
                  </a:solidFill>
                  <a:latin typeface="+mn-lt"/>
                  <a:ea typeface="+mn-ea"/>
                  <a:cs typeface="+mn-cs"/>
                </a:rPr>
                <a:t>kategorilerden (Y) birine atama görevi — f: x → Y eşlemesini öğrenmektir.</a:t>
              </a:r>
            </a:p>
          </p:txBody>
        </p:sp>
      </p:grpSp>
      <p:grpSp>
        <p:nvGrpSpPr>
          <p:cNvPr id="20" name="compare-regression"/>
          <p:cNvGrpSpPr/>
          <p:nvPr/>
        </p:nvGrpSpPr>
        <p:grpSpPr>
          <a:xfrm>
            <a:off x="609600" y="3352800"/>
            <a:ext cx="5257800" cy="1905000"/>
            <a:chOff x="609600" y="3352800"/>
            <a:chExt cx="5257800" cy="1905000"/>
          </a:xfrm>
        </p:grpSpPr>
        <p:sp>
          <p:nvSpPr>
            <p:cNvPr id="14" name="Rectangle 14"/>
            <p:cNvSpPr/>
            <p:nvPr/>
          </p:nvSpPr>
          <p:spPr>
            <a:xfrm>
              <a:off x="609600" y="3352800"/>
              <a:ext cx="5257800" cy="1905000"/>
            </a:xfrm>
            <a:prstGeom prst="roundRect">
              <a:avLst>
                <a:gd name="adj" fmla="val 5000"/>
              </a:avLst>
            </a:prstGeom>
            <a:solidFill>
              <a:srgbClr val="FFFFFF"/>
            </a:solidFill>
            <a:ln w="14288">
              <a:solidFill>
                <a:srgbClr val="B8CBD3"/>
              </a:solidFill>
            </a:ln>
          </p:spPr>
        </p:sp>
        <p:sp>
          <p:nvSpPr>
            <p:cNvPr id="15" name="TextBox 15"/>
            <p:cNvSpPr txBox="1"/>
            <p:nvPr/>
          </p:nvSpPr>
          <p:spPr>
            <a:xfrm>
              <a:off x="829056" y="3539490"/>
              <a:ext cx="12856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Regresyon</a:t>
              </a:r>
            </a:p>
          </p:txBody>
        </p:sp>
        <p:sp>
          <p:nvSpPr>
            <p:cNvPr id="16" name="TextBox 16"/>
            <p:cNvSpPr txBox="1"/>
            <p:nvPr/>
          </p:nvSpPr>
          <p:spPr>
            <a:xfrm>
              <a:off x="831342" y="3911918"/>
              <a:ext cx="300893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Çıktı sürekli bir sayısal değerdir</a:t>
              </a:r>
            </a:p>
          </p:txBody>
        </p:sp>
        <p:sp>
          <p:nvSpPr>
            <p:cNvPr id="17" name="TextBox 17"/>
            <p:cNvSpPr txBox="1"/>
            <p:nvPr/>
          </p:nvSpPr>
          <p:spPr>
            <a:xfrm>
              <a:off x="831342" y="4178618"/>
              <a:ext cx="2346880"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"Bu evin fiyatı ne kadar?"</a:t>
              </a:r>
            </a:p>
          </p:txBody>
        </p:sp>
        <p:sp>
          <p:nvSpPr>
            <p:cNvPr id="18" name="TextBox 18"/>
            <p:cNvSpPr txBox="1"/>
            <p:nvPr/>
          </p:nvSpPr>
          <p:spPr>
            <a:xfrm>
              <a:off x="831342" y="4483418"/>
              <a:ext cx="350054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"Bu hastanın ateşi kaç derece olacak?"</a:t>
              </a:r>
            </a:p>
          </p:txBody>
        </p:sp>
        <p:sp>
          <p:nvSpPr>
            <p:cNvPr id="19" name="TextBox 19"/>
            <p:cNvSpPr txBox="1"/>
            <p:nvPr/>
          </p:nvSpPr>
          <p:spPr>
            <a:xfrm>
              <a:off x="831342" y="4788218"/>
              <a:ext cx="245498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Aranan şey: sürekli bir eğri</a:t>
              </a:r>
            </a:p>
          </p:txBody>
        </p:sp>
      </p:grpSp>
      <p:grpSp>
        <p:nvGrpSpPr>
          <p:cNvPr id="27" name="compare-classification"/>
          <p:cNvGrpSpPr/>
          <p:nvPr/>
        </p:nvGrpSpPr>
        <p:grpSpPr>
          <a:xfrm>
            <a:off x="6324600" y="3352800"/>
            <a:ext cx="5257800" cy="1905000"/>
            <a:chOff x="6324600" y="3352800"/>
            <a:chExt cx="5257800" cy="1905000"/>
          </a:xfrm>
        </p:grpSpPr>
        <p:sp>
          <p:nvSpPr>
            <p:cNvPr id="21" name="Rectangle 21"/>
            <p:cNvSpPr/>
            <p:nvPr/>
          </p:nvSpPr>
          <p:spPr>
            <a:xfrm>
              <a:off x="6324600" y="3352800"/>
              <a:ext cx="5257800" cy="1905000"/>
            </a:xfrm>
            <a:prstGeom prst="roundRect">
              <a:avLst>
                <a:gd name="adj" fmla="val 5000"/>
              </a:avLst>
            </a:prstGeom>
            <a:solidFill>
              <a:srgbClr val="EAF4F6"/>
            </a:solidFill>
            <a:ln w="14288">
              <a:solidFill>
                <a:srgbClr val="00A6A6"/>
              </a:solidFill>
            </a:ln>
          </p:spPr>
        </p:sp>
        <p:sp>
          <p:nvSpPr>
            <p:cNvPr id="22" name="TextBox 22"/>
            <p:cNvSpPr txBox="1"/>
            <p:nvPr/>
          </p:nvSpPr>
          <p:spPr>
            <a:xfrm>
              <a:off x="6544056" y="3539490"/>
              <a:ext cx="18326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Sınıflandırma</a:t>
              </a:r>
            </a:p>
          </p:txBody>
        </p:sp>
        <p:sp>
          <p:nvSpPr>
            <p:cNvPr id="23" name="TextBox 23"/>
            <p:cNvSpPr txBox="1"/>
            <p:nvPr/>
          </p:nvSpPr>
          <p:spPr>
            <a:xfrm>
              <a:off x="6546342" y="3911918"/>
              <a:ext cx="317226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Çıktı kesikli bir kategori etiketidir</a:t>
              </a:r>
            </a:p>
          </p:txBody>
        </p:sp>
        <p:sp>
          <p:nvSpPr>
            <p:cNvPr id="24" name="TextBox 24"/>
            <p:cNvSpPr txBox="1"/>
            <p:nvPr/>
          </p:nvSpPr>
          <p:spPr>
            <a:xfrm>
              <a:off x="6546342" y="4178618"/>
              <a:ext cx="291955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"Bu müşteri churn mü, değil mi?"</a:t>
              </a:r>
            </a:p>
          </p:txBody>
        </p:sp>
        <p:sp>
          <p:nvSpPr>
            <p:cNvPr id="25" name="TextBox 25"/>
            <p:cNvSpPr txBox="1"/>
            <p:nvPr/>
          </p:nvSpPr>
          <p:spPr>
            <a:xfrm>
              <a:off x="6546342" y="4483418"/>
              <a:ext cx="2537897"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"Bu hasta grip mi, değil mi?"</a:t>
              </a:r>
            </a:p>
          </p:txBody>
        </p:sp>
        <p:sp>
          <p:nvSpPr>
            <p:cNvPr id="26" name="TextBox 26"/>
            <p:cNvSpPr txBox="1"/>
            <p:nvPr/>
          </p:nvSpPr>
          <p:spPr>
            <a:xfrm>
              <a:off x="6546342" y="4788218"/>
              <a:ext cx="2591623"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Aranan şey: bir karar sınırı</a:t>
              </a:r>
            </a:p>
          </p:txBody>
        </p:sp>
      </p:grpSp>
      <p:grpSp>
        <p:nvGrpSpPr>
          <p:cNvPr id="29" name="page-footnote"/>
          <p:cNvGrpSpPr/>
          <p:nvPr/>
        </p:nvGrpSpPr>
        <p:grpSpPr>
          <a:xfrm>
            <a:off x="603504" y="5490210"/>
            <a:ext cx="7060692" cy="425196"/>
            <a:chOff x="603504" y="5490210"/>
            <a:chExt cx="7060692" cy="425196"/>
          </a:xfrm>
        </p:grpSpPr>
        <p:sp>
          <p:nvSpPr>
            <p:cNvPr id="28" name="TextBox 28"/>
            <p:cNvSpPr txBox="1"/>
            <p:nvPr/>
          </p:nvSpPr>
          <p:spPr>
            <a:xfrm>
              <a:off x="603504" y="5490210"/>
              <a:ext cx="70606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Pazarlama ekibi kısıtlı bütçeyi yalnızca ayrılma riski yüksek müşterilere yönlendirmek ister —</a:t>
              </a:r>
              <a:br/>
              <a:r>
                <a:rPr lang="tr-TR" sz="1200" dirty="0">
                  <a:solidFill>
                    <a:srgbClr val="52616B"/>
                  </a:solidFill>
                  <a:latin typeface="+mn-lt"/>
                  <a:ea typeface="+mn-ea"/>
                  <a:cs typeface="+mn-cs"/>
                </a:rPr>
                <a:t>bu yüzden churn, klasik bir sınıflandırma problemidir.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73822" cy="557403"/>
            <a:chOff x="595122" y="282892"/>
            <a:chExt cx="7173822" cy="557403"/>
          </a:xfrm>
        </p:grpSpPr>
        <p:sp>
          <p:nvSpPr>
            <p:cNvPr id="4" name="TextBox 4"/>
            <p:cNvSpPr txBox="1"/>
            <p:nvPr/>
          </p:nvSpPr>
          <p:spPr>
            <a:xfrm>
              <a:off x="595122" y="282892"/>
              <a:ext cx="717382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Karar ağacı: kök-dal-yaprak yapısı</a:t>
              </a:r>
            </a:p>
          </p:txBody>
        </p:sp>
      </p:grpSp>
      <p:grpSp>
        <p:nvGrpSpPr>
          <p:cNvPr id="25" name="tree-diagram"/>
          <p:cNvGrpSpPr/>
          <p:nvPr/>
        </p:nvGrpSpPr>
        <p:grpSpPr>
          <a:xfrm>
            <a:off x="603885" y="1333500"/>
            <a:ext cx="4349115" cy="2803684"/>
            <a:chOff x="603885" y="1333500"/>
            <a:chExt cx="4349115" cy="2803684"/>
          </a:xfrm>
        </p:grpSpPr>
        <p:sp>
          <p:nvSpPr>
            <p:cNvPr id="6" name="Line 6"/>
            <p:cNvSpPr/>
            <p:nvPr/>
          </p:nvSpPr>
          <p:spPr>
            <a:xfrm>
              <a:off x="1762125" y="1771650"/>
              <a:ext cx="1666875" cy="438150"/>
            </a:xfrm>
            <a:custGeom>
              <a:avLst/>
              <a:gdLst/>
              <a:ahLst/>
              <a:cxnLst/>
              <a:rect l="l" t="t" r="r" b="b"/>
              <a:pathLst>
                <a:path w="1666875" h="438150">
                  <a:moveTo>
                    <a:pt x="1666875" y="0"/>
                  </a:moveTo>
                  <a:lnTo>
                    <a:pt x="0" y="438150"/>
                  </a:lnTo>
                </a:path>
              </a:pathLst>
            </a:custGeom>
            <a:noFill/>
            <a:ln w="17145">
              <a:solidFill>
                <a:srgbClr val="52616B"/>
              </a:solidFill>
            </a:ln>
          </p:spPr>
        </p:sp>
        <p:sp>
          <p:nvSpPr>
            <p:cNvPr id="7" name="Line 7"/>
            <p:cNvSpPr/>
            <p:nvPr/>
          </p:nvSpPr>
          <p:spPr>
            <a:xfrm>
              <a:off x="3429000" y="1771650"/>
              <a:ext cx="714375" cy="438150"/>
            </a:xfrm>
            <a:custGeom>
              <a:avLst/>
              <a:gdLst/>
              <a:ahLst/>
              <a:cxnLst/>
              <a:rect l="l" t="t" r="r" b="b"/>
              <a:pathLst>
                <a:path w="714375" h="438150">
                  <a:moveTo>
                    <a:pt x="0" y="0"/>
                  </a:moveTo>
                  <a:lnTo>
                    <a:pt x="714375" y="438150"/>
                  </a:lnTo>
                </a:path>
              </a:pathLst>
            </a:custGeom>
            <a:noFill/>
            <a:ln w="17145">
              <a:solidFill>
                <a:srgbClr val="52616B"/>
              </a:solidFill>
            </a:ln>
          </p:spPr>
        </p:sp>
        <p:sp>
          <p:nvSpPr>
            <p:cNvPr id="8" name="Line 8"/>
            <p:cNvSpPr/>
            <p:nvPr/>
          </p:nvSpPr>
          <p:spPr>
            <a:xfrm>
              <a:off x="1323975" y="2686050"/>
              <a:ext cx="438150" cy="438150"/>
            </a:xfrm>
            <a:custGeom>
              <a:avLst/>
              <a:gdLst/>
              <a:ahLst/>
              <a:cxnLst/>
              <a:rect l="l" t="t" r="r" b="b"/>
              <a:pathLst>
                <a:path w="438150" h="438150">
                  <a:moveTo>
                    <a:pt x="438150" y="0"/>
                  </a:moveTo>
                  <a:lnTo>
                    <a:pt x="0" y="438150"/>
                  </a:lnTo>
                </a:path>
              </a:pathLst>
            </a:custGeom>
            <a:noFill/>
            <a:ln w="17145">
              <a:solidFill>
                <a:srgbClr val="52616B"/>
              </a:solidFill>
            </a:ln>
          </p:spPr>
        </p:sp>
        <p:sp>
          <p:nvSpPr>
            <p:cNvPr id="9" name="Line 9"/>
            <p:cNvSpPr/>
            <p:nvPr/>
          </p:nvSpPr>
          <p:spPr>
            <a:xfrm>
              <a:off x="1762125" y="2686050"/>
              <a:ext cx="1181100" cy="438150"/>
            </a:xfrm>
            <a:custGeom>
              <a:avLst/>
              <a:gdLst/>
              <a:ahLst/>
              <a:cxnLst/>
              <a:rect l="l" t="t" r="r" b="b"/>
              <a:pathLst>
                <a:path w="1181100" h="438150">
                  <a:moveTo>
                    <a:pt x="0" y="0"/>
                  </a:moveTo>
                  <a:lnTo>
                    <a:pt x="1181100" y="438150"/>
                  </a:lnTo>
                </a:path>
              </a:pathLst>
            </a:custGeom>
            <a:noFill/>
            <a:ln w="17145">
              <a:solidFill>
                <a:srgbClr val="52616B"/>
              </a:solidFill>
            </a:ln>
          </p:spPr>
        </p:sp>
        <p:sp>
          <p:nvSpPr>
            <p:cNvPr id="10" name="TextBox 10"/>
            <p:cNvSpPr txBox="1"/>
            <p:nvPr/>
          </p:nvSpPr>
          <p:spPr>
            <a:xfrm>
              <a:off x="2328672" y="1875949"/>
              <a:ext cx="30425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Evet</a:t>
              </a:r>
            </a:p>
          </p:txBody>
        </p:sp>
        <p:sp>
          <p:nvSpPr>
            <p:cNvPr id="11" name="TextBox 11"/>
            <p:cNvSpPr txBox="1"/>
            <p:nvPr/>
          </p:nvSpPr>
          <p:spPr>
            <a:xfrm>
              <a:off x="3805047" y="1875949"/>
              <a:ext cx="37681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Hayır</a:t>
              </a:r>
            </a:p>
          </p:txBody>
        </p:sp>
        <p:sp>
          <p:nvSpPr>
            <p:cNvPr id="12" name="TextBox 12"/>
            <p:cNvSpPr txBox="1"/>
            <p:nvPr/>
          </p:nvSpPr>
          <p:spPr>
            <a:xfrm>
              <a:off x="1233297" y="2790349"/>
              <a:ext cx="30425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Evet</a:t>
              </a:r>
            </a:p>
          </p:txBody>
        </p:sp>
        <p:sp>
          <p:nvSpPr>
            <p:cNvPr id="13" name="TextBox 13"/>
            <p:cNvSpPr txBox="1"/>
            <p:nvPr/>
          </p:nvSpPr>
          <p:spPr>
            <a:xfrm>
              <a:off x="2423922" y="2790349"/>
              <a:ext cx="37681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Hayır</a:t>
              </a:r>
            </a:p>
          </p:txBody>
        </p:sp>
        <p:sp>
          <p:nvSpPr>
            <p:cNvPr id="14" name="Rectangle 14"/>
            <p:cNvSpPr/>
            <p:nvPr/>
          </p:nvSpPr>
          <p:spPr>
            <a:xfrm>
              <a:off x="2571750" y="1333500"/>
              <a:ext cx="1714500" cy="438150"/>
            </a:xfrm>
            <a:prstGeom prst="roundRect">
              <a:avLst>
                <a:gd name="adj" fmla="val 17391"/>
              </a:avLst>
            </a:prstGeom>
            <a:solidFill>
              <a:srgbClr val="12355B"/>
            </a:solidFill>
            <a:ln>
              <a:noFill/>
            </a:ln>
          </p:spPr>
        </p:sp>
        <p:sp>
          <p:nvSpPr>
            <p:cNvPr id="15" name="TextBox 15"/>
            <p:cNvSpPr txBox="1"/>
            <p:nvPr/>
          </p:nvSpPr>
          <p:spPr>
            <a:xfrm>
              <a:off x="2936255" y="1488281"/>
              <a:ext cx="985490" cy="220028"/>
            </a:xfrm>
            <a:prstGeom prst="rect">
              <a:avLst/>
            </a:prstGeom>
            <a:noFill/>
            <a:ln>
              <a:noFill/>
            </a:ln>
          </p:spPr>
          <p:txBody>
            <a:bodyPr wrap="none" lIns="0" tIns="0" rIns="0" bIns="0" anchor="t" anchorCtr="0">
              <a:spAutoFit/>
            </a:bodyPr>
            <a:lstStyle/>
            <a:p>
              <a:pPr algn="ctr"/>
              <a:r>
                <a:rPr lang="tr-TR" sz="1120" dirty="0">
                  <a:solidFill>
                    <a:srgbClr val="FFFFFF"/>
                  </a:solidFill>
                  <a:latin typeface="+mn-lt"/>
                  <a:ea typeface="+mn-ea"/>
                  <a:cs typeface="+mn-cs"/>
                </a:rPr>
                <a:t>Süre &lt; 12 ay?</a:t>
              </a:r>
            </a:p>
          </p:txBody>
        </p:sp>
        <p:sp>
          <p:nvSpPr>
            <p:cNvPr id="16" name="Rectangle 16"/>
            <p:cNvSpPr/>
            <p:nvPr/>
          </p:nvSpPr>
          <p:spPr>
            <a:xfrm>
              <a:off x="952500" y="2209800"/>
              <a:ext cx="1619250" cy="476250"/>
            </a:xfrm>
            <a:prstGeom prst="roundRect">
              <a:avLst>
                <a:gd name="adj" fmla="val 16000"/>
              </a:avLst>
            </a:prstGeom>
            <a:solidFill>
              <a:srgbClr val="2E86AB"/>
            </a:solidFill>
            <a:ln>
              <a:noFill/>
            </a:ln>
          </p:spPr>
        </p:sp>
        <p:sp>
          <p:nvSpPr>
            <p:cNvPr id="17" name="TextBox 17"/>
            <p:cNvSpPr txBox="1"/>
            <p:nvPr/>
          </p:nvSpPr>
          <p:spPr>
            <a:xfrm>
              <a:off x="1311829" y="2383631"/>
              <a:ext cx="900593" cy="220028"/>
            </a:xfrm>
            <a:prstGeom prst="rect">
              <a:avLst/>
            </a:prstGeom>
            <a:noFill/>
            <a:ln>
              <a:noFill/>
            </a:ln>
          </p:spPr>
          <p:txBody>
            <a:bodyPr wrap="none" lIns="0" tIns="0" rIns="0" bIns="0" anchor="t" anchorCtr="0">
              <a:spAutoFit/>
            </a:bodyPr>
            <a:lstStyle/>
            <a:p>
              <a:pPr algn="ctr"/>
              <a:r>
                <a:rPr lang="tr-TR" sz="1120" dirty="0">
                  <a:solidFill>
                    <a:srgbClr val="FFFFFF"/>
                  </a:solidFill>
                  <a:latin typeface="+mn-lt"/>
                  <a:ea typeface="+mn-ea"/>
                  <a:cs typeface="+mn-cs"/>
                </a:rPr>
                <a:t>Şikâyet ≥ 3?</a:t>
              </a:r>
            </a:p>
          </p:txBody>
        </p:sp>
        <p:sp>
          <p:nvSpPr>
            <p:cNvPr id="18" name="Rectangle 18"/>
            <p:cNvSpPr/>
            <p:nvPr/>
          </p:nvSpPr>
          <p:spPr>
            <a:xfrm>
              <a:off x="3333750" y="2209800"/>
              <a:ext cx="1619250" cy="476250"/>
            </a:xfrm>
            <a:prstGeom prst="roundRect">
              <a:avLst>
                <a:gd name="adj" fmla="val 16000"/>
              </a:avLst>
            </a:prstGeom>
            <a:solidFill>
              <a:srgbClr val="EAF4F6"/>
            </a:solidFill>
            <a:ln w="14288">
              <a:solidFill>
                <a:srgbClr val="00A6A6"/>
              </a:solidFill>
            </a:ln>
          </p:spPr>
        </p:sp>
        <p:sp>
          <p:nvSpPr>
            <p:cNvPr id="19" name="TextBox 19"/>
            <p:cNvSpPr txBox="1"/>
            <p:nvPr/>
          </p:nvSpPr>
          <p:spPr>
            <a:xfrm>
              <a:off x="3815657" y="2383631"/>
              <a:ext cx="655436"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KALACAK</a:t>
              </a:r>
            </a:p>
          </p:txBody>
        </p:sp>
        <p:sp>
          <p:nvSpPr>
            <p:cNvPr id="20" name="Rectangle 20"/>
            <p:cNvSpPr/>
            <p:nvPr/>
          </p:nvSpPr>
          <p:spPr>
            <a:xfrm>
              <a:off x="609600" y="3124200"/>
              <a:ext cx="1428750" cy="476250"/>
            </a:xfrm>
            <a:prstGeom prst="roundRect">
              <a:avLst>
                <a:gd name="adj" fmla="val 16000"/>
              </a:avLst>
            </a:prstGeom>
            <a:solidFill>
              <a:srgbClr val="EAF4F6"/>
            </a:solidFill>
            <a:ln w="14288">
              <a:solidFill>
                <a:srgbClr val="00A6A6"/>
              </a:solidFill>
            </a:ln>
          </p:spPr>
        </p:sp>
        <p:sp>
          <p:nvSpPr>
            <p:cNvPr id="21" name="TextBox 21"/>
            <p:cNvSpPr txBox="1"/>
            <p:nvPr/>
          </p:nvSpPr>
          <p:spPr>
            <a:xfrm>
              <a:off x="950115" y="3306128"/>
              <a:ext cx="747720"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AYRILACAK</a:t>
              </a:r>
            </a:p>
          </p:txBody>
        </p:sp>
        <p:sp>
          <p:nvSpPr>
            <p:cNvPr id="22" name="Rectangle 22"/>
            <p:cNvSpPr/>
            <p:nvPr/>
          </p:nvSpPr>
          <p:spPr>
            <a:xfrm>
              <a:off x="2228850" y="3124200"/>
              <a:ext cx="1428750" cy="476250"/>
            </a:xfrm>
            <a:prstGeom prst="roundRect">
              <a:avLst>
                <a:gd name="adj" fmla="val 16000"/>
              </a:avLst>
            </a:prstGeom>
            <a:solidFill>
              <a:srgbClr val="EAF4F6"/>
            </a:solidFill>
            <a:ln w="14288">
              <a:solidFill>
                <a:srgbClr val="00A6A6"/>
              </a:solidFill>
            </a:ln>
          </p:spPr>
        </p:sp>
        <p:sp>
          <p:nvSpPr>
            <p:cNvPr id="23" name="TextBox 23"/>
            <p:cNvSpPr txBox="1"/>
            <p:nvPr/>
          </p:nvSpPr>
          <p:spPr>
            <a:xfrm>
              <a:off x="2615507" y="3298031"/>
              <a:ext cx="655436"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KALACAK</a:t>
              </a:r>
            </a:p>
          </p:txBody>
        </p:sp>
        <p:sp>
          <p:nvSpPr>
            <p:cNvPr id="24" name="TextBox 24"/>
            <p:cNvSpPr txBox="1"/>
            <p:nvPr/>
          </p:nvSpPr>
          <p:spPr>
            <a:xfrm>
              <a:off x="603885" y="3726656"/>
              <a:ext cx="259308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52616B"/>
                  </a:solidFill>
                  <a:latin typeface="+mn-lt"/>
                  <a:ea typeface="+mn-ea"/>
                  <a:cs typeface="+mn-cs"/>
                </a:rPr>
                <a:t>Kök düğüm (navy) → iç düğüm (mavi) →</a:t>
              </a:r>
              <a:br/>
              <a:r>
                <a:rPr lang="tr-TR" sz="1120" dirty="0">
                  <a:solidFill>
                    <a:srgbClr val="52616B"/>
                  </a:solidFill>
                  <a:latin typeface="+mn-lt"/>
                  <a:ea typeface="+mn-ea"/>
                  <a:cs typeface="+mn-cs"/>
                </a:rPr>
                <a:t>yaprak düğümler (teal çerçeveli)</a:t>
              </a:r>
            </a:p>
          </p:txBody>
        </p:sp>
      </p:grpSp>
      <p:grpSp>
        <p:nvGrpSpPr>
          <p:cNvPr id="27" name="tree-definition"/>
          <p:cNvGrpSpPr/>
          <p:nvPr/>
        </p:nvGrpSpPr>
        <p:grpSpPr>
          <a:xfrm>
            <a:off x="6316599" y="1353979"/>
            <a:ext cx="3878707" cy="2441638"/>
            <a:chOff x="6316599" y="1353979"/>
            <a:chExt cx="3878707" cy="2441638"/>
          </a:xfrm>
        </p:grpSpPr>
        <p:sp>
          <p:nvSpPr>
            <p:cNvPr id="26" name="TextBox 26"/>
            <p:cNvSpPr txBox="1"/>
            <p:nvPr/>
          </p:nvSpPr>
          <p:spPr>
            <a:xfrm>
              <a:off x="6316599" y="1353979"/>
              <a:ext cx="3878707" cy="24416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Karar ağacı, özellik uzayını art arda</a:t>
              </a:r>
              <a:br/>
              <a:r>
                <a:rPr lang="tr-TR" sz="1580" dirty="0">
                  <a:solidFill>
                    <a:srgbClr val="172B3A"/>
                  </a:solidFill>
                  <a:latin typeface="+mn-lt"/>
                  <a:ea typeface="+mn-ea"/>
                  <a:cs typeface="+mn-cs"/>
                </a:rPr>
                <a:t>ikili bölünmelerle ayıran, hiyerarşik</a:t>
              </a:r>
              <a:br/>
              <a:r>
                <a:rPr lang="tr-TR" sz="1580" dirty="0">
                  <a:solidFill>
                    <a:srgbClr val="172B3A"/>
                  </a:solidFill>
                  <a:latin typeface="+mn-lt"/>
                  <a:ea typeface="+mn-ea"/>
                  <a:cs typeface="+mn-cs"/>
                </a:rPr>
                <a:t>bir sınıflandırma modelidir. Kök düğüm</a:t>
              </a:r>
              <a:br/>
              <a:r>
                <a:rPr lang="tr-TR" sz="1580" dirty="0">
                  <a:solidFill>
                    <a:srgbClr val="172B3A"/>
                  </a:solidFill>
                  <a:latin typeface="+mn-lt"/>
                  <a:ea typeface="+mn-ea"/>
                  <a:cs typeface="+mn-cs"/>
                </a:rPr>
                <a:t>tüm eğitim verisini temsil eder; her</a:t>
              </a:r>
              <a:br/>
              <a:r>
                <a:rPr lang="tr-TR" sz="1580" dirty="0">
                  <a:solidFill>
                    <a:srgbClr val="172B3A"/>
                  </a:solidFill>
                  <a:latin typeface="+mn-lt"/>
                  <a:ea typeface="+mn-ea"/>
                  <a:cs typeface="+mn-cs"/>
                </a:rPr>
                <a:t>iç düğümde bir öznitelik sorgulanır,</a:t>
              </a:r>
              <a:br/>
              <a:r>
                <a:rPr lang="tr-TR" sz="1580" dirty="0">
                  <a:solidFill>
                    <a:srgbClr val="172B3A"/>
                  </a:solidFill>
                  <a:latin typeface="+mn-lt"/>
                  <a:ea typeface="+mn-ea"/>
                  <a:cs typeface="+mn-cs"/>
                </a:rPr>
                <a:t>yanıta göre veri iki alt dala ayrılır</a:t>
              </a:r>
              <a:br/>
              <a:r>
                <a:rPr lang="tr-TR" sz="1580" dirty="0">
                  <a:solidFill>
                    <a:srgbClr val="172B3A"/>
                  </a:solidFill>
                  <a:latin typeface="+mn-lt"/>
                  <a:ea typeface="+mn-ea"/>
                  <a:cs typeface="+mn-cs"/>
                </a:rPr>
                <a:t>ve bu süreç bir yaprağa ulaşılana kadar</a:t>
              </a:r>
              <a:br/>
              <a:r>
                <a:rPr lang="tr-TR" sz="1580" dirty="0">
                  <a:solidFill>
                    <a:srgbClr val="172B3A"/>
                  </a:solidFill>
                  <a:latin typeface="+mn-lt"/>
                  <a:ea typeface="+mn-ea"/>
                  <a:cs typeface="+mn-cs"/>
                </a:rPr>
                <a:t>özyinelemeli olarak sürer. Yaprak</a:t>
              </a:r>
              <a:br/>
              <a:r>
                <a:rPr lang="tr-TR" sz="1580" dirty="0">
                  <a:solidFill>
                    <a:srgbClr val="172B3A"/>
                  </a:solidFill>
                  <a:latin typeface="+mn-lt"/>
                  <a:ea typeface="+mn-ea"/>
                  <a:cs typeface="+mn-cs"/>
                </a:rPr>
                <a:t>düğümler nihai tahmini taşır.</a:t>
              </a:r>
            </a:p>
          </p:txBody>
        </p:sp>
      </p:grpSp>
      <p:grpSp>
        <p:nvGrpSpPr>
          <p:cNvPr id="31" name="tree-analogy"/>
          <p:cNvGrpSpPr/>
          <p:nvPr/>
        </p:nvGrpSpPr>
        <p:grpSpPr>
          <a:xfrm>
            <a:off x="6324600" y="4343400"/>
            <a:ext cx="5257800" cy="1238250"/>
            <a:chOff x="6324600" y="4343400"/>
            <a:chExt cx="5257800" cy="1238250"/>
          </a:xfrm>
        </p:grpSpPr>
        <p:sp>
          <p:nvSpPr>
            <p:cNvPr id="28" name="Rectangle 28"/>
            <p:cNvSpPr/>
            <p:nvPr/>
          </p:nvSpPr>
          <p:spPr>
            <a:xfrm>
              <a:off x="6324600" y="4343400"/>
              <a:ext cx="5257800" cy="1238250"/>
            </a:xfrm>
            <a:prstGeom prst="roundRect">
              <a:avLst>
                <a:gd name="adj" fmla="val 6154"/>
              </a:avLst>
            </a:prstGeom>
            <a:solidFill>
              <a:srgbClr val="EAF4F6"/>
            </a:solidFill>
            <a:ln>
              <a:noFill/>
            </a:ln>
          </p:spPr>
        </p:sp>
        <p:sp>
          <p:nvSpPr>
            <p:cNvPr id="29" name="TextBox 29"/>
            <p:cNvSpPr txBox="1"/>
            <p:nvPr/>
          </p:nvSpPr>
          <p:spPr>
            <a:xfrm>
              <a:off x="6546342" y="4483418"/>
              <a:ext cx="277736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Sezgi: doktorun teşhis süreci</a:t>
              </a:r>
            </a:p>
          </p:txBody>
        </p:sp>
        <p:sp>
          <p:nvSpPr>
            <p:cNvPr id="30" name="TextBox 30"/>
            <p:cNvSpPr txBox="1"/>
            <p:nvPr/>
          </p:nvSpPr>
          <p:spPr>
            <a:xfrm>
              <a:off x="6547104" y="4709160"/>
              <a:ext cx="3182112" cy="834771"/>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"Ateşiniz var mı? Evet → Öksürük</a:t>
              </a:r>
              <a:br/>
              <a:r>
                <a:rPr lang="tr-TR" sz="1200" dirty="0">
                  <a:solidFill>
                    <a:srgbClr val="172B3A"/>
                  </a:solidFill>
                  <a:latin typeface="+mn-lt"/>
                  <a:ea typeface="+mn-ea"/>
                  <a:cs typeface="+mn-cs"/>
                </a:rPr>
                <a:t>var mı? Evet → Grip testi pozitif</a:t>
              </a:r>
              <a:br/>
              <a:r>
                <a:rPr lang="tr-TR" sz="1200" dirty="0">
                  <a:solidFill>
                    <a:srgbClr val="172B3A"/>
                  </a:solidFill>
                  <a:latin typeface="+mn-lt"/>
                  <a:ea typeface="+mn-ea"/>
                  <a:cs typeface="+mn-cs"/>
                </a:rPr>
                <a:t>mi?" gibi bir soru zinciri.</a:t>
              </a:r>
              <a:br/>
              <a:r>
                <a:rPr lang="tr-TR" sz="1200" dirty="0">
                  <a:solidFill>
                    <a:srgbClr val="172B3A"/>
                  </a:solidFill>
                  <a:latin typeface="+mn-lt"/>
                  <a:ea typeface="+mn-ea"/>
                  <a:cs typeface="+mn-cs"/>
                </a:rPr>
                <a:t>Fark: soru sırasını ağaç veriden öğrenir.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688389" cy="557403"/>
            <a:chOff x="595122" y="282892"/>
            <a:chExt cx="7688389" cy="557403"/>
          </a:xfrm>
        </p:grpSpPr>
        <p:sp>
          <p:nvSpPr>
            <p:cNvPr id="4" name="TextBox 4"/>
            <p:cNvSpPr txBox="1"/>
            <p:nvPr/>
          </p:nvSpPr>
          <p:spPr>
            <a:xfrm>
              <a:off x="595122" y="282892"/>
              <a:ext cx="768838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Bölünme kriteri: Gini indeksi ve entropi</a:t>
              </a:r>
            </a:p>
          </p:txBody>
        </p:sp>
      </p:grpSp>
      <p:grpSp>
        <p:nvGrpSpPr>
          <p:cNvPr id="10" name="gini-card"/>
          <p:cNvGrpSpPr/>
          <p:nvPr/>
        </p:nvGrpSpPr>
        <p:grpSpPr>
          <a:xfrm>
            <a:off x="609600" y="1257300"/>
            <a:ext cx="5257800" cy="1219200"/>
            <a:chOff x="609600" y="1257300"/>
            <a:chExt cx="5257800" cy="1219200"/>
          </a:xfrm>
        </p:grpSpPr>
        <p:sp>
          <p:nvSpPr>
            <p:cNvPr id="6" name="Rectangle 6"/>
            <p:cNvSpPr/>
            <p:nvPr/>
          </p:nvSpPr>
          <p:spPr>
            <a:xfrm>
              <a:off x="609600" y="1257300"/>
              <a:ext cx="5257800" cy="1219200"/>
            </a:xfrm>
            <a:prstGeom prst="roundRect">
              <a:avLst>
                <a:gd name="adj" fmla="val 7812"/>
              </a:avLst>
            </a:prstGeom>
            <a:solidFill>
              <a:srgbClr val="FFFFFF"/>
            </a:solidFill>
            <a:ln w="14288">
              <a:solidFill>
                <a:srgbClr val="2E86AB"/>
              </a:solidFill>
            </a:ln>
          </p:spPr>
        </p:sp>
        <p:sp>
          <p:nvSpPr>
            <p:cNvPr id="7" name="TextBox 7"/>
            <p:cNvSpPr txBox="1"/>
            <p:nvPr/>
          </p:nvSpPr>
          <p:spPr>
            <a:xfrm>
              <a:off x="830199" y="1392079"/>
              <a:ext cx="121699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Gini indeksi</a:t>
              </a:r>
            </a:p>
          </p:txBody>
        </p:sp>
        <p:sp>
          <p:nvSpPr>
            <p:cNvPr id="8" name="TextBox 8"/>
            <p:cNvSpPr txBox="1"/>
            <p:nvPr/>
          </p:nvSpPr>
          <p:spPr>
            <a:xfrm>
              <a:off x="831342" y="1683068"/>
              <a:ext cx="1633184" cy="264033"/>
            </a:xfrm>
            <a:prstGeom prst="rect">
              <a:avLst/>
            </a:prstGeom>
            <a:noFill/>
            <a:ln>
              <a:noFill/>
            </a:ln>
          </p:spPr>
          <p:txBody>
            <a:bodyPr wrap="none" lIns="0" tIns="0" rIns="0" bIns="0" anchor="t" anchorCtr="0">
              <a:spAutoFit/>
            </a:bodyPr>
            <a:lstStyle/>
            <a:p>
              <a:pPr algn="l"/>
              <a:r>
                <a:rPr lang="el-GR" sz="1350" dirty="0">
                  <a:solidFill>
                    <a:srgbClr val="172B3A"/>
                  </a:solidFill>
                  <a:latin typeface="+mn-lt"/>
                  <a:ea typeface="+mn-ea"/>
                  <a:cs typeface="+mn-cs"/>
                </a:rPr>
                <a:t>Gini(D) = 1 − Σ pᵢ²</a:t>
              </a:r>
            </a:p>
          </p:txBody>
        </p:sp>
        <p:sp>
          <p:nvSpPr>
            <p:cNvPr id="9" name="TextBox 9"/>
            <p:cNvSpPr txBox="1"/>
            <p:nvPr/>
          </p:nvSpPr>
          <p:spPr>
            <a:xfrm>
              <a:off x="832104" y="1965960"/>
              <a:ext cx="30449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0 (saf) – 0.5 (maks. karışık) · CART'ın</a:t>
              </a:r>
              <a:br/>
              <a:r>
                <a:rPr lang="tr-TR" sz="1200" dirty="0">
                  <a:solidFill>
                    <a:srgbClr val="52616B"/>
                  </a:solidFill>
                  <a:latin typeface="+mn-lt"/>
                  <a:ea typeface="+mn-ea"/>
                  <a:cs typeface="+mn-cs"/>
                </a:rPr>
                <a:t>varsayılanı, logaritma gerektirmez</a:t>
              </a:r>
            </a:p>
          </p:txBody>
        </p:sp>
      </p:grpSp>
      <p:grpSp>
        <p:nvGrpSpPr>
          <p:cNvPr id="15" name="entropy-card"/>
          <p:cNvGrpSpPr/>
          <p:nvPr/>
        </p:nvGrpSpPr>
        <p:grpSpPr>
          <a:xfrm>
            <a:off x="6324600" y="1257300"/>
            <a:ext cx="5257800" cy="1219200"/>
            <a:chOff x="6324600" y="1257300"/>
            <a:chExt cx="5257800" cy="1219200"/>
          </a:xfrm>
        </p:grpSpPr>
        <p:sp>
          <p:nvSpPr>
            <p:cNvPr id="11" name="Rectangle 11"/>
            <p:cNvSpPr/>
            <p:nvPr/>
          </p:nvSpPr>
          <p:spPr>
            <a:xfrm>
              <a:off x="6324600" y="1257300"/>
              <a:ext cx="5257800" cy="1219200"/>
            </a:xfrm>
            <a:prstGeom prst="roundRect">
              <a:avLst>
                <a:gd name="adj" fmla="val 7812"/>
              </a:avLst>
            </a:prstGeom>
            <a:solidFill>
              <a:srgbClr val="FFFFFF"/>
            </a:solidFill>
            <a:ln w="14288">
              <a:solidFill>
                <a:srgbClr val="2E86AB"/>
              </a:solidFill>
            </a:ln>
          </p:spPr>
        </p:sp>
        <p:sp>
          <p:nvSpPr>
            <p:cNvPr id="12" name="TextBox 12"/>
            <p:cNvSpPr txBox="1"/>
            <p:nvPr/>
          </p:nvSpPr>
          <p:spPr>
            <a:xfrm>
              <a:off x="6545199" y="1392079"/>
              <a:ext cx="8265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Entropi</a:t>
              </a:r>
            </a:p>
          </p:txBody>
        </p:sp>
        <p:sp>
          <p:nvSpPr>
            <p:cNvPr id="13" name="TextBox 13"/>
            <p:cNvSpPr txBox="1"/>
            <p:nvPr/>
          </p:nvSpPr>
          <p:spPr>
            <a:xfrm>
              <a:off x="6546342" y="1683068"/>
              <a:ext cx="2368165" cy="264033"/>
            </a:xfrm>
            <a:prstGeom prst="rect">
              <a:avLst/>
            </a:prstGeom>
            <a:noFill/>
            <a:ln>
              <a:noFill/>
            </a:ln>
          </p:spPr>
          <p:txBody>
            <a:bodyPr wrap="none" lIns="0" tIns="0" rIns="0" bIns="0" anchor="t" anchorCtr="0">
              <a:spAutoFit/>
            </a:bodyPr>
            <a:lstStyle/>
            <a:p>
              <a:pPr algn="l"/>
              <a:r>
                <a:rPr lang="el-GR" sz="1350" dirty="0">
                  <a:solidFill>
                    <a:srgbClr val="172B3A"/>
                  </a:solidFill>
                  <a:latin typeface="+mn-lt"/>
                  <a:ea typeface="+mn-ea"/>
                  <a:cs typeface="+mn-cs"/>
                </a:rPr>
                <a:t>Entropy(D) = −Σ pᵢ log₂ pᵢ</a:t>
              </a:r>
            </a:p>
          </p:txBody>
        </p:sp>
        <p:sp>
          <p:nvSpPr>
            <p:cNvPr id="14" name="TextBox 14"/>
            <p:cNvSpPr txBox="1"/>
            <p:nvPr/>
          </p:nvSpPr>
          <p:spPr>
            <a:xfrm>
              <a:off x="6547104" y="1965960"/>
              <a:ext cx="34564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0 – 1 bit · ID3/C4.5 kullanır · bilgi</a:t>
              </a:r>
              <a:br/>
              <a:r>
                <a:rPr lang="tr-TR" sz="1200" dirty="0">
                  <a:solidFill>
                    <a:srgbClr val="52616B"/>
                  </a:solidFill>
                  <a:latin typeface="+mn-lt"/>
                  <a:ea typeface="+mn-ea"/>
                  <a:cs typeface="+mn-cs"/>
                </a:rPr>
                <a:t>kazanımı = ebeveyn − bölünme sonrası entropi</a:t>
              </a:r>
            </a:p>
          </p:txBody>
        </p:sp>
      </p:grpSp>
      <p:grpSp>
        <p:nvGrpSpPr>
          <p:cNvPr id="17" name="worked-example-label"/>
          <p:cNvGrpSpPr/>
          <p:nvPr/>
        </p:nvGrpSpPr>
        <p:grpSpPr>
          <a:xfrm>
            <a:off x="602742" y="2711768"/>
            <a:ext cx="7405341" cy="264033"/>
            <a:chOff x="602742" y="2711768"/>
            <a:chExt cx="7405341" cy="264033"/>
          </a:xfrm>
        </p:grpSpPr>
        <p:sp>
          <p:nvSpPr>
            <p:cNvPr id="16" name="TextBox 16"/>
            <p:cNvSpPr txBox="1"/>
            <p:nvPr/>
          </p:nvSpPr>
          <p:spPr>
            <a:xfrm>
              <a:off x="602742" y="2711768"/>
              <a:ext cx="740534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Elle hesaplama: 100 müşterilik düğüm, "sözleşme süresi" eşiğine göre bölünüyor</a:t>
              </a:r>
            </a:p>
          </p:txBody>
        </p:sp>
      </p:grpSp>
      <p:grpSp>
        <p:nvGrpSpPr>
          <p:cNvPr id="32" name="calc-tree"/>
          <p:cNvGrpSpPr/>
          <p:nvPr/>
        </p:nvGrpSpPr>
        <p:grpSpPr>
          <a:xfrm>
            <a:off x="1714500" y="2971800"/>
            <a:ext cx="8001000" cy="1962150"/>
            <a:chOff x="1714500" y="2971800"/>
            <a:chExt cx="8001000" cy="1962150"/>
          </a:xfrm>
        </p:grpSpPr>
        <p:sp>
          <p:nvSpPr>
            <p:cNvPr id="18" name="Line 18"/>
            <p:cNvSpPr/>
            <p:nvPr/>
          </p:nvSpPr>
          <p:spPr>
            <a:xfrm>
              <a:off x="3048000" y="3695700"/>
              <a:ext cx="2667000" cy="514350"/>
            </a:xfrm>
            <a:custGeom>
              <a:avLst/>
              <a:gdLst/>
              <a:ahLst/>
              <a:cxnLst/>
              <a:rect l="l" t="t" r="r" b="b"/>
              <a:pathLst>
                <a:path w="2667000" h="514350">
                  <a:moveTo>
                    <a:pt x="2667000" y="0"/>
                  </a:moveTo>
                  <a:lnTo>
                    <a:pt x="0" y="514350"/>
                  </a:lnTo>
                </a:path>
              </a:pathLst>
            </a:custGeom>
            <a:noFill/>
            <a:ln w="17145">
              <a:solidFill>
                <a:srgbClr val="52616B"/>
              </a:solidFill>
            </a:ln>
          </p:spPr>
        </p:sp>
        <p:sp>
          <p:nvSpPr>
            <p:cNvPr id="19" name="Line 19"/>
            <p:cNvSpPr/>
            <p:nvPr/>
          </p:nvSpPr>
          <p:spPr>
            <a:xfrm>
              <a:off x="5715000" y="3695700"/>
              <a:ext cx="2667000" cy="514350"/>
            </a:xfrm>
            <a:custGeom>
              <a:avLst/>
              <a:gdLst/>
              <a:ahLst/>
              <a:cxnLst/>
              <a:rect l="l" t="t" r="r" b="b"/>
              <a:pathLst>
                <a:path w="2667000" h="514350">
                  <a:moveTo>
                    <a:pt x="0" y="0"/>
                  </a:moveTo>
                  <a:lnTo>
                    <a:pt x="2667000" y="514350"/>
                  </a:lnTo>
                </a:path>
              </a:pathLst>
            </a:custGeom>
            <a:noFill/>
            <a:ln w="17145">
              <a:solidFill>
                <a:srgbClr val="52616B"/>
              </a:solidFill>
            </a:ln>
          </p:spPr>
        </p:sp>
        <p:grpSp>
          <p:nvGrpSpPr>
            <p:cNvPr id="23" name="calc-parent"/>
            <p:cNvGrpSpPr/>
            <p:nvPr/>
          </p:nvGrpSpPr>
          <p:grpSpPr>
            <a:xfrm>
              <a:off x="4220297" y="2971800"/>
              <a:ext cx="2989406" cy="723900"/>
              <a:chOff x="4220297" y="2971800"/>
              <a:chExt cx="2989406" cy="723900"/>
            </a:xfrm>
          </p:grpSpPr>
          <p:sp>
            <p:nvSpPr>
              <p:cNvPr id="20" name="Rectangle 20"/>
              <p:cNvSpPr/>
              <p:nvPr/>
            </p:nvSpPr>
            <p:spPr>
              <a:xfrm>
                <a:off x="4381500" y="2971800"/>
                <a:ext cx="2667000" cy="723900"/>
              </a:xfrm>
              <a:prstGeom prst="roundRect">
                <a:avLst>
                  <a:gd name="adj" fmla="val 10526"/>
                </a:avLst>
              </a:prstGeom>
              <a:solidFill>
                <a:srgbClr val="12355B"/>
              </a:solidFill>
              <a:ln>
                <a:noFill/>
              </a:ln>
            </p:spPr>
          </p:sp>
          <p:sp>
            <p:nvSpPr>
              <p:cNvPr id="21" name="TextBox 21"/>
              <p:cNvSpPr txBox="1"/>
              <p:nvPr/>
            </p:nvSpPr>
            <p:spPr>
              <a:xfrm>
                <a:off x="4220297" y="3128010"/>
                <a:ext cx="2989406"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Ebeveyn: 100 (40 ayrılan, 60 kalan)</a:t>
                </a:r>
              </a:p>
            </p:txBody>
          </p:sp>
          <p:sp>
            <p:nvSpPr>
              <p:cNvPr id="22" name="TextBox 22"/>
              <p:cNvSpPr txBox="1"/>
              <p:nvPr/>
            </p:nvSpPr>
            <p:spPr>
              <a:xfrm>
                <a:off x="4713344" y="3375660"/>
                <a:ext cx="2003312" cy="234696"/>
              </a:xfrm>
              <a:prstGeom prst="rect">
                <a:avLst/>
              </a:prstGeom>
              <a:noFill/>
              <a:ln>
                <a:noFill/>
              </a:ln>
            </p:spPr>
            <p:txBody>
              <a:bodyPr wrap="none" lIns="0" tIns="0" rIns="0" bIns="0" anchor="t" anchorCtr="0">
                <a:spAutoFit/>
              </a:bodyPr>
              <a:lstStyle/>
              <a:p>
                <a:pPr algn="ctr"/>
                <a:r>
                  <a:rPr lang="tr-TR" sz="1200" dirty="0">
                    <a:solidFill>
                      <a:srgbClr val="00A6A6"/>
                    </a:solidFill>
                    <a:latin typeface="+mn-lt"/>
                    <a:ea typeface="+mn-ea"/>
                    <a:cs typeface="+mn-cs"/>
                  </a:rPr>
                  <a:t>Gini=0.480 Entropi=0.971</a:t>
                </a:r>
              </a:p>
            </p:txBody>
          </p:sp>
        </p:grpSp>
        <p:grpSp>
          <p:nvGrpSpPr>
            <p:cNvPr id="27" name="calc-left"/>
            <p:cNvGrpSpPr/>
            <p:nvPr/>
          </p:nvGrpSpPr>
          <p:grpSpPr>
            <a:xfrm>
              <a:off x="1714500" y="4210050"/>
              <a:ext cx="2667000" cy="723900"/>
              <a:chOff x="1714500" y="4210050"/>
              <a:chExt cx="2667000" cy="723900"/>
            </a:xfrm>
          </p:grpSpPr>
          <p:sp>
            <p:nvSpPr>
              <p:cNvPr id="24" name="Rectangle 24"/>
              <p:cNvSpPr/>
              <p:nvPr/>
            </p:nvSpPr>
            <p:spPr>
              <a:xfrm>
                <a:off x="1714500" y="4210050"/>
                <a:ext cx="2667000" cy="723900"/>
              </a:xfrm>
              <a:prstGeom prst="roundRect">
                <a:avLst>
                  <a:gd name="adj" fmla="val 10526"/>
                </a:avLst>
              </a:prstGeom>
              <a:solidFill>
                <a:srgbClr val="FFFFFF"/>
              </a:solidFill>
              <a:ln w="14288">
                <a:solidFill>
                  <a:srgbClr val="2E86AB"/>
                </a:solidFill>
              </a:ln>
            </p:spPr>
          </p:sp>
          <p:sp>
            <p:nvSpPr>
              <p:cNvPr id="25" name="TextBox 25"/>
              <p:cNvSpPr txBox="1"/>
              <p:nvPr/>
            </p:nvSpPr>
            <p:spPr>
              <a:xfrm>
                <a:off x="1755916" y="4374356"/>
                <a:ext cx="2584168"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Sol dal: 50 (35 ayrılan, 15 kalan)</a:t>
                </a:r>
              </a:p>
            </p:txBody>
          </p:sp>
          <p:sp>
            <p:nvSpPr>
              <p:cNvPr id="26" name="TextBox 26"/>
              <p:cNvSpPr txBox="1"/>
              <p:nvPr/>
            </p:nvSpPr>
            <p:spPr>
              <a:xfrm>
                <a:off x="2046344" y="4613910"/>
                <a:ext cx="2003312"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Gini=0.420 Entropi=0.881</a:t>
                </a:r>
              </a:p>
            </p:txBody>
          </p:sp>
        </p:grpSp>
        <p:grpSp>
          <p:nvGrpSpPr>
            <p:cNvPr id="31" name="calc-right"/>
            <p:cNvGrpSpPr/>
            <p:nvPr/>
          </p:nvGrpSpPr>
          <p:grpSpPr>
            <a:xfrm>
              <a:off x="7048500" y="4210050"/>
              <a:ext cx="2667000" cy="723900"/>
              <a:chOff x="7048500" y="4210050"/>
              <a:chExt cx="2667000" cy="723900"/>
            </a:xfrm>
          </p:grpSpPr>
          <p:sp>
            <p:nvSpPr>
              <p:cNvPr id="28" name="Rectangle 28"/>
              <p:cNvSpPr/>
              <p:nvPr/>
            </p:nvSpPr>
            <p:spPr>
              <a:xfrm>
                <a:off x="7048500" y="4210050"/>
                <a:ext cx="2667000" cy="723900"/>
              </a:xfrm>
              <a:prstGeom prst="roundRect">
                <a:avLst>
                  <a:gd name="adj" fmla="val 10526"/>
                </a:avLst>
              </a:prstGeom>
              <a:solidFill>
                <a:srgbClr val="FFFFFF"/>
              </a:solidFill>
              <a:ln w="14288">
                <a:solidFill>
                  <a:srgbClr val="2E86AB"/>
                </a:solidFill>
              </a:ln>
            </p:spPr>
          </p:sp>
          <p:sp>
            <p:nvSpPr>
              <p:cNvPr id="29" name="TextBox 29"/>
              <p:cNvSpPr txBox="1"/>
              <p:nvPr/>
            </p:nvSpPr>
            <p:spPr>
              <a:xfrm>
                <a:off x="7113738" y="4374356"/>
                <a:ext cx="2536524"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Sağ dal: 50 (5 ayrılan, 45 kalan)</a:t>
                </a:r>
              </a:p>
            </p:txBody>
          </p:sp>
          <p:sp>
            <p:nvSpPr>
              <p:cNvPr id="30" name="TextBox 30"/>
              <p:cNvSpPr txBox="1"/>
              <p:nvPr/>
            </p:nvSpPr>
            <p:spPr>
              <a:xfrm>
                <a:off x="7380344" y="4613910"/>
                <a:ext cx="2003312"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Gini=0.180 Entropi=0.469</a:t>
                </a:r>
              </a:p>
            </p:txBody>
          </p:sp>
        </p:grpSp>
      </p:grpSp>
      <p:grpSp>
        <p:nvGrpSpPr>
          <p:cNvPr id="36" name="calc-result"/>
          <p:cNvGrpSpPr/>
          <p:nvPr/>
        </p:nvGrpSpPr>
        <p:grpSpPr>
          <a:xfrm>
            <a:off x="609600" y="5200650"/>
            <a:ext cx="10972800" cy="762000"/>
            <a:chOff x="609600" y="5200650"/>
            <a:chExt cx="10972800" cy="762000"/>
          </a:xfrm>
        </p:grpSpPr>
        <p:sp>
          <p:nvSpPr>
            <p:cNvPr id="33" name="Rectangle 33"/>
            <p:cNvSpPr/>
            <p:nvPr/>
          </p:nvSpPr>
          <p:spPr>
            <a:xfrm>
              <a:off x="609600" y="5200650"/>
              <a:ext cx="10972800" cy="762000"/>
            </a:xfrm>
            <a:prstGeom prst="roundRect">
              <a:avLst>
                <a:gd name="adj" fmla="val 10000"/>
              </a:avLst>
            </a:prstGeom>
            <a:solidFill>
              <a:srgbClr val="EAF4F6"/>
            </a:solidFill>
            <a:ln>
              <a:noFill/>
            </a:ln>
          </p:spPr>
        </p:sp>
        <p:sp>
          <p:nvSpPr>
            <p:cNvPr id="34" name="TextBox 34"/>
            <p:cNvSpPr txBox="1"/>
            <p:nvPr/>
          </p:nvSpPr>
          <p:spPr>
            <a:xfrm>
              <a:off x="907542" y="5359718"/>
              <a:ext cx="686015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Ağırlıklı bölünme sonrası: Gini=0.300 (↓0.180), Entropi=0.675 (↓0.296)</a:t>
              </a:r>
            </a:p>
          </p:txBody>
        </p:sp>
        <p:sp>
          <p:nvSpPr>
            <p:cNvPr id="35" name="TextBox 35"/>
            <p:cNvSpPr txBox="1"/>
            <p:nvPr/>
          </p:nvSpPr>
          <p:spPr>
            <a:xfrm>
              <a:off x="908304" y="5623560"/>
              <a:ext cx="68207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Bilgi kazanımı = 0.971 − 0.675 = 0.296 bit → bölünme "iyi"dir çünkü impurity düşmüştür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883879" cy="668845"/>
            <a:chOff x="609600" y="171450"/>
            <a:chExt cx="788387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19350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Budama: aşırı öğrenmeyi durdurmak</a:t>
              </a:r>
            </a:p>
          </p:txBody>
        </p:sp>
      </p:grpSp>
      <p:grpSp>
        <p:nvGrpSpPr>
          <p:cNvPr id="43" name="overfit-chart"/>
          <p:cNvGrpSpPr/>
          <p:nvPr/>
        </p:nvGrpSpPr>
        <p:grpSpPr>
          <a:xfrm>
            <a:off x="602742" y="1283018"/>
            <a:ext cx="5225138" cy="3323843"/>
            <a:chOff x="602742" y="1283018"/>
            <a:chExt cx="5225138" cy="3323843"/>
          </a:xfrm>
        </p:grpSpPr>
        <p:sp>
          <p:nvSpPr>
            <p:cNvPr id="12" name="TextBox 12"/>
            <p:cNvSpPr txBox="1"/>
            <p:nvPr/>
          </p:nvSpPr>
          <p:spPr>
            <a:xfrm>
              <a:off x="602742" y="1283018"/>
              <a:ext cx="349285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Derinlik arttıkça eğitim/test makası</a:t>
              </a:r>
            </a:p>
          </p:txBody>
        </p:sp>
        <p:sp>
          <p:nvSpPr>
            <p:cNvPr id="13" name="Line 13"/>
            <p:cNvSpPr/>
            <p:nvPr/>
          </p:nvSpPr>
          <p:spPr>
            <a:xfrm>
              <a:off x="952500" y="1524000"/>
              <a:ext cx="1" cy="2428875"/>
            </a:xfrm>
            <a:prstGeom prst="line">
              <a:avLst/>
            </a:prstGeom>
            <a:noFill/>
            <a:ln w="15240">
              <a:solidFill>
                <a:srgbClr val="52616B"/>
              </a:solidFill>
              <a:tailEnd type="arrow" w="lg" len="lg"/>
            </a:ln>
          </p:spPr>
        </p:sp>
        <p:sp>
          <p:nvSpPr>
            <p:cNvPr id="14" name="Line 14"/>
            <p:cNvSpPr/>
            <p:nvPr/>
          </p:nvSpPr>
          <p:spPr>
            <a:xfrm>
              <a:off x="952500" y="3952875"/>
              <a:ext cx="4762500" cy="1"/>
            </a:xfrm>
            <a:prstGeom prst="line">
              <a:avLst/>
            </a:prstGeom>
            <a:noFill/>
            <a:ln w="15240">
              <a:solidFill>
                <a:srgbClr val="52616B"/>
              </a:solidFill>
              <a:tailEnd type="arrow" w="lg" len="lg"/>
            </a:ln>
          </p:spPr>
        </p:sp>
        <p:sp>
          <p:nvSpPr>
            <p:cNvPr id="15" name="TextBox 15"/>
            <p:cNvSpPr txBox="1"/>
            <p:nvPr/>
          </p:nvSpPr>
          <p:spPr>
            <a:xfrm>
              <a:off x="661797" y="1513999"/>
              <a:ext cx="56127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Doğruluk</a:t>
              </a:r>
            </a:p>
          </p:txBody>
        </p:sp>
        <p:sp>
          <p:nvSpPr>
            <p:cNvPr id="16" name="TextBox 16"/>
            <p:cNvSpPr txBox="1"/>
            <p:nvPr/>
          </p:nvSpPr>
          <p:spPr>
            <a:xfrm>
              <a:off x="5138547" y="4038124"/>
              <a:ext cx="68933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max_depth</a:t>
              </a:r>
            </a:p>
          </p:txBody>
        </p:sp>
        <p:sp>
          <p:nvSpPr>
            <p:cNvPr id="17" name="Line 17"/>
            <p:cNvSpPr/>
            <p:nvPr/>
          </p:nvSpPr>
          <p:spPr>
            <a:xfrm>
              <a:off x="952500" y="3381375"/>
              <a:ext cx="952500" cy="476250"/>
            </a:xfrm>
            <a:custGeom>
              <a:avLst/>
              <a:gdLst/>
              <a:ahLst/>
              <a:cxnLst/>
              <a:rect l="l" t="t" r="r" b="b"/>
              <a:pathLst>
                <a:path w="952500" h="476250">
                  <a:moveTo>
                    <a:pt x="0" y="476250"/>
                  </a:moveTo>
                  <a:lnTo>
                    <a:pt x="952500" y="0"/>
                  </a:lnTo>
                </a:path>
              </a:pathLst>
            </a:custGeom>
            <a:noFill/>
            <a:ln w="23812">
              <a:solidFill>
                <a:srgbClr val="12355B"/>
              </a:solidFill>
            </a:ln>
          </p:spPr>
        </p:sp>
        <p:sp>
          <p:nvSpPr>
            <p:cNvPr id="18" name="Line 18"/>
            <p:cNvSpPr/>
            <p:nvPr/>
          </p:nvSpPr>
          <p:spPr>
            <a:xfrm>
              <a:off x="1905000" y="2905125"/>
              <a:ext cx="952500" cy="476250"/>
            </a:xfrm>
            <a:custGeom>
              <a:avLst/>
              <a:gdLst/>
              <a:ahLst/>
              <a:cxnLst/>
              <a:rect l="l" t="t" r="r" b="b"/>
              <a:pathLst>
                <a:path w="952500" h="476250">
                  <a:moveTo>
                    <a:pt x="0" y="476250"/>
                  </a:moveTo>
                  <a:lnTo>
                    <a:pt x="952500" y="0"/>
                  </a:lnTo>
                </a:path>
              </a:pathLst>
            </a:custGeom>
            <a:noFill/>
            <a:ln w="23812">
              <a:solidFill>
                <a:srgbClr val="12355B"/>
              </a:solidFill>
            </a:ln>
          </p:spPr>
        </p:sp>
        <p:sp>
          <p:nvSpPr>
            <p:cNvPr id="19" name="Line 19"/>
            <p:cNvSpPr/>
            <p:nvPr/>
          </p:nvSpPr>
          <p:spPr>
            <a:xfrm>
              <a:off x="2857500" y="2524125"/>
              <a:ext cx="952500" cy="381000"/>
            </a:xfrm>
            <a:custGeom>
              <a:avLst/>
              <a:gdLst/>
              <a:ahLst/>
              <a:cxnLst/>
              <a:rect l="l" t="t" r="r" b="b"/>
              <a:pathLst>
                <a:path w="952500" h="381000">
                  <a:moveTo>
                    <a:pt x="0" y="381000"/>
                  </a:moveTo>
                  <a:lnTo>
                    <a:pt x="952500" y="0"/>
                  </a:lnTo>
                </a:path>
              </a:pathLst>
            </a:custGeom>
            <a:noFill/>
            <a:ln w="23812">
              <a:solidFill>
                <a:srgbClr val="12355B"/>
              </a:solidFill>
            </a:ln>
          </p:spPr>
        </p:sp>
        <p:sp>
          <p:nvSpPr>
            <p:cNvPr id="20" name="Line 20"/>
            <p:cNvSpPr/>
            <p:nvPr/>
          </p:nvSpPr>
          <p:spPr>
            <a:xfrm>
              <a:off x="3810000" y="2257425"/>
              <a:ext cx="952500" cy="266700"/>
            </a:xfrm>
            <a:custGeom>
              <a:avLst/>
              <a:gdLst/>
              <a:ahLst/>
              <a:cxnLst/>
              <a:rect l="l" t="t" r="r" b="b"/>
              <a:pathLst>
                <a:path w="952500" h="266700">
                  <a:moveTo>
                    <a:pt x="0" y="266700"/>
                  </a:moveTo>
                  <a:lnTo>
                    <a:pt x="952500" y="0"/>
                  </a:lnTo>
                </a:path>
              </a:pathLst>
            </a:custGeom>
            <a:noFill/>
            <a:ln w="23812">
              <a:solidFill>
                <a:srgbClr val="12355B"/>
              </a:solidFill>
            </a:ln>
          </p:spPr>
        </p:sp>
        <p:sp>
          <p:nvSpPr>
            <p:cNvPr id="21" name="Line 21"/>
            <p:cNvSpPr/>
            <p:nvPr/>
          </p:nvSpPr>
          <p:spPr>
            <a:xfrm>
              <a:off x="4762500" y="2162175"/>
              <a:ext cx="952500" cy="95250"/>
            </a:xfrm>
            <a:custGeom>
              <a:avLst/>
              <a:gdLst/>
              <a:ahLst/>
              <a:cxnLst/>
              <a:rect l="l" t="t" r="r" b="b"/>
              <a:pathLst>
                <a:path w="952500" h="95250">
                  <a:moveTo>
                    <a:pt x="0" y="95250"/>
                  </a:moveTo>
                  <a:lnTo>
                    <a:pt x="952500" y="0"/>
                  </a:lnTo>
                </a:path>
              </a:pathLst>
            </a:custGeom>
            <a:noFill/>
            <a:ln w="23812">
              <a:solidFill>
                <a:srgbClr val="12355B"/>
              </a:solidFill>
            </a:ln>
          </p:spPr>
        </p:sp>
        <p:sp>
          <p:nvSpPr>
            <p:cNvPr id="22" name="Line 22"/>
            <p:cNvSpPr/>
            <p:nvPr/>
          </p:nvSpPr>
          <p:spPr>
            <a:xfrm>
              <a:off x="952500" y="3190875"/>
              <a:ext cx="952500" cy="666750"/>
            </a:xfrm>
            <a:custGeom>
              <a:avLst/>
              <a:gdLst/>
              <a:ahLst/>
              <a:cxnLst/>
              <a:rect l="l" t="t" r="r" b="b"/>
              <a:pathLst>
                <a:path w="952500" h="666750">
                  <a:moveTo>
                    <a:pt x="0" y="666750"/>
                  </a:moveTo>
                  <a:lnTo>
                    <a:pt x="952500" y="0"/>
                  </a:lnTo>
                </a:path>
              </a:pathLst>
            </a:custGeom>
            <a:noFill/>
            <a:ln w="23812">
              <a:solidFill>
                <a:srgbClr val="00A6A6"/>
              </a:solidFill>
            </a:ln>
          </p:spPr>
        </p:sp>
        <p:sp>
          <p:nvSpPr>
            <p:cNvPr id="23" name="Line 23"/>
            <p:cNvSpPr/>
            <p:nvPr/>
          </p:nvSpPr>
          <p:spPr>
            <a:xfrm>
              <a:off x="1905000" y="2733675"/>
              <a:ext cx="952500" cy="457200"/>
            </a:xfrm>
            <a:custGeom>
              <a:avLst/>
              <a:gdLst/>
              <a:ahLst/>
              <a:cxnLst/>
              <a:rect l="l" t="t" r="r" b="b"/>
              <a:pathLst>
                <a:path w="952500" h="457200">
                  <a:moveTo>
                    <a:pt x="0" y="457200"/>
                  </a:moveTo>
                  <a:lnTo>
                    <a:pt x="952500" y="0"/>
                  </a:lnTo>
                </a:path>
              </a:pathLst>
            </a:custGeom>
            <a:noFill/>
            <a:ln w="23812">
              <a:solidFill>
                <a:srgbClr val="00A6A6"/>
              </a:solidFill>
            </a:ln>
          </p:spPr>
        </p:sp>
        <p:sp>
          <p:nvSpPr>
            <p:cNvPr id="24" name="Line 24"/>
            <p:cNvSpPr/>
            <p:nvPr/>
          </p:nvSpPr>
          <p:spPr>
            <a:xfrm>
              <a:off x="2857500" y="2657475"/>
              <a:ext cx="952500" cy="76200"/>
            </a:xfrm>
            <a:custGeom>
              <a:avLst/>
              <a:gdLst/>
              <a:ahLst/>
              <a:cxnLst/>
              <a:rect l="l" t="t" r="r" b="b"/>
              <a:pathLst>
                <a:path w="952500" h="76200">
                  <a:moveTo>
                    <a:pt x="0" y="76200"/>
                  </a:moveTo>
                  <a:lnTo>
                    <a:pt x="952500" y="0"/>
                  </a:lnTo>
                </a:path>
              </a:pathLst>
            </a:custGeom>
            <a:noFill/>
            <a:ln w="23812">
              <a:solidFill>
                <a:srgbClr val="00A6A6"/>
              </a:solidFill>
            </a:ln>
          </p:spPr>
        </p:sp>
        <p:sp>
          <p:nvSpPr>
            <p:cNvPr id="25" name="Line 25"/>
            <p:cNvSpPr/>
            <p:nvPr/>
          </p:nvSpPr>
          <p:spPr>
            <a:xfrm>
              <a:off x="3810000" y="2657475"/>
              <a:ext cx="952500" cy="114300"/>
            </a:xfrm>
            <a:custGeom>
              <a:avLst/>
              <a:gdLst/>
              <a:ahLst/>
              <a:cxnLst/>
              <a:rect l="l" t="t" r="r" b="b"/>
              <a:pathLst>
                <a:path w="952500" h="114300">
                  <a:moveTo>
                    <a:pt x="0" y="0"/>
                  </a:moveTo>
                  <a:lnTo>
                    <a:pt x="952500" y="114300"/>
                  </a:lnTo>
                </a:path>
              </a:pathLst>
            </a:custGeom>
            <a:noFill/>
            <a:ln w="23812">
              <a:solidFill>
                <a:srgbClr val="00A6A6"/>
              </a:solidFill>
            </a:ln>
          </p:spPr>
        </p:sp>
        <p:sp>
          <p:nvSpPr>
            <p:cNvPr id="26" name="Line 26"/>
            <p:cNvSpPr/>
            <p:nvPr/>
          </p:nvSpPr>
          <p:spPr>
            <a:xfrm>
              <a:off x="4762500" y="2771775"/>
              <a:ext cx="952500" cy="171450"/>
            </a:xfrm>
            <a:custGeom>
              <a:avLst/>
              <a:gdLst/>
              <a:ahLst/>
              <a:cxnLst/>
              <a:rect l="l" t="t" r="r" b="b"/>
              <a:pathLst>
                <a:path w="952500" h="171450">
                  <a:moveTo>
                    <a:pt x="0" y="0"/>
                  </a:moveTo>
                  <a:lnTo>
                    <a:pt x="952500" y="171450"/>
                  </a:lnTo>
                </a:path>
              </a:pathLst>
            </a:custGeom>
            <a:noFill/>
            <a:ln w="23812">
              <a:solidFill>
                <a:srgbClr val="00A6A6"/>
              </a:solidFill>
            </a:ln>
          </p:spPr>
        </p:sp>
        <p:sp>
          <p:nvSpPr>
            <p:cNvPr id="27" name="Ellipse 27"/>
            <p:cNvSpPr/>
            <p:nvPr/>
          </p:nvSpPr>
          <p:spPr>
            <a:xfrm>
              <a:off x="914400" y="3819525"/>
              <a:ext cx="76200" cy="76200"/>
            </a:xfrm>
            <a:prstGeom prst="ellipse">
              <a:avLst/>
            </a:prstGeom>
            <a:solidFill>
              <a:srgbClr val="12355B"/>
            </a:solidFill>
            <a:ln>
              <a:noFill/>
            </a:ln>
          </p:spPr>
        </p:sp>
        <p:sp>
          <p:nvSpPr>
            <p:cNvPr id="28" name="Ellipse 28"/>
            <p:cNvSpPr/>
            <p:nvPr/>
          </p:nvSpPr>
          <p:spPr>
            <a:xfrm>
              <a:off x="1866900" y="3343275"/>
              <a:ext cx="76200" cy="76200"/>
            </a:xfrm>
            <a:prstGeom prst="ellipse">
              <a:avLst/>
            </a:prstGeom>
            <a:solidFill>
              <a:srgbClr val="12355B"/>
            </a:solidFill>
            <a:ln>
              <a:noFill/>
            </a:ln>
          </p:spPr>
        </p:sp>
        <p:sp>
          <p:nvSpPr>
            <p:cNvPr id="29" name="Ellipse 29"/>
            <p:cNvSpPr/>
            <p:nvPr/>
          </p:nvSpPr>
          <p:spPr>
            <a:xfrm>
              <a:off x="2819400" y="2867025"/>
              <a:ext cx="76200" cy="76200"/>
            </a:xfrm>
            <a:prstGeom prst="ellipse">
              <a:avLst/>
            </a:prstGeom>
            <a:solidFill>
              <a:srgbClr val="12355B"/>
            </a:solidFill>
            <a:ln>
              <a:noFill/>
            </a:ln>
          </p:spPr>
        </p:sp>
        <p:sp>
          <p:nvSpPr>
            <p:cNvPr id="30" name="Ellipse 30"/>
            <p:cNvSpPr/>
            <p:nvPr/>
          </p:nvSpPr>
          <p:spPr>
            <a:xfrm>
              <a:off x="3771900" y="2486025"/>
              <a:ext cx="76200" cy="76200"/>
            </a:xfrm>
            <a:prstGeom prst="ellipse">
              <a:avLst/>
            </a:prstGeom>
            <a:solidFill>
              <a:srgbClr val="12355B"/>
            </a:solidFill>
            <a:ln>
              <a:noFill/>
            </a:ln>
          </p:spPr>
        </p:sp>
        <p:sp>
          <p:nvSpPr>
            <p:cNvPr id="31" name="Ellipse 31"/>
            <p:cNvSpPr/>
            <p:nvPr/>
          </p:nvSpPr>
          <p:spPr>
            <a:xfrm>
              <a:off x="4724400" y="2219325"/>
              <a:ext cx="76200" cy="76200"/>
            </a:xfrm>
            <a:prstGeom prst="ellipse">
              <a:avLst/>
            </a:prstGeom>
            <a:solidFill>
              <a:srgbClr val="12355B"/>
            </a:solidFill>
            <a:ln>
              <a:noFill/>
            </a:ln>
          </p:spPr>
        </p:sp>
        <p:sp>
          <p:nvSpPr>
            <p:cNvPr id="32" name="Ellipse 32"/>
            <p:cNvSpPr/>
            <p:nvPr/>
          </p:nvSpPr>
          <p:spPr>
            <a:xfrm>
              <a:off x="5676900" y="2124075"/>
              <a:ext cx="76200" cy="76200"/>
            </a:xfrm>
            <a:prstGeom prst="ellipse">
              <a:avLst/>
            </a:prstGeom>
            <a:solidFill>
              <a:srgbClr val="12355B"/>
            </a:solidFill>
            <a:ln>
              <a:noFill/>
            </a:ln>
          </p:spPr>
        </p:sp>
        <p:sp>
          <p:nvSpPr>
            <p:cNvPr id="33" name="Ellipse 33"/>
            <p:cNvSpPr/>
            <p:nvPr/>
          </p:nvSpPr>
          <p:spPr>
            <a:xfrm>
              <a:off x="914400" y="3819525"/>
              <a:ext cx="76200" cy="76200"/>
            </a:xfrm>
            <a:prstGeom prst="ellipse">
              <a:avLst/>
            </a:prstGeom>
            <a:solidFill>
              <a:srgbClr val="00A6A6"/>
            </a:solidFill>
            <a:ln>
              <a:noFill/>
            </a:ln>
          </p:spPr>
        </p:sp>
        <p:sp>
          <p:nvSpPr>
            <p:cNvPr id="34" name="Ellipse 34"/>
            <p:cNvSpPr/>
            <p:nvPr/>
          </p:nvSpPr>
          <p:spPr>
            <a:xfrm>
              <a:off x="1866900" y="3152775"/>
              <a:ext cx="76200" cy="76200"/>
            </a:xfrm>
            <a:prstGeom prst="ellipse">
              <a:avLst/>
            </a:prstGeom>
            <a:solidFill>
              <a:srgbClr val="00A6A6"/>
            </a:solidFill>
            <a:ln>
              <a:noFill/>
            </a:ln>
          </p:spPr>
        </p:sp>
        <p:sp>
          <p:nvSpPr>
            <p:cNvPr id="35" name="Ellipse 35"/>
            <p:cNvSpPr/>
            <p:nvPr/>
          </p:nvSpPr>
          <p:spPr>
            <a:xfrm>
              <a:off x="2819400" y="2695575"/>
              <a:ext cx="76200" cy="76200"/>
            </a:xfrm>
            <a:prstGeom prst="ellipse">
              <a:avLst/>
            </a:prstGeom>
            <a:solidFill>
              <a:srgbClr val="00A6A6"/>
            </a:solidFill>
            <a:ln>
              <a:noFill/>
            </a:ln>
          </p:spPr>
        </p:sp>
        <p:sp>
          <p:nvSpPr>
            <p:cNvPr id="36" name="Ellipse 36"/>
            <p:cNvSpPr/>
            <p:nvPr/>
          </p:nvSpPr>
          <p:spPr>
            <a:xfrm>
              <a:off x="3771900" y="2619375"/>
              <a:ext cx="76200" cy="76200"/>
            </a:xfrm>
            <a:prstGeom prst="ellipse">
              <a:avLst/>
            </a:prstGeom>
            <a:solidFill>
              <a:srgbClr val="00A6A6"/>
            </a:solidFill>
            <a:ln>
              <a:noFill/>
            </a:ln>
          </p:spPr>
        </p:sp>
        <p:sp>
          <p:nvSpPr>
            <p:cNvPr id="37" name="Ellipse 37"/>
            <p:cNvSpPr/>
            <p:nvPr/>
          </p:nvSpPr>
          <p:spPr>
            <a:xfrm>
              <a:off x="4724400" y="2733675"/>
              <a:ext cx="76200" cy="76200"/>
            </a:xfrm>
            <a:prstGeom prst="ellipse">
              <a:avLst/>
            </a:prstGeom>
            <a:solidFill>
              <a:srgbClr val="00A6A6"/>
            </a:solidFill>
            <a:ln>
              <a:noFill/>
            </a:ln>
          </p:spPr>
        </p:sp>
        <p:sp>
          <p:nvSpPr>
            <p:cNvPr id="38" name="Ellipse 38"/>
            <p:cNvSpPr/>
            <p:nvPr/>
          </p:nvSpPr>
          <p:spPr>
            <a:xfrm>
              <a:off x="5676900" y="2905125"/>
              <a:ext cx="76200" cy="76200"/>
            </a:xfrm>
            <a:prstGeom prst="ellipse">
              <a:avLst/>
            </a:prstGeom>
            <a:solidFill>
              <a:srgbClr val="00A6A6"/>
            </a:solidFill>
            <a:ln>
              <a:noFill/>
            </a:ln>
          </p:spPr>
        </p:sp>
        <p:sp>
          <p:nvSpPr>
            <p:cNvPr id="39" name="Rectangle 39"/>
            <p:cNvSpPr/>
            <p:nvPr/>
          </p:nvSpPr>
          <p:spPr>
            <a:xfrm>
              <a:off x="952500" y="4305300"/>
              <a:ext cx="152400" cy="38100"/>
            </a:xfrm>
            <a:prstGeom prst="rect">
              <a:avLst/>
            </a:prstGeom>
            <a:solidFill>
              <a:srgbClr val="12355B"/>
            </a:solidFill>
            <a:ln>
              <a:noFill/>
            </a:ln>
          </p:spPr>
        </p:sp>
        <p:sp>
          <p:nvSpPr>
            <p:cNvPr id="40" name="TextBox 40"/>
            <p:cNvSpPr txBox="1"/>
            <p:nvPr/>
          </p:nvSpPr>
          <p:spPr>
            <a:xfrm>
              <a:off x="1175766" y="4249102"/>
              <a:ext cx="242638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Eğitim doğruluğu (1.0'a tırmanır)</a:t>
              </a:r>
            </a:p>
          </p:txBody>
        </p:sp>
        <p:sp>
          <p:nvSpPr>
            <p:cNvPr id="41" name="Rectangle 41"/>
            <p:cNvSpPr/>
            <p:nvPr/>
          </p:nvSpPr>
          <p:spPr>
            <a:xfrm>
              <a:off x="952500" y="4457700"/>
              <a:ext cx="152400" cy="38100"/>
            </a:xfrm>
            <a:prstGeom prst="rect">
              <a:avLst/>
            </a:prstGeom>
            <a:solidFill>
              <a:srgbClr val="00A6A6"/>
            </a:solidFill>
            <a:ln>
              <a:noFill/>
            </a:ln>
          </p:spPr>
        </p:sp>
        <p:sp>
          <p:nvSpPr>
            <p:cNvPr id="42" name="TextBox 42"/>
            <p:cNvSpPr txBox="1"/>
            <p:nvPr/>
          </p:nvSpPr>
          <p:spPr>
            <a:xfrm>
              <a:off x="1175766" y="4401502"/>
              <a:ext cx="287793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Test doğruluğu (bir tepeden sonra düşer)</a:t>
              </a:r>
            </a:p>
          </p:txBody>
        </p:sp>
      </p:grpSp>
      <p:grpSp>
        <p:nvGrpSpPr>
          <p:cNvPr id="47" name="pre-pruning"/>
          <p:cNvGrpSpPr/>
          <p:nvPr/>
        </p:nvGrpSpPr>
        <p:grpSpPr>
          <a:xfrm>
            <a:off x="6324600" y="1257300"/>
            <a:ext cx="5257800" cy="1428750"/>
            <a:chOff x="6324600" y="1257300"/>
            <a:chExt cx="5257800" cy="1428750"/>
          </a:xfrm>
        </p:grpSpPr>
        <p:sp>
          <p:nvSpPr>
            <p:cNvPr id="44" name="Rectangle 44"/>
            <p:cNvSpPr/>
            <p:nvPr/>
          </p:nvSpPr>
          <p:spPr>
            <a:xfrm>
              <a:off x="6324600" y="1257300"/>
              <a:ext cx="5257800" cy="1428750"/>
            </a:xfrm>
            <a:prstGeom prst="roundRect">
              <a:avLst>
                <a:gd name="adj" fmla="val 6667"/>
              </a:avLst>
            </a:prstGeom>
            <a:solidFill>
              <a:srgbClr val="FFFFFF"/>
            </a:solidFill>
            <a:ln w="14288">
              <a:solidFill>
                <a:srgbClr val="2E86AB"/>
              </a:solidFill>
            </a:ln>
          </p:spPr>
        </p:sp>
        <p:sp>
          <p:nvSpPr>
            <p:cNvPr id="45" name="TextBox 45"/>
            <p:cNvSpPr txBox="1"/>
            <p:nvPr/>
          </p:nvSpPr>
          <p:spPr>
            <a:xfrm>
              <a:off x="6545199" y="1392079"/>
              <a:ext cx="272684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Pre-pruning (ön budama)</a:t>
              </a:r>
            </a:p>
          </p:txBody>
        </p:sp>
        <p:sp>
          <p:nvSpPr>
            <p:cNvPr id="46" name="TextBox 46"/>
            <p:cNvSpPr txBox="1"/>
            <p:nvPr/>
          </p:nvSpPr>
          <p:spPr>
            <a:xfrm>
              <a:off x="6547104" y="1699260"/>
              <a:ext cx="32125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Ağaç büyürken durdurma koşulu konur</a:t>
              </a:r>
              <a:br/>
              <a:r>
                <a:rPr lang="tr-TR" sz="1200" dirty="0">
                  <a:solidFill>
                    <a:srgbClr val="172B3A"/>
                  </a:solidFill>
                  <a:latin typeface="+mn-lt"/>
                  <a:ea typeface="+mn-ea"/>
                  <a:cs typeface="+mn-cs"/>
                </a:rPr>
                <a:t>(max_depth, min_samples_leaf). Ucuzdur</a:t>
              </a:r>
              <a:br/>
              <a:r>
                <a:rPr lang="tr-TR" sz="1200" dirty="0">
                  <a:solidFill>
                    <a:srgbClr val="172B3A"/>
                  </a:solidFill>
                  <a:latin typeface="+mn-lt"/>
                  <a:ea typeface="+mn-ea"/>
                  <a:cs typeface="+mn-cs"/>
                </a:rPr>
                <a:t>ama "erken durdurma" riski taşır — değerli</a:t>
              </a:r>
              <a:br/>
              <a:r>
                <a:rPr lang="tr-TR" sz="1200" dirty="0">
                  <a:solidFill>
                    <a:srgbClr val="172B3A"/>
                  </a:solidFill>
                  <a:latin typeface="+mn-lt"/>
                  <a:ea typeface="+mn-ea"/>
                  <a:cs typeface="+mn-cs"/>
                </a:rPr>
                <a:t>bir ayrımın fırsatını kaçırabilir.</a:t>
              </a:r>
            </a:p>
          </p:txBody>
        </p:sp>
      </p:grpSp>
      <p:grpSp>
        <p:nvGrpSpPr>
          <p:cNvPr id="51" name="post-pruning"/>
          <p:cNvGrpSpPr/>
          <p:nvPr/>
        </p:nvGrpSpPr>
        <p:grpSpPr>
          <a:xfrm>
            <a:off x="6324600" y="2819400"/>
            <a:ext cx="5257800" cy="1428750"/>
            <a:chOff x="6324600" y="2819400"/>
            <a:chExt cx="5257800" cy="1428750"/>
          </a:xfrm>
        </p:grpSpPr>
        <p:sp>
          <p:nvSpPr>
            <p:cNvPr id="48" name="Rectangle 48"/>
            <p:cNvSpPr/>
            <p:nvPr/>
          </p:nvSpPr>
          <p:spPr>
            <a:xfrm>
              <a:off x="6324600" y="2819400"/>
              <a:ext cx="5257800" cy="1428750"/>
            </a:xfrm>
            <a:prstGeom prst="roundRect">
              <a:avLst>
                <a:gd name="adj" fmla="val 6667"/>
              </a:avLst>
            </a:prstGeom>
            <a:solidFill>
              <a:srgbClr val="FFFFFF"/>
            </a:solidFill>
            <a:ln w="14288">
              <a:solidFill>
                <a:srgbClr val="2E86AB"/>
              </a:solidFill>
            </a:ln>
          </p:spPr>
        </p:sp>
        <p:sp>
          <p:nvSpPr>
            <p:cNvPr id="49" name="TextBox 49"/>
            <p:cNvSpPr txBox="1"/>
            <p:nvPr/>
          </p:nvSpPr>
          <p:spPr>
            <a:xfrm>
              <a:off x="6545199" y="2954179"/>
              <a:ext cx="297236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Post-pruning (son budama)</a:t>
              </a:r>
            </a:p>
          </p:txBody>
        </p:sp>
        <p:sp>
          <p:nvSpPr>
            <p:cNvPr id="50" name="TextBox 50"/>
            <p:cNvSpPr txBox="1"/>
            <p:nvPr/>
          </p:nvSpPr>
          <p:spPr>
            <a:xfrm>
              <a:off x="6547104" y="3261360"/>
              <a:ext cx="30982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Ağaç tam büyütülür, sonra maliyet-</a:t>
              </a:r>
              <a:br/>
              <a:r>
                <a:rPr lang="tr-TR" sz="1200" dirty="0">
                  <a:solidFill>
                    <a:srgbClr val="172B3A"/>
                  </a:solidFill>
                  <a:latin typeface="+mn-lt"/>
                  <a:ea typeface="+mn-ea"/>
                  <a:cs typeface="+mn-cs"/>
                </a:rPr>
                <a:t>karmaşıklık analiziyle (ccp_alpha) geriye</a:t>
              </a:r>
              <a:br/>
              <a:r>
                <a:rPr lang="tr-TR" sz="1200" dirty="0">
                  <a:solidFill>
                    <a:srgbClr val="172B3A"/>
                  </a:solidFill>
                  <a:latin typeface="+mn-lt"/>
                  <a:ea typeface="+mn-ea"/>
                  <a:cs typeface="+mn-cs"/>
                </a:rPr>
                <a:t>doğru budanır. Daha isabetlidir ama</a:t>
              </a:r>
              <a:br/>
              <a:r>
                <a:rPr lang="tr-TR" sz="1200" dirty="0">
                  <a:solidFill>
                    <a:srgbClr val="172B3A"/>
                  </a:solidFill>
                  <a:latin typeface="+mn-lt"/>
                  <a:ea typeface="+mn-ea"/>
                  <a:cs typeface="+mn-cs"/>
                </a:rPr>
                <a:t>hesaplama maliyeti daha yüksektir.</a:t>
              </a:r>
            </a:p>
          </p:txBody>
        </p:sp>
      </p:grpSp>
      <p:grpSp>
        <p:nvGrpSpPr>
          <p:cNvPr id="55" name="pruning-result"/>
          <p:cNvGrpSpPr/>
          <p:nvPr/>
        </p:nvGrpSpPr>
        <p:grpSpPr>
          <a:xfrm>
            <a:off x="609600" y="4705350"/>
            <a:ext cx="10972800" cy="742950"/>
            <a:chOff x="609600" y="4705350"/>
            <a:chExt cx="10972800" cy="742950"/>
          </a:xfrm>
        </p:grpSpPr>
        <p:sp>
          <p:nvSpPr>
            <p:cNvPr id="52" name="Rectangle 52"/>
            <p:cNvSpPr/>
            <p:nvPr/>
          </p:nvSpPr>
          <p:spPr>
            <a:xfrm>
              <a:off x="609600" y="4705350"/>
              <a:ext cx="10972800" cy="742950"/>
            </a:xfrm>
            <a:prstGeom prst="roundRect">
              <a:avLst>
                <a:gd name="adj" fmla="val 10256"/>
              </a:avLst>
            </a:prstGeom>
            <a:solidFill>
              <a:srgbClr val="EAF4F6"/>
            </a:solidFill>
            <a:ln>
              <a:noFill/>
            </a:ln>
          </p:spPr>
        </p:sp>
        <p:sp>
          <p:nvSpPr>
            <p:cNvPr id="53" name="TextBox 53"/>
            <p:cNvSpPr txBox="1"/>
            <p:nvPr/>
          </p:nvSpPr>
          <p:spPr>
            <a:xfrm>
              <a:off x="907542" y="4845368"/>
              <a:ext cx="741768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min_samples_leaf=10 → derinlik 18'den 6'ya iner, test doğruluğu 0.733'te kalır</a:t>
              </a:r>
            </a:p>
          </p:txBody>
        </p:sp>
        <p:sp>
          <p:nvSpPr>
            <p:cNvPr id="54" name="TextBox 54"/>
            <p:cNvSpPr txBox="1"/>
            <p:nvPr/>
          </p:nvSpPr>
          <p:spPr>
            <a:xfrm>
              <a:off x="908304" y="5109210"/>
              <a:ext cx="53969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Çok daha basit ama aynı genelleme gücüne sahip bir model elde edilir.</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306743" cy="668845"/>
            <a:chOff x="609600" y="171450"/>
            <a:chExt cx="8306743"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61637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Karar ağacı: ne zaman tercih edilmeli?</a:t>
              </a:r>
            </a:p>
          </p:txBody>
        </p:sp>
      </p:grpSp>
      <p:grpSp>
        <p:nvGrpSpPr>
          <p:cNvPr id="21" name="when-good"/>
          <p:cNvGrpSpPr/>
          <p:nvPr/>
        </p:nvGrpSpPr>
        <p:grpSpPr>
          <a:xfrm>
            <a:off x="609600" y="1257300"/>
            <a:ext cx="5257800" cy="2381250"/>
            <a:chOff x="609600" y="1257300"/>
            <a:chExt cx="5257800" cy="2381250"/>
          </a:xfrm>
        </p:grpSpPr>
        <p:sp>
          <p:nvSpPr>
            <p:cNvPr id="11" name="Rectangle 11"/>
            <p:cNvSpPr/>
            <p:nvPr/>
          </p:nvSpPr>
          <p:spPr>
            <a:xfrm>
              <a:off x="609600" y="1257300"/>
              <a:ext cx="5257800" cy="2381250"/>
            </a:xfrm>
            <a:prstGeom prst="roundRect">
              <a:avLst>
                <a:gd name="adj" fmla="val 4000"/>
              </a:avLst>
            </a:prstGeom>
            <a:solidFill>
              <a:srgbClr val="EAF4F6"/>
            </a:solidFill>
            <a:ln>
              <a:noFill/>
            </a:ln>
          </p:spPr>
        </p:sp>
        <p:sp>
          <p:nvSpPr>
            <p:cNvPr id="12" name="TextBox 12"/>
            <p:cNvSpPr txBox="1"/>
            <p:nvPr/>
          </p:nvSpPr>
          <p:spPr>
            <a:xfrm>
              <a:off x="830199" y="1392079"/>
              <a:ext cx="23792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İyi bir seçimdir çünkü</a:t>
              </a:r>
            </a:p>
          </p:txBody>
        </p:sp>
        <p:sp>
          <p:nvSpPr>
            <p:cNvPr id="13" name="Rectangle 13"/>
            <p:cNvSpPr/>
            <p:nvPr/>
          </p:nvSpPr>
          <p:spPr>
            <a:xfrm>
              <a:off x="838200" y="1733550"/>
              <a:ext cx="57150" cy="247650"/>
            </a:xfrm>
            <a:prstGeom prst="rect">
              <a:avLst/>
            </a:prstGeom>
            <a:solidFill>
              <a:srgbClr val="00A6A6"/>
            </a:solidFill>
            <a:ln>
              <a:noFill/>
            </a:ln>
          </p:spPr>
        </p:sp>
        <p:sp>
          <p:nvSpPr>
            <p:cNvPr id="14" name="TextBox 14"/>
            <p:cNvSpPr txBox="1"/>
            <p:nvPr/>
          </p:nvSpPr>
          <p:spPr>
            <a:xfrm>
              <a:off x="1022604" y="1775460"/>
              <a:ext cx="36195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Yorumlanabilirlik kritikse (kredi/klinik karar)</a:t>
              </a:r>
            </a:p>
          </p:txBody>
        </p:sp>
        <p:sp>
          <p:nvSpPr>
            <p:cNvPr id="15" name="Rectangle 15"/>
            <p:cNvSpPr/>
            <p:nvPr/>
          </p:nvSpPr>
          <p:spPr>
            <a:xfrm>
              <a:off x="838200" y="2057400"/>
              <a:ext cx="57150" cy="247650"/>
            </a:xfrm>
            <a:prstGeom prst="rect">
              <a:avLst/>
            </a:prstGeom>
            <a:solidFill>
              <a:srgbClr val="00A6A6"/>
            </a:solidFill>
            <a:ln>
              <a:noFill/>
            </a:ln>
          </p:spPr>
        </p:sp>
        <p:sp>
          <p:nvSpPr>
            <p:cNvPr id="16" name="TextBox 16"/>
            <p:cNvSpPr txBox="1"/>
            <p:nvPr/>
          </p:nvSpPr>
          <p:spPr>
            <a:xfrm>
              <a:off x="1022604" y="2099310"/>
              <a:ext cx="34580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Öznitelikler arası karmaşık etkileşim varsa</a:t>
              </a:r>
            </a:p>
          </p:txBody>
        </p:sp>
        <p:sp>
          <p:nvSpPr>
            <p:cNvPr id="17" name="Rectangle 17"/>
            <p:cNvSpPr/>
            <p:nvPr/>
          </p:nvSpPr>
          <p:spPr>
            <a:xfrm>
              <a:off x="838200" y="2381250"/>
              <a:ext cx="57150" cy="247650"/>
            </a:xfrm>
            <a:prstGeom prst="rect">
              <a:avLst/>
            </a:prstGeom>
            <a:solidFill>
              <a:srgbClr val="00A6A6"/>
            </a:solidFill>
            <a:ln>
              <a:noFill/>
            </a:ln>
          </p:spPr>
        </p:sp>
        <p:sp>
          <p:nvSpPr>
            <p:cNvPr id="18" name="TextBox 18"/>
            <p:cNvSpPr txBox="1"/>
            <p:nvPr/>
          </p:nvSpPr>
          <p:spPr>
            <a:xfrm>
              <a:off x="1022604" y="2423160"/>
              <a:ext cx="41933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Karışık tipte öznitelikler (kategorik+sayısal) varsa</a:t>
              </a:r>
            </a:p>
          </p:txBody>
        </p:sp>
        <p:sp>
          <p:nvSpPr>
            <p:cNvPr id="19" name="Rectangle 19"/>
            <p:cNvSpPr/>
            <p:nvPr/>
          </p:nvSpPr>
          <p:spPr>
            <a:xfrm>
              <a:off x="838200" y="2705100"/>
              <a:ext cx="57150" cy="247650"/>
            </a:xfrm>
            <a:prstGeom prst="rect">
              <a:avLst/>
            </a:prstGeom>
            <a:solidFill>
              <a:srgbClr val="00A6A6"/>
            </a:solidFill>
            <a:ln>
              <a:noFill/>
            </a:ln>
          </p:spPr>
        </p:sp>
        <p:sp>
          <p:nvSpPr>
            <p:cNvPr id="20" name="TextBox 20"/>
            <p:cNvSpPr txBox="1"/>
            <p:nvPr/>
          </p:nvSpPr>
          <p:spPr>
            <a:xfrm>
              <a:off x="1022604" y="2747010"/>
              <a:ext cx="27634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Ölçeklendirme yapmak istenmiyorsa</a:t>
              </a:r>
            </a:p>
          </p:txBody>
        </p:sp>
      </p:grpSp>
      <p:grpSp>
        <p:nvGrpSpPr>
          <p:cNvPr id="30" name="when-bad"/>
          <p:cNvGrpSpPr/>
          <p:nvPr/>
        </p:nvGrpSpPr>
        <p:grpSpPr>
          <a:xfrm>
            <a:off x="609600" y="3790950"/>
            <a:ext cx="5257800" cy="1905000"/>
            <a:chOff x="609600" y="3790950"/>
            <a:chExt cx="5257800" cy="1905000"/>
          </a:xfrm>
        </p:grpSpPr>
        <p:sp>
          <p:nvSpPr>
            <p:cNvPr id="22" name="Rectangle 22"/>
            <p:cNvSpPr/>
            <p:nvPr/>
          </p:nvSpPr>
          <p:spPr>
            <a:xfrm>
              <a:off x="609600" y="3790950"/>
              <a:ext cx="5257800" cy="1905000"/>
            </a:xfrm>
            <a:prstGeom prst="roundRect">
              <a:avLst>
                <a:gd name="adj" fmla="val 5000"/>
              </a:avLst>
            </a:prstGeom>
            <a:solidFill>
              <a:srgbClr val="FFFFFF"/>
            </a:solidFill>
            <a:ln w="14288">
              <a:solidFill>
                <a:srgbClr val="B8CBD3"/>
              </a:solidFill>
            </a:ln>
          </p:spPr>
        </p:sp>
        <p:sp>
          <p:nvSpPr>
            <p:cNvPr id="23" name="TextBox 23"/>
            <p:cNvSpPr txBox="1"/>
            <p:nvPr/>
          </p:nvSpPr>
          <p:spPr>
            <a:xfrm>
              <a:off x="830199" y="3925729"/>
              <a:ext cx="31718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Dezavantajlı olduğu durumlar</a:t>
              </a:r>
            </a:p>
          </p:txBody>
        </p:sp>
        <p:sp>
          <p:nvSpPr>
            <p:cNvPr id="24" name="Rectangle 24"/>
            <p:cNvSpPr/>
            <p:nvPr/>
          </p:nvSpPr>
          <p:spPr>
            <a:xfrm>
              <a:off x="838200" y="4267200"/>
              <a:ext cx="57150" cy="247650"/>
            </a:xfrm>
            <a:prstGeom prst="rect">
              <a:avLst/>
            </a:prstGeom>
            <a:solidFill>
              <a:srgbClr val="52616B"/>
            </a:solidFill>
            <a:ln>
              <a:noFill/>
            </a:ln>
          </p:spPr>
        </p:sp>
        <p:sp>
          <p:nvSpPr>
            <p:cNvPr id="25" name="TextBox 25"/>
            <p:cNvSpPr txBox="1"/>
            <p:nvPr/>
          </p:nvSpPr>
          <p:spPr>
            <a:xfrm>
              <a:off x="1022604" y="4309110"/>
              <a:ext cx="35151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küçük ve gürültülüyse (yüksek varyans)</a:t>
              </a:r>
            </a:p>
          </p:txBody>
        </p:sp>
        <p:sp>
          <p:nvSpPr>
            <p:cNvPr id="26" name="Rectangle 26"/>
            <p:cNvSpPr/>
            <p:nvPr/>
          </p:nvSpPr>
          <p:spPr>
            <a:xfrm>
              <a:off x="838200" y="4591050"/>
              <a:ext cx="57150" cy="247650"/>
            </a:xfrm>
            <a:prstGeom prst="rect">
              <a:avLst/>
            </a:prstGeom>
            <a:solidFill>
              <a:srgbClr val="52616B"/>
            </a:solidFill>
            <a:ln>
              <a:noFill/>
            </a:ln>
          </p:spPr>
        </p:sp>
        <p:sp>
          <p:nvSpPr>
            <p:cNvPr id="27" name="TextBox 27"/>
            <p:cNvSpPr txBox="1"/>
            <p:nvPr/>
          </p:nvSpPr>
          <p:spPr>
            <a:xfrm>
              <a:off x="1022604" y="4632960"/>
              <a:ext cx="37978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ağaç yerine orman/gradyan artırma gerekir</a:t>
              </a:r>
            </a:p>
          </p:txBody>
        </p:sp>
        <p:sp>
          <p:nvSpPr>
            <p:cNvPr id="28" name="Rectangle 28"/>
            <p:cNvSpPr/>
            <p:nvPr/>
          </p:nvSpPr>
          <p:spPr>
            <a:xfrm>
              <a:off x="838200" y="4914900"/>
              <a:ext cx="57150" cy="247650"/>
            </a:xfrm>
            <a:prstGeom prst="rect">
              <a:avLst/>
            </a:prstGeom>
            <a:solidFill>
              <a:srgbClr val="52616B"/>
            </a:solidFill>
            <a:ln>
              <a:noFill/>
            </a:ln>
          </p:spPr>
        </p:sp>
        <p:sp>
          <p:nvSpPr>
            <p:cNvPr id="29" name="TextBox 29"/>
            <p:cNvSpPr txBox="1"/>
            <p:nvPr/>
          </p:nvSpPr>
          <p:spPr>
            <a:xfrm>
              <a:off x="1022604" y="4956810"/>
              <a:ext cx="39107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Çok yüksek boyutlu, seyrek metin verisinde zayıf</a:t>
              </a:r>
            </a:p>
          </p:txBody>
        </p:sp>
      </p:grpSp>
      <p:grpSp>
        <p:nvGrpSpPr>
          <p:cNvPr id="59" name="criteria-table"/>
          <p:cNvGrpSpPr/>
          <p:nvPr/>
        </p:nvGrpSpPr>
        <p:grpSpPr>
          <a:xfrm>
            <a:off x="6324600" y="1257300"/>
            <a:ext cx="5257800" cy="3695700"/>
            <a:chOff x="6324600" y="1257300"/>
            <a:chExt cx="5257800" cy="3695700"/>
          </a:xfrm>
        </p:grpSpPr>
        <p:sp>
          <p:nvSpPr>
            <p:cNvPr id="31" name="Rectangle 31"/>
            <p:cNvSpPr/>
            <p:nvPr/>
          </p:nvSpPr>
          <p:spPr>
            <a:xfrm>
              <a:off x="6324600" y="1257300"/>
              <a:ext cx="5257800" cy="381000"/>
            </a:xfrm>
            <a:prstGeom prst="rect">
              <a:avLst/>
            </a:prstGeom>
            <a:solidFill>
              <a:srgbClr val="12355B"/>
            </a:solidFill>
            <a:ln>
              <a:noFill/>
            </a:ln>
          </p:spPr>
        </p:sp>
        <p:sp>
          <p:nvSpPr>
            <p:cNvPr id="32" name="TextBox 32"/>
            <p:cNvSpPr txBox="1"/>
            <p:nvPr/>
          </p:nvSpPr>
          <p:spPr>
            <a:xfrm>
              <a:off x="6509385" y="1383506"/>
              <a:ext cx="563435"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KRİTER</a:t>
              </a:r>
            </a:p>
          </p:txBody>
        </p:sp>
        <p:sp>
          <p:nvSpPr>
            <p:cNvPr id="33" name="TextBox 33"/>
            <p:cNvSpPr txBox="1"/>
            <p:nvPr/>
          </p:nvSpPr>
          <p:spPr>
            <a:xfrm>
              <a:off x="8414385" y="1383506"/>
              <a:ext cx="379433"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GİNİ</a:t>
              </a:r>
            </a:p>
          </p:txBody>
        </p:sp>
        <p:sp>
          <p:nvSpPr>
            <p:cNvPr id="34" name="TextBox 34"/>
            <p:cNvSpPr txBox="1"/>
            <p:nvPr/>
          </p:nvSpPr>
          <p:spPr>
            <a:xfrm>
              <a:off x="9938385" y="1383506"/>
              <a:ext cx="688891"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ENTROPİ</a:t>
              </a:r>
            </a:p>
          </p:txBody>
        </p:sp>
        <p:sp>
          <p:nvSpPr>
            <p:cNvPr id="35" name="Line 35"/>
            <p:cNvSpPr/>
            <p:nvPr/>
          </p:nvSpPr>
          <p:spPr>
            <a:xfrm>
              <a:off x="6324600" y="16383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36" name="TextBox 36"/>
            <p:cNvSpPr txBox="1"/>
            <p:nvPr/>
          </p:nvSpPr>
          <p:spPr>
            <a:xfrm>
              <a:off x="6509385" y="1821656"/>
              <a:ext cx="138048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Hesaplama maliyeti</a:t>
              </a:r>
            </a:p>
          </p:txBody>
        </p:sp>
        <p:sp>
          <p:nvSpPr>
            <p:cNvPr id="37" name="TextBox 37"/>
            <p:cNvSpPr txBox="1"/>
            <p:nvPr/>
          </p:nvSpPr>
          <p:spPr>
            <a:xfrm>
              <a:off x="8414385" y="1821656"/>
              <a:ext cx="43075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Düşük</a:t>
              </a:r>
            </a:p>
          </p:txBody>
        </p:sp>
        <p:sp>
          <p:nvSpPr>
            <p:cNvPr id="38" name="TextBox 38"/>
            <p:cNvSpPr txBox="1"/>
            <p:nvPr/>
          </p:nvSpPr>
          <p:spPr>
            <a:xfrm>
              <a:off x="9938385" y="1821656"/>
              <a:ext cx="93588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Biraz yüksek</a:t>
              </a:r>
            </a:p>
          </p:txBody>
        </p:sp>
        <p:sp>
          <p:nvSpPr>
            <p:cNvPr id="39" name="Line 39"/>
            <p:cNvSpPr/>
            <p:nvPr/>
          </p:nvSpPr>
          <p:spPr>
            <a:xfrm>
              <a:off x="6324600" y="20955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0" name="TextBox 40"/>
            <p:cNvSpPr txBox="1"/>
            <p:nvPr/>
          </p:nvSpPr>
          <p:spPr>
            <a:xfrm>
              <a:off x="6509385" y="2278856"/>
              <a:ext cx="141102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Aralık (ikili sınıf)</a:t>
              </a:r>
            </a:p>
          </p:txBody>
        </p:sp>
        <p:sp>
          <p:nvSpPr>
            <p:cNvPr id="41" name="TextBox 41"/>
            <p:cNvSpPr txBox="1"/>
            <p:nvPr/>
          </p:nvSpPr>
          <p:spPr>
            <a:xfrm>
              <a:off x="8414385" y="2278856"/>
              <a:ext cx="42606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0–0.5</a:t>
              </a:r>
            </a:p>
          </p:txBody>
        </p:sp>
        <p:sp>
          <p:nvSpPr>
            <p:cNvPr id="42" name="TextBox 42"/>
            <p:cNvSpPr txBox="1"/>
            <p:nvPr/>
          </p:nvSpPr>
          <p:spPr>
            <a:xfrm>
              <a:off x="9938385" y="2278856"/>
              <a:ext cx="68237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0–1 (bit)</a:t>
              </a:r>
            </a:p>
          </p:txBody>
        </p:sp>
        <p:sp>
          <p:nvSpPr>
            <p:cNvPr id="43" name="Line 43"/>
            <p:cNvSpPr/>
            <p:nvPr/>
          </p:nvSpPr>
          <p:spPr>
            <a:xfrm>
              <a:off x="6324600" y="25527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4" name="TextBox 44"/>
            <p:cNvSpPr txBox="1"/>
            <p:nvPr/>
          </p:nvSpPr>
          <p:spPr>
            <a:xfrm>
              <a:off x="6509385" y="2736056"/>
              <a:ext cx="135022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Kullanan algoritma</a:t>
              </a:r>
            </a:p>
          </p:txBody>
        </p:sp>
        <p:sp>
          <p:nvSpPr>
            <p:cNvPr id="45" name="TextBox 45"/>
            <p:cNvSpPr txBox="1"/>
            <p:nvPr/>
          </p:nvSpPr>
          <p:spPr>
            <a:xfrm>
              <a:off x="8414385" y="2736056"/>
              <a:ext cx="36190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CART</a:t>
              </a:r>
            </a:p>
          </p:txBody>
        </p:sp>
        <p:sp>
          <p:nvSpPr>
            <p:cNvPr id="46" name="TextBox 46"/>
            <p:cNvSpPr txBox="1"/>
            <p:nvPr/>
          </p:nvSpPr>
          <p:spPr>
            <a:xfrm>
              <a:off x="9938385" y="2736056"/>
              <a:ext cx="72035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ID3, C4.5</a:t>
              </a:r>
            </a:p>
          </p:txBody>
        </p:sp>
        <p:sp>
          <p:nvSpPr>
            <p:cNvPr id="47" name="Line 47"/>
            <p:cNvSpPr/>
            <p:nvPr/>
          </p:nvSpPr>
          <p:spPr>
            <a:xfrm>
              <a:off x="6324600" y="30099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8" name="TextBox 48"/>
            <p:cNvSpPr txBox="1"/>
            <p:nvPr/>
          </p:nvSpPr>
          <p:spPr>
            <a:xfrm>
              <a:off x="6509385" y="3193256"/>
              <a:ext cx="139589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Pratik sonuç farkı</a:t>
              </a:r>
            </a:p>
          </p:txBody>
        </p:sp>
        <p:sp>
          <p:nvSpPr>
            <p:cNvPr id="49" name="TextBox 49"/>
            <p:cNvSpPr txBox="1"/>
            <p:nvPr/>
          </p:nvSpPr>
          <p:spPr>
            <a:xfrm>
              <a:off x="8414385" y="3193256"/>
              <a:ext cx="118465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Entropiye yakın</a:t>
              </a:r>
            </a:p>
          </p:txBody>
        </p:sp>
        <p:sp>
          <p:nvSpPr>
            <p:cNvPr id="50" name="TextBox 50"/>
            <p:cNvSpPr txBox="1"/>
            <p:nvPr/>
          </p:nvSpPr>
          <p:spPr>
            <a:xfrm>
              <a:off x="9938385" y="3193256"/>
              <a:ext cx="981352"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Gini'ye yakın</a:t>
              </a:r>
            </a:p>
          </p:txBody>
        </p:sp>
        <p:sp>
          <p:nvSpPr>
            <p:cNvPr id="51" name="Line 51"/>
            <p:cNvSpPr/>
            <p:nvPr/>
          </p:nvSpPr>
          <p:spPr>
            <a:xfrm>
              <a:off x="6324600" y="34671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52" name="TextBox 52"/>
            <p:cNvSpPr txBox="1"/>
            <p:nvPr/>
          </p:nvSpPr>
          <p:spPr>
            <a:xfrm>
              <a:off x="6509385" y="3650456"/>
              <a:ext cx="85253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Nadir eğilim</a:t>
              </a:r>
            </a:p>
          </p:txBody>
        </p:sp>
        <p:sp>
          <p:nvSpPr>
            <p:cNvPr id="53" name="TextBox 53"/>
            <p:cNvSpPr txBox="1"/>
            <p:nvPr/>
          </p:nvSpPr>
          <p:spPr>
            <a:xfrm>
              <a:off x="6509766" y="3868102"/>
              <a:ext cx="190197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Baskın sınıfa hafif eğilimli</a:t>
              </a:r>
            </a:p>
          </p:txBody>
        </p:sp>
        <p:sp>
          <p:nvSpPr>
            <p:cNvPr id="54" name="TextBox 54"/>
            <p:cNvSpPr txBox="1"/>
            <p:nvPr/>
          </p:nvSpPr>
          <p:spPr>
            <a:xfrm>
              <a:off x="9938385" y="3650456"/>
              <a:ext cx="89799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Daha dengeli</a:t>
              </a:r>
            </a:p>
          </p:txBody>
        </p:sp>
        <p:sp>
          <p:nvSpPr>
            <p:cNvPr id="55" name="TextBox 55"/>
            <p:cNvSpPr txBox="1"/>
            <p:nvPr/>
          </p:nvSpPr>
          <p:spPr>
            <a:xfrm>
              <a:off x="9938766" y="3868102"/>
              <a:ext cx="121921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bölünmeye eğilimli</a:t>
              </a:r>
            </a:p>
          </p:txBody>
        </p:sp>
        <p:sp>
          <p:nvSpPr>
            <p:cNvPr id="56" name="Rectangle 56"/>
            <p:cNvSpPr/>
            <p:nvPr/>
          </p:nvSpPr>
          <p:spPr>
            <a:xfrm>
              <a:off x="6324600" y="4286250"/>
              <a:ext cx="5257800" cy="666750"/>
            </a:xfrm>
            <a:prstGeom prst="roundRect">
              <a:avLst>
                <a:gd name="adj" fmla="val 11429"/>
              </a:avLst>
            </a:prstGeom>
            <a:solidFill>
              <a:srgbClr val="EAF4F6"/>
            </a:solidFill>
            <a:ln>
              <a:noFill/>
            </a:ln>
          </p:spPr>
        </p:sp>
        <p:sp>
          <p:nvSpPr>
            <p:cNvPr id="57" name="TextBox 57"/>
            <p:cNvSpPr txBox="1"/>
            <p:nvPr/>
          </p:nvSpPr>
          <p:spPr>
            <a:xfrm>
              <a:off x="6547485" y="4393406"/>
              <a:ext cx="34920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Pratikte fark %1'in altında kalır; scikit-learn</a:t>
              </a:r>
            </a:p>
          </p:txBody>
        </p:sp>
        <p:sp>
          <p:nvSpPr>
            <p:cNvPr id="58" name="TextBox 58"/>
            <p:cNvSpPr txBox="1"/>
            <p:nvPr/>
          </p:nvSpPr>
          <p:spPr>
            <a:xfrm>
              <a:off x="6547485" y="4602956"/>
              <a:ext cx="27214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varsayılanı Gini'dir (CART tabanlı).</a:t>
              </a:r>
            </a:p>
          </p:txBody>
        </p:sp>
      </p:grpSp>
      <p:sp>
        <p:nvSpPr>
          <p:cNvPr id="60" name="TextBox 6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319708" cy="668845"/>
            <a:chOff x="609600" y="171450"/>
            <a:chExt cx="8319708"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6293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k-NN: benzerlik tabanlı sınıflandırma</a:t>
              </a:r>
            </a:p>
          </p:txBody>
        </p:sp>
      </p:grpSp>
      <p:grpSp>
        <p:nvGrpSpPr>
          <p:cNvPr id="13" name="knn-definition"/>
          <p:cNvGrpSpPr/>
          <p:nvPr/>
        </p:nvGrpSpPr>
        <p:grpSpPr>
          <a:xfrm>
            <a:off x="601599" y="1353979"/>
            <a:ext cx="5342001" cy="2475071"/>
            <a:chOff x="601599" y="1353979"/>
            <a:chExt cx="5342001" cy="2475071"/>
          </a:xfrm>
        </p:grpSpPr>
        <p:sp>
          <p:nvSpPr>
            <p:cNvPr id="9" name="TextBox 9"/>
            <p:cNvSpPr txBox="1"/>
            <p:nvPr/>
          </p:nvSpPr>
          <p:spPr>
            <a:xfrm>
              <a:off x="601599" y="1353979"/>
              <a:ext cx="4831842"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Bir örneği, öznitelik uzayındaki en yakın k</a:t>
              </a:r>
              <a:br/>
              <a:r>
                <a:rPr lang="tr-TR" sz="1580" dirty="0">
                  <a:solidFill>
                    <a:srgbClr val="172B3A"/>
                  </a:solidFill>
                  <a:latin typeface="+mn-lt"/>
                  <a:ea typeface="+mn-ea"/>
                  <a:cs typeface="+mn-cs"/>
                </a:rPr>
                <a:t>komşusunun çoğunluk sınıfına göre etiketleyen,</a:t>
              </a:r>
              <a:br/>
              <a:r>
                <a:rPr lang="tr-TR" sz="1580" dirty="0">
                  <a:solidFill>
                    <a:srgbClr val="172B3A"/>
                  </a:solidFill>
                  <a:latin typeface="+mn-lt"/>
                  <a:ea typeface="+mn-ea"/>
                  <a:cs typeface="+mn-cs"/>
                </a:rPr>
                <a:t>model kurmayan (lazy learning) bir algoritmadır.</a:t>
              </a:r>
            </a:p>
          </p:txBody>
        </p:sp>
        <p:sp>
          <p:nvSpPr>
            <p:cNvPr id="10" name="Rectangle 10"/>
            <p:cNvSpPr/>
            <p:nvPr/>
          </p:nvSpPr>
          <p:spPr>
            <a:xfrm>
              <a:off x="609600" y="2400300"/>
              <a:ext cx="5334000" cy="1428750"/>
            </a:xfrm>
            <a:prstGeom prst="roundRect">
              <a:avLst>
                <a:gd name="adj" fmla="val 6667"/>
              </a:avLst>
            </a:prstGeom>
            <a:solidFill>
              <a:srgbClr val="EAF4F6"/>
            </a:solidFill>
            <a:ln>
              <a:noFill/>
            </a:ln>
          </p:spPr>
        </p:sp>
        <p:sp>
          <p:nvSpPr>
            <p:cNvPr id="11" name="TextBox 11"/>
            <p:cNvSpPr txBox="1"/>
            <p:nvPr/>
          </p:nvSpPr>
          <p:spPr>
            <a:xfrm>
              <a:off x="831342" y="2559368"/>
              <a:ext cx="349715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Eager (Karar Ağacı) vs. Lazy (k-NN)</a:t>
              </a:r>
            </a:p>
          </p:txBody>
        </p:sp>
        <p:sp>
          <p:nvSpPr>
            <p:cNvPr id="12" name="TextBox 12"/>
            <p:cNvSpPr txBox="1"/>
            <p:nvPr/>
          </p:nvSpPr>
          <p:spPr>
            <a:xfrm>
              <a:off x="832104" y="2842260"/>
              <a:ext cx="32659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Karar ağacı eğitimde ağır hesaplama yapıp</a:t>
              </a:r>
              <a:br/>
              <a:r>
                <a:rPr lang="tr-TR" sz="1200" dirty="0">
                  <a:solidFill>
                    <a:srgbClr val="172B3A"/>
                  </a:solidFill>
                  <a:latin typeface="+mn-lt"/>
                  <a:ea typeface="+mn-ea"/>
                  <a:cs typeface="+mn-cs"/>
                </a:rPr>
                <a:t>kompakt bir kural seti üretir (eager). k-NN</a:t>
              </a:r>
              <a:br/>
              <a:r>
                <a:rPr lang="tr-TR" sz="1200" dirty="0">
                  <a:solidFill>
                    <a:srgbClr val="172B3A"/>
                  </a:solidFill>
                  <a:latin typeface="+mn-lt"/>
                  <a:ea typeface="+mn-ea"/>
                  <a:cs typeface="+mn-cs"/>
                </a:rPr>
                <a:t>eğitimde hiçbir şey öğrenmez, tüm veriyi</a:t>
              </a:r>
              <a:br/>
              <a:r>
                <a:rPr lang="tr-TR" sz="1200" dirty="0">
                  <a:solidFill>
                    <a:srgbClr val="172B3A"/>
                  </a:solidFill>
                  <a:latin typeface="+mn-lt"/>
                  <a:ea typeface="+mn-ea"/>
                  <a:cs typeface="+mn-cs"/>
                </a:rPr>
                <a:t>saklar; hesaplama tahmin anına ertelenir.</a:t>
              </a:r>
            </a:p>
          </p:txBody>
        </p:sp>
      </p:grpSp>
      <p:grpSp>
        <p:nvGrpSpPr>
          <p:cNvPr id="33" name="knn-scatter"/>
          <p:cNvGrpSpPr/>
          <p:nvPr/>
        </p:nvGrpSpPr>
        <p:grpSpPr>
          <a:xfrm>
            <a:off x="6317742" y="1283018"/>
            <a:ext cx="4159758" cy="3158966"/>
            <a:chOff x="6317742" y="1283018"/>
            <a:chExt cx="4159758" cy="3158966"/>
          </a:xfrm>
        </p:grpSpPr>
        <p:sp>
          <p:nvSpPr>
            <p:cNvPr id="14" name="TextBox 14"/>
            <p:cNvSpPr txBox="1"/>
            <p:nvPr/>
          </p:nvSpPr>
          <p:spPr>
            <a:xfrm>
              <a:off x="6317742" y="1283018"/>
              <a:ext cx="323559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Yeni müşteri en çok kime benziyor?</a:t>
              </a:r>
            </a:p>
          </p:txBody>
        </p:sp>
        <p:sp>
          <p:nvSpPr>
            <p:cNvPr id="15" name="Ellipse 15"/>
            <p:cNvSpPr/>
            <p:nvPr/>
          </p:nvSpPr>
          <p:spPr>
            <a:xfrm>
              <a:off x="8191500" y="1809750"/>
              <a:ext cx="1333500" cy="1333500"/>
            </a:xfrm>
            <a:prstGeom prst="ellipse">
              <a:avLst/>
            </a:prstGeom>
            <a:noFill/>
            <a:ln w="15240">
              <a:solidFill>
                <a:srgbClr val="52616B"/>
              </a:solidFill>
              <a:custDash>
                <a:ds d="375000" sp="250000"/>
              </a:custDash>
            </a:ln>
          </p:spPr>
        </p:sp>
        <p:sp>
          <p:nvSpPr>
            <p:cNvPr id="16" name="Ellipse 16"/>
            <p:cNvSpPr/>
            <p:nvPr/>
          </p:nvSpPr>
          <p:spPr>
            <a:xfrm>
              <a:off x="7334250" y="1714500"/>
              <a:ext cx="190500" cy="190500"/>
            </a:xfrm>
            <a:prstGeom prst="ellipse">
              <a:avLst/>
            </a:prstGeom>
            <a:solidFill>
              <a:srgbClr val="00A6A6"/>
            </a:solidFill>
            <a:ln>
              <a:noFill/>
            </a:ln>
          </p:spPr>
        </p:sp>
        <p:sp>
          <p:nvSpPr>
            <p:cNvPr id="17" name="Ellipse 17"/>
            <p:cNvSpPr/>
            <p:nvPr/>
          </p:nvSpPr>
          <p:spPr>
            <a:xfrm>
              <a:off x="8001000" y="2000250"/>
              <a:ext cx="190500" cy="190500"/>
            </a:xfrm>
            <a:prstGeom prst="ellipse">
              <a:avLst/>
            </a:prstGeom>
            <a:solidFill>
              <a:srgbClr val="00A6A6"/>
            </a:solidFill>
            <a:ln>
              <a:noFill/>
            </a:ln>
          </p:spPr>
        </p:sp>
        <p:sp>
          <p:nvSpPr>
            <p:cNvPr id="18" name="Ellipse 18"/>
            <p:cNvSpPr/>
            <p:nvPr/>
          </p:nvSpPr>
          <p:spPr>
            <a:xfrm>
              <a:off x="7143750" y="3143250"/>
              <a:ext cx="190500" cy="190500"/>
            </a:xfrm>
            <a:prstGeom prst="ellipse">
              <a:avLst/>
            </a:prstGeom>
            <a:solidFill>
              <a:srgbClr val="00A6A6"/>
            </a:solidFill>
            <a:ln>
              <a:noFill/>
            </a:ln>
          </p:spPr>
        </p:sp>
        <p:sp>
          <p:nvSpPr>
            <p:cNvPr id="19" name="Ellipse 19"/>
            <p:cNvSpPr/>
            <p:nvPr/>
          </p:nvSpPr>
          <p:spPr>
            <a:xfrm>
              <a:off x="9525000" y="1428750"/>
              <a:ext cx="190500" cy="190500"/>
            </a:xfrm>
            <a:prstGeom prst="ellipse">
              <a:avLst/>
            </a:prstGeom>
            <a:solidFill>
              <a:srgbClr val="00A6A6"/>
            </a:solidFill>
            <a:ln>
              <a:noFill/>
            </a:ln>
          </p:spPr>
        </p:sp>
        <p:sp>
          <p:nvSpPr>
            <p:cNvPr id="20" name="Ellipse 20"/>
            <p:cNvSpPr/>
            <p:nvPr/>
          </p:nvSpPr>
          <p:spPr>
            <a:xfrm>
              <a:off x="6572250" y="2667000"/>
              <a:ext cx="190500" cy="190500"/>
            </a:xfrm>
            <a:prstGeom prst="ellipse">
              <a:avLst/>
            </a:prstGeom>
            <a:solidFill>
              <a:srgbClr val="00A6A6"/>
            </a:solidFill>
            <a:ln>
              <a:noFill/>
            </a:ln>
          </p:spPr>
        </p:sp>
        <p:sp>
          <p:nvSpPr>
            <p:cNvPr id="21" name="Ellipse 21"/>
            <p:cNvSpPr/>
            <p:nvPr/>
          </p:nvSpPr>
          <p:spPr>
            <a:xfrm>
              <a:off x="9048750" y="1905000"/>
              <a:ext cx="190500" cy="190500"/>
            </a:xfrm>
            <a:prstGeom prst="ellipse">
              <a:avLst/>
            </a:prstGeom>
            <a:solidFill>
              <a:srgbClr val="12355B"/>
            </a:solidFill>
            <a:ln>
              <a:noFill/>
            </a:ln>
          </p:spPr>
        </p:sp>
        <p:sp>
          <p:nvSpPr>
            <p:cNvPr id="22" name="Ellipse 22"/>
            <p:cNvSpPr/>
            <p:nvPr/>
          </p:nvSpPr>
          <p:spPr>
            <a:xfrm>
              <a:off x="9429750" y="2667000"/>
              <a:ext cx="190500" cy="190500"/>
            </a:xfrm>
            <a:prstGeom prst="ellipse">
              <a:avLst/>
            </a:prstGeom>
            <a:solidFill>
              <a:srgbClr val="12355B"/>
            </a:solidFill>
            <a:ln>
              <a:noFill/>
            </a:ln>
          </p:spPr>
        </p:sp>
        <p:sp>
          <p:nvSpPr>
            <p:cNvPr id="23" name="Ellipse 23"/>
            <p:cNvSpPr/>
            <p:nvPr/>
          </p:nvSpPr>
          <p:spPr>
            <a:xfrm>
              <a:off x="8286750" y="2952750"/>
              <a:ext cx="190500" cy="190500"/>
            </a:xfrm>
            <a:prstGeom prst="ellipse">
              <a:avLst/>
            </a:prstGeom>
            <a:solidFill>
              <a:srgbClr val="12355B"/>
            </a:solidFill>
            <a:ln>
              <a:noFill/>
            </a:ln>
          </p:spPr>
        </p:sp>
        <p:sp>
          <p:nvSpPr>
            <p:cNvPr id="24" name="Ellipse 24"/>
            <p:cNvSpPr/>
            <p:nvPr/>
          </p:nvSpPr>
          <p:spPr>
            <a:xfrm>
              <a:off x="10191750" y="3238500"/>
              <a:ext cx="190500" cy="190500"/>
            </a:xfrm>
            <a:prstGeom prst="ellipse">
              <a:avLst/>
            </a:prstGeom>
            <a:solidFill>
              <a:srgbClr val="12355B"/>
            </a:solidFill>
            <a:ln>
              <a:noFill/>
            </a:ln>
          </p:spPr>
        </p:sp>
        <p:sp>
          <p:nvSpPr>
            <p:cNvPr id="25" name="Ellipse 25"/>
            <p:cNvSpPr/>
            <p:nvPr/>
          </p:nvSpPr>
          <p:spPr>
            <a:xfrm>
              <a:off x="10287000" y="1809750"/>
              <a:ext cx="190500" cy="190500"/>
            </a:xfrm>
            <a:prstGeom prst="ellipse">
              <a:avLst/>
            </a:prstGeom>
            <a:solidFill>
              <a:srgbClr val="12355B"/>
            </a:solidFill>
            <a:ln>
              <a:noFill/>
            </a:ln>
          </p:spPr>
        </p:sp>
        <p:sp>
          <p:nvSpPr>
            <p:cNvPr id="26" name="Ellipse 26"/>
            <p:cNvSpPr/>
            <p:nvPr/>
          </p:nvSpPr>
          <p:spPr>
            <a:xfrm>
              <a:off x="8753475" y="2371725"/>
              <a:ext cx="209550" cy="209550"/>
            </a:xfrm>
            <a:prstGeom prst="ellipse">
              <a:avLst/>
            </a:prstGeom>
            <a:solidFill>
              <a:srgbClr val="FFFFFF"/>
            </a:solidFill>
            <a:ln w="23812">
              <a:solidFill>
                <a:srgbClr val="12355B"/>
              </a:solidFill>
            </a:ln>
          </p:spPr>
        </p:sp>
        <p:sp>
          <p:nvSpPr>
            <p:cNvPr id="27" name="TextBox 27"/>
            <p:cNvSpPr txBox="1"/>
            <p:nvPr/>
          </p:nvSpPr>
          <p:spPr>
            <a:xfrm>
              <a:off x="8815203" y="2418874"/>
              <a:ext cx="86094" cy="190690"/>
            </a:xfrm>
            <a:prstGeom prst="rect">
              <a:avLst/>
            </a:prstGeom>
            <a:noFill/>
            <a:ln>
              <a:noFill/>
            </a:ln>
          </p:spPr>
          <p:txBody>
            <a:bodyPr wrap="none" lIns="0" tIns="0" rIns="0" bIns="0" anchor="t" anchorCtr="0">
              <a:spAutoFit/>
            </a:bodyPr>
            <a:lstStyle/>
            <a:p>
              <a:pPr algn="ctr"/>
              <a:r>
                <a:rPr lang="tr-TR" sz="980" b="1" dirty="0">
                  <a:solidFill>
                    <a:srgbClr val="12355B"/>
                  </a:solidFill>
                  <a:latin typeface="+mn-lt"/>
                  <a:ea typeface="+mn-ea"/>
                  <a:cs typeface="+mn-cs"/>
                </a:rPr>
                <a:t>?</a:t>
              </a:r>
            </a:p>
          </p:txBody>
        </p:sp>
        <p:sp>
          <p:nvSpPr>
            <p:cNvPr id="28" name="Rectangle 28"/>
            <p:cNvSpPr/>
            <p:nvPr/>
          </p:nvSpPr>
          <p:spPr>
            <a:xfrm>
              <a:off x="6324600" y="3619500"/>
              <a:ext cx="133350" cy="133350"/>
            </a:xfrm>
            <a:prstGeom prst="rect">
              <a:avLst/>
            </a:prstGeom>
            <a:solidFill>
              <a:srgbClr val="00A6A6"/>
            </a:solidFill>
            <a:ln>
              <a:noFill/>
            </a:ln>
          </p:spPr>
        </p:sp>
        <p:sp>
          <p:nvSpPr>
            <p:cNvPr id="29" name="TextBox 29"/>
            <p:cNvSpPr txBox="1"/>
            <p:nvPr/>
          </p:nvSpPr>
          <p:spPr>
            <a:xfrm>
              <a:off x="6528435" y="3612356"/>
              <a:ext cx="101123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Kalan müşteri</a:t>
              </a:r>
            </a:p>
          </p:txBody>
        </p:sp>
        <p:sp>
          <p:nvSpPr>
            <p:cNvPr id="30" name="Rectangle 30"/>
            <p:cNvSpPr/>
            <p:nvPr/>
          </p:nvSpPr>
          <p:spPr>
            <a:xfrm>
              <a:off x="6324600" y="3848100"/>
              <a:ext cx="133350" cy="133350"/>
            </a:xfrm>
            <a:prstGeom prst="rect">
              <a:avLst/>
            </a:prstGeom>
            <a:solidFill>
              <a:srgbClr val="12355B"/>
            </a:solidFill>
            <a:ln>
              <a:noFill/>
            </a:ln>
          </p:spPr>
        </p:sp>
        <p:sp>
          <p:nvSpPr>
            <p:cNvPr id="31" name="TextBox 31"/>
            <p:cNvSpPr txBox="1"/>
            <p:nvPr/>
          </p:nvSpPr>
          <p:spPr>
            <a:xfrm>
              <a:off x="6528435" y="3840956"/>
              <a:ext cx="117708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Ayrılan müşteri</a:t>
              </a:r>
            </a:p>
          </p:txBody>
        </p:sp>
        <p:sp>
          <p:nvSpPr>
            <p:cNvPr id="32" name="TextBox 32"/>
            <p:cNvSpPr txBox="1"/>
            <p:nvPr/>
          </p:nvSpPr>
          <p:spPr>
            <a:xfrm>
              <a:off x="6318885" y="4050506"/>
              <a:ext cx="3610102" cy="391478"/>
            </a:xfrm>
            <a:prstGeom prst="rect">
              <a:avLst/>
            </a:prstGeom>
            <a:noFill/>
            <a:ln>
              <a:noFill/>
            </a:ln>
          </p:spPr>
          <p:txBody>
            <a:bodyPr wrap="none" lIns="0" tIns="0" rIns="0" bIns="0" anchor="t" anchorCtr="0">
              <a:spAutoFit/>
            </a:bodyPr>
            <a:lstStyle/>
            <a:p>
              <a:pPr algn="l">
                <a:lnSpc>
                  <a:spcPts val="1350"/>
                </a:lnSpc>
              </a:pPr>
              <a:r>
                <a:rPr lang="tr-TR" sz="1120" dirty="0">
                  <a:solidFill>
                    <a:srgbClr val="52616B"/>
                  </a:solidFill>
                  <a:latin typeface="+mn-lt"/>
                  <a:ea typeface="+mn-ea"/>
                  <a:cs typeface="+mn-cs"/>
                </a:rPr>
                <a:t>Kesikli çember: k=5 komşuluk — çoğunluk</a:t>
              </a:r>
              <a:br/>
              <a:r>
                <a:rPr lang="tr-TR" sz="1120" dirty="0">
                  <a:solidFill>
                    <a:srgbClr val="52616B"/>
                  </a:solidFill>
                  <a:latin typeface="+mn-lt"/>
                  <a:ea typeface="+mn-ea"/>
                  <a:cs typeface="+mn-cs"/>
                </a:rPr>
                <a:t>teal (kalan) ise yeni müşteri "kalacak" tahmin edilir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239096" cy="557403"/>
            <a:chOff x="595122" y="282892"/>
            <a:chExt cx="5239096" cy="557403"/>
          </a:xfrm>
        </p:grpSpPr>
        <p:sp>
          <p:nvSpPr>
            <p:cNvPr id="4" name="TextBox 4"/>
            <p:cNvSpPr txBox="1"/>
            <p:nvPr/>
          </p:nvSpPr>
          <p:spPr>
            <a:xfrm>
              <a:off x="595122" y="282892"/>
              <a:ext cx="523909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Mesafe metriği ve k seçimi</a:t>
              </a:r>
            </a:p>
          </p:txBody>
        </p:sp>
      </p:grpSp>
      <p:grpSp>
        <p:nvGrpSpPr>
          <p:cNvPr id="10" name="euclid-card"/>
          <p:cNvGrpSpPr/>
          <p:nvPr/>
        </p:nvGrpSpPr>
        <p:grpSpPr>
          <a:xfrm>
            <a:off x="609600" y="1257300"/>
            <a:ext cx="5257800" cy="1123950"/>
            <a:chOff x="609600" y="1257300"/>
            <a:chExt cx="5257800" cy="1123950"/>
          </a:xfrm>
        </p:grpSpPr>
        <p:sp>
          <p:nvSpPr>
            <p:cNvPr id="6" name="Rectangle 6"/>
            <p:cNvSpPr/>
            <p:nvPr/>
          </p:nvSpPr>
          <p:spPr>
            <a:xfrm>
              <a:off x="609600" y="1257300"/>
              <a:ext cx="5257800" cy="1123950"/>
            </a:xfrm>
            <a:prstGeom prst="roundRect">
              <a:avLst>
                <a:gd name="adj" fmla="val 8475"/>
              </a:avLst>
            </a:prstGeom>
            <a:solidFill>
              <a:srgbClr val="FFFFFF"/>
            </a:solidFill>
            <a:ln w="14288">
              <a:solidFill>
                <a:srgbClr val="2E86AB"/>
              </a:solidFill>
            </a:ln>
          </p:spPr>
        </p:sp>
        <p:sp>
          <p:nvSpPr>
            <p:cNvPr id="7" name="TextBox 7"/>
            <p:cNvSpPr txBox="1"/>
            <p:nvPr/>
          </p:nvSpPr>
          <p:spPr>
            <a:xfrm>
              <a:off x="830199" y="1392079"/>
              <a:ext cx="156372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Öklid mesafesi</a:t>
              </a:r>
            </a:p>
          </p:txBody>
        </p:sp>
        <p:sp>
          <p:nvSpPr>
            <p:cNvPr id="8" name="TextBox 8"/>
            <p:cNvSpPr txBox="1"/>
            <p:nvPr/>
          </p:nvSpPr>
          <p:spPr>
            <a:xfrm>
              <a:off x="831342" y="1683068"/>
              <a:ext cx="1451324" cy="264033"/>
            </a:xfrm>
            <a:prstGeom prst="rect">
              <a:avLst/>
            </a:prstGeom>
            <a:noFill/>
            <a:ln>
              <a:noFill/>
            </a:ln>
          </p:spPr>
          <p:txBody>
            <a:bodyPr wrap="none" lIns="0" tIns="0" rIns="0" bIns="0" anchor="t" anchorCtr="0">
              <a:spAutoFit/>
            </a:bodyPr>
            <a:lstStyle/>
            <a:p>
              <a:pPr algn="l"/>
              <a:r>
                <a:rPr lang="el-GR" sz="1350" dirty="0">
                  <a:solidFill>
                    <a:srgbClr val="172B3A"/>
                  </a:solidFill>
                  <a:latin typeface="+mn-lt"/>
                  <a:ea typeface="+mn-ea"/>
                  <a:cs typeface="+mn-cs"/>
                </a:rPr>
                <a:t>d = √Σ(xᵢ − yᵢ)²</a:t>
              </a:r>
            </a:p>
          </p:txBody>
        </p:sp>
        <p:sp>
          <p:nvSpPr>
            <p:cNvPr id="9" name="TextBox 9"/>
            <p:cNvSpPr txBox="1"/>
            <p:nvPr/>
          </p:nvSpPr>
          <p:spPr>
            <a:xfrm>
              <a:off x="832104" y="1946910"/>
              <a:ext cx="15692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"Kuş uçuşu" mesafe</a:t>
              </a:r>
            </a:p>
          </p:txBody>
        </p:sp>
      </p:grpSp>
      <p:grpSp>
        <p:nvGrpSpPr>
          <p:cNvPr id="15" name="manhattan-card"/>
          <p:cNvGrpSpPr/>
          <p:nvPr/>
        </p:nvGrpSpPr>
        <p:grpSpPr>
          <a:xfrm>
            <a:off x="6324600" y="1257300"/>
            <a:ext cx="5257800" cy="1123950"/>
            <a:chOff x="6324600" y="1257300"/>
            <a:chExt cx="5257800" cy="1123950"/>
          </a:xfrm>
        </p:grpSpPr>
        <p:sp>
          <p:nvSpPr>
            <p:cNvPr id="11" name="Rectangle 11"/>
            <p:cNvSpPr/>
            <p:nvPr/>
          </p:nvSpPr>
          <p:spPr>
            <a:xfrm>
              <a:off x="6324600" y="1257300"/>
              <a:ext cx="5257800" cy="1123950"/>
            </a:xfrm>
            <a:prstGeom prst="roundRect">
              <a:avLst>
                <a:gd name="adj" fmla="val 8475"/>
              </a:avLst>
            </a:prstGeom>
            <a:solidFill>
              <a:srgbClr val="FFFFFF"/>
            </a:solidFill>
            <a:ln w="14288">
              <a:solidFill>
                <a:srgbClr val="2E86AB"/>
              </a:solidFill>
            </a:ln>
          </p:spPr>
        </p:sp>
        <p:sp>
          <p:nvSpPr>
            <p:cNvPr id="12" name="TextBox 12"/>
            <p:cNvSpPr txBox="1"/>
            <p:nvPr/>
          </p:nvSpPr>
          <p:spPr>
            <a:xfrm>
              <a:off x="6545199" y="1392079"/>
              <a:ext cx="221196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Manhattan mesafesi</a:t>
              </a:r>
            </a:p>
          </p:txBody>
        </p:sp>
        <p:sp>
          <p:nvSpPr>
            <p:cNvPr id="13" name="TextBox 13"/>
            <p:cNvSpPr txBox="1"/>
            <p:nvPr/>
          </p:nvSpPr>
          <p:spPr>
            <a:xfrm>
              <a:off x="6546342" y="1683068"/>
              <a:ext cx="1156430" cy="264033"/>
            </a:xfrm>
            <a:prstGeom prst="rect">
              <a:avLst/>
            </a:prstGeom>
            <a:noFill/>
            <a:ln>
              <a:noFill/>
            </a:ln>
          </p:spPr>
          <p:txBody>
            <a:bodyPr wrap="none" lIns="0" tIns="0" rIns="0" bIns="0" anchor="t" anchorCtr="0">
              <a:spAutoFit/>
            </a:bodyPr>
            <a:lstStyle/>
            <a:p>
              <a:pPr algn="l"/>
              <a:r>
                <a:rPr lang="el-GR" sz="1350" dirty="0">
                  <a:solidFill>
                    <a:srgbClr val="172B3A"/>
                  </a:solidFill>
                  <a:latin typeface="+mn-lt"/>
                  <a:ea typeface="+mn-ea"/>
                  <a:cs typeface="+mn-cs"/>
                </a:rPr>
                <a:t>d = Σ|xᵢ − yᵢ|</a:t>
              </a:r>
            </a:p>
          </p:txBody>
        </p:sp>
        <p:sp>
          <p:nvSpPr>
            <p:cNvPr id="14" name="TextBox 14"/>
            <p:cNvSpPr txBox="1"/>
            <p:nvPr/>
          </p:nvSpPr>
          <p:spPr>
            <a:xfrm>
              <a:off x="6547104" y="1946910"/>
              <a:ext cx="29574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Dik açılı sokaklarda yürüme mesafesi</a:t>
              </a:r>
            </a:p>
          </p:txBody>
        </p:sp>
      </p:grpSp>
      <p:grpSp>
        <p:nvGrpSpPr>
          <p:cNvPr id="17" name="k-scale-note"/>
          <p:cNvGrpSpPr/>
          <p:nvPr/>
        </p:nvGrpSpPr>
        <p:grpSpPr>
          <a:xfrm>
            <a:off x="602742" y="2597468"/>
            <a:ext cx="7751623" cy="264033"/>
            <a:chOff x="602742" y="2597468"/>
            <a:chExt cx="7751623" cy="264033"/>
          </a:xfrm>
        </p:grpSpPr>
        <p:sp>
          <p:nvSpPr>
            <p:cNvPr id="16" name="TextBox 16"/>
            <p:cNvSpPr txBox="1"/>
            <p:nvPr/>
          </p:nvSpPr>
          <p:spPr>
            <a:xfrm>
              <a:off x="602742" y="2597468"/>
              <a:ext cx="775162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 arttıkça doğruluk nasıl değişir? (250 sentetik müşteri, ölçeklenmiş öznitelikler)</a:t>
              </a:r>
            </a:p>
          </p:txBody>
        </p:sp>
      </p:grpSp>
      <p:grpSp>
        <p:nvGrpSpPr>
          <p:cNvPr id="42" name="k-table"/>
          <p:cNvGrpSpPr/>
          <p:nvPr/>
        </p:nvGrpSpPr>
        <p:grpSpPr>
          <a:xfrm>
            <a:off x="609600" y="2952750"/>
            <a:ext cx="10972800" cy="1333500"/>
            <a:chOff x="609600" y="2952750"/>
            <a:chExt cx="10972800" cy="1333500"/>
          </a:xfrm>
        </p:grpSpPr>
        <p:sp>
          <p:nvSpPr>
            <p:cNvPr id="18" name="Rectangle 18"/>
            <p:cNvSpPr/>
            <p:nvPr/>
          </p:nvSpPr>
          <p:spPr>
            <a:xfrm>
              <a:off x="609600" y="2952750"/>
              <a:ext cx="10972800" cy="381000"/>
            </a:xfrm>
            <a:prstGeom prst="rect">
              <a:avLst/>
            </a:prstGeom>
            <a:solidFill>
              <a:srgbClr val="12355B"/>
            </a:solidFill>
            <a:ln>
              <a:noFill/>
            </a:ln>
          </p:spPr>
        </p:sp>
        <p:sp>
          <p:nvSpPr>
            <p:cNvPr id="19" name="TextBox 19"/>
            <p:cNvSpPr txBox="1"/>
            <p:nvPr/>
          </p:nvSpPr>
          <p:spPr>
            <a:xfrm>
              <a:off x="1568467" y="3070860"/>
              <a:ext cx="292067"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k=1</a:t>
              </a:r>
            </a:p>
          </p:txBody>
        </p:sp>
        <p:sp>
          <p:nvSpPr>
            <p:cNvPr id="20" name="TextBox 20"/>
            <p:cNvSpPr txBox="1"/>
            <p:nvPr/>
          </p:nvSpPr>
          <p:spPr>
            <a:xfrm>
              <a:off x="3759217" y="3070860"/>
              <a:ext cx="292067"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k=3</a:t>
              </a:r>
            </a:p>
          </p:txBody>
        </p:sp>
        <p:sp>
          <p:nvSpPr>
            <p:cNvPr id="21" name="TextBox 21"/>
            <p:cNvSpPr txBox="1"/>
            <p:nvPr/>
          </p:nvSpPr>
          <p:spPr>
            <a:xfrm>
              <a:off x="5949967" y="3070860"/>
              <a:ext cx="292067"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k=5</a:t>
              </a:r>
            </a:p>
          </p:txBody>
        </p:sp>
        <p:sp>
          <p:nvSpPr>
            <p:cNvPr id="22" name="TextBox 22"/>
            <p:cNvSpPr txBox="1"/>
            <p:nvPr/>
          </p:nvSpPr>
          <p:spPr>
            <a:xfrm>
              <a:off x="8140717" y="3070860"/>
              <a:ext cx="292067"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k=9</a:t>
              </a:r>
            </a:p>
          </p:txBody>
        </p:sp>
        <p:sp>
          <p:nvSpPr>
            <p:cNvPr id="23" name="TextBox 23"/>
            <p:cNvSpPr txBox="1"/>
            <p:nvPr/>
          </p:nvSpPr>
          <p:spPr>
            <a:xfrm>
              <a:off x="10284821" y="3070860"/>
              <a:ext cx="385359"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k=15</a:t>
              </a:r>
            </a:p>
          </p:txBody>
        </p:sp>
        <p:sp>
          <p:nvSpPr>
            <p:cNvPr id="24" name="TextBox 24"/>
            <p:cNvSpPr txBox="1"/>
            <p:nvPr/>
          </p:nvSpPr>
          <p:spPr>
            <a:xfrm>
              <a:off x="908304" y="3489960"/>
              <a:ext cx="37978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Öklid</a:t>
              </a:r>
            </a:p>
          </p:txBody>
        </p:sp>
        <p:sp>
          <p:nvSpPr>
            <p:cNvPr id="25" name="TextBox 25"/>
            <p:cNvSpPr txBox="1"/>
            <p:nvPr/>
          </p:nvSpPr>
          <p:spPr>
            <a:xfrm>
              <a:off x="1486281" y="34899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0.893</a:t>
              </a:r>
            </a:p>
          </p:txBody>
        </p:sp>
        <p:sp>
          <p:nvSpPr>
            <p:cNvPr id="26" name="TextBox 26"/>
            <p:cNvSpPr txBox="1"/>
            <p:nvPr/>
          </p:nvSpPr>
          <p:spPr>
            <a:xfrm>
              <a:off x="3665925" y="3489960"/>
              <a:ext cx="478650" cy="234696"/>
            </a:xfrm>
            <a:prstGeom prst="rect">
              <a:avLst/>
            </a:prstGeom>
            <a:noFill/>
            <a:ln>
              <a:noFill/>
            </a:ln>
          </p:spPr>
          <p:txBody>
            <a:bodyPr wrap="none" lIns="0" tIns="0" rIns="0" bIns="0" anchor="t" anchorCtr="0">
              <a:spAutoFit/>
            </a:bodyPr>
            <a:lstStyle/>
            <a:p>
              <a:pPr algn="ctr"/>
              <a:r>
                <a:rPr lang="tr-TR" sz="1200" b="1" dirty="0">
                  <a:solidFill>
                    <a:srgbClr val="00A6A6"/>
                  </a:solidFill>
                  <a:latin typeface="+mn-lt"/>
                  <a:ea typeface="+mn-ea"/>
                  <a:cs typeface="+mn-cs"/>
                </a:rPr>
                <a:t>0.947</a:t>
              </a:r>
            </a:p>
          </p:txBody>
        </p:sp>
        <p:sp>
          <p:nvSpPr>
            <p:cNvPr id="27" name="TextBox 27"/>
            <p:cNvSpPr txBox="1"/>
            <p:nvPr/>
          </p:nvSpPr>
          <p:spPr>
            <a:xfrm>
              <a:off x="5867781" y="34899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0.933</a:t>
              </a:r>
            </a:p>
          </p:txBody>
        </p:sp>
        <p:sp>
          <p:nvSpPr>
            <p:cNvPr id="28" name="TextBox 28"/>
            <p:cNvSpPr txBox="1"/>
            <p:nvPr/>
          </p:nvSpPr>
          <p:spPr>
            <a:xfrm>
              <a:off x="8058531" y="34899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0.893</a:t>
              </a:r>
            </a:p>
          </p:txBody>
        </p:sp>
        <p:sp>
          <p:nvSpPr>
            <p:cNvPr id="29" name="TextBox 29"/>
            <p:cNvSpPr txBox="1"/>
            <p:nvPr/>
          </p:nvSpPr>
          <p:spPr>
            <a:xfrm>
              <a:off x="10249281" y="34899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0.907</a:t>
              </a:r>
            </a:p>
          </p:txBody>
        </p:sp>
        <p:sp>
          <p:nvSpPr>
            <p:cNvPr id="30" name="Line 30"/>
            <p:cNvSpPr/>
            <p:nvPr/>
          </p:nvSpPr>
          <p:spPr>
            <a:xfrm>
              <a:off x="609600" y="37719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1" name="TextBox 31"/>
            <p:cNvSpPr txBox="1"/>
            <p:nvPr/>
          </p:nvSpPr>
          <p:spPr>
            <a:xfrm>
              <a:off x="908304" y="3909060"/>
              <a:ext cx="8493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Manhattan</a:t>
              </a:r>
            </a:p>
          </p:txBody>
        </p:sp>
        <p:sp>
          <p:nvSpPr>
            <p:cNvPr id="32" name="TextBox 32"/>
            <p:cNvSpPr txBox="1"/>
            <p:nvPr/>
          </p:nvSpPr>
          <p:spPr>
            <a:xfrm>
              <a:off x="1486281" y="39090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0.893</a:t>
              </a:r>
            </a:p>
          </p:txBody>
        </p:sp>
        <p:sp>
          <p:nvSpPr>
            <p:cNvPr id="33" name="TextBox 33"/>
            <p:cNvSpPr txBox="1"/>
            <p:nvPr/>
          </p:nvSpPr>
          <p:spPr>
            <a:xfrm>
              <a:off x="3665925" y="3909060"/>
              <a:ext cx="478650" cy="234696"/>
            </a:xfrm>
            <a:prstGeom prst="rect">
              <a:avLst/>
            </a:prstGeom>
            <a:noFill/>
            <a:ln>
              <a:noFill/>
            </a:ln>
          </p:spPr>
          <p:txBody>
            <a:bodyPr wrap="none" lIns="0" tIns="0" rIns="0" bIns="0" anchor="t" anchorCtr="0">
              <a:spAutoFit/>
            </a:bodyPr>
            <a:lstStyle/>
            <a:p>
              <a:pPr algn="ctr"/>
              <a:r>
                <a:rPr lang="tr-TR" sz="1200" b="1" dirty="0">
                  <a:solidFill>
                    <a:srgbClr val="00A6A6"/>
                  </a:solidFill>
                  <a:latin typeface="+mn-lt"/>
                  <a:ea typeface="+mn-ea"/>
                  <a:cs typeface="+mn-cs"/>
                </a:rPr>
                <a:t>0.947</a:t>
              </a:r>
            </a:p>
          </p:txBody>
        </p:sp>
        <p:sp>
          <p:nvSpPr>
            <p:cNvPr id="34" name="TextBox 34"/>
            <p:cNvSpPr txBox="1"/>
            <p:nvPr/>
          </p:nvSpPr>
          <p:spPr>
            <a:xfrm>
              <a:off x="5856675" y="3909060"/>
              <a:ext cx="478650" cy="234696"/>
            </a:xfrm>
            <a:prstGeom prst="rect">
              <a:avLst/>
            </a:prstGeom>
            <a:noFill/>
            <a:ln>
              <a:noFill/>
            </a:ln>
          </p:spPr>
          <p:txBody>
            <a:bodyPr wrap="none" lIns="0" tIns="0" rIns="0" bIns="0" anchor="t" anchorCtr="0">
              <a:spAutoFit/>
            </a:bodyPr>
            <a:lstStyle/>
            <a:p>
              <a:pPr algn="ctr"/>
              <a:r>
                <a:rPr lang="tr-TR" sz="1200" b="1" dirty="0">
                  <a:solidFill>
                    <a:srgbClr val="00A6A6"/>
                  </a:solidFill>
                  <a:latin typeface="+mn-lt"/>
                  <a:ea typeface="+mn-ea"/>
                  <a:cs typeface="+mn-cs"/>
                </a:rPr>
                <a:t>0.947</a:t>
              </a:r>
            </a:p>
          </p:txBody>
        </p:sp>
        <p:sp>
          <p:nvSpPr>
            <p:cNvPr id="35" name="TextBox 35"/>
            <p:cNvSpPr txBox="1"/>
            <p:nvPr/>
          </p:nvSpPr>
          <p:spPr>
            <a:xfrm>
              <a:off x="8058531" y="39090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0.920</a:t>
              </a:r>
            </a:p>
          </p:txBody>
        </p:sp>
        <p:sp>
          <p:nvSpPr>
            <p:cNvPr id="36" name="TextBox 36"/>
            <p:cNvSpPr txBox="1"/>
            <p:nvPr/>
          </p:nvSpPr>
          <p:spPr>
            <a:xfrm>
              <a:off x="10249281" y="3909060"/>
              <a:ext cx="45643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0.920</a:t>
              </a:r>
            </a:p>
          </p:txBody>
        </p:sp>
        <p:sp>
          <p:nvSpPr>
            <p:cNvPr id="37" name="Line 37"/>
            <p:cNvSpPr/>
            <p:nvPr/>
          </p:nvSpPr>
          <p:spPr>
            <a:xfrm>
              <a:off x="609600" y="41910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8" name="Line 38"/>
            <p:cNvSpPr/>
            <p:nvPr/>
          </p:nvSpPr>
          <p:spPr>
            <a:xfrm>
              <a:off x="2857500" y="2952750"/>
              <a:ext cx="9525" cy="1333500"/>
            </a:xfrm>
            <a:custGeom>
              <a:avLst/>
              <a:gdLst/>
              <a:ahLst/>
              <a:cxnLst/>
              <a:rect l="l" t="t" r="r" b="b"/>
              <a:pathLst>
                <a:path w="9525" h="1333500">
                  <a:moveTo>
                    <a:pt x="0" y="0"/>
                  </a:moveTo>
                  <a:lnTo>
                    <a:pt x="0" y="1333500"/>
                  </a:lnTo>
                </a:path>
              </a:pathLst>
            </a:custGeom>
            <a:noFill/>
            <a:ln w="9525">
              <a:solidFill>
                <a:srgbClr val="B8CBD3"/>
              </a:solidFill>
            </a:ln>
          </p:spPr>
        </p:sp>
        <p:sp>
          <p:nvSpPr>
            <p:cNvPr id="39" name="Line 39"/>
            <p:cNvSpPr/>
            <p:nvPr/>
          </p:nvSpPr>
          <p:spPr>
            <a:xfrm>
              <a:off x="5048250" y="2952750"/>
              <a:ext cx="9525" cy="1333500"/>
            </a:xfrm>
            <a:custGeom>
              <a:avLst/>
              <a:gdLst/>
              <a:ahLst/>
              <a:cxnLst/>
              <a:rect l="l" t="t" r="r" b="b"/>
              <a:pathLst>
                <a:path w="9525" h="1333500">
                  <a:moveTo>
                    <a:pt x="0" y="0"/>
                  </a:moveTo>
                  <a:lnTo>
                    <a:pt x="0" y="1333500"/>
                  </a:lnTo>
                </a:path>
              </a:pathLst>
            </a:custGeom>
            <a:noFill/>
            <a:ln w="9525">
              <a:solidFill>
                <a:srgbClr val="B8CBD3"/>
              </a:solidFill>
            </a:ln>
          </p:spPr>
        </p:sp>
        <p:sp>
          <p:nvSpPr>
            <p:cNvPr id="40" name="Line 40"/>
            <p:cNvSpPr/>
            <p:nvPr/>
          </p:nvSpPr>
          <p:spPr>
            <a:xfrm>
              <a:off x="7239000" y="2952750"/>
              <a:ext cx="9525" cy="1333500"/>
            </a:xfrm>
            <a:custGeom>
              <a:avLst/>
              <a:gdLst/>
              <a:ahLst/>
              <a:cxnLst/>
              <a:rect l="l" t="t" r="r" b="b"/>
              <a:pathLst>
                <a:path w="9525" h="1333500">
                  <a:moveTo>
                    <a:pt x="0" y="0"/>
                  </a:moveTo>
                  <a:lnTo>
                    <a:pt x="0" y="1333500"/>
                  </a:lnTo>
                </a:path>
              </a:pathLst>
            </a:custGeom>
            <a:noFill/>
            <a:ln w="9525">
              <a:solidFill>
                <a:srgbClr val="B8CBD3"/>
              </a:solidFill>
            </a:ln>
          </p:spPr>
        </p:sp>
        <p:sp>
          <p:nvSpPr>
            <p:cNvPr id="41" name="Line 41"/>
            <p:cNvSpPr/>
            <p:nvPr/>
          </p:nvSpPr>
          <p:spPr>
            <a:xfrm>
              <a:off x="9429750" y="2952750"/>
              <a:ext cx="9525" cy="1333500"/>
            </a:xfrm>
            <a:custGeom>
              <a:avLst/>
              <a:gdLst/>
              <a:ahLst/>
              <a:cxnLst/>
              <a:rect l="l" t="t" r="r" b="b"/>
              <a:pathLst>
                <a:path w="9525" h="1333500">
                  <a:moveTo>
                    <a:pt x="0" y="0"/>
                  </a:moveTo>
                  <a:lnTo>
                    <a:pt x="0" y="1333500"/>
                  </a:lnTo>
                </a:path>
              </a:pathLst>
            </a:custGeom>
            <a:noFill/>
            <a:ln w="9525">
              <a:solidFill>
                <a:srgbClr val="B8CBD3"/>
              </a:solidFill>
            </a:ln>
          </p:spPr>
        </p:sp>
      </p:grpSp>
      <p:grpSp>
        <p:nvGrpSpPr>
          <p:cNvPr id="47" name="bias-variance-note"/>
          <p:cNvGrpSpPr/>
          <p:nvPr/>
        </p:nvGrpSpPr>
        <p:grpSpPr>
          <a:xfrm>
            <a:off x="609600" y="5029200"/>
            <a:ext cx="10972800" cy="914400"/>
            <a:chOff x="609600" y="5029200"/>
            <a:chExt cx="10972800" cy="914400"/>
          </a:xfrm>
        </p:grpSpPr>
        <p:sp>
          <p:nvSpPr>
            <p:cNvPr id="43" name="Rectangle 43"/>
            <p:cNvSpPr/>
            <p:nvPr/>
          </p:nvSpPr>
          <p:spPr>
            <a:xfrm>
              <a:off x="609600" y="5029200"/>
              <a:ext cx="10972800" cy="914400"/>
            </a:xfrm>
            <a:prstGeom prst="roundRect">
              <a:avLst>
                <a:gd name="adj" fmla="val 8333"/>
              </a:avLst>
            </a:prstGeom>
            <a:solidFill>
              <a:srgbClr val="EAF4F6"/>
            </a:solidFill>
            <a:ln>
              <a:noFill/>
            </a:ln>
          </p:spPr>
        </p:sp>
        <p:sp>
          <p:nvSpPr>
            <p:cNvPr id="44" name="TextBox 44"/>
            <p:cNvSpPr txBox="1"/>
            <p:nvPr/>
          </p:nvSpPr>
          <p:spPr>
            <a:xfrm>
              <a:off x="907542" y="5169218"/>
              <a:ext cx="706175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Yanlılık-varyans dengesi: çok küçük k gürültüye duyarlı (yüksek varyans),</a:t>
              </a:r>
            </a:p>
          </p:txBody>
        </p:sp>
        <p:sp>
          <p:nvSpPr>
            <p:cNvPr id="45" name="TextBox 45"/>
            <p:cNvSpPr txBox="1"/>
            <p:nvPr/>
          </p:nvSpPr>
          <p:spPr>
            <a:xfrm>
              <a:off x="908304" y="5433060"/>
              <a:ext cx="64390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çok büyük k farklı sınıfları karıştırır (yüksek yanlılık). Bu örnekte en dengeli</a:t>
              </a:r>
            </a:p>
          </p:txBody>
        </p:sp>
        <p:sp>
          <p:nvSpPr>
            <p:cNvPr id="46" name="TextBox 46"/>
            <p:cNvSpPr txBox="1"/>
            <p:nvPr/>
          </p:nvSpPr>
          <p:spPr>
            <a:xfrm>
              <a:off x="908304" y="5642610"/>
              <a:ext cx="69994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nokta k=3 civarındadır. Ölçeklendirme (StandardScaler) mesafe hesabı için zorunludur.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6871537" cy="668845"/>
            <a:chOff x="609600" y="171450"/>
            <a:chExt cx="6871537"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61811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k-NN: ne zaman tercih edilmeli?</a:t>
              </a:r>
            </a:p>
          </p:txBody>
        </p:sp>
      </p:grpSp>
      <p:grpSp>
        <p:nvGrpSpPr>
          <p:cNvPr id="21" name="when-good"/>
          <p:cNvGrpSpPr/>
          <p:nvPr/>
        </p:nvGrpSpPr>
        <p:grpSpPr>
          <a:xfrm>
            <a:off x="609600" y="1257300"/>
            <a:ext cx="5257800" cy="2381250"/>
            <a:chOff x="609600" y="1257300"/>
            <a:chExt cx="5257800" cy="2381250"/>
          </a:xfrm>
        </p:grpSpPr>
        <p:sp>
          <p:nvSpPr>
            <p:cNvPr id="11" name="Rectangle 11"/>
            <p:cNvSpPr/>
            <p:nvPr/>
          </p:nvSpPr>
          <p:spPr>
            <a:xfrm>
              <a:off x="609600" y="1257300"/>
              <a:ext cx="5257800" cy="2381250"/>
            </a:xfrm>
            <a:prstGeom prst="roundRect">
              <a:avLst>
                <a:gd name="adj" fmla="val 4000"/>
              </a:avLst>
            </a:prstGeom>
            <a:solidFill>
              <a:srgbClr val="EAF4F6"/>
            </a:solidFill>
            <a:ln>
              <a:noFill/>
            </a:ln>
          </p:spPr>
        </p:sp>
        <p:sp>
          <p:nvSpPr>
            <p:cNvPr id="12" name="TextBox 12"/>
            <p:cNvSpPr txBox="1"/>
            <p:nvPr/>
          </p:nvSpPr>
          <p:spPr>
            <a:xfrm>
              <a:off x="830199" y="1392079"/>
              <a:ext cx="23792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İyi bir seçimdir çünkü</a:t>
              </a:r>
            </a:p>
          </p:txBody>
        </p:sp>
        <p:sp>
          <p:nvSpPr>
            <p:cNvPr id="13" name="Rectangle 13"/>
            <p:cNvSpPr/>
            <p:nvPr/>
          </p:nvSpPr>
          <p:spPr>
            <a:xfrm>
              <a:off x="838200" y="1733550"/>
              <a:ext cx="57150" cy="247650"/>
            </a:xfrm>
            <a:prstGeom prst="rect">
              <a:avLst/>
            </a:prstGeom>
            <a:solidFill>
              <a:srgbClr val="00A6A6"/>
            </a:solidFill>
            <a:ln>
              <a:noFill/>
            </a:ln>
          </p:spPr>
        </p:sp>
        <p:sp>
          <p:nvSpPr>
            <p:cNvPr id="14" name="TextBox 14"/>
            <p:cNvSpPr txBox="1"/>
            <p:nvPr/>
          </p:nvSpPr>
          <p:spPr>
            <a:xfrm>
              <a:off x="1022604" y="1775460"/>
              <a:ext cx="26585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kümesi küçük/orta ölçekliyse</a:t>
              </a:r>
            </a:p>
          </p:txBody>
        </p:sp>
        <p:sp>
          <p:nvSpPr>
            <p:cNvPr id="15" name="Rectangle 15"/>
            <p:cNvSpPr/>
            <p:nvPr/>
          </p:nvSpPr>
          <p:spPr>
            <a:xfrm>
              <a:off x="838200" y="2057400"/>
              <a:ext cx="57150" cy="247650"/>
            </a:xfrm>
            <a:prstGeom prst="rect">
              <a:avLst/>
            </a:prstGeom>
            <a:solidFill>
              <a:srgbClr val="00A6A6"/>
            </a:solidFill>
            <a:ln>
              <a:noFill/>
            </a:ln>
          </p:spPr>
        </p:sp>
        <p:sp>
          <p:nvSpPr>
            <p:cNvPr id="16" name="TextBox 16"/>
            <p:cNvSpPr txBox="1"/>
            <p:nvPr/>
          </p:nvSpPr>
          <p:spPr>
            <a:xfrm>
              <a:off x="1022604" y="2099310"/>
              <a:ext cx="40398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 sınırı düzensiz/doğrusal olmayan şekildeyse</a:t>
              </a:r>
            </a:p>
          </p:txBody>
        </p:sp>
        <p:sp>
          <p:nvSpPr>
            <p:cNvPr id="17" name="Rectangle 17"/>
            <p:cNvSpPr/>
            <p:nvPr/>
          </p:nvSpPr>
          <p:spPr>
            <a:xfrm>
              <a:off x="838200" y="2381250"/>
              <a:ext cx="57150" cy="247650"/>
            </a:xfrm>
            <a:prstGeom prst="rect">
              <a:avLst/>
            </a:prstGeom>
            <a:solidFill>
              <a:srgbClr val="00A6A6"/>
            </a:solidFill>
            <a:ln>
              <a:noFill/>
            </a:ln>
          </p:spPr>
        </p:sp>
        <p:sp>
          <p:nvSpPr>
            <p:cNvPr id="18" name="TextBox 18"/>
            <p:cNvSpPr txBox="1"/>
            <p:nvPr/>
          </p:nvSpPr>
          <p:spPr>
            <a:xfrm>
              <a:off x="1022604" y="2423160"/>
              <a:ext cx="39181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Tahmin doğruluğu yorumlanabilirlikten öncelikliyse</a:t>
              </a:r>
            </a:p>
          </p:txBody>
        </p:sp>
        <p:sp>
          <p:nvSpPr>
            <p:cNvPr id="19" name="Rectangle 19"/>
            <p:cNvSpPr/>
            <p:nvPr/>
          </p:nvSpPr>
          <p:spPr>
            <a:xfrm>
              <a:off x="838200" y="2705100"/>
              <a:ext cx="57150" cy="247650"/>
            </a:xfrm>
            <a:prstGeom prst="rect">
              <a:avLst/>
            </a:prstGeom>
            <a:solidFill>
              <a:srgbClr val="00A6A6"/>
            </a:solidFill>
            <a:ln>
              <a:noFill/>
            </a:ln>
          </p:spPr>
        </p:sp>
        <p:sp>
          <p:nvSpPr>
            <p:cNvPr id="20" name="TextBox 20"/>
            <p:cNvSpPr txBox="1"/>
            <p:nvPr/>
          </p:nvSpPr>
          <p:spPr>
            <a:xfrm>
              <a:off x="1022604" y="2747010"/>
              <a:ext cx="39591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veri sık geldiğinde (yeniden eğitim gerekmez)</a:t>
              </a:r>
            </a:p>
          </p:txBody>
        </p:sp>
      </p:grpSp>
      <p:grpSp>
        <p:nvGrpSpPr>
          <p:cNvPr id="30" name="when-bad"/>
          <p:cNvGrpSpPr/>
          <p:nvPr/>
        </p:nvGrpSpPr>
        <p:grpSpPr>
          <a:xfrm>
            <a:off x="609600" y="3790950"/>
            <a:ext cx="5257800" cy="1905000"/>
            <a:chOff x="609600" y="3790950"/>
            <a:chExt cx="5257800" cy="1905000"/>
          </a:xfrm>
        </p:grpSpPr>
        <p:sp>
          <p:nvSpPr>
            <p:cNvPr id="22" name="Rectangle 22"/>
            <p:cNvSpPr/>
            <p:nvPr/>
          </p:nvSpPr>
          <p:spPr>
            <a:xfrm>
              <a:off x="609600" y="3790950"/>
              <a:ext cx="5257800" cy="1905000"/>
            </a:xfrm>
            <a:prstGeom prst="roundRect">
              <a:avLst>
                <a:gd name="adj" fmla="val 5000"/>
              </a:avLst>
            </a:prstGeom>
            <a:solidFill>
              <a:srgbClr val="FFFFFF"/>
            </a:solidFill>
            <a:ln w="14288">
              <a:solidFill>
                <a:srgbClr val="B8CBD3"/>
              </a:solidFill>
            </a:ln>
          </p:spPr>
        </p:sp>
        <p:sp>
          <p:nvSpPr>
            <p:cNvPr id="23" name="TextBox 23"/>
            <p:cNvSpPr txBox="1"/>
            <p:nvPr/>
          </p:nvSpPr>
          <p:spPr>
            <a:xfrm>
              <a:off x="830199" y="3925729"/>
              <a:ext cx="31718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Dezavantajlı olduğu durumlar</a:t>
              </a:r>
            </a:p>
          </p:txBody>
        </p:sp>
        <p:sp>
          <p:nvSpPr>
            <p:cNvPr id="24" name="Rectangle 24"/>
            <p:cNvSpPr/>
            <p:nvPr/>
          </p:nvSpPr>
          <p:spPr>
            <a:xfrm>
              <a:off x="838200" y="4267200"/>
              <a:ext cx="57150" cy="247650"/>
            </a:xfrm>
            <a:prstGeom prst="rect">
              <a:avLst/>
            </a:prstGeom>
            <a:solidFill>
              <a:srgbClr val="52616B"/>
            </a:solidFill>
            <a:ln>
              <a:noFill/>
            </a:ln>
          </p:spPr>
        </p:sp>
        <p:sp>
          <p:nvSpPr>
            <p:cNvPr id="25" name="TextBox 25"/>
            <p:cNvSpPr txBox="1"/>
            <p:nvPr/>
          </p:nvSpPr>
          <p:spPr>
            <a:xfrm>
              <a:off x="1022604" y="4309110"/>
              <a:ext cx="33212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çok büyükse (tahmin maliyeti yüksek)</a:t>
              </a:r>
            </a:p>
          </p:txBody>
        </p:sp>
        <p:sp>
          <p:nvSpPr>
            <p:cNvPr id="26" name="Rectangle 26"/>
            <p:cNvSpPr/>
            <p:nvPr/>
          </p:nvSpPr>
          <p:spPr>
            <a:xfrm>
              <a:off x="838200" y="4591050"/>
              <a:ext cx="57150" cy="247650"/>
            </a:xfrm>
            <a:prstGeom prst="rect">
              <a:avLst/>
            </a:prstGeom>
            <a:solidFill>
              <a:srgbClr val="52616B"/>
            </a:solidFill>
            <a:ln>
              <a:noFill/>
            </a:ln>
          </p:spPr>
        </p:sp>
        <p:sp>
          <p:nvSpPr>
            <p:cNvPr id="27" name="TextBox 27"/>
            <p:cNvSpPr txBox="1"/>
            <p:nvPr/>
          </p:nvSpPr>
          <p:spPr>
            <a:xfrm>
              <a:off x="1022604" y="4632960"/>
              <a:ext cx="30787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Yüksek boyutlu ise (boyutsallık laneti)</a:t>
              </a:r>
            </a:p>
          </p:txBody>
        </p:sp>
        <p:sp>
          <p:nvSpPr>
            <p:cNvPr id="28" name="Rectangle 28"/>
            <p:cNvSpPr/>
            <p:nvPr/>
          </p:nvSpPr>
          <p:spPr>
            <a:xfrm>
              <a:off x="838200" y="4914900"/>
              <a:ext cx="57150" cy="247650"/>
            </a:xfrm>
            <a:prstGeom prst="rect">
              <a:avLst/>
            </a:prstGeom>
            <a:solidFill>
              <a:srgbClr val="52616B"/>
            </a:solidFill>
            <a:ln>
              <a:noFill/>
            </a:ln>
          </p:spPr>
        </p:sp>
        <p:sp>
          <p:nvSpPr>
            <p:cNvPr id="29" name="TextBox 29"/>
            <p:cNvSpPr txBox="1"/>
            <p:nvPr/>
          </p:nvSpPr>
          <p:spPr>
            <a:xfrm>
              <a:off x="1022604" y="4956810"/>
              <a:ext cx="41069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durumlarda karar ağacı/Naive Bayes tercih edilir</a:t>
              </a:r>
            </a:p>
          </p:txBody>
        </p:sp>
      </p:grpSp>
      <p:grpSp>
        <p:nvGrpSpPr>
          <p:cNvPr id="59" name="compare-table"/>
          <p:cNvGrpSpPr/>
          <p:nvPr/>
        </p:nvGrpSpPr>
        <p:grpSpPr>
          <a:xfrm>
            <a:off x="6324600" y="1257300"/>
            <a:ext cx="5257800" cy="3699034"/>
            <a:chOff x="6324600" y="1257300"/>
            <a:chExt cx="5257800" cy="3699034"/>
          </a:xfrm>
        </p:grpSpPr>
        <p:sp>
          <p:nvSpPr>
            <p:cNvPr id="31" name="Rectangle 31"/>
            <p:cNvSpPr/>
            <p:nvPr/>
          </p:nvSpPr>
          <p:spPr>
            <a:xfrm>
              <a:off x="6324600" y="1257300"/>
              <a:ext cx="5257800" cy="381000"/>
            </a:xfrm>
            <a:prstGeom prst="rect">
              <a:avLst/>
            </a:prstGeom>
            <a:solidFill>
              <a:srgbClr val="12355B"/>
            </a:solidFill>
            <a:ln>
              <a:noFill/>
            </a:ln>
          </p:spPr>
        </p:sp>
        <p:sp>
          <p:nvSpPr>
            <p:cNvPr id="32" name="TextBox 32"/>
            <p:cNvSpPr txBox="1"/>
            <p:nvPr/>
          </p:nvSpPr>
          <p:spPr>
            <a:xfrm>
              <a:off x="6509385" y="1383506"/>
              <a:ext cx="655436"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ÖZELLİK</a:t>
              </a:r>
            </a:p>
          </p:txBody>
        </p:sp>
        <p:sp>
          <p:nvSpPr>
            <p:cNvPr id="33" name="TextBox 33"/>
            <p:cNvSpPr txBox="1"/>
            <p:nvPr/>
          </p:nvSpPr>
          <p:spPr>
            <a:xfrm>
              <a:off x="8566785" y="1383506"/>
              <a:ext cx="939802"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KARAR AĞACI</a:t>
              </a:r>
            </a:p>
          </p:txBody>
        </p:sp>
        <p:sp>
          <p:nvSpPr>
            <p:cNvPr id="34" name="TextBox 34"/>
            <p:cNvSpPr txBox="1"/>
            <p:nvPr/>
          </p:nvSpPr>
          <p:spPr>
            <a:xfrm>
              <a:off x="10376535" y="1383506"/>
              <a:ext cx="372862"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k-NN</a:t>
              </a:r>
            </a:p>
          </p:txBody>
        </p:sp>
        <p:sp>
          <p:nvSpPr>
            <p:cNvPr id="35" name="Line 35"/>
            <p:cNvSpPr/>
            <p:nvPr/>
          </p:nvSpPr>
          <p:spPr>
            <a:xfrm>
              <a:off x="6324600" y="16383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36" name="TextBox 36"/>
            <p:cNvSpPr txBox="1"/>
            <p:nvPr/>
          </p:nvSpPr>
          <p:spPr>
            <a:xfrm>
              <a:off x="6509385" y="1821656"/>
              <a:ext cx="100408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Öğrenme türü</a:t>
              </a:r>
            </a:p>
          </p:txBody>
        </p:sp>
        <p:sp>
          <p:nvSpPr>
            <p:cNvPr id="37" name="TextBox 37"/>
            <p:cNvSpPr txBox="1"/>
            <p:nvPr/>
          </p:nvSpPr>
          <p:spPr>
            <a:xfrm>
              <a:off x="8567166" y="1829752"/>
              <a:ext cx="40378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Eager</a:t>
              </a:r>
            </a:p>
          </p:txBody>
        </p:sp>
        <p:sp>
          <p:nvSpPr>
            <p:cNvPr id="38" name="TextBox 38"/>
            <p:cNvSpPr txBox="1"/>
            <p:nvPr/>
          </p:nvSpPr>
          <p:spPr>
            <a:xfrm>
              <a:off x="10376916" y="1829752"/>
              <a:ext cx="32604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Lazy</a:t>
              </a:r>
            </a:p>
          </p:txBody>
        </p:sp>
        <p:sp>
          <p:nvSpPr>
            <p:cNvPr id="39" name="Line 39"/>
            <p:cNvSpPr/>
            <p:nvPr/>
          </p:nvSpPr>
          <p:spPr>
            <a:xfrm>
              <a:off x="6324600" y="20955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0" name="TextBox 40"/>
            <p:cNvSpPr txBox="1"/>
            <p:nvPr/>
          </p:nvSpPr>
          <p:spPr>
            <a:xfrm>
              <a:off x="6509385" y="2278856"/>
              <a:ext cx="101087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Ölçeklendirme</a:t>
              </a:r>
            </a:p>
          </p:txBody>
        </p:sp>
        <p:sp>
          <p:nvSpPr>
            <p:cNvPr id="41" name="TextBox 41"/>
            <p:cNvSpPr txBox="1"/>
            <p:nvPr/>
          </p:nvSpPr>
          <p:spPr>
            <a:xfrm>
              <a:off x="8567166" y="2286952"/>
              <a:ext cx="66548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Gerekmez</a:t>
              </a:r>
            </a:p>
          </p:txBody>
        </p:sp>
        <p:sp>
          <p:nvSpPr>
            <p:cNvPr id="42" name="TextBox 42"/>
            <p:cNvSpPr txBox="1"/>
            <p:nvPr/>
          </p:nvSpPr>
          <p:spPr>
            <a:xfrm>
              <a:off x="10376916" y="2286952"/>
              <a:ext cx="52364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Zorunlu</a:t>
              </a:r>
            </a:p>
          </p:txBody>
        </p:sp>
        <p:sp>
          <p:nvSpPr>
            <p:cNvPr id="43" name="Line 43"/>
            <p:cNvSpPr/>
            <p:nvPr/>
          </p:nvSpPr>
          <p:spPr>
            <a:xfrm>
              <a:off x="6324600" y="25527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4" name="TextBox 44"/>
            <p:cNvSpPr txBox="1"/>
            <p:nvPr/>
          </p:nvSpPr>
          <p:spPr>
            <a:xfrm>
              <a:off x="6509385" y="2736056"/>
              <a:ext cx="122920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Yorumlanabilirlik</a:t>
              </a:r>
            </a:p>
          </p:txBody>
        </p:sp>
        <p:sp>
          <p:nvSpPr>
            <p:cNvPr id="45" name="TextBox 45"/>
            <p:cNvSpPr txBox="1"/>
            <p:nvPr/>
          </p:nvSpPr>
          <p:spPr>
            <a:xfrm>
              <a:off x="8567166" y="2744152"/>
              <a:ext cx="48152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Yüksek</a:t>
              </a:r>
            </a:p>
          </p:txBody>
        </p:sp>
        <p:sp>
          <p:nvSpPr>
            <p:cNvPr id="46" name="TextBox 46"/>
            <p:cNvSpPr txBox="1"/>
            <p:nvPr/>
          </p:nvSpPr>
          <p:spPr>
            <a:xfrm>
              <a:off x="10376916" y="2744152"/>
              <a:ext cx="40378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Düşük</a:t>
              </a:r>
            </a:p>
          </p:txBody>
        </p:sp>
        <p:sp>
          <p:nvSpPr>
            <p:cNvPr id="47" name="Line 47"/>
            <p:cNvSpPr/>
            <p:nvPr/>
          </p:nvSpPr>
          <p:spPr>
            <a:xfrm>
              <a:off x="6324600" y="30099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8" name="TextBox 48"/>
            <p:cNvSpPr txBox="1"/>
            <p:nvPr/>
          </p:nvSpPr>
          <p:spPr>
            <a:xfrm>
              <a:off x="6509385" y="3193256"/>
              <a:ext cx="88329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Tahmin hızı</a:t>
              </a:r>
            </a:p>
          </p:txBody>
        </p:sp>
        <p:sp>
          <p:nvSpPr>
            <p:cNvPr id="49" name="TextBox 49"/>
            <p:cNvSpPr txBox="1"/>
            <p:nvPr/>
          </p:nvSpPr>
          <p:spPr>
            <a:xfrm>
              <a:off x="8567166" y="3201352"/>
              <a:ext cx="36804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Hızlı</a:t>
              </a:r>
            </a:p>
          </p:txBody>
        </p:sp>
        <p:sp>
          <p:nvSpPr>
            <p:cNvPr id="50" name="TextBox 50"/>
            <p:cNvSpPr txBox="1"/>
            <p:nvPr/>
          </p:nvSpPr>
          <p:spPr>
            <a:xfrm>
              <a:off x="10376916" y="3201352"/>
              <a:ext cx="40378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Yavaş</a:t>
              </a:r>
            </a:p>
          </p:txBody>
        </p:sp>
        <p:sp>
          <p:nvSpPr>
            <p:cNvPr id="51" name="Line 51"/>
            <p:cNvSpPr/>
            <p:nvPr/>
          </p:nvSpPr>
          <p:spPr>
            <a:xfrm>
              <a:off x="6324600" y="34671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52" name="TextBox 52"/>
            <p:cNvSpPr txBox="1"/>
            <p:nvPr/>
          </p:nvSpPr>
          <p:spPr>
            <a:xfrm>
              <a:off x="6509385" y="3650456"/>
              <a:ext cx="15239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Büyük veri uygunluğu</a:t>
              </a:r>
            </a:p>
          </p:txBody>
        </p:sp>
        <p:sp>
          <p:nvSpPr>
            <p:cNvPr id="53" name="TextBox 53"/>
            <p:cNvSpPr txBox="1"/>
            <p:nvPr/>
          </p:nvSpPr>
          <p:spPr>
            <a:xfrm>
              <a:off x="8567166" y="3658552"/>
              <a:ext cx="21229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İyi</a:t>
              </a:r>
            </a:p>
          </p:txBody>
        </p:sp>
        <p:sp>
          <p:nvSpPr>
            <p:cNvPr id="54" name="TextBox 54"/>
            <p:cNvSpPr txBox="1"/>
            <p:nvPr/>
          </p:nvSpPr>
          <p:spPr>
            <a:xfrm>
              <a:off x="10376916" y="3658552"/>
              <a:ext cx="40378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Zayıf</a:t>
              </a:r>
            </a:p>
          </p:txBody>
        </p:sp>
        <p:sp>
          <p:nvSpPr>
            <p:cNvPr id="55" name="Rectangle 55"/>
            <p:cNvSpPr/>
            <p:nvPr/>
          </p:nvSpPr>
          <p:spPr>
            <a:xfrm>
              <a:off x="6324600" y="4191000"/>
              <a:ext cx="5257800" cy="762000"/>
            </a:xfrm>
            <a:prstGeom prst="roundRect">
              <a:avLst>
                <a:gd name="adj" fmla="val 10000"/>
              </a:avLst>
            </a:prstGeom>
            <a:solidFill>
              <a:srgbClr val="EAF4F6"/>
            </a:solidFill>
            <a:ln>
              <a:noFill/>
            </a:ln>
          </p:spPr>
        </p:sp>
        <p:sp>
          <p:nvSpPr>
            <p:cNvPr id="56" name="TextBox 56"/>
            <p:cNvSpPr txBox="1"/>
            <p:nvPr/>
          </p:nvSpPr>
          <p:spPr>
            <a:xfrm>
              <a:off x="6547485" y="4317206"/>
              <a:ext cx="34791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Online öğrenme benzeri senaryoda k-NN yeniden</a:t>
              </a:r>
            </a:p>
          </p:txBody>
        </p:sp>
        <p:sp>
          <p:nvSpPr>
            <p:cNvPr id="57" name="TextBox 57"/>
            <p:cNvSpPr txBox="1"/>
            <p:nvPr/>
          </p:nvSpPr>
          <p:spPr>
            <a:xfrm>
              <a:off x="6547485" y="4526756"/>
              <a:ext cx="334354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eğitim gerektirmez; yeni örnek doğrudan veri</a:t>
              </a:r>
            </a:p>
          </p:txBody>
        </p:sp>
        <p:sp>
          <p:nvSpPr>
            <p:cNvPr id="58" name="TextBox 58"/>
            <p:cNvSpPr txBox="1"/>
            <p:nvPr/>
          </p:nvSpPr>
          <p:spPr>
            <a:xfrm>
              <a:off x="6547485" y="4736306"/>
              <a:ext cx="130809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havuzuna eklenir.</a:t>
              </a:r>
            </a:p>
          </p:txBody>
        </p:sp>
      </p:grpSp>
      <p:sp>
        <p:nvSpPr>
          <p:cNvPr id="60" name="TextBox 6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439389" cy="668845"/>
            <a:chOff x="609600" y="171450"/>
            <a:chExt cx="8439389"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7490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Naive Bayes: olasılıksal sınıflandırma</a:t>
              </a:r>
            </a:p>
          </p:txBody>
        </p:sp>
      </p:grpSp>
      <p:grpSp>
        <p:nvGrpSpPr>
          <p:cNvPr id="12" name="bayes-formula"/>
          <p:cNvGrpSpPr/>
          <p:nvPr/>
        </p:nvGrpSpPr>
        <p:grpSpPr>
          <a:xfrm>
            <a:off x="609600" y="1257300"/>
            <a:ext cx="10972800" cy="857250"/>
            <a:chOff x="609600" y="1257300"/>
            <a:chExt cx="10972800" cy="857250"/>
          </a:xfrm>
        </p:grpSpPr>
        <p:sp>
          <p:nvSpPr>
            <p:cNvPr id="9" name="Rectangle 9"/>
            <p:cNvSpPr/>
            <p:nvPr/>
          </p:nvSpPr>
          <p:spPr>
            <a:xfrm>
              <a:off x="609600" y="1257300"/>
              <a:ext cx="10972800" cy="857250"/>
            </a:xfrm>
            <a:prstGeom prst="roundRect">
              <a:avLst>
                <a:gd name="adj" fmla="val 11111"/>
              </a:avLst>
            </a:prstGeom>
            <a:solidFill>
              <a:srgbClr val="12355B"/>
            </a:solidFill>
            <a:ln>
              <a:noFill/>
            </a:ln>
          </p:spPr>
        </p:sp>
        <p:sp>
          <p:nvSpPr>
            <p:cNvPr id="10" name="TextBox 10"/>
            <p:cNvSpPr txBox="1"/>
            <p:nvPr/>
          </p:nvSpPr>
          <p:spPr>
            <a:xfrm>
              <a:off x="3950889" y="1408748"/>
              <a:ext cx="4290222" cy="381381"/>
            </a:xfrm>
            <a:prstGeom prst="rect">
              <a:avLst/>
            </a:prstGeom>
            <a:noFill/>
            <a:ln>
              <a:noFill/>
            </a:ln>
          </p:spPr>
          <p:txBody>
            <a:bodyPr wrap="none" lIns="0" tIns="0" rIns="0" bIns="0" anchor="t" anchorCtr="0">
              <a:spAutoFit/>
            </a:bodyPr>
            <a:lstStyle/>
            <a:p>
              <a:pPr algn="ctr"/>
              <a:r>
                <a:rPr lang="tr-TR" sz="1950" b="1" dirty="0">
                  <a:solidFill>
                    <a:srgbClr val="FFFFFF"/>
                  </a:solidFill>
                  <a:latin typeface="+mn-lt"/>
                  <a:ea typeface="+mn-ea"/>
                  <a:cs typeface="+mn-cs"/>
                </a:rPr>
                <a:t>P(y | x) = P(x | y) · P(y) / P(x)</a:t>
              </a:r>
            </a:p>
          </p:txBody>
        </p:sp>
        <p:sp>
          <p:nvSpPr>
            <p:cNvPr id="11" name="TextBox 11"/>
            <p:cNvSpPr txBox="1"/>
            <p:nvPr/>
          </p:nvSpPr>
          <p:spPr>
            <a:xfrm>
              <a:off x="3179618" y="1756410"/>
              <a:ext cx="5832764"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Bayes teoremi — sonsal olasılık, olabilirlik ve öncül olasılığın birleşimidir</a:t>
              </a:r>
            </a:p>
          </p:txBody>
        </p:sp>
      </p:grpSp>
      <p:grpSp>
        <p:nvGrpSpPr>
          <p:cNvPr id="18" name="term-prior"/>
          <p:cNvGrpSpPr/>
          <p:nvPr/>
        </p:nvGrpSpPr>
        <p:grpSpPr>
          <a:xfrm>
            <a:off x="609600" y="2343150"/>
            <a:ext cx="3505200" cy="1333500"/>
            <a:chOff x="609600" y="2343150"/>
            <a:chExt cx="3505200" cy="1333500"/>
          </a:xfrm>
        </p:grpSpPr>
        <p:sp>
          <p:nvSpPr>
            <p:cNvPr id="13" name="Rectangle 13"/>
            <p:cNvSpPr/>
            <p:nvPr/>
          </p:nvSpPr>
          <p:spPr>
            <a:xfrm>
              <a:off x="609600" y="2343150"/>
              <a:ext cx="3505200" cy="1333500"/>
            </a:xfrm>
            <a:prstGeom prst="roundRect">
              <a:avLst>
                <a:gd name="adj" fmla="val 7143"/>
              </a:avLst>
            </a:prstGeom>
            <a:solidFill>
              <a:srgbClr val="FFFFFF"/>
            </a:solidFill>
            <a:ln w="14288">
              <a:solidFill>
                <a:srgbClr val="2E86AB"/>
              </a:solidFill>
            </a:ln>
          </p:spPr>
        </p:sp>
        <p:sp>
          <p:nvSpPr>
            <p:cNvPr id="14" name="TextBox 14"/>
            <p:cNvSpPr txBox="1"/>
            <p:nvPr/>
          </p:nvSpPr>
          <p:spPr>
            <a:xfrm>
              <a:off x="830580" y="2486025"/>
              <a:ext cx="1275655"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P(y) — Öncül</a:t>
              </a:r>
            </a:p>
          </p:txBody>
        </p:sp>
        <p:sp>
          <p:nvSpPr>
            <p:cNvPr id="15" name="TextBox 15"/>
            <p:cNvSpPr txBox="1"/>
            <p:nvPr/>
          </p:nvSpPr>
          <p:spPr>
            <a:xfrm>
              <a:off x="832104" y="2785110"/>
              <a:ext cx="19800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Sınıfın veri kümesindeki</a:t>
              </a:r>
            </a:p>
          </p:txBody>
        </p:sp>
        <p:sp>
          <p:nvSpPr>
            <p:cNvPr id="16" name="TextBox 16"/>
            <p:cNvSpPr txBox="1"/>
            <p:nvPr/>
          </p:nvSpPr>
          <p:spPr>
            <a:xfrm>
              <a:off x="832104" y="2994660"/>
              <a:ext cx="15387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genel oranı (prior)</a:t>
              </a:r>
            </a:p>
          </p:txBody>
        </p:sp>
        <p:sp>
          <p:nvSpPr>
            <p:cNvPr id="17" name="TextBox 17"/>
            <p:cNvSpPr txBox="1"/>
            <p:nvPr/>
          </p:nvSpPr>
          <p:spPr>
            <a:xfrm>
              <a:off x="832485" y="3307556"/>
              <a:ext cx="226432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Örn: ayrılanların oranı %61.7</a:t>
              </a:r>
            </a:p>
          </p:txBody>
        </p:sp>
      </p:grpSp>
      <p:grpSp>
        <p:nvGrpSpPr>
          <p:cNvPr id="24" name="term-likelihood"/>
          <p:cNvGrpSpPr/>
          <p:nvPr/>
        </p:nvGrpSpPr>
        <p:grpSpPr>
          <a:xfrm>
            <a:off x="4343400" y="2343150"/>
            <a:ext cx="3505200" cy="1333500"/>
            <a:chOff x="4343400" y="2343150"/>
            <a:chExt cx="3505200" cy="1333500"/>
          </a:xfrm>
        </p:grpSpPr>
        <p:sp>
          <p:nvSpPr>
            <p:cNvPr id="19" name="Rectangle 19"/>
            <p:cNvSpPr/>
            <p:nvPr/>
          </p:nvSpPr>
          <p:spPr>
            <a:xfrm>
              <a:off x="4343400" y="2343150"/>
              <a:ext cx="3505200" cy="1333500"/>
            </a:xfrm>
            <a:prstGeom prst="roundRect">
              <a:avLst>
                <a:gd name="adj" fmla="val 7143"/>
              </a:avLst>
            </a:prstGeom>
            <a:solidFill>
              <a:srgbClr val="FFFFFF"/>
            </a:solidFill>
            <a:ln w="14288">
              <a:solidFill>
                <a:srgbClr val="2E86AB"/>
              </a:solidFill>
            </a:ln>
          </p:spPr>
        </p:sp>
        <p:sp>
          <p:nvSpPr>
            <p:cNvPr id="20" name="TextBox 20"/>
            <p:cNvSpPr txBox="1"/>
            <p:nvPr/>
          </p:nvSpPr>
          <p:spPr>
            <a:xfrm>
              <a:off x="4564380" y="2486025"/>
              <a:ext cx="205646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P(x | y) — Olabilirlik</a:t>
              </a:r>
            </a:p>
          </p:txBody>
        </p:sp>
        <p:sp>
          <p:nvSpPr>
            <p:cNvPr id="21" name="TextBox 21"/>
            <p:cNvSpPr txBox="1"/>
            <p:nvPr/>
          </p:nvSpPr>
          <p:spPr>
            <a:xfrm>
              <a:off x="4565904" y="2785110"/>
              <a:ext cx="21741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sınıfa ait örneklerde bu</a:t>
              </a:r>
            </a:p>
          </p:txBody>
        </p:sp>
        <p:sp>
          <p:nvSpPr>
            <p:cNvPr id="22" name="TextBox 22"/>
            <p:cNvSpPr txBox="1"/>
            <p:nvPr/>
          </p:nvSpPr>
          <p:spPr>
            <a:xfrm>
              <a:off x="4565904" y="2994660"/>
              <a:ext cx="24838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özniteliklerin görülme olasılığı</a:t>
              </a:r>
            </a:p>
          </p:txBody>
        </p:sp>
        <p:sp>
          <p:nvSpPr>
            <p:cNvPr id="23" name="TextBox 23"/>
            <p:cNvSpPr txBox="1"/>
            <p:nvPr/>
          </p:nvSpPr>
          <p:spPr>
            <a:xfrm>
              <a:off x="4566285" y="3307556"/>
              <a:ext cx="276297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GaussianNB: normal dağılım varsayar</a:t>
              </a:r>
            </a:p>
          </p:txBody>
        </p:sp>
      </p:grpSp>
      <p:grpSp>
        <p:nvGrpSpPr>
          <p:cNvPr id="30" name="term-posterior"/>
          <p:cNvGrpSpPr/>
          <p:nvPr/>
        </p:nvGrpSpPr>
        <p:grpSpPr>
          <a:xfrm>
            <a:off x="8077200" y="2343150"/>
            <a:ext cx="3505200" cy="1333500"/>
            <a:chOff x="8077200" y="2343150"/>
            <a:chExt cx="3505200" cy="1333500"/>
          </a:xfrm>
        </p:grpSpPr>
        <p:sp>
          <p:nvSpPr>
            <p:cNvPr id="25" name="Rectangle 25"/>
            <p:cNvSpPr/>
            <p:nvPr/>
          </p:nvSpPr>
          <p:spPr>
            <a:xfrm>
              <a:off x="8077200" y="2343150"/>
              <a:ext cx="3505200" cy="1333500"/>
            </a:xfrm>
            <a:prstGeom prst="roundRect">
              <a:avLst>
                <a:gd name="adj" fmla="val 7143"/>
              </a:avLst>
            </a:prstGeom>
            <a:solidFill>
              <a:srgbClr val="EAF4F6"/>
            </a:solidFill>
            <a:ln w="14288">
              <a:solidFill>
                <a:srgbClr val="00A6A6"/>
              </a:solidFill>
            </a:ln>
          </p:spPr>
        </p:sp>
        <p:sp>
          <p:nvSpPr>
            <p:cNvPr id="26" name="TextBox 26"/>
            <p:cNvSpPr txBox="1"/>
            <p:nvPr/>
          </p:nvSpPr>
          <p:spPr>
            <a:xfrm>
              <a:off x="8298180" y="2486025"/>
              <a:ext cx="170058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P(y | x) — Sonsal</a:t>
              </a:r>
            </a:p>
          </p:txBody>
        </p:sp>
        <p:sp>
          <p:nvSpPr>
            <p:cNvPr id="27" name="TextBox 27"/>
            <p:cNvSpPr txBox="1"/>
            <p:nvPr/>
          </p:nvSpPr>
          <p:spPr>
            <a:xfrm>
              <a:off x="8299704" y="2785110"/>
              <a:ext cx="19957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Özniteliklere bakıldıktan</a:t>
              </a:r>
            </a:p>
          </p:txBody>
        </p:sp>
        <p:sp>
          <p:nvSpPr>
            <p:cNvPr id="28" name="TextBox 28"/>
            <p:cNvSpPr txBox="1"/>
            <p:nvPr/>
          </p:nvSpPr>
          <p:spPr>
            <a:xfrm>
              <a:off x="8299704" y="2994660"/>
              <a:ext cx="26615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sonra güncellenen sınıf olasılığı</a:t>
              </a:r>
            </a:p>
          </p:txBody>
        </p:sp>
        <p:sp>
          <p:nvSpPr>
            <p:cNvPr id="29" name="TextBox 29"/>
            <p:cNvSpPr txBox="1"/>
            <p:nvPr/>
          </p:nvSpPr>
          <p:spPr>
            <a:xfrm>
              <a:off x="8300085" y="3307556"/>
              <a:ext cx="213734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predict_proba çıktısı budur</a:t>
              </a:r>
            </a:p>
          </p:txBody>
        </p:sp>
      </p:grpSp>
      <p:grpSp>
        <p:nvGrpSpPr>
          <p:cNvPr id="34" name="naive-assumption"/>
          <p:cNvGrpSpPr/>
          <p:nvPr/>
        </p:nvGrpSpPr>
        <p:grpSpPr>
          <a:xfrm>
            <a:off x="609600" y="3905250"/>
            <a:ext cx="10972800" cy="857250"/>
            <a:chOff x="609600" y="3905250"/>
            <a:chExt cx="10972800" cy="857250"/>
          </a:xfrm>
        </p:grpSpPr>
        <p:sp>
          <p:nvSpPr>
            <p:cNvPr id="31" name="Rectangle 31"/>
            <p:cNvSpPr/>
            <p:nvPr/>
          </p:nvSpPr>
          <p:spPr>
            <a:xfrm>
              <a:off x="609600" y="3905250"/>
              <a:ext cx="10972800" cy="857250"/>
            </a:xfrm>
            <a:prstGeom prst="roundRect">
              <a:avLst>
                <a:gd name="adj" fmla="val 8889"/>
              </a:avLst>
            </a:prstGeom>
            <a:solidFill>
              <a:srgbClr val="EAF4F6"/>
            </a:solidFill>
            <a:ln>
              <a:noFill/>
            </a:ln>
          </p:spPr>
        </p:sp>
        <p:sp>
          <p:nvSpPr>
            <p:cNvPr id="32" name="TextBox 32"/>
            <p:cNvSpPr txBox="1"/>
            <p:nvPr/>
          </p:nvSpPr>
          <p:spPr>
            <a:xfrm>
              <a:off x="907542" y="4045268"/>
              <a:ext cx="762447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"Naive" (saf) varsayımı: tüm öznitelikler sınıf verildiğinde koşullu bağımsızdır</a:t>
              </a:r>
            </a:p>
          </p:txBody>
        </p:sp>
        <p:sp>
          <p:nvSpPr>
            <p:cNvPr id="33" name="TextBox 33"/>
            <p:cNvSpPr txBox="1"/>
            <p:nvPr/>
          </p:nvSpPr>
          <p:spPr>
            <a:xfrm>
              <a:off x="908304" y="4309110"/>
              <a:ext cx="76425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P(x | y) = P(x₁ | y) · P(x₂ | y) ⋯ P(xₙ | y) — hesabı basitleştirir ama gerçek veride tam sağlanmaz</a:t>
              </a:r>
            </a:p>
          </p:txBody>
        </p:sp>
      </p:grpSp>
      <p:grpSp>
        <p:nvGrpSpPr>
          <p:cNvPr id="37" name="doctor-analogy"/>
          <p:cNvGrpSpPr/>
          <p:nvPr/>
        </p:nvGrpSpPr>
        <p:grpSpPr>
          <a:xfrm>
            <a:off x="602742" y="5073968"/>
            <a:ext cx="9187434" cy="708088"/>
            <a:chOff x="602742" y="5073968"/>
            <a:chExt cx="9187434" cy="708088"/>
          </a:xfrm>
        </p:grpSpPr>
        <p:sp>
          <p:nvSpPr>
            <p:cNvPr id="35" name="TextBox 35"/>
            <p:cNvSpPr txBox="1"/>
            <p:nvPr/>
          </p:nvSpPr>
          <p:spPr>
            <a:xfrm>
              <a:off x="602742" y="5073968"/>
              <a:ext cx="296836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Sezgi: doktorun teşhis mantığı</a:t>
              </a:r>
            </a:p>
          </p:txBody>
        </p:sp>
        <p:sp>
          <p:nvSpPr>
            <p:cNvPr id="36" name="TextBox 36"/>
            <p:cNvSpPr txBox="1"/>
            <p:nvPr/>
          </p:nvSpPr>
          <p:spPr>
            <a:xfrm>
              <a:off x="603504" y="5337810"/>
              <a:ext cx="91866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Önce hastalığın toplumdaki genel görülme sıklığına (öncül) bakılır, sonra belirtiler (ateş, öksürük,</a:t>
              </a:r>
              <a:br/>
              <a:r>
                <a:rPr lang="tr-TR" sz="1200" dirty="0">
                  <a:solidFill>
                    <a:srgbClr val="172B3A"/>
                  </a:solidFill>
                  <a:latin typeface="+mn-lt"/>
                  <a:ea typeface="+mn-ea"/>
                  <a:cs typeface="+mn-cs"/>
                </a:rPr>
                <a:t>halsizlik) birbirinden bağımsızmış gibi değerlendirilip bu bilgi güncellenir — basitleştirme olsa da makul bir teşhise ulaşılır.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998496" cy="557403"/>
            <a:chOff x="595122" y="282892"/>
            <a:chExt cx="7998496" cy="557403"/>
          </a:xfrm>
        </p:grpSpPr>
        <p:sp>
          <p:nvSpPr>
            <p:cNvPr id="4" name="TextBox 4"/>
            <p:cNvSpPr txBox="1"/>
            <p:nvPr/>
          </p:nvSpPr>
          <p:spPr>
            <a:xfrm>
              <a:off x="595122" y="282892"/>
              <a:ext cx="799849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Varsayım ihlal edilse de neden işe yarar?</a:t>
              </a:r>
            </a:p>
          </p:txBody>
        </p:sp>
      </p:grpSp>
      <p:grpSp>
        <p:nvGrpSpPr>
          <p:cNvPr id="10" name="stat-accuracy"/>
          <p:cNvGrpSpPr/>
          <p:nvPr/>
        </p:nvGrpSpPr>
        <p:grpSpPr>
          <a:xfrm>
            <a:off x="609600" y="1257300"/>
            <a:ext cx="3505200" cy="1219200"/>
            <a:chOff x="609600" y="1257300"/>
            <a:chExt cx="3505200" cy="1219200"/>
          </a:xfrm>
        </p:grpSpPr>
        <p:sp>
          <p:nvSpPr>
            <p:cNvPr id="6" name="Rectangle 6"/>
            <p:cNvSpPr/>
            <p:nvPr/>
          </p:nvSpPr>
          <p:spPr>
            <a:xfrm>
              <a:off x="609600" y="1257300"/>
              <a:ext cx="3505200" cy="1219200"/>
            </a:xfrm>
            <a:prstGeom prst="roundRect">
              <a:avLst>
                <a:gd name="adj" fmla="val 7812"/>
              </a:avLst>
            </a:prstGeom>
            <a:solidFill>
              <a:srgbClr val="12355B"/>
            </a:solidFill>
            <a:ln>
              <a:noFill/>
            </a:ln>
          </p:spPr>
        </p:sp>
        <p:sp>
          <p:nvSpPr>
            <p:cNvPr id="7" name="TextBox 7"/>
            <p:cNvSpPr txBox="1"/>
            <p:nvPr/>
          </p:nvSpPr>
          <p:spPr>
            <a:xfrm>
              <a:off x="825246" y="1401128"/>
              <a:ext cx="1017132" cy="498729"/>
            </a:xfrm>
            <a:prstGeom prst="rect">
              <a:avLst/>
            </a:prstGeom>
            <a:noFill/>
            <a:ln>
              <a:noFill/>
            </a:ln>
          </p:spPr>
          <p:txBody>
            <a:bodyPr wrap="none" lIns="0" tIns="0" rIns="0" bIns="0" anchor="t" anchorCtr="0">
              <a:spAutoFit/>
            </a:bodyPr>
            <a:lstStyle/>
            <a:p>
              <a:pPr algn="l"/>
              <a:r>
                <a:rPr lang="tr-TR" sz="2550" b="1" dirty="0">
                  <a:solidFill>
                    <a:srgbClr val="00A6A6"/>
                  </a:solidFill>
                  <a:latin typeface="+mn-lt"/>
                  <a:ea typeface="+mn-ea"/>
                  <a:cs typeface="+mn-cs"/>
                </a:rPr>
                <a:t>0.909</a:t>
              </a:r>
            </a:p>
          </p:txBody>
        </p:sp>
        <p:sp>
          <p:nvSpPr>
            <p:cNvPr id="8" name="TextBox 8"/>
            <p:cNvSpPr txBox="1"/>
            <p:nvPr/>
          </p:nvSpPr>
          <p:spPr>
            <a:xfrm>
              <a:off x="832104" y="1813560"/>
              <a:ext cx="208708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GaussianNB test doğruluğu</a:t>
              </a:r>
            </a:p>
          </p:txBody>
        </p:sp>
        <p:sp>
          <p:nvSpPr>
            <p:cNvPr id="9" name="TextBox 9"/>
            <p:cNvSpPr txBox="1"/>
            <p:nvPr/>
          </p:nvSpPr>
          <p:spPr>
            <a:xfrm>
              <a:off x="832866" y="2039302"/>
              <a:ext cx="1452448"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220 sentetik müşteri</a:t>
              </a:r>
            </a:p>
          </p:txBody>
        </p:sp>
      </p:grpSp>
      <p:grpSp>
        <p:nvGrpSpPr>
          <p:cNvPr id="15" name="stat-prior"/>
          <p:cNvGrpSpPr/>
          <p:nvPr/>
        </p:nvGrpSpPr>
        <p:grpSpPr>
          <a:xfrm>
            <a:off x="4343400" y="1257300"/>
            <a:ext cx="3505200" cy="1219200"/>
            <a:chOff x="4343400" y="1257300"/>
            <a:chExt cx="3505200" cy="1219200"/>
          </a:xfrm>
        </p:grpSpPr>
        <p:sp>
          <p:nvSpPr>
            <p:cNvPr id="11" name="Rectangle 11"/>
            <p:cNvSpPr/>
            <p:nvPr/>
          </p:nvSpPr>
          <p:spPr>
            <a:xfrm>
              <a:off x="4343400" y="1257300"/>
              <a:ext cx="3505200" cy="1219200"/>
            </a:xfrm>
            <a:prstGeom prst="roundRect">
              <a:avLst>
                <a:gd name="adj" fmla="val 7812"/>
              </a:avLst>
            </a:prstGeom>
            <a:solidFill>
              <a:srgbClr val="FFFFFF"/>
            </a:solidFill>
            <a:ln w="14288">
              <a:solidFill>
                <a:srgbClr val="2E86AB"/>
              </a:solidFill>
            </a:ln>
          </p:spPr>
        </p:sp>
        <p:sp>
          <p:nvSpPr>
            <p:cNvPr id="12" name="TextBox 12"/>
            <p:cNvSpPr txBox="1"/>
            <p:nvPr/>
          </p:nvSpPr>
          <p:spPr>
            <a:xfrm>
              <a:off x="4563618" y="1460182"/>
              <a:ext cx="2469807"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Öncül: %38.3 / %61.7</a:t>
              </a:r>
            </a:p>
          </p:txBody>
        </p:sp>
        <p:sp>
          <p:nvSpPr>
            <p:cNvPr id="13" name="TextBox 13"/>
            <p:cNvSpPr txBox="1"/>
            <p:nvPr/>
          </p:nvSpPr>
          <p:spPr>
            <a:xfrm>
              <a:off x="4565904" y="1756410"/>
              <a:ext cx="23465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class_prior_ (kalan, ayrılan)</a:t>
              </a:r>
            </a:p>
          </p:txBody>
        </p:sp>
        <p:sp>
          <p:nvSpPr>
            <p:cNvPr id="14" name="TextBox 14"/>
            <p:cNvSpPr txBox="1"/>
            <p:nvPr/>
          </p:nvSpPr>
          <p:spPr>
            <a:xfrm>
              <a:off x="4566666" y="2001202"/>
              <a:ext cx="229071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Eğitim verisindeki sınıf oranları</a:t>
              </a:r>
            </a:p>
          </p:txBody>
        </p:sp>
      </p:grpSp>
      <p:grpSp>
        <p:nvGrpSpPr>
          <p:cNvPr id="20" name="stat-posterior"/>
          <p:cNvGrpSpPr/>
          <p:nvPr/>
        </p:nvGrpSpPr>
        <p:grpSpPr>
          <a:xfrm>
            <a:off x="8077200" y="1257300"/>
            <a:ext cx="3505200" cy="1219200"/>
            <a:chOff x="8077200" y="1257300"/>
            <a:chExt cx="3505200" cy="1219200"/>
          </a:xfrm>
        </p:grpSpPr>
        <p:sp>
          <p:nvSpPr>
            <p:cNvPr id="16" name="Rectangle 16"/>
            <p:cNvSpPr/>
            <p:nvPr/>
          </p:nvSpPr>
          <p:spPr>
            <a:xfrm>
              <a:off x="8077200" y="1257300"/>
              <a:ext cx="3505200" cy="1219200"/>
            </a:xfrm>
            <a:prstGeom prst="roundRect">
              <a:avLst>
                <a:gd name="adj" fmla="val 7812"/>
              </a:avLst>
            </a:prstGeom>
            <a:solidFill>
              <a:srgbClr val="EAF4F6"/>
            </a:solidFill>
            <a:ln w="14288">
              <a:solidFill>
                <a:srgbClr val="00A6A6"/>
              </a:solidFill>
            </a:ln>
          </p:spPr>
        </p:sp>
        <p:sp>
          <p:nvSpPr>
            <p:cNvPr id="17" name="TextBox 17"/>
            <p:cNvSpPr txBox="1"/>
            <p:nvPr/>
          </p:nvSpPr>
          <p:spPr>
            <a:xfrm>
              <a:off x="8297418" y="1460182"/>
              <a:ext cx="259471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Sonsal: %81.5 / %18.5</a:t>
              </a:r>
            </a:p>
          </p:txBody>
        </p:sp>
        <p:sp>
          <p:nvSpPr>
            <p:cNvPr id="18" name="TextBox 18"/>
            <p:cNvSpPr txBox="1"/>
            <p:nvPr/>
          </p:nvSpPr>
          <p:spPr>
            <a:xfrm>
              <a:off x="8299704" y="1756410"/>
              <a:ext cx="20234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predict_proba(ilk_örnek)</a:t>
              </a:r>
            </a:p>
          </p:txBody>
        </p:sp>
        <p:sp>
          <p:nvSpPr>
            <p:cNvPr id="19" name="TextBox 19"/>
            <p:cNvSpPr txBox="1"/>
            <p:nvPr/>
          </p:nvSpPr>
          <p:spPr>
            <a:xfrm>
              <a:off x="8300466" y="2001202"/>
              <a:ext cx="258177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Bu müşteri %18.5 ayrılma riski taşır</a:t>
              </a:r>
            </a:p>
          </p:txBody>
        </p:sp>
      </p:grpSp>
      <p:grpSp>
        <p:nvGrpSpPr>
          <p:cNvPr id="23" name="why-works"/>
          <p:cNvGrpSpPr/>
          <p:nvPr/>
        </p:nvGrpSpPr>
        <p:grpSpPr>
          <a:xfrm>
            <a:off x="601980" y="2867025"/>
            <a:ext cx="3143440" cy="1804226"/>
            <a:chOff x="601980" y="2867025"/>
            <a:chExt cx="3143440" cy="1804226"/>
          </a:xfrm>
        </p:grpSpPr>
        <p:sp>
          <p:nvSpPr>
            <p:cNvPr id="21" name="TextBox 21"/>
            <p:cNvSpPr txBox="1"/>
            <p:nvPr/>
          </p:nvSpPr>
          <p:spPr>
            <a:xfrm>
              <a:off x="601980" y="2867025"/>
              <a:ext cx="2439543"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Neden hâlâ işe yarıyor?</a:t>
              </a:r>
            </a:p>
          </p:txBody>
        </p:sp>
        <p:sp>
          <p:nvSpPr>
            <p:cNvPr id="22" name="TextBox 22"/>
            <p:cNvSpPr txBox="1"/>
            <p:nvPr/>
          </p:nvSpPr>
          <p:spPr>
            <a:xfrm>
              <a:off x="602742" y="3168968"/>
              <a:ext cx="3142678" cy="15022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Sınıflandırma kararı yalnızca göreli</a:t>
              </a:r>
              <a:br/>
              <a:r>
                <a:rPr lang="tr-TR" sz="1350" dirty="0">
                  <a:solidFill>
                    <a:srgbClr val="172B3A"/>
                  </a:solidFill>
                  <a:latin typeface="+mn-lt"/>
                  <a:ea typeface="+mn-ea"/>
                  <a:cs typeface="+mn-cs"/>
                </a:rPr>
                <a:t>sıralamayı (hangi sınıf olasılığı</a:t>
              </a:r>
              <a:br/>
              <a:r>
                <a:rPr lang="tr-TR" sz="1350" dirty="0">
                  <a:solidFill>
                    <a:srgbClr val="172B3A"/>
                  </a:solidFill>
                  <a:latin typeface="+mn-lt"/>
                  <a:ea typeface="+mn-ea"/>
                  <a:cs typeface="+mn-cs"/>
                </a:rPr>
                <a:t>diğerinden yüksek) doğru tahmin</a:t>
              </a:r>
              <a:br/>
              <a:r>
                <a:rPr lang="tr-TR" sz="1350" dirty="0">
                  <a:solidFill>
                    <a:srgbClr val="172B3A"/>
                  </a:solidFill>
                  <a:latin typeface="+mn-lt"/>
                  <a:ea typeface="+mn-ea"/>
                  <a:cs typeface="+mn-cs"/>
                </a:rPr>
                <a:t>etmeyi gerektirir — olasılıkların</a:t>
              </a:r>
              <a:br/>
              <a:r>
                <a:rPr lang="tr-TR" sz="1350" dirty="0">
                  <a:solidFill>
                    <a:srgbClr val="172B3A"/>
                  </a:solidFill>
                  <a:latin typeface="+mn-lt"/>
                  <a:ea typeface="+mn-ea"/>
                  <a:cs typeface="+mn-cs"/>
                </a:rPr>
                <a:t>mutlak değerinin kalibre olması</a:t>
              </a:r>
              <a:br/>
              <a:r>
                <a:rPr lang="tr-TR" sz="1350" dirty="0">
                  <a:solidFill>
                    <a:srgbClr val="172B3A"/>
                  </a:solidFill>
                  <a:latin typeface="+mn-lt"/>
                  <a:ea typeface="+mn-ea"/>
                  <a:cs typeface="+mn-cs"/>
                </a:rPr>
                <a:t>gerekmez.</a:t>
              </a:r>
            </a:p>
          </p:txBody>
        </p:sp>
      </p:grpSp>
      <p:grpSp>
        <p:nvGrpSpPr>
          <p:cNvPr id="27" name="churn-caveat"/>
          <p:cNvGrpSpPr/>
          <p:nvPr/>
        </p:nvGrpSpPr>
        <p:grpSpPr>
          <a:xfrm>
            <a:off x="6324600" y="2781300"/>
            <a:ext cx="5257800" cy="2762250"/>
            <a:chOff x="6324600" y="2781300"/>
            <a:chExt cx="5257800" cy="2762250"/>
          </a:xfrm>
        </p:grpSpPr>
        <p:sp>
          <p:nvSpPr>
            <p:cNvPr id="24" name="Rectangle 24"/>
            <p:cNvSpPr/>
            <p:nvPr/>
          </p:nvSpPr>
          <p:spPr>
            <a:xfrm>
              <a:off x="6324600" y="2781300"/>
              <a:ext cx="5257800" cy="2762250"/>
            </a:xfrm>
            <a:prstGeom prst="roundRect">
              <a:avLst>
                <a:gd name="adj" fmla="val 3448"/>
              </a:avLst>
            </a:prstGeom>
            <a:solidFill>
              <a:srgbClr val="EAF4F6"/>
            </a:solidFill>
            <a:ln>
              <a:noFill/>
            </a:ln>
          </p:spPr>
        </p:sp>
        <p:sp>
          <p:nvSpPr>
            <p:cNvPr id="25" name="TextBox 25"/>
            <p:cNvSpPr txBox="1"/>
            <p:nvPr/>
          </p:nvSpPr>
          <p:spPr>
            <a:xfrm>
              <a:off x="6545580" y="2905125"/>
              <a:ext cx="259903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Churn'de sınırı nerede?</a:t>
              </a:r>
            </a:p>
          </p:txBody>
        </p:sp>
        <p:sp>
          <p:nvSpPr>
            <p:cNvPr id="26" name="TextBox 26"/>
            <p:cNvSpPr txBox="1"/>
            <p:nvPr/>
          </p:nvSpPr>
          <p:spPr>
            <a:xfrm>
              <a:off x="6547104" y="3223260"/>
              <a:ext cx="3098292" cy="1606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"Şikâyet sayısı" ile "sözleşme süresi"</a:t>
              </a:r>
              <a:br/>
              <a:r>
                <a:rPr lang="tr-TR" sz="1200" dirty="0">
                  <a:solidFill>
                    <a:srgbClr val="172B3A"/>
                  </a:solidFill>
                  <a:latin typeface="+mn-lt"/>
                  <a:ea typeface="+mn-ea"/>
                  <a:cs typeface="+mn-cs"/>
                </a:rPr>
                <a:t>muhtemelen bir miktar ilişkilidir (uzun</a:t>
              </a:r>
              <a:br/>
              <a:r>
                <a:rPr lang="tr-TR" sz="1200" dirty="0">
                  <a:solidFill>
                    <a:srgbClr val="172B3A"/>
                  </a:solidFill>
                  <a:latin typeface="+mn-lt"/>
                  <a:ea typeface="+mn-ea"/>
                  <a:cs typeface="+mn-cs"/>
                </a:rPr>
                <a:t>süreli müşteriler daha az şikâyet eder)</a:t>
              </a:r>
            </a:p>
            <a:p>
              <a:pPr algn="l">
                <a:lnSpc>
                  <a:spcPts val="1800"/>
                </a:lnSpc>
              </a:pPr>
              <a:r>
                <a:rPr lang="tr-TR" sz="1200" dirty="0">
                  <a:solidFill>
                    <a:srgbClr val="172B3A"/>
                  </a:solidFill>
                  <a:latin typeface="+mn-lt"/>
                  <a:ea typeface="+mn-ea"/>
                  <a:cs typeface="+mn-cs"/>
                </a:rPr>
                <a:t>— bağımsızlık varsayımı bunu görmezden</a:t>
              </a:r>
              <a:br/>
              <a:r>
                <a:rPr lang="tr-TR" sz="1200" dirty="0">
                  <a:solidFill>
                    <a:srgbClr val="172B3A"/>
                  </a:solidFill>
                  <a:latin typeface="+mn-lt"/>
                  <a:ea typeface="+mn-ea"/>
                  <a:cs typeface="+mn-cs"/>
                </a:rPr>
                <a:t>gelir. Etkileşim güçlüyse (kısa sözleşme</a:t>
              </a:r>
              <a:br/>
              <a:r>
                <a:rPr lang="tr-TR" sz="1200" dirty="0">
                  <a:solidFill>
                    <a:srgbClr val="172B3A"/>
                  </a:solidFill>
                  <a:latin typeface="+mn-lt"/>
                  <a:ea typeface="+mn-ea"/>
                  <a:cs typeface="+mn-cs"/>
                </a:rPr>
                <a:t>VE yüksek şikâyet BİRLİKTE riskli) bu</a:t>
              </a:r>
              <a:br/>
              <a:r>
                <a:rPr lang="tr-TR" sz="1200" dirty="0">
                  <a:solidFill>
                    <a:srgbClr val="172B3A"/>
                  </a:solidFill>
                  <a:latin typeface="+mn-lt"/>
                  <a:ea typeface="+mn-ea"/>
                  <a:cs typeface="+mn-cs"/>
                </a:rPr>
                <a:t>ihmal ciddi sonuç kaybına yol açabilir.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219492" cy="668845"/>
            <a:chOff x="609600" y="171450"/>
            <a:chExt cx="8219492"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52912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Naive Bayes: ne zaman tercih edilmeli?</a:t>
              </a:r>
            </a:p>
          </p:txBody>
        </p:sp>
      </p:grpSp>
      <p:grpSp>
        <p:nvGrpSpPr>
          <p:cNvPr id="21" name="when-good"/>
          <p:cNvGrpSpPr/>
          <p:nvPr/>
        </p:nvGrpSpPr>
        <p:grpSpPr>
          <a:xfrm>
            <a:off x="609600" y="1257300"/>
            <a:ext cx="5257800" cy="2381250"/>
            <a:chOff x="609600" y="1257300"/>
            <a:chExt cx="5257800" cy="2381250"/>
          </a:xfrm>
        </p:grpSpPr>
        <p:sp>
          <p:nvSpPr>
            <p:cNvPr id="11" name="Rectangle 11"/>
            <p:cNvSpPr/>
            <p:nvPr/>
          </p:nvSpPr>
          <p:spPr>
            <a:xfrm>
              <a:off x="609600" y="1257300"/>
              <a:ext cx="5257800" cy="2381250"/>
            </a:xfrm>
            <a:prstGeom prst="roundRect">
              <a:avLst>
                <a:gd name="adj" fmla="val 4000"/>
              </a:avLst>
            </a:prstGeom>
            <a:solidFill>
              <a:srgbClr val="EAF4F6"/>
            </a:solidFill>
            <a:ln>
              <a:noFill/>
            </a:ln>
          </p:spPr>
        </p:sp>
        <p:sp>
          <p:nvSpPr>
            <p:cNvPr id="12" name="TextBox 12"/>
            <p:cNvSpPr txBox="1"/>
            <p:nvPr/>
          </p:nvSpPr>
          <p:spPr>
            <a:xfrm>
              <a:off x="830199" y="1392079"/>
              <a:ext cx="23792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İyi bir seçimdir çünkü</a:t>
              </a:r>
            </a:p>
          </p:txBody>
        </p:sp>
        <p:sp>
          <p:nvSpPr>
            <p:cNvPr id="13" name="Rectangle 13"/>
            <p:cNvSpPr/>
            <p:nvPr/>
          </p:nvSpPr>
          <p:spPr>
            <a:xfrm>
              <a:off x="838200" y="1733550"/>
              <a:ext cx="57150" cy="247650"/>
            </a:xfrm>
            <a:prstGeom prst="rect">
              <a:avLst/>
            </a:prstGeom>
            <a:solidFill>
              <a:srgbClr val="00A6A6"/>
            </a:solidFill>
            <a:ln>
              <a:noFill/>
            </a:ln>
          </p:spPr>
        </p:sp>
        <p:sp>
          <p:nvSpPr>
            <p:cNvPr id="14" name="TextBox 14"/>
            <p:cNvSpPr txBox="1"/>
            <p:nvPr/>
          </p:nvSpPr>
          <p:spPr>
            <a:xfrm>
              <a:off x="1022604" y="1775460"/>
              <a:ext cx="33940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Metin sınıflandırma (spam, duygu analizi)</a:t>
              </a:r>
            </a:p>
          </p:txBody>
        </p:sp>
        <p:sp>
          <p:nvSpPr>
            <p:cNvPr id="15" name="Rectangle 15"/>
            <p:cNvSpPr/>
            <p:nvPr/>
          </p:nvSpPr>
          <p:spPr>
            <a:xfrm>
              <a:off x="838200" y="2057400"/>
              <a:ext cx="57150" cy="247650"/>
            </a:xfrm>
            <a:prstGeom prst="rect">
              <a:avLst/>
            </a:prstGeom>
            <a:solidFill>
              <a:srgbClr val="00A6A6"/>
            </a:solidFill>
            <a:ln>
              <a:noFill/>
            </a:ln>
          </p:spPr>
        </p:sp>
        <p:sp>
          <p:nvSpPr>
            <p:cNvPr id="16" name="TextBox 16"/>
            <p:cNvSpPr txBox="1"/>
            <p:nvPr/>
          </p:nvSpPr>
          <p:spPr>
            <a:xfrm>
              <a:off x="1022604" y="2099310"/>
              <a:ext cx="35156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Yüksek boyutlu, seyrek veri (n &lt; p problemi)</a:t>
              </a:r>
            </a:p>
          </p:txBody>
        </p:sp>
        <p:sp>
          <p:nvSpPr>
            <p:cNvPr id="17" name="Rectangle 17"/>
            <p:cNvSpPr/>
            <p:nvPr/>
          </p:nvSpPr>
          <p:spPr>
            <a:xfrm>
              <a:off x="838200" y="2381250"/>
              <a:ext cx="57150" cy="247650"/>
            </a:xfrm>
            <a:prstGeom prst="rect">
              <a:avLst/>
            </a:prstGeom>
            <a:solidFill>
              <a:srgbClr val="00A6A6"/>
            </a:solidFill>
            <a:ln>
              <a:noFill/>
            </a:ln>
          </p:spPr>
        </p:sp>
        <p:sp>
          <p:nvSpPr>
            <p:cNvPr id="18" name="TextBox 18"/>
            <p:cNvSpPr txBox="1"/>
            <p:nvPr/>
          </p:nvSpPr>
          <p:spPr>
            <a:xfrm>
              <a:off x="1022604" y="2423160"/>
              <a:ext cx="32480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Az eğitim verisiyle hızlı başlangıç modeli</a:t>
              </a:r>
            </a:p>
          </p:txBody>
        </p:sp>
        <p:sp>
          <p:nvSpPr>
            <p:cNvPr id="19" name="Rectangle 19"/>
            <p:cNvSpPr/>
            <p:nvPr/>
          </p:nvSpPr>
          <p:spPr>
            <a:xfrm>
              <a:off x="838200" y="2705100"/>
              <a:ext cx="57150" cy="247650"/>
            </a:xfrm>
            <a:prstGeom prst="rect">
              <a:avLst/>
            </a:prstGeom>
            <a:solidFill>
              <a:srgbClr val="00A6A6"/>
            </a:solidFill>
            <a:ln>
              <a:noFill/>
            </a:ln>
          </p:spPr>
        </p:sp>
        <p:sp>
          <p:nvSpPr>
            <p:cNvPr id="20" name="TextBox 20"/>
            <p:cNvSpPr txBox="1"/>
            <p:nvPr/>
          </p:nvSpPr>
          <p:spPr>
            <a:xfrm>
              <a:off x="1022604" y="2747010"/>
              <a:ext cx="28927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Karmaşık optimizasyon istenmiyorsa</a:t>
              </a:r>
            </a:p>
          </p:txBody>
        </p:sp>
      </p:grpSp>
      <p:grpSp>
        <p:nvGrpSpPr>
          <p:cNvPr id="30" name="when-bad"/>
          <p:cNvGrpSpPr/>
          <p:nvPr/>
        </p:nvGrpSpPr>
        <p:grpSpPr>
          <a:xfrm>
            <a:off x="609600" y="3790950"/>
            <a:ext cx="5257800" cy="1905000"/>
            <a:chOff x="609600" y="3790950"/>
            <a:chExt cx="5257800" cy="1905000"/>
          </a:xfrm>
        </p:grpSpPr>
        <p:sp>
          <p:nvSpPr>
            <p:cNvPr id="22" name="Rectangle 22"/>
            <p:cNvSpPr/>
            <p:nvPr/>
          </p:nvSpPr>
          <p:spPr>
            <a:xfrm>
              <a:off x="609600" y="3790950"/>
              <a:ext cx="5257800" cy="1905000"/>
            </a:xfrm>
            <a:prstGeom prst="roundRect">
              <a:avLst>
                <a:gd name="adj" fmla="val 5000"/>
              </a:avLst>
            </a:prstGeom>
            <a:solidFill>
              <a:srgbClr val="FFFFFF"/>
            </a:solidFill>
            <a:ln w="14288">
              <a:solidFill>
                <a:srgbClr val="B8CBD3"/>
              </a:solidFill>
            </a:ln>
          </p:spPr>
        </p:sp>
        <p:sp>
          <p:nvSpPr>
            <p:cNvPr id="23" name="TextBox 23"/>
            <p:cNvSpPr txBox="1"/>
            <p:nvPr/>
          </p:nvSpPr>
          <p:spPr>
            <a:xfrm>
              <a:off x="830199" y="3925729"/>
              <a:ext cx="31718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Dezavantajlı olduğu durumlar</a:t>
              </a:r>
            </a:p>
          </p:txBody>
        </p:sp>
        <p:sp>
          <p:nvSpPr>
            <p:cNvPr id="24" name="Rectangle 24"/>
            <p:cNvSpPr/>
            <p:nvPr/>
          </p:nvSpPr>
          <p:spPr>
            <a:xfrm>
              <a:off x="838200" y="4267200"/>
              <a:ext cx="57150" cy="247650"/>
            </a:xfrm>
            <a:prstGeom prst="rect">
              <a:avLst/>
            </a:prstGeom>
            <a:solidFill>
              <a:srgbClr val="52616B"/>
            </a:solidFill>
            <a:ln>
              <a:noFill/>
            </a:ln>
          </p:spPr>
        </p:sp>
        <p:sp>
          <p:nvSpPr>
            <p:cNvPr id="25" name="TextBox 25"/>
            <p:cNvSpPr txBox="1"/>
            <p:nvPr/>
          </p:nvSpPr>
          <p:spPr>
            <a:xfrm>
              <a:off x="1022604" y="4309110"/>
              <a:ext cx="38296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Öznitelikler arası güçlü, anlamlı etkileşim varsa</a:t>
              </a:r>
            </a:p>
          </p:txBody>
        </p:sp>
        <p:sp>
          <p:nvSpPr>
            <p:cNvPr id="26" name="Rectangle 26"/>
            <p:cNvSpPr/>
            <p:nvPr/>
          </p:nvSpPr>
          <p:spPr>
            <a:xfrm>
              <a:off x="838200" y="4591050"/>
              <a:ext cx="57150" cy="247650"/>
            </a:xfrm>
            <a:prstGeom prst="rect">
              <a:avLst/>
            </a:prstGeom>
            <a:solidFill>
              <a:srgbClr val="52616B"/>
            </a:solidFill>
            <a:ln>
              <a:noFill/>
            </a:ln>
          </p:spPr>
        </p:sp>
        <p:sp>
          <p:nvSpPr>
            <p:cNvPr id="27" name="TextBox 27"/>
            <p:cNvSpPr txBox="1"/>
            <p:nvPr/>
          </p:nvSpPr>
          <p:spPr>
            <a:xfrm>
              <a:off x="1022604" y="4632960"/>
              <a:ext cx="39604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(kısa sözleşme VE yüksek fatura BİRLİKTE riskli)</a:t>
              </a:r>
            </a:p>
          </p:txBody>
        </p:sp>
        <p:sp>
          <p:nvSpPr>
            <p:cNvPr id="28" name="Rectangle 28"/>
            <p:cNvSpPr/>
            <p:nvPr/>
          </p:nvSpPr>
          <p:spPr>
            <a:xfrm>
              <a:off x="838200" y="4914900"/>
              <a:ext cx="57150" cy="247650"/>
            </a:xfrm>
            <a:prstGeom prst="rect">
              <a:avLst/>
            </a:prstGeom>
            <a:solidFill>
              <a:srgbClr val="52616B"/>
            </a:solidFill>
            <a:ln>
              <a:noFill/>
            </a:ln>
          </p:spPr>
        </p:sp>
        <p:sp>
          <p:nvSpPr>
            <p:cNvPr id="29" name="TextBox 29"/>
            <p:cNvSpPr txBox="1"/>
            <p:nvPr/>
          </p:nvSpPr>
          <p:spPr>
            <a:xfrm>
              <a:off x="1022604" y="4956810"/>
              <a:ext cx="37732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durumda karar ağacı/topluluk tercih edilmeli</a:t>
              </a:r>
            </a:p>
          </p:txBody>
        </p:sp>
      </p:grpSp>
      <p:grpSp>
        <p:nvGrpSpPr>
          <p:cNvPr id="65" name="three-way-table"/>
          <p:cNvGrpSpPr/>
          <p:nvPr/>
        </p:nvGrpSpPr>
        <p:grpSpPr>
          <a:xfrm>
            <a:off x="6324600" y="1257300"/>
            <a:ext cx="5257800" cy="3699034"/>
            <a:chOff x="6324600" y="1257300"/>
            <a:chExt cx="5257800" cy="3699034"/>
          </a:xfrm>
        </p:grpSpPr>
        <p:sp>
          <p:nvSpPr>
            <p:cNvPr id="31" name="Rectangle 31"/>
            <p:cNvSpPr/>
            <p:nvPr/>
          </p:nvSpPr>
          <p:spPr>
            <a:xfrm>
              <a:off x="6324600" y="1257300"/>
              <a:ext cx="5257800" cy="381000"/>
            </a:xfrm>
            <a:prstGeom prst="rect">
              <a:avLst/>
            </a:prstGeom>
            <a:solidFill>
              <a:srgbClr val="12355B"/>
            </a:solidFill>
            <a:ln>
              <a:noFill/>
            </a:ln>
          </p:spPr>
        </p:sp>
        <p:sp>
          <p:nvSpPr>
            <p:cNvPr id="32" name="TextBox 32"/>
            <p:cNvSpPr txBox="1"/>
            <p:nvPr/>
          </p:nvSpPr>
          <p:spPr>
            <a:xfrm>
              <a:off x="6509766" y="1391602"/>
              <a:ext cx="614423"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ÖZELLİK</a:t>
              </a:r>
            </a:p>
          </p:txBody>
        </p:sp>
        <p:sp>
          <p:nvSpPr>
            <p:cNvPr id="33" name="TextBox 33"/>
            <p:cNvSpPr txBox="1"/>
            <p:nvPr/>
          </p:nvSpPr>
          <p:spPr>
            <a:xfrm>
              <a:off x="8090916" y="1391602"/>
              <a:ext cx="661469"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N. BAYES</a:t>
              </a:r>
            </a:p>
          </p:txBody>
        </p:sp>
        <p:sp>
          <p:nvSpPr>
            <p:cNvPr id="34" name="TextBox 34"/>
            <p:cNvSpPr txBox="1"/>
            <p:nvPr/>
          </p:nvSpPr>
          <p:spPr>
            <a:xfrm>
              <a:off x="9376791" y="1391602"/>
              <a:ext cx="355671"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AĞAÇ</a:t>
              </a:r>
            </a:p>
          </p:txBody>
        </p:sp>
        <p:sp>
          <p:nvSpPr>
            <p:cNvPr id="35" name="TextBox 35"/>
            <p:cNvSpPr txBox="1"/>
            <p:nvPr/>
          </p:nvSpPr>
          <p:spPr>
            <a:xfrm>
              <a:off x="10567416" y="1391602"/>
              <a:ext cx="349510"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k-NN</a:t>
              </a:r>
            </a:p>
          </p:txBody>
        </p:sp>
        <p:sp>
          <p:nvSpPr>
            <p:cNvPr id="36" name="Line 36"/>
            <p:cNvSpPr/>
            <p:nvPr/>
          </p:nvSpPr>
          <p:spPr>
            <a:xfrm>
              <a:off x="6324600" y="16383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37" name="TextBox 37"/>
            <p:cNvSpPr txBox="1"/>
            <p:nvPr/>
          </p:nvSpPr>
          <p:spPr>
            <a:xfrm>
              <a:off x="6509766" y="1829752"/>
              <a:ext cx="93417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Temel mantık</a:t>
              </a:r>
            </a:p>
          </p:txBody>
        </p:sp>
        <p:sp>
          <p:nvSpPr>
            <p:cNvPr id="38" name="TextBox 38"/>
            <p:cNvSpPr txBox="1"/>
            <p:nvPr/>
          </p:nvSpPr>
          <p:spPr>
            <a:xfrm>
              <a:off x="8091297" y="1837849"/>
              <a:ext cx="739242"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Olasılıksal</a:t>
              </a:r>
            </a:p>
          </p:txBody>
        </p:sp>
        <p:sp>
          <p:nvSpPr>
            <p:cNvPr id="39" name="TextBox 39"/>
            <p:cNvSpPr txBox="1"/>
            <p:nvPr/>
          </p:nvSpPr>
          <p:spPr>
            <a:xfrm>
              <a:off x="9377172" y="1837849"/>
              <a:ext cx="34345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Kural</a:t>
              </a:r>
            </a:p>
          </p:txBody>
        </p:sp>
        <p:sp>
          <p:nvSpPr>
            <p:cNvPr id="40" name="TextBox 40"/>
            <p:cNvSpPr txBox="1"/>
            <p:nvPr/>
          </p:nvSpPr>
          <p:spPr>
            <a:xfrm>
              <a:off x="10567797" y="1837849"/>
              <a:ext cx="60067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Benzerlik</a:t>
              </a:r>
            </a:p>
          </p:txBody>
        </p:sp>
        <p:sp>
          <p:nvSpPr>
            <p:cNvPr id="41" name="Line 41"/>
            <p:cNvSpPr/>
            <p:nvPr/>
          </p:nvSpPr>
          <p:spPr>
            <a:xfrm>
              <a:off x="6324600" y="20955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2" name="TextBox 42"/>
            <p:cNvSpPr txBox="1"/>
            <p:nvPr/>
          </p:nvSpPr>
          <p:spPr>
            <a:xfrm>
              <a:off x="6509766" y="2286952"/>
              <a:ext cx="163371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Bağımsızlık varsayımı</a:t>
              </a:r>
            </a:p>
          </p:txBody>
        </p:sp>
        <p:sp>
          <p:nvSpPr>
            <p:cNvPr id="43" name="TextBox 43"/>
            <p:cNvSpPr txBox="1"/>
            <p:nvPr/>
          </p:nvSpPr>
          <p:spPr>
            <a:xfrm>
              <a:off x="8091297" y="2295049"/>
              <a:ext cx="30425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Evet</a:t>
              </a:r>
            </a:p>
          </p:txBody>
        </p:sp>
        <p:sp>
          <p:nvSpPr>
            <p:cNvPr id="44" name="TextBox 44"/>
            <p:cNvSpPr txBox="1"/>
            <p:nvPr/>
          </p:nvSpPr>
          <p:spPr>
            <a:xfrm>
              <a:off x="9377172" y="2295049"/>
              <a:ext cx="23169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Yok</a:t>
              </a:r>
            </a:p>
          </p:txBody>
        </p:sp>
        <p:sp>
          <p:nvSpPr>
            <p:cNvPr id="45" name="TextBox 45"/>
            <p:cNvSpPr txBox="1"/>
            <p:nvPr/>
          </p:nvSpPr>
          <p:spPr>
            <a:xfrm>
              <a:off x="10567797" y="2295049"/>
              <a:ext cx="23169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Yok</a:t>
              </a:r>
            </a:p>
          </p:txBody>
        </p:sp>
        <p:sp>
          <p:nvSpPr>
            <p:cNvPr id="46" name="Line 46"/>
            <p:cNvSpPr/>
            <p:nvPr/>
          </p:nvSpPr>
          <p:spPr>
            <a:xfrm>
              <a:off x="6324600" y="25527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47" name="TextBox 47"/>
            <p:cNvSpPr txBox="1"/>
            <p:nvPr/>
          </p:nvSpPr>
          <p:spPr>
            <a:xfrm>
              <a:off x="6509766" y="2744152"/>
              <a:ext cx="153471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Az veriyle performans</a:t>
              </a:r>
            </a:p>
          </p:txBody>
        </p:sp>
        <p:sp>
          <p:nvSpPr>
            <p:cNvPr id="48" name="TextBox 48"/>
            <p:cNvSpPr txBox="1"/>
            <p:nvPr/>
          </p:nvSpPr>
          <p:spPr>
            <a:xfrm>
              <a:off x="8091297" y="2752249"/>
              <a:ext cx="19809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İyi</a:t>
              </a:r>
            </a:p>
          </p:txBody>
        </p:sp>
        <p:sp>
          <p:nvSpPr>
            <p:cNvPr id="49" name="TextBox 49"/>
            <p:cNvSpPr txBox="1"/>
            <p:nvPr/>
          </p:nvSpPr>
          <p:spPr>
            <a:xfrm>
              <a:off x="9377172" y="2752249"/>
              <a:ext cx="33101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Orta</a:t>
              </a:r>
            </a:p>
          </p:txBody>
        </p:sp>
        <p:sp>
          <p:nvSpPr>
            <p:cNvPr id="50" name="TextBox 50"/>
            <p:cNvSpPr txBox="1"/>
            <p:nvPr/>
          </p:nvSpPr>
          <p:spPr>
            <a:xfrm>
              <a:off x="10567797" y="2752249"/>
              <a:ext cx="37681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Zayıf</a:t>
              </a:r>
            </a:p>
          </p:txBody>
        </p:sp>
        <p:sp>
          <p:nvSpPr>
            <p:cNvPr id="51" name="Line 51"/>
            <p:cNvSpPr/>
            <p:nvPr/>
          </p:nvSpPr>
          <p:spPr>
            <a:xfrm>
              <a:off x="6324600" y="30099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52" name="TextBox 52"/>
            <p:cNvSpPr txBox="1"/>
            <p:nvPr/>
          </p:nvSpPr>
          <p:spPr>
            <a:xfrm>
              <a:off x="6509766" y="3201352"/>
              <a:ext cx="129415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Etkileşim yakalama</a:t>
              </a:r>
            </a:p>
          </p:txBody>
        </p:sp>
        <p:sp>
          <p:nvSpPr>
            <p:cNvPr id="53" name="TextBox 53"/>
            <p:cNvSpPr txBox="1"/>
            <p:nvPr/>
          </p:nvSpPr>
          <p:spPr>
            <a:xfrm>
              <a:off x="8091297" y="3209449"/>
              <a:ext cx="37681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Zayıf</a:t>
              </a:r>
            </a:p>
          </p:txBody>
        </p:sp>
        <p:sp>
          <p:nvSpPr>
            <p:cNvPr id="54" name="TextBox 54"/>
            <p:cNvSpPr txBox="1"/>
            <p:nvPr/>
          </p:nvSpPr>
          <p:spPr>
            <a:xfrm>
              <a:off x="9377172" y="3209449"/>
              <a:ext cx="19809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İyi</a:t>
              </a:r>
            </a:p>
          </p:txBody>
        </p:sp>
        <p:sp>
          <p:nvSpPr>
            <p:cNvPr id="55" name="TextBox 55"/>
            <p:cNvSpPr txBox="1"/>
            <p:nvPr/>
          </p:nvSpPr>
          <p:spPr>
            <a:xfrm>
              <a:off x="10567797" y="3209449"/>
              <a:ext cx="33101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Orta</a:t>
              </a:r>
            </a:p>
          </p:txBody>
        </p:sp>
        <p:sp>
          <p:nvSpPr>
            <p:cNvPr id="56" name="Line 56"/>
            <p:cNvSpPr/>
            <p:nvPr/>
          </p:nvSpPr>
          <p:spPr>
            <a:xfrm>
              <a:off x="6324600" y="3467100"/>
              <a:ext cx="5257800" cy="9525"/>
            </a:xfrm>
            <a:custGeom>
              <a:avLst/>
              <a:gdLst/>
              <a:ahLst/>
              <a:cxnLst/>
              <a:rect l="l" t="t" r="r" b="b"/>
              <a:pathLst>
                <a:path w="5257800" h="9525">
                  <a:moveTo>
                    <a:pt x="0" y="0"/>
                  </a:moveTo>
                  <a:lnTo>
                    <a:pt x="5257800" y="0"/>
                  </a:lnTo>
                </a:path>
              </a:pathLst>
            </a:custGeom>
            <a:noFill/>
            <a:ln w="9525">
              <a:solidFill>
                <a:srgbClr val="B8CBD3"/>
              </a:solidFill>
            </a:ln>
          </p:spPr>
        </p:sp>
        <p:sp>
          <p:nvSpPr>
            <p:cNvPr id="57" name="TextBox 57"/>
            <p:cNvSpPr txBox="1"/>
            <p:nvPr/>
          </p:nvSpPr>
          <p:spPr>
            <a:xfrm>
              <a:off x="6509766" y="3658552"/>
              <a:ext cx="79249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Eğitim hızı</a:t>
              </a:r>
            </a:p>
          </p:txBody>
        </p:sp>
        <p:sp>
          <p:nvSpPr>
            <p:cNvPr id="58" name="TextBox 58"/>
            <p:cNvSpPr txBox="1"/>
            <p:nvPr/>
          </p:nvSpPr>
          <p:spPr>
            <a:xfrm>
              <a:off x="8091297" y="3666649"/>
              <a:ext cx="601138"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Çok hızlı</a:t>
              </a:r>
            </a:p>
          </p:txBody>
        </p:sp>
        <p:sp>
          <p:nvSpPr>
            <p:cNvPr id="59" name="TextBox 59"/>
            <p:cNvSpPr txBox="1"/>
            <p:nvPr/>
          </p:nvSpPr>
          <p:spPr>
            <a:xfrm>
              <a:off x="9377172" y="3666649"/>
              <a:ext cx="34345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Hızlı</a:t>
              </a:r>
            </a:p>
          </p:txBody>
        </p:sp>
        <p:sp>
          <p:nvSpPr>
            <p:cNvPr id="60" name="TextBox 60"/>
            <p:cNvSpPr txBox="1"/>
            <p:nvPr/>
          </p:nvSpPr>
          <p:spPr>
            <a:xfrm>
              <a:off x="10567797" y="3666649"/>
              <a:ext cx="34345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Anlık</a:t>
              </a:r>
            </a:p>
          </p:txBody>
        </p:sp>
        <p:sp>
          <p:nvSpPr>
            <p:cNvPr id="61" name="Rectangle 61"/>
            <p:cNvSpPr/>
            <p:nvPr/>
          </p:nvSpPr>
          <p:spPr>
            <a:xfrm>
              <a:off x="6324600" y="4191000"/>
              <a:ext cx="5257800" cy="762000"/>
            </a:xfrm>
            <a:prstGeom prst="roundRect">
              <a:avLst>
                <a:gd name="adj" fmla="val 10000"/>
              </a:avLst>
            </a:prstGeom>
            <a:solidFill>
              <a:srgbClr val="EAF4F6"/>
            </a:solidFill>
            <a:ln>
              <a:noFill/>
            </a:ln>
          </p:spPr>
        </p:sp>
        <p:sp>
          <p:nvSpPr>
            <p:cNvPr id="62" name="TextBox 62"/>
            <p:cNvSpPr txBox="1"/>
            <p:nvPr/>
          </p:nvSpPr>
          <p:spPr>
            <a:xfrm>
              <a:off x="6547485" y="4317206"/>
              <a:ext cx="320063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Çıktı türü: Naive Bayes olasılık dağılımı,</a:t>
              </a:r>
            </a:p>
          </p:txBody>
        </p:sp>
        <p:sp>
          <p:nvSpPr>
            <p:cNvPr id="63" name="TextBox 63"/>
            <p:cNvSpPr txBox="1"/>
            <p:nvPr/>
          </p:nvSpPr>
          <p:spPr>
            <a:xfrm>
              <a:off x="6547485" y="4526756"/>
              <a:ext cx="324118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karar ağacı sert sınıf/olasılık, k-NN sert</a:t>
              </a:r>
            </a:p>
          </p:txBody>
        </p:sp>
        <p:sp>
          <p:nvSpPr>
            <p:cNvPr id="64" name="TextBox 64"/>
            <p:cNvSpPr txBox="1"/>
            <p:nvPr/>
          </p:nvSpPr>
          <p:spPr>
            <a:xfrm>
              <a:off x="6547485" y="4736306"/>
              <a:ext cx="142870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sınıf/oran üretir.</a:t>
              </a:r>
            </a:p>
          </p:txBody>
        </p:sp>
      </p:grpSp>
      <p:sp>
        <p:nvSpPr>
          <p:cNvPr id="66" name="TextBox 6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24</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823493" cy="557403"/>
            <a:chOff x="595122" y="282892"/>
            <a:chExt cx="5823493" cy="557403"/>
          </a:xfrm>
        </p:grpSpPr>
        <p:sp>
          <p:nvSpPr>
            <p:cNvPr id="4" name="TextBox 4"/>
            <p:cNvSpPr txBox="1"/>
            <p:nvPr/>
          </p:nvSpPr>
          <p:spPr>
            <a:xfrm>
              <a:off x="595122" y="282892"/>
              <a:ext cx="582349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Aynı soruya üç farklı mantık</a:t>
              </a:r>
            </a:p>
          </p:txBody>
        </p:sp>
      </p:grpSp>
      <p:grpSp>
        <p:nvGrpSpPr>
          <p:cNvPr id="34" name="full-table"/>
          <p:cNvGrpSpPr/>
          <p:nvPr/>
        </p:nvGrpSpPr>
        <p:grpSpPr>
          <a:xfrm>
            <a:off x="609600" y="1219200"/>
            <a:ext cx="10972800" cy="4400550"/>
            <a:chOff x="609600" y="1219200"/>
            <a:chExt cx="10972800" cy="4400550"/>
          </a:xfrm>
        </p:grpSpPr>
        <p:sp>
          <p:nvSpPr>
            <p:cNvPr id="6" name="Rectangle 6"/>
            <p:cNvSpPr/>
            <p:nvPr/>
          </p:nvSpPr>
          <p:spPr>
            <a:xfrm>
              <a:off x="609600" y="1219200"/>
              <a:ext cx="10972800" cy="419100"/>
            </a:xfrm>
            <a:prstGeom prst="rect">
              <a:avLst/>
            </a:prstGeom>
            <a:solidFill>
              <a:srgbClr val="12355B"/>
            </a:solidFill>
            <a:ln>
              <a:noFill/>
            </a:ln>
          </p:spPr>
        </p:sp>
        <p:sp>
          <p:nvSpPr>
            <p:cNvPr id="7" name="TextBox 7"/>
            <p:cNvSpPr txBox="1"/>
            <p:nvPr/>
          </p:nvSpPr>
          <p:spPr>
            <a:xfrm>
              <a:off x="794385" y="1364456"/>
              <a:ext cx="596890"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YÖNTEM</a:t>
              </a:r>
            </a:p>
          </p:txBody>
        </p:sp>
        <p:sp>
          <p:nvSpPr>
            <p:cNvPr id="8" name="TextBox 8"/>
            <p:cNvSpPr txBox="1"/>
            <p:nvPr/>
          </p:nvSpPr>
          <p:spPr>
            <a:xfrm>
              <a:off x="2185035" y="1364456"/>
              <a:ext cx="1115440"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KARAR MANTIĞI</a:t>
              </a:r>
            </a:p>
          </p:txBody>
        </p:sp>
        <p:sp>
          <p:nvSpPr>
            <p:cNvPr id="9" name="TextBox 9"/>
            <p:cNvSpPr txBox="1"/>
            <p:nvPr/>
          </p:nvSpPr>
          <p:spPr>
            <a:xfrm>
              <a:off x="4471035" y="1364456"/>
              <a:ext cx="1282714"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TEMEL VARSAYIM</a:t>
              </a:r>
            </a:p>
          </p:txBody>
        </p:sp>
        <p:sp>
          <p:nvSpPr>
            <p:cNvPr id="10" name="TextBox 10"/>
            <p:cNvSpPr txBox="1"/>
            <p:nvPr/>
          </p:nvSpPr>
          <p:spPr>
            <a:xfrm>
              <a:off x="7328535" y="1364456"/>
              <a:ext cx="797619"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GÜÇLÜ YÖN</a:t>
              </a:r>
            </a:p>
          </p:txBody>
        </p:sp>
        <p:sp>
          <p:nvSpPr>
            <p:cNvPr id="11" name="TextBox 11"/>
            <p:cNvSpPr txBox="1"/>
            <p:nvPr/>
          </p:nvSpPr>
          <p:spPr>
            <a:xfrm>
              <a:off x="9424035" y="1364456"/>
              <a:ext cx="1416534"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BAŞLICA SINIRLILIK</a:t>
              </a:r>
            </a:p>
          </p:txBody>
        </p:sp>
        <p:sp>
          <p:nvSpPr>
            <p:cNvPr id="12" name="TextBox 12"/>
            <p:cNvSpPr txBox="1"/>
            <p:nvPr/>
          </p:nvSpPr>
          <p:spPr>
            <a:xfrm>
              <a:off x="793242" y="1911668"/>
              <a:ext cx="5444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Karar</a:t>
              </a:r>
            </a:p>
          </p:txBody>
        </p:sp>
        <p:sp>
          <p:nvSpPr>
            <p:cNvPr id="13" name="TextBox 13"/>
            <p:cNvSpPr txBox="1"/>
            <p:nvPr/>
          </p:nvSpPr>
          <p:spPr>
            <a:xfrm>
              <a:off x="793242" y="2121218"/>
              <a:ext cx="53848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ağacı</a:t>
              </a:r>
            </a:p>
          </p:txBody>
        </p:sp>
        <p:sp>
          <p:nvSpPr>
            <p:cNvPr id="14" name="TextBox 14"/>
            <p:cNvSpPr txBox="1"/>
            <p:nvPr/>
          </p:nvSpPr>
          <p:spPr>
            <a:xfrm>
              <a:off x="2185035" y="1783556"/>
              <a:ext cx="136982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Öznitelik eşikleriyle</a:t>
              </a:r>
              <a:br/>
              <a:r>
                <a:rPr lang="tr-TR" sz="1120" dirty="0">
                  <a:solidFill>
                    <a:srgbClr val="172B3A"/>
                  </a:solidFill>
                  <a:latin typeface="+mn-lt"/>
                  <a:ea typeface="+mn-ea"/>
                  <a:cs typeface="+mn-cs"/>
                </a:rPr>
                <a:t>ardışık bölme</a:t>
              </a:r>
            </a:p>
          </p:txBody>
        </p:sp>
        <p:sp>
          <p:nvSpPr>
            <p:cNvPr id="15" name="TextBox 15"/>
            <p:cNvSpPr txBox="1"/>
            <p:nvPr/>
          </p:nvSpPr>
          <p:spPr>
            <a:xfrm>
              <a:off x="4471035" y="1783556"/>
              <a:ext cx="1554734"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Anlamlı eşiklerle</a:t>
              </a:r>
              <a:br/>
              <a:r>
                <a:rPr lang="tr-TR" sz="1120" dirty="0">
                  <a:solidFill>
                    <a:srgbClr val="172B3A"/>
                  </a:solidFill>
                  <a:latin typeface="+mn-lt"/>
                  <a:ea typeface="+mn-ea"/>
                  <a:cs typeface="+mn-cs"/>
                </a:rPr>
                <a:t>ayrılabilen örüntü var</a:t>
              </a:r>
            </a:p>
          </p:txBody>
        </p:sp>
        <p:sp>
          <p:nvSpPr>
            <p:cNvPr id="16" name="TextBox 16"/>
            <p:cNvSpPr txBox="1"/>
            <p:nvPr/>
          </p:nvSpPr>
          <p:spPr>
            <a:xfrm>
              <a:off x="7328535" y="1783556"/>
              <a:ext cx="136982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Yorumlanabilir,</a:t>
              </a:r>
              <a:br/>
              <a:r>
                <a:rPr lang="tr-TR" sz="1120" dirty="0">
                  <a:solidFill>
                    <a:srgbClr val="172B3A"/>
                  </a:solidFill>
                  <a:latin typeface="+mn-lt"/>
                  <a:ea typeface="+mn-ea"/>
                  <a:cs typeface="+mn-cs"/>
                </a:rPr>
                <a:t>ölçekleme gerekmez</a:t>
              </a:r>
            </a:p>
          </p:txBody>
        </p:sp>
        <p:sp>
          <p:nvSpPr>
            <p:cNvPr id="17" name="TextBox 17"/>
            <p:cNvSpPr txBox="1"/>
            <p:nvPr/>
          </p:nvSpPr>
          <p:spPr>
            <a:xfrm>
              <a:off x="9424035" y="1783556"/>
              <a:ext cx="158318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Derinlik sınırlanmazsa</a:t>
              </a:r>
              <a:br/>
              <a:r>
                <a:rPr lang="tr-TR" sz="1120" dirty="0">
                  <a:solidFill>
                    <a:srgbClr val="172B3A"/>
                  </a:solidFill>
                  <a:latin typeface="+mn-lt"/>
                  <a:ea typeface="+mn-ea"/>
                  <a:cs typeface="+mn-cs"/>
                </a:rPr>
                <a:t>yüksek varyans</a:t>
              </a:r>
            </a:p>
          </p:txBody>
        </p:sp>
        <p:sp>
          <p:nvSpPr>
            <p:cNvPr id="18" name="Line 18"/>
            <p:cNvSpPr/>
            <p:nvPr/>
          </p:nvSpPr>
          <p:spPr>
            <a:xfrm>
              <a:off x="609600" y="26479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9" name="TextBox 19"/>
            <p:cNvSpPr txBox="1"/>
            <p:nvPr/>
          </p:nvSpPr>
          <p:spPr>
            <a:xfrm>
              <a:off x="793242" y="3054668"/>
              <a:ext cx="44937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k-NN</a:t>
              </a:r>
            </a:p>
          </p:txBody>
        </p:sp>
        <p:sp>
          <p:nvSpPr>
            <p:cNvPr id="20" name="TextBox 20"/>
            <p:cNvSpPr txBox="1"/>
            <p:nvPr/>
          </p:nvSpPr>
          <p:spPr>
            <a:xfrm>
              <a:off x="2185035" y="2926556"/>
              <a:ext cx="134848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En yakın k gözlemin</a:t>
              </a:r>
              <a:br/>
              <a:r>
                <a:rPr lang="tr-TR" sz="1120" dirty="0">
                  <a:solidFill>
                    <a:srgbClr val="172B3A"/>
                  </a:solidFill>
                  <a:latin typeface="+mn-lt"/>
                  <a:ea typeface="+mn-ea"/>
                  <a:cs typeface="+mn-cs"/>
                </a:rPr>
                <a:t>oyu</a:t>
              </a:r>
            </a:p>
          </p:txBody>
        </p:sp>
        <p:sp>
          <p:nvSpPr>
            <p:cNvPr id="21" name="TextBox 21"/>
            <p:cNvSpPr txBox="1"/>
            <p:nvPr/>
          </p:nvSpPr>
          <p:spPr>
            <a:xfrm>
              <a:off x="4471035" y="2926556"/>
              <a:ext cx="191744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Uzaklık anlamlıdır;</a:t>
              </a:r>
              <a:br/>
              <a:r>
                <a:rPr lang="tr-TR" sz="1120" dirty="0">
                  <a:solidFill>
                    <a:srgbClr val="172B3A"/>
                  </a:solidFill>
                  <a:latin typeface="+mn-lt"/>
                  <a:ea typeface="+mn-ea"/>
                  <a:cs typeface="+mn-cs"/>
                </a:rPr>
                <a:t>ölçekler karşılaştırılabilir</a:t>
              </a:r>
            </a:p>
          </p:txBody>
        </p:sp>
        <p:sp>
          <p:nvSpPr>
            <p:cNvPr id="22" name="TextBox 22"/>
            <p:cNvSpPr txBox="1"/>
            <p:nvPr/>
          </p:nvSpPr>
          <p:spPr>
            <a:xfrm>
              <a:off x="7328535" y="2926556"/>
              <a:ext cx="118491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Doğrusal olmayan</a:t>
              </a:r>
              <a:br/>
              <a:r>
                <a:rPr lang="tr-TR" sz="1120" dirty="0">
                  <a:solidFill>
                    <a:srgbClr val="172B3A"/>
                  </a:solidFill>
                  <a:latin typeface="+mn-lt"/>
                  <a:ea typeface="+mn-ea"/>
                  <a:cs typeface="+mn-cs"/>
                </a:rPr>
                <a:t>yerel sınırlar</a:t>
              </a:r>
            </a:p>
          </p:txBody>
        </p:sp>
        <p:sp>
          <p:nvSpPr>
            <p:cNvPr id="23" name="TextBox 23"/>
            <p:cNvSpPr txBox="1"/>
            <p:nvPr/>
          </p:nvSpPr>
          <p:spPr>
            <a:xfrm>
              <a:off x="9424035" y="2926556"/>
              <a:ext cx="173964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Ölçekleme/k/boyuta</a:t>
              </a:r>
              <a:br/>
              <a:r>
                <a:rPr lang="tr-TR" sz="1120" dirty="0">
                  <a:solidFill>
                    <a:srgbClr val="172B3A"/>
                  </a:solidFill>
                  <a:latin typeface="+mn-lt"/>
                  <a:ea typeface="+mn-ea"/>
                  <a:cs typeface="+mn-cs"/>
                </a:rPr>
                <a:t>duyarlı; tahmin maliyetli</a:t>
              </a:r>
            </a:p>
          </p:txBody>
        </p:sp>
        <p:sp>
          <p:nvSpPr>
            <p:cNvPr id="24" name="Line 24"/>
            <p:cNvSpPr/>
            <p:nvPr/>
          </p:nvSpPr>
          <p:spPr>
            <a:xfrm>
              <a:off x="609600" y="37909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5" name="TextBox 25"/>
            <p:cNvSpPr txBox="1"/>
            <p:nvPr/>
          </p:nvSpPr>
          <p:spPr>
            <a:xfrm>
              <a:off x="793242" y="4140518"/>
              <a:ext cx="49617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Naive</a:t>
              </a:r>
            </a:p>
          </p:txBody>
        </p:sp>
        <p:sp>
          <p:nvSpPr>
            <p:cNvPr id="26" name="TextBox 26"/>
            <p:cNvSpPr txBox="1"/>
            <p:nvPr/>
          </p:nvSpPr>
          <p:spPr>
            <a:xfrm>
              <a:off x="793242" y="4350068"/>
              <a:ext cx="5444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Bayes</a:t>
              </a:r>
            </a:p>
          </p:txBody>
        </p:sp>
        <p:sp>
          <p:nvSpPr>
            <p:cNvPr id="27" name="TextBox 27"/>
            <p:cNvSpPr txBox="1"/>
            <p:nvPr/>
          </p:nvSpPr>
          <p:spPr>
            <a:xfrm>
              <a:off x="2185035" y="4069556"/>
              <a:ext cx="172542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P(y|x)'i koşullu</a:t>
              </a:r>
              <a:br/>
              <a:r>
                <a:rPr lang="tr-TR" sz="1120" dirty="0">
                  <a:solidFill>
                    <a:srgbClr val="172B3A"/>
                  </a:solidFill>
                  <a:latin typeface="+mn-lt"/>
                  <a:ea typeface="+mn-ea"/>
                  <a:cs typeface="+mn-cs"/>
                </a:rPr>
                <a:t>bağımsızlıkla hesaplama</a:t>
              </a:r>
            </a:p>
          </p:txBody>
        </p:sp>
        <p:sp>
          <p:nvSpPr>
            <p:cNvPr id="28" name="TextBox 28"/>
            <p:cNvSpPr txBox="1"/>
            <p:nvPr/>
          </p:nvSpPr>
          <p:spPr>
            <a:xfrm>
              <a:off x="4471035" y="4069556"/>
              <a:ext cx="213791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Öznitelikler sınıf</a:t>
              </a:r>
              <a:br/>
              <a:r>
                <a:rPr lang="tr-TR" sz="1120" dirty="0">
                  <a:solidFill>
                    <a:srgbClr val="172B3A"/>
                  </a:solidFill>
                  <a:latin typeface="+mn-lt"/>
                  <a:ea typeface="+mn-ea"/>
                  <a:cs typeface="+mn-cs"/>
                </a:rPr>
                <a:t>verildiğinde yaklaşık bağımsız</a:t>
              </a:r>
            </a:p>
          </p:txBody>
        </p:sp>
        <p:sp>
          <p:nvSpPr>
            <p:cNvPr id="29" name="TextBox 29"/>
            <p:cNvSpPr txBox="1"/>
            <p:nvPr/>
          </p:nvSpPr>
          <p:spPr>
            <a:xfrm>
              <a:off x="7328535" y="4069556"/>
              <a:ext cx="1234694"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Hızlı, az veride</a:t>
              </a:r>
              <a:br/>
              <a:r>
                <a:rPr lang="tr-TR" sz="1120" dirty="0">
                  <a:solidFill>
                    <a:srgbClr val="172B3A"/>
                  </a:solidFill>
                  <a:latin typeface="+mn-lt"/>
                  <a:ea typeface="+mn-ea"/>
                  <a:cs typeface="+mn-cs"/>
                </a:rPr>
                <a:t>yararlı başlangıç</a:t>
              </a:r>
            </a:p>
          </p:txBody>
        </p:sp>
        <p:sp>
          <p:nvSpPr>
            <p:cNvPr id="30" name="TextBox 30"/>
            <p:cNvSpPr txBox="1"/>
            <p:nvPr/>
          </p:nvSpPr>
          <p:spPr>
            <a:xfrm>
              <a:off x="9424035" y="4069556"/>
              <a:ext cx="164007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Bağımsızlık varsayımı</a:t>
              </a:r>
              <a:br/>
              <a:r>
                <a:rPr lang="tr-TR" sz="1120" dirty="0">
                  <a:solidFill>
                    <a:srgbClr val="172B3A"/>
                  </a:solidFill>
                  <a:latin typeface="+mn-lt"/>
                  <a:ea typeface="+mn-ea"/>
                  <a:cs typeface="+mn-cs"/>
                </a:rPr>
                <a:t>kalibrasyonu bozabilir</a:t>
              </a:r>
            </a:p>
          </p:txBody>
        </p:sp>
        <p:sp>
          <p:nvSpPr>
            <p:cNvPr id="31" name="Rectangle 31"/>
            <p:cNvSpPr/>
            <p:nvPr/>
          </p:nvSpPr>
          <p:spPr>
            <a:xfrm>
              <a:off x="609600" y="4991100"/>
              <a:ext cx="10972800" cy="628650"/>
            </a:xfrm>
            <a:prstGeom prst="roundRect">
              <a:avLst>
                <a:gd name="adj" fmla="val 12121"/>
              </a:avLst>
            </a:prstGeom>
            <a:solidFill>
              <a:srgbClr val="EAF4F6"/>
            </a:solidFill>
            <a:ln>
              <a:noFill/>
            </a:ln>
          </p:spPr>
        </p:sp>
        <p:sp>
          <p:nvSpPr>
            <p:cNvPr id="32" name="TextBox 32"/>
            <p:cNvSpPr txBox="1"/>
            <p:nvPr/>
          </p:nvSpPr>
          <p:spPr>
            <a:xfrm>
              <a:off x="907542" y="5112068"/>
              <a:ext cx="768848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Sınav notu: "Ağaç kural yazar, k-NN benzer arar, Naive Bayes olasılık hesaplar."</a:t>
              </a:r>
            </a:p>
          </p:txBody>
        </p:sp>
        <p:sp>
          <p:nvSpPr>
            <p:cNvPr id="33" name="TextBox 33"/>
            <p:cNvSpPr txBox="1"/>
            <p:nvPr/>
          </p:nvSpPr>
          <p:spPr>
            <a:xfrm>
              <a:off x="908304" y="5356860"/>
              <a:ext cx="61722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yüksek tekil doğruluk, yöntem seçimi için tek başına yeterli kanıt değildir.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24</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10280062" cy="668845"/>
            <a:chOff x="609600" y="171450"/>
            <a:chExt cx="1028006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958969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çerçeve: genelleme ve model kapasitesi</a:t>
              </a:r>
            </a:p>
          </p:txBody>
        </p:sp>
      </p:grpSp>
      <p:grpSp>
        <p:nvGrpSpPr>
          <p:cNvPr id="14" name="generalization-text"/>
          <p:cNvGrpSpPr/>
          <p:nvPr/>
        </p:nvGrpSpPr>
        <p:grpSpPr>
          <a:xfrm>
            <a:off x="601599" y="1334929"/>
            <a:ext cx="9637649" cy="841438"/>
            <a:chOff x="601599" y="1334929"/>
            <a:chExt cx="9637649" cy="841438"/>
          </a:xfrm>
        </p:grpSpPr>
        <p:sp>
          <p:nvSpPr>
            <p:cNvPr id="13" name="TextBox 13"/>
            <p:cNvSpPr txBox="1"/>
            <p:nvPr/>
          </p:nvSpPr>
          <p:spPr>
            <a:xfrm>
              <a:off x="601599" y="1334929"/>
              <a:ext cx="9637649"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Amaç, yalnızca eğitim örneklerini doğru etiketlemek değil, görülmeyen gözlemlerde</a:t>
              </a:r>
              <a:br/>
              <a:r>
                <a:rPr lang="tr-TR" sz="1580" dirty="0">
                  <a:solidFill>
                    <a:srgbClr val="172B3A"/>
                  </a:solidFill>
                  <a:latin typeface="+mn-lt"/>
                  <a:ea typeface="+mn-ea"/>
                  <a:cs typeface="+mn-cs"/>
                </a:rPr>
                <a:t>de benzer çalışabilen bir kural öğrenmektir — buna genelleme denir. Eğitim/test</a:t>
              </a:r>
              <a:br/>
              <a:r>
                <a:rPr lang="tr-TR" sz="1580" dirty="0">
                  <a:solidFill>
                    <a:srgbClr val="172B3A"/>
                  </a:solidFill>
                  <a:latin typeface="+mn-lt"/>
                  <a:ea typeface="+mn-ea"/>
                  <a:cs typeface="+mn-cs"/>
                </a:rPr>
                <a:t>ayrımı bunu sınar; ölçekleme ve hiperparametre seçimleri yalnızca eğitim verisine dayanmalıdır.</a:t>
              </a:r>
            </a:p>
          </p:txBody>
        </p:sp>
      </p:grpSp>
      <p:grpSp>
        <p:nvGrpSpPr>
          <p:cNvPr id="37" name="capacity-spectrum"/>
          <p:cNvGrpSpPr/>
          <p:nvPr/>
        </p:nvGrpSpPr>
        <p:grpSpPr>
          <a:xfrm>
            <a:off x="602742" y="2921318"/>
            <a:ext cx="10522458" cy="2031682"/>
            <a:chOff x="602742" y="2921318"/>
            <a:chExt cx="10522458" cy="2031682"/>
          </a:xfrm>
        </p:grpSpPr>
        <p:sp>
          <p:nvSpPr>
            <p:cNvPr id="15" name="TextBox 15"/>
            <p:cNvSpPr txBox="1"/>
            <p:nvPr/>
          </p:nvSpPr>
          <p:spPr>
            <a:xfrm>
              <a:off x="602742" y="2921318"/>
              <a:ext cx="403670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Model kapasitesi: yanlılık-varyans dengesi</a:t>
              </a:r>
            </a:p>
          </p:txBody>
        </p:sp>
        <p:grpSp>
          <p:nvGrpSpPr>
            <p:cNvPr id="22" name="cap-under"/>
            <p:cNvGrpSpPr/>
            <p:nvPr/>
          </p:nvGrpSpPr>
          <p:grpSpPr>
            <a:xfrm>
              <a:off x="609600" y="3238500"/>
              <a:ext cx="3352800" cy="1714500"/>
              <a:chOff x="609600" y="3238500"/>
              <a:chExt cx="3352800" cy="1714500"/>
            </a:xfrm>
          </p:grpSpPr>
          <p:sp>
            <p:nvSpPr>
              <p:cNvPr id="16" name="Rectangle 16"/>
              <p:cNvSpPr/>
              <p:nvPr/>
            </p:nvSpPr>
            <p:spPr>
              <a:xfrm>
                <a:off x="609600" y="3238500"/>
                <a:ext cx="3352800" cy="1714500"/>
              </a:xfrm>
              <a:prstGeom prst="roundRect">
                <a:avLst>
                  <a:gd name="adj" fmla="val 5556"/>
                </a:avLst>
              </a:prstGeom>
              <a:solidFill>
                <a:srgbClr val="FFFFFF"/>
              </a:solidFill>
              <a:ln w="14288">
                <a:solidFill>
                  <a:srgbClr val="B8CBD3"/>
                </a:solidFill>
              </a:ln>
            </p:spPr>
          </p:sp>
          <p:sp>
            <p:nvSpPr>
              <p:cNvPr id="17" name="TextBox 17"/>
              <p:cNvSpPr txBox="1"/>
              <p:nvPr/>
            </p:nvSpPr>
            <p:spPr>
              <a:xfrm>
                <a:off x="831342" y="3416618"/>
                <a:ext cx="166060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Yetersiz kapasite</a:t>
                </a:r>
              </a:p>
            </p:txBody>
          </p:sp>
          <p:sp>
            <p:nvSpPr>
              <p:cNvPr id="18" name="TextBox 18"/>
              <p:cNvSpPr txBox="1"/>
              <p:nvPr/>
            </p:nvSpPr>
            <p:spPr>
              <a:xfrm>
                <a:off x="832485" y="3707606"/>
                <a:ext cx="224082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 sınırlı ağaç / çok büyük k</a:t>
                </a:r>
              </a:p>
            </p:txBody>
          </p:sp>
          <p:sp>
            <p:nvSpPr>
              <p:cNvPr id="19" name="TextBox 19"/>
              <p:cNvSpPr txBox="1"/>
              <p:nvPr/>
            </p:nvSpPr>
            <p:spPr>
              <a:xfrm>
                <a:off x="832485" y="3917156"/>
                <a:ext cx="23157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Düşük varyans, yüksek yanlılık</a:t>
                </a:r>
              </a:p>
            </p:txBody>
          </p:sp>
          <p:sp>
            <p:nvSpPr>
              <p:cNvPr id="20" name="TextBox 20"/>
              <p:cNvSpPr txBox="1"/>
              <p:nvPr/>
            </p:nvSpPr>
            <p:spPr>
              <a:xfrm>
                <a:off x="832485" y="4126706"/>
                <a:ext cx="250406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Önemli sınıf ayrımlarını kaçırır</a:t>
                </a:r>
              </a:p>
            </p:txBody>
          </p:sp>
          <p:sp>
            <p:nvSpPr>
              <p:cNvPr id="21" name="TextBox 21"/>
              <p:cNvSpPr txBox="1"/>
              <p:nvPr/>
            </p:nvSpPr>
            <p:spPr>
              <a:xfrm>
                <a:off x="832485" y="4545806"/>
                <a:ext cx="109700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(underfitting)</a:t>
                </a:r>
              </a:p>
            </p:txBody>
          </p:sp>
        </p:grpSp>
        <p:grpSp>
          <p:nvGrpSpPr>
            <p:cNvPr id="29" name="cap-balanced"/>
            <p:cNvGrpSpPr/>
            <p:nvPr/>
          </p:nvGrpSpPr>
          <p:grpSpPr>
            <a:xfrm>
              <a:off x="4191000" y="3238500"/>
              <a:ext cx="3352800" cy="1714500"/>
              <a:chOff x="4191000" y="3238500"/>
              <a:chExt cx="3352800" cy="1714500"/>
            </a:xfrm>
          </p:grpSpPr>
          <p:sp>
            <p:nvSpPr>
              <p:cNvPr id="23" name="Rectangle 23"/>
              <p:cNvSpPr/>
              <p:nvPr/>
            </p:nvSpPr>
            <p:spPr>
              <a:xfrm>
                <a:off x="4191000" y="3238500"/>
                <a:ext cx="3352800" cy="1714500"/>
              </a:xfrm>
              <a:prstGeom prst="roundRect">
                <a:avLst>
                  <a:gd name="adj" fmla="val 5556"/>
                </a:avLst>
              </a:prstGeom>
              <a:solidFill>
                <a:srgbClr val="EAF4F6"/>
              </a:solidFill>
              <a:ln w="19050">
                <a:solidFill>
                  <a:srgbClr val="00A6A6"/>
                </a:solidFill>
              </a:ln>
            </p:spPr>
          </p:sp>
          <p:sp>
            <p:nvSpPr>
              <p:cNvPr id="24" name="TextBox 24"/>
              <p:cNvSpPr txBox="1"/>
              <p:nvPr/>
            </p:nvSpPr>
            <p:spPr>
              <a:xfrm>
                <a:off x="4412742" y="3416618"/>
                <a:ext cx="150775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Dengeli kapasite</a:t>
                </a:r>
              </a:p>
            </p:txBody>
          </p:sp>
          <p:sp>
            <p:nvSpPr>
              <p:cNvPr id="25" name="TextBox 25"/>
              <p:cNvSpPr txBox="1"/>
              <p:nvPr/>
            </p:nvSpPr>
            <p:spPr>
              <a:xfrm>
                <a:off x="4413885" y="3707606"/>
                <a:ext cx="172085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Budanmış ağaç / orta k</a:t>
                </a:r>
              </a:p>
            </p:txBody>
          </p:sp>
          <p:sp>
            <p:nvSpPr>
              <p:cNvPr id="26" name="TextBox 26"/>
              <p:cNvSpPr txBox="1"/>
              <p:nvPr/>
            </p:nvSpPr>
            <p:spPr>
              <a:xfrm>
                <a:off x="4413885" y="3917156"/>
                <a:ext cx="211969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Doğrulama/çapraz doğrulama</a:t>
                </a:r>
              </a:p>
            </p:txBody>
          </p:sp>
          <p:sp>
            <p:nvSpPr>
              <p:cNvPr id="27" name="TextBox 27"/>
              <p:cNvSpPr txBox="1"/>
              <p:nvPr/>
            </p:nvSpPr>
            <p:spPr>
              <a:xfrm>
                <a:off x="4413885" y="4126706"/>
                <a:ext cx="69745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ile seçilir</a:t>
                </a:r>
              </a:p>
            </p:txBody>
          </p:sp>
          <p:sp>
            <p:nvSpPr>
              <p:cNvPr id="28" name="TextBox 28"/>
              <p:cNvSpPr txBox="1"/>
              <p:nvPr/>
            </p:nvSpPr>
            <p:spPr>
              <a:xfrm>
                <a:off x="4413885" y="4545806"/>
                <a:ext cx="1285851"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hedeflenen bölge</a:t>
                </a:r>
              </a:p>
            </p:txBody>
          </p:sp>
        </p:grpSp>
        <p:grpSp>
          <p:nvGrpSpPr>
            <p:cNvPr id="36" name="cap-over"/>
            <p:cNvGrpSpPr/>
            <p:nvPr/>
          </p:nvGrpSpPr>
          <p:grpSpPr>
            <a:xfrm>
              <a:off x="7772400" y="3238500"/>
              <a:ext cx="3352800" cy="1714500"/>
              <a:chOff x="7772400" y="3238500"/>
              <a:chExt cx="3352800" cy="1714500"/>
            </a:xfrm>
          </p:grpSpPr>
          <p:sp>
            <p:nvSpPr>
              <p:cNvPr id="30" name="Rectangle 30"/>
              <p:cNvSpPr/>
              <p:nvPr/>
            </p:nvSpPr>
            <p:spPr>
              <a:xfrm>
                <a:off x="7772400" y="3238500"/>
                <a:ext cx="3352800" cy="1714500"/>
              </a:xfrm>
              <a:prstGeom prst="roundRect">
                <a:avLst>
                  <a:gd name="adj" fmla="val 5556"/>
                </a:avLst>
              </a:prstGeom>
              <a:solidFill>
                <a:srgbClr val="FFFFFF"/>
              </a:solidFill>
              <a:ln w="14288">
                <a:solidFill>
                  <a:srgbClr val="B8CBD3"/>
                </a:solidFill>
              </a:ln>
            </p:spPr>
          </p:sp>
          <p:sp>
            <p:nvSpPr>
              <p:cNvPr id="31" name="TextBox 31"/>
              <p:cNvSpPr txBox="1"/>
              <p:nvPr/>
            </p:nvSpPr>
            <p:spPr>
              <a:xfrm>
                <a:off x="7994142" y="3416618"/>
                <a:ext cx="139363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Aşırı kapasite</a:t>
                </a:r>
              </a:p>
            </p:txBody>
          </p:sp>
          <p:sp>
            <p:nvSpPr>
              <p:cNvPr id="32" name="TextBox 32"/>
              <p:cNvSpPr txBox="1"/>
              <p:nvPr/>
            </p:nvSpPr>
            <p:spPr>
              <a:xfrm>
                <a:off x="7995285" y="3707606"/>
                <a:ext cx="170647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Budanmamış ağaç / k=1</a:t>
                </a:r>
              </a:p>
            </p:txBody>
          </p:sp>
          <p:sp>
            <p:nvSpPr>
              <p:cNvPr id="33" name="TextBox 33"/>
              <p:cNvSpPr txBox="1"/>
              <p:nvPr/>
            </p:nvSpPr>
            <p:spPr>
              <a:xfrm>
                <a:off x="7995285" y="3917156"/>
                <a:ext cx="197654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Yüksek varyans, gürültüye</a:t>
                </a:r>
              </a:p>
            </p:txBody>
          </p:sp>
          <p:sp>
            <p:nvSpPr>
              <p:cNvPr id="34" name="TextBox 34"/>
              <p:cNvSpPr txBox="1"/>
              <p:nvPr/>
            </p:nvSpPr>
            <p:spPr>
              <a:xfrm>
                <a:off x="7995285" y="4126706"/>
                <a:ext cx="5542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duyarlı</a:t>
                </a:r>
              </a:p>
            </p:txBody>
          </p:sp>
          <p:sp>
            <p:nvSpPr>
              <p:cNvPr id="35" name="TextBox 35"/>
              <p:cNvSpPr txBox="1"/>
              <p:nvPr/>
            </p:nvSpPr>
            <p:spPr>
              <a:xfrm>
                <a:off x="7995285" y="4545806"/>
                <a:ext cx="101408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(overfitting)</a:t>
                </a:r>
              </a:p>
            </p:txBody>
          </p:sp>
        </p:gr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24</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0389578" cy="557403"/>
            <a:chOff x="595122" y="282892"/>
            <a:chExt cx="10389578" cy="557403"/>
          </a:xfrm>
        </p:grpSpPr>
        <p:sp>
          <p:nvSpPr>
            <p:cNvPr id="4" name="TextBox 4"/>
            <p:cNvSpPr txBox="1"/>
            <p:nvPr/>
          </p:nvSpPr>
          <p:spPr>
            <a:xfrm>
              <a:off x="595122" y="282892"/>
              <a:ext cx="103895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uygulama: ChurnSiniflandiriciKarsilastirici</a:t>
              </a:r>
            </a:p>
          </p:txBody>
        </p:sp>
      </p:grpSp>
      <p:grpSp>
        <p:nvGrpSpPr>
          <p:cNvPr id="25" name="pipeline"/>
          <p:cNvGrpSpPr/>
          <p:nvPr/>
        </p:nvGrpSpPr>
        <p:grpSpPr>
          <a:xfrm>
            <a:off x="609600" y="1524000"/>
            <a:ext cx="10972800" cy="857250"/>
            <a:chOff x="609600" y="1524000"/>
            <a:chExt cx="10972800" cy="857250"/>
          </a:xfrm>
        </p:grpSpPr>
        <p:sp>
          <p:nvSpPr>
            <p:cNvPr id="6" name="Rectangle 6"/>
            <p:cNvSpPr/>
            <p:nvPr/>
          </p:nvSpPr>
          <p:spPr>
            <a:xfrm>
              <a:off x="609600" y="1524000"/>
              <a:ext cx="1905000" cy="857250"/>
            </a:xfrm>
            <a:prstGeom prst="roundRect">
              <a:avLst>
                <a:gd name="adj" fmla="val 8889"/>
              </a:avLst>
            </a:prstGeom>
            <a:solidFill>
              <a:srgbClr val="12355B"/>
            </a:solidFill>
            <a:ln>
              <a:noFill/>
            </a:ln>
          </p:spPr>
        </p:sp>
        <p:sp>
          <p:nvSpPr>
            <p:cNvPr id="7" name="TextBox 7"/>
            <p:cNvSpPr txBox="1"/>
            <p:nvPr/>
          </p:nvSpPr>
          <p:spPr>
            <a:xfrm>
              <a:off x="1097277" y="1745456"/>
              <a:ext cx="929646"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veri_uret()</a:t>
              </a:r>
            </a:p>
          </p:txBody>
        </p:sp>
        <p:sp>
          <p:nvSpPr>
            <p:cNvPr id="8" name="TextBox 8"/>
            <p:cNvSpPr txBox="1"/>
            <p:nvPr/>
          </p:nvSpPr>
          <p:spPr>
            <a:xfrm>
              <a:off x="884316" y="1971199"/>
              <a:ext cx="1355568"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300 sentetik müşteri</a:t>
              </a:r>
            </a:p>
          </p:txBody>
        </p:sp>
        <p:sp>
          <p:nvSpPr>
            <p:cNvPr id="9" name="Line 9"/>
            <p:cNvSpPr/>
            <p:nvPr/>
          </p:nvSpPr>
          <p:spPr>
            <a:xfrm>
              <a:off x="2514600" y="1952625"/>
              <a:ext cx="247650" cy="1"/>
            </a:xfrm>
            <a:prstGeom prst="line">
              <a:avLst/>
            </a:prstGeom>
            <a:noFill/>
            <a:ln w="19050">
              <a:solidFill>
                <a:srgbClr val="00A6A6"/>
              </a:solidFill>
              <a:tailEnd type="arrow" w="lg" len="lg"/>
            </a:ln>
          </p:spPr>
        </p:sp>
        <p:sp>
          <p:nvSpPr>
            <p:cNvPr id="10" name="Rectangle 10"/>
            <p:cNvSpPr/>
            <p:nvPr/>
          </p:nvSpPr>
          <p:spPr>
            <a:xfrm>
              <a:off x="2762250" y="1524000"/>
              <a:ext cx="2095500" cy="857250"/>
            </a:xfrm>
            <a:prstGeom prst="roundRect">
              <a:avLst>
                <a:gd name="adj" fmla="val 8889"/>
              </a:avLst>
            </a:prstGeom>
            <a:solidFill>
              <a:srgbClr val="2E86AB"/>
            </a:solidFill>
            <a:ln>
              <a:noFill/>
            </a:ln>
          </p:spPr>
        </p:sp>
        <p:sp>
          <p:nvSpPr>
            <p:cNvPr id="11" name="TextBox 11"/>
            <p:cNvSpPr txBox="1"/>
            <p:nvPr/>
          </p:nvSpPr>
          <p:spPr>
            <a:xfrm>
              <a:off x="2958680" y="1715452"/>
              <a:ext cx="170263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veriyi_bol_ve_olcekle()</a:t>
              </a:r>
            </a:p>
          </p:txBody>
        </p:sp>
        <p:sp>
          <p:nvSpPr>
            <p:cNvPr id="12" name="TextBox 12"/>
            <p:cNvSpPr txBox="1"/>
            <p:nvPr/>
          </p:nvSpPr>
          <p:spPr>
            <a:xfrm>
              <a:off x="2886952" y="1933099"/>
              <a:ext cx="1846097"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train/test + StandardScaler</a:t>
              </a:r>
            </a:p>
          </p:txBody>
        </p:sp>
        <p:sp>
          <p:nvSpPr>
            <p:cNvPr id="13" name="Line 13"/>
            <p:cNvSpPr/>
            <p:nvPr/>
          </p:nvSpPr>
          <p:spPr>
            <a:xfrm>
              <a:off x="4857750" y="1952625"/>
              <a:ext cx="247650" cy="1"/>
            </a:xfrm>
            <a:prstGeom prst="line">
              <a:avLst/>
            </a:prstGeom>
            <a:noFill/>
            <a:ln w="19050">
              <a:solidFill>
                <a:srgbClr val="00A6A6"/>
              </a:solidFill>
              <a:tailEnd type="arrow" w="lg" len="lg"/>
            </a:ln>
          </p:spPr>
        </p:sp>
        <p:sp>
          <p:nvSpPr>
            <p:cNvPr id="14" name="Rectangle 14"/>
            <p:cNvSpPr/>
            <p:nvPr/>
          </p:nvSpPr>
          <p:spPr>
            <a:xfrm>
              <a:off x="5105400" y="1524000"/>
              <a:ext cx="2000250" cy="857250"/>
            </a:xfrm>
            <a:prstGeom prst="roundRect">
              <a:avLst>
                <a:gd name="adj" fmla="val 8889"/>
              </a:avLst>
            </a:prstGeom>
            <a:solidFill>
              <a:srgbClr val="2E86AB"/>
            </a:solidFill>
            <a:ln>
              <a:noFill/>
            </a:ln>
          </p:spPr>
        </p:sp>
        <p:sp>
          <p:nvSpPr>
            <p:cNvPr id="15" name="TextBox 15"/>
            <p:cNvSpPr txBox="1"/>
            <p:nvPr/>
          </p:nvSpPr>
          <p:spPr>
            <a:xfrm>
              <a:off x="5506517" y="1715452"/>
              <a:ext cx="1198016"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modelleri_egit()</a:t>
              </a:r>
            </a:p>
          </p:txBody>
        </p:sp>
        <p:sp>
          <p:nvSpPr>
            <p:cNvPr id="16" name="TextBox 16"/>
            <p:cNvSpPr txBox="1"/>
            <p:nvPr/>
          </p:nvSpPr>
          <p:spPr>
            <a:xfrm>
              <a:off x="5321859" y="1933099"/>
              <a:ext cx="1567333"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ağaç, k-NN, Naive Bayes</a:t>
              </a:r>
            </a:p>
          </p:txBody>
        </p:sp>
        <p:sp>
          <p:nvSpPr>
            <p:cNvPr id="17" name="Line 17"/>
            <p:cNvSpPr/>
            <p:nvPr/>
          </p:nvSpPr>
          <p:spPr>
            <a:xfrm>
              <a:off x="7105650" y="1952625"/>
              <a:ext cx="247650" cy="1"/>
            </a:xfrm>
            <a:prstGeom prst="line">
              <a:avLst/>
            </a:prstGeom>
            <a:noFill/>
            <a:ln w="19050">
              <a:solidFill>
                <a:srgbClr val="00A6A6"/>
              </a:solidFill>
              <a:tailEnd type="arrow" w="lg" len="lg"/>
            </a:ln>
          </p:spPr>
        </p:sp>
        <p:sp>
          <p:nvSpPr>
            <p:cNvPr id="18" name="Rectangle 18"/>
            <p:cNvSpPr/>
            <p:nvPr/>
          </p:nvSpPr>
          <p:spPr>
            <a:xfrm>
              <a:off x="7353300" y="1524000"/>
              <a:ext cx="1809750" cy="857250"/>
            </a:xfrm>
            <a:prstGeom prst="roundRect">
              <a:avLst>
                <a:gd name="adj" fmla="val 8889"/>
              </a:avLst>
            </a:prstGeom>
            <a:solidFill>
              <a:srgbClr val="2E86AB"/>
            </a:solidFill>
            <a:ln>
              <a:noFill/>
            </a:ln>
          </p:spPr>
        </p:sp>
        <p:sp>
          <p:nvSpPr>
            <p:cNvPr id="19" name="TextBox 19"/>
            <p:cNvSpPr txBox="1"/>
            <p:nvPr/>
          </p:nvSpPr>
          <p:spPr>
            <a:xfrm>
              <a:off x="7759349" y="1715452"/>
              <a:ext cx="997651"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degerlendir()</a:t>
              </a:r>
            </a:p>
          </p:txBody>
        </p:sp>
        <p:sp>
          <p:nvSpPr>
            <p:cNvPr id="20" name="TextBox 20"/>
            <p:cNvSpPr txBox="1"/>
            <p:nvPr/>
          </p:nvSpPr>
          <p:spPr>
            <a:xfrm>
              <a:off x="7745301" y="1933099"/>
              <a:ext cx="1025749"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accuracy_score</a:t>
              </a:r>
            </a:p>
          </p:txBody>
        </p:sp>
        <p:sp>
          <p:nvSpPr>
            <p:cNvPr id="21" name="Line 21"/>
            <p:cNvSpPr/>
            <p:nvPr/>
          </p:nvSpPr>
          <p:spPr>
            <a:xfrm>
              <a:off x="9163050" y="1952625"/>
              <a:ext cx="247650" cy="1"/>
            </a:xfrm>
            <a:prstGeom prst="line">
              <a:avLst/>
            </a:prstGeom>
            <a:noFill/>
            <a:ln w="19050">
              <a:solidFill>
                <a:srgbClr val="00A6A6"/>
              </a:solidFill>
              <a:tailEnd type="arrow" w="lg" len="lg"/>
            </a:ln>
          </p:spPr>
        </p:sp>
        <p:sp>
          <p:nvSpPr>
            <p:cNvPr id="22" name="Rectangle 22"/>
            <p:cNvSpPr/>
            <p:nvPr/>
          </p:nvSpPr>
          <p:spPr>
            <a:xfrm>
              <a:off x="9410700" y="1524000"/>
              <a:ext cx="2171700" cy="857250"/>
            </a:xfrm>
            <a:prstGeom prst="roundRect">
              <a:avLst>
                <a:gd name="adj" fmla="val 8889"/>
              </a:avLst>
            </a:prstGeom>
            <a:solidFill>
              <a:srgbClr val="12355B"/>
            </a:solidFill>
            <a:ln>
              <a:noFill/>
            </a:ln>
          </p:spPr>
        </p:sp>
        <p:sp>
          <p:nvSpPr>
            <p:cNvPr id="23" name="TextBox 23"/>
            <p:cNvSpPr txBox="1"/>
            <p:nvPr/>
          </p:nvSpPr>
          <p:spPr>
            <a:xfrm>
              <a:off x="9938357" y="1715452"/>
              <a:ext cx="1116386"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rapor_yazdir()</a:t>
              </a:r>
            </a:p>
          </p:txBody>
        </p:sp>
        <p:sp>
          <p:nvSpPr>
            <p:cNvPr id="24" name="TextBox 24"/>
            <p:cNvSpPr txBox="1"/>
            <p:nvPr/>
          </p:nvSpPr>
          <p:spPr>
            <a:xfrm>
              <a:off x="9904519" y="1933099"/>
              <a:ext cx="1184062" cy="190690"/>
            </a:xfrm>
            <a:prstGeom prst="rect">
              <a:avLst/>
            </a:prstGeom>
            <a:noFill/>
            <a:ln>
              <a:noFill/>
            </a:ln>
          </p:spPr>
          <p:txBody>
            <a:bodyPr wrap="none" lIns="0" tIns="0" rIns="0" bIns="0" anchor="t" anchorCtr="0">
              <a:spAutoFit/>
            </a:bodyPr>
            <a:lstStyle/>
            <a:p>
              <a:pPr algn="ctr"/>
              <a:r>
                <a:rPr lang="tr-TR" sz="980" dirty="0">
                  <a:solidFill>
                    <a:srgbClr val="EAF4F6"/>
                  </a:solidFill>
                  <a:latin typeface="+mn-lt"/>
                  <a:ea typeface="+mn-ea"/>
                  <a:cs typeface="+mn-cs"/>
                </a:rPr>
                <a:t>en iyi modeli seçer</a:t>
              </a:r>
            </a:p>
          </p:txBody>
        </p:sp>
      </p:grpSp>
      <p:grpSp>
        <p:nvGrpSpPr>
          <p:cNvPr id="36" name="design-note"/>
          <p:cNvGrpSpPr/>
          <p:nvPr/>
        </p:nvGrpSpPr>
        <p:grpSpPr>
          <a:xfrm>
            <a:off x="609600" y="3009900"/>
            <a:ext cx="5257800" cy="2476500"/>
            <a:chOff x="609600" y="3009900"/>
            <a:chExt cx="5257800" cy="2476500"/>
          </a:xfrm>
        </p:grpSpPr>
        <p:sp>
          <p:nvSpPr>
            <p:cNvPr id="26" name="Rectangle 26"/>
            <p:cNvSpPr/>
            <p:nvPr/>
          </p:nvSpPr>
          <p:spPr>
            <a:xfrm>
              <a:off x="609600" y="3009900"/>
              <a:ext cx="5257800" cy="2476500"/>
            </a:xfrm>
            <a:prstGeom prst="roundRect">
              <a:avLst>
                <a:gd name="adj" fmla="val 3846"/>
              </a:avLst>
            </a:prstGeom>
            <a:solidFill>
              <a:srgbClr val="EAF4F6"/>
            </a:solidFill>
            <a:ln>
              <a:noFill/>
            </a:ln>
          </p:spPr>
        </p:sp>
        <p:sp>
          <p:nvSpPr>
            <p:cNvPr id="27" name="TextBox 27"/>
            <p:cNvSpPr txBox="1"/>
            <p:nvPr/>
          </p:nvSpPr>
          <p:spPr>
            <a:xfrm>
              <a:off x="830580" y="3152775"/>
              <a:ext cx="237507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Bilinçli tasarım kararı</a:t>
              </a:r>
            </a:p>
          </p:txBody>
        </p:sp>
        <p:sp>
          <p:nvSpPr>
            <p:cNvPr id="28" name="TextBox 28"/>
            <p:cNvSpPr txBox="1"/>
            <p:nvPr/>
          </p:nvSpPr>
          <p:spPr>
            <a:xfrm>
              <a:off x="832104" y="3470910"/>
              <a:ext cx="24843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 ağacı ve Naive Bayes ham</a:t>
              </a:r>
            </a:p>
          </p:txBody>
        </p:sp>
        <p:sp>
          <p:nvSpPr>
            <p:cNvPr id="29" name="TextBox 29"/>
            <p:cNvSpPr txBox="1"/>
            <p:nvPr/>
          </p:nvSpPr>
          <p:spPr>
            <a:xfrm>
              <a:off x="832104" y="3680460"/>
              <a:ext cx="22898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X_egitim ile eğitilir; k-NN ise</a:t>
              </a:r>
            </a:p>
          </p:txBody>
        </p:sp>
        <p:sp>
          <p:nvSpPr>
            <p:cNvPr id="30" name="TextBox 30"/>
            <p:cNvSpPr txBox="1"/>
            <p:nvPr/>
          </p:nvSpPr>
          <p:spPr>
            <a:xfrm>
              <a:off x="832104" y="3890010"/>
              <a:ext cx="25100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X_egitim_olcekli ile eğitilir. Her</a:t>
              </a:r>
            </a:p>
          </p:txBody>
        </p:sp>
        <p:sp>
          <p:nvSpPr>
            <p:cNvPr id="31" name="TextBox 31"/>
            <p:cNvSpPr txBox="1"/>
            <p:nvPr/>
          </p:nvSpPr>
          <p:spPr>
            <a:xfrm>
              <a:off x="832104" y="4099560"/>
              <a:ext cx="21122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algoritma kendi veri temsil</a:t>
              </a:r>
            </a:p>
          </p:txBody>
        </p:sp>
        <p:sp>
          <p:nvSpPr>
            <p:cNvPr id="32" name="TextBox 32"/>
            <p:cNvSpPr txBox="1"/>
            <p:nvPr/>
          </p:nvSpPr>
          <p:spPr>
            <a:xfrm>
              <a:off x="832104" y="4309110"/>
              <a:ext cx="23384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gereksinimine (ölçek duyarlı/</a:t>
              </a:r>
            </a:p>
          </p:txBody>
        </p:sp>
        <p:sp>
          <p:nvSpPr>
            <p:cNvPr id="33" name="TextBox 33"/>
            <p:cNvSpPr txBox="1"/>
            <p:nvPr/>
          </p:nvSpPr>
          <p:spPr>
            <a:xfrm>
              <a:off x="832104" y="4518660"/>
              <a:ext cx="23949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duyarsız) uygun eğitilir; test</a:t>
              </a:r>
            </a:p>
          </p:txBody>
        </p:sp>
        <p:sp>
          <p:nvSpPr>
            <p:cNvPr id="34" name="TextBox 34"/>
            <p:cNvSpPr txBox="1"/>
            <p:nvPr/>
          </p:nvSpPr>
          <p:spPr>
            <a:xfrm>
              <a:off x="832104" y="4728210"/>
              <a:ext cx="30007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aşamasında da bu tutarlılık korunur.</a:t>
              </a:r>
            </a:p>
          </p:txBody>
        </p:sp>
        <p:sp>
          <p:nvSpPr>
            <p:cNvPr id="35" name="TextBox 35"/>
            <p:cNvSpPr txBox="1"/>
            <p:nvPr/>
          </p:nvSpPr>
          <p:spPr>
            <a:xfrm>
              <a:off x="832485" y="5041106"/>
              <a:ext cx="355462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return self ile zincirlenebilir (fluent interface)</a:t>
              </a:r>
            </a:p>
          </p:txBody>
        </p:sp>
      </p:grpSp>
      <p:grpSp>
        <p:nvGrpSpPr>
          <p:cNvPr id="46" name="extend-note"/>
          <p:cNvGrpSpPr/>
          <p:nvPr/>
        </p:nvGrpSpPr>
        <p:grpSpPr>
          <a:xfrm>
            <a:off x="6324600" y="3009900"/>
            <a:ext cx="5257800" cy="2476500"/>
            <a:chOff x="6324600" y="3009900"/>
            <a:chExt cx="5257800" cy="2476500"/>
          </a:xfrm>
        </p:grpSpPr>
        <p:sp>
          <p:nvSpPr>
            <p:cNvPr id="37" name="Rectangle 37"/>
            <p:cNvSpPr/>
            <p:nvPr/>
          </p:nvSpPr>
          <p:spPr>
            <a:xfrm>
              <a:off x="6324600" y="3009900"/>
              <a:ext cx="5257800" cy="2476500"/>
            </a:xfrm>
            <a:prstGeom prst="roundRect">
              <a:avLst>
                <a:gd name="adj" fmla="val 3846"/>
              </a:avLst>
            </a:prstGeom>
            <a:solidFill>
              <a:srgbClr val="FFFFFF"/>
            </a:solidFill>
            <a:ln w="14288">
              <a:solidFill>
                <a:srgbClr val="B8CBD3"/>
              </a:solidFill>
            </a:ln>
          </p:spPr>
        </p:sp>
        <p:sp>
          <p:nvSpPr>
            <p:cNvPr id="38" name="TextBox 38"/>
            <p:cNvSpPr txBox="1"/>
            <p:nvPr/>
          </p:nvSpPr>
          <p:spPr>
            <a:xfrm>
              <a:off x="6545580" y="3152775"/>
              <a:ext cx="175903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Genişletilebilirlik</a:t>
              </a:r>
            </a:p>
          </p:txBody>
        </p:sp>
        <p:sp>
          <p:nvSpPr>
            <p:cNvPr id="39" name="TextBox 39"/>
            <p:cNvSpPr txBox="1"/>
            <p:nvPr/>
          </p:nvSpPr>
          <p:spPr>
            <a:xfrm>
              <a:off x="6547104" y="3470910"/>
              <a:ext cx="24272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self.modeller ve self.sonuclar</a:t>
              </a:r>
            </a:p>
          </p:txBody>
        </p:sp>
        <p:sp>
          <p:nvSpPr>
            <p:cNvPr id="40" name="TextBox 40"/>
            <p:cNvSpPr txBox="1"/>
            <p:nvPr/>
          </p:nvSpPr>
          <p:spPr>
            <a:xfrm>
              <a:off x="6547104" y="3680460"/>
              <a:ext cx="25242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sözlük olduğundan, dördüncü bir</a:t>
              </a:r>
            </a:p>
          </p:txBody>
        </p:sp>
        <p:sp>
          <p:nvSpPr>
            <p:cNvPr id="41" name="TextBox 41"/>
            <p:cNvSpPr txBox="1"/>
            <p:nvPr/>
          </p:nvSpPr>
          <p:spPr>
            <a:xfrm>
              <a:off x="6547104" y="3890010"/>
              <a:ext cx="23707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algoritma eklemek tek satırla</a:t>
              </a:r>
            </a:p>
          </p:txBody>
        </p:sp>
        <p:sp>
          <p:nvSpPr>
            <p:cNvPr id="42" name="TextBox 42"/>
            <p:cNvSpPr txBox="1"/>
            <p:nvPr/>
          </p:nvSpPr>
          <p:spPr>
            <a:xfrm>
              <a:off x="6547104" y="4099560"/>
              <a:ext cx="23626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mümkündür — degerlendir() ve</a:t>
              </a:r>
            </a:p>
          </p:txBody>
        </p:sp>
        <p:sp>
          <p:nvSpPr>
            <p:cNvPr id="43" name="TextBox 43"/>
            <p:cNvSpPr txBox="1"/>
            <p:nvPr/>
          </p:nvSpPr>
          <p:spPr>
            <a:xfrm>
              <a:off x="6547104" y="4309110"/>
              <a:ext cx="27745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rapor_yazdir() değişmeden çalışır</a:t>
              </a:r>
            </a:p>
          </p:txBody>
        </p:sp>
        <p:sp>
          <p:nvSpPr>
            <p:cNvPr id="44" name="TextBox 44"/>
            <p:cNvSpPr txBox="1"/>
            <p:nvPr/>
          </p:nvSpPr>
          <p:spPr>
            <a:xfrm>
              <a:off x="6547104" y="4518660"/>
              <a:ext cx="27907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çünkü sözlük üzerinde döngü kurar,</a:t>
              </a:r>
            </a:p>
          </p:txBody>
        </p:sp>
        <p:sp>
          <p:nvSpPr>
            <p:cNvPr id="45" name="TextBox 45"/>
            <p:cNvSpPr txBox="1"/>
            <p:nvPr/>
          </p:nvSpPr>
          <p:spPr>
            <a:xfrm>
              <a:off x="6547104" y="4728210"/>
              <a:ext cx="26615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sabit model adları üzerinde değil.</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24</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581212" cy="557403"/>
            <a:chOff x="595122" y="282892"/>
            <a:chExt cx="5581212" cy="557403"/>
          </a:xfrm>
        </p:grpSpPr>
        <p:sp>
          <p:nvSpPr>
            <p:cNvPr id="4" name="TextBox 4"/>
            <p:cNvSpPr txBox="1"/>
            <p:nvPr/>
          </p:nvSpPr>
          <p:spPr>
            <a:xfrm>
              <a:off x="595122" y="282892"/>
              <a:ext cx="55812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Churn karşılaştırma raporu</a:t>
              </a:r>
            </a:p>
          </p:txBody>
        </p:sp>
      </p:grpSp>
      <p:grpSp>
        <p:nvGrpSpPr>
          <p:cNvPr id="12" name="result-tree"/>
          <p:cNvGrpSpPr/>
          <p:nvPr/>
        </p:nvGrpSpPr>
        <p:grpSpPr>
          <a:xfrm>
            <a:off x="609600" y="1257300"/>
            <a:ext cx="3505200" cy="1905000"/>
            <a:chOff x="609600" y="1257300"/>
            <a:chExt cx="3505200" cy="1905000"/>
          </a:xfrm>
        </p:grpSpPr>
        <p:sp>
          <p:nvSpPr>
            <p:cNvPr id="6" name="Rectangle 6"/>
            <p:cNvSpPr/>
            <p:nvPr/>
          </p:nvSpPr>
          <p:spPr>
            <a:xfrm>
              <a:off x="609600" y="1257300"/>
              <a:ext cx="3505200" cy="1905000"/>
            </a:xfrm>
            <a:prstGeom prst="roundRect">
              <a:avLst>
                <a:gd name="adj" fmla="val 5000"/>
              </a:avLst>
            </a:prstGeom>
            <a:solidFill>
              <a:srgbClr val="EAF4F6"/>
            </a:solidFill>
            <a:ln w="19050">
              <a:solidFill>
                <a:srgbClr val="00A6A6"/>
              </a:solidFill>
            </a:ln>
          </p:spPr>
        </p:sp>
        <p:sp>
          <p:nvSpPr>
            <p:cNvPr id="7" name="TextBox 7"/>
            <p:cNvSpPr txBox="1"/>
            <p:nvPr/>
          </p:nvSpPr>
          <p:spPr>
            <a:xfrm>
              <a:off x="829818" y="1460182"/>
              <a:ext cx="1384807"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Karar Ağacı</a:t>
              </a:r>
            </a:p>
          </p:txBody>
        </p:sp>
        <p:sp>
          <p:nvSpPr>
            <p:cNvPr id="8" name="TextBox 8"/>
            <p:cNvSpPr txBox="1"/>
            <p:nvPr/>
          </p:nvSpPr>
          <p:spPr>
            <a:xfrm>
              <a:off x="822960" y="1790700"/>
              <a:ext cx="1196626" cy="586740"/>
            </a:xfrm>
            <a:prstGeom prst="rect">
              <a:avLst/>
            </a:prstGeom>
            <a:noFill/>
            <a:ln>
              <a:noFill/>
            </a:ln>
          </p:spPr>
          <p:txBody>
            <a:bodyPr wrap="none" lIns="0" tIns="0" rIns="0" bIns="0" anchor="t" anchorCtr="0">
              <a:spAutoFit/>
            </a:bodyPr>
            <a:lstStyle/>
            <a:p>
              <a:pPr algn="l"/>
              <a:r>
                <a:rPr lang="tr-TR" sz="3000" b="1" dirty="0">
                  <a:solidFill>
                    <a:srgbClr val="00A6A6"/>
                  </a:solidFill>
                  <a:latin typeface="+mn-lt"/>
                  <a:ea typeface="+mn-ea"/>
                  <a:cs typeface="+mn-cs"/>
                </a:rPr>
                <a:t>0.789</a:t>
              </a:r>
            </a:p>
          </p:txBody>
        </p:sp>
        <p:sp>
          <p:nvSpPr>
            <p:cNvPr id="9" name="TextBox 9"/>
            <p:cNvSpPr txBox="1"/>
            <p:nvPr/>
          </p:nvSpPr>
          <p:spPr>
            <a:xfrm>
              <a:off x="832485" y="2259806"/>
              <a:ext cx="252182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max_depth=5, min_samples_leaf=8</a:t>
              </a:r>
            </a:p>
          </p:txBody>
        </p:sp>
        <p:sp>
          <p:nvSpPr>
            <p:cNvPr id="10" name="TextBox 10"/>
            <p:cNvSpPr txBox="1"/>
            <p:nvPr/>
          </p:nvSpPr>
          <p:spPr>
            <a:xfrm>
              <a:off x="832485" y="2469356"/>
              <a:ext cx="139855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ham veriyle eğitildi</a:t>
              </a:r>
            </a:p>
          </p:txBody>
        </p:sp>
        <p:sp>
          <p:nvSpPr>
            <p:cNvPr id="11" name="TextBox 11"/>
            <p:cNvSpPr txBox="1"/>
            <p:nvPr/>
          </p:nvSpPr>
          <p:spPr>
            <a:xfrm>
              <a:off x="832485" y="2812256"/>
              <a:ext cx="1995945"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En yüksek doğruluk (eşit)</a:t>
              </a:r>
            </a:p>
          </p:txBody>
        </p:sp>
      </p:grpSp>
      <p:grpSp>
        <p:nvGrpSpPr>
          <p:cNvPr id="18" name="result-knn"/>
          <p:cNvGrpSpPr/>
          <p:nvPr/>
        </p:nvGrpSpPr>
        <p:grpSpPr>
          <a:xfrm>
            <a:off x="4343400" y="1257300"/>
            <a:ext cx="3505200" cy="1905000"/>
            <a:chOff x="4343400" y="1257300"/>
            <a:chExt cx="3505200" cy="1905000"/>
          </a:xfrm>
        </p:grpSpPr>
        <p:sp>
          <p:nvSpPr>
            <p:cNvPr id="13" name="Rectangle 13"/>
            <p:cNvSpPr/>
            <p:nvPr/>
          </p:nvSpPr>
          <p:spPr>
            <a:xfrm>
              <a:off x="4343400" y="1257300"/>
              <a:ext cx="3505200" cy="1905000"/>
            </a:xfrm>
            <a:prstGeom prst="roundRect">
              <a:avLst>
                <a:gd name="adj" fmla="val 5000"/>
              </a:avLst>
            </a:prstGeom>
            <a:solidFill>
              <a:srgbClr val="FFFFFF"/>
            </a:solidFill>
            <a:ln w="14288">
              <a:solidFill>
                <a:srgbClr val="B8CBD3"/>
              </a:solidFill>
            </a:ln>
          </p:spPr>
        </p:sp>
        <p:sp>
          <p:nvSpPr>
            <p:cNvPr id="14" name="TextBox 14"/>
            <p:cNvSpPr txBox="1"/>
            <p:nvPr/>
          </p:nvSpPr>
          <p:spPr>
            <a:xfrm>
              <a:off x="4563618" y="1460182"/>
              <a:ext cx="54923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k-NN</a:t>
              </a:r>
            </a:p>
          </p:txBody>
        </p:sp>
        <p:sp>
          <p:nvSpPr>
            <p:cNvPr id="15" name="TextBox 15"/>
            <p:cNvSpPr txBox="1"/>
            <p:nvPr/>
          </p:nvSpPr>
          <p:spPr>
            <a:xfrm>
              <a:off x="4556760" y="1790700"/>
              <a:ext cx="1196626" cy="586740"/>
            </a:xfrm>
            <a:prstGeom prst="rect">
              <a:avLst/>
            </a:prstGeom>
            <a:noFill/>
            <a:ln>
              <a:noFill/>
            </a:ln>
          </p:spPr>
          <p:txBody>
            <a:bodyPr wrap="none" lIns="0" tIns="0" rIns="0" bIns="0" anchor="t" anchorCtr="0">
              <a:spAutoFit/>
            </a:bodyPr>
            <a:lstStyle/>
            <a:p>
              <a:pPr algn="l"/>
              <a:r>
                <a:rPr lang="tr-TR" sz="3000" b="1" dirty="0">
                  <a:solidFill>
                    <a:srgbClr val="12355B"/>
                  </a:solidFill>
                  <a:latin typeface="+mn-lt"/>
                  <a:ea typeface="+mn-ea"/>
                  <a:cs typeface="+mn-cs"/>
                </a:rPr>
                <a:t>0.789</a:t>
              </a:r>
            </a:p>
          </p:txBody>
        </p:sp>
        <p:sp>
          <p:nvSpPr>
            <p:cNvPr id="16" name="TextBox 16"/>
            <p:cNvSpPr txBox="1"/>
            <p:nvPr/>
          </p:nvSpPr>
          <p:spPr>
            <a:xfrm>
              <a:off x="4566285" y="2259806"/>
              <a:ext cx="151917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n_neighbors=7, öklid</a:t>
              </a:r>
            </a:p>
          </p:txBody>
        </p:sp>
        <p:sp>
          <p:nvSpPr>
            <p:cNvPr id="17" name="TextBox 17"/>
            <p:cNvSpPr txBox="1"/>
            <p:nvPr/>
          </p:nvSpPr>
          <p:spPr>
            <a:xfrm>
              <a:off x="4566285" y="2469356"/>
              <a:ext cx="194888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ölçeklenmiş veriyle eğitildi</a:t>
              </a:r>
            </a:p>
          </p:txBody>
        </p:sp>
      </p:grpSp>
      <p:grpSp>
        <p:nvGrpSpPr>
          <p:cNvPr id="24" name="result-nb"/>
          <p:cNvGrpSpPr/>
          <p:nvPr/>
        </p:nvGrpSpPr>
        <p:grpSpPr>
          <a:xfrm>
            <a:off x="8077200" y="1257300"/>
            <a:ext cx="3505200" cy="1905000"/>
            <a:chOff x="8077200" y="1257300"/>
            <a:chExt cx="3505200" cy="1905000"/>
          </a:xfrm>
        </p:grpSpPr>
        <p:sp>
          <p:nvSpPr>
            <p:cNvPr id="19" name="Rectangle 19"/>
            <p:cNvSpPr/>
            <p:nvPr/>
          </p:nvSpPr>
          <p:spPr>
            <a:xfrm>
              <a:off x="8077200" y="1257300"/>
              <a:ext cx="3505200" cy="1905000"/>
            </a:xfrm>
            <a:prstGeom prst="roundRect">
              <a:avLst>
                <a:gd name="adj" fmla="val 5000"/>
              </a:avLst>
            </a:prstGeom>
            <a:solidFill>
              <a:srgbClr val="FFFFFF"/>
            </a:solidFill>
            <a:ln w="14288">
              <a:solidFill>
                <a:srgbClr val="B8CBD3"/>
              </a:solidFill>
            </a:ln>
          </p:spPr>
        </p:sp>
        <p:sp>
          <p:nvSpPr>
            <p:cNvPr id="20" name="TextBox 20"/>
            <p:cNvSpPr txBox="1"/>
            <p:nvPr/>
          </p:nvSpPr>
          <p:spPr>
            <a:xfrm>
              <a:off x="8297418" y="1460182"/>
              <a:ext cx="1325840"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Naive Bayes</a:t>
              </a:r>
            </a:p>
          </p:txBody>
        </p:sp>
        <p:sp>
          <p:nvSpPr>
            <p:cNvPr id="21" name="TextBox 21"/>
            <p:cNvSpPr txBox="1"/>
            <p:nvPr/>
          </p:nvSpPr>
          <p:spPr>
            <a:xfrm>
              <a:off x="8290560" y="1790700"/>
              <a:ext cx="1196626" cy="586740"/>
            </a:xfrm>
            <a:prstGeom prst="rect">
              <a:avLst/>
            </a:prstGeom>
            <a:noFill/>
            <a:ln>
              <a:noFill/>
            </a:ln>
          </p:spPr>
          <p:txBody>
            <a:bodyPr wrap="none" lIns="0" tIns="0" rIns="0" bIns="0" anchor="t" anchorCtr="0">
              <a:spAutoFit/>
            </a:bodyPr>
            <a:lstStyle/>
            <a:p>
              <a:pPr algn="l"/>
              <a:r>
                <a:rPr lang="tr-TR" sz="3000" b="1" dirty="0">
                  <a:solidFill>
                    <a:srgbClr val="12355B"/>
                  </a:solidFill>
                  <a:latin typeface="+mn-lt"/>
                  <a:ea typeface="+mn-ea"/>
                  <a:cs typeface="+mn-cs"/>
                </a:rPr>
                <a:t>0.744</a:t>
              </a:r>
            </a:p>
          </p:txBody>
        </p:sp>
        <p:sp>
          <p:nvSpPr>
            <p:cNvPr id="22" name="TextBox 22"/>
            <p:cNvSpPr txBox="1"/>
            <p:nvPr/>
          </p:nvSpPr>
          <p:spPr>
            <a:xfrm>
              <a:off x="8300085" y="2259806"/>
              <a:ext cx="81643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GaussianNB</a:t>
              </a:r>
            </a:p>
          </p:txBody>
        </p:sp>
        <p:sp>
          <p:nvSpPr>
            <p:cNvPr id="23" name="TextBox 23"/>
            <p:cNvSpPr txBox="1"/>
            <p:nvPr/>
          </p:nvSpPr>
          <p:spPr>
            <a:xfrm>
              <a:off x="8300085" y="2469356"/>
              <a:ext cx="139855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ham veriyle eğitildi</a:t>
              </a:r>
            </a:p>
          </p:txBody>
        </p:sp>
      </p:grpSp>
      <p:grpSp>
        <p:nvGrpSpPr>
          <p:cNvPr id="26" name="interpretation"/>
          <p:cNvGrpSpPr/>
          <p:nvPr/>
        </p:nvGrpSpPr>
        <p:grpSpPr>
          <a:xfrm>
            <a:off x="601599" y="3487579"/>
            <a:ext cx="9336659" cy="879538"/>
            <a:chOff x="601599" y="3487579"/>
            <a:chExt cx="9336659" cy="879538"/>
          </a:xfrm>
        </p:grpSpPr>
        <p:sp>
          <p:nvSpPr>
            <p:cNvPr id="25" name="TextBox 25"/>
            <p:cNvSpPr txBox="1"/>
            <p:nvPr/>
          </p:nvSpPr>
          <p:spPr>
            <a:xfrm>
              <a:off x="601599" y="3487579"/>
              <a:ext cx="9336659"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Bu sonuç, hiçbir algoritmanın evrensel olarak üstün olmadığını somutlaştırır: karar ağacı ve</a:t>
              </a:r>
              <a:br/>
              <a:r>
                <a:rPr lang="tr-TR" sz="1580" dirty="0">
                  <a:solidFill>
                    <a:srgbClr val="172B3A"/>
                  </a:solidFill>
                  <a:latin typeface="+mn-lt"/>
                  <a:ea typeface="+mn-ea"/>
                  <a:cs typeface="+mn-cs"/>
                </a:rPr>
                <a:t>k-NN bu veri kümesinde eşit performans gösterirken, Naive Bayes'in koşullu bağımsızlık</a:t>
              </a:r>
              <a:br/>
              <a:r>
                <a:rPr lang="tr-TR" sz="1580" dirty="0">
                  <a:solidFill>
                    <a:srgbClr val="172B3A"/>
                  </a:solidFill>
                  <a:latin typeface="+mn-lt"/>
                  <a:ea typeface="+mn-ea"/>
                  <a:cs typeface="+mn-cs"/>
                </a:rPr>
                <a:t>varsayımı, üç öznitelik arasındaki etkileşimi (sözleşme × fatura × şikâyet) tam yakalayamaz.</a:t>
              </a:r>
            </a:p>
          </p:txBody>
        </p:sp>
      </p:grpSp>
      <p:grpSp>
        <p:nvGrpSpPr>
          <p:cNvPr id="31" name="capstone-note"/>
          <p:cNvGrpSpPr/>
          <p:nvPr/>
        </p:nvGrpSpPr>
        <p:grpSpPr>
          <a:xfrm>
            <a:off x="609600" y="4953000"/>
            <a:ext cx="10972800" cy="952500"/>
            <a:chOff x="609600" y="4953000"/>
            <a:chExt cx="10972800" cy="952500"/>
          </a:xfrm>
        </p:grpSpPr>
        <p:sp>
          <p:nvSpPr>
            <p:cNvPr id="27" name="Rectangle 27"/>
            <p:cNvSpPr/>
            <p:nvPr/>
          </p:nvSpPr>
          <p:spPr>
            <a:xfrm>
              <a:off x="609600" y="4953000"/>
              <a:ext cx="10972800" cy="952500"/>
            </a:xfrm>
            <a:prstGeom prst="roundRect">
              <a:avLst>
                <a:gd name="adj" fmla="val 8000"/>
              </a:avLst>
            </a:prstGeom>
            <a:solidFill>
              <a:srgbClr val="EAF4F6"/>
            </a:solidFill>
            <a:ln>
              <a:noFill/>
            </a:ln>
          </p:spPr>
        </p:sp>
        <p:sp>
          <p:nvSpPr>
            <p:cNvPr id="28" name="TextBox 28"/>
            <p:cNvSpPr txBox="1"/>
            <p:nvPr/>
          </p:nvSpPr>
          <p:spPr>
            <a:xfrm>
              <a:off x="907542" y="5112068"/>
              <a:ext cx="294354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Capstone katkısı — Telco Churn</a:t>
              </a:r>
            </a:p>
          </p:txBody>
        </p:sp>
        <p:sp>
          <p:nvSpPr>
            <p:cNvPr id="29" name="TextBox 29"/>
            <p:cNvSpPr txBox="1"/>
            <p:nvPr/>
          </p:nvSpPr>
          <p:spPr>
            <a:xfrm>
              <a:off x="908304" y="5375910"/>
              <a:ext cx="77426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ChurnSiniflandiriciKarsilastirici'yi gerçek Telco Churn verinize uygulayın, en dengeli sonucu veren</a:t>
              </a:r>
            </a:p>
          </p:txBody>
        </p:sp>
        <p:sp>
          <p:nvSpPr>
            <p:cNvPr id="30" name="TextBox 30"/>
            <p:cNvSpPr txBox="1"/>
            <p:nvPr/>
          </p:nvSpPr>
          <p:spPr>
            <a:xfrm>
              <a:off x="908304" y="5585460"/>
              <a:ext cx="73115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modeli bir referans model (baseline) olarak kaydedin — Bölüm 6'nın başlangıç noktası budur.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24</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9030090" cy="668845"/>
            <a:chOff x="609600" y="171450"/>
            <a:chExt cx="9030090" cy="668845"/>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83397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Sınıf dengesizliğinin üç algoritmaya etkisi</a:t>
              </a:r>
            </a:p>
          </p:txBody>
        </p:sp>
      </p:grpSp>
      <p:grpSp>
        <p:nvGrpSpPr>
          <p:cNvPr id="20" name="imbalance-intro"/>
          <p:cNvGrpSpPr/>
          <p:nvPr/>
        </p:nvGrpSpPr>
        <p:grpSpPr>
          <a:xfrm>
            <a:off x="602742" y="1263968"/>
            <a:ext cx="11342276" cy="264033"/>
            <a:chOff x="602742" y="1263968"/>
            <a:chExt cx="11342276" cy="264033"/>
          </a:xfrm>
        </p:grpSpPr>
        <p:sp>
          <p:nvSpPr>
            <p:cNvPr id="19" name="TextBox 19"/>
            <p:cNvSpPr txBox="1"/>
            <p:nvPr/>
          </p:nvSpPr>
          <p:spPr>
            <a:xfrm>
              <a:off x="602742" y="1263968"/>
              <a:ext cx="1134227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Gerçek churn verisinde ayrılan müşteriler genellikle azınlıktır (ör. %5-10) — bu bölümdeki dengeli örnekler öğretim amaçlıdır.</a:t>
              </a:r>
            </a:p>
          </p:txBody>
        </p:sp>
      </p:grpSp>
      <p:grpSp>
        <p:nvGrpSpPr>
          <p:cNvPr id="29" name="imb-tree"/>
          <p:cNvGrpSpPr/>
          <p:nvPr/>
        </p:nvGrpSpPr>
        <p:grpSpPr>
          <a:xfrm>
            <a:off x="609600" y="1809750"/>
            <a:ext cx="5257800" cy="2000250"/>
            <a:chOff x="609600" y="1809750"/>
            <a:chExt cx="5257800" cy="2000250"/>
          </a:xfrm>
        </p:grpSpPr>
        <p:sp>
          <p:nvSpPr>
            <p:cNvPr id="21" name="Rectangle 21"/>
            <p:cNvSpPr/>
            <p:nvPr/>
          </p:nvSpPr>
          <p:spPr>
            <a:xfrm>
              <a:off x="609600" y="1809750"/>
              <a:ext cx="5257800" cy="2000250"/>
            </a:xfrm>
            <a:prstGeom prst="roundRect">
              <a:avLst>
                <a:gd name="adj" fmla="val 4762"/>
              </a:avLst>
            </a:prstGeom>
            <a:solidFill>
              <a:srgbClr val="FFFFFF"/>
            </a:solidFill>
            <a:ln w="14288">
              <a:solidFill>
                <a:srgbClr val="2E86AB"/>
              </a:solidFill>
            </a:ln>
          </p:spPr>
        </p:sp>
        <p:sp>
          <p:nvSpPr>
            <p:cNvPr id="22" name="TextBox 22"/>
            <p:cNvSpPr txBox="1"/>
            <p:nvPr/>
          </p:nvSpPr>
          <p:spPr>
            <a:xfrm>
              <a:off x="830580" y="1952625"/>
              <a:ext cx="1601715"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Karar ağacında</a:t>
              </a:r>
            </a:p>
          </p:txBody>
        </p:sp>
        <p:sp>
          <p:nvSpPr>
            <p:cNvPr id="23" name="TextBox 23"/>
            <p:cNvSpPr txBox="1"/>
            <p:nvPr/>
          </p:nvSpPr>
          <p:spPr>
            <a:xfrm>
              <a:off x="832104" y="2270760"/>
              <a:ext cx="27665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%95 kalan – %5 ayrılan bir düğümün</a:t>
              </a:r>
            </a:p>
          </p:txBody>
        </p:sp>
        <p:sp>
          <p:nvSpPr>
            <p:cNvPr id="24" name="TextBox 24"/>
            <p:cNvSpPr txBox="1"/>
            <p:nvPr/>
          </p:nvSpPr>
          <p:spPr>
            <a:xfrm>
              <a:off x="832104" y="2480310"/>
              <a:ext cx="31046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Gini'si zaten ≈0.095 — düğüm neredeyse</a:t>
              </a:r>
            </a:p>
          </p:txBody>
        </p:sp>
        <p:sp>
          <p:nvSpPr>
            <p:cNvPr id="25" name="TextBox 25"/>
            <p:cNvSpPr txBox="1"/>
            <p:nvPr/>
          </p:nvSpPr>
          <p:spPr>
            <a:xfrm>
              <a:off x="832104" y="2689860"/>
              <a:ext cx="31784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bölünmeden de "yeterince saf" görünür.</a:t>
              </a:r>
            </a:p>
          </p:txBody>
        </p:sp>
        <p:sp>
          <p:nvSpPr>
            <p:cNvPr id="26" name="TextBox 26"/>
            <p:cNvSpPr txBox="1"/>
            <p:nvPr/>
          </p:nvSpPr>
          <p:spPr>
            <a:xfrm>
              <a:off x="832104" y="2899410"/>
              <a:ext cx="27478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Ağaç, azınlık sınıfını ayırt eden</a:t>
              </a:r>
            </a:p>
          </p:txBody>
        </p:sp>
        <p:sp>
          <p:nvSpPr>
            <p:cNvPr id="27" name="TextBox 27"/>
            <p:cNvSpPr txBox="1"/>
            <p:nvPr/>
          </p:nvSpPr>
          <p:spPr>
            <a:xfrm>
              <a:off x="832104" y="3108960"/>
              <a:ext cx="33238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bölünmeleri aramaya daha az teşvik edilir.</a:t>
              </a:r>
            </a:p>
          </p:txBody>
        </p:sp>
        <p:sp>
          <p:nvSpPr>
            <p:cNvPr id="28" name="TextBox 28"/>
            <p:cNvSpPr txBox="1"/>
            <p:nvPr/>
          </p:nvSpPr>
          <p:spPr>
            <a:xfrm>
              <a:off x="832485" y="3421856"/>
              <a:ext cx="487919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Sığ/agresif budanmış ağaç, çoğunluğu tahmin etmeyi "ucuz" bulur</a:t>
              </a:r>
            </a:p>
          </p:txBody>
        </p:sp>
      </p:grpSp>
      <p:grpSp>
        <p:nvGrpSpPr>
          <p:cNvPr id="38" name="imb-knn"/>
          <p:cNvGrpSpPr/>
          <p:nvPr/>
        </p:nvGrpSpPr>
        <p:grpSpPr>
          <a:xfrm>
            <a:off x="6324600" y="1809750"/>
            <a:ext cx="5257800" cy="2000250"/>
            <a:chOff x="6324600" y="1809750"/>
            <a:chExt cx="5257800" cy="2000250"/>
          </a:xfrm>
        </p:grpSpPr>
        <p:sp>
          <p:nvSpPr>
            <p:cNvPr id="30" name="Rectangle 30"/>
            <p:cNvSpPr/>
            <p:nvPr/>
          </p:nvSpPr>
          <p:spPr>
            <a:xfrm>
              <a:off x="6324600" y="1809750"/>
              <a:ext cx="5257800" cy="2000250"/>
            </a:xfrm>
            <a:prstGeom prst="roundRect">
              <a:avLst>
                <a:gd name="adj" fmla="val 4762"/>
              </a:avLst>
            </a:prstGeom>
            <a:solidFill>
              <a:srgbClr val="FFFFFF"/>
            </a:solidFill>
            <a:ln w="14288">
              <a:solidFill>
                <a:srgbClr val="2E86AB"/>
              </a:solidFill>
            </a:ln>
          </p:spPr>
        </p:sp>
        <p:sp>
          <p:nvSpPr>
            <p:cNvPr id="31" name="TextBox 31"/>
            <p:cNvSpPr txBox="1"/>
            <p:nvPr/>
          </p:nvSpPr>
          <p:spPr>
            <a:xfrm>
              <a:off x="6545580" y="1952625"/>
              <a:ext cx="85002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k-NN'de</a:t>
              </a:r>
            </a:p>
          </p:txBody>
        </p:sp>
        <p:sp>
          <p:nvSpPr>
            <p:cNvPr id="32" name="TextBox 32"/>
            <p:cNvSpPr txBox="1"/>
            <p:nvPr/>
          </p:nvSpPr>
          <p:spPr>
            <a:xfrm>
              <a:off x="6547104" y="2270760"/>
              <a:ext cx="30380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Gerçek bir azınlık örneği bile çoğunluk</a:t>
              </a:r>
            </a:p>
          </p:txBody>
        </p:sp>
        <p:sp>
          <p:nvSpPr>
            <p:cNvPr id="33" name="TextBox 33"/>
            <p:cNvSpPr txBox="1"/>
            <p:nvPr/>
          </p:nvSpPr>
          <p:spPr>
            <a:xfrm>
              <a:off x="6547104" y="2480310"/>
              <a:ext cx="32026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sınıfından komşularla çevrili çıkabilir —</a:t>
              </a:r>
            </a:p>
          </p:txBody>
        </p:sp>
        <p:sp>
          <p:nvSpPr>
            <p:cNvPr id="34" name="TextBox 34"/>
            <p:cNvSpPr txBox="1"/>
            <p:nvPr/>
          </p:nvSpPr>
          <p:spPr>
            <a:xfrm>
              <a:off x="6547104" y="2689860"/>
              <a:ext cx="31461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neden çoğunluğun sayıca üstünlüğü.</a:t>
              </a:r>
            </a:p>
          </p:txBody>
        </p:sp>
        <p:sp>
          <p:nvSpPr>
            <p:cNvPr id="35" name="TextBox 35"/>
            <p:cNvSpPr txBox="1"/>
            <p:nvPr/>
          </p:nvSpPr>
          <p:spPr>
            <a:xfrm>
              <a:off x="6547104" y="2899410"/>
              <a:ext cx="28521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Sınır bölgesindeki azınlık örnekleri</a:t>
              </a:r>
            </a:p>
          </p:txBody>
        </p:sp>
        <p:sp>
          <p:nvSpPr>
            <p:cNvPr id="36" name="TextBox 36"/>
            <p:cNvSpPr txBox="1"/>
            <p:nvPr/>
          </p:nvSpPr>
          <p:spPr>
            <a:xfrm>
              <a:off x="6547104" y="3108960"/>
              <a:ext cx="27826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sistematik yanlış sınıflandırılır.</a:t>
              </a:r>
            </a:p>
          </p:txBody>
        </p:sp>
        <p:sp>
          <p:nvSpPr>
            <p:cNvPr id="37" name="TextBox 37"/>
            <p:cNvSpPr txBox="1"/>
            <p:nvPr/>
          </p:nvSpPr>
          <p:spPr>
            <a:xfrm>
              <a:off x="6547485" y="3421856"/>
              <a:ext cx="295907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 büyüdükçe bu etki daha da belirginleşir</a:t>
              </a:r>
            </a:p>
          </p:txBody>
        </p:sp>
      </p:grpSp>
      <p:grpSp>
        <p:nvGrpSpPr>
          <p:cNvPr id="45" name="imb-nb"/>
          <p:cNvGrpSpPr/>
          <p:nvPr/>
        </p:nvGrpSpPr>
        <p:grpSpPr>
          <a:xfrm>
            <a:off x="609600" y="4038600"/>
            <a:ext cx="10972800" cy="1447800"/>
            <a:chOff x="609600" y="4038600"/>
            <a:chExt cx="10972800" cy="1447800"/>
          </a:xfrm>
        </p:grpSpPr>
        <p:sp>
          <p:nvSpPr>
            <p:cNvPr id="39" name="Rectangle 39"/>
            <p:cNvSpPr/>
            <p:nvPr/>
          </p:nvSpPr>
          <p:spPr>
            <a:xfrm>
              <a:off x="609600" y="4038600"/>
              <a:ext cx="10972800" cy="1447800"/>
            </a:xfrm>
            <a:prstGeom prst="roundRect">
              <a:avLst>
                <a:gd name="adj" fmla="val 6579"/>
              </a:avLst>
            </a:prstGeom>
            <a:solidFill>
              <a:srgbClr val="EAF4F6"/>
            </a:solidFill>
            <a:ln>
              <a:noFill/>
            </a:ln>
          </p:spPr>
        </p:sp>
        <p:sp>
          <p:nvSpPr>
            <p:cNvPr id="40" name="TextBox 40"/>
            <p:cNvSpPr txBox="1"/>
            <p:nvPr/>
          </p:nvSpPr>
          <p:spPr>
            <a:xfrm>
              <a:off x="906780" y="4181475"/>
              <a:ext cx="1556233"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Naive Bayes'te</a:t>
              </a:r>
            </a:p>
          </p:txBody>
        </p:sp>
        <p:sp>
          <p:nvSpPr>
            <p:cNvPr id="41" name="TextBox 41"/>
            <p:cNvSpPr txBox="1"/>
            <p:nvPr/>
          </p:nvSpPr>
          <p:spPr>
            <a:xfrm>
              <a:off x="908304" y="4499610"/>
              <a:ext cx="85683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Öncül olasılık P(y) doğrudan eğitim verisindeki sınıf frekansından tahmin edilir (class_prior_) ve olabilirlik</a:t>
              </a:r>
            </a:p>
          </p:txBody>
        </p:sp>
        <p:sp>
          <p:nvSpPr>
            <p:cNvPr id="42" name="TextBox 42"/>
            <p:cNvSpPr txBox="1"/>
            <p:nvPr/>
          </p:nvSpPr>
          <p:spPr>
            <a:xfrm>
              <a:off x="908304" y="4709160"/>
              <a:ext cx="80469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terimiyle çarpılarak sonsal olasılığa yansır. Çarpık dağılımda (ör. %90/%10) azınlık sınıfı baştan</a:t>
              </a:r>
            </a:p>
          </p:txBody>
        </p:sp>
        <p:sp>
          <p:nvSpPr>
            <p:cNvPr id="43" name="TextBox 43"/>
            <p:cNvSpPr txBox="1"/>
            <p:nvPr/>
          </p:nvSpPr>
          <p:spPr>
            <a:xfrm>
              <a:off x="908304" y="4918710"/>
              <a:ext cx="82267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dezavantajlıdır — özniteliklerin kanıtı orantısız derecede güçlü olmalıdır ki azınlık sınıf öne çıksın.</a:t>
              </a:r>
            </a:p>
          </p:txBody>
        </p:sp>
        <p:sp>
          <p:nvSpPr>
            <p:cNvPr id="44" name="TextBox 44"/>
            <p:cNvSpPr txBox="1"/>
            <p:nvPr/>
          </p:nvSpPr>
          <p:spPr>
            <a:xfrm>
              <a:off x="908685" y="5193506"/>
              <a:ext cx="1008763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Ortak sonuç: sadece accuracy'ye bakmak yanıltıcıdır — bu üç kırılganlığın çözümü Bölüm 11'de (Dengesiz Veri ve Tuzaklar) ele alınır.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24</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19696" cy="668845"/>
            <a:chOff x="609600" y="171450"/>
            <a:chExt cx="741969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7293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sık hatalar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scaling"/>
          <p:cNvGrpSpPr/>
          <p:nvPr/>
        </p:nvGrpSpPr>
        <p:grpSpPr>
          <a:xfrm>
            <a:off x="609600" y="1849279"/>
            <a:ext cx="10972800" cy="1313021"/>
            <a:chOff x="609600" y="1849279"/>
            <a:chExt cx="10972800" cy="1313021"/>
          </a:xfrm>
        </p:grpSpPr>
        <p:sp>
          <p:nvSpPr>
            <p:cNvPr id="17" name="TextBox 17"/>
            <p:cNvSpPr txBox="1"/>
            <p:nvPr/>
          </p:nvSpPr>
          <p:spPr>
            <a:xfrm>
              <a:off x="753999" y="1849279"/>
              <a:ext cx="2365229"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"Karar ağacına da</a:t>
              </a:r>
              <a:br/>
              <a:r>
                <a:rPr lang="tr-TR" sz="1580" b="1" dirty="0">
                  <a:solidFill>
                    <a:srgbClr val="12355B"/>
                  </a:solidFill>
                  <a:latin typeface="+mn-lt"/>
                  <a:ea typeface="+mn-ea"/>
                  <a:cs typeface="+mn-cs"/>
                </a:rPr>
                <a:t>ölçekleme yapmalıyım,</a:t>
              </a:r>
              <a:br/>
              <a:r>
                <a:rPr lang="tr-TR" sz="1580" b="1" dirty="0">
                  <a:solidFill>
                    <a:srgbClr val="12355B"/>
                  </a:solidFill>
                  <a:latin typeface="+mn-lt"/>
                  <a:ea typeface="+mn-ea"/>
                  <a:cs typeface="+mn-cs"/>
                </a:rPr>
                <a:t>yoksa yanlış çalışır."</a:t>
              </a:r>
            </a:p>
          </p:txBody>
        </p:sp>
        <p:sp>
          <p:nvSpPr>
            <p:cNvPr id="18" name="TextBox 18"/>
            <p:cNvSpPr txBox="1"/>
            <p:nvPr/>
          </p:nvSpPr>
          <p:spPr>
            <a:xfrm>
              <a:off x="4375404" y="1889760"/>
              <a:ext cx="28239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Ağaç her özniteliği bağımsız bir eşik</a:t>
              </a:r>
              <a:br/>
              <a:r>
                <a:rPr lang="tr-TR" sz="1200" dirty="0">
                  <a:solidFill>
                    <a:srgbClr val="172B3A"/>
                  </a:solidFill>
                  <a:latin typeface="+mn-lt"/>
                  <a:ea typeface="+mn-ea"/>
                  <a:cs typeface="+mn-cs"/>
                </a:rPr>
                <a:t>değerine göre böler; öznitelik 0-1 mi</a:t>
              </a:r>
              <a:br/>
              <a:r>
                <a:rPr lang="tr-TR" sz="1200" dirty="0">
                  <a:solidFill>
                    <a:srgbClr val="172B3A"/>
                  </a:solidFill>
                  <a:latin typeface="+mn-lt"/>
                  <a:ea typeface="+mn-ea"/>
                  <a:cs typeface="+mn-cs"/>
                </a:rPr>
                <a:t>0-100.000 mi olduğu eşik seçimini</a:t>
              </a:r>
              <a:br/>
              <a:r>
                <a:rPr lang="tr-TR" sz="1200" dirty="0">
                  <a:solidFill>
                    <a:srgbClr val="172B3A"/>
                  </a:solidFill>
                  <a:latin typeface="+mn-lt"/>
                  <a:ea typeface="+mn-ea"/>
                  <a:cs typeface="+mn-cs"/>
                </a:rPr>
                <a:t>etkilemez. Zararsız ama gereksizdir.</a:t>
              </a:r>
            </a:p>
          </p:txBody>
        </p:sp>
        <p:sp>
          <p:nvSpPr>
            <p:cNvPr id="19" name="TextBox 19"/>
            <p:cNvSpPr txBox="1"/>
            <p:nvPr/>
          </p:nvSpPr>
          <p:spPr>
            <a:xfrm>
              <a:off x="8185404" y="1889760"/>
              <a:ext cx="25039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Karar ağacını ham veriyle eğitin;</a:t>
              </a:r>
              <a:br/>
              <a:r>
                <a:rPr lang="tr-TR" sz="1200" dirty="0">
                  <a:solidFill>
                    <a:srgbClr val="172B3A"/>
                  </a:solidFill>
                  <a:latin typeface="+mn-lt"/>
                  <a:ea typeface="+mn-ea"/>
                  <a:cs typeface="+mn-cs"/>
                </a:rPr>
                <a:t>ölçeklendirmeyi yalnızca mesafe</a:t>
              </a:r>
              <a:br/>
              <a:r>
                <a:rPr lang="tr-TR" sz="1200" dirty="0">
                  <a:solidFill>
                    <a:srgbClr val="172B3A"/>
                  </a:solidFill>
                  <a:latin typeface="+mn-lt"/>
                  <a:ea typeface="+mn-ea"/>
                  <a:cs typeface="+mn-cs"/>
                </a:rPr>
                <a:t>tabanlı k-NN gibi algoritmalar</a:t>
              </a:r>
              <a:br/>
              <a:r>
                <a:rPr lang="tr-TR" sz="1200" dirty="0">
                  <a:solidFill>
                    <a:srgbClr val="172B3A"/>
                  </a:solidFill>
                  <a:latin typeface="+mn-lt"/>
                  <a:ea typeface="+mn-ea"/>
                  <a:cs typeface="+mn-cs"/>
                </a:rPr>
                <a:t>için saklayın.</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gini"/>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1954378"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"Gini 0.48 olduğuna</a:t>
              </a:r>
              <a:br/>
              <a:r>
                <a:rPr lang="tr-TR" sz="1580" b="1" dirty="0">
                  <a:solidFill>
                    <a:srgbClr val="12355B"/>
                  </a:solidFill>
                  <a:latin typeface="+mn-lt"/>
                  <a:ea typeface="+mn-ea"/>
                  <a:cs typeface="+mn-cs"/>
                </a:rPr>
                <a:t>göre model %48</a:t>
              </a:r>
              <a:br/>
              <a:r>
                <a:rPr lang="tr-TR" sz="1580" b="1" dirty="0">
                  <a:solidFill>
                    <a:srgbClr val="12355B"/>
                  </a:solidFill>
                  <a:latin typeface="+mn-lt"/>
                  <a:ea typeface="+mn-ea"/>
                  <a:cs typeface="+mn-cs"/>
                </a:rPr>
                <a:t>başarılıdır."</a:t>
              </a:r>
            </a:p>
          </p:txBody>
        </p:sp>
        <p:sp>
          <p:nvSpPr>
            <p:cNvPr id="24" name="TextBox 24"/>
            <p:cNvSpPr txBox="1"/>
            <p:nvPr/>
          </p:nvSpPr>
          <p:spPr>
            <a:xfrm>
              <a:off x="4375404" y="3337560"/>
              <a:ext cx="30068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Gini/entropi bir impurity (karışıklık)</a:t>
              </a:r>
              <a:br/>
              <a:r>
                <a:rPr lang="tr-TR" sz="1200" dirty="0">
                  <a:solidFill>
                    <a:srgbClr val="172B3A"/>
                  </a:solidFill>
                  <a:latin typeface="+mn-lt"/>
                  <a:ea typeface="+mn-ea"/>
                  <a:cs typeface="+mn-cs"/>
                </a:rPr>
                <a:t>ölçüsüdür, doğruluk (accuracy) metriği</a:t>
              </a:r>
              <a:br/>
              <a:r>
                <a:rPr lang="tr-TR" sz="1200" dirty="0">
                  <a:solidFill>
                    <a:srgbClr val="172B3A"/>
                  </a:solidFill>
                  <a:latin typeface="+mn-lt"/>
                  <a:ea typeface="+mn-ea"/>
                  <a:cs typeface="+mn-cs"/>
                </a:rPr>
                <a:t>değildir. Bir düğümün saflığını, modelin</a:t>
              </a:r>
              <a:br/>
              <a:r>
                <a:rPr lang="tr-TR" sz="1200" dirty="0">
                  <a:solidFill>
                    <a:srgbClr val="172B3A"/>
                  </a:solidFill>
                  <a:latin typeface="+mn-lt"/>
                  <a:ea typeface="+mn-ea"/>
                  <a:cs typeface="+mn-cs"/>
                </a:rPr>
                <a:t>genel başarısını değil ölçer.</a:t>
              </a:r>
            </a:p>
          </p:txBody>
        </p:sp>
        <p:sp>
          <p:nvSpPr>
            <p:cNvPr id="25" name="TextBox 25"/>
            <p:cNvSpPr txBox="1"/>
            <p:nvPr/>
          </p:nvSpPr>
          <p:spPr>
            <a:xfrm>
              <a:off x="8185404" y="3337560"/>
              <a:ext cx="25572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Gini/entropi'yi saflık göstergesi,</a:t>
              </a:r>
              <a:br/>
              <a:r>
                <a:rPr lang="tr-TR" sz="1200" dirty="0">
                  <a:solidFill>
                    <a:srgbClr val="172B3A"/>
                  </a:solidFill>
                  <a:latin typeface="+mn-lt"/>
                  <a:ea typeface="+mn-ea"/>
                  <a:cs typeface="+mn-cs"/>
                </a:rPr>
                <a:t>accuracy_score'u ayrı bir başarı</a:t>
              </a:r>
              <a:br/>
              <a:r>
                <a:rPr lang="tr-TR" sz="1200" dirty="0">
                  <a:solidFill>
                    <a:srgbClr val="172B3A"/>
                  </a:solidFill>
                  <a:latin typeface="+mn-lt"/>
                  <a:ea typeface="+mn-ea"/>
                  <a:cs typeface="+mn-cs"/>
                </a:rPr>
                <a:t>metriği olarak raporlayın — ikisini</a:t>
              </a:r>
              <a:br/>
              <a:r>
                <a:rPr lang="tr-TR" sz="1200" dirty="0">
                  <a:solidFill>
                    <a:srgbClr val="172B3A"/>
                  </a:solidFill>
                  <a:latin typeface="+mn-lt"/>
                  <a:ea typeface="+mn-ea"/>
                  <a:cs typeface="+mn-cs"/>
                </a:rPr>
                <a:t>birbirine karıştırmayın.</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proba"/>
          <p:cNvGrpSpPr/>
          <p:nvPr/>
        </p:nvGrpSpPr>
        <p:grpSpPr>
          <a:xfrm>
            <a:off x="753999" y="4744879"/>
            <a:ext cx="10224897" cy="903827"/>
            <a:chOff x="753999" y="4744879"/>
            <a:chExt cx="10224897" cy="903827"/>
          </a:xfrm>
        </p:grpSpPr>
        <p:sp>
          <p:nvSpPr>
            <p:cNvPr id="28" name="TextBox 28"/>
            <p:cNvSpPr txBox="1"/>
            <p:nvPr/>
          </p:nvSpPr>
          <p:spPr>
            <a:xfrm>
              <a:off x="753999" y="4744879"/>
              <a:ext cx="2249348"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"predict_proba, %99</a:t>
              </a:r>
              <a:br/>
              <a:r>
                <a:rPr lang="tr-TR" sz="1580" b="1" dirty="0">
                  <a:solidFill>
                    <a:srgbClr val="12355B"/>
                  </a:solidFill>
                  <a:latin typeface="+mn-lt"/>
                  <a:ea typeface="+mn-ea"/>
                  <a:cs typeface="+mn-cs"/>
                </a:rPr>
                <a:t>dedi; bu müşteri</a:t>
              </a:r>
              <a:br/>
              <a:r>
                <a:rPr lang="tr-TR" sz="1580" b="1" dirty="0">
                  <a:solidFill>
                    <a:srgbClr val="12355B"/>
                  </a:solidFill>
                  <a:latin typeface="+mn-lt"/>
                  <a:ea typeface="+mn-ea"/>
                  <a:cs typeface="+mn-cs"/>
                </a:rPr>
                <a:t>kesinlikle ayrılacak."</a:t>
              </a:r>
            </a:p>
          </p:txBody>
        </p:sp>
        <p:sp>
          <p:nvSpPr>
            <p:cNvPr id="29" name="TextBox 29"/>
            <p:cNvSpPr txBox="1"/>
            <p:nvPr/>
          </p:nvSpPr>
          <p:spPr>
            <a:xfrm>
              <a:off x="4375404" y="4785360"/>
              <a:ext cx="31287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Bağımsızlık varsayımının ihlali, olasılık</a:t>
              </a:r>
              <a:br/>
              <a:r>
                <a:rPr lang="tr-TR" sz="1200" dirty="0">
                  <a:solidFill>
                    <a:srgbClr val="172B3A"/>
                  </a:solidFill>
                  <a:latin typeface="+mn-lt"/>
                  <a:ea typeface="+mn-ea"/>
                  <a:cs typeface="+mn-cs"/>
                </a:rPr>
                <a:t>değerlerinin genellikle iyi kalibre</a:t>
              </a:r>
              <a:br/>
              <a:r>
                <a:rPr lang="tr-TR" sz="1200" dirty="0">
                  <a:solidFill>
                    <a:srgbClr val="172B3A"/>
                  </a:solidFill>
                  <a:latin typeface="+mn-lt"/>
                  <a:ea typeface="+mn-ea"/>
                  <a:cs typeface="+mn-cs"/>
                </a:rPr>
                <a:t>edilmemiş olmasına (0/1'e aşırı yakın</a:t>
              </a:r>
              <a:br/>
              <a:r>
                <a:rPr lang="tr-TR" sz="1200" dirty="0">
                  <a:solidFill>
                    <a:srgbClr val="172B3A"/>
                  </a:solidFill>
                  <a:latin typeface="+mn-lt"/>
                  <a:ea typeface="+mn-ea"/>
                  <a:cs typeface="+mn-cs"/>
                </a:rPr>
                <a:t>çıkmasına) yol açar.</a:t>
              </a:r>
            </a:p>
          </p:txBody>
        </p:sp>
        <p:sp>
          <p:nvSpPr>
            <p:cNvPr id="30" name="TextBox 30"/>
            <p:cNvSpPr txBox="1"/>
            <p:nvPr/>
          </p:nvSpPr>
          <p:spPr>
            <a:xfrm>
              <a:off x="8185404" y="4785360"/>
              <a:ext cx="27934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Olasılığı bir risk skoru/sıralama</a:t>
              </a:r>
              <a:br/>
              <a:r>
                <a:rPr lang="tr-TR" sz="1200" dirty="0">
                  <a:solidFill>
                    <a:srgbClr val="172B3A"/>
                  </a:solidFill>
                  <a:latin typeface="+mn-lt"/>
                  <a:ea typeface="+mn-ea"/>
                  <a:cs typeface="+mn-cs"/>
                </a:rPr>
                <a:t>aracı olarak kullanın; sınıflandırma</a:t>
              </a:r>
              <a:br/>
              <a:r>
                <a:rPr lang="tr-TR" sz="1200" dirty="0">
                  <a:solidFill>
                    <a:srgbClr val="172B3A"/>
                  </a:solidFill>
                  <a:latin typeface="+mn-lt"/>
                  <a:ea typeface="+mn-ea"/>
                  <a:cs typeface="+mn-cs"/>
                </a:rPr>
                <a:t>kararı genelde doğru kalsa da mutlak</a:t>
              </a:r>
              <a:br/>
              <a:r>
                <a:rPr lang="tr-TR" sz="1200" dirty="0">
                  <a:solidFill>
                    <a:srgbClr val="172B3A"/>
                  </a:solidFill>
                  <a:latin typeface="+mn-lt"/>
                  <a:ea typeface="+mn-ea"/>
                  <a:cs typeface="+mn-cs"/>
                </a:rPr>
                <a:t>değere aşırı güvenmeyin.</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24</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223822" cy="668845"/>
            <a:chOff x="609600" y="171450"/>
            <a:chExt cx="522382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453345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Kodda bulun ve düzeltin</a:t>
              </a:r>
            </a:p>
          </p:txBody>
        </p:sp>
      </p:grpSp>
      <p:grpSp>
        <p:nvGrpSpPr>
          <p:cNvPr id="16" name="bug-header"/>
          <p:cNvGrpSpPr/>
          <p:nvPr/>
        </p:nvGrpSpPr>
        <p:grpSpPr>
          <a:xfrm>
            <a:off x="609600" y="1219200"/>
            <a:ext cx="10972800" cy="342900"/>
            <a:chOff x="609600" y="1219200"/>
            <a:chExt cx="10972800" cy="342900"/>
          </a:xfrm>
        </p:grpSpPr>
        <p:sp>
          <p:nvSpPr>
            <p:cNvPr id="12" name="Rectangle 12"/>
            <p:cNvSpPr/>
            <p:nvPr/>
          </p:nvSpPr>
          <p:spPr>
            <a:xfrm>
              <a:off x="609600" y="1219200"/>
              <a:ext cx="10972800" cy="342900"/>
            </a:xfrm>
            <a:prstGeom prst="rect">
              <a:avLst/>
            </a:prstGeom>
            <a:solidFill>
              <a:srgbClr val="12355B"/>
            </a:solidFill>
            <a:ln>
              <a:noFill/>
            </a:ln>
          </p:spPr>
        </p:sp>
        <p:sp>
          <p:nvSpPr>
            <p:cNvPr id="13" name="TextBox 13"/>
            <p:cNvSpPr txBox="1"/>
            <p:nvPr/>
          </p:nvSpPr>
          <p:spPr>
            <a:xfrm>
              <a:off x="756666" y="1334452"/>
              <a:ext cx="1045411"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HATALI SATIR</a:t>
              </a:r>
            </a:p>
          </p:txBody>
        </p:sp>
        <p:sp>
          <p:nvSpPr>
            <p:cNvPr id="14" name="TextBox 14"/>
            <p:cNvSpPr txBox="1"/>
            <p:nvPr/>
          </p:nvSpPr>
          <p:spPr>
            <a:xfrm>
              <a:off x="4757166" y="1334452"/>
              <a:ext cx="515958"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SORUN</a:t>
              </a:r>
            </a:p>
          </p:txBody>
        </p:sp>
        <p:sp>
          <p:nvSpPr>
            <p:cNvPr id="15" name="TextBox 15"/>
            <p:cNvSpPr txBox="1"/>
            <p:nvPr/>
          </p:nvSpPr>
          <p:spPr>
            <a:xfrm>
              <a:off x="8186166" y="1334452"/>
              <a:ext cx="80671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DÜZELTME</a:t>
              </a:r>
            </a:p>
          </p:txBody>
        </p:sp>
      </p:grpSp>
      <p:grpSp>
        <p:nvGrpSpPr>
          <p:cNvPr id="24" name="bug-1"/>
          <p:cNvGrpSpPr/>
          <p:nvPr/>
        </p:nvGrpSpPr>
        <p:grpSpPr>
          <a:xfrm>
            <a:off x="609600" y="1745456"/>
            <a:ext cx="10972800" cy="854869"/>
            <a:chOff x="609600" y="1745456"/>
            <a:chExt cx="10972800" cy="854869"/>
          </a:xfrm>
        </p:grpSpPr>
        <p:sp>
          <p:nvSpPr>
            <p:cNvPr id="17" name="TextBox 17"/>
            <p:cNvSpPr txBox="1"/>
            <p:nvPr/>
          </p:nvSpPr>
          <p:spPr>
            <a:xfrm>
              <a:off x="756285" y="1745456"/>
              <a:ext cx="1193018"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X_test_olcekli =</a:t>
              </a:r>
            </a:p>
          </p:txBody>
        </p:sp>
        <p:sp>
          <p:nvSpPr>
            <p:cNvPr id="18" name="TextBox 18"/>
            <p:cNvSpPr txBox="1"/>
            <p:nvPr/>
          </p:nvSpPr>
          <p:spPr>
            <a:xfrm>
              <a:off x="756285" y="1935956"/>
              <a:ext cx="2594884"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olcekleyici.fit_transform(X_test)</a:t>
              </a:r>
            </a:p>
          </p:txBody>
        </p:sp>
        <p:sp>
          <p:nvSpPr>
            <p:cNvPr id="19" name="TextBox 19"/>
            <p:cNvSpPr txBox="1"/>
            <p:nvPr/>
          </p:nvSpPr>
          <p:spPr>
            <a:xfrm>
              <a:off x="4756785" y="1745456"/>
              <a:ext cx="218014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Test verisine fit_transform,</a:t>
              </a:r>
            </a:p>
          </p:txBody>
        </p:sp>
        <p:sp>
          <p:nvSpPr>
            <p:cNvPr id="20" name="TextBox 20"/>
            <p:cNvSpPr txBox="1"/>
            <p:nvPr/>
          </p:nvSpPr>
          <p:spPr>
            <a:xfrm>
              <a:off x="4756785" y="1955006"/>
              <a:ext cx="264998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veri sızıntısına (leakage) yol açar</a:t>
              </a:r>
            </a:p>
          </p:txBody>
        </p:sp>
        <p:sp>
          <p:nvSpPr>
            <p:cNvPr id="21" name="TextBox 21"/>
            <p:cNvSpPr txBox="1"/>
            <p:nvPr/>
          </p:nvSpPr>
          <p:spPr>
            <a:xfrm>
              <a:off x="8185785" y="1745456"/>
              <a:ext cx="24738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Test verisine yalnızca transform</a:t>
              </a:r>
            </a:p>
          </p:txBody>
        </p:sp>
        <p:sp>
          <p:nvSpPr>
            <p:cNvPr id="22" name="TextBox 22"/>
            <p:cNvSpPr txBox="1"/>
            <p:nvPr/>
          </p:nvSpPr>
          <p:spPr>
            <a:xfrm>
              <a:off x="8185785" y="1955006"/>
              <a:ext cx="329592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uygulanmalı: olcekleyici.transform(X_test)</a:t>
              </a:r>
            </a:p>
          </p:txBody>
        </p:sp>
        <p:sp>
          <p:nvSpPr>
            <p:cNvPr id="23" name="Line 23"/>
            <p:cNvSpPr/>
            <p:nvPr/>
          </p:nvSpPr>
          <p:spPr>
            <a:xfrm>
              <a:off x="609600" y="2590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bug-2"/>
          <p:cNvGrpSpPr/>
          <p:nvPr/>
        </p:nvGrpSpPr>
        <p:grpSpPr>
          <a:xfrm>
            <a:off x="609600" y="2590800"/>
            <a:ext cx="10972800" cy="1038225"/>
            <a:chOff x="609600" y="2590800"/>
            <a:chExt cx="10972800" cy="1038225"/>
          </a:xfrm>
        </p:grpSpPr>
        <p:sp>
          <p:nvSpPr>
            <p:cNvPr id="25" name="Rectangle 25"/>
            <p:cNvSpPr/>
            <p:nvPr/>
          </p:nvSpPr>
          <p:spPr>
            <a:xfrm>
              <a:off x="609600" y="2590800"/>
              <a:ext cx="10972800" cy="1028700"/>
            </a:xfrm>
            <a:prstGeom prst="rect">
              <a:avLst/>
            </a:prstGeom>
            <a:solidFill>
              <a:srgbClr val="EAF4F6"/>
            </a:solidFill>
            <a:ln>
              <a:noFill/>
            </a:ln>
          </p:spPr>
        </p:sp>
        <p:sp>
          <p:nvSpPr>
            <p:cNvPr id="26" name="TextBox 26"/>
            <p:cNvSpPr txBox="1"/>
            <p:nvPr/>
          </p:nvSpPr>
          <p:spPr>
            <a:xfrm>
              <a:off x="756285" y="2774156"/>
              <a:ext cx="2740731"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KNeighborsClassifier(n_neighbors=0)</a:t>
              </a:r>
            </a:p>
          </p:txBody>
        </p:sp>
        <p:sp>
          <p:nvSpPr>
            <p:cNvPr id="27" name="TextBox 27"/>
            <p:cNvSpPr txBox="1"/>
            <p:nvPr/>
          </p:nvSpPr>
          <p:spPr>
            <a:xfrm>
              <a:off x="4756785" y="2774156"/>
              <a:ext cx="226550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k=0 geçersizdir; en az 1 komşu</a:t>
              </a:r>
            </a:p>
          </p:txBody>
        </p:sp>
        <p:sp>
          <p:nvSpPr>
            <p:cNvPr id="28" name="TextBox 28"/>
            <p:cNvSpPr txBox="1"/>
            <p:nvPr/>
          </p:nvSpPr>
          <p:spPr>
            <a:xfrm>
              <a:off x="4756785" y="2983706"/>
              <a:ext cx="261982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gereklidir, aksi halde hata fırlatır</a:t>
              </a:r>
            </a:p>
          </p:txBody>
        </p:sp>
        <p:sp>
          <p:nvSpPr>
            <p:cNvPr id="29" name="TextBox 29"/>
            <p:cNvSpPr txBox="1"/>
            <p:nvPr/>
          </p:nvSpPr>
          <p:spPr>
            <a:xfrm>
              <a:off x="8185785" y="2774156"/>
              <a:ext cx="248895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Geçerli bir pozitif tamsayı seçin:</a:t>
              </a:r>
            </a:p>
          </p:txBody>
        </p:sp>
        <p:sp>
          <p:nvSpPr>
            <p:cNvPr id="30" name="TextBox 30"/>
            <p:cNvSpPr txBox="1"/>
            <p:nvPr/>
          </p:nvSpPr>
          <p:spPr>
            <a:xfrm>
              <a:off x="8185785" y="2983706"/>
              <a:ext cx="105177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n_neighbors=5</a:t>
              </a:r>
            </a:p>
          </p:txBody>
        </p:sp>
        <p:sp>
          <p:nvSpPr>
            <p:cNvPr id="31" name="Line 31"/>
            <p:cNvSpPr/>
            <p:nvPr/>
          </p:nvSpPr>
          <p:spPr>
            <a:xfrm>
              <a:off x="609600" y="3619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9" name="bug-3"/>
          <p:cNvGrpSpPr/>
          <p:nvPr/>
        </p:nvGrpSpPr>
        <p:grpSpPr>
          <a:xfrm>
            <a:off x="609600" y="3802856"/>
            <a:ext cx="10972800" cy="854869"/>
            <a:chOff x="609600" y="3802856"/>
            <a:chExt cx="10972800" cy="854869"/>
          </a:xfrm>
        </p:grpSpPr>
        <p:sp>
          <p:nvSpPr>
            <p:cNvPr id="33" name="TextBox 33"/>
            <p:cNvSpPr txBox="1"/>
            <p:nvPr/>
          </p:nvSpPr>
          <p:spPr>
            <a:xfrm>
              <a:off x="756285" y="3802856"/>
              <a:ext cx="2897258"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karar_agaci.fit(X_egitim_olcekli, ...)</a:t>
              </a:r>
            </a:p>
          </p:txBody>
        </p:sp>
        <p:sp>
          <p:nvSpPr>
            <p:cNvPr id="34" name="TextBox 34"/>
            <p:cNvSpPr txBox="1"/>
            <p:nvPr/>
          </p:nvSpPr>
          <p:spPr>
            <a:xfrm>
              <a:off x="4756785" y="3802856"/>
              <a:ext cx="233018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Ağaç ölçeklenmiş veriyle eğitilip</a:t>
              </a:r>
            </a:p>
          </p:txBody>
        </p:sp>
        <p:sp>
          <p:nvSpPr>
            <p:cNvPr id="35" name="TextBox 35"/>
            <p:cNvSpPr txBox="1"/>
            <p:nvPr/>
          </p:nvSpPr>
          <p:spPr>
            <a:xfrm>
              <a:off x="4756785" y="4012406"/>
              <a:ext cx="25972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ham veriyle test edilmiş — tutarsız</a:t>
              </a:r>
            </a:p>
          </p:txBody>
        </p:sp>
        <p:sp>
          <p:nvSpPr>
            <p:cNvPr id="36" name="TextBox 36"/>
            <p:cNvSpPr txBox="1"/>
            <p:nvPr/>
          </p:nvSpPr>
          <p:spPr>
            <a:xfrm>
              <a:off x="8185785" y="3802856"/>
              <a:ext cx="260193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Eğitim ve tahmin aynı veri temsilini</a:t>
              </a:r>
            </a:p>
          </p:txBody>
        </p:sp>
        <p:sp>
          <p:nvSpPr>
            <p:cNvPr id="37" name="TextBox 37"/>
            <p:cNvSpPr txBox="1"/>
            <p:nvPr/>
          </p:nvSpPr>
          <p:spPr>
            <a:xfrm>
              <a:off x="8185785" y="4012406"/>
              <a:ext cx="267707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kullanmalı: X_egitim / X_test (ham)</a:t>
              </a:r>
            </a:p>
          </p:txBody>
        </p:sp>
        <p:sp>
          <p:nvSpPr>
            <p:cNvPr id="38" name="Line 38"/>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7" name="bug-4"/>
          <p:cNvGrpSpPr/>
          <p:nvPr/>
        </p:nvGrpSpPr>
        <p:grpSpPr>
          <a:xfrm>
            <a:off x="609600" y="4648200"/>
            <a:ext cx="10972800" cy="1028700"/>
            <a:chOff x="609600" y="4648200"/>
            <a:chExt cx="10972800" cy="1028700"/>
          </a:xfrm>
        </p:grpSpPr>
        <p:sp>
          <p:nvSpPr>
            <p:cNvPr id="40" name="Rectangle 40"/>
            <p:cNvSpPr/>
            <p:nvPr/>
          </p:nvSpPr>
          <p:spPr>
            <a:xfrm>
              <a:off x="609600" y="4648200"/>
              <a:ext cx="10972800" cy="1028700"/>
            </a:xfrm>
            <a:prstGeom prst="rect">
              <a:avLst/>
            </a:prstGeom>
            <a:solidFill>
              <a:srgbClr val="EAF4F6"/>
            </a:solidFill>
            <a:ln>
              <a:noFill/>
            </a:ln>
          </p:spPr>
        </p:sp>
        <p:sp>
          <p:nvSpPr>
            <p:cNvPr id="41" name="TextBox 41"/>
            <p:cNvSpPr txBox="1"/>
            <p:nvPr/>
          </p:nvSpPr>
          <p:spPr>
            <a:xfrm>
              <a:off x="756285" y="4831556"/>
              <a:ext cx="1690947"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train_test_split(X, y)</a:t>
              </a:r>
            </a:p>
          </p:txBody>
        </p:sp>
        <p:sp>
          <p:nvSpPr>
            <p:cNvPr id="42" name="TextBox 42"/>
            <p:cNvSpPr txBox="1"/>
            <p:nvPr/>
          </p:nvSpPr>
          <p:spPr>
            <a:xfrm>
              <a:off x="756285" y="5041106"/>
              <a:ext cx="2197659"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(random_state belirtilmemiş)</a:t>
              </a:r>
            </a:p>
          </p:txBody>
        </p:sp>
        <p:sp>
          <p:nvSpPr>
            <p:cNvPr id="43" name="TextBox 43"/>
            <p:cNvSpPr txBox="1"/>
            <p:nvPr/>
          </p:nvSpPr>
          <p:spPr>
            <a:xfrm>
              <a:off x="4756785" y="4831556"/>
              <a:ext cx="254956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Her çalıştırmada farklı bölünme →</a:t>
              </a:r>
            </a:p>
          </p:txBody>
        </p:sp>
        <p:sp>
          <p:nvSpPr>
            <p:cNvPr id="44" name="TextBox 44"/>
            <p:cNvSpPr txBox="1"/>
            <p:nvPr/>
          </p:nvSpPr>
          <p:spPr>
            <a:xfrm>
              <a:off x="4756785" y="5041106"/>
              <a:ext cx="215996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sonuçlar tekrarlanabilir değil</a:t>
              </a:r>
            </a:p>
          </p:txBody>
        </p:sp>
        <p:sp>
          <p:nvSpPr>
            <p:cNvPr id="45" name="TextBox 45"/>
            <p:cNvSpPr txBox="1"/>
            <p:nvPr/>
          </p:nvSpPr>
          <p:spPr>
            <a:xfrm>
              <a:off x="8185785" y="4831556"/>
              <a:ext cx="181804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Sabit bir tohum belirtin:</a:t>
              </a:r>
            </a:p>
          </p:txBody>
        </p:sp>
        <p:sp>
          <p:nvSpPr>
            <p:cNvPr id="46" name="TextBox 46"/>
            <p:cNvSpPr txBox="1"/>
            <p:nvPr/>
          </p:nvSpPr>
          <p:spPr>
            <a:xfrm>
              <a:off x="8185785" y="5041106"/>
              <a:ext cx="120254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random_state=5</a:t>
              </a:r>
            </a:p>
          </p:txBody>
        </p:sp>
      </p:grpSp>
      <p:sp>
        <p:nvSpPr>
          <p:cNvPr id="48" name="TextBox 48"/>
          <p:cNvSpPr txBox="1"/>
          <p:nvPr/>
        </p:nvSpPr>
        <p:spPr>
          <a:xfrm>
            <a:off x="603504" y="5947410"/>
            <a:ext cx="648803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Düzeltilmiş kod, üç modelde de %83-%87 aralığında tutarlı test doğruluğu üretir.</a:t>
            </a:r>
          </a:p>
        </p:txBody>
      </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24</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tree"/>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50234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Karar ağacı</a:t>
              </a:r>
            </a:p>
          </p:txBody>
        </p:sp>
        <p:sp>
          <p:nvSpPr>
            <p:cNvPr id="8" name="TextBox 8"/>
            <p:cNvSpPr txBox="1"/>
            <p:nvPr/>
          </p:nvSpPr>
          <p:spPr>
            <a:xfrm>
              <a:off x="832104" y="1908810"/>
              <a:ext cx="23134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Gini/entropi ile art arda</a:t>
              </a:r>
              <a:br/>
              <a:r>
                <a:rPr lang="tr-TR" sz="1200" dirty="0">
                  <a:solidFill>
                    <a:srgbClr val="172B3A"/>
                  </a:solidFill>
                  <a:latin typeface="+mn-lt"/>
                  <a:ea typeface="+mn-ea"/>
                  <a:cs typeface="+mn-cs"/>
                </a:rPr>
                <a:t>bölünen, insan tarafından</a:t>
              </a:r>
              <a:br/>
              <a:r>
                <a:rPr lang="tr-TR" sz="1200" dirty="0">
                  <a:solidFill>
                    <a:srgbClr val="172B3A"/>
                  </a:solidFill>
                  <a:latin typeface="+mn-lt"/>
                  <a:ea typeface="+mn-ea"/>
                  <a:cs typeface="+mn-cs"/>
                </a:rPr>
                <a:t>okunabilir kural setleri üretir.</a:t>
              </a:r>
            </a:p>
          </p:txBody>
        </p:sp>
      </p:grpSp>
      <p:grpSp>
        <p:nvGrpSpPr>
          <p:cNvPr id="13" name="summary-pruning"/>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91720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Budama</a:t>
              </a:r>
            </a:p>
          </p:txBody>
        </p:sp>
        <p:sp>
          <p:nvSpPr>
            <p:cNvPr id="12" name="TextBox 12"/>
            <p:cNvSpPr txBox="1"/>
            <p:nvPr/>
          </p:nvSpPr>
          <p:spPr>
            <a:xfrm>
              <a:off x="4565904" y="1908810"/>
              <a:ext cx="26182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Sınırlandırılmazsa aşırı öğrenir;</a:t>
              </a:r>
              <a:br/>
              <a:r>
                <a:rPr lang="tr-TR" sz="1200" dirty="0">
                  <a:solidFill>
                    <a:srgbClr val="172B3A"/>
                  </a:solidFill>
                  <a:latin typeface="+mn-lt"/>
                  <a:ea typeface="+mn-ea"/>
                  <a:cs typeface="+mn-cs"/>
                </a:rPr>
                <a:t>pre-/post-pruning genel ilkeler</a:t>
              </a:r>
              <a:br/>
              <a:r>
                <a:rPr lang="tr-TR" sz="1200" dirty="0">
                  <a:solidFill>
                    <a:srgbClr val="172B3A"/>
                  </a:solidFill>
                  <a:latin typeface="+mn-lt"/>
                  <a:ea typeface="+mn-ea"/>
                  <a:cs typeface="+mn-cs"/>
                </a:rPr>
                <a:t>öğrenmeye zorlar.</a:t>
              </a:r>
            </a:p>
          </p:txBody>
        </p:sp>
      </p:grpSp>
      <p:grpSp>
        <p:nvGrpSpPr>
          <p:cNvPr id="17" name="summary-knn"/>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59916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k-NN</a:t>
              </a:r>
            </a:p>
          </p:txBody>
        </p:sp>
        <p:sp>
          <p:nvSpPr>
            <p:cNvPr id="16" name="TextBox 16"/>
            <p:cNvSpPr txBox="1"/>
            <p:nvPr/>
          </p:nvSpPr>
          <p:spPr>
            <a:xfrm>
              <a:off x="8299704" y="1908810"/>
              <a:ext cx="20238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 kurmadan benzerliğe</a:t>
              </a:r>
              <a:br/>
              <a:r>
                <a:rPr lang="tr-TR" sz="1200" dirty="0">
                  <a:solidFill>
                    <a:srgbClr val="172B3A"/>
                  </a:solidFill>
                  <a:latin typeface="+mn-lt"/>
                  <a:ea typeface="+mn-ea"/>
                  <a:cs typeface="+mn-cs"/>
                </a:rPr>
                <a:t>bakar; mesafe metriği ve k</a:t>
              </a:r>
              <a:br/>
              <a:r>
                <a:rPr lang="tr-TR" sz="1200" dirty="0">
                  <a:solidFill>
                    <a:srgbClr val="172B3A"/>
                  </a:solidFill>
                  <a:latin typeface="+mn-lt"/>
                  <a:ea typeface="+mn-ea"/>
                  <a:cs typeface="+mn-cs"/>
                </a:rPr>
                <a:t>seçimi sonucu belirler.</a:t>
              </a:r>
            </a:p>
          </p:txBody>
        </p:sp>
      </p:grpSp>
      <p:grpSp>
        <p:nvGrpSpPr>
          <p:cNvPr id="21" name="summary-nb"/>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44637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Naive Bayes</a:t>
              </a:r>
            </a:p>
          </p:txBody>
        </p:sp>
        <p:sp>
          <p:nvSpPr>
            <p:cNvPr id="20" name="TextBox 20"/>
            <p:cNvSpPr txBox="1"/>
            <p:nvPr/>
          </p:nvSpPr>
          <p:spPr>
            <a:xfrm>
              <a:off x="832104" y="3718560"/>
              <a:ext cx="23286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Bağımsızlık varsayımı ihlal</a:t>
              </a:r>
              <a:br/>
              <a:r>
                <a:rPr lang="tr-TR" sz="1200" dirty="0">
                  <a:solidFill>
                    <a:srgbClr val="172B3A"/>
                  </a:solidFill>
                  <a:latin typeface="+mn-lt"/>
                  <a:ea typeface="+mn-ea"/>
                  <a:cs typeface="+mn-cs"/>
                </a:rPr>
                <a:t>edilse de sınıflandırma kararı</a:t>
              </a:r>
              <a:br/>
              <a:r>
                <a:rPr lang="tr-TR" sz="1200" dirty="0">
                  <a:solidFill>
                    <a:srgbClr val="172B3A"/>
                  </a:solidFill>
                  <a:latin typeface="+mn-lt"/>
                  <a:ea typeface="+mn-ea"/>
                  <a:cs typeface="+mn-cs"/>
                </a:rPr>
                <a:t>genellikle doğru kalır.</a:t>
              </a:r>
            </a:p>
          </p:txBody>
        </p:sp>
      </p:grpSp>
      <p:grpSp>
        <p:nvGrpSpPr>
          <p:cNvPr id="25" name="summary-imbalance"/>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2264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Sınıf dengesizliği</a:t>
              </a:r>
            </a:p>
          </p:txBody>
        </p:sp>
        <p:sp>
          <p:nvSpPr>
            <p:cNvPr id="24" name="TextBox 24"/>
            <p:cNvSpPr txBox="1"/>
            <p:nvPr/>
          </p:nvSpPr>
          <p:spPr>
            <a:xfrm>
              <a:off x="4565904" y="3718560"/>
              <a:ext cx="25572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Üç algoritmayı farklı</a:t>
              </a:r>
              <a:br/>
              <a:r>
                <a:rPr lang="tr-TR" sz="1200" dirty="0">
                  <a:solidFill>
                    <a:srgbClr val="172B3A"/>
                  </a:solidFill>
                  <a:latin typeface="+mn-lt"/>
                  <a:ea typeface="+mn-ea"/>
                  <a:cs typeface="+mn-cs"/>
                </a:rPr>
                <a:t>mekanizmalarla kırılgan kılar;</a:t>
              </a:r>
              <a:br/>
              <a:r>
                <a:rPr lang="tr-TR" sz="1200" dirty="0">
                  <a:solidFill>
                    <a:srgbClr val="172B3A"/>
                  </a:solidFill>
                  <a:latin typeface="+mn-lt"/>
                  <a:ea typeface="+mn-ea"/>
                  <a:cs typeface="+mn-cs"/>
                </a:rPr>
                <a:t>accuracy tek başına yeterli değil.</a:t>
              </a:r>
            </a:p>
          </p:txBody>
        </p:sp>
      </p:grpSp>
      <p:grpSp>
        <p:nvGrpSpPr>
          <p:cNvPr id="29" name="summary-selection"/>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0486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Algoritma seçimi</a:t>
              </a:r>
            </a:p>
          </p:txBody>
        </p:sp>
        <p:sp>
          <p:nvSpPr>
            <p:cNvPr id="28" name="TextBox 28"/>
            <p:cNvSpPr txBox="1"/>
            <p:nvPr/>
          </p:nvSpPr>
          <p:spPr>
            <a:xfrm>
              <a:off x="8299704" y="3718560"/>
              <a:ext cx="21686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 büyüklüğü, boyutsallık,</a:t>
              </a:r>
              <a:br/>
              <a:r>
                <a:rPr lang="tr-TR" sz="1200" dirty="0">
                  <a:solidFill>
                    <a:srgbClr val="172B3A"/>
                  </a:solidFill>
                  <a:latin typeface="+mn-lt"/>
                  <a:ea typeface="+mn-ea"/>
                  <a:cs typeface="+mn-cs"/>
                </a:rPr>
                <a:t>etkileşim ve yorumlanabilirlik</a:t>
              </a:r>
              <a:br/>
              <a:r>
                <a:rPr lang="tr-TR" sz="1200" dirty="0">
                  <a:solidFill>
                    <a:srgbClr val="172B3A"/>
                  </a:solidFill>
                  <a:latin typeface="+mn-lt"/>
                  <a:ea typeface="+mn-ea"/>
                  <a:cs typeface="+mn-cs"/>
                </a:rPr>
                <a:t>ihtiyacına göre değişir.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68958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"Ağaç kural yazar, k-NN benzer arar, Naive Bayes olasılık hesaplar."</a:t>
              </a:r>
            </a:p>
          </p:txBody>
        </p:sp>
        <p:sp>
          <p:nvSpPr>
            <p:cNvPr id="32" name="TextBox 32"/>
            <p:cNvSpPr txBox="1"/>
            <p:nvPr/>
          </p:nvSpPr>
          <p:spPr>
            <a:xfrm>
              <a:off x="906399" y="5583079"/>
              <a:ext cx="882850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Hiçbiri evrensel olarak üstün değildir; seçim veri/problem karakteristiğine bağlıdır.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24</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777222" cy="724281"/>
            <a:chOff x="599694" y="1484948"/>
            <a:chExt cx="9777222" cy="724281"/>
          </a:xfrm>
        </p:grpSpPr>
        <p:sp>
          <p:nvSpPr>
            <p:cNvPr id="7" name="TextBox 7"/>
            <p:cNvSpPr txBox="1"/>
            <p:nvPr/>
          </p:nvSpPr>
          <p:spPr>
            <a:xfrm>
              <a:off x="599694" y="1484948"/>
              <a:ext cx="977722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Üç algoritmayı eğitip test doğruluğunu ölçebiliyorsunuz. Sıradaki adım, "doğru"</a:t>
              </a:r>
              <a:br/>
              <a:r>
                <a:rPr lang="tr-TR" sz="1950" dirty="0">
                  <a:solidFill>
                    <a:srgbClr val="172B3A"/>
                  </a:solidFill>
                  <a:latin typeface="+mn-lt"/>
                  <a:ea typeface="+mn-ea"/>
                  <a:cs typeface="+mn-cs"/>
                </a:rPr>
                <a:t>modeli yalnızca tek bir sayıyla değil, daha zengin metriklerle değerlendirmektir.</a:t>
              </a:r>
            </a:p>
          </p:txBody>
        </p:sp>
      </p:grpSp>
      <p:grpSp>
        <p:nvGrpSpPr>
          <p:cNvPr id="14" name="bridge-now"/>
          <p:cNvGrpSpPr/>
          <p:nvPr/>
        </p:nvGrpSpPr>
        <p:grpSpPr>
          <a:xfrm>
            <a:off x="599694" y="2799398"/>
            <a:ext cx="3155061" cy="2024919"/>
            <a:chOff x="599694" y="2799398"/>
            <a:chExt cx="3155061" cy="20249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363724"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Karar ağacı, k-NN ve</a:t>
              </a:r>
              <a:br/>
              <a:r>
                <a:rPr lang="tr-TR" sz="1580" dirty="0">
                  <a:solidFill>
                    <a:srgbClr val="172B3A"/>
                  </a:solidFill>
                  <a:latin typeface="+mn-lt"/>
                  <a:ea typeface="+mn-ea"/>
                  <a:cs typeface="+mn-cs"/>
                </a:rPr>
                <a:t>Naive Bayes'i doğru veri</a:t>
              </a:r>
              <a:br/>
              <a:r>
                <a:rPr lang="tr-TR" sz="1580" dirty="0">
                  <a:solidFill>
                    <a:srgbClr val="172B3A"/>
                  </a:solidFill>
                  <a:latin typeface="+mn-lt"/>
                  <a:ea typeface="+mn-ea"/>
                  <a:cs typeface="+mn-cs"/>
                </a:rPr>
                <a:t>temsiliyle eğitmek</a:t>
              </a:r>
            </a:p>
          </p:txBody>
        </p:sp>
        <p:sp>
          <p:nvSpPr>
            <p:cNvPr id="12" name="Rectangle 12"/>
            <p:cNvSpPr/>
            <p:nvPr/>
          </p:nvSpPr>
          <p:spPr>
            <a:xfrm>
              <a:off x="609600" y="4229100"/>
              <a:ext cx="57150" cy="285750"/>
            </a:xfrm>
            <a:prstGeom prst="rect">
              <a:avLst/>
            </a:prstGeom>
            <a:solidFill>
              <a:srgbClr val="00A6A6"/>
            </a:solidFill>
            <a:ln>
              <a:noFill/>
            </a:ln>
          </p:spPr>
        </p:sp>
        <p:sp>
          <p:nvSpPr>
            <p:cNvPr id="13" name="TextBox 13"/>
            <p:cNvSpPr txBox="1"/>
            <p:nvPr/>
          </p:nvSpPr>
          <p:spPr>
            <a:xfrm>
              <a:off x="849249" y="4268629"/>
              <a:ext cx="290550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referans model (baseline)</a:t>
              </a:r>
              <a:br/>
              <a:r>
                <a:rPr lang="tr-TR" sz="1580" dirty="0">
                  <a:solidFill>
                    <a:srgbClr val="172B3A"/>
                  </a:solidFill>
                  <a:latin typeface="+mn-lt"/>
                  <a:ea typeface="+mn-ea"/>
                  <a:cs typeface="+mn-cs"/>
                </a:rPr>
                <a:t>belirleyip gerekçelendirmek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978229"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Model değerlendirme</a:t>
              </a:r>
              <a:br/>
              <a:r>
                <a:rPr lang="tr-TR" sz="2250" b="1" dirty="0">
                  <a:solidFill>
                    <a:srgbClr val="FFFFFF"/>
                  </a:solidFill>
                  <a:latin typeface="+mn-lt"/>
                  <a:ea typeface="+mn-ea"/>
                  <a:cs typeface="+mn-cs"/>
                </a:rPr>
                <a:t>ve doğrulama</a:t>
              </a:r>
            </a:p>
          </p:txBody>
        </p:sp>
        <p:sp>
          <p:nvSpPr>
            <p:cNvPr id="18" name="TextBox 18"/>
            <p:cNvSpPr txBox="1"/>
            <p:nvPr/>
          </p:nvSpPr>
          <p:spPr>
            <a:xfrm>
              <a:off x="7307199" y="4135279"/>
              <a:ext cx="351751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Confusion matrix, precision/recall,</a:t>
              </a:r>
              <a:br/>
              <a:r>
                <a:rPr lang="tr-TR" sz="1580" dirty="0">
                  <a:solidFill>
                    <a:srgbClr val="EAF4F6"/>
                  </a:solidFill>
                  <a:latin typeface="+mn-lt"/>
                  <a:ea typeface="+mn-ea"/>
                  <a:cs typeface="+mn-cs"/>
                </a:rPr>
                <a:t>F1-skoru ve ROC/AUC ile ölçüm.</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947404"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Bu bölümde belirlediğiniz referans modeli ve karşılaştırma tablosunu elinizin</a:t>
              </a:r>
              <a:br/>
              <a:r>
                <a:rPr lang="tr-TR" sz="1800" b="1" dirty="0">
                  <a:solidFill>
                    <a:srgbClr val="12355B"/>
                  </a:solidFill>
                  <a:latin typeface="+mn-lt"/>
                  <a:ea typeface="+mn-ea"/>
                  <a:cs typeface="+mn-cs"/>
                </a:rPr>
                <a:t>altında tutun — Bölüm 6 bunları doğrulama protokolüne bağlayacak.</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5_siniflandirma_temelleri-20260916">
  <a:themeElements>
    <a:clrScheme name="ch05_siniflandirma_temeller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5_siniflandirma_temeller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5_siniflandirma_temeller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5_siniflandirma_temelleri-20260916">
  <a:themeElements>
    <a:clrScheme name="ch05_siniflandirma_temeller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5_siniflandirma_temeller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5_siniflandirma_temeller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2026-09-19T21:22:26Z</dcterms:created>
  <dcterms:modified xsi:type="dcterms:W3CDTF">2026-09-19T21:22:26Z</dcterms:modified>
  <cp:category/>
  <cp:contentStatus/>
</cp:coreProperties>
</file>