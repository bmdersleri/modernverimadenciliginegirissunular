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  <Relationship Id="rId3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Keşifçi Veri Analizi yani EDA konusuna ve istatistiksel görselleştirmeye odaklanıyor; modern veri madenciliği sürecinde model kurmadan önce atılan ilk ve belki en kritik adımı ele alacağız. Bölüm boyunca öğrenci başarı verisi üzerinden ilerleyeceğiz: çalışma saati, devamsızlık ve sınav notu gibi tanıdık değişkenlerle dağılımı, çarpıklığı, korelasyonu, grup karşılaştırmalarını ve çok değişkenli ilişkileri okumayı öğreneceksiniz. Amaç, grafik çizmekten önemlisi, o grafiğin arkasındaki karara nasıl güvenle varılacağını kavramaktır.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Bölüme başlarken aklınızda tutmanız gereken beş soru var: ham verinin yapısı nasıl anlaşılır, bir değişkenin dağılımı merkezi eğilim ve yayılım açısından nasıl yorumlanır, çalışma süresi-not-devamsızlık üçlüsü korelasyonla nasıl incelenir, kutu grafiği aykırı gözlemleri ve grupları nasıl karşılaştırır, ve son olarak ısı haritası ile çarpıklık veri hazırlama kararlarını nasıl destekler. Bu sorular bölümün iskeletini oluşturuyor; her biri ilerleyen sayfalarda ayrı ayrı ele alınacak. Bölümün nihai hedefi, öğrenci başarı verisini pandas, matplotlib ve seaborn araçlarıyla inceleyip veri hazırlama aşamasına geçmeden önce güvenilir, savunulabilir bulgular üretebilmektir; bu, sonraki bölümde göreceğiniz temizleme kararlarının da temelini oluşturacak.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dört temel beceriye sahip olacaksınız. İlk olarak, bir veri kümesinin yapısını, veri türlerini ve eksik değerlerini pandas ile denetleyebileceksiniz. İkincisi, ortalama, medyan, standart sapma ve histogram kullanarak dağılımı özetlemeyi, üçüncüsü ise çarpıklık ölçüsüyle bu dağılımın asimetrisini tanımlamayı öğreneceksiniz. Dördüncü hedef, korelasyon ve ısı haritasıyla değişkenler arası ilişkiyi incelemek ama bunu nedensellikle karıştırmamaktır; beşincisi ise kutu grafiğiyle grup bazında karşılaştırma yapabilmektir. Başarı ölçütü nettir: eksik değerleri ve aykırı gözlemleri gösterebiliyor, korelasyon ile nedenselliğin farkını somut bir örnekle açıklayabiliyor ve bulgularınızı bir sonraki adım olan veri hazırlama kararına bağlayabiliyorsanız, bu hedeflere ulaşmışsınız demektir.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harita, bölümün beş tekniğinin EDA'nın merkezi rolünden nasıl türediğini gösteriyor. Dağılım ortalama, medyan ve histogramla merkezi eğilimi; çarpıklık bu dağılımın asimetrisini ölçüyor. Korelasyon iki değişken arasındaki ilişkiyi incelerken, kutu grafiği hem grup karşılaştırması hem aykırı değer tespiti yapıyor. Isı haritası ise bu tekniklerin en kapsayıcısı: çok değişkenli korelasyonu tek bir görünümde tarıyor, bu yüzden haritada diğerlerinden geniş bir kutu olarak gösteriliyor. Kesikli oklar, çarpıklık ile korelasyon arasındaki ve dağılım ile ısı haritası arasındaki tamamlayıcı ilişkiyi vurguluyor; yani bu teknikler birbirinden bağımsız değil, aynı veri kümesini farklı açılardan sorgulayan bir bütünün parçaları.</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EDA, model kurmadan önce verinin yapısını, niteliğini, eksiklerini ve ilk örüntülerini sistematik biçimde inceleme sürecidir; satır sayısı, sütun türü, eksik ve uç değerler, dağılım gibi sorulara cevap arar. Yeni taşınılan bir eve eşya yerleştirmeden önce odaları dolaşmaya benzetebilirsiniz: veri tanınmadan kurulan bir model, veri hakkında yanlış varsayımlarda bulunur. EDA'nın var olma nedeni açık: ham veriler analiz için hiçbir zaman hazır değildir. Sayısal görünen bir sütun aslında metin olarak saklanmış olabilir, bazı değerler eksik olabilir ya da gerçekçi olmayan aralıklarda bulunabilir; bu sorunlar fark edilmeden yapılan hesaplamalar sessizce yanıltır. Bu yaklaşımın kökleri John Tukey'nin 1977'deki çalışmalarına dayanır; bugün pandas, matplotlib ve seaborn bu felsefeyi uygulamak için kullandığımız Python araç setini oluşturuyor. Alttaki döngü, ham veriden tür ve eksik denetimine, oradan dağılım ve çarpıklık incelemesine, korelasyon ve ısı haritası analizine ve nihayetinde bir veri hazırlama kararına uzanan doğrusal ama tekrarlanabilir bir akışı özetliyor.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Örnek kod, bölüm hazırlanan bir sınıfta çalışma saati, devamsızlık günü ve sınav notu sütunlarından oluşan küçük bir DataFrame üzerinde dört temel EDA komutunu çalıştırıyor: `head(3)` ilk kayıtların beklenen biçimde okunup okunmadığını doğruluyor, `dtypes` her sütunun sayı mı metin mi olduğunu gösteriyor, `isnull().sum()` eksik değer sayısını veriyor ve `describe()` ortalama, standart sapma ve çeyrek değerleri gibi betimsel özeti çıkarıyor. Bu örnekte bir öğrencinin çalışma saati verisi eksik çıkıyor ve notu 70'in üzerinde olan dört başarılı öğrenci tespit ediliyor; bu tür basit sayımlar bile modelleme öncesi önemli sinyaller taşıyor. Kritik uyarı şu: filtreleme gibi koşullu seçim adımları göstermeden önce, bu kısa kontroller mutlaka daha karmaşık grafikler çizilmeden önce yapılmalıdır; aksi hâlde eksik veya hatalı veri fark edilmeden ilerleyen adımlara taşınır.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EDA'yı diğer üç yaklaşımla karşılaştırdığımızda her birinin farklı bir amaca hizmet ettiğini görüyoruz: EDA beklenmeyen örüntüleri keşfetmede güçlüdür ama kesin bir iş kuralı koymaz, bu yüzden yeni bir veri kümesiyle çalışırken tercih edilir. Veri doğrulama hatalı kaydı erken engeller fakat yeni örüntü keşfetmez, dolayısıyla üretim hattında kullanılır. Makine öğrenmesi tahmin üretir ama veriyi açıklamayabilir, bu yüzden EDA'dan sonra devreye girer; raporlama ise sonuçları sunar ama ham veri sorununu gizleyebileceği için analiz sürecinin en sonunda yer almalıdır. Bu sayfada üç yaygın hatayı da vurguluyoruz: yalnızca `head()` komutuna bakıp yeterli sanmak, pandas'ın sessizce atladığı eksik değerlerin sonucu etkileyip etkilemediğini sorgulamamak ve filtreleme sonrası boş tablo ihtimalini hesaba katmamak. En önemli uyarı ise şu: EDA bulgusu asla nedensel bir kanıt değildir; iki değişken birlikte değişiyor gibi görünse de bunun nedeni gözlemlenmeyen üçüncü bir değişken olabilir.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Dağılım, bir değişkenin aldığı değerlerin hangi aralıklarda ve hangi sıklıkta toplandığını gösterir. Ortalama, medyan ve standart sapma bu dağılımı tek bir sayıya indirgerken, histogram aynı bilgiyi görsel olarak sunar. Market kasası kuyruğu güzel bir benzetme: günün çoğunda kuyrukta beş-on kişi olur, ama bayram günü oluşan uzun kuyruklar ortalamayı yukarı çeker ve tek başına ortalamaya bakan biri günün "tipik" hâlini yanlış anlar. Dağılımın var olma nedeni de tam olarak budur: tek bir ortalama değeri verinin tüm davranışını açıklamaz. Sınıf ortalaması 70 olsa da notların 68 ile 72 arasında sıkışık mı yoksa 40 ile 100 arasında iki uçta mı dağıldığı, dağılım incelenmeden asla bilinemez. Standart sapma ortalamadan ne kadar uzaklaşıldığını, medyan ise aykırı değerlerden daha az etkilenen orta noktayı gösterir; ortalama ile medyan arasındaki fark büyükse, bu genellikle dağılımın simetrik olmadığının bir işaretidir — gelir veya çağrı süresi gibi çarpık değişkenlerde medyanın ortalamadan daha güvenilir bir özet olmasının nedeni de budur.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haftalık çalışma saati verisini beş kutuya ayırarak histogramla görselleştiriyor ve `axvline` ile ortalama ile medyan çizgilerini grafiğe ekliyor. Sonuç: ortalama yaklaşık 16.2 saat, medyan ise 14.5 saat civarında çıkıyor. Sağdaki histogramda çubukların çoğu 10 ile 20 saat aralığında toplanırken, 30 saatlik tek bir öğrenci ortalamayı medyandan belirgin biçimde yukarı çekiyor — kırmızı ortalama çizgisinin yeşil medyan çizgisinin sağında kalması bunu doğruluyor. Bu, sınıfın çoğunluğunun davranışını temsil etmek istediğinizde neden bazen medyanın ortalamadan daha güvenilir olduğunu somut biçimde gösteren bir örnek; eğer notlar dengeli dağılıyorsa ortalama sınıfı iyi temsil eder, ama az sayıda uç değer varsa bu temsil bozulur.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Dağılımı görselleştirmek için dört seçenek var, her biri farklı veri türüne uygun: histogram sürekli sayısal veri için dağılım biçimini gösterir ama aralık (bin) seçimine duyarlıdır; yoğunluk grafiği daha yumuşak bir görünüm sunar fakat küçük örneklemlerde yanıltıcı olabilir. Çubuk grafiği kategorik verilerde sayımı açıkça gösterir ama sayısal yayılımı yansıtmaz; kutu grafiği ise sayısal gruplar arası karşılaştırmada aykırı değerleri gösterirken ayrıntılı frekans bilgisini gizler. Genel kural: tek bir sayısal değişkenin biçimini anlamak için histogram, kategorik değişkenler için çubuk grafiği tercih edilmelidir. Üç yaygın hata da burada özetleniyor: bölüm adları gibi kategorik verileri histogramla göstermeye çalışmak, aykırı değerlerin çekebileceği ortalamayı her zaman "tipik" sanmak ve standart sapmayı ölçüldüğü değişkenin biriminden bağımsız yorumlamaya kalkışmak.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Çarpıklık, bir dağılımın simetriden hangi yöne ve ne ölçüde uzaklaştığını ölçen istatistiksel bir değerdir; pozitif çarpıklıkta sağ kuyruk, negatif çarpıklıkta sol kuyruk uzar. Otobüs durağında yolcuların çoğu kapıya yakın toplanmışken birkaçı uzakta kalmışsa, dağılım bir tarafa yığılmış demektir — çarpıklık tam olarak bunu sayısallaştırır. Bu ölçütün önemi, ortalamanın medyanı gerçekten temsil edip etmediğini değerlendirmemizi sağlamasından gelir: müşteri harcamalarının çoğu düşükken, az sayıda çok yüksek harcama ortalamayı olduğundan daha "varlıklı" gösterebilir. Çarpık değişkenler genellikle ölçekleme ya da logaritmik dönüşüm ihtiyacına işaret eder, ama bu tek başına zorunlu bir adım anlamına gelmez — çarpıklık yalnızca biçimi belirtir; veri kalitesi, nedensellik ya da model başarısı hakkında doğrudan bir hüküm vermez.</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Örnekte on öğrencinin çalışma saatleri `[5,6,7,8,8,9,10,11,12,28]` olarak veriliyor ve `skew()` fonksiyonu çarpıklığı yaklaşık 1.92 olarak hesaplıyor — güçlü bir pozitif çarpıklık. Bunun nedeni açık: dokuz öğrenci 5 ile 12 saat arasında toplanırken, 28 saatlik tek bir aşırı değer ortalamayı 10.4'e çekiyor, medyan ise 8.5'te kalıyor; histogramda bu, ana kütleden kopuk, sağda yalnız duran ince bir çubuk olarak görünüyor. Skew fonksiyonunun işareti yorum için kritik: pozitifse sağ kuyruk, negatifse sol kuyruk baskındır. Bu örnek, harcama veya kullanım süresi gibi gerçek dünya değişkenlerinde sıkça karşılaşılan bir örüntüyü temsil ediyor ve tek bir aşırı gözlemin özet istatistikleri nasıl çarpıtabileceğini somut sayılarla gösteriyor.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Çarpıklığı doğrulamanın birden fazla yolu var: çarpıklık katsayısının kendisi hızlı bir sayısal özet sunar, histogram görsel bir doğrulama sağlar, Q-Q grafiği verinin teorik normal dağılımdan ne kadar saptığını gösterir ve normalite testleri istatistiksel bir karar verir. Bu sayfadaki üç yaygın hata birbiriyle bağlantılı: çarpıklığı doğrudan bir veri hatası sanmak, çarpıklık gördüğünde aykırı değeri hemen silmek ve belki en tehlikelisi, sıfıra yakın bir çarpıklık değerini kesin bir normal dağılım kanıtı olarak kabul etmek. Gerçekte sıfıra yakın çarpıklık yalnızca simetriye işaret eder; dağılımın gerçekten normal olup olmadığını anlamak için Q-Q grafiği veya resmi bir normalite testiyle ayrıca doğrulama yapmak gerekir.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Korelasyon, iki sayısal değişkenin birlikte değişme yönünü ve gücünü ölçen istatistiksel bir ilişkidir; Pearson korelasyon katsayısı -1 ile +1 arasında değer alır, pozitif değer aynı yönde hareketi, negatif değer ters yönde hareketi gösterir. Şemsiye ile yağmur ilişkisi klasik bir örnek: yağmur arttıkça şemsiye sayısı da artar, ama şemsiyeler yağmuru oluşturmaz — ilişki gerçek olsa da yön yanlış yorumlanabilir. Korelasyonun var olma nedeni pratik: çok sayıda sayısal değişken olduğunda hangilerinin birlikte hareket ettiğini hızlıca görmek gerekir. Bu bölümün veri kümesinde çalışma saati ile not arasında pozitif, devamsızlık ile not arasında ise negatif bir ilişki bekleniyor. Ama şu sınırı asla unutmamak gerekir: korelasyon ortak neden, ters nedensellik ve rastlantı olasılıklarını dışlamaz; yalnızca birlikte değişimi işaret eder — "hangi değişken müşteri kaybına neden olur" gibi bir soruya tek başına cevap veremez, bunun için deney tasarımı veya alan bilgisi gerekir.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yedi öğrencinin çalışma saati ve sınav notu verisi üzerinde `corr()` fonksiyonuyla korelasyon katsayısını hesaplıyor ve sonuç yaklaşık 0.99 çıkıyor — çok güçlü pozitif bir doğrusal ilişki. `sns.regplot` fonksiyonu her öğrenciyi bir nokta olarak çizip üzerine bir doğrusal eğilim çizgisi ekliyor; sağdaki grafikte yedi nokta bu kesikli eğilim çizgisine çok yakın duruyor, bu da ilişkinin ne kadar tutarlı olduğunu görsel olarak doğruluyor. Ancak burada da aynı uyarı geçerli: noktaların eğilim çizgisine sıkı sıkıya toplanması güçlü bir doğrusal ilişkiye işaret etse de, bu tek başına "çok çalışmak notu artırır" şeklinde bir nedensellik iddiası için yeterli değildir; ilişkinin yönü ve nedeni ayrı bir soru olarak kalır.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İlişkiyi incelemenin farklı araçları var: Pearson doğrusal ilişkileri ölçer, Spearman sıralamaya dayalı ve doğrusal olmayan ama monoton ilişkileri yakalar, saçılım grafiği örüntüyü doğrudan gözle görmenizi sağlar, ki-kare testi ise iki kategorik değişken arasındaki ilişkiyi sınar. Bu tekniklerin en sık karıştırılan üç hatası şunlar: yüksek korelasyonu doğrudan nedensellik saymak, metin sütununa doğrudan Pearson korelasyonu uygulamaya çalışmak — oysa Pearson yalnızca sayısal sütunlar için tanımlıdır ve metin önce sayısallaştırılmalıdır — ve tek bir aşırı gözlemin etkisini görmezden gelmek; çünkü tek bir uç değer Pearson katsayısını fark edilir ölçüde değiştirebilir. Genel öneri, üç değişkenden az bir ilişkiyi ayrıntılı incelerken saçılım grafiğine, çok değişkenli hızlı bir tarama için ısı haritasına yönelmektir.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Kutu grafiği, medyanı, çeyrekleri, yayılımı ve olası aykırı gözlemleri tek bir görünümde gösteren bir tekniktir; kutunun alt ve üst sınırları birinci ve üçüncü çeyreği temsil eder. Bu tekniğin var olma nedeni, grupları yalnızca ortalamayla karşılaştırmanın yetersiz kalmasıdır: iki bölümün ortalaması aynı olsa bile biri çok daha dağınık olabilir, ve kutu grafiği bu farkı tek bakışta ortaya koyar. Örnekte Bilgisayar ve Elektrik bölümlerinin sınav notları karşılaştırılıyor; Bilgisayar bölümünün kutusu medyanı yaklaşık 78 civarında gösterirken, üstünde 98 puanlık bir aykırı gözlem kırmızı bir noktayla işaretleniyor. Elektrik bölümünün medyanı ise yaklaşık 72 ve kutusu biraz daha yukarıda konumlanmış durumda. Bu görsel, iki grubun yalnızca merkezi değerlerini değil, aynı zamanda iç değişkenliğini ve olağandışı öğrenci performanslarını da karşılaştırmamızı sağlıyor.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Grup karşılaştırması için kutu grafiğinin yanında başka seçenekler de var: histogram tek bir grup için frekans yapısını gösterir ama birden fazla grup söz konusu olduğunda karmaşıklaşır; violin grafiği büyük örneklemlerde yoğunluğu da gösterir fakat yorumlaması daha zordur; ortalama çubuk grafiği ise basit bir özet sunar ama yayılımı tamamen saklar. Üç yaygın hata dikkat çekiyor: aykırı gözlemi hiç sorgulamadan doğrudan silmek — oysa önce kayıt hatası, ölçüm hatası ve gerçek iş durumu ayrı ayrı değerlendirilmelidir; kutunun tüm veriyi temsil ettiğini sanmak, hâlbuki kutu çoğunlukla orta yüzde ellilik dilimi gösterir; ve küçük örneklemde çeyreklerden güçlü sonuçlar çıkarmaya çalışmak. Son not önemli: kutu grafiğindeki bir nokta otomatik olarak "hatalı veri" anlamına gelmez, yalnızca istatistiksel olarak olağan dışı bir gözlemdir.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Isı haritası, sayısal değerleri renk yoğunluğuyla gösteren bir görselleştirmedir; her hücre iki değişken arasındaki korelasyonu temsil eder. Sekiz-on değişkenin ilişkisini tek tek okumak zahmetlidir; ısı haritası güçlü pozitif ve negatif ilişkileri anında belirginleştirir. Örnekteki dört değişken — çalışma saati, devamsızlık günü, sınav notu ve uyku saati — arasındaki ilişkiler `sns.heatmap` ile `coolwarm` renk paletinde ve -1 ile +1 arasında sabit bir ölçekte çiziliyor; köşegen her zaman 1.00 çünkü bir değişken kendisiyle mükemmel korelasyonludur. Kaynaktaki gerçek sayılara göre çalışma saati ile sınav notu arasındaki korelasyon yaklaşık 1.00, devamsızlık ile sınav notu arasındaki ise yaklaşık -0.99; koyu kırmızı hücreler güçlü pozitif, koyu mavi hücreler güçlü negatif ilişkiyi işaret ediyor. Ama hangi sütunun modelde tutulacağına yalnızca renge bakarak değil, o ilişkinin iş anlamına göre karar vermek gerekiyor.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Isı haritasının yanında üç alternatif daha var: saçılım grafiği iki değişkenin ayrıntılı örüntüsünü gösterir ama çok sütunda kalabalıklaşır; korelasyon tablosu kesin sayısal değerleri okumayı ve yazdırmayı kolaylaştırır fakat görsel önceliği azdır; pairplot ise çoklu ikili ilişkileri ayrıntılı biçimde sunar ama büyük veri kümelerinde yavaşlayabilir. Genel kural, üçten fazla sayısal değişkenin ilişkisini ilk kez taramak için ısı haritasının, iki değişkenin ayrıntılı biçimini görmek için saçılım grafiğinin tercih edilmesidir. Üç yaygın hata: köşegeni önemli bir bulgu sanmak — oysa her değişken kendisiyle her zaman tam ilişkilidir ve köşegen daima 1.00'dir — rengi okumadan doğrudan sayıya bakmak, oysa renk tonu ilişkinin yönünü ve gücünü çok daha hızlı ayırt etmeyi sağlar, ve sayısal olarak kodlanmış bir kategori sütununu sürekli bir ölçüm gibi yorumlamak.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üç kritik kavram yanılgısını netleştiriyoruz. Birincisi, "korelasyon 0.90 ise birinci değişken ikincinin nedenidir" düşüncesi: korelasyon yalnızca birlikte değişimi ölçer, üçüncü bir değişken veya rastlantı da aynı ilişkiyi üretebilir; doğru yaklaşım ilişkinin yönünü ihtiyatlı ifade etmek ve nedensellik iddiası için deney tasarımı veya alan bilgisine başvurmaktır. İkincisi, "sıfıra yakın çarpıklık verinin kesin normal dağıldığını ispatlar" yanılgısı: çarpıklık yalnızca tek yönlü asimetriyi açıklar, sıfıra yakın değer tek başına normallik kanıtı değildir; bunun yerine Q-Q grafiği veya resmi bir normalite testiyle ayrıca doğrulama yapılmalıdır. Üçüncüsü, "kutu grafiğindeki aykırı nokta otomatik olarak hatalı veri demektir" düşüncesi: aykırı gözlem bir veri giriş hatası olabileceği gibi, gerçekten çok başarılı ya da çok başarısız bir öğrenciyi de yansıtabilir; bu yüzden silmeden önce kaynağını raporlamak, kayıt hatası, ölçüm hatası ve gerçek iş durumunu ayrı ayrı değerlendirmek gerekir.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`OgrenciEDA` sınıfı, bölümde öğrendiğimiz üç adımı — doğrulama, özetleme ve görselleştirme — tek bir yapı altında birleştiriyor. `veri_dogrula()` metodu eksik çalışma saati değerlerini medyanla dolduruyor; `ozet_yazdir()` sınav notunun çarpıklığını hesaplıyor ve korelasyon matrisini döndürüyor; `grafikleri_uret()` ise histogram, kutu grafiği ve ısı haritasını tek seferde üretiyor. Bu sınıf yapısının nedeni pratik: doğrulama, özetleme ve görselleştirme adımlarının birbirinden bağımsız test edilebilmesi gerekiyor, ve `veri_dogrula()` metodunun her zaman diğer iki metottan önce çalışması şart — aksi hâlde eksik veya hatalı veri sessizce yanlış istatistiklere karışabilir. Sayfanın alt kısmındaki capstone çağrısı, aynı mantığın Telco Churn veri kümesindeki `MonthlyCharges`, `tenure` ve `Churn` değişkenlerine uyarlanmasını istiyor; bu EDA notu, üçüncü bölümde göreceğiniz sızıntısız ön işleme hattının doğrudan girdisi olacak.</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Hata ayıklama örneği, gerçek projelerde EDA sırasında sıkça karşılaşılan dört hata türünü bir arada gösteriyor. Tür hatası: sınav notu sütunu üzerinde doğrudan `sum()`/`len()` işlemi yapılırken sütunun içine karışmış olabilecek metin değerler fark edilmiyor; çözüm `pd.to_numeric` ile sayısala çevirip hatalı satırı ayrıca işaretlemek. Mantık hatası: tek bir ortalama değerine bakıp "hepsi başarılı" gibi genellemeler yapmak — oysa dağılımı ve çeyrekleri de incelemek gerekiyor. Adlandırma hatası: sütun adını bazen Türkçe karakterle ("calışma_saati") bazen ASCII ile yazmak, kodun sessizce farklı bir sütun aramasına yol açabiliyor. Eksik değer hatası ise `fillna(0)` gibi bir kısayolun eksik veriyi gizleyip yanlış bir izlenim vermesi. Bu dört hata türü aynı betikte üst üste görülebilir; bu yüzden her adımdan sonra `df.dtypes`, `df.isna().sum()` ve örnek satırları tekrar kontrol etmek, gizli hataları erken yakalamanın en pratik yolu.</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altında yatan istatistiksel temeli özetliyor. Ortalama, gözlemlerin toplamının sayıya bölünmesiyle elde edilen merkezi bir değer; standart sapma ise gözlemlerin bu ortalama etrafındaki yayılımını ölçüyor. Medyan, sıralı verinin ortanca değeri olduğu için aykırı gözlemlerden ortalamaya göre çok daha az etkileniyor. Sağ tarafta, EDA'nın betimsel doğası vurgulanıyor: EDA veride örüntü ve anomali arayarak hipotez üretir, oysa doğrulayıcı analiz önceden belirlenmiş bir hipotezi ayrı bir veri kümesinde istatistiksel testle sınar — bu ikisini karıştırmak ciddi yanlış yorumlara yol açabilir. Ayrıca çoklu karşılaştırma riski de burada hatırlatılıyor: EDA sırasında onlarca ilişkiye bakıldığında, bazı korelasyonların yalnızca rastlantıyla yüksek çıkabileceği unutulmamalı. Alttaki tablo, merkezi eğilim, yayılım, şekil ve ilişki incelemelerinin her birinde hangi ölçütün kullanılacağını ve hangi tuzağa dikkat edilmesi gerektiğini bir arada gösteriyor.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 topladığımızda altı temel fikir öne çıkıyor. EDA, modellemeden önce veriyi doğrulayan, betimleyen ve görselleştiren döngüsel bir süreçtir. Dağılım ve çarpıklık, histogram şeklinin ortalama ile medyanın ne zaman ayrıştığını gösterdiğini öğretti. Korelasyon, saçılım grafiği ve katsayının birlikte değişimi gösterdiğini ama nedenselliği asla kanıtlamadığını hatırlattı. Kutu grafiği, grup karşılaştırmasında medyan, çeyrekler ve aykırı gözlemleri aynı anda görünür kıldı; ısı haritası ise çok sayıda değişken çiftini tek bakışta tarayıp güçlü ilişkileri öne çıkardı. Son olarak, kavram yanılgıları bölümü, korelasyon-nedensellik, sıfır çarpıklık-normallik ve aykırı-hata eşleşmelerinin göründüğü kadar kesin olmadığını gösterdi. Bütün bunların ortak mesajı şu: EDA'nın en önemli katkısı grafiği süslemek değil, veriyi bir karara dönüştürmeden önce güvenilir ve dürüst hâle getirmektir.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dağılımı, çarpıklığı ve değişkenler arası ilişkileri okumayı öğrendiniz; artık eksik ve aykırı gözlemleri grafikle tespit edebiliyor, korelasyonu nedensellikten ayırarak yorumlayabiliyorsunuz. Sıradaki adım, bu bulguları temiz ve tutarlı bir veri kümesine dönüştürmek. Üçüncü bölüm "Veri hazırlama ve temizleme" başlığıyla devam edecek ve bu bölümde EDA'da tespit ettiğiniz sorunları — eksik değerler, tür uyuşmazlıkları, aykırı gözlemler — sızıntısız bir ön işleme hattına çevireceksiniz. Buradan çıkaracağınız en önemli alışkanlık şu: her yeni veri kümesinde önce EDA yapın, sonra temizleme kararlarınızı EDA bulgularına dayandırın; EDA olmadan yapılan temizleme, veriyi görmeden karar vermek anlamına gelir.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2_eda_gorsellestirme-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2_eda_gorsellestirme-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02</a:t>
              </a:r>
            </a:p>
          </p:txBody>
        </p:sp>
      </p:grpSp>
      <p:grpSp>
        <p:nvGrpSpPr>
          <p:cNvPr id="8" name="cover-title"/>
          <p:cNvGrpSpPr/>
          <p:nvPr/>
        </p:nvGrpSpPr>
        <p:grpSpPr>
          <a:xfrm>
            <a:off x="4936236" y="1644015"/>
            <a:ext cx="4808125" cy="1712214"/>
            <a:chOff x="4936236" y="1644015"/>
            <a:chExt cx="4808125" cy="1712214"/>
          </a:xfrm>
        </p:grpSpPr>
        <p:sp>
          <p:nvSpPr>
            <p:cNvPr id="7" name="TextBox 7"/>
            <p:cNvSpPr txBox="1"/>
            <p:nvPr/>
          </p:nvSpPr>
          <p:spPr>
            <a:xfrm>
              <a:off x="4936236" y="1644015"/>
              <a:ext cx="4808125" cy="1712214"/>
            </a:xfrm>
            <a:prstGeom prst="rect">
              <a:avLst/>
            </a:prstGeom>
            <a:noFill/>
            <a:ln>
              <a:noFill/>
            </a:ln>
          </p:spPr>
          <p:txBody>
            <a:bodyPr wrap="none" lIns="0" tIns="0" rIns="0" bIns="0" anchor="t" anchorCtr="0">
              <a:spAutoFit/>
            </a:bodyPr>
            <a:lstStyle/>
            <a:p>
              <a:pPr algn="l">
                <a:lnSpc>
                  <a:spcPts val="4200"/>
                </a:lnSpc>
              </a:pPr>
              <a:r>
                <a:rPr lang="tr-TR" sz="3300" b="1" dirty="0">
                  <a:solidFill>
                    <a:srgbClr val="12355B"/>
                  </a:solidFill>
                  <a:latin typeface="+mj-lt"/>
                  <a:ea typeface="+mj-ea"/>
                  <a:cs typeface="+mj-cs"/>
                </a:rPr>
                <a:t>Keşifçi Veri Analizi</a:t>
              </a:r>
              <a:br/>
              <a:r>
                <a:rPr lang="tr-TR" sz="3300" b="1" dirty="0">
                  <a:solidFill>
                    <a:srgbClr val="12355B"/>
                  </a:solidFill>
                  <a:latin typeface="+mj-lt"/>
                  <a:ea typeface="+mj-ea"/>
                  <a:cs typeface="+mj-cs"/>
                </a:rPr>
                <a:t>(EDA) ve İstatistiksel</a:t>
              </a:r>
              <a:br/>
              <a:r>
                <a:rPr lang="tr-TR" sz="3300" b="1" dirty="0">
                  <a:solidFill>
                    <a:srgbClr val="12355B"/>
                  </a:solidFill>
                  <a:latin typeface="+mj-lt"/>
                  <a:ea typeface="+mj-ea"/>
                  <a:cs typeface="+mj-cs"/>
                </a:rPr>
                <a:t>Görselleştirme</a:t>
              </a:r>
            </a:p>
          </p:txBody>
        </p:sp>
      </p:grpSp>
      <p:grpSp>
        <p:nvGrpSpPr>
          <p:cNvPr id="12" name="cover-subtitle"/>
          <p:cNvGrpSpPr/>
          <p:nvPr/>
        </p:nvGrpSpPr>
        <p:grpSpPr>
          <a:xfrm>
            <a:off x="4943094" y="4095750"/>
            <a:ext cx="3976056" cy="900018"/>
            <a:chOff x="4943094" y="4095750"/>
            <a:chExt cx="3976056"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220629"/>
            <a:ext cx="5202566" cy="308039"/>
            <a:chOff x="601599" y="1220629"/>
            <a:chExt cx="5202566" cy="308039"/>
          </a:xfrm>
        </p:grpSpPr>
        <p:sp>
          <p:nvSpPr>
            <p:cNvPr id="6" name="TextBox 6"/>
            <p:cNvSpPr txBox="1"/>
            <p:nvPr/>
          </p:nvSpPr>
          <p:spPr>
            <a:xfrm>
              <a:off x="601599" y="122062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1" name="q1"/>
          <p:cNvGrpSpPr/>
          <p:nvPr/>
        </p:nvGrpSpPr>
        <p:grpSpPr>
          <a:xfrm>
            <a:off x="666750" y="1695450"/>
            <a:ext cx="6048300" cy="376143"/>
            <a:chOff x="666750" y="1695450"/>
            <a:chExt cx="6048300" cy="376143"/>
          </a:xfrm>
        </p:grpSpPr>
        <p:sp>
          <p:nvSpPr>
            <p:cNvPr id="8" name="Ellipse 8"/>
            <p:cNvSpPr/>
            <p:nvPr/>
          </p:nvSpPr>
          <p:spPr>
            <a:xfrm>
              <a:off x="666750" y="1695450"/>
              <a:ext cx="342900" cy="342900"/>
            </a:xfrm>
            <a:prstGeom prst="ellipse">
              <a:avLst/>
            </a:prstGeom>
            <a:solidFill>
              <a:srgbClr val="12355B"/>
            </a:solidFill>
            <a:ln>
              <a:noFill/>
            </a:ln>
          </p:spPr>
        </p:sp>
        <p:sp>
          <p:nvSpPr>
            <p:cNvPr id="9" name="TextBox 9"/>
            <p:cNvSpPr txBox="1"/>
            <p:nvPr/>
          </p:nvSpPr>
          <p:spPr>
            <a:xfrm>
              <a:off x="778865" y="17878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73099" y="1763554"/>
              <a:ext cx="554195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Ham bir veri kümesinin yapısı EDA ile nasıl anlaşılır?</a:t>
              </a:r>
            </a:p>
          </p:txBody>
        </p:sp>
      </p:grpSp>
      <p:grpSp>
        <p:nvGrpSpPr>
          <p:cNvPr id="15" name="q2"/>
          <p:cNvGrpSpPr/>
          <p:nvPr/>
        </p:nvGrpSpPr>
        <p:grpSpPr>
          <a:xfrm>
            <a:off x="666750" y="2362200"/>
            <a:ext cx="8845828" cy="376143"/>
            <a:chOff x="666750" y="2362200"/>
            <a:chExt cx="8845828" cy="376143"/>
          </a:xfrm>
        </p:grpSpPr>
        <p:sp>
          <p:nvSpPr>
            <p:cNvPr id="12" name="Ellipse 12"/>
            <p:cNvSpPr/>
            <p:nvPr/>
          </p:nvSpPr>
          <p:spPr>
            <a:xfrm>
              <a:off x="666750" y="2362200"/>
              <a:ext cx="342900" cy="342900"/>
            </a:xfrm>
            <a:prstGeom prst="ellipse">
              <a:avLst/>
            </a:prstGeom>
            <a:solidFill>
              <a:srgbClr val="12355B"/>
            </a:solidFill>
            <a:ln>
              <a:noFill/>
            </a:ln>
          </p:spPr>
        </p:sp>
        <p:sp>
          <p:nvSpPr>
            <p:cNvPr id="13" name="TextBox 13"/>
            <p:cNvSpPr txBox="1"/>
            <p:nvPr/>
          </p:nvSpPr>
          <p:spPr>
            <a:xfrm>
              <a:off x="778865" y="24545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73099" y="2430304"/>
              <a:ext cx="833947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değişkenin dağılımı merkezi eğilim ve yayılım bakımından nasıl yorumlanır?</a:t>
              </a:r>
            </a:p>
          </p:txBody>
        </p:sp>
      </p:grpSp>
      <p:grpSp>
        <p:nvGrpSpPr>
          <p:cNvPr id="19" name="q3"/>
          <p:cNvGrpSpPr/>
          <p:nvPr/>
        </p:nvGrpSpPr>
        <p:grpSpPr>
          <a:xfrm>
            <a:off x="666750" y="3028950"/>
            <a:ext cx="8983901" cy="376143"/>
            <a:chOff x="666750" y="3028950"/>
            <a:chExt cx="8983901" cy="376143"/>
          </a:xfrm>
        </p:grpSpPr>
        <p:sp>
          <p:nvSpPr>
            <p:cNvPr id="16" name="Ellipse 16"/>
            <p:cNvSpPr/>
            <p:nvPr/>
          </p:nvSpPr>
          <p:spPr>
            <a:xfrm>
              <a:off x="666750" y="3028950"/>
              <a:ext cx="342900" cy="342900"/>
            </a:xfrm>
            <a:prstGeom prst="ellipse">
              <a:avLst/>
            </a:prstGeom>
            <a:solidFill>
              <a:srgbClr val="12355B"/>
            </a:solidFill>
            <a:ln>
              <a:noFill/>
            </a:ln>
          </p:spPr>
        </p:sp>
        <p:sp>
          <p:nvSpPr>
            <p:cNvPr id="17" name="TextBox 17"/>
            <p:cNvSpPr txBox="1"/>
            <p:nvPr/>
          </p:nvSpPr>
          <p:spPr>
            <a:xfrm>
              <a:off x="778865" y="3121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73099" y="3097054"/>
              <a:ext cx="847755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Çalışma süresi, not ve devamsızlık arasındaki ilişki korelasyonla nasıl incelenir?</a:t>
              </a:r>
            </a:p>
          </p:txBody>
        </p:sp>
      </p:grpSp>
      <p:grpSp>
        <p:nvGrpSpPr>
          <p:cNvPr id="23" name="q4"/>
          <p:cNvGrpSpPr/>
          <p:nvPr/>
        </p:nvGrpSpPr>
        <p:grpSpPr>
          <a:xfrm>
            <a:off x="666750" y="3695700"/>
            <a:ext cx="8016212" cy="376143"/>
            <a:chOff x="666750" y="3695700"/>
            <a:chExt cx="8016212" cy="376143"/>
          </a:xfrm>
        </p:grpSpPr>
        <p:sp>
          <p:nvSpPr>
            <p:cNvPr id="20" name="Ellipse 20"/>
            <p:cNvSpPr/>
            <p:nvPr/>
          </p:nvSpPr>
          <p:spPr>
            <a:xfrm>
              <a:off x="666750" y="3695700"/>
              <a:ext cx="342900" cy="342900"/>
            </a:xfrm>
            <a:prstGeom prst="ellipse">
              <a:avLst/>
            </a:prstGeom>
            <a:solidFill>
              <a:srgbClr val="12355B"/>
            </a:solidFill>
            <a:ln>
              <a:noFill/>
            </a:ln>
          </p:spPr>
        </p:sp>
        <p:sp>
          <p:nvSpPr>
            <p:cNvPr id="21" name="TextBox 21"/>
            <p:cNvSpPr txBox="1"/>
            <p:nvPr/>
          </p:nvSpPr>
          <p:spPr>
            <a:xfrm>
              <a:off x="778865" y="37880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73099" y="3763804"/>
              <a:ext cx="750986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Kutu grafiği aykırı gözlemleri ve bölüm gruplarını nasıl karşılaştırır?</a:t>
              </a:r>
            </a:p>
          </p:txBody>
        </p:sp>
      </p:grpSp>
      <p:grpSp>
        <p:nvGrpSpPr>
          <p:cNvPr id="27" name="q5"/>
          <p:cNvGrpSpPr/>
          <p:nvPr/>
        </p:nvGrpSpPr>
        <p:grpSpPr>
          <a:xfrm>
            <a:off x="666750" y="4362450"/>
            <a:ext cx="7909990" cy="376143"/>
            <a:chOff x="666750" y="4362450"/>
            <a:chExt cx="7909990" cy="376143"/>
          </a:xfrm>
        </p:grpSpPr>
        <p:sp>
          <p:nvSpPr>
            <p:cNvPr id="24" name="Ellipse 24"/>
            <p:cNvSpPr/>
            <p:nvPr/>
          </p:nvSpPr>
          <p:spPr>
            <a:xfrm>
              <a:off x="666750" y="4362450"/>
              <a:ext cx="342900" cy="342900"/>
            </a:xfrm>
            <a:prstGeom prst="ellipse">
              <a:avLst/>
            </a:prstGeom>
            <a:solidFill>
              <a:srgbClr val="12355B"/>
            </a:solidFill>
            <a:ln>
              <a:noFill/>
            </a:ln>
          </p:spPr>
        </p:sp>
        <p:sp>
          <p:nvSpPr>
            <p:cNvPr id="25" name="TextBox 25"/>
            <p:cNvSpPr txBox="1"/>
            <p:nvPr/>
          </p:nvSpPr>
          <p:spPr>
            <a:xfrm>
              <a:off x="778865" y="44548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73099" y="4430554"/>
              <a:ext cx="740364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Isı haritası ve çarpıklık, veri hazırlama kararlarını nasıl destekler?</a:t>
              </a:r>
            </a:p>
          </p:txBody>
        </p:sp>
      </p:grpSp>
      <p:grpSp>
        <p:nvGrpSpPr>
          <p:cNvPr id="31" name="goal-band"/>
          <p:cNvGrpSpPr/>
          <p:nvPr/>
        </p:nvGrpSpPr>
        <p:grpSpPr>
          <a:xfrm>
            <a:off x="609600" y="5200650"/>
            <a:ext cx="10972800" cy="1032701"/>
            <a:chOff x="609600" y="5200650"/>
            <a:chExt cx="10972800" cy="1032701"/>
          </a:xfrm>
        </p:grpSpPr>
        <p:sp>
          <p:nvSpPr>
            <p:cNvPr id="28" name="Rectangle 28"/>
            <p:cNvSpPr/>
            <p:nvPr/>
          </p:nvSpPr>
          <p:spPr>
            <a:xfrm>
              <a:off x="609600" y="5200650"/>
              <a:ext cx="10972800" cy="952500"/>
            </a:xfrm>
            <a:prstGeom prst="roundRect">
              <a:avLst>
                <a:gd name="adj" fmla="val 8000"/>
              </a:avLst>
            </a:prstGeom>
            <a:solidFill>
              <a:srgbClr val="EAF4F6"/>
            </a:solidFill>
            <a:ln>
              <a:noFill/>
            </a:ln>
          </p:spPr>
        </p:sp>
        <p:sp>
          <p:nvSpPr>
            <p:cNvPr id="29" name="TextBox 29"/>
            <p:cNvSpPr txBox="1"/>
            <p:nvPr/>
          </p:nvSpPr>
          <p:spPr>
            <a:xfrm>
              <a:off x="905256" y="5368290"/>
              <a:ext cx="15734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Hedefi</a:t>
              </a:r>
            </a:p>
          </p:txBody>
        </p:sp>
        <p:sp>
          <p:nvSpPr>
            <p:cNvPr id="30" name="TextBox 30"/>
            <p:cNvSpPr txBox="1"/>
            <p:nvPr/>
          </p:nvSpPr>
          <p:spPr>
            <a:xfrm>
              <a:off x="907542" y="5740718"/>
              <a:ext cx="7017448"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Öğrenci başarı verisini pandas, matplotlib ve seaborn ile inceleyerek veri hazırlama</a:t>
              </a:r>
              <a:br/>
              <a:r>
                <a:rPr lang="tr-TR" sz="1350" dirty="0">
                  <a:solidFill>
                    <a:srgbClr val="172B3A"/>
                  </a:solidFill>
                  <a:latin typeface="+mn-lt"/>
                  <a:ea typeface="+mn-ea"/>
                  <a:cs typeface="+mn-cs"/>
                </a:rPr>
                <a:t>öncesinde güvenilir bulgular üretebilmek.</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970239" cy="557403"/>
            <a:chOff x="595122" y="282892"/>
            <a:chExt cx="6970239" cy="557403"/>
          </a:xfrm>
        </p:grpSpPr>
        <p:sp>
          <p:nvSpPr>
            <p:cNvPr id="4" name="TextBox 4"/>
            <p:cNvSpPr txBox="1"/>
            <p:nvPr/>
          </p:nvSpPr>
          <p:spPr>
            <a:xfrm>
              <a:off x="595122" y="282892"/>
              <a:ext cx="69702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Bu bölüm sonunda yapabilecekleriniz</a:t>
              </a:r>
            </a:p>
          </p:txBody>
        </p:sp>
      </p:grpSp>
      <p:grpSp>
        <p:nvGrpSpPr>
          <p:cNvPr id="9" name="objective-1"/>
          <p:cNvGrpSpPr/>
          <p:nvPr/>
        </p:nvGrpSpPr>
        <p:grpSpPr>
          <a:xfrm>
            <a:off x="685800" y="1371600"/>
            <a:ext cx="8955388" cy="723900"/>
            <a:chOff x="685800" y="1371600"/>
            <a:chExt cx="8955388" cy="723900"/>
          </a:xfrm>
        </p:grpSpPr>
        <p:sp>
          <p:nvSpPr>
            <p:cNvPr id="6" name="Rectangle 6"/>
            <p:cNvSpPr/>
            <p:nvPr/>
          </p:nvSpPr>
          <p:spPr>
            <a:xfrm>
              <a:off x="685800" y="1371600"/>
              <a:ext cx="57150" cy="723900"/>
            </a:xfrm>
            <a:prstGeom prst="rect">
              <a:avLst/>
            </a:prstGeom>
            <a:solidFill>
              <a:srgbClr val="00A6A6"/>
            </a:solidFill>
            <a:ln>
              <a:noFill/>
            </a:ln>
          </p:spPr>
        </p:sp>
        <p:sp>
          <p:nvSpPr>
            <p:cNvPr id="7" name="TextBox 7"/>
            <p:cNvSpPr txBox="1"/>
            <p:nvPr/>
          </p:nvSpPr>
          <p:spPr>
            <a:xfrm>
              <a:off x="981456" y="1405890"/>
              <a:ext cx="44407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kümesinin yapısını denetlemek</a:t>
              </a:r>
            </a:p>
          </p:txBody>
        </p:sp>
        <p:sp>
          <p:nvSpPr>
            <p:cNvPr id="8" name="TextBox 8"/>
            <p:cNvSpPr txBox="1"/>
            <p:nvPr/>
          </p:nvSpPr>
          <p:spPr>
            <a:xfrm>
              <a:off x="982599" y="1734979"/>
              <a:ext cx="865858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 veri kümesinin yapısını, türlerini ve eksik değerlerini `pandas` ile denetlemek.</a:t>
              </a:r>
            </a:p>
          </p:txBody>
        </p:sp>
      </p:grpSp>
      <p:grpSp>
        <p:nvGrpSpPr>
          <p:cNvPr id="13" name="objective-2"/>
          <p:cNvGrpSpPr/>
          <p:nvPr/>
        </p:nvGrpSpPr>
        <p:grpSpPr>
          <a:xfrm>
            <a:off x="685800" y="2400300"/>
            <a:ext cx="9359641" cy="723900"/>
            <a:chOff x="685800" y="2400300"/>
            <a:chExt cx="9359641" cy="723900"/>
          </a:xfrm>
        </p:grpSpPr>
        <p:sp>
          <p:nvSpPr>
            <p:cNvPr id="10" name="Rectangle 10"/>
            <p:cNvSpPr/>
            <p:nvPr/>
          </p:nvSpPr>
          <p:spPr>
            <a:xfrm>
              <a:off x="685800" y="2400300"/>
              <a:ext cx="57150" cy="723900"/>
            </a:xfrm>
            <a:prstGeom prst="rect">
              <a:avLst/>
            </a:prstGeom>
            <a:solidFill>
              <a:srgbClr val="00A6A6"/>
            </a:solidFill>
            <a:ln>
              <a:noFill/>
            </a:ln>
          </p:spPr>
        </p:sp>
        <p:sp>
          <p:nvSpPr>
            <p:cNvPr id="11" name="TextBox 11"/>
            <p:cNvSpPr txBox="1"/>
            <p:nvPr/>
          </p:nvSpPr>
          <p:spPr>
            <a:xfrm>
              <a:off x="981456" y="2434590"/>
              <a:ext cx="24562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Dağılımı özetlemek</a:t>
              </a:r>
            </a:p>
          </p:txBody>
        </p:sp>
        <p:sp>
          <p:nvSpPr>
            <p:cNvPr id="12" name="TextBox 12"/>
            <p:cNvSpPr txBox="1"/>
            <p:nvPr/>
          </p:nvSpPr>
          <p:spPr>
            <a:xfrm>
              <a:off x="982599" y="2763679"/>
              <a:ext cx="906284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Ortalama/medyan/standart sapma ve histogramla; asimetrisini çarpıklıkla özetlemek.</a:t>
              </a:r>
            </a:p>
          </p:txBody>
        </p:sp>
      </p:grpSp>
      <p:grpSp>
        <p:nvGrpSpPr>
          <p:cNvPr id="17" name="objective-3"/>
          <p:cNvGrpSpPr/>
          <p:nvPr/>
        </p:nvGrpSpPr>
        <p:grpSpPr>
          <a:xfrm>
            <a:off x="685800" y="3429000"/>
            <a:ext cx="9083011" cy="723900"/>
            <a:chOff x="685800" y="3429000"/>
            <a:chExt cx="9083011" cy="723900"/>
          </a:xfrm>
        </p:grpSpPr>
        <p:sp>
          <p:nvSpPr>
            <p:cNvPr id="14" name="Rectangle 14"/>
            <p:cNvSpPr/>
            <p:nvPr/>
          </p:nvSpPr>
          <p:spPr>
            <a:xfrm>
              <a:off x="685800" y="3429000"/>
              <a:ext cx="57150" cy="723900"/>
            </a:xfrm>
            <a:prstGeom prst="rect">
              <a:avLst/>
            </a:prstGeom>
            <a:solidFill>
              <a:srgbClr val="00A6A6"/>
            </a:solidFill>
            <a:ln>
              <a:noFill/>
            </a:ln>
          </p:spPr>
        </p:sp>
        <p:sp>
          <p:nvSpPr>
            <p:cNvPr id="15" name="TextBox 15"/>
            <p:cNvSpPr txBox="1"/>
            <p:nvPr/>
          </p:nvSpPr>
          <p:spPr>
            <a:xfrm>
              <a:off x="981456" y="3463290"/>
              <a:ext cx="377848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İlişkiyi korelasyonla incelemek</a:t>
              </a:r>
            </a:p>
          </p:txBody>
        </p:sp>
        <p:sp>
          <p:nvSpPr>
            <p:cNvPr id="16" name="TextBox 16"/>
            <p:cNvSpPr txBox="1"/>
            <p:nvPr/>
          </p:nvSpPr>
          <p:spPr>
            <a:xfrm>
              <a:off x="982599" y="3792379"/>
              <a:ext cx="878621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Korelasyon ve ısı haritasıyla incelemek; bunun nedensellik olmadığını ayırt etmek.</a:t>
              </a:r>
            </a:p>
          </p:txBody>
        </p:sp>
      </p:grpSp>
      <p:grpSp>
        <p:nvGrpSpPr>
          <p:cNvPr id="21" name="objective-4"/>
          <p:cNvGrpSpPr/>
          <p:nvPr/>
        </p:nvGrpSpPr>
        <p:grpSpPr>
          <a:xfrm>
            <a:off x="685800" y="4457700"/>
            <a:ext cx="6881592" cy="723900"/>
            <a:chOff x="685800" y="4457700"/>
            <a:chExt cx="6881592" cy="723900"/>
          </a:xfrm>
        </p:grpSpPr>
        <p:sp>
          <p:nvSpPr>
            <p:cNvPr id="18" name="Rectangle 18"/>
            <p:cNvSpPr/>
            <p:nvPr/>
          </p:nvSpPr>
          <p:spPr>
            <a:xfrm>
              <a:off x="685800" y="4457700"/>
              <a:ext cx="57150" cy="723900"/>
            </a:xfrm>
            <a:prstGeom prst="rect">
              <a:avLst/>
            </a:prstGeom>
            <a:solidFill>
              <a:srgbClr val="00A6A6"/>
            </a:solidFill>
            <a:ln>
              <a:noFill/>
            </a:ln>
          </p:spPr>
        </p:sp>
        <p:sp>
          <p:nvSpPr>
            <p:cNvPr id="19" name="TextBox 19"/>
            <p:cNvSpPr txBox="1"/>
            <p:nvPr/>
          </p:nvSpPr>
          <p:spPr>
            <a:xfrm>
              <a:off x="981456" y="4491990"/>
              <a:ext cx="37159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Grup karşılaştırması yapmak</a:t>
              </a:r>
            </a:p>
          </p:txBody>
        </p:sp>
        <p:sp>
          <p:nvSpPr>
            <p:cNvPr id="20" name="TextBox 20"/>
            <p:cNvSpPr txBox="1"/>
            <p:nvPr/>
          </p:nvSpPr>
          <p:spPr>
            <a:xfrm>
              <a:off x="982599" y="4821079"/>
              <a:ext cx="658479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Kutu grafiğiyle grup bazında dağılım karşılaştırması yapmak.</a:t>
              </a:r>
            </a:p>
          </p:txBody>
        </p:sp>
      </p:grpSp>
      <p:grpSp>
        <p:nvGrpSpPr>
          <p:cNvPr id="25" name="success-band"/>
          <p:cNvGrpSpPr/>
          <p:nvPr/>
        </p:nvGrpSpPr>
        <p:grpSpPr>
          <a:xfrm>
            <a:off x="609600" y="5467350"/>
            <a:ext cx="10972800" cy="848106"/>
            <a:chOff x="609600" y="5467350"/>
            <a:chExt cx="10972800" cy="848106"/>
          </a:xfrm>
        </p:grpSpPr>
        <p:sp>
          <p:nvSpPr>
            <p:cNvPr id="22" name="Rectangle 22"/>
            <p:cNvSpPr/>
            <p:nvPr/>
          </p:nvSpPr>
          <p:spPr>
            <a:xfrm>
              <a:off x="609600" y="5467350"/>
              <a:ext cx="10972800" cy="838200"/>
            </a:xfrm>
            <a:prstGeom prst="roundRect">
              <a:avLst>
                <a:gd name="adj" fmla="val 9091"/>
              </a:avLst>
            </a:prstGeom>
            <a:solidFill>
              <a:srgbClr val="EAF4F6"/>
            </a:solidFill>
            <a:ln>
              <a:noFill/>
            </a:ln>
          </p:spPr>
        </p:sp>
        <p:sp>
          <p:nvSpPr>
            <p:cNvPr id="23" name="TextBox 23"/>
            <p:cNvSpPr txBox="1"/>
            <p:nvPr/>
          </p:nvSpPr>
          <p:spPr>
            <a:xfrm>
              <a:off x="906399" y="5564029"/>
              <a:ext cx="15081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ölçütü</a:t>
              </a:r>
            </a:p>
          </p:txBody>
        </p:sp>
        <p:sp>
          <p:nvSpPr>
            <p:cNvPr id="24" name="TextBox 24"/>
            <p:cNvSpPr txBox="1"/>
            <p:nvPr/>
          </p:nvSpPr>
          <p:spPr>
            <a:xfrm>
              <a:off x="908304" y="5871210"/>
              <a:ext cx="78379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Eksik değerleri ve aykırı gözlemleri gösterebiliyor, korelasyon-nedensellik farkını</a:t>
              </a:r>
              <a:br/>
              <a:r>
                <a:rPr lang="tr-TR" sz="1200" dirty="0">
                  <a:solidFill>
                    <a:srgbClr val="172B3A"/>
                  </a:solidFill>
                  <a:latin typeface="+mn-lt"/>
                  <a:ea typeface="+mn-ea"/>
                  <a:cs typeface="+mn-cs"/>
                </a:rPr>
                <a:t>örnekle açıklayabiliyor ve bulguları veri hazırlama kararına bağlayabiliyorsanız hedeflere ulaşılmıştır.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26</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239296" cy="668845"/>
            <a:chOff x="609600" y="171450"/>
            <a:chExt cx="7239296"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654892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EDA tekniği</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28750"/>
              <a:chOff x="685800" y="2381250"/>
              <a:chExt cx="2381250" cy="1428750"/>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832" y="2630805"/>
                <a:ext cx="1589532" cy="1134618"/>
              </a:xfrm>
              <a:prstGeom prst="rect">
                <a:avLst/>
              </a:prstGeom>
              <a:noFill/>
              <a:ln>
                <a:noFill/>
              </a:ln>
            </p:spPr>
            <p:txBody>
              <a:bodyPr wrap="none" lIns="0" tIns="0" rIns="0" bIns="0" anchor="t" anchorCtr="0">
                <a:spAutoFit/>
              </a:bodyPr>
              <a:lstStyle/>
              <a:p>
                <a:pPr algn="l">
                  <a:lnSpc>
                    <a:spcPts val="2850"/>
                  </a:lnSpc>
                </a:pPr>
                <a:r>
                  <a:rPr lang="tr-TR" sz="2100" b="1" dirty="0">
                    <a:solidFill>
                      <a:srgbClr val="FFFFFF"/>
                    </a:solidFill>
                    <a:latin typeface="+mn-lt"/>
                    <a:ea typeface="+mn-ea"/>
                    <a:cs typeface="+mn-cs"/>
                  </a:rPr>
                  <a:t>Keşifçi Veri</a:t>
                </a:r>
                <a:br/>
                <a:r>
                  <a:rPr lang="tr-TR" sz="2100" b="1" dirty="0">
                    <a:solidFill>
                      <a:srgbClr val="FFFFFF"/>
                    </a:solidFill>
                    <a:latin typeface="+mn-lt"/>
                    <a:ea typeface="+mn-ea"/>
                    <a:cs typeface="+mn-cs"/>
                  </a:rPr>
                  <a:t>Analizi</a:t>
                </a:r>
                <a:br/>
                <a:r>
                  <a:rPr lang="tr-TR" sz="2100" b="1" dirty="0">
                    <a:solidFill>
                      <a:srgbClr val="FFFFFF"/>
                    </a:solidFill>
                    <a:latin typeface="+mn-lt"/>
                    <a:ea typeface="+mn-ea"/>
                    <a:cs typeface="+mn-cs"/>
                  </a:rPr>
                  <a:t>(EDA)</a:t>
                </a:r>
              </a:p>
            </p:txBody>
          </p:sp>
        </p:grpSp>
        <p:grpSp>
          <p:nvGrpSpPr>
            <p:cNvPr id="28" name="map-node-dagilim"/>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992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Dağılım</a:t>
                </a:r>
              </a:p>
            </p:txBody>
          </p:sp>
          <p:sp>
            <p:nvSpPr>
              <p:cNvPr id="27" name="TextBox 27"/>
              <p:cNvSpPr txBox="1"/>
              <p:nvPr/>
            </p:nvSpPr>
            <p:spPr>
              <a:xfrm>
                <a:off x="4792599" y="1601629"/>
                <a:ext cx="308951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ortalama, medyan, histogram</a:t>
                </a:r>
              </a:p>
            </p:txBody>
          </p:sp>
        </p:grpSp>
        <p:grpSp>
          <p:nvGrpSpPr>
            <p:cNvPr id="32" name="map-node-carpiklik"/>
            <p:cNvGrpSpPr/>
            <p:nvPr/>
          </p:nvGrpSpPr>
          <p:grpSpPr>
            <a:xfrm>
              <a:off x="4572000" y="2209800"/>
              <a:ext cx="3810000" cy="723900"/>
              <a:chOff x="4572000" y="2209800"/>
              <a:chExt cx="3810000"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122163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Çarpıklık</a:t>
                </a:r>
              </a:p>
            </p:txBody>
          </p:sp>
          <p:sp>
            <p:nvSpPr>
              <p:cNvPr id="31" name="TextBox 31"/>
              <p:cNvSpPr txBox="1"/>
              <p:nvPr/>
            </p:nvSpPr>
            <p:spPr>
              <a:xfrm>
                <a:off x="4792599" y="2592229"/>
                <a:ext cx="295125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dağılımın asimetrisini ölçer</a:t>
                </a:r>
              </a:p>
            </p:txBody>
          </p:sp>
        </p:grpSp>
        <p:grpSp>
          <p:nvGrpSpPr>
            <p:cNvPr id="36" name="map-node-korelasyon"/>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Korelasyon</a:t>
                </a:r>
              </a:p>
            </p:txBody>
          </p:sp>
          <p:sp>
            <p:nvSpPr>
              <p:cNvPr id="35" name="TextBox 35"/>
              <p:cNvSpPr txBox="1"/>
              <p:nvPr/>
            </p:nvSpPr>
            <p:spPr>
              <a:xfrm>
                <a:off x="4792599" y="3582829"/>
                <a:ext cx="240887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iki değişken arası ilişki</a:t>
                </a:r>
              </a:p>
            </p:txBody>
          </p:sp>
        </p:grpSp>
        <p:grpSp>
          <p:nvGrpSpPr>
            <p:cNvPr id="40" name="map-node-kutu"/>
            <p:cNvGrpSpPr/>
            <p:nvPr/>
          </p:nvGrpSpPr>
          <p:grpSpPr>
            <a:xfrm>
              <a:off x="4572000" y="4191000"/>
              <a:ext cx="4224719" cy="723900"/>
              <a:chOff x="4572000" y="4191000"/>
              <a:chExt cx="4224719"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1514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Kutu grafiği</a:t>
                </a:r>
              </a:p>
            </p:txBody>
          </p:sp>
          <p:sp>
            <p:nvSpPr>
              <p:cNvPr id="39" name="TextBox 39"/>
              <p:cNvSpPr txBox="1"/>
              <p:nvPr/>
            </p:nvSpPr>
            <p:spPr>
              <a:xfrm>
                <a:off x="4792599" y="4573429"/>
                <a:ext cx="400412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grup ve aykırı değer karşılaştırması</a:t>
                </a:r>
              </a:p>
            </p:txBody>
          </p:sp>
        </p:grpSp>
        <p:grpSp>
          <p:nvGrpSpPr>
            <p:cNvPr id="44" name="map-node-isi"/>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1514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Isı haritası</a:t>
                </a:r>
              </a:p>
            </p:txBody>
          </p:sp>
          <p:sp>
            <p:nvSpPr>
              <p:cNvPr id="43" name="TextBox 43"/>
              <p:cNvSpPr txBox="1"/>
              <p:nvPr/>
            </p:nvSpPr>
            <p:spPr>
              <a:xfrm>
                <a:off x="4792599" y="5716429"/>
                <a:ext cx="496126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çok değişkenli korelasyonu tek görünümde tarar</a:t>
                </a:r>
              </a:p>
            </p:txBody>
          </p:sp>
        </p:grpSp>
        <p:grpSp>
          <p:nvGrpSpPr>
            <p:cNvPr id="49" name="map-legend"/>
            <p:cNvGrpSpPr/>
            <p:nvPr/>
          </p:nvGrpSpPr>
          <p:grpSpPr>
            <a:xfrm>
              <a:off x="685800" y="5528310"/>
              <a:ext cx="3092673" cy="577596"/>
              <a:chOff x="685800" y="5528310"/>
              <a:chExt cx="3092673"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6206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EDA'dan türeyen inceleme tekniği</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26987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Teknikler arası tamamlayıcı ilişki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26</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734772" cy="557403"/>
            <a:chOff x="595122" y="282892"/>
            <a:chExt cx="5734772" cy="557403"/>
          </a:xfrm>
        </p:grpSpPr>
        <p:sp>
          <p:nvSpPr>
            <p:cNvPr id="4" name="TextBox 4"/>
            <p:cNvSpPr txBox="1"/>
            <p:nvPr/>
          </p:nvSpPr>
          <p:spPr>
            <a:xfrm>
              <a:off x="595122" y="282892"/>
              <a:ext cx="573477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EDA: tanım ve neden vardır?</a:t>
              </a:r>
            </a:p>
          </p:txBody>
        </p:sp>
      </p:grpSp>
      <p:grpSp>
        <p:nvGrpSpPr>
          <p:cNvPr id="7" name="kicker"/>
          <p:cNvGrpSpPr/>
          <p:nvPr/>
        </p:nvGrpSpPr>
        <p:grpSpPr>
          <a:xfrm>
            <a:off x="604266" y="1048702"/>
            <a:ext cx="4262719" cy="205359"/>
            <a:chOff x="604266" y="1048702"/>
            <a:chExt cx="4262719" cy="205359"/>
          </a:xfrm>
        </p:grpSpPr>
        <p:sp>
          <p:nvSpPr>
            <p:cNvPr id="6" name="TextBox 6"/>
            <p:cNvSpPr txBox="1"/>
            <p:nvPr/>
          </p:nvSpPr>
          <p:spPr>
            <a:xfrm>
              <a:off x="604266" y="1048702"/>
              <a:ext cx="4262719"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TEKNİK 1 / 5 · ÖĞRENCİ BAŞARI VERİSİ ÖRNEĞİ</a:t>
              </a:r>
            </a:p>
          </p:txBody>
        </p:sp>
      </p:grpSp>
      <p:grpSp>
        <p:nvGrpSpPr>
          <p:cNvPr id="13" name="definition-card"/>
          <p:cNvGrpSpPr/>
          <p:nvPr/>
        </p:nvGrpSpPr>
        <p:grpSpPr>
          <a:xfrm>
            <a:off x="609600" y="1333500"/>
            <a:ext cx="5295900" cy="3048000"/>
            <a:chOff x="609600" y="1333500"/>
            <a:chExt cx="5295900" cy="3048000"/>
          </a:xfrm>
        </p:grpSpPr>
        <p:sp>
          <p:nvSpPr>
            <p:cNvPr id="8" name="Rectangle 8"/>
            <p:cNvSpPr/>
            <p:nvPr/>
          </p:nvSpPr>
          <p:spPr>
            <a:xfrm>
              <a:off x="609600" y="1333500"/>
              <a:ext cx="5295900" cy="3048000"/>
            </a:xfrm>
            <a:prstGeom prst="roundRect">
              <a:avLst>
                <a:gd name="adj" fmla="val 3125"/>
              </a:avLst>
            </a:prstGeom>
            <a:solidFill>
              <a:srgbClr val="FFFFFF"/>
            </a:solidFill>
            <a:ln w="14288">
              <a:solidFill>
                <a:srgbClr val="B8CBD3"/>
              </a:solidFill>
            </a:ln>
          </p:spPr>
        </p:sp>
        <p:sp>
          <p:nvSpPr>
            <p:cNvPr id="9" name="TextBox 9"/>
            <p:cNvSpPr txBox="1"/>
            <p:nvPr/>
          </p:nvSpPr>
          <p:spPr>
            <a:xfrm>
              <a:off x="829056" y="14820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0" name="TextBox 10"/>
            <p:cNvSpPr txBox="1"/>
            <p:nvPr/>
          </p:nvSpPr>
          <p:spPr>
            <a:xfrm>
              <a:off x="831342" y="1892618"/>
              <a:ext cx="3485578"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Model kurmadan önce verinin yapısını,</a:t>
              </a:r>
              <a:br/>
              <a:r>
                <a:rPr lang="tr-TR" sz="1350" dirty="0">
                  <a:solidFill>
                    <a:srgbClr val="172B3A"/>
                  </a:solidFill>
                  <a:latin typeface="+mn-lt"/>
                  <a:ea typeface="+mn-ea"/>
                  <a:cs typeface="+mn-cs"/>
                </a:rPr>
                <a:t>niteliğini, eksiklerini ve ilk örüntülerini</a:t>
              </a:r>
              <a:br/>
              <a:r>
                <a:rPr lang="tr-TR" sz="1350" dirty="0">
                  <a:solidFill>
                    <a:srgbClr val="172B3A"/>
                  </a:solidFill>
                  <a:latin typeface="+mn-lt"/>
                  <a:ea typeface="+mn-ea"/>
                  <a:cs typeface="+mn-cs"/>
                </a:rPr>
                <a:t>sistematik biçimde inceleme sürecidir;</a:t>
              </a:r>
              <a:br/>
              <a:r>
                <a:rPr lang="tr-TR" sz="1350" dirty="0">
                  <a:solidFill>
                    <a:srgbClr val="172B3A"/>
                  </a:solidFill>
                  <a:latin typeface="+mn-lt"/>
                  <a:ea typeface="+mn-ea"/>
                  <a:cs typeface="+mn-cs"/>
                </a:rPr>
                <a:t>satır sayısı, sütun türü, eksik ve uç</a:t>
              </a:r>
              <a:br/>
              <a:r>
                <a:rPr lang="tr-TR" sz="1350" dirty="0">
                  <a:solidFill>
                    <a:srgbClr val="172B3A"/>
                  </a:solidFill>
                  <a:latin typeface="+mn-lt"/>
                  <a:ea typeface="+mn-ea"/>
                  <a:cs typeface="+mn-cs"/>
                </a:rPr>
                <a:t>değer, dağılım gibi sorulara cevap verir.</a:t>
              </a:r>
            </a:p>
          </p:txBody>
        </p:sp>
        <p:sp>
          <p:nvSpPr>
            <p:cNvPr id="11" name="Line 11"/>
            <p:cNvSpPr/>
            <p:nvPr/>
          </p:nvSpPr>
          <p:spPr>
            <a:xfrm>
              <a:off x="838200" y="33337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2" name="TextBox 12"/>
            <p:cNvSpPr txBox="1"/>
            <p:nvPr/>
          </p:nvSpPr>
          <p:spPr>
            <a:xfrm>
              <a:off x="832104" y="3489960"/>
              <a:ext cx="3265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Yeni taşınılan bir evde eşya yerleştirmeden</a:t>
              </a:r>
              <a:br/>
              <a:r>
                <a:rPr lang="tr-TR" sz="1200" dirty="0">
                  <a:solidFill>
                    <a:srgbClr val="52616B"/>
                  </a:solidFill>
                  <a:latin typeface="+mn-lt"/>
                  <a:ea typeface="+mn-ea"/>
                  <a:cs typeface="+mn-cs"/>
                </a:rPr>
                <a:t>önce odaları dolaşmaya benzer; veri</a:t>
              </a:r>
              <a:br/>
              <a:r>
                <a:rPr lang="tr-TR" sz="1200" dirty="0">
                  <a:solidFill>
                    <a:srgbClr val="52616B"/>
                  </a:solidFill>
                  <a:latin typeface="+mn-lt"/>
                  <a:ea typeface="+mn-ea"/>
                  <a:cs typeface="+mn-cs"/>
                </a:rPr>
                <a:t>tanınmadan kurulan model yanlış varsayar.</a:t>
              </a:r>
            </a:p>
          </p:txBody>
        </p:sp>
      </p:grpSp>
      <p:grpSp>
        <p:nvGrpSpPr>
          <p:cNvPr id="19" name="why-card"/>
          <p:cNvGrpSpPr/>
          <p:nvPr/>
        </p:nvGrpSpPr>
        <p:grpSpPr>
          <a:xfrm>
            <a:off x="6286500" y="1333500"/>
            <a:ext cx="5295900" cy="3048000"/>
            <a:chOff x="6286500" y="1333500"/>
            <a:chExt cx="5295900" cy="3048000"/>
          </a:xfrm>
        </p:grpSpPr>
        <p:sp>
          <p:nvSpPr>
            <p:cNvPr id="14" name="Rectangle 14"/>
            <p:cNvSpPr/>
            <p:nvPr/>
          </p:nvSpPr>
          <p:spPr>
            <a:xfrm>
              <a:off x="6286500" y="1333500"/>
              <a:ext cx="5295900" cy="3048000"/>
            </a:xfrm>
            <a:prstGeom prst="roundRect">
              <a:avLst>
                <a:gd name="adj" fmla="val 3125"/>
              </a:avLst>
            </a:prstGeom>
            <a:solidFill>
              <a:srgbClr val="FFFFFF"/>
            </a:solidFill>
            <a:ln w="14288">
              <a:solidFill>
                <a:srgbClr val="B8CBD3"/>
              </a:solidFill>
            </a:ln>
          </p:spPr>
        </p:sp>
        <p:sp>
          <p:nvSpPr>
            <p:cNvPr id="15" name="TextBox 15"/>
            <p:cNvSpPr txBox="1"/>
            <p:nvPr/>
          </p:nvSpPr>
          <p:spPr>
            <a:xfrm>
              <a:off x="6505956" y="1482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6" name="TextBox 16"/>
            <p:cNvSpPr txBox="1"/>
            <p:nvPr/>
          </p:nvSpPr>
          <p:spPr>
            <a:xfrm>
              <a:off x="6508242" y="1892618"/>
              <a:ext cx="3245548"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Ham veriler analiz için hazır değildir:</a:t>
              </a:r>
              <a:br/>
              <a:r>
                <a:rPr lang="tr-TR" sz="1350" dirty="0">
                  <a:solidFill>
                    <a:srgbClr val="172B3A"/>
                  </a:solidFill>
                  <a:latin typeface="+mn-lt"/>
                  <a:ea typeface="+mn-ea"/>
                  <a:cs typeface="+mn-cs"/>
                </a:rPr>
                <a:t>sayısal görünen bir sütun metin olarak</a:t>
              </a:r>
              <a:br/>
              <a:r>
                <a:rPr lang="tr-TR" sz="1350" dirty="0">
                  <a:solidFill>
                    <a:srgbClr val="172B3A"/>
                  </a:solidFill>
                  <a:latin typeface="+mn-lt"/>
                  <a:ea typeface="+mn-ea"/>
                  <a:cs typeface="+mn-cs"/>
                </a:rPr>
                <a:t>saklanmış, bazı değerler eksik veya</a:t>
              </a:r>
              <a:br/>
              <a:r>
                <a:rPr lang="tr-TR" sz="1350" dirty="0">
                  <a:solidFill>
                    <a:srgbClr val="172B3A"/>
                  </a:solidFill>
                  <a:latin typeface="+mn-lt"/>
                  <a:ea typeface="+mn-ea"/>
                  <a:cs typeface="+mn-cs"/>
                </a:rPr>
                <a:t>gerçekçi olmayan aralıkta olabilir. Bu</a:t>
              </a:r>
              <a:br/>
              <a:r>
                <a:rPr lang="tr-TR" sz="1350" dirty="0">
                  <a:solidFill>
                    <a:srgbClr val="172B3A"/>
                  </a:solidFill>
                  <a:latin typeface="+mn-lt"/>
                  <a:ea typeface="+mn-ea"/>
                  <a:cs typeface="+mn-cs"/>
                </a:rPr>
                <a:t>sorunlar görünmeden hesap yanıltır.</a:t>
              </a:r>
            </a:p>
          </p:txBody>
        </p:sp>
        <p:sp>
          <p:nvSpPr>
            <p:cNvPr id="17" name="Line 17"/>
            <p:cNvSpPr/>
            <p:nvPr/>
          </p:nvSpPr>
          <p:spPr>
            <a:xfrm>
              <a:off x="6515100" y="33337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8" name="TextBox 18"/>
            <p:cNvSpPr txBox="1"/>
            <p:nvPr/>
          </p:nvSpPr>
          <p:spPr>
            <a:xfrm>
              <a:off x="6509004" y="3489960"/>
              <a:ext cx="32430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John Tukey'nin 1977 çalışmaları EDA'yı</a:t>
              </a:r>
              <a:br/>
              <a:r>
                <a:rPr lang="tr-TR" sz="1200" dirty="0">
                  <a:solidFill>
                    <a:srgbClr val="52616B"/>
                  </a:solidFill>
                  <a:latin typeface="+mn-lt"/>
                  <a:ea typeface="+mn-ea"/>
                  <a:cs typeface="+mn-cs"/>
                </a:rPr>
                <a:t>yaygınlaştırmıştır; pandas, matplotlib ve</a:t>
              </a:r>
              <a:br/>
              <a:r>
                <a:rPr lang="tr-TR" sz="1200" dirty="0">
                  <a:solidFill>
                    <a:srgbClr val="52616B"/>
                  </a:solidFill>
                  <a:latin typeface="+mn-lt"/>
                  <a:ea typeface="+mn-ea"/>
                  <a:cs typeface="+mn-cs"/>
                </a:rPr>
                <a:t>seaborn bugünkü Python araç setidir.</a:t>
              </a:r>
            </a:p>
          </p:txBody>
        </p:sp>
      </p:grpSp>
      <p:grpSp>
        <p:nvGrpSpPr>
          <p:cNvPr id="37" name="eda-cycle"/>
          <p:cNvGrpSpPr/>
          <p:nvPr/>
        </p:nvGrpSpPr>
        <p:grpSpPr>
          <a:xfrm>
            <a:off x="609600" y="4667250"/>
            <a:ext cx="10972800" cy="1238250"/>
            <a:chOff x="609600" y="4667250"/>
            <a:chExt cx="10972800" cy="1238250"/>
          </a:xfrm>
        </p:grpSpPr>
        <p:sp>
          <p:nvSpPr>
            <p:cNvPr id="20" name="Rectangle 20"/>
            <p:cNvSpPr/>
            <p:nvPr/>
          </p:nvSpPr>
          <p:spPr>
            <a:xfrm>
              <a:off x="609600" y="4667250"/>
              <a:ext cx="10972800" cy="1238250"/>
            </a:xfrm>
            <a:prstGeom prst="roundRect">
              <a:avLst>
                <a:gd name="adj" fmla="val 6154"/>
              </a:avLst>
            </a:prstGeom>
            <a:solidFill>
              <a:srgbClr val="EAF4F6"/>
            </a:solidFill>
            <a:ln>
              <a:noFill/>
            </a:ln>
          </p:spPr>
        </p:sp>
        <p:sp>
          <p:nvSpPr>
            <p:cNvPr id="21" name="TextBox 21"/>
            <p:cNvSpPr txBox="1"/>
            <p:nvPr/>
          </p:nvSpPr>
          <p:spPr>
            <a:xfrm>
              <a:off x="908304" y="4804410"/>
              <a:ext cx="419363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EDA döngüsü: ham veriden veri hazırlama kararına</a:t>
              </a:r>
            </a:p>
          </p:txBody>
        </p:sp>
        <p:grpSp>
          <p:nvGrpSpPr>
            <p:cNvPr id="32" name="Group 32"/>
            <p:cNvGrpSpPr/>
            <p:nvPr/>
          </p:nvGrpSpPr>
          <p:grpSpPr>
            <a:xfrm>
              <a:off x="914400" y="5105400"/>
              <a:ext cx="9753600" cy="533400"/>
              <a:chOff x="914400" y="5105400"/>
              <a:chExt cx="9753600" cy="533400"/>
            </a:xfrm>
          </p:grpSpPr>
          <p:sp>
            <p:nvSpPr>
              <p:cNvPr id="22" name="Rectangle 22"/>
              <p:cNvSpPr/>
              <p:nvPr/>
            </p:nvSpPr>
            <p:spPr>
              <a:xfrm>
                <a:off x="914400" y="5105400"/>
                <a:ext cx="1676400" cy="533400"/>
              </a:xfrm>
              <a:prstGeom prst="roundRect">
                <a:avLst>
                  <a:gd name="adj" fmla="val 14286"/>
                </a:avLst>
              </a:prstGeom>
              <a:solidFill>
                <a:srgbClr val="FFFFFF"/>
              </a:solidFill>
              <a:ln w="14288">
                <a:solidFill>
                  <a:srgbClr val="2E86AB"/>
                </a:solidFill>
              </a:ln>
            </p:spPr>
          </p:sp>
          <p:sp>
            <p:nvSpPr>
              <p:cNvPr id="23" name="TextBox 23"/>
              <p:cNvSpPr txBox="1"/>
              <p:nvPr/>
            </p:nvSpPr>
            <p:spPr>
              <a:xfrm>
                <a:off x="1419719" y="5307806"/>
                <a:ext cx="665762" cy="220028"/>
              </a:xfrm>
              <a:prstGeom prst="rect">
                <a:avLst/>
              </a:prstGeom>
              <a:noFill/>
              <a:ln>
                <a:noFill/>
              </a:ln>
            </p:spPr>
            <p:txBody>
              <a:bodyPr wrap="none" lIns="0" tIns="0" rIns="0" bIns="0" anchor="t" anchorCtr="0">
                <a:spAutoFit/>
              </a:bodyPr>
              <a:lstStyle/>
              <a:p>
                <a:pPr algn="ctr"/>
                <a:r>
                  <a:rPr lang="tr-TR" sz="1120" b="1" dirty="0">
                    <a:solidFill>
                      <a:srgbClr val="172B3A"/>
                    </a:solidFill>
                    <a:latin typeface="+mn-lt"/>
                    <a:ea typeface="+mn-ea"/>
                    <a:cs typeface="+mn-cs"/>
                  </a:rPr>
                  <a:t>Ham veri</a:t>
                </a:r>
              </a:p>
            </p:txBody>
          </p:sp>
          <p:sp>
            <p:nvSpPr>
              <p:cNvPr id="24" name="Rectangle 24"/>
              <p:cNvSpPr/>
              <p:nvPr/>
            </p:nvSpPr>
            <p:spPr>
              <a:xfrm>
                <a:off x="2895600" y="5105400"/>
                <a:ext cx="1676400" cy="533400"/>
              </a:xfrm>
              <a:prstGeom prst="roundRect">
                <a:avLst>
                  <a:gd name="adj" fmla="val 14286"/>
                </a:avLst>
              </a:prstGeom>
              <a:solidFill>
                <a:srgbClr val="FFFFFF"/>
              </a:solidFill>
              <a:ln w="14288">
                <a:solidFill>
                  <a:srgbClr val="2E86AB"/>
                </a:solidFill>
              </a:ln>
            </p:spPr>
          </p:sp>
          <p:sp>
            <p:nvSpPr>
              <p:cNvPr id="25" name="TextBox 25"/>
              <p:cNvSpPr txBox="1"/>
              <p:nvPr/>
            </p:nvSpPr>
            <p:spPr>
              <a:xfrm>
                <a:off x="3028879" y="5307806"/>
                <a:ext cx="1409843" cy="220028"/>
              </a:xfrm>
              <a:prstGeom prst="rect">
                <a:avLst/>
              </a:prstGeom>
              <a:noFill/>
              <a:ln>
                <a:noFill/>
              </a:ln>
            </p:spPr>
            <p:txBody>
              <a:bodyPr wrap="none" lIns="0" tIns="0" rIns="0" bIns="0" anchor="t" anchorCtr="0">
                <a:spAutoFit/>
              </a:bodyPr>
              <a:lstStyle/>
              <a:p>
                <a:pPr algn="ctr"/>
                <a:r>
                  <a:rPr lang="tr-TR" sz="1120" b="1" dirty="0">
                    <a:solidFill>
                      <a:srgbClr val="172B3A"/>
                    </a:solidFill>
                    <a:latin typeface="+mn-lt"/>
                    <a:ea typeface="+mn-ea"/>
                    <a:cs typeface="+mn-cs"/>
                  </a:rPr>
                  <a:t>Tür/eksik denetim</a:t>
                </a:r>
              </a:p>
            </p:txBody>
          </p:sp>
          <p:sp>
            <p:nvSpPr>
              <p:cNvPr id="26" name="Rectangle 26"/>
              <p:cNvSpPr/>
              <p:nvPr/>
            </p:nvSpPr>
            <p:spPr>
              <a:xfrm>
                <a:off x="4876800" y="5105400"/>
                <a:ext cx="1676400" cy="533400"/>
              </a:xfrm>
              <a:prstGeom prst="roundRect">
                <a:avLst>
                  <a:gd name="adj" fmla="val 14286"/>
                </a:avLst>
              </a:prstGeom>
              <a:solidFill>
                <a:srgbClr val="FFFFFF"/>
              </a:solidFill>
              <a:ln w="14288">
                <a:solidFill>
                  <a:srgbClr val="2E86AB"/>
                </a:solidFill>
              </a:ln>
            </p:spPr>
          </p:sp>
          <p:sp>
            <p:nvSpPr>
              <p:cNvPr id="27" name="TextBox 27"/>
              <p:cNvSpPr txBox="1"/>
              <p:nvPr/>
            </p:nvSpPr>
            <p:spPr>
              <a:xfrm>
                <a:off x="4990384" y="5307806"/>
                <a:ext cx="1449232" cy="220028"/>
              </a:xfrm>
              <a:prstGeom prst="rect">
                <a:avLst/>
              </a:prstGeom>
              <a:noFill/>
              <a:ln>
                <a:noFill/>
              </a:ln>
            </p:spPr>
            <p:txBody>
              <a:bodyPr wrap="none" lIns="0" tIns="0" rIns="0" bIns="0" anchor="t" anchorCtr="0">
                <a:spAutoFit/>
              </a:bodyPr>
              <a:lstStyle/>
              <a:p>
                <a:pPr algn="ctr"/>
                <a:r>
                  <a:rPr lang="tr-TR" sz="1120" b="1" dirty="0">
                    <a:solidFill>
                      <a:srgbClr val="172B3A"/>
                    </a:solidFill>
                    <a:latin typeface="+mn-lt"/>
                    <a:ea typeface="+mn-ea"/>
                    <a:cs typeface="+mn-cs"/>
                  </a:rPr>
                  <a:t>Dağılım/çarpıklık</a:t>
                </a:r>
              </a:p>
            </p:txBody>
          </p:sp>
          <p:sp>
            <p:nvSpPr>
              <p:cNvPr id="28" name="Rectangle 28"/>
              <p:cNvSpPr/>
              <p:nvPr/>
            </p:nvSpPr>
            <p:spPr>
              <a:xfrm>
                <a:off x="6858000" y="5105400"/>
                <a:ext cx="1676400" cy="533400"/>
              </a:xfrm>
              <a:prstGeom prst="roundRect">
                <a:avLst>
                  <a:gd name="adj" fmla="val 14286"/>
                </a:avLst>
              </a:prstGeom>
              <a:solidFill>
                <a:srgbClr val="FFFFFF"/>
              </a:solidFill>
              <a:ln w="14288">
                <a:solidFill>
                  <a:srgbClr val="2E86AB"/>
                </a:solidFill>
              </a:ln>
            </p:spPr>
          </p:sp>
          <p:sp>
            <p:nvSpPr>
              <p:cNvPr id="29" name="TextBox 29"/>
              <p:cNvSpPr txBox="1"/>
              <p:nvPr/>
            </p:nvSpPr>
            <p:spPr>
              <a:xfrm>
                <a:off x="7098201" y="5307806"/>
                <a:ext cx="1195998" cy="220028"/>
              </a:xfrm>
              <a:prstGeom prst="rect">
                <a:avLst/>
              </a:prstGeom>
              <a:noFill/>
              <a:ln>
                <a:noFill/>
              </a:ln>
            </p:spPr>
            <p:txBody>
              <a:bodyPr wrap="none" lIns="0" tIns="0" rIns="0" bIns="0" anchor="t" anchorCtr="0">
                <a:spAutoFit/>
              </a:bodyPr>
              <a:lstStyle/>
              <a:p>
                <a:pPr algn="ctr"/>
                <a:r>
                  <a:rPr lang="tr-TR" sz="1120" b="1" dirty="0">
                    <a:solidFill>
                      <a:srgbClr val="172B3A"/>
                    </a:solidFill>
                    <a:latin typeface="+mn-lt"/>
                    <a:ea typeface="+mn-ea"/>
                    <a:cs typeface="+mn-cs"/>
                  </a:rPr>
                  <a:t>Korelasyon/ısı</a:t>
                </a:r>
              </a:p>
            </p:txBody>
          </p:sp>
          <p:sp>
            <p:nvSpPr>
              <p:cNvPr id="30" name="Rectangle 30"/>
              <p:cNvSpPr/>
              <p:nvPr/>
            </p:nvSpPr>
            <p:spPr>
              <a:xfrm>
                <a:off x="8839200" y="5105400"/>
                <a:ext cx="1828800" cy="533400"/>
              </a:xfrm>
              <a:prstGeom prst="roundRect">
                <a:avLst>
                  <a:gd name="adj" fmla="val 14286"/>
                </a:avLst>
              </a:prstGeom>
              <a:solidFill>
                <a:srgbClr val="12355B"/>
              </a:solidFill>
              <a:ln>
                <a:noFill/>
              </a:ln>
            </p:spPr>
          </p:sp>
          <p:sp>
            <p:nvSpPr>
              <p:cNvPr id="31" name="TextBox 31"/>
              <p:cNvSpPr txBox="1"/>
              <p:nvPr/>
            </p:nvSpPr>
            <p:spPr>
              <a:xfrm>
                <a:off x="9072515" y="5307806"/>
                <a:ext cx="1362169"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Hazırlama kararı</a:t>
                </a:r>
              </a:p>
            </p:txBody>
          </p:sp>
        </p:grpSp>
        <p:sp>
          <p:nvSpPr>
            <p:cNvPr id="33" name="Line 33"/>
            <p:cNvSpPr/>
            <p:nvPr/>
          </p:nvSpPr>
          <p:spPr>
            <a:xfrm>
              <a:off x="2590800" y="5372100"/>
              <a:ext cx="266700" cy="1"/>
            </a:xfrm>
            <a:prstGeom prst="line">
              <a:avLst/>
            </a:prstGeom>
            <a:noFill/>
            <a:ln w="19050">
              <a:solidFill>
                <a:srgbClr val="00A6A6"/>
              </a:solidFill>
              <a:tailEnd type="arrow" w="lg" len="lg"/>
            </a:ln>
          </p:spPr>
        </p:sp>
        <p:sp>
          <p:nvSpPr>
            <p:cNvPr id="34" name="Line 34"/>
            <p:cNvSpPr/>
            <p:nvPr/>
          </p:nvSpPr>
          <p:spPr>
            <a:xfrm>
              <a:off x="4572000" y="5372100"/>
              <a:ext cx="266700" cy="1"/>
            </a:xfrm>
            <a:prstGeom prst="line">
              <a:avLst/>
            </a:prstGeom>
            <a:noFill/>
            <a:ln w="19050">
              <a:solidFill>
                <a:srgbClr val="00A6A6"/>
              </a:solidFill>
              <a:tailEnd type="arrow" w="lg" len="lg"/>
            </a:ln>
          </p:spPr>
        </p:sp>
        <p:sp>
          <p:nvSpPr>
            <p:cNvPr id="35" name="Line 35"/>
            <p:cNvSpPr/>
            <p:nvPr/>
          </p:nvSpPr>
          <p:spPr>
            <a:xfrm>
              <a:off x="6553200" y="5372100"/>
              <a:ext cx="266700" cy="1"/>
            </a:xfrm>
            <a:prstGeom prst="line">
              <a:avLst/>
            </a:prstGeom>
            <a:noFill/>
            <a:ln w="19050">
              <a:solidFill>
                <a:srgbClr val="00A6A6"/>
              </a:solidFill>
              <a:tailEnd type="arrow" w="lg" len="lg"/>
            </a:ln>
          </p:spPr>
        </p:sp>
        <p:sp>
          <p:nvSpPr>
            <p:cNvPr id="36" name="Line 36"/>
            <p:cNvSpPr/>
            <p:nvPr/>
          </p:nvSpPr>
          <p:spPr>
            <a:xfrm>
              <a:off x="8534400" y="5372100"/>
              <a:ext cx="266700" cy="1"/>
            </a:xfrm>
            <a:prstGeom prst="line">
              <a:avLst/>
            </a:prstGeom>
            <a:noFill/>
            <a:ln w="19050">
              <a:solidFill>
                <a:srgbClr val="00A6A6"/>
              </a:solidFill>
              <a:tailEnd type="arrow" w="lg" len="lg"/>
            </a:ln>
          </p:spPr>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26</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729448" cy="668845"/>
            <a:chOff x="609600" y="171450"/>
            <a:chExt cx="772944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70390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EDA uygulama: veri kümesini tanıma</a:t>
              </a:r>
            </a:p>
          </p:txBody>
        </p:sp>
      </p:grpSp>
      <p:grpSp>
        <p:nvGrpSpPr>
          <p:cNvPr id="21" name="code-card"/>
          <p:cNvGrpSpPr/>
          <p:nvPr/>
        </p:nvGrpSpPr>
        <p:grpSpPr>
          <a:xfrm>
            <a:off x="609600" y="1104900"/>
            <a:ext cx="5905500" cy="4762500"/>
            <a:chOff x="609600" y="1104900"/>
            <a:chExt cx="5905500" cy="4762500"/>
          </a:xfrm>
        </p:grpSpPr>
        <p:sp>
          <p:nvSpPr>
            <p:cNvPr id="12" name="Rectangle 12"/>
            <p:cNvSpPr/>
            <p:nvPr/>
          </p:nvSpPr>
          <p:spPr>
            <a:xfrm>
              <a:off x="609600" y="1104900"/>
              <a:ext cx="5905500" cy="4762500"/>
            </a:xfrm>
            <a:prstGeom prst="roundRect">
              <a:avLst>
                <a:gd name="adj" fmla="val 2000"/>
              </a:avLst>
            </a:prstGeom>
            <a:solidFill>
              <a:srgbClr val="12355B"/>
            </a:solidFill>
            <a:ln>
              <a:noFill/>
            </a:ln>
          </p:spPr>
        </p:sp>
        <p:sp>
          <p:nvSpPr>
            <p:cNvPr id="13" name="Ellipse 13"/>
            <p:cNvSpPr/>
            <p:nvPr/>
          </p:nvSpPr>
          <p:spPr>
            <a:xfrm>
              <a:off x="781050" y="1276350"/>
              <a:ext cx="114300" cy="114300"/>
            </a:xfrm>
            <a:prstGeom prst="ellipse">
              <a:avLst/>
            </a:prstGeom>
            <a:solidFill>
              <a:srgbClr val="00A6A6"/>
            </a:solidFill>
            <a:ln>
              <a:noFill/>
            </a:ln>
          </p:spPr>
        </p:sp>
        <p:sp>
          <p:nvSpPr>
            <p:cNvPr id="14" name="Ellipse 14"/>
            <p:cNvSpPr/>
            <p:nvPr/>
          </p:nvSpPr>
          <p:spPr>
            <a:xfrm>
              <a:off x="971550" y="1276350"/>
              <a:ext cx="114300" cy="114300"/>
            </a:xfrm>
            <a:prstGeom prst="ellipse">
              <a:avLst/>
            </a:prstGeom>
            <a:solidFill>
              <a:srgbClr val="2E86AB"/>
            </a:solidFill>
            <a:ln>
              <a:noFill/>
            </a:ln>
          </p:spPr>
        </p:sp>
        <p:sp>
          <p:nvSpPr>
            <p:cNvPr id="15" name="Ellipse 15"/>
            <p:cNvSpPr/>
            <p:nvPr/>
          </p:nvSpPr>
          <p:spPr>
            <a:xfrm>
              <a:off x="1162050" y="1276350"/>
              <a:ext cx="114300" cy="114300"/>
            </a:xfrm>
            <a:prstGeom prst="ellipse">
              <a:avLst/>
            </a:prstGeom>
            <a:solidFill>
              <a:srgbClr val="EAF4F6"/>
            </a:solidFill>
            <a:ln>
              <a:noFill/>
            </a:ln>
          </p:spPr>
        </p:sp>
        <p:sp>
          <p:nvSpPr>
            <p:cNvPr id="16" name="TextBox 16"/>
            <p:cNvSpPr txBox="1"/>
            <p:nvPr/>
          </p:nvSpPr>
          <p:spPr>
            <a:xfrm>
              <a:off x="832866" y="1563052"/>
              <a:ext cx="148778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import pandas as pd</a:t>
              </a:r>
            </a:p>
          </p:txBody>
        </p:sp>
        <p:sp>
          <p:nvSpPr>
            <p:cNvPr id="17" name="TextBox 17"/>
            <p:cNvSpPr txBox="1"/>
            <p:nvPr/>
          </p:nvSpPr>
          <p:spPr>
            <a:xfrm>
              <a:off x="832866" y="1848802"/>
              <a:ext cx="2871026" cy="1157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ogrenci_verisi = pd.DataFrame({</a:t>
              </a:r>
              <a:br/>
              <a:r>
                <a:rPr lang="tr-TR" sz="1050" dirty="0">
                  <a:solidFill>
                    <a:srgbClr val="EAF4F6"/>
                  </a:solidFill>
                  <a:latin typeface="Consolas"/>
                  <a:ea typeface="Consolas"/>
                  <a:cs typeface="Consolas"/>
                </a:rPr>
                <a:t>"bolum": ["Bilgisayar","Elektrik",...],</a:t>
              </a:r>
              <a:br/>
              <a:r>
                <a:rPr lang="tr-TR" sz="1050" dirty="0">
                  <a:solidFill>
                    <a:srgbClr val="EAF4F6"/>
                  </a:solidFill>
                  <a:latin typeface="Consolas"/>
                  <a:ea typeface="Consolas"/>
                  <a:cs typeface="Consolas"/>
                </a:rPr>
                <a:t>"calisma_saati": [18, 12, None, 25, 8],</a:t>
              </a:r>
              <a:br/>
              <a:r>
                <a:rPr lang="tr-TR" sz="1050" dirty="0">
                  <a:solidFill>
                    <a:srgbClr val="EAF4F6"/>
                  </a:solidFill>
                  <a:latin typeface="Consolas"/>
                  <a:ea typeface="Consolas"/>
                  <a:cs typeface="Consolas"/>
                </a:rPr>
                <a:t>"devamsizlik_gunu": [2, 5, 7, 1, 10],</a:t>
              </a:r>
              <a:br/>
              <a:r>
                <a:rPr lang="tr-TR" sz="1050" dirty="0">
                  <a:solidFill>
                    <a:srgbClr val="EAF4F6"/>
                  </a:solidFill>
                  <a:latin typeface="Consolas"/>
                  <a:ea typeface="Consolas"/>
                  <a:cs typeface="Consolas"/>
                </a:rPr>
                <a:t>"sinav_notu": [88, 74, 69, 95, 58]</a:t>
              </a:r>
              <a:br/>
              <a:r>
                <a:rPr lang="tr-TR" sz="1050" dirty="0">
                  <a:solidFill>
                    <a:srgbClr val="EAF4F6"/>
                  </a:solidFill>
                  <a:latin typeface="Consolas"/>
                  <a:ea typeface="Consolas"/>
                  <a:cs typeface="Consolas"/>
                </a:rPr>
                <a:t>})</a:t>
              </a:r>
            </a:p>
          </p:txBody>
        </p:sp>
        <p:sp>
          <p:nvSpPr>
            <p:cNvPr id="18" name="TextBox 18"/>
            <p:cNvSpPr txBox="1"/>
            <p:nvPr/>
          </p:nvSpPr>
          <p:spPr>
            <a:xfrm>
              <a:off x="832866" y="3296602"/>
              <a:ext cx="2650998" cy="7768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print(ogrenci_verisi.head(3))</a:t>
              </a:r>
              <a:br/>
              <a:r>
                <a:rPr lang="tr-TR" sz="1050" dirty="0">
                  <a:solidFill>
                    <a:srgbClr val="00A6A6"/>
                  </a:solidFill>
                  <a:latin typeface="Consolas"/>
                  <a:ea typeface="Consolas"/>
                  <a:cs typeface="Consolas"/>
                </a:rPr>
                <a:t>print(ogrenci_verisi.dtypes)</a:t>
              </a:r>
              <a:br/>
              <a:r>
                <a:rPr lang="tr-TR" sz="1050" dirty="0">
                  <a:solidFill>
                    <a:srgbClr val="00A6A6"/>
                  </a:solidFill>
                  <a:latin typeface="Consolas"/>
                  <a:ea typeface="Consolas"/>
                  <a:cs typeface="Consolas"/>
                </a:rPr>
                <a:t>print(ogrenci_verisi.isnull().sum())</a:t>
              </a:r>
              <a:br/>
              <a:r>
                <a:rPr lang="tr-TR" sz="1050" dirty="0">
                  <a:solidFill>
                    <a:srgbClr val="00A6A6"/>
                  </a:solidFill>
                  <a:latin typeface="Consolas"/>
                  <a:ea typeface="Consolas"/>
                  <a:cs typeface="Consolas"/>
                </a:rPr>
                <a:t>print(ogrenci_verisi.describe())</a:t>
              </a:r>
            </a:p>
          </p:txBody>
        </p:sp>
        <p:sp>
          <p:nvSpPr>
            <p:cNvPr id="19" name="TextBox 19"/>
            <p:cNvSpPr txBox="1"/>
            <p:nvPr/>
          </p:nvSpPr>
          <p:spPr>
            <a:xfrm>
              <a:off x="832866" y="4268152"/>
              <a:ext cx="2284286"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B8CBD3"/>
                  </a:solidFill>
                  <a:latin typeface="Consolas"/>
                  <a:ea typeface="Consolas"/>
                  <a:cs typeface="Consolas"/>
                </a:rPr>
                <a:t># Çıktı: 1 eksik calisma_saati,</a:t>
              </a:r>
              <a:br/>
              <a:r>
                <a:rPr lang="tr-TR" sz="1050" dirty="0">
                  <a:solidFill>
                    <a:srgbClr val="B8CBD3"/>
                  </a:solidFill>
                  <a:latin typeface="Consolas"/>
                  <a:ea typeface="Consolas"/>
                  <a:cs typeface="Consolas"/>
                </a:rPr>
                <a:t># 4 başarılı öğrenci (not≥70)</a:t>
              </a:r>
            </a:p>
          </p:txBody>
        </p:sp>
        <p:sp>
          <p:nvSpPr>
            <p:cNvPr id="20" name="TextBox 20"/>
            <p:cNvSpPr txBox="1"/>
            <p:nvPr/>
          </p:nvSpPr>
          <p:spPr>
            <a:xfrm>
              <a:off x="833247" y="5095399"/>
              <a:ext cx="2611120" cy="552640"/>
            </a:xfrm>
            <a:prstGeom prst="rect">
              <a:avLst/>
            </a:prstGeom>
            <a:noFill/>
            <a:ln>
              <a:noFill/>
            </a:ln>
          </p:spPr>
          <p:txBody>
            <a:bodyPr wrap="none" lIns="0" tIns="0" rIns="0" bIns="0" anchor="t" anchorCtr="0">
              <a:spAutoFit/>
            </a:bodyPr>
            <a:lstStyle/>
            <a:p>
              <a:pPr algn="l">
                <a:lnSpc>
                  <a:spcPts val="1425"/>
                </a:lnSpc>
              </a:pPr>
              <a:r>
                <a:rPr lang="tr-TR" sz="980" dirty="0">
                  <a:solidFill>
                    <a:srgbClr val="52616B"/>
                  </a:solidFill>
                  <a:latin typeface="Consolas"/>
                  <a:ea typeface="Consolas"/>
                  <a:cs typeface="Consolas"/>
                </a:rPr>
                <a:t>head(3) ilk kayıtları, dtypes veri</a:t>
              </a:r>
              <a:br/>
              <a:r>
                <a:rPr lang="tr-TR" sz="980" dirty="0">
                  <a:solidFill>
                    <a:srgbClr val="52616B"/>
                  </a:solidFill>
                  <a:latin typeface="Consolas"/>
                  <a:ea typeface="Consolas"/>
                  <a:cs typeface="Consolas"/>
                </a:rPr>
                <a:t>türünü, isnull().sum() eksik sayısını,</a:t>
              </a:r>
              <a:br/>
              <a:r>
                <a:rPr lang="tr-TR" sz="980" dirty="0">
                  <a:solidFill>
                    <a:srgbClr val="52616B"/>
                  </a:solidFill>
                  <a:latin typeface="Consolas"/>
                  <a:ea typeface="Consolas"/>
                  <a:cs typeface="Consolas"/>
                </a:rPr>
                <a:t>describe() betimsel özeti verir.</a:t>
              </a:r>
            </a:p>
          </p:txBody>
        </p:sp>
      </p:grpSp>
      <p:grpSp>
        <p:nvGrpSpPr>
          <p:cNvPr id="25" name="output-card"/>
          <p:cNvGrpSpPr/>
          <p:nvPr/>
        </p:nvGrpSpPr>
        <p:grpSpPr>
          <a:xfrm>
            <a:off x="6819900" y="1104900"/>
            <a:ext cx="4762500" cy="2476500"/>
            <a:chOff x="6819900" y="1104900"/>
            <a:chExt cx="4762500" cy="2476500"/>
          </a:xfrm>
        </p:grpSpPr>
        <p:sp>
          <p:nvSpPr>
            <p:cNvPr id="22" name="Rectangle 22"/>
            <p:cNvSpPr/>
            <p:nvPr/>
          </p:nvSpPr>
          <p:spPr>
            <a:xfrm>
              <a:off x="6819900" y="1104900"/>
              <a:ext cx="4762500" cy="2476500"/>
            </a:xfrm>
            <a:prstGeom prst="roundRect">
              <a:avLst>
                <a:gd name="adj" fmla="val 3846"/>
              </a:avLst>
            </a:prstGeom>
            <a:solidFill>
              <a:srgbClr val="FFFFFF"/>
            </a:solidFill>
            <a:ln w="14288">
              <a:solidFill>
                <a:srgbClr val="B8CBD3"/>
              </a:solidFill>
            </a:ln>
          </p:spPr>
        </p:sp>
        <p:sp>
          <p:nvSpPr>
            <p:cNvPr id="23" name="TextBox 23"/>
            <p:cNvSpPr txBox="1"/>
            <p:nvPr/>
          </p:nvSpPr>
          <p:spPr>
            <a:xfrm>
              <a:off x="7039356" y="1253490"/>
              <a:ext cx="285136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Bu çıktı ne anlatıyor?</a:t>
              </a:r>
            </a:p>
          </p:txBody>
        </p:sp>
        <p:sp>
          <p:nvSpPr>
            <p:cNvPr id="24" name="TextBox 24"/>
            <p:cNvSpPr txBox="1"/>
            <p:nvPr/>
          </p:nvSpPr>
          <p:spPr>
            <a:xfrm>
              <a:off x="7042023" y="1653064"/>
              <a:ext cx="3377946" cy="1163764"/>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`head(3)` sütunların beklenen biçimde</a:t>
              </a:r>
              <a:br/>
              <a:r>
                <a:rPr lang="tr-TR" sz="1280" dirty="0">
                  <a:solidFill>
                    <a:srgbClr val="172B3A"/>
                  </a:solidFill>
                  <a:latin typeface="+mn-lt"/>
                  <a:ea typeface="+mn-ea"/>
                  <a:cs typeface="+mn-cs"/>
                </a:rPr>
                <a:t>okunup okunmadığını doğrular. `dtypes`,</a:t>
              </a:r>
              <a:br/>
              <a:r>
                <a:rPr lang="tr-TR" sz="1280" dirty="0">
                  <a:solidFill>
                    <a:srgbClr val="172B3A"/>
                  </a:solidFill>
                  <a:latin typeface="+mn-lt"/>
                  <a:ea typeface="+mn-ea"/>
                  <a:cs typeface="+mn-cs"/>
                </a:rPr>
                <a:t>bir sütunun sayı mı metin mi olduğunu</a:t>
              </a:r>
              <a:br/>
              <a:r>
                <a:rPr lang="tr-TR" sz="1280" dirty="0">
                  <a:solidFill>
                    <a:srgbClr val="172B3A"/>
                  </a:solidFill>
                  <a:latin typeface="+mn-lt"/>
                  <a:ea typeface="+mn-ea"/>
                  <a:cs typeface="+mn-cs"/>
                </a:rPr>
                <a:t>açıklar; `describe()` ortalama, standart</a:t>
              </a:r>
              <a:br/>
              <a:r>
                <a:rPr lang="tr-TR" sz="1280" dirty="0">
                  <a:solidFill>
                    <a:srgbClr val="172B3A"/>
                  </a:solidFill>
                  <a:latin typeface="+mn-lt"/>
                  <a:ea typeface="+mn-ea"/>
                  <a:cs typeface="+mn-cs"/>
                </a:rPr>
                <a:t>sapma ve çeyrek değerleri verir.</a:t>
              </a:r>
            </a:p>
          </p:txBody>
        </p:sp>
      </p:grpSp>
      <p:grpSp>
        <p:nvGrpSpPr>
          <p:cNvPr id="29" name="caution-card"/>
          <p:cNvGrpSpPr/>
          <p:nvPr/>
        </p:nvGrpSpPr>
        <p:grpSpPr>
          <a:xfrm>
            <a:off x="6819900" y="3810000"/>
            <a:ext cx="4762500" cy="2057400"/>
            <a:chOff x="6819900" y="3810000"/>
            <a:chExt cx="4762500" cy="2057400"/>
          </a:xfrm>
        </p:grpSpPr>
        <p:sp>
          <p:nvSpPr>
            <p:cNvPr id="26" name="Rectangle 26"/>
            <p:cNvSpPr/>
            <p:nvPr/>
          </p:nvSpPr>
          <p:spPr>
            <a:xfrm>
              <a:off x="6819900" y="3810000"/>
              <a:ext cx="4762500" cy="2057400"/>
            </a:xfrm>
            <a:prstGeom prst="roundRect">
              <a:avLst>
                <a:gd name="adj" fmla="val 4630"/>
              </a:avLst>
            </a:prstGeom>
            <a:solidFill>
              <a:srgbClr val="EAF4F6"/>
            </a:solidFill>
            <a:ln w="14288">
              <a:solidFill>
                <a:srgbClr val="00A6A6"/>
              </a:solidFill>
            </a:ln>
          </p:spPr>
        </p:sp>
        <p:sp>
          <p:nvSpPr>
            <p:cNvPr id="27" name="TextBox 27"/>
            <p:cNvSpPr txBox="1"/>
            <p:nvPr/>
          </p:nvSpPr>
          <p:spPr>
            <a:xfrm>
              <a:off x="7040499" y="3982879"/>
              <a:ext cx="374153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Kısa kontroller mutlaka önce gelir</a:t>
              </a:r>
            </a:p>
          </p:txBody>
        </p:sp>
        <p:sp>
          <p:nvSpPr>
            <p:cNvPr id="28" name="TextBox 28"/>
            <p:cNvSpPr txBox="1"/>
            <p:nvPr/>
          </p:nvSpPr>
          <p:spPr>
            <a:xfrm>
              <a:off x="7041642" y="4331018"/>
              <a:ext cx="3468434" cy="100698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Filtreleme adımı koşullu seçimi gösterir;</a:t>
              </a:r>
              <a:br/>
              <a:r>
                <a:rPr lang="tr-TR" sz="1350" dirty="0">
                  <a:solidFill>
                    <a:srgbClr val="172B3A"/>
                  </a:solidFill>
                  <a:latin typeface="+mn-lt"/>
                  <a:ea typeface="+mn-ea"/>
                  <a:cs typeface="+mn-cs"/>
                </a:rPr>
                <a:t>ancak bu tür kontroller, daha karmaşık</a:t>
              </a:r>
              <a:br/>
              <a:r>
                <a:rPr lang="tr-TR" sz="1350" dirty="0">
                  <a:solidFill>
                    <a:srgbClr val="172B3A"/>
                  </a:solidFill>
                  <a:latin typeface="+mn-lt"/>
                  <a:ea typeface="+mn-ea"/>
                  <a:cs typeface="+mn-cs"/>
                </a:rPr>
                <a:t>grafikler çizilmeden önce mutlaka</a:t>
              </a:r>
              <a:br/>
              <a:r>
                <a:rPr lang="tr-TR" sz="1350" dirty="0">
                  <a:solidFill>
                    <a:srgbClr val="172B3A"/>
                  </a:solidFill>
                  <a:latin typeface="+mn-lt"/>
                  <a:ea typeface="+mn-ea"/>
                  <a:cs typeface="+mn-cs"/>
                </a:rPr>
                <a:t>yapılmalıdır.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6902920" cy="668845"/>
            <a:chOff x="609600" y="171450"/>
            <a:chExt cx="6902920"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62125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EDA: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YAKLAŞIM</a:t>
              </a:r>
            </a:p>
          </p:txBody>
        </p:sp>
        <p:sp>
          <p:nvSpPr>
            <p:cNvPr id="13" name="TextBox 13"/>
            <p:cNvSpPr txBox="1"/>
            <p:nvPr/>
          </p:nvSpPr>
          <p:spPr>
            <a:xfrm>
              <a:off x="2851785" y="1221581"/>
              <a:ext cx="98563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GÜÇLÜ YÖNÜ</a:t>
              </a:r>
            </a:p>
          </p:txBody>
        </p:sp>
        <p:sp>
          <p:nvSpPr>
            <p:cNvPr id="14" name="TextBox 14"/>
            <p:cNvSpPr txBox="1"/>
            <p:nvPr/>
          </p:nvSpPr>
          <p:spPr>
            <a:xfrm>
              <a:off x="5709285" y="1221581"/>
              <a:ext cx="92102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SINIRLILIĞI</a:t>
              </a:r>
            </a:p>
          </p:txBody>
        </p:sp>
        <p:sp>
          <p:nvSpPr>
            <p:cNvPr id="15" name="TextBox 15"/>
            <p:cNvSpPr txBox="1"/>
            <p:nvPr/>
          </p:nvSpPr>
          <p:spPr>
            <a:xfrm>
              <a:off x="8566785" y="1221581"/>
              <a:ext cx="1327093"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TERCİH DURUMU</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32838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EDA</a:t>
              </a:r>
            </a:p>
          </p:txBody>
        </p:sp>
        <p:sp>
          <p:nvSpPr>
            <p:cNvPr id="18" name="TextBox 18"/>
            <p:cNvSpPr txBox="1"/>
            <p:nvPr/>
          </p:nvSpPr>
          <p:spPr>
            <a:xfrm>
              <a:off x="2851785" y="1669256"/>
              <a:ext cx="21419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Beklenmeyen örüntüleri bulur</a:t>
              </a:r>
            </a:p>
          </p:txBody>
        </p:sp>
        <p:sp>
          <p:nvSpPr>
            <p:cNvPr id="19" name="TextBox 19"/>
            <p:cNvSpPr txBox="1"/>
            <p:nvPr/>
          </p:nvSpPr>
          <p:spPr>
            <a:xfrm>
              <a:off x="5709285" y="1669256"/>
              <a:ext cx="16446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Kesin iş kuralı koymaz</a:t>
              </a:r>
            </a:p>
          </p:txBody>
        </p:sp>
        <p:sp>
          <p:nvSpPr>
            <p:cNvPr id="20" name="TextBox 20"/>
            <p:cNvSpPr txBox="1"/>
            <p:nvPr/>
          </p:nvSpPr>
          <p:spPr>
            <a:xfrm>
              <a:off x="8566785" y="1669256"/>
              <a:ext cx="118465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Yeni veri kümesi</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131223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Veri doğrulama</a:t>
              </a:r>
            </a:p>
          </p:txBody>
        </p:sp>
        <p:sp>
          <p:nvSpPr>
            <p:cNvPr id="23" name="TextBox 23"/>
            <p:cNvSpPr txBox="1"/>
            <p:nvPr/>
          </p:nvSpPr>
          <p:spPr>
            <a:xfrm>
              <a:off x="2851785" y="2193131"/>
              <a:ext cx="20290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Hatalı kaydı erken engeller</a:t>
              </a:r>
            </a:p>
          </p:txBody>
        </p:sp>
        <p:sp>
          <p:nvSpPr>
            <p:cNvPr id="24" name="TextBox 24"/>
            <p:cNvSpPr txBox="1"/>
            <p:nvPr/>
          </p:nvSpPr>
          <p:spPr>
            <a:xfrm>
              <a:off x="5709285" y="2193131"/>
              <a:ext cx="16748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Yeni örüntü keşfetmez</a:t>
              </a:r>
            </a:p>
          </p:txBody>
        </p:sp>
        <p:sp>
          <p:nvSpPr>
            <p:cNvPr id="25" name="TextBox 25"/>
            <p:cNvSpPr txBox="1"/>
            <p:nvPr/>
          </p:nvSpPr>
          <p:spPr>
            <a:xfrm>
              <a:off x="8566785" y="2193131"/>
              <a:ext cx="96619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Üretim hattı</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54757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Makine öğrenmesi</a:t>
              </a:r>
            </a:p>
          </p:txBody>
        </p:sp>
        <p:sp>
          <p:nvSpPr>
            <p:cNvPr id="28" name="TextBox 28"/>
            <p:cNvSpPr txBox="1"/>
            <p:nvPr/>
          </p:nvSpPr>
          <p:spPr>
            <a:xfrm>
              <a:off x="2851785" y="2717006"/>
              <a:ext cx="10112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Tahmin üretir</a:t>
              </a:r>
            </a:p>
          </p:txBody>
        </p:sp>
        <p:sp>
          <p:nvSpPr>
            <p:cNvPr id="29" name="TextBox 29"/>
            <p:cNvSpPr txBox="1"/>
            <p:nvPr/>
          </p:nvSpPr>
          <p:spPr>
            <a:xfrm>
              <a:off x="5709285" y="2717006"/>
              <a:ext cx="160638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Veriyi açıklamayabilir</a:t>
              </a:r>
            </a:p>
          </p:txBody>
        </p:sp>
        <p:sp>
          <p:nvSpPr>
            <p:cNvPr id="30" name="TextBox 30"/>
            <p:cNvSpPr txBox="1"/>
            <p:nvPr/>
          </p:nvSpPr>
          <p:spPr>
            <a:xfrm>
              <a:off x="8566785" y="2717006"/>
              <a:ext cx="90077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EDA sonrası</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90508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Raporlama</a:t>
              </a:r>
            </a:p>
          </p:txBody>
        </p:sp>
        <p:sp>
          <p:nvSpPr>
            <p:cNvPr id="33" name="TextBox 33"/>
            <p:cNvSpPr txBox="1"/>
            <p:nvPr/>
          </p:nvSpPr>
          <p:spPr>
            <a:xfrm>
              <a:off x="2851785" y="3240881"/>
              <a:ext cx="118465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Sonuçları sunar</a:t>
              </a:r>
            </a:p>
          </p:txBody>
        </p:sp>
        <p:sp>
          <p:nvSpPr>
            <p:cNvPr id="34" name="TextBox 34"/>
            <p:cNvSpPr txBox="1"/>
            <p:nvPr/>
          </p:nvSpPr>
          <p:spPr>
            <a:xfrm>
              <a:off x="5709285" y="3240881"/>
              <a:ext cx="219468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Ham veri sorununu gizleyebilir</a:t>
              </a:r>
            </a:p>
          </p:txBody>
        </p:sp>
        <p:sp>
          <p:nvSpPr>
            <p:cNvPr id="35" name="TextBox 35"/>
            <p:cNvSpPr txBox="1"/>
            <p:nvPr/>
          </p:nvSpPr>
          <p:spPr>
            <a:xfrm>
              <a:off x="8566785" y="3240881"/>
              <a:ext cx="106387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Analiz sonunda</a:t>
              </a:r>
            </a:p>
          </p:txBody>
        </p:sp>
      </p:grpSp>
      <p:grpSp>
        <p:nvGrpSpPr>
          <p:cNvPr id="38" name="mistakes-label"/>
          <p:cNvGrpSpPr/>
          <p:nvPr/>
        </p:nvGrpSpPr>
        <p:grpSpPr>
          <a:xfrm>
            <a:off x="601599" y="3792379"/>
            <a:ext cx="1631012" cy="308039"/>
            <a:chOff x="601599" y="3792379"/>
            <a:chExt cx="1631012" cy="308039"/>
          </a:xfrm>
        </p:grpSpPr>
        <p:sp>
          <p:nvSpPr>
            <p:cNvPr id="37" name="TextBox 37"/>
            <p:cNvSpPr txBox="1"/>
            <p:nvPr/>
          </p:nvSpPr>
          <p:spPr>
            <a:xfrm>
              <a:off x="601599" y="37923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3" name="mistake-1"/>
          <p:cNvGrpSpPr/>
          <p:nvPr/>
        </p:nvGrpSpPr>
        <p:grpSpPr>
          <a:xfrm>
            <a:off x="609600" y="4133850"/>
            <a:ext cx="3505200" cy="1390650"/>
            <a:chOff x="609600" y="4133850"/>
            <a:chExt cx="3505200" cy="1390650"/>
          </a:xfrm>
        </p:grpSpPr>
        <p:sp>
          <p:nvSpPr>
            <p:cNvPr id="39" name="Rectangle 39"/>
            <p:cNvSpPr/>
            <p:nvPr/>
          </p:nvSpPr>
          <p:spPr>
            <a:xfrm>
              <a:off x="609600" y="4133850"/>
              <a:ext cx="3505200" cy="1390650"/>
            </a:xfrm>
            <a:prstGeom prst="roundRect">
              <a:avLst>
                <a:gd name="adj" fmla="val 6849"/>
              </a:avLst>
            </a:prstGeom>
            <a:solidFill>
              <a:srgbClr val="FFFFFF"/>
            </a:solidFill>
            <a:ln w="14288">
              <a:solidFill>
                <a:srgbClr val="B8CBD3"/>
              </a:solidFill>
            </a:ln>
          </p:spPr>
        </p:sp>
        <p:sp>
          <p:nvSpPr>
            <p:cNvPr id="40" name="Rectangle 40"/>
            <p:cNvSpPr/>
            <p:nvPr/>
          </p:nvSpPr>
          <p:spPr>
            <a:xfrm>
              <a:off x="609600" y="4133850"/>
              <a:ext cx="57150" cy="1390650"/>
            </a:xfrm>
            <a:prstGeom prst="rect">
              <a:avLst/>
            </a:prstGeom>
            <a:solidFill>
              <a:srgbClr val="00A6A6"/>
            </a:solidFill>
            <a:ln>
              <a:noFill/>
            </a:ln>
          </p:spPr>
        </p:sp>
        <p:sp>
          <p:nvSpPr>
            <p:cNvPr id="41" name="TextBox 41"/>
            <p:cNvSpPr txBox="1"/>
            <p:nvPr/>
          </p:nvSpPr>
          <p:spPr>
            <a:xfrm>
              <a:off x="831723" y="4281964"/>
              <a:ext cx="276930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Yalnızca head() yeterli sanmak</a:t>
              </a:r>
            </a:p>
          </p:txBody>
        </p:sp>
        <p:sp>
          <p:nvSpPr>
            <p:cNvPr id="42" name="TextBox 42"/>
            <p:cNvSpPr txBox="1"/>
            <p:nvPr/>
          </p:nvSpPr>
          <p:spPr>
            <a:xfrm>
              <a:off x="832866" y="4592002"/>
              <a:ext cx="1984248"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Veri türleri, eksik değerler ve</a:t>
              </a:r>
              <a:br/>
              <a:r>
                <a:rPr lang="tr-TR" sz="1050" dirty="0">
                  <a:solidFill>
                    <a:srgbClr val="172B3A"/>
                  </a:solidFill>
                  <a:latin typeface="+mn-lt"/>
                  <a:ea typeface="+mn-ea"/>
                  <a:cs typeface="+mn-cs"/>
                </a:rPr>
                <a:t>özet istatistikler birlikte</a:t>
              </a:r>
              <a:br/>
              <a:r>
                <a:rPr lang="tr-TR" sz="1050" dirty="0">
                  <a:solidFill>
                    <a:srgbClr val="172B3A"/>
                  </a:solidFill>
                  <a:latin typeface="+mn-lt"/>
                  <a:ea typeface="+mn-ea"/>
                  <a:cs typeface="+mn-cs"/>
                </a:rPr>
                <a:t>incelenmelidir.</a:t>
              </a:r>
            </a:p>
          </p:txBody>
        </p:sp>
      </p:grpSp>
      <p:grpSp>
        <p:nvGrpSpPr>
          <p:cNvPr id="48" name="mistake-2"/>
          <p:cNvGrpSpPr/>
          <p:nvPr/>
        </p:nvGrpSpPr>
        <p:grpSpPr>
          <a:xfrm>
            <a:off x="4343400" y="4133850"/>
            <a:ext cx="3505200" cy="1390650"/>
            <a:chOff x="4343400" y="4133850"/>
            <a:chExt cx="3505200" cy="1390650"/>
          </a:xfrm>
        </p:grpSpPr>
        <p:sp>
          <p:nvSpPr>
            <p:cNvPr id="44" name="Rectangle 44"/>
            <p:cNvSpPr/>
            <p:nvPr/>
          </p:nvSpPr>
          <p:spPr>
            <a:xfrm>
              <a:off x="4343400" y="4133850"/>
              <a:ext cx="3505200" cy="1390650"/>
            </a:xfrm>
            <a:prstGeom prst="roundRect">
              <a:avLst>
                <a:gd name="adj" fmla="val 6849"/>
              </a:avLst>
            </a:prstGeom>
            <a:solidFill>
              <a:srgbClr val="FFFFFF"/>
            </a:solidFill>
            <a:ln w="14288">
              <a:solidFill>
                <a:srgbClr val="B8CBD3"/>
              </a:solidFill>
            </a:ln>
          </p:spPr>
        </p:sp>
        <p:sp>
          <p:nvSpPr>
            <p:cNvPr id="45" name="Rectangle 45"/>
            <p:cNvSpPr/>
            <p:nvPr/>
          </p:nvSpPr>
          <p:spPr>
            <a:xfrm>
              <a:off x="4343400" y="4133850"/>
              <a:ext cx="57150" cy="1390650"/>
            </a:xfrm>
            <a:prstGeom prst="rect">
              <a:avLst/>
            </a:prstGeom>
            <a:solidFill>
              <a:srgbClr val="00A6A6"/>
            </a:solidFill>
            <a:ln>
              <a:noFill/>
            </a:ln>
          </p:spPr>
        </p:sp>
        <p:sp>
          <p:nvSpPr>
            <p:cNvPr id="46" name="TextBox 46"/>
            <p:cNvSpPr txBox="1"/>
            <p:nvPr/>
          </p:nvSpPr>
          <p:spPr>
            <a:xfrm>
              <a:off x="4565523" y="4281964"/>
              <a:ext cx="286856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Eksik değeri fark etmeden hesap</a:t>
              </a:r>
            </a:p>
          </p:txBody>
        </p:sp>
        <p:sp>
          <p:nvSpPr>
            <p:cNvPr id="47" name="TextBox 47"/>
            <p:cNvSpPr txBox="1"/>
            <p:nvPr/>
          </p:nvSpPr>
          <p:spPr>
            <a:xfrm>
              <a:off x="4566666" y="4592002"/>
              <a:ext cx="2457641"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Pandas eksikleri atlar; bu davranışın</a:t>
              </a:r>
              <a:br/>
              <a:r>
                <a:rPr lang="tr-TR" sz="1050" dirty="0">
                  <a:solidFill>
                    <a:srgbClr val="172B3A"/>
                  </a:solidFill>
                  <a:latin typeface="+mn-lt"/>
                  <a:ea typeface="+mn-ea"/>
                  <a:cs typeface="+mn-cs"/>
                </a:rPr>
                <a:t>sonucu etkileyip etkilemediği ayrıca</a:t>
              </a:r>
              <a:br/>
              <a:r>
                <a:rPr lang="tr-TR" sz="1050" dirty="0">
                  <a:solidFill>
                    <a:srgbClr val="172B3A"/>
                  </a:solidFill>
                  <a:latin typeface="+mn-lt"/>
                  <a:ea typeface="+mn-ea"/>
                  <a:cs typeface="+mn-cs"/>
                </a:rPr>
                <a:t>değerlendirilmelidir.</a:t>
              </a:r>
            </a:p>
          </p:txBody>
        </p:sp>
      </p:grpSp>
      <p:grpSp>
        <p:nvGrpSpPr>
          <p:cNvPr id="53" name="mistake-3"/>
          <p:cNvGrpSpPr/>
          <p:nvPr/>
        </p:nvGrpSpPr>
        <p:grpSpPr>
          <a:xfrm>
            <a:off x="8077200" y="4133850"/>
            <a:ext cx="3505200" cy="1390650"/>
            <a:chOff x="8077200" y="4133850"/>
            <a:chExt cx="3505200" cy="1390650"/>
          </a:xfrm>
        </p:grpSpPr>
        <p:sp>
          <p:nvSpPr>
            <p:cNvPr id="49" name="Rectangle 49"/>
            <p:cNvSpPr/>
            <p:nvPr/>
          </p:nvSpPr>
          <p:spPr>
            <a:xfrm>
              <a:off x="8077200" y="4133850"/>
              <a:ext cx="3505200" cy="1390650"/>
            </a:xfrm>
            <a:prstGeom prst="roundRect">
              <a:avLst>
                <a:gd name="adj" fmla="val 6849"/>
              </a:avLst>
            </a:prstGeom>
            <a:solidFill>
              <a:srgbClr val="FFFFFF"/>
            </a:solidFill>
            <a:ln w="14288">
              <a:solidFill>
                <a:srgbClr val="B8CBD3"/>
              </a:solidFill>
            </a:ln>
          </p:spPr>
        </p:sp>
        <p:sp>
          <p:nvSpPr>
            <p:cNvPr id="50" name="Rectangle 50"/>
            <p:cNvSpPr/>
            <p:nvPr/>
          </p:nvSpPr>
          <p:spPr>
            <a:xfrm>
              <a:off x="8077200" y="4133850"/>
              <a:ext cx="57150" cy="1390650"/>
            </a:xfrm>
            <a:prstGeom prst="rect">
              <a:avLst/>
            </a:prstGeom>
            <a:solidFill>
              <a:srgbClr val="00A6A6"/>
            </a:solidFill>
            <a:ln>
              <a:noFill/>
            </a:ln>
          </p:spPr>
        </p:sp>
        <p:sp>
          <p:nvSpPr>
            <p:cNvPr id="51" name="TextBox 51"/>
            <p:cNvSpPr txBox="1"/>
            <p:nvPr/>
          </p:nvSpPr>
          <p:spPr>
            <a:xfrm>
              <a:off x="8299323" y="4281964"/>
              <a:ext cx="262400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Boş tablo olasılığını atlamak</a:t>
              </a:r>
            </a:p>
          </p:txBody>
        </p:sp>
        <p:sp>
          <p:nvSpPr>
            <p:cNvPr id="52" name="TextBox 52"/>
            <p:cNvSpPr txBox="1"/>
            <p:nvPr/>
          </p:nvSpPr>
          <p:spPr>
            <a:xfrm>
              <a:off x="8300466" y="4592002"/>
              <a:ext cx="2157603"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Filtreleme sonucunda boş tablo</a:t>
              </a:r>
              <a:br/>
              <a:r>
                <a:rPr lang="tr-TR" sz="1050" dirty="0">
                  <a:solidFill>
                    <a:srgbClr val="172B3A"/>
                  </a:solidFill>
                  <a:latin typeface="+mn-lt"/>
                  <a:ea typeface="+mn-ea"/>
                  <a:cs typeface="+mn-cs"/>
                </a:rPr>
                <a:t>oluşabileceği hesaba katılmalı,</a:t>
              </a:r>
              <a:br/>
              <a:r>
                <a:rPr lang="tr-TR" sz="1050" dirty="0">
                  <a:solidFill>
                    <a:srgbClr val="172B3A"/>
                  </a:solidFill>
                  <a:latin typeface="+mn-lt"/>
                  <a:ea typeface="+mn-ea"/>
                  <a:cs typeface="+mn-cs"/>
                </a:rPr>
                <a:t>sonuç sayısı kontrol edilmelidir.</a:t>
              </a:r>
            </a:p>
          </p:txBody>
        </p:sp>
      </p:grpSp>
      <p:grpSp>
        <p:nvGrpSpPr>
          <p:cNvPr id="56" name="attention-band"/>
          <p:cNvGrpSpPr/>
          <p:nvPr/>
        </p:nvGrpSpPr>
        <p:grpSpPr>
          <a:xfrm>
            <a:off x="609600" y="5676900"/>
            <a:ext cx="10972800" cy="609600"/>
            <a:chOff x="609600" y="5676900"/>
            <a:chExt cx="10972800" cy="609600"/>
          </a:xfrm>
        </p:grpSpPr>
        <p:sp>
          <p:nvSpPr>
            <p:cNvPr id="54" name="Rectangle 54"/>
            <p:cNvSpPr/>
            <p:nvPr/>
          </p:nvSpPr>
          <p:spPr>
            <a:xfrm>
              <a:off x="609600" y="5676900"/>
              <a:ext cx="10972800" cy="609600"/>
            </a:xfrm>
            <a:prstGeom prst="roundRect">
              <a:avLst>
                <a:gd name="adj" fmla="val 12500"/>
              </a:avLst>
            </a:prstGeom>
            <a:solidFill>
              <a:srgbClr val="EAF4F6"/>
            </a:solidFill>
            <a:ln>
              <a:noFill/>
            </a:ln>
          </p:spPr>
        </p:sp>
        <p:sp>
          <p:nvSpPr>
            <p:cNvPr id="55" name="TextBox 55"/>
            <p:cNvSpPr txBox="1"/>
            <p:nvPr/>
          </p:nvSpPr>
          <p:spPr>
            <a:xfrm>
              <a:off x="908304" y="5775960"/>
              <a:ext cx="5986272" cy="444246"/>
            </a:xfrm>
            <a:prstGeom prst="rect">
              <a:avLst/>
            </a:prstGeom>
            <a:noFill/>
            <a:ln>
              <a:noFill/>
            </a:ln>
          </p:spPr>
          <p:txBody>
            <a:bodyPr wrap="none" lIns="0" tIns="0" rIns="0" bIns="0" anchor="t" anchorCtr="0">
              <a:spAutoFit/>
            </a:bodyPr>
            <a:lstStyle/>
            <a:p>
              <a:pPr algn="l">
                <a:lnSpc>
                  <a:spcPts val="1650"/>
                </a:lnSpc>
              </a:pPr>
              <a:r>
                <a:rPr lang="tr-TR" sz="1200" b="1" dirty="0">
                  <a:solidFill>
                    <a:srgbClr val="12355B"/>
                  </a:solidFill>
                  <a:latin typeface="+mn-lt"/>
                  <a:ea typeface="+mn-ea"/>
                  <a:cs typeface="+mn-cs"/>
                </a:rPr>
                <a:t>Dikkat: EDA bulgusu nedensel kanıt değildir.</a:t>
              </a:r>
              <a:br/>
              <a:r>
                <a:rPr lang="tr-TR" sz="1200" dirty="0">
                  <a:solidFill>
                    <a:srgbClr val="12355B"/>
                  </a:solidFill>
                  <a:latin typeface="+mn-lt"/>
                  <a:ea typeface="+mn-ea"/>
                  <a:cs typeface="+mn-cs"/>
                </a:rPr>
                <a:t>İki değişken birlikte değişiyor olabilir; bunun nedeni üçüncü bir değişken olabilir.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26</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69908" cy="557403"/>
            <a:chOff x="595122" y="282892"/>
            <a:chExt cx="6569908" cy="557403"/>
          </a:xfrm>
        </p:grpSpPr>
        <p:sp>
          <p:nvSpPr>
            <p:cNvPr id="4" name="TextBox 4"/>
            <p:cNvSpPr txBox="1"/>
            <p:nvPr/>
          </p:nvSpPr>
          <p:spPr>
            <a:xfrm>
              <a:off x="595122" y="282892"/>
              <a:ext cx="65699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Dağılım: tanım ve neden vardır?</a:t>
              </a:r>
            </a:p>
          </p:txBody>
        </p:sp>
      </p:grpSp>
      <p:grpSp>
        <p:nvGrpSpPr>
          <p:cNvPr id="7" name="kicker"/>
          <p:cNvGrpSpPr/>
          <p:nvPr/>
        </p:nvGrpSpPr>
        <p:grpSpPr>
          <a:xfrm>
            <a:off x="604266" y="1048702"/>
            <a:ext cx="3472594" cy="205359"/>
            <a:chOff x="604266" y="1048702"/>
            <a:chExt cx="3472594" cy="205359"/>
          </a:xfrm>
        </p:grpSpPr>
        <p:sp>
          <p:nvSpPr>
            <p:cNvPr id="6" name="TextBox 6"/>
            <p:cNvSpPr txBox="1"/>
            <p:nvPr/>
          </p:nvSpPr>
          <p:spPr>
            <a:xfrm>
              <a:off x="604266" y="1048702"/>
              <a:ext cx="3472594"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TEKNİK 2 / 5 · ÇALIŞMA SAATİ ÖRNEĞİ</a:t>
              </a:r>
            </a:p>
          </p:txBody>
        </p:sp>
      </p:grpSp>
      <p:grpSp>
        <p:nvGrpSpPr>
          <p:cNvPr id="13" name="definition-card"/>
          <p:cNvGrpSpPr/>
          <p:nvPr/>
        </p:nvGrpSpPr>
        <p:grpSpPr>
          <a:xfrm>
            <a:off x="609600" y="1333500"/>
            <a:ext cx="5295900" cy="3238500"/>
            <a:chOff x="609600" y="1333500"/>
            <a:chExt cx="5295900" cy="3238500"/>
          </a:xfrm>
        </p:grpSpPr>
        <p:sp>
          <p:nvSpPr>
            <p:cNvPr id="8" name="Rectangle 8"/>
            <p:cNvSpPr/>
            <p:nvPr/>
          </p:nvSpPr>
          <p:spPr>
            <a:xfrm>
              <a:off x="609600" y="1333500"/>
              <a:ext cx="5295900" cy="3238500"/>
            </a:xfrm>
            <a:prstGeom prst="roundRect">
              <a:avLst>
                <a:gd name="adj" fmla="val 2941"/>
              </a:avLst>
            </a:prstGeom>
            <a:solidFill>
              <a:srgbClr val="FFFFFF"/>
            </a:solidFill>
            <a:ln w="14288">
              <a:solidFill>
                <a:srgbClr val="B8CBD3"/>
              </a:solidFill>
            </a:ln>
          </p:spPr>
        </p:sp>
        <p:sp>
          <p:nvSpPr>
            <p:cNvPr id="9" name="TextBox 9"/>
            <p:cNvSpPr txBox="1"/>
            <p:nvPr/>
          </p:nvSpPr>
          <p:spPr>
            <a:xfrm>
              <a:off x="829056" y="14820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0" name="TextBox 10"/>
            <p:cNvSpPr txBox="1"/>
            <p:nvPr/>
          </p:nvSpPr>
          <p:spPr>
            <a:xfrm>
              <a:off x="831342" y="1892618"/>
              <a:ext cx="3588448"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Bir değişkenin aldığı değerlerin hangi</a:t>
              </a:r>
              <a:br/>
              <a:r>
                <a:rPr lang="tr-TR" sz="1350" dirty="0">
                  <a:solidFill>
                    <a:srgbClr val="172B3A"/>
                  </a:solidFill>
                  <a:latin typeface="+mn-lt"/>
                  <a:ea typeface="+mn-ea"/>
                  <a:cs typeface="+mn-cs"/>
                </a:rPr>
                <a:t>aralıklarda ve hangi sıklıkta toplandığını</a:t>
              </a:r>
              <a:br/>
              <a:r>
                <a:rPr lang="tr-TR" sz="1350" dirty="0">
                  <a:solidFill>
                    <a:srgbClr val="172B3A"/>
                  </a:solidFill>
                  <a:latin typeface="+mn-lt"/>
                  <a:ea typeface="+mn-ea"/>
                  <a:cs typeface="+mn-cs"/>
                </a:rPr>
                <a:t>gösterir. Ortalama, medyan ve standart</a:t>
              </a:r>
              <a:br/>
              <a:r>
                <a:rPr lang="tr-TR" sz="1350" dirty="0">
                  <a:solidFill>
                    <a:srgbClr val="172B3A"/>
                  </a:solidFill>
                  <a:latin typeface="+mn-lt"/>
                  <a:ea typeface="+mn-ea"/>
                  <a:cs typeface="+mn-cs"/>
                </a:rPr>
                <a:t>sapma dağılımı tek sayıyla özetler;</a:t>
              </a:r>
              <a:br/>
              <a:r>
                <a:rPr lang="tr-TR" sz="1350" dirty="0">
                  <a:solidFill>
                    <a:srgbClr val="172B3A"/>
                  </a:solidFill>
                  <a:latin typeface="+mn-lt"/>
                  <a:ea typeface="+mn-ea"/>
                  <a:cs typeface="+mn-cs"/>
                </a:rPr>
                <a:t>histogram görsel yayılımı sunar.</a:t>
              </a:r>
            </a:p>
          </p:txBody>
        </p:sp>
        <p:sp>
          <p:nvSpPr>
            <p:cNvPr id="11" name="Line 11"/>
            <p:cNvSpPr/>
            <p:nvPr/>
          </p:nvSpPr>
          <p:spPr>
            <a:xfrm>
              <a:off x="8382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2" name="TextBox 12"/>
            <p:cNvSpPr txBox="1"/>
            <p:nvPr/>
          </p:nvSpPr>
          <p:spPr>
            <a:xfrm>
              <a:off x="832104" y="3680460"/>
              <a:ext cx="2999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Market kasası kuyruğu gibi: çoğu kişi</a:t>
              </a:r>
              <a:br/>
              <a:r>
                <a:rPr lang="tr-TR" sz="1200" dirty="0">
                  <a:solidFill>
                    <a:srgbClr val="52616B"/>
                  </a:solidFill>
                  <a:latin typeface="+mn-lt"/>
                  <a:ea typeface="+mn-ea"/>
                  <a:cs typeface="+mn-cs"/>
                </a:rPr>
                <a:t>beş-on arasında olur; bayram günü uzun</a:t>
              </a:r>
              <a:br/>
              <a:r>
                <a:rPr lang="tr-TR" sz="1200" dirty="0">
                  <a:solidFill>
                    <a:srgbClr val="52616B"/>
                  </a:solidFill>
                  <a:latin typeface="+mn-lt"/>
                  <a:ea typeface="+mn-ea"/>
                  <a:cs typeface="+mn-cs"/>
                </a:rPr>
                <a:t>kuyruklar ortalamayı yükseltir.</a:t>
              </a:r>
            </a:p>
          </p:txBody>
        </p:sp>
      </p:grpSp>
      <p:grpSp>
        <p:nvGrpSpPr>
          <p:cNvPr id="19" name="why-card"/>
          <p:cNvGrpSpPr/>
          <p:nvPr/>
        </p:nvGrpSpPr>
        <p:grpSpPr>
          <a:xfrm>
            <a:off x="6286500" y="1333500"/>
            <a:ext cx="5295900" cy="3238500"/>
            <a:chOff x="6286500" y="1333500"/>
            <a:chExt cx="5295900" cy="3238500"/>
          </a:xfrm>
        </p:grpSpPr>
        <p:sp>
          <p:nvSpPr>
            <p:cNvPr id="14" name="Rectangle 14"/>
            <p:cNvSpPr/>
            <p:nvPr/>
          </p:nvSpPr>
          <p:spPr>
            <a:xfrm>
              <a:off x="6286500" y="1333500"/>
              <a:ext cx="5295900" cy="3238500"/>
            </a:xfrm>
            <a:prstGeom prst="roundRect">
              <a:avLst>
                <a:gd name="adj" fmla="val 2941"/>
              </a:avLst>
            </a:prstGeom>
            <a:solidFill>
              <a:srgbClr val="FFFFFF"/>
            </a:solidFill>
            <a:ln w="14288">
              <a:solidFill>
                <a:srgbClr val="B8CBD3"/>
              </a:solidFill>
            </a:ln>
          </p:spPr>
        </p:sp>
        <p:sp>
          <p:nvSpPr>
            <p:cNvPr id="15" name="TextBox 15"/>
            <p:cNvSpPr txBox="1"/>
            <p:nvPr/>
          </p:nvSpPr>
          <p:spPr>
            <a:xfrm>
              <a:off x="6505956" y="1482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6" name="TextBox 16"/>
            <p:cNvSpPr txBox="1"/>
            <p:nvPr/>
          </p:nvSpPr>
          <p:spPr>
            <a:xfrm>
              <a:off x="6508242" y="1892618"/>
              <a:ext cx="3545586"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Tek bir ortalama değeri verinin tüm</a:t>
              </a:r>
              <a:br/>
              <a:r>
                <a:rPr lang="tr-TR" sz="1350" dirty="0">
                  <a:solidFill>
                    <a:srgbClr val="172B3A"/>
                  </a:solidFill>
                  <a:latin typeface="+mn-lt"/>
                  <a:ea typeface="+mn-ea"/>
                  <a:cs typeface="+mn-cs"/>
                </a:rPr>
                <a:t>davranışını açıklamaz. Sınıf ortalaması</a:t>
              </a:r>
              <a:br/>
              <a:r>
                <a:rPr lang="tr-TR" sz="1350" dirty="0">
                  <a:solidFill>
                    <a:srgbClr val="172B3A"/>
                  </a:solidFill>
                  <a:latin typeface="+mn-lt"/>
                  <a:ea typeface="+mn-ea"/>
                  <a:cs typeface="+mn-cs"/>
                </a:rPr>
                <a:t>70 olsa da notların 68–72 arasında mı,</a:t>
              </a:r>
              <a:br/>
              <a:r>
                <a:rPr lang="tr-TR" sz="1350" dirty="0">
                  <a:solidFill>
                    <a:srgbClr val="172B3A"/>
                  </a:solidFill>
                  <a:latin typeface="+mn-lt"/>
                  <a:ea typeface="+mn-ea"/>
                  <a:cs typeface="+mn-cs"/>
                </a:rPr>
                <a:t>yoksa 40 ve 100 gibi iki uçta mı olduğu</a:t>
              </a:r>
              <a:br/>
              <a:r>
                <a:rPr lang="tr-TR" sz="1350" dirty="0">
                  <a:solidFill>
                    <a:srgbClr val="172B3A"/>
                  </a:solidFill>
                  <a:latin typeface="+mn-lt"/>
                  <a:ea typeface="+mn-ea"/>
                  <a:cs typeface="+mn-cs"/>
                </a:rPr>
                <a:t>dağılım incelenmeden bilinmez.</a:t>
              </a:r>
            </a:p>
          </p:txBody>
        </p:sp>
        <p:sp>
          <p:nvSpPr>
            <p:cNvPr id="17" name="Line 17"/>
            <p:cNvSpPr/>
            <p:nvPr/>
          </p:nvSpPr>
          <p:spPr>
            <a:xfrm>
              <a:off x="65151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8" name="TextBox 18"/>
            <p:cNvSpPr txBox="1"/>
            <p:nvPr/>
          </p:nvSpPr>
          <p:spPr>
            <a:xfrm>
              <a:off x="6509004" y="3680460"/>
              <a:ext cx="2900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Standart sapma ortalamadan uzaklığı,</a:t>
              </a:r>
              <a:br/>
              <a:r>
                <a:rPr lang="tr-TR" sz="1200" dirty="0">
                  <a:solidFill>
                    <a:srgbClr val="52616B"/>
                  </a:solidFill>
                  <a:latin typeface="+mn-lt"/>
                  <a:ea typeface="+mn-ea"/>
                  <a:cs typeface="+mn-cs"/>
                </a:rPr>
                <a:t>medyan ise aykırı değerlerden daha az</a:t>
              </a:r>
              <a:br/>
              <a:r>
                <a:rPr lang="tr-TR" sz="1200" dirty="0">
                  <a:solidFill>
                    <a:srgbClr val="52616B"/>
                  </a:solidFill>
                  <a:latin typeface="+mn-lt"/>
                  <a:ea typeface="+mn-ea"/>
                  <a:cs typeface="+mn-cs"/>
                </a:rPr>
                <a:t>etkilenen orta değeri gösterir.</a:t>
              </a:r>
            </a:p>
          </p:txBody>
        </p:sp>
      </p:grpSp>
      <p:grpSp>
        <p:nvGrpSpPr>
          <p:cNvPr id="23" name="analogy-band"/>
          <p:cNvGrpSpPr/>
          <p:nvPr/>
        </p:nvGrpSpPr>
        <p:grpSpPr>
          <a:xfrm>
            <a:off x="609600" y="4762500"/>
            <a:ext cx="10972800" cy="994601"/>
            <a:chOff x="609600" y="4762500"/>
            <a:chExt cx="10972800" cy="994601"/>
          </a:xfrm>
        </p:grpSpPr>
        <p:sp>
          <p:nvSpPr>
            <p:cNvPr id="20" name="Rectangle 20"/>
            <p:cNvSpPr/>
            <p:nvPr/>
          </p:nvSpPr>
          <p:spPr>
            <a:xfrm>
              <a:off x="609600" y="4762500"/>
              <a:ext cx="10972800" cy="952500"/>
            </a:xfrm>
            <a:prstGeom prst="roundRect">
              <a:avLst>
                <a:gd name="adj" fmla="val 8000"/>
              </a:avLst>
            </a:prstGeom>
            <a:solidFill>
              <a:srgbClr val="EAF4F6"/>
            </a:solidFill>
            <a:ln>
              <a:noFill/>
            </a:ln>
          </p:spPr>
        </p:sp>
        <p:sp>
          <p:nvSpPr>
            <p:cNvPr id="21" name="TextBox 21"/>
            <p:cNvSpPr txBox="1"/>
            <p:nvPr/>
          </p:nvSpPr>
          <p:spPr>
            <a:xfrm>
              <a:off x="906399" y="4935379"/>
              <a:ext cx="77171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İpucu: ortalama ile medyan farkı büyükse dağılım simetrik olmayabilir</a:t>
              </a:r>
            </a:p>
          </p:txBody>
        </p:sp>
        <p:sp>
          <p:nvSpPr>
            <p:cNvPr id="22" name="TextBox 22"/>
            <p:cNvSpPr txBox="1"/>
            <p:nvPr/>
          </p:nvSpPr>
          <p:spPr>
            <a:xfrm>
              <a:off x="907542" y="5264468"/>
              <a:ext cx="6280214"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Gelir, çağrı süresi veya kullanım miktarı gibi çarpık değişkenlerde medyan</a:t>
              </a:r>
              <a:br/>
              <a:r>
                <a:rPr lang="tr-TR" sz="1350" dirty="0">
                  <a:solidFill>
                    <a:srgbClr val="52616B"/>
                  </a:solidFill>
                  <a:latin typeface="+mn-lt"/>
                  <a:ea typeface="+mn-ea"/>
                  <a:cs typeface="+mn-cs"/>
                </a:rPr>
                <a:t>daha dayanıklı bir özet sunar.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26</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454381" cy="668845"/>
            <a:chOff x="609600" y="171450"/>
            <a:chExt cx="9454381"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76400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Dağılım uygulama: çalışma saati histogramı</a:t>
              </a:r>
            </a:p>
          </p:txBody>
        </p:sp>
      </p:grpSp>
      <p:grpSp>
        <p:nvGrpSpPr>
          <p:cNvPr id="21" name="code-card"/>
          <p:cNvGrpSpPr/>
          <p:nvPr/>
        </p:nvGrpSpPr>
        <p:grpSpPr>
          <a:xfrm>
            <a:off x="609600" y="1104900"/>
            <a:ext cx="5334000" cy="4762500"/>
            <a:chOff x="609600" y="1104900"/>
            <a:chExt cx="5334000" cy="4762500"/>
          </a:xfrm>
        </p:grpSpPr>
        <p:sp>
          <p:nvSpPr>
            <p:cNvPr id="11" name="Rectangle 11"/>
            <p:cNvSpPr/>
            <p:nvPr/>
          </p:nvSpPr>
          <p:spPr>
            <a:xfrm>
              <a:off x="609600" y="1104900"/>
              <a:ext cx="5334000" cy="4762500"/>
            </a:xfrm>
            <a:prstGeom prst="roundRect">
              <a:avLst>
                <a:gd name="adj" fmla="val 2000"/>
              </a:avLst>
            </a:prstGeom>
            <a:solidFill>
              <a:srgbClr val="12355B"/>
            </a:solidFill>
            <a:ln>
              <a:noFill/>
            </a:ln>
          </p:spPr>
        </p:sp>
        <p:sp>
          <p:nvSpPr>
            <p:cNvPr id="12" name="Ellipse 12"/>
            <p:cNvSpPr/>
            <p:nvPr/>
          </p:nvSpPr>
          <p:spPr>
            <a:xfrm>
              <a:off x="781050" y="1276350"/>
              <a:ext cx="114300" cy="114300"/>
            </a:xfrm>
            <a:prstGeom prst="ellipse">
              <a:avLst/>
            </a:prstGeom>
            <a:solidFill>
              <a:srgbClr val="00A6A6"/>
            </a:solidFill>
            <a:ln>
              <a:noFill/>
            </a:ln>
          </p:spPr>
        </p:sp>
        <p:sp>
          <p:nvSpPr>
            <p:cNvPr id="13" name="Ellipse 13"/>
            <p:cNvSpPr/>
            <p:nvPr/>
          </p:nvSpPr>
          <p:spPr>
            <a:xfrm>
              <a:off x="971550" y="1276350"/>
              <a:ext cx="114300" cy="114300"/>
            </a:xfrm>
            <a:prstGeom prst="ellipse">
              <a:avLst/>
            </a:prstGeom>
            <a:solidFill>
              <a:srgbClr val="2E86AB"/>
            </a:solidFill>
            <a:ln>
              <a:noFill/>
            </a:ln>
          </p:spPr>
        </p:sp>
        <p:sp>
          <p:nvSpPr>
            <p:cNvPr id="14" name="Ellipse 14"/>
            <p:cNvSpPr/>
            <p:nvPr/>
          </p:nvSpPr>
          <p:spPr>
            <a:xfrm>
              <a:off x="1162050" y="1276350"/>
              <a:ext cx="114300" cy="114300"/>
            </a:xfrm>
            <a:prstGeom prst="ellipse">
              <a:avLst/>
            </a:prstGeom>
            <a:solidFill>
              <a:srgbClr val="EAF4F6"/>
            </a:solidFill>
            <a:ln>
              <a:noFill/>
            </a:ln>
          </p:spPr>
        </p:sp>
        <p:sp>
          <p:nvSpPr>
            <p:cNvPr id="15" name="TextBox 15"/>
            <p:cNvSpPr txBox="1"/>
            <p:nvPr/>
          </p:nvSpPr>
          <p:spPr>
            <a:xfrm>
              <a:off x="832866" y="1563052"/>
              <a:ext cx="250431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calisma_saati = [8,10,12,12,14,15,</a:t>
              </a:r>
              <a:br/>
              <a:r>
                <a:rPr lang="tr-TR" sz="1050" dirty="0">
                  <a:solidFill>
                    <a:srgbClr val="EAF4F6"/>
                  </a:solidFill>
                  <a:latin typeface="Consolas"/>
                  <a:ea typeface="Consolas"/>
                  <a:cs typeface="Consolas"/>
                </a:rPr>
                <a:t>18,20,25,30]</a:t>
              </a:r>
            </a:p>
          </p:txBody>
        </p:sp>
        <p:sp>
          <p:nvSpPr>
            <p:cNvPr id="16" name="TextBox 16"/>
            <p:cNvSpPr txBox="1"/>
            <p:nvPr/>
          </p:nvSpPr>
          <p:spPr>
            <a:xfrm>
              <a:off x="832866" y="2077402"/>
              <a:ext cx="1624203"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ortalama = seri.mean()</a:t>
              </a:r>
              <a:br/>
              <a:r>
                <a:rPr lang="tr-TR" sz="1050" dirty="0">
                  <a:solidFill>
                    <a:srgbClr val="00A6A6"/>
                  </a:solidFill>
                  <a:latin typeface="Consolas"/>
                  <a:ea typeface="Consolas"/>
                  <a:cs typeface="Consolas"/>
                </a:rPr>
                <a:t>medyan = seri.median()</a:t>
              </a:r>
              <a:br/>
              <a:r>
                <a:rPr lang="tr-TR" sz="1050" dirty="0">
                  <a:solidFill>
                    <a:srgbClr val="00A6A6"/>
                  </a:solidFill>
                  <a:latin typeface="Consolas"/>
                  <a:ea typeface="Consolas"/>
                  <a:cs typeface="Consolas"/>
                </a:rPr>
                <a:t>std = seri.std()</a:t>
              </a:r>
            </a:p>
          </p:txBody>
        </p:sp>
        <p:sp>
          <p:nvSpPr>
            <p:cNvPr id="17" name="TextBox 17"/>
            <p:cNvSpPr txBox="1"/>
            <p:nvPr/>
          </p:nvSpPr>
          <p:spPr>
            <a:xfrm>
              <a:off x="832866" y="2839402"/>
              <a:ext cx="2504313" cy="776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plt.hist(seri, bins=5,</a:t>
              </a:r>
              <a:br/>
              <a:r>
                <a:rPr lang="tr-TR" sz="1050" dirty="0">
                  <a:solidFill>
                    <a:srgbClr val="EAF4F6"/>
                  </a:solidFill>
                  <a:latin typeface="Consolas"/>
                  <a:ea typeface="Consolas"/>
                  <a:cs typeface="Consolas"/>
                </a:rPr>
                <a:t>color="steelblue")</a:t>
              </a:r>
              <a:br/>
              <a:r>
                <a:rPr lang="tr-TR" sz="1050" dirty="0">
                  <a:solidFill>
                    <a:srgbClr val="EAF4F6"/>
                  </a:solidFill>
                  <a:latin typeface="Consolas"/>
                  <a:ea typeface="Consolas"/>
                  <a:cs typeface="Consolas"/>
                </a:rPr>
                <a:t>plt.axvline(ortalama, color="red")</a:t>
              </a:r>
              <a:br/>
              <a:r>
                <a:rPr lang="tr-TR" sz="1050" dirty="0">
                  <a:solidFill>
                    <a:srgbClr val="EAF4F6"/>
                  </a:solidFill>
                  <a:latin typeface="Consolas"/>
                  <a:ea typeface="Consolas"/>
                  <a:cs typeface="Consolas"/>
                </a:rPr>
                <a:t>plt.axvline(medyan, color="green")</a:t>
              </a:r>
            </a:p>
          </p:txBody>
        </p:sp>
        <p:sp>
          <p:nvSpPr>
            <p:cNvPr id="18" name="TextBox 18"/>
            <p:cNvSpPr txBox="1"/>
            <p:nvPr/>
          </p:nvSpPr>
          <p:spPr>
            <a:xfrm>
              <a:off x="832866" y="3849052"/>
              <a:ext cx="2513269"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Çıktı: Ortalama ≈16.20, medyan</a:t>
              </a:r>
            </a:p>
          </p:txBody>
        </p:sp>
        <p:sp>
          <p:nvSpPr>
            <p:cNvPr id="19" name="TextBox 19"/>
            <p:cNvSpPr txBox="1"/>
            <p:nvPr/>
          </p:nvSpPr>
          <p:spPr>
            <a:xfrm>
              <a:off x="832866" y="4077652"/>
              <a:ext cx="1021328"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Consolas"/>
                  <a:ea typeface="Consolas"/>
                  <a:cs typeface="Consolas"/>
                </a:rPr>
                <a:t># ≈14.50 saat</a:t>
              </a:r>
            </a:p>
          </p:txBody>
        </p:sp>
        <p:sp>
          <p:nvSpPr>
            <p:cNvPr id="20" name="TextBox 20"/>
            <p:cNvSpPr txBox="1"/>
            <p:nvPr/>
          </p:nvSpPr>
          <p:spPr>
            <a:xfrm>
              <a:off x="833247" y="4657249"/>
              <a:ext cx="2748026" cy="552640"/>
            </a:xfrm>
            <a:prstGeom prst="rect">
              <a:avLst/>
            </a:prstGeom>
            <a:noFill/>
            <a:ln>
              <a:noFill/>
            </a:ln>
          </p:spPr>
          <p:txBody>
            <a:bodyPr wrap="none" lIns="0" tIns="0" rIns="0" bIns="0" anchor="t" anchorCtr="0">
              <a:spAutoFit/>
            </a:bodyPr>
            <a:lstStyle/>
            <a:p>
              <a:pPr algn="l">
                <a:lnSpc>
                  <a:spcPts val="1425"/>
                </a:lnSpc>
              </a:pPr>
              <a:r>
                <a:rPr lang="tr-TR" sz="980" dirty="0">
                  <a:solidFill>
                    <a:srgbClr val="52616B"/>
                  </a:solidFill>
                  <a:latin typeface="Consolas"/>
                  <a:ea typeface="Consolas"/>
                  <a:cs typeface="Consolas"/>
                </a:rPr>
                <a:t>Kırmızı çizgi (ortalama), yeşil çizginin</a:t>
              </a:r>
              <a:br/>
              <a:r>
                <a:rPr lang="tr-TR" sz="980" dirty="0">
                  <a:solidFill>
                    <a:srgbClr val="52616B"/>
                  </a:solidFill>
                  <a:latin typeface="Consolas"/>
                  <a:ea typeface="Consolas"/>
                  <a:cs typeface="Consolas"/>
                </a:rPr>
                <a:t>(medyan) sağında kalır; 30 saatlik tek</a:t>
              </a:r>
              <a:br/>
              <a:r>
                <a:rPr lang="tr-TR" sz="980" dirty="0">
                  <a:solidFill>
                    <a:srgbClr val="52616B"/>
                  </a:solidFill>
                  <a:latin typeface="Consolas"/>
                  <a:ea typeface="Consolas"/>
                  <a:cs typeface="Consolas"/>
                </a:rPr>
                <a:t>öğrenci ortalamayı yukarı çeker.</a:t>
              </a:r>
            </a:p>
          </p:txBody>
        </p:sp>
      </p:grpSp>
      <p:grpSp>
        <p:nvGrpSpPr>
          <p:cNvPr id="40" name="chart-card"/>
          <p:cNvGrpSpPr/>
          <p:nvPr/>
        </p:nvGrpSpPr>
        <p:grpSpPr>
          <a:xfrm>
            <a:off x="6248400" y="1104900"/>
            <a:ext cx="5334000" cy="3048000"/>
            <a:chOff x="6248400" y="1104900"/>
            <a:chExt cx="5334000" cy="3048000"/>
          </a:xfrm>
        </p:grpSpPr>
        <p:sp>
          <p:nvSpPr>
            <p:cNvPr id="22" name="Rectangle 22"/>
            <p:cNvSpPr/>
            <p:nvPr/>
          </p:nvSpPr>
          <p:spPr>
            <a:xfrm>
              <a:off x="6248400" y="1104900"/>
              <a:ext cx="5334000" cy="3048000"/>
            </a:xfrm>
            <a:prstGeom prst="roundRect">
              <a:avLst>
                <a:gd name="adj" fmla="val 3125"/>
              </a:avLst>
            </a:prstGeom>
            <a:solidFill>
              <a:srgbClr val="FFFFFF"/>
            </a:solidFill>
            <a:ln w="14288">
              <a:solidFill>
                <a:srgbClr val="B8CBD3"/>
              </a:solidFill>
            </a:ln>
          </p:spPr>
        </p:sp>
        <p:sp>
          <p:nvSpPr>
            <p:cNvPr id="23" name="TextBox 23"/>
            <p:cNvSpPr txBox="1"/>
            <p:nvPr/>
          </p:nvSpPr>
          <p:spPr>
            <a:xfrm>
              <a:off x="6470142" y="1283018"/>
              <a:ext cx="301570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Haftalık çalışma saati dağılımı</a:t>
              </a:r>
            </a:p>
          </p:txBody>
        </p:sp>
        <p:grpSp>
          <p:nvGrpSpPr>
            <p:cNvPr id="39" name="hist-bars"/>
            <p:cNvGrpSpPr/>
            <p:nvPr/>
          </p:nvGrpSpPr>
          <p:grpSpPr>
            <a:xfrm>
              <a:off x="6667500" y="1761649"/>
              <a:ext cx="4476750" cy="2086165"/>
              <a:chOff x="6667500" y="1761649"/>
              <a:chExt cx="4476750" cy="2086165"/>
            </a:xfrm>
          </p:grpSpPr>
          <p:sp>
            <p:nvSpPr>
              <p:cNvPr id="24" name="Line 24"/>
              <p:cNvSpPr/>
              <p:nvPr/>
            </p:nvSpPr>
            <p:spPr>
              <a:xfrm>
                <a:off x="6667500" y="3619500"/>
                <a:ext cx="4476750" cy="9525"/>
              </a:xfrm>
              <a:custGeom>
                <a:avLst/>
                <a:gdLst/>
                <a:ahLst/>
                <a:cxnLst/>
                <a:rect l="l" t="t" r="r" b="b"/>
                <a:pathLst>
                  <a:path w="4476750" h="9525">
                    <a:moveTo>
                      <a:pt x="0" y="0"/>
                    </a:moveTo>
                    <a:lnTo>
                      <a:pt x="4476750" y="0"/>
                    </a:lnTo>
                  </a:path>
                </a:pathLst>
              </a:custGeom>
              <a:noFill/>
              <a:ln w="14288">
                <a:solidFill>
                  <a:srgbClr val="B8CBD3"/>
                </a:solidFill>
              </a:ln>
            </p:spPr>
          </p:sp>
          <p:sp>
            <p:nvSpPr>
              <p:cNvPr id="25" name="Rectangle 25"/>
              <p:cNvSpPr/>
              <p:nvPr/>
            </p:nvSpPr>
            <p:spPr>
              <a:xfrm>
                <a:off x="6819900" y="2095500"/>
                <a:ext cx="666750" cy="1524000"/>
              </a:xfrm>
              <a:prstGeom prst="rect">
                <a:avLst/>
              </a:prstGeom>
              <a:solidFill>
                <a:srgbClr val="2E86AB"/>
              </a:solidFill>
              <a:ln>
                <a:noFill/>
              </a:ln>
            </p:spPr>
          </p:sp>
          <p:sp>
            <p:nvSpPr>
              <p:cNvPr id="26" name="Rectangle 26"/>
              <p:cNvSpPr/>
              <p:nvPr/>
            </p:nvSpPr>
            <p:spPr>
              <a:xfrm>
                <a:off x="7620000" y="2857500"/>
                <a:ext cx="666750" cy="762000"/>
              </a:xfrm>
              <a:prstGeom prst="rect">
                <a:avLst/>
              </a:prstGeom>
              <a:solidFill>
                <a:srgbClr val="2E86AB"/>
              </a:solidFill>
              <a:ln>
                <a:noFill/>
              </a:ln>
            </p:spPr>
          </p:sp>
          <p:sp>
            <p:nvSpPr>
              <p:cNvPr id="27" name="Rectangle 27"/>
              <p:cNvSpPr/>
              <p:nvPr/>
            </p:nvSpPr>
            <p:spPr>
              <a:xfrm>
                <a:off x="8420100" y="2857500"/>
                <a:ext cx="666750" cy="762000"/>
              </a:xfrm>
              <a:prstGeom prst="rect">
                <a:avLst/>
              </a:prstGeom>
              <a:solidFill>
                <a:srgbClr val="2E86AB"/>
              </a:solidFill>
              <a:ln>
                <a:noFill/>
              </a:ln>
            </p:spPr>
          </p:sp>
          <p:sp>
            <p:nvSpPr>
              <p:cNvPr id="28" name="Rectangle 28"/>
              <p:cNvSpPr/>
              <p:nvPr/>
            </p:nvSpPr>
            <p:spPr>
              <a:xfrm>
                <a:off x="9220200" y="3238500"/>
                <a:ext cx="666750" cy="381000"/>
              </a:xfrm>
              <a:prstGeom prst="rect">
                <a:avLst/>
              </a:prstGeom>
              <a:solidFill>
                <a:srgbClr val="2E86AB"/>
              </a:solidFill>
              <a:ln>
                <a:noFill/>
              </a:ln>
            </p:spPr>
          </p:sp>
          <p:sp>
            <p:nvSpPr>
              <p:cNvPr id="29" name="Rectangle 29"/>
              <p:cNvSpPr/>
              <p:nvPr/>
            </p:nvSpPr>
            <p:spPr>
              <a:xfrm>
                <a:off x="10020300" y="3238500"/>
                <a:ext cx="666750" cy="381000"/>
              </a:xfrm>
              <a:prstGeom prst="rect">
                <a:avLst/>
              </a:prstGeom>
              <a:solidFill>
                <a:srgbClr val="2E86AB"/>
              </a:solidFill>
              <a:ln>
                <a:noFill/>
              </a:ln>
            </p:spPr>
          </p:sp>
          <p:sp>
            <p:nvSpPr>
              <p:cNvPr id="30" name="TextBox 30"/>
              <p:cNvSpPr txBox="1"/>
              <p:nvPr/>
            </p:nvSpPr>
            <p:spPr>
              <a:xfrm>
                <a:off x="7003202" y="3657124"/>
                <a:ext cx="30014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8–12</a:t>
                </a:r>
              </a:p>
            </p:txBody>
          </p:sp>
          <p:sp>
            <p:nvSpPr>
              <p:cNvPr id="31" name="TextBox 31"/>
              <p:cNvSpPr txBox="1"/>
              <p:nvPr/>
            </p:nvSpPr>
            <p:spPr>
              <a:xfrm>
                <a:off x="7767022" y="3657124"/>
                <a:ext cx="37270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12–17</a:t>
                </a:r>
              </a:p>
            </p:txBody>
          </p:sp>
          <p:sp>
            <p:nvSpPr>
              <p:cNvPr id="32" name="TextBox 32"/>
              <p:cNvSpPr txBox="1"/>
              <p:nvPr/>
            </p:nvSpPr>
            <p:spPr>
              <a:xfrm>
                <a:off x="8567122" y="3657124"/>
                <a:ext cx="37270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17–21</a:t>
                </a:r>
              </a:p>
            </p:txBody>
          </p:sp>
          <p:sp>
            <p:nvSpPr>
              <p:cNvPr id="33" name="TextBox 33"/>
              <p:cNvSpPr txBox="1"/>
              <p:nvPr/>
            </p:nvSpPr>
            <p:spPr>
              <a:xfrm>
                <a:off x="9367222" y="3657124"/>
                <a:ext cx="37270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21–26</a:t>
                </a:r>
              </a:p>
            </p:txBody>
          </p:sp>
          <p:sp>
            <p:nvSpPr>
              <p:cNvPr id="34" name="TextBox 34"/>
              <p:cNvSpPr txBox="1"/>
              <p:nvPr/>
            </p:nvSpPr>
            <p:spPr>
              <a:xfrm>
                <a:off x="10167322" y="3657124"/>
                <a:ext cx="372707" cy="190690"/>
              </a:xfrm>
              <a:prstGeom prst="rect">
                <a:avLst/>
              </a:prstGeom>
              <a:noFill/>
              <a:ln>
                <a:noFill/>
              </a:ln>
            </p:spPr>
            <p:txBody>
              <a:bodyPr wrap="none" lIns="0" tIns="0" rIns="0" bIns="0" anchor="t" anchorCtr="0">
                <a:spAutoFit/>
              </a:bodyPr>
              <a:lstStyle/>
              <a:p>
                <a:pPr algn="ctr"/>
                <a:r>
                  <a:rPr lang="tr-TR" sz="980" dirty="0">
                    <a:solidFill>
                      <a:srgbClr val="52616B"/>
                    </a:solidFill>
                    <a:latin typeface="+mn-lt"/>
                    <a:ea typeface="+mn-ea"/>
                    <a:cs typeface="+mn-cs"/>
                  </a:rPr>
                  <a:t>26–30</a:t>
                </a:r>
              </a:p>
            </p:txBody>
          </p:sp>
          <p:sp>
            <p:nvSpPr>
              <p:cNvPr id="35" name="Line 35"/>
              <p:cNvSpPr/>
              <p:nvPr/>
            </p:nvSpPr>
            <p:spPr>
              <a:xfrm>
                <a:off x="8839200" y="1905000"/>
                <a:ext cx="9525" cy="1714500"/>
              </a:xfrm>
              <a:custGeom>
                <a:avLst/>
                <a:gdLst/>
                <a:ahLst/>
                <a:cxnLst/>
                <a:rect l="l" t="t" r="r" b="b"/>
                <a:pathLst>
                  <a:path w="9525" h="1714500">
                    <a:moveTo>
                      <a:pt x="0" y="0"/>
                    </a:moveTo>
                    <a:lnTo>
                      <a:pt x="0" y="1714500"/>
                    </a:lnTo>
                  </a:path>
                </a:pathLst>
              </a:custGeom>
              <a:noFill/>
              <a:ln w="23812">
                <a:solidFill>
                  <a:srgbClr val="D64545"/>
                </a:solidFill>
              </a:ln>
            </p:spPr>
          </p:sp>
          <p:sp>
            <p:nvSpPr>
              <p:cNvPr id="36" name="TextBox 36"/>
              <p:cNvSpPr txBox="1"/>
              <p:nvPr/>
            </p:nvSpPr>
            <p:spPr>
              <a:xfrm>
                <a:off x="8508716" y="1761649"/>
                <a:ext cx="660969" cy="190690"/>
              </a:xfrm>
              <a:prstGeom prst="rect">
                <a:avLst/>
              </a:prstGeom>
              <a:noFill/>
              <a:ln>
                <a:noFill/>
              </a:ln>
            </p:spPr>
            <p:txBody>
              <a:bodyPr wrap="none" lIns="0" tIns="0" rIns="0" bIns="0" anchor="t" anchorCtr="0">
                <a:spAutoFit/>
              </a:bodyPr>
              <a:lstStyle/>
              <a:p>
                <a:pPr algn="ctr"/>
                <a:r>
                  <a:rPr lang="tr-TR" sz="980" b="1" dirty="0">
                    <a:solidFill>
                      <a:srgbClr val="D64545"/>
                    </a:solidFill>
                    <a:latin typeface="+mn-lt"/>
                    <a:ea typeface="+mn-ea"/>
                    <a:cs typeface="+mn-cs"/>
                  </a:rPr>
                  <a:t>ort. 16.2</a:t>
                </a:r>
              </a:p>
            </p:txBody>
          </p:sp>
          <p:sp>
            <p:nvSpPr>
              <p:cNvPr id="37" name="Line 37"/>
              <p:cNvSpPr/>
              <p:nvPr/>
            </p:nvSpPr>
            <p:spPr>
              <a:xfrm>
                <a:off x="8334375" y="1905000"/>
                <a:ext cx="9525" cy="1714500"/>
              </a:xfrm>
              <a:custGeom>
                <a:avLst/>
                <a:gdLst/>
                <a:ahLst/>
                <a:cxnLst/>
                <a:rect l="l" t="t" r="r" b="b"/>
                <a:pathLst>
                  <a:path w="9525" h="1714500">
                    <a:moveTo>
                      <a:pt x="0" y="0"/>
                    </a:moveTo>
                    <a:lnTo>
                      <a:pt x="0" y="1714500"/>
                    </a:lnTo>
                  </a:path>
                </a:pathLst>
              </a:custGeom>
              <a:noFill/>
              <a:ln w="23812">
                <a:solidFill>
                  <a:srgbClr val="2E9E5B"/>
                </a:solidFill>
              </a:ln>
            </p:spPr>
          </p:sp>
          <p:sp>
            <p:nvSpPr>
              <p:cNvPr id="38" name="TextBox 38"/>
              <p:cNvSpPr txBox="1"/>
              <p:nvPr/>
            </p:nvSpPr>
            <p:spPr>
              <a:xfrm>
                <a:off x="7990038" y="1761649"/>
                <a:ext cx="688674" cy="190690"/>
              </a:xfrm>
              <a:prstGeom prst="rect">
                <a:avLst/>
              </a:prstGeom>
              <a:noFill/>
              <a:ln>
                <a:noFill/>
              </a:ln>
            </p:spPr>
            <p:txBody>
              <a:bodyPr wrap="none" lIns="0" tIns="0" rIns="0" bIns="0" anchor="t" anchorCtr="0">
                <a:spAutoFit/>
              </a:bodyPr>
              <a:lstStyle/>
              <a:p>
                <a:pPr algn="ctr"/>
                <a:r>
                  <a:rPr lang="tr-TR" sz="980" b="1" dirty="0">
                    <a:solidFill>
                      <a:srgbClr val="2E9E5B"/>
                    </a:solidFill>
                    <a:latin typeface="+mn-lt"/>
                    <a:ea typeface="+mn-ea"/>
                    <a:cs typeface="+mn-cs"/>
                  </a:rPr>
                  <a:t>med. 14.5</a:t>
                </a:r>
              </a:p>
            </p:txBody>
          </p:sp>
        </p:grpSp>
      </p:grpSp>
      <p:grpSp>
        <p:nvGrpSpPr>
          <p:cNvPr id="44" name="interp-card"/>
          <p:cNvGrpSpPr/>
          <p:nvPr/>
        </p:nvGrpSpPr>
        <p:grpSpPr>
          <a:xfrm>
            <a:off x="6248400" y="4305300"/>
            <a:ext cx="5334000" cy="1562100"/>
            <a:chOff x="6248400" y="4305300"/>
            <a:chExt cx="5334000" cy="1562100"/>
          </a:xfrm>
        </p:grpSpPr>
        <p:sp>
          <p:nvSpPr>
            <p:cNvPr id="41" name="Rectangle 41"/>
            <p:cNvSpPr/>
            <p:nvPr/>
          </p:nvSpPr>
          <p:spPr>
            <a:xfrm>
              <a:off x="6248400" y="4305300"/>
              <a:ext cx="5334000" cy="1562100"/>
            </a:xfrm>
            <a:prstGeom prst="roundRect">
              <a:avLst>
                <a:gd name="adj" fmla="val 6098"/>
              </a:avLst>
            </a:prstGeom>
            <a:solidFill>
              <a:srgbClr val="EAF4F6"/>
            </a:solidFill>
            <a:ln>
              <a:noFill/>
            </a:ln>
          </p:spPr>
        </p:sp>
        <p:sp>
          <p:nvSpPr>
            <p:cNvPr id="42" name="TextBox 42"/>
            <p:cNvSpPr txBox="1"/>
            <p:nvPr/>
          </p:nvSpPr>
          <p:spPr>
            <a:xfrm>
              <a:off x="6470142" y="4483418"/>
              <a:ext cx="21385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çıktı ne anlatıyor?</a:t>
              </a:r>
            </a:p>
          </p:txBody>
        </p:sp>
        <p:sp>
          <p:nvSpPr>
            <p:cNvPr id="43" name="TextBox 43"/>
            <p:cNvSpPr txBox="1"/>
            <p:nvPr/>
          </p:nvSpPr>
          <p:spPr>
            <a:xfrm>
              <a:off x="6470904" y="4804410"/>
              <a:ext cx="33421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Çubukların çoğu 10-20 saat aralığında</a:t>
              </a:r>
              <a:br/>
              <a:r>
                <a:rPr lang="tr-TR" sz="1200" dirty="0">
                  <a:solidFill>
                    <a:srgbClr val="172B3A"/>
                  </a:solidFill>
                  <a:latin typeface="+mn-lt"/>
                  <a:ea typeface="+mn-ea"/>
                  <a:cs typeface="+mn-cs"/>
                </a:rPr>
                <a:t>toplanır; birinci senaryoda notlar dengeli</a:t>
              </a:r>
              <a:br/>
              <a:r>
                <a:rPr lang="tr-TR" sz="1200" dirty="0">
                  <a:solidFill>
                    <a:srgbClr val="172B3A"/>
                  </a:solidFill>
                  <a:latin typeface="+mn-lt"/>
                  <a:ea typeface="+mn-ea"/>
                  <a:cs typeface="+mn-cs"/>
                </a:rPr>
                <a:t>dağılıyorsa ortalama sınıfı iyi temsil eder.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26</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7742150" cy="668845"/>
            <a:chOff x="609600" y="171450"/>
            <a:chExt cx="7742150"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0517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Dağılım: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147158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GÖRSELLEŞTİRME</a:t>
              </a:r>
            </a:p>
          </p:txBody>
        </p:sp>
        <p:sp>
          <p:nvSpPr>
            <p:cNvPr id="13" name="TextBox 13"/>
            <p:cNvSpPr txBox="1"/>
            <p:nvPr/>
          </p:nvSpPr>
          <p:spPr>
            <a:xfrm>
              <a:off x="3613785" y="1221581"/>
              <a:ext cx="98563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UYGUN VERİ</a:t>
              </a:r>
            </a:p>
          </p:txBody>
        </p:sp>
        <p:sp>
          <p:nvSpPr>
            <p:cNvPr id="14" name="TextBox 14"/>
            <p:cNvSpPr txBox="1"/>
            <p:nvPr/>
          </p:nvSpPr>
          <p:spPr>
            <a:xfrm>
              <a:off x="5709285" y="1221581"/>
              <a:ext cx="71944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AVANTAJ</a:t>
              </a:r>
            </a:p>
          </p:txBody>
        </p:sp>
        <p:sp>
          <p:nvSpPr>
            <p:cNvPr id="15" name="TextBox 15"/>
            <p:cNvSpPr txBox="1"/>
            <p:nvPr/>
          </p:nvSpPr>
          <p:spPr>
            <a:xfrm>
              <a:off x="8566785" y="1221581"/>
              <a:ext cx="102745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DEZAVANTAJ</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90508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Histogram</a:t>
              </a:r>
            </a:p>
          </p:txBody>
        </p:sp>
        <p:sp>
          <p:nvSpPr>
            <p:cNvPr id="18" name="TextBox 18"/>
            <p:cNvSpPr txBox="1"/>
            <p:nvPr/>
          </p:nvSpPr>
          <p:spPr>
            <a:xfrm>
              <a:off x="3613785" y="1669256"/>
              <a:ext cx="119222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Sayısal, sürekli</a:t>
              </a:r>
            </a:p>
          </p:txBody>
        </p:sp>
        <p:sp>
          <p:nvSpPr>
            <p:cNvPr id="19" name="TextBox 19"/>
            <p:cNvSpPr txBox="1"/>
            <p:nvPr/>
          </p:nvSpPr>
          <p:spPr>
            <a:xfrm>
              <a:off x="5709285" y="1669256"/>
              <a:ext cx="18478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Dağılım biçimini gösterir</a:t>
              </a:r>
            </a:p>
          </p:txBody>
        </p:sp>
        <p:sp>
          <p:nvSpPr>
            <p:cNvPr id="20" name="TextBox 20"/>
            <p:cNvSpPr txBox="1"/>
            <p:nvPr/>
          </p:nvSpPr>
          <p:spPr>
            <a:xfrm>
              <a:off x="8566785" y="1669256"/>
              <a:ext cx="17273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Aralık seçimine duyarlı</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142952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Yoğunluk grafiği</a:t>
              </a:r>
            </a:p>
          </p:txBody>
        </p:sp>
        <p:sp>
          <p:nvSpPr>
            <p:cNvPr id="23" name="TextBox 23"/>
            <p:cNvSpPr txBox="1"/>
            <p:nvPr/>
          </p:nvSpPr>
          <p:spPr>
            <a:xfrm>
              <a:off x="3613785" y="2193131"/>
              <a:ext cx="172756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Sayısal, yeterli gözlem</a:t>
              </a:r>
            </a:p>
          </p:txBody>
        </p:sp>
        <p:sp>
          <p:nvSpPr>
            <p:cNvPr id="24" name="TextBox 24"/>
            <p:cNvSpPr txBox="1"/>
            <p:nvPr/>
          </p:nvSpPr>
          <p:spPr>
            <a:xfrm>
              <a:off x="5709285" y="2193131"/>
              <a:ext cx="166003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Daha yumuşak görünüm</a:t>
              </a:r>
            </a:p>
          </p:txBody>
        </p:sp>
        <p:sp>
          <p:nvSpPr>
            <p:cNvPr id="25" name="TextBox 25"/>
            <p:cNvSpPr txBox="1"/>
            <p:nvPr/>
          </p:nvSpPr>
          <p:spPr>
            <a:xfrm>
              <a:off x="8566785" y="2193131"/>
              <a:ext cx="205168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Küçük örneklemde yanıltıcı</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17636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Çubuk grafiği</a:t>
              </a:r>
            </a:p>
          </p:txBody>
        </p:sp>
        <p:sp>
          <p:nvSpPr>
            <p:cNvPr id="28" name="TextBox 28"/>
            <p:cNvSpPr txBox="1"/>
            <p:nvPr/>
          </p:nvSpPr>
          <p:spPr>
            <a:xfrm>
              <a:off x="3613785" y="2717006"/>
              <a:ext cx="7245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Kategorik</a:t>
              </a:r>
            </a:p>
          </p:txBody>
        </p:sp>
        <p:sp>
          <p:nvSpPr>
            <p:cNvPr id="29" name="TextBox 29"/>
            <p:cNvSpPr txBox="1"/>
            <p:nvPr/>
          </p:nvSpPr>
          <p:spPr>
            <a:xfrm>
              <a:off x="5709285" y="2717006"/>
              <a:ext cx="15919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Sayımı açık gösterir</a:t>
              </a:r>
            </a:p>
          </p:txBody>
        </p:sp>
        <p:sp>
          <p:nvSpPr>
            <p:cNvPr id="30" name="TextBox 30"/>
            <p:cNvSpPr txBox="1"/>
            <p:nvPr/>
          </p:nvSpPr>
          <p:spPr>
            <a:xfrm>
              <a:off x="8566785" y="2717006"/>
              <a:ext cx="20819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Sayısal yayılımı göstermez</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107683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Kutu grafiği</a:t>
              </a:r>
            </a:p>
          </p:txBody>
        </p:sp>
        <p:sp>
          <p:nvSpPr>
            <p:cNvPr id="33" name="TextBox 33"/>
            <p:cNvSpPr txBox="1"/>
            <p:nvPr/>
          </p:nvSpPr>
          <p:spPr>
            <a:xfrm>
              <a:off x="3613785" y="3240881"/>
              <a:ext cx="22175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Sayısal grup karşılaştırması</a:t>
              </a:r>
            </a:p>
          </p:txBody>
        </p:sp>
        <p:sp>
          <p:nvSpPr>
            <p:cNvPr id="34" name="TextBox 34"/>
            <p:cNvSpPr txBox="1"/>
            <p:nvPr/>
          </p:nvSpPr>
          <p:spPr>
            <a:xfrm>
              <a:off x="5709285" y="3240881"/>
              <a:ext cx="19007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Aykırı değerleri gösterir</a:t>
              </a:r>
            </a:p>
          </p:txBody>
        </p:sp>
        <p:sp>
          <p:nvSpPr>
            <p:cNvPr id="35" name="TextBox 35"/>
            <p:cNvSpPr txBox="1"/>
            <p:nvPr/>
          </p:nvSpPr>
          <p:spPr>
            <a:xfrm>
              <a:off x="8566785" y="3240881"/>
              <a:ext cx="19007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Ayrıntılı frekansı gizler</a:t>
              </a:r>
            </a:p>
          </p:txBody>
        </p:sp>
      </p:grpSp>
      <p:grpSp>
        <p:nvGrpSpPr>
          <p:cNvPr id="40" name="nezaman-band"/>
          <p:cNvGrpSpPr/>
          <p:nvPr/>
        </p:nvGrpSpPr>
        <p:grpSpPr>
          <a:xfrm>
            <a:off x="609600" y="3771900"/>
            <a:ext cx="10972800" cy="609600"/>
            <a:chOff x="609600" y="3771900"/>
            <a:chExt cx="10972800" cy="609600"/>
          </a:xfrm>
        </p:grpSpPr>
        <p:sp>
          <p:nvSpPr>
            <p:cNvPr id="37" name="Rectangle 37"/>
            <p:cNvSpPr/>
            <p:nvPr/>
          </p:nvSpPr>
          <p:spPr>
            <a:xfrm>
              <a:off x="609600" y="3771900"/>
              <a:ext cx="10972800" cy="609600"/>
            </a:xfrm>
            <a:prstGeom prst="roundRect">
              <a:avLst>
                <a:gd name="adj" fmla="val 12500"/>
              </a:avLst>
            </a:prstGeom>
            <a:solidFill>
              <a:srgbClr val="EAF4F6"/>
            </a:solidFill>
            <a:ln>
              <a:noFill/>
            </a:ln>
          </p:spPr>
        </p:sp>
        <p:sp>
          <p:nvSpPr>
            <p:cNvPr id="38" name="TextBox 38"/>
            <p:cNvSpPr txBox="1"/>
            <p:nvPr/>
          </p:nvSpPr>
          <p:spPr>
            <a:xfrm>
              <a:off x="908304" y="3890010"/>
              <a:ext cx="231598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tercih edilmelidir?</a:t>
              </a:r>
            </a:p>
          </p:txBody>
        </p:sp>
        <p:sp>
          <p:nvSpPr>
            <p:cNvPr id="39" name="TextBox 39"/>
            <p:cNvSpPr txBox="1"/>
            <p:nvPr/>
          </p:nvSpPr>
          <p:spPr>
            <a:xfrm>
              <a:off x="908685" y="4126706"/>
              <a:ext cx="75774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 sayısal değişkenin biçimini anlamak için; kategorik değişkenler için çubuk grafiği tercih edilmelidir.</a:t>
              </a:r>
            </a:p>
          </p:txBody>
        </p:sp>
      </p:grpSp>
      <p:grpSp>
        <p:nvGrpSpPr>
          <p:cNvPr id="42" name="mistakes-label"/>
          <p:cNvGrpSpPr/>
          <p:nvPr/>
        </p:nvGrpSpPr>
        <p:grpSpPr>
          <a:xfrm>
            <a:off x="601599" y="4573429"/>
            <a:ext cx="1631012" cy="308039"/>
            <a:chOff x="601599" y="4573429"/>
            <a:chExt cx="1631012" cy="308039"/>
          </a:xfrm>
        </p:grpSpPr>
        <p:sp>
          <p:nvSpPr>
            <p:cNvPr id="41" name="TextBox 41"/>
            <p:cNvSpPr txBox="1"/>
            <p:nvPr/>
          </p:nvSpPr>
          <p:spPr>
            <a:xfrm>
              <a:off x="601599" y="45734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7" name="mistake-1"/>
          <p:cNvGrpSpPr/>
          <p:nvPr/>
        </p:nvGrpSpPr>
        <p:grpSpPr>
          <a:xfrm>
            <a:off x="609600" y="4914900"/>
            <a:ext cx="3505200" cy="1238250"/>
            <a:chOff x="609600" y="4914900"/>
            <a:chExt cx="3505200" cy="1238250"/>
          </a:xfrm>
        </p:grpSpPr>
        <p:sp>
          <p:nvSpPr>
            <p:cNvPr id="43" name="Rectangle 43"/>
            <p:cNvSpPr/>
            <p:nvPr/>
          </p:nvSpPr>
          <p:spPr>
            <a:xfrm>
              <a:off x="609600" y="4914900"/>
              <a:ext cx="3505200" cy="1238250"/>
            </a:xfrm>
            <a:prstGeom prst="roundRect">
              <a:avLst>
                <a:gd name="adj" fmla="val 7692"/>
              </a:avLst>
            </a:prstGeom>
            <a:solidFill>
              <a:srgbClr val="FFFFFF"/>
            </a:solidFill>
            <a:ln w="14288">
              <a:solidFill>
                <a:srgbClr val="B8CBD3"/>
              </a:solidFill>
            </a:ln>
          </p:spPr>
        </p:sp>
        <p:sp>
          <p:nvSpPr>
            <p:cNvPr id="44" name="Rectangle 44"/>
            <p:cNvSpPr/>
            <p:nvPr/>
          </p:nvSpPr>
          <p:spPr>
            <a:xfrm>
              <a:off x="609600" y="4914900"/>
              <a:ext cx="57150" cy="1238250"/>
            </a:xfrm>
            <a:prstGeom prst="rect">
              <a:avLst/>
            </a:prstGeom>
            <a:solidFill>
              <a:srgbClr val="00A6A6"/>
            </a:solidFill>
            <a:ln>
              <a:noFill/>
            </a:ln>
          </p:spPr>
        </p:sp>
        <p:sp>
          <p:nvSpPr>
            <p:cNvPr id="45" name="TextBox 45"/>
            <p:cNvSpPr txBox="1"/>
            <p:nvPr/>
          </p:nvSpPr>
          <p:spPr>
            <a:xfrm>
              <a:off x="831723" y="5063014"/>
              <a:ext cx="256076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Histogramda kategorik değer</a:t>
              </a:r>
            </a:p>
          </p:txBody>
        </p:sp>
        <p:sp>
          <p:nvSpPr>
            <p:cNvPr id="46" name="TextBox 46"/>
            <p:cNvSpPr txBox="1"/>
            <p:nvPr/>
          </p:nvSpPr>
          <p:spPr>
            <a:xfrm>
              <a:off x="832866" y="5373052"/>
              <a:ext cx="2084261"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Bölüm adları sayısal aralık</a:t>
              </a:r>
              <a:br/>
              <a:r>
                <a:rPr lang="tr-TR" sz="1050" dirty="0">
                  <a:solidFill>
                    <a:srgbClr val="172B3A"/>
                  </a:solidFill>
                  <a:latin typeface="+mn-lt"/>
                  <a:ea typeface="+mn-ea"/>
                  <a:cs typeface="+mn-cs"/>
                </a:rPr>
                <a:t>olmadığı için frekans grafiğiyle</a:t>
              </a:r>
              <a:br/>
              <a:r>
                <a:rPr lang="tr-TR" sz="1050" dirty="0">
                  <a:solidFill>
                    <a:srgbClr val="172B3A"/>
                  </a:solidFill>
                  <a:latin typeface="+mn-lt"/>
                  <a:ea typeface="+mn-ea"/>
                  <a:cs typeface="+mn-cs"/>
                </a:rPr>
                <a:t>gösterilmelidir.</a:t>
              </a:r>
            </a:p>
          </p:txBody>
        </p:sp>
      </p:grpSp>
      <p:grpSp>
        <p:nvGrpSpPr>
          <p:cNvPr id="52" name="mistake-2"/>
          <p:cNvGrpSpPr/>
          <p:nvPr/>
        </p:nvGrpSpPr>
        <p:grpSpPr>
          <a:xfrm>
            <a:off x="4343400" y="4914900"/>
            <a:ext cx="3505200" cy="1238250"/>
            <a:chOff x="4343400" y="4914900"/>
            <a:chExt cx="3505200" cy="1238250"/>
          </a:xfrm>
        </p:grpSpPr>
        <p:sp>
          <p:nvSpPr>
            <p:cNvPr id="48" name="Rectangle 48"/>
            <p:cNvSpPr/>
            <p:nvPr/>
          </p:nvSpPr>
          <p:spPr>
            <a:xfrm>
              <a:off x="4343400" y="4914900"/>
              <a:ext cx="3505200" cy="1238250"/>
            </a:xfrm>
            <a:prstGeom prst="roundRect">
              <a:avLst>
                <a:gd name="adj" fmla="val 7692"/>
              </a:avLst>
            </a:prstGeom>
            <a:solidFill>
              <a:srgbClr val="FFFFFF"/>
            </a:solidFill>
            <a:ln w="14288">
              <a:solidFill>
                <a:srgbClr val="B8CBD3"/>
              </a:solidFill>
            </a:ln>
          </p:spPr>
        </p:sp>
        <p:sp>
          <p:nvSpPr>
            <p:cNvPr id="49" name="Rectangle 49"/>
            <p:cNvSpPr/>
            <p:nvPr/>
          </p:nvSpPr>
          <p:spPr>
            <a:xfrm>
              <a:off x="4343400" y="4914900"/>
              <a:ext cx="57150" cy="1238250"/>
            </a:xfrm>
            <a:prstGeom prst="rect">
              <a:avLst/>
            </a:prstGeom>
            <a:solidFill>
              <a:srgbClr val="00A6A6"/>
            </a:solidFill>
            <a:ln>
              <a:noFill/>
            </a:ln>
          </p:spPr>
        </p:sp>
        <p:sp>
          <p:nvSpPr>
            <p:cNvPr id="50" name="TextBox 50"/>
            <p:cNvSpPr txBox="1"/>
            <p:nvPr/>
          </p:nvSpPr>
          <p:spPr>
            <a:xfrm>
              <a:off x="4565523" y="5063014"/>
              <a:ext cx="254287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Ortalamayı hep tipik saymak</a:t>
              </a:r>
            </a:p>
          </p:txBody>
        </p:sp>
        <p:sp>
          <p:nvSpPr>
            <p:cNvPr id="51" name="TextBox 51"/>
            <p:cNvSpPr txBox="1"/>
            <p:nvPr/>
          </p:nvSpPr>
          <p:spPr>
            <a:xfrm>
              <a:off x="4566666" y="5373052"/>
              <a:ext cx="1890903"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Aykırı değerler ortalamayı</a:t>
              </a:r>
              <a:br/>
              <a:r>
                <a:rPr lang="tr-TR" sz="1050" dirty="0">
                  <a:solidFill>
                    <a:srgbClr val="172B3A"/>
                  </a:solidFill>
                  <a:latin typeface="+mn-lt"/>
                  <a:ea typeface="+mn-ea"/>
                  <a:cs typeface="+mn-cs"/>
                </a:rPr>
                <a:t>çekebilir; medyan bazen daha</a:t>
              </a:r>
              <a:br/>
              <a:r>
                <a:rPr lang="tr-TR" sz="1050" dirty="0">
                  <a:solidFill>
                    <a:srgbClr val="172B3A"/>
                  </a:solidFill>
                  <a:latin typeface="+mn-lt"/>
                  <a:ea typeface="+mn-ea"/>
                  <a:cs typeface="+mn-cs"/>
                </a:rPr>
                <a:t>güvenilir bir özet olur.</a:t>
              </a:r>
            </a:p>
          </p:txBody>
        </p:sp>
      </p:grpSp>
      <p:grpSp>
        <p:nvGrpSpPr>
          <p:cNvPr id="57" name="mistake-3"/>
          <p:cNvGrpSpPr/>
          <p:nvPr/>
        </p:nvGrpSpPr>
        <p:grpSpPr>
          <a:xfrm>
            <a:off x="8077200" y="4914900"/>
            <a:ext cx="3505200" cy="1238250"/>
            <a:chOff x="8077200" y="4914900"/>
            <a:chExt cx="3505200" cy="1238250"/>
          </a:xfrm>
        </p:grpSpPr>
        <p:sp>
          <p:nvSpPr>
            <p:cNvPr id="53" name="Rectangle 53"/>
            <p:cNvSpPr/>
            <p:nvPr/>
          </p:nvSpPr>
          <p:spPr>
            <a:xfrm>
              <a:off x="8077200" y="4914900"/>
              <a:ext cx="3505200" cy="1238250"/>
            </a:xfrm>
            <a:prstGeom prst="roundRect">
              <a:avLst>
                <a:gd name="adj" fmla="val 7692"/>
              </a:avLst>
            </a:prstGeom>
            <a:solidFill>
              <a:srgbClr val="FFFFFF"/>
            </a:solidFill>
            <a:ln w="14288">
              <a:solidFill>
                <a:srgbClr val="B8CBD3"/>
              </a:solidFill>
            </a:ln>
          </p:spPr>
        </p:sp>
        <p:sp>
          <p:nvSpPr>
            <p:cNvPr id="54" name="Rectangle 54"/>
            <p:cNvSpPr/>
            <p:nvPr/>
          </p:nvSpPr>
          <p:spPr>
            <a:xfrm>
              <a:off x="8077200" y="4914900"/>
              <a:ext cx="57150" cy="1238250"/>
            </a:xfrm>
            <a:prstGeom prst="rect">
              <a:avLst/>
            </a:prstGeom>
            <a:solidFill>
              <a:srgbClr val="00A6A6"/>
            </a:solidFill>
            <a:ln>
              <a:noFill/>
            </a:ln>
          </p:spPr>
        </p:sp>
        <p:sp>
          <p:nvSpPr>
            <p:cNvPr id="55" name="TextBox 55"/>
            <p:cNvSpPr txBox="1"/>
            <p:nvPr/>
          </p:nvSpPr>
          <p:spPr>
            <a:xfrm>
              <a:off x="8299323" y="5063014"/>
              <a:ext cx="304037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Standart sapmayı birimsiz okumak</a:t>
              </a:r>
            </a:p>
          </p:txBody>
        </p:sp>
        <p:sp>
          <p:nvSpPr>
            <p:cNvPr id="56" name="TextBox 56"/>
            <p:cNvSpPr txBox="1"/>
            <p:nvPr/>
          </p:nvSpPr>
          <p:spPr>
            <a:xfrm>
              <a:off x="8300466" y="5373052"/>
              <a:ext cx="2030921"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Standart sapma, ölçüldüğü</a:t>
              </a:r>
              <a:br/>
              <a:r>
                <a:rPr lang="tr-TR" sz="1050" dirty="0">
                  <a:solidFill>
                    <a:srgbClr val="172B3A"/>
                  </a:solidFill>
                  <a:latin typeface="+mn-lt"/>
                  <a:ea typeface="+mn-ea"/>
                  <a:cs typeface="+mn-cs"/>
                </a:rPr>
                <a:t>değişkenin biriminden bağımsız</a:t>
              </a:r>
              <a:br/>
              <a:r>
                <a:rPr lang="tr-TR" sz="1050" dirty="0">
                  <a:solidFill>
                    <a:srgbClr val="172B3A"/>
                  </a:solidFill>
                  <a:latin typeface="+mn-lt"/>
                  <a:ea typeface="+mn-ea"/>
                  <a:cs typeface="+mn-cs"/>
                </a:rPr>
                <a:t>yorumlanamaz.</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26</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932139" cy="557403"/>
            <a:chOff x="595122" y="282892"/>
            <a:chExt cx="6932139" cy="557403"/>
          </a:xfrm>
        </p:grpSpPr>
        <p:sp>
          <p:nvSpPr>
            <p:cNvPr id="4" name="TextBox 4"/>
            <p:cNvSpPr txBox="1"/>
            <p:nvPr/>
          </p:nvSpPr>
          <p:spPr>
            <a:xfrm>
              <a:off x="595122" y="282892"/>
              <a:ext cx="69321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Çarpıklık: tanım ve neden vardır?</a:t>
              </a:r>
            </a:p>
          </p:txBody>
        </p:sp>
      </p:grpSp>
      <p:grpSp>
        <p:nvGrpSpPr>
          <p:cNvPr id="7" name="kicker"/>
          <p:cNvGrpSpPr/>
          <p:nvPr/>
        </p:nvGrpSpPr>
        <p:grpSpPr>
          <a:xfrm>
            <a:off x="604266" y="1048702"/>
            <a:ext cx="3472594" cy="205359"/>
            <a:chOff x="604266" y="1048702"/>
            <a:chExt cx="3472594" cy="205359"/>
          </a:xfrm>
        </p:grpSpPr>
        <p:sp>
          <p:nvSpPr>
            <p:cNvPr id="6" name="TextBox 6"/>
            <p:cNvSpPr txBox="1"/>
            <p:nvPr/>
          </p:nvSpPr>
          <p:spPr>
            <a:xfrm>
              <a:off x="604266" y="1048702"/>
              <a:ext cx="3472594"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TEKNİK 3 / 5 · ÇALIŞMA SAATİ ÖRNEĞİ</a:t>
              </a:r>
            </a:p>
          </p:txBody>
        </p:sp>
      </p:grpSp>
      <p:grpSp>
        <p:nvGrpSpPr>
          <p:cNvPr id="13" name="definition-card"/>
          <p:cNvGrpSpPr/>
          <p:nvPr/>
        </p:nvGrpSpPr>
        <p:grpSpPr>
          <a:xfrm>
            <a:off x="609600" y="1333500"/>
            <a:ext cx="5295900" cy="3238500"/>
            <a:chOff x="609600" y="1333500"/>
            <a:chExt cx="5295900" cy="3238500"/>
          </a:xfrm>
        </p:grpSpPr>
        <p:sp>
          <p:nvSpPr>
            <p:cNvPr id="8" name="Rectangle 8"/>
            <p:cNvSpPr/>
            <p:nvPr/>
          </p:nvSpPr>
          <p:spPr>
            <a:xfrm>
              <a:off x="609600" y="1333500"/>
              <a:ext cx="5295900" cy="3238500"/>
            </a:xfrm>
            <a:prstGeom prst="roundRect">
              <a:avLst>
                <a:gd name="adj" fmla="val 2941"/>
              </a:avLst>
            </a:prstGeom>
            <a:solidFill>
              <a:srgbClr val="FFFFFF"/>
            </a:solidFill>
            <a:ln w="14288">
              <a:solidFill>
                <a:srgbClr val="B8CBD3"/>
              </a:solidFill>
            </a:ln>
          </p:spPr>
        </p:sp>
        <p:sp>
          <p:nvSpPr>
            <p:cNvPr id="9" name="TextBox 9"/>
            <p:cNvSpPr txBox="1"/>
            <p:nvPr/>
          </p:nvSpPr>
          <p:spPr>
            <a:xfrm>
              <a:off x="829056" y="14820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0" name="TextBox 10"/>
            <p:cNvSpPr txBox="1"/>
            <p:nvPr/>
          </p:nvSpPr>
          <p:spPr>
            <a:xfrm>
              <a:off x="831342" y="1892618"/>
              <a:ext cx="3502724"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Dağılımın simetriden hangi yöne ve</a:t>
              </a:r>
              <a:br/>
              <a:r>
                <a:rPr lang="tr-TR" sz="1350" dirty="0">
                  <a:solidFill>
                    <a:srgbClr val="172B3A"/>
                  </a:solidFill>
                  <a:latin typeface="+mn-lt"/>
                  <a:ea typeface="+mn-ea"/>
                  <a:cs typeface="+mn-cs"/>
                </a:rPr>
                <a:t>ne ölçüde uzaklaştığını belirleyen</a:t>
              </a:r>
              <a:br/>
              <a:r>
                <a:rPr lang="tr-TR" sz="1350" dirty="0">
                  <a:solidFill>
                    <a:srgbClr val="172B3A"/>
                  </a:solidFill>
                  <a:latin typeface="+mn-lt"/>
                  <a:ea typeface="+mn-ea"/>
                  <a:cs typeface="+mn-cs"/>
                </a:rPr>
                <a:t>istatistiksel ölçüdür. Pozitif çarpıklıkta</a:t>
              </a:r>
              <a:br/>
              <a:r>
                <a:rPr lang="tr-TR" sz="1350" dirty="0">
                  <a:solidFill>
                    <a:srgbClr val="172B3A"/>
                  </a:solidFill>
                  <a:latin typeface="+mn-lt"/>
                  <a:ea typeface="+mn-ea"/>
                  <a:cs typeface="+mn-cs"/>
                </a:rPr>
                <a:t>sağ kuyruk, negatif çarpıklıkta sol</a:t>
              </a:r>
              <a:br/>
              <a:r>
                <a:rPr lang="tr-TR" sz="1350" dirty="0">
                  <a:solidFill>
                    <a:srgbClr val="172B3A"/>
                  </a:solidFill>
                  <a:latin typeface="+mn-lt"/>
                  <a:ea typeface="+mn-ea"/>
                  <a:cs typeface="+mn-cs"/>
                </a:rPr>
                <a:t>kuyruk uzundur.</a:t>
              </a:r>
            </a:p>
          </p:txBody>
        </p:sp>
        <p:sp>
          <p:nvSpPr>
            <p:cNvPr id="11" name="Line 11"/>
            <p:cNvSpPr/>
            <p:nvPr/>
          </p:nvSpPr>
          <p:spPr>
            <a:xfrm>
              <a:off x="8382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2" name="TextBox 12"/>
            <p:cNvSpPr txBox="1"/>
            <p:nvPr/>
          </p:nvSpPr>
          <p:spPr>
            <a:xfrm>
              <a:off x="832104" y="3680460"/>
              <a:ext cx="2999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Otobüs durağında yolcuların çoğu</a:t>
              </a:r>
              <a:br/>
              <a:r>
                <a:rPr lang="tr-TR" sz="1200" dirty="0">
                  <a:solidFill>
                    <a:srgbClr val="52616B"/>
                  </a:solidFill>
                  <a:latin typeface="+mn-lt"/>
                  <a:ea typeface="+mn-ea"/>
                  <a:cs typeface="+mn-cs"/>
                </a:rPr>
                <a:t>kapıya yakın toplanmış, birkaçı uzakta</a:t>
              </a:r>
              <a:br/>
              <a:r>
                <a:rPr lang="tr-TR" sz="1200" dirty="0">
                  <a:solidFill>
                    <a:srgbClr val="52616B"/>
                  </a:solidFill>
                  <a:latin typeface="+mn-lt"/>
                  <a:ea typeface="+mn-ea"/>
                  <a:cs typeface="+mn-cs"/>
                </a:rPr>
                <a:t>kalmışsa dağılım bir tarafa yığılır.</a:t>
              </a:r>
            </a:p>
          </p:txBody>
        </p:sp>
      </p:grpSp>
      <p:grpSp>
        <p:nvGrpSpPr>
          <p:cNvPr id="19" name="why-card"/>
          <p:cNvGrpSpPr/>
          <p:nvPr/>
        </p:nvGrpSpPr>
        <p:grpSpPr>
          <a:xfrm>
            <a:off x="6286500" y="1333500"/>
            <a:ext cx="5295900" cy="3238500"/>
            <a:chOff x="6286500" y="1333500"/>
            <a:chExt cx="5295900" cy="3238500"/>
          </a:xfrm>
        </p:grpSpPr>
        <p:sp>
          <p:nvSpPr>
            <p:cNvPr id="14" name="Rectangle 14"/>
            <p:cNvSpPr/>
            <p:nvPr/>
          </p:nvSpPr>
          <p:spPr>
            <a:xfrm>
              <a:off x="6286500" y="1333500"/>
              <a:ext cx="5295900" cy="3238500"/>
            </a:xfrm>
            <a:prstGeom prst="roundRect">
              <a:avLst>
                <a:gd name="adj" fmla="val 2941"/>
              </a:avLst>
            </a:prstGeom>
            <a:solidFill>
              <a:srgbClr val="FFFFFF"/>
            </a:solidFill>
            <a:ln w="14288">
              <a:solidFill>
                <a:srgbClr val="B8CBD3"/>
              </a:solidFill>
            </a:ln>
          </p:spPr>
        </p:sp>
        <p:sp>
          <p:nvSpPr>
            <p:cNvPr id="15" name="TextBox 15"/>
            <p:cNvSpPr txBox="1"/>
            <p:nvPr/>
          </p:nvSpPr>
          <p:spPr>
            <a:xfrm>
              <a:off x="6505956" y="1482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6" name="TextBox 16"/>
            <p:cNvSpPr txBox="1"/>
            <p:nvPr/>
          </p:nvSpPr>
          <p:spPr>
            <a:xfrm>
              <a:off x="6508242" y="1892618"/>
              <a:ext cx="3314128"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Ortalamanın medyanı temsil edip</a:t>
              </a:r>
              <a:br/>
              <a:r>
                <a:rPr lang="tr-TR" sz="1350" dirty="0">
                  <a:solidFill>
                    <a:srgbClr val="172B3A"/>
                  </a:solidFill>
                  <a:latin typeface="+mn-lt"/>
                  <a:ea typeface="+mn-ea"/>
                  <a:cs typeface="+mn-cs"/>
                </a:rPr>
                <a:t>etmediğini değerlendirmeyi sağlar.</a:t>
              </a:r>
              <a:br/>
              <a:r>
                <a:rPr lang="tr-TR" sz="1350" dirty="0">
                  <a:solidFill>
                    <a:srgbClr val="172B3A"/>
                  </a:solidFill>
                  <a:latin typeface="+mn-lt"/>
                  <a:ea typeface="+mn-ea"/>
                  <a:cs typeface="+mn-cs"/>
                </a:rPr>
                <a:t>Müşteri harcamalarının çoğu düşük,</a:t>
              </a:r>
              <a:br/>
              <a:r>
                <a:rPr lang="tr-TR" sz="1350" dirty="0">
                  <a:solidFill>
                    <a:srgbClr val="172B3A"/>
                  </a:solidFill>
                  <a:latin typeface="+mn-lt"/>
                  <a:ea typeface="+mn-ea"/>
                  <a:cs typeface="+mn-cs"/>
                </a:rPr>
                <a:t>az sayıdaki yüksek harcama ortalamayı</a:t>
              </a:r>
              <a:br/>
              <a:r>
                <a:rPr lang="tr-TR" sz="1350" dirty="0">
                  <a:solidFill>
                    <a:srgbClr val="172B3A"/>
                  </a:solidFill>
                  <a:latin typeface="+mn-lt"/>
                  <a:ea typeface="+mn-ea"/>
                  <a:cs typeface="+mn-cs"/>
                </a:rPr>
                <a:t>olduğundan varlıklı gösterebilir.</a:t>
              </a:r>
            </a:p>
          </p:txBody>
        </p:sp>
        <p:sp>
          <p:nvSpPr>
            <p:cNvPr id="17" name="Line 17"/>
            <p:cNvSpPr/>
            <p:nvPr/>
          </p:nvSpPr>
          <p:spPr>
            <a:xfrm>
              <a:off x="65151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8" name="TextBox 18"/>
            <p:cNvSpPr txBox="1"/>
            <p:nvPr/>
          </p:nvSpPr>
          <p:spPr>
            <a:xfrm>
              <a:off x="6509004" y="3680460"/>
              <a:ext cx="34183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Çarpık değişkenler ölçekleme veya</a:t>
              </a:r>
              <a:br/>
              <a:r>
                <a:rPr lang="tr-TR" sz="1200" dirty="0">
                  <a:solidFill>
                    <a:srgbClr val="52616B"/>
                  </a:solidFill>
                  <a:latin typeface="+mn-lt"/>
                  <a:ea typeface="+mn-ea"/>
                  <a:cs typeface="+mn-cs"/>
                </a:rPr>
                <a:t>logaritmik dönüşüm ihtiyacını gösterir;</a:t>
              </a:r>
              <a:br/>
              <a:r>
                <a:rPr lang="tr-TR" sz="1200" dirty="0">
                  <a:solidFill>
                    <a:srgbClr val="52616B"/>
                  </a:solidFill>
                  <a:latin typeface="+mn-lt"/>
                  <a:ea typeface="+mn-ea"/>
                  <a:cs typeface="+mn-cs"/>
                </a:rPr>
                <a:t>ancak tek başına zorunluluk anlamına gelmez.</a:t>
              </a:r>
            </a:p>
          </p:txBody>
        </p:sp>
      </p:grpSp>
      <p:grpSp>
        <p:nvGrpSpPr>
          <p:cNvPr id="23" name="analogy-band"/>
          <p:cNvGrpSpPr/>
          <p:nvPr/>
        </p:nvGrpSpPr>
        <p:grpSpPr>
          <a:xfrm>
            <a:off x="609600" y="4762500"/>
            <a:ext cx="10972800" cy="994601"/>
            <a:chOff x="609600" y="4762500"/>
            <a:chExt cx="10972800" cy="994601"/>
          </a:xfrm>
        </p:grpSpPr>
        <p:sp>
          <p:nvSpPr>
            <p:cNvPr id="20" name="Rectangle 20"/>
            <p:cNvSpPr/>
            <p:nvPr/>
          </p:nvSpPr>
          <p:spPr>
            <a:xfrm>
              <a:off x="609600" y="4762500"/>
              <a:ext cx="10972800" cy="952500"/>
            </a:xfrm>
            <a:prstGeom prst="roundRect">
              <a:avLst>
                <a:gd name="adj" fmla="val 8000"/>
              </a:avLst>
            </a:prstGeom>
            <a:solidFill>
              <a:srgbClr val="EAF4F6"/>
            </a:solidFill>
            <a:ln>
              <a:noFill/>
            </a:ln>
          </p:spPr>
        </p:sp>
        <p:sp>
          <p:nvSpPr>
            <p:cNvPr id="21" name="TextBox 21"/>
            <p:cNvSpPr txBox="1"/>
            <p:nvPr/>
          </p:nvSpPr>
          <p:spPr>
            <a:xfrm>
              <a:off x="906399" y="4935379"/>
              <a:ext cx="52934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Derinlemesine: çarpıklık yalnızca biçimi belirtir</a:t>
              </a:r>
            </a:p>
          </p:txBody>
        </p:sp>
        <p:sp>
          <p:nvSpPr>
            <p:cNvPr id="22" name="TextBox 22"/>
            <p:cNvSpPr txBox="1"/>
            <p:nvPr/>
          </p:nvSpPr>
          <p:spPr>
            <a:xfrm>
              <a:off x="907542" y="5264468"/>
              <a:ext cx="658025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Veri kalitesi, nedensellik veya model başarısı hakkında çarpıklıktan doğrudan</a:t>
              </a:r>
              <a:br/>
              <a:r>
                <a:rPr lang="tr-TR" sz="1350" dirty="0">
                  <a:solidFill>
                    <a:srgbClr val="52616B"/>
                  </a:solidFill>
                  <a:latin typeface="+mn-lt"/>
                  <a:ea typeface="+mn-ea"/>
                  <a:cs typeface="+mn-cs"/>
                </a:rPr>
                <a:t>hüküm verilemez.</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26</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944870" cy="557403"/>
            <a:chOff x="595122" y="282892"/>
            <a:chExt cx="8944870" cy="557403"/>
          </a:xfrm>
        </p:grpSpPr>
        <p:sp>
          <p:nvSpPr>
            <p:cNvPr id="4" name="TextBox 4"/>
            <p:cNvSpPr txBox="1"/>
            <p:nvPr/>
          </p:nvSpPr>
          <p:spPr>
            <a:xfrm>
              <a:off x="595122" y="282892"/>
              <a:ext cx="89448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Çarpıklık uygulama: pozitif çarpıklık ölçmek</a:t>
              </a:r>
            </a:p>
          </p:txBody>
        </p:sp>
      </p:grpSp>
      <p:grpSp>
        <p:nvGrpSpPr>
          <p:cNvPr id="15" name="code-card"/>
          <p:cNvGrpSpPr/>
          <p:nvPr/>
        </p:nvGrpSpPr>
        <p:grpSpPr>
          <a:xfrm>
            <a:off x="609600" y="1104900"/>
            <a:ext cx="5334000" cy="4762500"/>
            <a:chOff x="609600" y="1104900"/>
            <a:chExt cx="5334000" cy="4762500"/>
          </a:xfrm>
        </p:grpSpPr>
        <p:sp>
          <p:nvSpPr>
            <p:cNvPr id="6" name="Rectangle 6"/>
            <p:cNvSpPr/>
            <p:nvPr/>
          </p:nvSpPr>
          <p:spPr>
            <a:xfrm>
              <a:off x="609600" y="1104900"/>
              <a:ext cx="5334000" cy="4762500"/>
            </a:xfrm>
            <a:prstGeom prst="roundRect">
              <a:avLst>
                <a:gd name="adj" fmla="val 2000"/>
              </a:avLst>
            </a:prstGeom>
            <a:solidFill>
              <a:srgbClr val="12355B"/>
            </a:solidFill>
            <a:ln>
              <a:noFill/>
            </a:ln>
          </p:spPr>
        </p:sp>
        <p:sp>
          <p:nvSpPr>
            <p:cNvPr id="7" name="Ellipse 7"/>
            <p:cNvSpPr/>
            <p:nvPr/>
          </p:nvSpPr>
          <p:spPr>
            <a:xfrm>
              <a:off x="781050" y="1276350"/>
              <a:ext cx="114300" cy="114300"/>
            </a:xfrm>
            <a:prstGeom prst="ellipse">
              <a:avLst/>
            </a:prstGeom>
            <a:solidFill>
              <a:srgbClr val="00A6A6"/>
            </a:solidFill>
            <a:ln>
              <a:noFill/>
            </a:ln>
          </p:spPr>
        </p:sp>
        <p:sp>
          <p:nvSpPr>
            <p:cNvPr id="8" name="Ellipse 8"/>
            <p:cNvSpPr/>
            <p:nvPr/>
          </p:nvSpPr>
          <p:spPr>
            <a:xfrm>
              <a:off x="971550" y="1276350"/>
              <a:ext cx="114300" cy="114300"/>
            </a:xfrm>
            <a:prstGeom prst="ellipse">
              <a:avLst/>
            </a:prstGeom>
            <a:solidFill>
              <a:srgbClr val="2E86AB"/>
            </a:solidFill>
            <a:ln>
              <a:noFill/>
            </a:ln>
          </p:spPr>
        </p:sp>
        <p:sp>
          <p:nvSpPr>
            <p:cNvPr id="9" name="Ellipse 9"/>
            <p:cNvSpPr/>
            <p:nvPr/>
          </p:nvSpPr>
          <p:spPr>
            <a:xfrm>
              <a:off x="1162050" y="1276350"/>
              <a:ext cx="114300" cy="114300"/>
            </a:xfrm>
            <a:prstGeom prst="ellipse">
              <a:avLst/>
            </a:prstGeom>
            <a:solidFill>
              <a:srgbClr val="EAF4F6"/>
            </a:solidFill>
            <a:ln>
              <a:noFill/>
            </a:ln>
          </p:spPr>
        </p:sp>
        <p:sp>
          <p:nvSpPr>
            <p:cNvPr id="10" name="TextBox 10"/>
            <p:cNvSpPr txBox="1"/>
            <p:nvPr/>
          </p:nvSpPr>
          <p:spPr>
            <a:xfrm>
              <a:off x="832866" y="1563052"/>
              <a:ext cx="2137601"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calisma_saatleri = pd.Series(</a:t>
              </a:r>
              <a:br/>
              <a:r>
                <a:rPr lang="tr-TR" sz="1050" dirty="0">
                  <a:solidFill>
                    <a:srgbClr val="EAF4F6"/>
                  </a:solidFill>
                  <a:latin typeface="Consolas"/>
                  <a:ea typeface="Consolas"/>
                  <a:cs typeface="Consolas"/>
                </a:rPr>
                <a:t>[5,6,7,8,8,9,10,11,12,28])</a:t>
              </a:r>
            </a:p>
          </p:txBody>
        </p:sp>
        <p:sp>
          <p:nvSpPr>
            <p:cNvPr id="11" name="TextBox 11"/>
            <p:cNvSpPr txBox="1"/>
            <p:nvPr/>
          </p:nvSpPr>
          <p:spPr>
            <a:xfrm>
              <a:off x="832866" y="2077402"/>
              <a:ext cx="2650998"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carpiklik = calisma_saatleri.skew()</a:t>
              </a:r>
              <a:br/>
              <a:r>
                <a:rPr lang="tr-TR" sz="1050" dirty="0">
                  <a:solidFill>
                    <a:srgbClr val="00A6A6"/>
                  </a:solidFill>
                  <a:latin typeface="Consolas"/>
                  <a:ea typeface="Consolas"/>
                  <a:cs typeface="Consolas"/>
                </a:rPr>
                <a:t>print(f"Çarpıklık: {carpiklik:.2f}")</a:t>
              </a:r>
            </a:p>
          </p:txBody>
        </p:sp>
        <p:sp>
          <p:nvSpPr>
            <p:cNvPr id="12" name="TextBox 12"/>
            <p:cNvSpPr txBox="1"/>
            <p:nvPr/>
          </p:nvSpPr>
          <p:spPr>
            <a:xfrm>
              <a:off x="832866" y="2591752"/>
              <a:ext cx="250431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plt.hist(calisma_saatleri, bins=5,</a:t>
              </a:r>
              <a:br/>
              <a:r>
                <a:rPr lang="tr-TR" sz="1050" dirty="0">
                  <a:solidFill>
                    <a:srgbClr val="EAF4F6"/>
                  </a:solidFill>
                  <a:latin typeface="Consolas"/>
                  <a:ea typeface="Consolas"/>
                  <a:cs typeface="Consolas"/>
                </a:rPr>
                <a:t>color="orange")</a:t>
              </a:r>
            </a:p>
          </p:txBody>
        </p:sp>
        <p:sp>
          <p:nvSpPr>
            <p:cNvPr id="13" name="TextBox 13"/>
            <p:cNvSpPr txBox="1"/>
            <p:nvPr/>
          </p:nvSpPr>
          <p:spPr>
            <a:xfrm>
              <a:off x="832866" y="3239452"/>
              <a:ext cx="250431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B8CBD3"/>
                  </a:solidFill>
                  <a:latin typeface="Consolas"/>
                  <a:ea typeface="Consolas"/>
                  <a:cs typeface="Consolas"/>
                </a:rPr>
                <a:t># Çıktı: Çarpıklık ≈1.92 (pozitif)</a:t>
              </a:r>
              <a:br/>
              <a:r>
                <a:rPr lang="tr-TR" sz="1050" dirty="0">
                  <a:solidFill>
                    <a:srgbClr val="B8CBD3"/>
                  </a:solidFill>
                  <a:latin typeface="Consolas"/>
                  <a:ea typeface="Consolas"/>
                  <a:cs typeface="Consolas"/>
                </a:rPr>
                <a:t># Ortalama 10.40 &gt; Medyan 8.50</a:t>
              </a:r>
            </a:p>
          </p:txBody>
        </p:sp>
        <p:sp>
          <p:nvSpPr>
            <p:cNvPr id="14" name="TextBox 14"/>
            <p:cNvSpPr txBox="1"/>
            <p:nvPr/>
          </p:nvSpPr>
          <p:spPr>
            <a:xfrm>
              <a:off x="833247" y="4047649"/>
              <a:ext cx="2816479" cy="552640"/>
            </a:xfrm>
            <a:prstGeom prst="rect">
              <a:avLst/>
            </a:prstGeom>
            <a:noFill/>
            <a:ln>
              <a:noFill/>
            </a:ln>
          </p:spPr>
          <p:txBody>
            <a:bodyPr wrap="none" lIns="0" tIns="0" rIns="0" bIns="0" anchor="t" anchorCtr="0">
              <a:spAutoFit/>
            </a:bodyPr>
            <a:lstStyle/>
            <a:p>
              <a:pPr algn="l">
                <a:lnSpc>
                  <a:spcPts val="1425"/>
                </a:lnSpc>
              </a:pPr>
              <a:r>
                <a:rPr lang="tr-TR" sz="980" dirty="0">
                  <a:solidFill>
                    <a:srgbClr val="52616B"/>
                  </a:solidFill>
                  <a:latin typeface="Consolas"/>
                  <a:ea typeface="Consolas"/>
                  <a:cs typeface="Consolas"/>
                </a:rPr>
                <a:t>skew() pozitifse sağ kuyruk, negatifse</a:t>
              </a:r>
              <a:br/>
              <a:r>
                <a:rPr lang="tr-TR" sz="980" dirty="0">
                  <a:solidFill>
                    <a:srgbClr val="52616B"/>
                  </a:solidFill>
                  <a:latin typeface="Consolas"/>
                  <a:ea typeface="Consolas"/>
                  <a:cs typeface="Consolas"/>
                </a:rPr>
                <a:t>sol kuyruk eğilimini gösterir. 28 saatlik</a:t>
              </a:r>
              <a:br/>
              <a:r>
                <a:rPr lang="tr-TR" sz="980" dirty="0">
                  <a:solidFill>
                    <a:srgbClr val="52616B"/>
                  </a:solidFill>
                  <a:latin typeface="Consolas"/>
                  <a:ea typeface="Consolas"/>
                  <a:cs typeface="Consolas"/>
                </a:rPr>
                <a:t>tek değer, ortalamayı yukarı taşır.</a:t>
              </a:r>
            </a:p>
          </p:txBody>
        </p:sp>
      </p:grpSp>
      <p:grpSp>
        <p:nvGrpSpPr>
          <p:cNvPr id="34" name="chart-card"/>
          <p:cNvGrpSpPr/>
          <p:nvPr/>
        </p:nvGrpSpPr>
        <p:grpSpPr>
          <a:xfrm>
            <a:off x="6248400" y="1104900"/>
            <a:ext cx="5334000" cy="3048000"/>
            <a:chOff x="6248400" y="1104900"/>
            <a:chExt cx="5334000" cy="3048000"/>
          </a:xfrm>
        </p:grpSpPr>
        <p:sp>
          <p:nvSpPr>
            <p:cNvPr id="16" name="Rectangle 16"/>
            <p:cNvSpPr/>
            <p:nvPr/>
          </p:nvSpPr>
          <p:spPr>
            <a:xfrm>
              <a:off x="6248400" y="1104900"/>
              <a:ext cx="5334000" cy="3048000"/>
            </a:xfrm>
            <a:prstGeom prst="roundRect">
              <a:avLst>
                <a:gd name="adj" fmla="val 3125"/>
              </a:avLst>
            </a:prstGeom>
            <a:solidFill>
              <a:srgbClr val="FFFFFF"/>
            </a:solidFill>
            <a:ln w="14288">
              <a:solidFill>
                <a:srgbClr val="B8CBD3"/>
              </a:solidFill>
            </a:ln>
          </p:spPr>
        </p:sp>
        <p:sp>
          <p:nvSpPr>
            <p:cNvPr id="17" name="TextBox 17"/>
            <p:cNvSpPr txBox="1"/>
            <p:nvPr/>
          </p:nvSpPr>
          <p:spPr>
            <a:xfrm>
              <a:off x="6470142" y="1283018"/>
              <a:ext cx="23381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Çalışma saati çarpıklığı</a:t>
              </a:r>
            </a:p>
          </p:txBody>
        </p:sp>
        <p:grpSp>
          <p:nvGrpSpPr>
            <p:cNvPr id="33" name="hist-bars"/>
            <p:cNvGrpSpPr/>
            <p:nvPr/>
          </p:nvGrpSpPr>
          <p:grpSpPr>
            <a:xfrm>
              <a:off x="6667500" y="1769745"/>
              <a:ext cx="4476750" cy="2071687"/>
              <a:chOff x="6667500" y="1769745"/>
              <a:chExt cx="4476750" cy="2071687"/>
            </a:xfrm>
          </p:grpSpPr>
          <p:sp>
            <p:nvSpPr>
              <p:cNvPr id="18" name="Line 18"/>
              <p:cNvSpPr/>
              <p:nvPr/>
            </p:nvSpPr>
            <p:spPr>
              <a:xfrm>
                <a:off x="6667500" y="3619500"/>
                <a:ext cx="4476750" cy="9525"/>
              </a:xfrm>
              <a:custGeom>
                <a:avLst/>
                <a:gdLst/>
                <a:ahLst/>
                <a:cxnLst/>
                <a:rect l="l" t="t" r="r" b="b"/>
                <a:pathLst>
                  <a:path w="4476750" h="9525">
                    <a:moveTo>
                      <a:pt x="0" y="0"/>
                    </a:moveTo>
                    <a:lnTo>
                      <a:pt x="4476750" y="0"/>
                    </a:lnTo>
                  </a:path>
                </a:pathLst>
              </a:custGeom>
              <a:noFill/>
              <a:ln w="14288">
                <a:solidFill>
                  <a:srgbClr val="B8CBD3"/>
                </a:solidFill>
              </a:ln>
            </p:spPr>
          </p:sp>
          <p:sp>
            <p:nvSpPr>
              <p:cNvPr id="19" name="Rectangle 19"/>
              <p:cNvSpPr/>
              <p:nvPr/>
            </p:nvSpPr>
            <p:spPr>
              <a:xfrm>
                <a:off x="6819900" y="2190750"/>
                <a:ext cx="571500" cy="1428750"/>
              </a:xfrm>
              <a:prstGeom prst="rect">
                <a:avLst/>
              </a:prstGeom>
              <a:solidFill>
                <a:srgbClr val="E8A33D"/>
              </a:solidFill>
              <a:ln>
                <a:noFill/>
              </a:ln>
            </p:spPr>
          </p:sp>
          <p:sp>
            <p:nvSpPr>
              <p:cNvPr id="20" name="Rectangle 20"/>
              <p:cNvSpPr/>
              <p:nvPr/>
            </p:nvSpPr>
            <p:spPr>
              <a:xfrm>
                <a:off x="7524750" y="2571750"/>
                <a:ext cx="571500" cy="1047750"/>
              </a:xfrm>
              <a:prstGeom prst="rect">
                <a:avLst/>
              </a:prstGeom>
              <a:solidFill>
                <a:srgbClr val="E8A33D"/>
              </a:solidFill>
              <a:ln>
                <a:noFill/>
              </a:ln>
            </p:spPr>
          </p:sp>
          <p:sp>
            <p:nvSpPr>
              <p:cNvPr id="21" name="Rectangle 21"/>
              <p:cNvSpPr/>
              <p:nvPr/>
            </p:nvSpPr>
            <p:spPr>
              <a:xfrm>
                <a:off x="8229600" y="2952750"/>
                <a:ext cx="571500" cy="666750"/>
              </a:xfrm>
              <a:prstGeom prst="rect">
                <a:avLst/>
              </a:prstGeom>
              <a:solidFill>
                <a:srgbClr val="E8A33D"/>
              </a:solidFill>
              <a:ln>
                <a:noFill/>
              </a:ln>
            </p:spPr>
          </p:sp>
          <p:sp>
            <p:nvSpPr>
              <p:cNvPr id="22" name="Rectangle 22"/>
              <p:cNvSpPr/>
              <p:nvPr/>
            </p:nvSpPr>
            <p:spPr>
              <a:xfrm>
                <a:off x="8934450" y="3429000"/>
                <a:ext cx="571500" cy="190500"/>
              </a:xfrm>
              <a:prstGeom prst="rect">
                <a:avLst/>
              </a:prstGeom>
              <a:solidFill>
                <a:srgbClr val="E8A33D"/>
              </a:solidFill>
              <a:ln>
                <a:noFill/>
              </a:ln>
            </p:spPr>
          </p:sp>
          <p:sp>
            <p:nvSpPr>
              <p:cNvPr id="23" name="Rectangle 23"/>
              <p:cNvSpPr/>
              <p:nvPr/>
            </p:nvSpPr>
            <p:spPr>
              <a:xfrm>
                <a:off x="10382250" y="3429000"/>
                <a:ext cx="381000" cy="190500"/>
              </a:xfrm>
              <a:prstGeom prst="rect">
                <a:avLst/>
              </a:prstGeom>
              <a:solidFill>
                <a:srgbClr val="E8A33D"/>
              </a:solidFill>
              <a:ln>
                <a:noFill/>
              </a:ln>
            </p:spPr>
          </p:sp>
          <p:sp>
            <p:nvSpPr>
              <p:cNvPr id="24" name="TextBox 24"/>
              <p:cNvSpPr txBox="1"/>
              <p:nvPr/>
            </p:nvSpPr>
            <p:spPr>
              <a:xfrm>
                <a:off x="7000932" y="3665220"/>
                <a:ext cx="209436"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5–8</a:t>
                </a:r>
              </a:p>
            </p:txBody>
          </p:sp>
          <p:sp>
            <p:nvSpPr>
              <p:cNvPr id="25" name="TextBox 25"/>
              <p:cNvSpPr txBox="1"/>
              <p:nvPr/>
            </p:nvSpPr>
            <p:spPr>
              <a:xfrm>
                <a:off x="7672464" y="3665220"/>
                <a:ext cx="276073"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8–11</a:t>
                </a:r>
              </a:p>
            </p:txBody>
          </p:sp>
          <p:sp>
            <p:nvSpPr>
              <p:cNvPr id="26" name="TextBox 26"/>
              <p:cNvSpPr txBox="1"/>
              <p:nvPr/>
            </p:nvSpPr>
            <p:spPr>
              <a:xfrm>
                <a:off x="8343995" y="3665220"/>
                <a:ext cx="342710"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11–14</a:t>
                </a:r>
              </a:p>
            </p:txBody>
          </p:sp>
          <p:sp>
            <p:nvSpPr>
              <p:cNvPr id="27" name="TextBox 27"/>
              <p:cNvSpPr txBox="1"/>
              <p:nvPr/>
            </p:nvSpPr>
            <p:spPr>
              <a:xfrm>
                <a:off x="9048845" y="3665220"/>
                <a:ext cx="342710"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14–17</a:t>
                </a:r>
              </a:p>
            </p:txBody>
          </p:sp>
          <p:sp>
            <p:nvSpPr>
              <p:cNvPr id="28" name="TextBox 28"/>
              <p:cNvSpPr txBox="1"/>
              <p:nvPr/>
            </p:nvSpPr>
            <p:spPr>
              <a:xfrm>
                <a:off x="10501351" y="3665220"/>
                <a:ext cx="142799"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28</a:t>
                </a:r>
              </a:p>
            </p:txBody>
          </p:sp>
          <p:sp>
            <p:nvSpPr>
              <p:cNvPr id="29" name="Line 29"/>
              <p:cNvSpPr/>
              <p:nvPr/>
            </p:nvSpPr>
            <p:spPr>
              <a:xfrm>
                <a:off x="7677150" y="1905000"/>
                <a:ext cx="9525" cy="1714500"/>
              </a:xfrm>
              <a:custGeom>
                <a:avLst/>
                <a:gdLst/>
                <a:ahLst/>
                <a:cxnLst/>
                <a:rect l="l" t="t" r="r" b="b"/>
                <a:pathLst>
                  <a:path w="9525" h="1714500">
                    <a:moveTo>
                      <a:pt x="0" y="0"/>
                    </a:moveTo>
                    <a:lnTo>
                      <a:pt x="0" y="1714500"/>
                    </a:lnTo>
                  </a:path>
                </a:pathLst>
              </a:custGeom>
              <a:noFill/>
              <a:ln w="23812">
                <a:solidFill>
                  <a:srgbClr val="2E9E5B"/>
                </a:solidFill>
              </a:ln>
            </p:spPr>
          </p:sp>
          <p:sp>
            <p:nvSpPr>
              <p:cNvPr id="30" name="TextBox 30"/>
              <p:cNvSpPr txBox="1"/>
              <p:nvPr/>
            </p:nvSpPr>
            <p:spPr>
              <a:xfrm>
                <a:off x="7395693" y="1769745"/>
                <a:ext cx="562914" cy="176212"/>
              </a:xfrm>
              <a:prstGeom prst="rect">
                <a:avLst/>
              </a:prstGeom>
              <a:noFill/>
              <a:ln>
                <a:noFill/>
              </a:ln>
            </p:spPr>
            <p:txBody>
              <a:bodyPr wrap="none" lIns="0" tIns="0" rIns="0" bIns="0" anchor="t" anchorCtr="0">
                <a:spAutoFit/>
              </a:bodyPr>
              <a:lstStyle/>
              <a:p>
                <a:pPr algn="ctr"/>
                <a:r>
                  <a:rPr lang="tr-TR" sz="900" b="1" dirty="0">
                    <a:solidFill>
                      <a:srgbClr val="2E9E5B"/>
                    </a:solidFill>
                    <a:latin typeface="+mn-lt"/>
                    <a:ea typeface="+mn-ea"/>
                    <a:cs typeface="+mn-cs"/>
                  </a:rPr>
                  <a:t>med. 8.5</a:t>
                </a:r>
              </a:p>
            </p:txBody>
          </p:sp>
          <p:sp>
            <p:nvSpPr>
              <p:cNvPr id="31" name="Line 31"/>
              <p:cNvSpPr/>
              <p:nvPr/>
            </p:nvSpPr>
            <p:spPr>
              <a:xfrm>
                <a:off x="8115300" y="1905000"/>
                <a:ext cx="9525" cy="1714500"/>
              </a:xfrm>
              <a:custGeom>
                <a:avLst/>
                <a:gdLst/>
                <a:ahLst/>
                <a:cxnLst/>
                <a:rect l="l" t="t" r="r" b="b"/>
                <a:pathLst>
                  <a:path w="9525" h="1714500">
                    <a:moveTo>
                      <a:pt x="0" y="0"/>
                    </a:moveTo>
                    <a:lnTo>
                      <a:pt x="0" y="1714500"/>
                    </a:lnTo>
                  </a:path>
                </a:pathLst>
              </a:custGeom>
              <a:noFill/>
              <a:ln w="23812">
                <a:solidFill>
                  <a:srgbClr val="D64545"/>
                </a:solidFill>
              </a:ln>
            </p:spPr>
          </p:sp>
          <p:sp>
            <p:nvSpPr>
              <p:cNvPr id="32" name="TextBox 32"/>
              <p:cNvSpPr txBox="1"/>
              <p:nvPr/>
            </p:nvSpPr>
            <p:spPr>
              <a:xfrm>
                <a:off x="8078280" y="1950720"/>
                <a:ext cx="607440" cy="176212"/>
              </a:xfrm>
              <a:prstGeom prst="rect">
                <a:avLst/>
              </a:prstGeom>
              <a:noFill/>
              <a:ln>
                <a:noFill/>
              </a:ln>
            </p:spPr>
            <p:txBody>
              <a:bodyPr wrap="none" lIns="0" tIns="0" rIns="0" bIns="0" anchor="t" anchorCtr="0">
                <a:spAutoFit/>
              </a:bodyPr>
              <a:lstStyle/>
              <a:p>
                <a:pPr algn="ctr"/>
                <a:r>
                  <a:rPr lang="tr-TR" sz="900" b="1" dirty="0">
                    <a:solidFill>
                      <a:srgbClr val="D64545"/>
                    </a:solidFill>
                    <a:latin typeface="+mn-lt"/>
                    <a:ea typeface="+mn-ea"/>
                    <a:cs typeface="+mn-cs"/>
                  </a:rPr>
                  <a:t>ort. 10.4</a:t>
                </a:r>
              </a:p>
            </p:txBody>
          </p:sp>
        </p:grpSp>
      </p:grpSp>
      <p:grpSp>
        <p:nvGrpSpPr>
          <p:cNvPr id="38" name="interp-card"/>
          <p:cNvGrpSpPr/>
          <p:nvPr/>
        </p:nvGrpSpPr>
        <p:grpSpPr>
          <a:xfrm>
            <a:off x="6248400" y="4305300"/>
            <a:ext cx="5334000" cy="1562100"/>
            <a:chOff x="6248400" y="4305300"/>
            <a:chExt cx="5334000" cy="1562100"/>
          </a:xfrm>
        </p:grpSpPr>
        <p:sp>
          <p:nvSpPr>
            <p:cNvPr id="35" name="Rectangle 35"/>
            <p:cNvSpPr/>
            <p:nvPr/>
          </p:nvSpPr>
          <p:spPr>
            <a:xfrm>
              <a:off x="6248400" y="4305300"/>
              <a:ext cx="5334000" cy="1562100"/>
            </a:xfrm>
            <a:prstGeom prst="roundRect">
              <a:avLst>
                <a:gd name="adj" fmla="val 6098"/>
              </a:avLst>
            </a:prstGeom>
            <a:solidFill>
              <a:srgbClr val="EAF4F6"/>
            </a:solidFill>
            <a:ln>
              <a:noFill/>
            </a:ln>
          </p:spPr>
        </p:sp>
        <p:sp>
          <p:nvSpPr>
            <p:cNvPr id="36" name="TextBox 36"/>
            <p:cNvSpPr txBox="1"/>
            <p:nvPr/>
          </p:nvSpPr>
          <p:spPr>
            <a:xfrm>
              <a:off x="6470142" y="4483418"/>
              <a:ext cx="21385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çıktı ne anlatıyor?</a:t>
              </a:r>
            </a:p>
          </p:txBody>
        </p:sp>
        <p:sp>
          <p:nvSpPr>
            <p:cNvPr id="37" name="TextBox 37"/>
            <p:cNvSpPr txBox="1"/>
            <p:nvPr/>
          </p:nvSpPr>
          <p:spPr>
            <a:xfrm>
              <a:off x="6470904" y="4804410"/>
              <a:ext cx="33573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Uzun sağ kuyruk pozitif çarpıklığı gösterir;</a:t>
              </a:r>
              <a:br/>
              <a:r>
                <a:rPr lang="tr-TR" sz="1200" dirty="0">
                  <a:solidFill>
                    <a:srgbClr val="172B3A"/>
                  </a:solidFill>
                  <a:latin typeface="+mn-lt"/>
                  <a:ea typeface="+mn-ea"/>
                  <a:cs typeface="+mn-cs"/>
                </a:rPr>
                <a:t>bu, harcama ve kullanım süresi gibi sağa</a:t>
              </a:r>
              <a:br/>
              <a:r>
                <a:rPr lang="tr-TR" sz="1200" dirty="0">
                  <a:solidFill>
                    <a:srgbClr val="172B3A"/>
                  </a:solidFill>
                  <a:latin typeface="+mn-lt"/>
                  <a:ea typeface="+mn-ea"/>
                  <a:cs typeface="+mn-cs"/>
                </a:rPr>
                <a:t>çarpık değişkenlerde sıkça karşılaşılır.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26</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104530" cy="668845"/>
            <a:chOff x="609600" y="171450"/>
            <a:chExt cx="8104530"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41415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Çarpıklık: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41143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ÖLÇÜ</a:t>
              </a:r>
            </a:p>
          </p:txBody>
        </p:sp>
        <p:sp>
          <p:nvSpPr>
            <p:cNvPr id="13" name="TextBox 13"/>
            <p:cNvSpPr txBox="1"/>
            <p:nvPr/>
          </p:nvSpPr>
          <p:spPr>
            <a:xfrm>
              <a:off x="2851785" y="122158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AÇIKLAMA</a:t>
              </a:r>
            </a:p>
          </p:txBody>
        </p:sp>
        <p:sp>
          <p:nvSpPr>
            <p:cNvPr id="14" name="TextBox 14"/>
            <p:cNvSpPr txBox="1"/>
            <p:nvPr/>
          </p:nvSpPr>
          <p:spPr>
            <a:xfrm>
              <a:off x="5899785" y="1221581"/>
              <a:ext cx="71944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AVANTAJ</a:t>
              </a:r>
            </a:p>
          </p:txBody>
        </p:sp>
        <p:sp>
          <p:nvSpPr>
            <p:cNvPr id="15" name="TextBox 15"/>
            <p:cNvSpPr txBox="1"/>
            <p:nvPr/>
          </p:nvSpPr>
          <p:spPr>
            <a:xfrm>
              <a:off x="8566785" y="1221581"/>
              <a:ext cx="86017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SINIRLILIK</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86867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Çarpıklık</a:t>
              </a:r>
            </a:p>
          </p:txBody>
        </p:sp>
        <p:sp>
          <p:nvSpPr>
            <p:cNvPr id="18" name="TextBox 18"/>
            <p:cNvSpPr txBox="1"/>
            <p:nvPr/>
          </p:nvSpPr>
          <p:spPr>
            <a:xfrm>
              <a:off x="2851785" y="1669256"/>
              <a:ext cx="118434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Asimetriyi ölçer</a:t>
              </a:r>
            </a:p>
          </p:txBody>
        </p:sp>
        <p:sp>
          <p:nvSpPr>
            <p:cNvPr id="19" name="TextBox 19"/>
            <p:cNvSpPr txBox="1"/>
            <p:nvPr/>
          </p:nvSpPr>
          <p:spPr>
            <a:xfrm>
              <a:off x="5899785" y="1669256"/>
              <a:ext cx="138833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yorum sağlar</a:t>
              </a:r>
            </a:p>
          </p:txBody>
        </p:sp>
        <p:sp>
          <p:nvSpPr>
            <p:cNvPr id="20" name="TextBox 20"/>
            <p:cNvSpPr txBox="1"/>
            <p:nvPr/>
          </p:nvSpPr>
          <p:spPr>
            <a:xfrm>
              <a:off x="8566785" y="1669256"/>
              <a:ext cx="19534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 başına yeterli değildir</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90508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Histogram</a:t>
              </a:r>
            </a:p>
          </p:txBody>
        </p:sp>
        <p:sp>
          <p:nvSpPr>
            <p:cNvPr id="23" name="TextBox 23"/>
            <p:cNvSpPr txBox="1"/>
            <p:nvPr/>
          </p:nvSpPr>
          <p:spPr>
            <a:xfrm>
              <a:off x="2851785" y="2193131"/>
              <a:ext cx="18478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Dağılım biçimini gösterir</a:t>
              </a:r>
            </a:p>
          </p:txBody>
        </p:sp>
        <p:sp>
          <p:nvSpPr>
            <p:cNvPr id="24" name="TextBox 24"/>
            <p:cNvSpPr txBox="1"/>
            <p:nvPr/>
          </p:nvSpPr>
          <p:spPr>
            <a:xfrm>
              <a:off x="5899785" y="2193131"/>
              <a:ext cx="8146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Sezgiseldir</a:t>
              </a:r>
            </a:p>
          </p:txBody>
        </p:sp>
        <p:sp>
          <p:nvSpPr>
            <p:cNvPr id="25" name="TextBox 25"/>
            <p:cNvSpPr txBox="1"/>
            <p:nvPr/>
          </p:nvSpPr>
          <p:spPr>
            <a:xfrm>
              <a:off x="8566785" y="2193131"/>
              <a:ext cx="181026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Aralık seçimine bağlıdır</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05722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Q-Q grafiği</a:t>
              </a:r>
            </a:p>
          </p:txBody>
        </p:sp>
        <p:sp>
          <p:nvSpPr>
            <p:cNvPr id="28" name="TextBox 28"/>
            <p:cNvSpPr txBox="1"/>
            <p:nvPr/>
          </p:nvSpPr>
          <p:spPr>
            <a:xfrm>
              <a:off x="2851785" y="2717006"/>
              <a:ext cx="23078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Teorik dağılımla karşılaştırır</a:t>
              </a:r>
            </a:p>
          </p:txBody>
        </p:sp>
        <p:sp>
          <p:nvSpPr>
            <p:cNvPr id="29" name="TextBox 29"/>
            <p:cNvSpPr txBox="1"/>
            <p:nvPr/>
          </p:nvSpPr>
          <p:spPr>
            <a:xfrm>
              <a:off x="5899785" y="2717006"/>
              <a:ext cx="9733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Ayrıntılıdır</a:t>
              </a:r>
            </a:p>
          </p:txBody>
        </p:sp>
        <p:sp>
          <p:nvSpPr>
            <p:cNvPr id="30" name="TextBox 30"/>
            <p:cNvSpPr txBox="1"/>
            <p:nvPr/>
          </p:nvSpPr>
          <p:spPr>
            <a:xfrm>
              <a:off x="8566785" y="2717006"/>
              <a:ext cx="203638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Yeni başlayanlar için zordur</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136632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Normalite testi</a:t>
              </a:r>
            </a:p>
          </p:txBody>
        </p:sp>
        <p:sp>
          <p:nvSpPr>
            <p:cNvPr id="33" name="TextBox 33"/>
            <p:cNvSpPr txBox="1"/>
            <p:nvPr/>
          </p:nvSpPr>
          <p:spPr>
            <a:xfrm>
              <a:off x="2851785" y="3240881"/>
              <a:ext cx="211175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İstatistiksel uygunluk sınar</a:t>
              </a:r>
            </a:p>
          </p:txBody>
        </p:sp>
        <p:sp>
          <p:nvSpPr>
            <p:cNvPr id="34" name="TextBox 34"/>
            <p:cNvSpPr txBox="1"/>
            <p:nvPr/>
          </p:nvSpPr>
          <p:spPr>
            <a:xfrm>
              <a:off x="5899785" y="3240881"/>
              <a:ext cx="12373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Nicel karar verir</a:t>
              </a:r>
            </a:p>
          </p:txBody>
        </p:sp>
        <p:sp>
          <p:nvSpPr>
            <p:cNvPr id="35" name="TextBox 35"/>
            <p:cNvSpPr txBox="1"/>
            <p:nvPr/>
          </p:nvSpPr>
          <p:spPr>
            <a:xfrm>
              <a:off x="8566785" y="3240881"/>
              <a:ext cx="243592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Örneklem büyüklüğünden etkilenir</a:t>
              </a:r>
            </a:p>
          </p:txBody>
        </p:sp>
      </p:grpSp>
      <p:grpSp>
        <p:nvGrpSpPr>
          <p:cNvPr id="40" name="nezaman-band"/>
          <p:cNvGrpSpPr/>
          <p:nvPr/>
        </p:nvGrpSpPr>
        <p:grpSpPr>
          <a:xfrm>
            <a:off x="609600" y="3771900"/>
            <a:ext cx="10972800" cy="609600"/>
            <a:chOff x="609600" y="3771900"/>
            <a:chExt cx="10972800" cy="609600"/>
          </a:xfrm>
        </p:grpSpPr>
        <p:sp>
          <p:nvSpPr>
            <p:cNvPr id="37" name="Rectangle 37"/>
            <p:cNvSpPr/>
            <p:nvPr/>
          </p:nvSpPr>
          <p:spPr>
            <a:xfrm>
              <a:off x="609600" y="3771900"/>
              <a:ext cx="10972800" cy="609600"/>
            </a:xfrm>
            <a:prstGeom prst="roundRect">
              <a:avLst>
                <a:gd name="adj" fmla="val 12500"/>
              </a:avLst>
            </a:prstGeom>
            <a:solidFill>
              <a:srgbClr val="EAF4F6"/>
            </a:solidFill>
            <a:ln>
              <a:noFill/>
            </a:ln>
          </p:spPr>
        </p:sp>
        <p:sp>
          <p:nvSpPr>
            <p:cNvPr id="38" name="TextBox 38"/>
            <p:cNvSpPr txBox="1"/>
            <p:nvPr/>
          </p:nvSpPr>
          <p:spPr>
            <a:xfrm>
              <a:off x="908304" y="3890010"/>
              <a:ext cx="231598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tercih edilmelidir?</a:t>
              </a:r>
            </a:p>
          </p:txBody>
        </p:sp>
        <p:sp>
          <p:nvSpPr>
            <p:cNvPr id="39" name="TextBox 39"/>
            <p:cNvSpPr txBox="1"/>
            <p:nvPr/>
          </p:nvSpPr>
          <p:spPr>
            <a:xfrm>
              <a:off x="908685" y="4126706"/>
              <a:ext cx="96508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Harcama, kullanım süresi, gelir gibi sağa çarpık olabilecek değişkenlerde dönüşüm kararına aday olup olmadığını değerlendirmede.</a:t>
              </a:r>
            </a:p>
          </p:txBody>
        </p:sp>
      </p:grpSp>
      <p:grpSp>
        <p:nvGrpSpPr>
          <p:cNvPr id="42" name="mistakes-label"/>
          <p:cNvGrpSpPr/>
          <p:nvPr/>
        </p:nvGrpSpPr>
        <p:grpSpPr>
          <a:xfrm>
            <a:off x="601599" y="4573429"/>
            <a:ext cx="1631012" cy="308039"/>
            <a:chOff x="601599" y="4573429"/>
            <a:chExt cx="1631012" cy="308039"/>
          </a:xfrm>
        </p:grpSpPr>
        <p:sp>
          <p:nvSpPr>
            <p:cNvPr id="41" name="TextBox 41"/>
            <p:cNvSpPr txBox="1"/>
            <p:nvPr/>
          </p:nvSpPr>
          <p:spPr>
            <a:xfrm>
              <a:off x="601599" y="45734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7" name="mistake-1"/>
          <p:cNvGrpSpPr/>
          <p:nvPr/>
        </p:nvGrpSpPr>
        <p:grpSpPr>
          <a:xfrm>
            <a:off x="609600" y="4914900"/>
            <a:ext cx="3505200" cy="1238250"/>
            <a:chOff x="609600" y="4914900"/>
            <a:chExt cx="3505200" cy="1238250"/>
          </a:xfrm>
        </p:grpSpPr>
        <p:sp>
          <p:nvSpPr>
            <p:cNvPr id="43" name="Rectangle 43"/>
            <p:cNvSpPr/>
            <p:nvPr/>
          </p:nvSpPr>
          <p:spPr>
            <a:xfrm>
              <a:off x="609600" y="4914900"/>
              <a:ext cx="3505200" cy="1238250"/>
            </a:xfrm>
            <a:prstGeom prst="roundRect">
              <a:avLst>
                <a:gd name="adj" fmla="val 7692"/>
              </a:avLst>
            </a:prstGeom>
            <a:solidFill>
              <a:srgbClr val="FFFFFF"/>
            </a:solidFill>
            <a:ln w="14288">
              <a:solidFill>
                <a:srgbClr val="B8CBD3"/>
              </a:solidFill>
            </a:ln>
          </p:spPr>
        </p:sp>
        <p:sp>
          <p:nvSpPr>
            <p:cNvPr id="44" name="Rectangle 44"/>
            <p:cNvSpPr/>
            <p:nvPr/>
          </p:nvSpPr>
          <p:spPr>
            <a:xfrm>
              <a:off x="609600" y="4914900"/>
              <a:ext cx="57150" cy="1238250"/>
            </a:xfrm>
            <a:prstGeom prst="rect">
              <a:avLst/>
            </a:prstGeom>
            <a:solidFill>
              <a:srgbClr val="00A6A6"/>
            </a:solidFill>
            <a:ln>
              <a:noFill/>
            </a:ln>
          </p:spPr>
        </p:sp>
        <p:sp>
          <p:nvSpPr>
            <p:cNvPr id="45" name="TextBox 45"/>
            <p:cNvSpPr txBox="1"/>
            <p:nvPr/>
          </p:nvSpPr>
          <p:spPr>
            <a:xfrm>
              <a:off x="831723" y="5063014"/>
              <a:ext cx="271466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Çarpıklığı veri hatası sanmak</a:t>
              </a:r>
            </a:p>
          </p:txBody>
        </p:sp>
        <p:sp>
          <p:nvSpPr>
            <p:cNvPr id="46" name="TextBox 46"/>
            <p:cNvSpPr txBox="1"/>
            <p:nvPr/>
          </p:nvSpPr>
          <p:spPr>
            <a:xfrm>
              <a:off x="832866" y="5373052"/>
              <a:ext cx="209759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Pozitif çarpıklık bir hata değil,</a:t>
              </a:r>
              <a:br/>
              <a:r>
                <a:rPr lang="tr-TR" sz="1050" dirty="0">
                  <a:solidFill>
                    <a:srgbClr val="172B3A"/>
                  </a:solidFill>
                  <a:latin typeface="+mn-lt"/>
                  <a:ea typeface="+mn-ea"/>
                  <a:cs typeface="+mn-cs"/>
                </a:rPr>
                <a:t>dağılımın doğal bir özelliği</a:t>
              </a:r>
              <a:br/>
              <a:r>
                <a:rPr lang="tr-TR" sz="1050" dirty="0">
                  <a:solidFill>
                    <a:srgbClr val="172B3A"/>
                  </a:solidFill>
                  <a:latin typeface="+mn-lt"/>
                  <a:ea typeface="+mn-ea"/>
                  <a:cs typeface="+mn-cs"/>
                </a:rPr>
                <a:t>olabilir.</a:t>
              </a:r>
            </a:p>
          </p:txBody>
        </p:sp>
      </p:grpSp>
      <p:grpSp>
        <p:nvGrpSpPr>
          <p:cNvPr id="52" name="mistake-2"/>
          <p:cNvGrpSpPr/>
          <p:nvPr/>
        </p:nvGrpSpPr>
        <p:grpSpPr>
          <a:xfrm>
            <a:off x="4343400" y="4914900"/>
            <a:ext cx="3505200" cy="1238250"/>
            <a:chOff x="4343400" y="4914900"/>
            <a:chExt cx="3505200" cy="1238250"/>
          </a:xfrm>
        </p:grpSpPr>
        <p:sp>
          <p:nvSpPr>
            <p:cNvPr id="48" name="Rectangle 48"/>
            <p:cNvSpPr/>
            <p:nvPr/>
          </p:nvSpPr>
          <p:spPr>
            <a:xfrm>
              <a:off x="4343400" y="4914900"/>
              <a:ext cx="3505200" cy="1238250"/>
            </a:xfrm>
            <a:prstGeom prst="roundRect">
              <a:avLst>
                <a:gd name="adj" fmla="val 7692"/>
              </a:avLst>
            </a:prstGeom>
            <a:solidFill>
              <a:srgbClr val="FFFFFF"/>
            </a:solidFill>
            <a:ln w="14288">
              <a:solidFill>
                <a:srgbClr val="B8CBD3"/>
              </a:solidFill>
            </a:ln>
          </p:spPr>
        </p:sp>
        <p:sp>
          <p:nvSpPr>
            <p:cNvPr id="49" name="Rectangle 49"/>
            <p:cNvSpPr/>
            <p:nvPr/>
          </p:nvSpPr>
          <p:spPr>
            <a:xfrm>
              <a:off x="4343400" y="4914900"/>
              <a:ext cx="57150" cy="1238250"/>
            </a:xfrm>
            <a:prstGeom prst="rect">
              <a:avLst/>
            </a:prstGeom>
            <a:solidFill>
              <a:srgbClr val="00A6A6"/>
            </a:solidFill>
            <a:ln>
              <a:noFill/>
            </a:ln>
          </p:spPr>
        </p:sp>
        <p:sp>
          <p:nvSpPr>
            <p:cNvPr id="50" name="TextBox 50"/>
            <p:cNvSpPr txBox="1"/>
            <p:nvPr/>
          </p:nvSpPr>
          <p:spPr>
            <a:xfrm>
              <a:off x="4565523" y="5063014"/>
              <a:ext cx="266933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Aykırı değeri doğrudan silmek</a:t>
              </a:r>
            </a:p>
          </p:txBody>
        </p:sp>
        <p:sp>
          <p:nvSpPr>
            <p:cNvPr id="51" name="TextBox 51"/>
            <p:cNvSpPr txBox="1"/>
            <p:nvPr/>
          </p:nvSpPr>
          <p:spPr>
            <a:xfrm>
              <a:off x="4566666" y="5373052"/>
              <a:ext cx="2084261"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Çarpıklık var diye aykırı değer</a:t>
              </a:r>
              <a:br/>
              <a:r>
                <a:rPr lang="tr-TR" sz="1050" dirty="0">
                  <a:solidFill>
                    <a:srgbClr val="172B3A"/>
                  </a:solidFill>
                  <a:latin typeface="+mn-lt"/>
                  <a:ea typeface="+mn-ea"/>
                  <a:cs typeface="+mn-cs"/>
                </a:rPr>
                <a:t>silinmemeli; önce kaynağı</a:t>
              </a:r>
              <a:br/>
              <a:r>
                <a:rPr lang="tr-TR" sz="1050" dirty="0">
                  <a:solidFill>
                    <a:srgbClr val="172B3A"/>
                  </a:solidFill>
                  <a:latin typeface="+mn-lt"/>
                  <a:ea typeface="+mn-ea"/>
                  <a:cs typeface="+mn-cs"/>
                </a:rPr>
                <a:t>değerlendirilmelidir.</a:t>
              </a:r>
            </a:p>
          </p:txBody>
        </p:sp>
      </p:grpSp>
      <p:grpSp>
        <p:nvGrpSpPr>
          <p:cNvPr id="57" name="mistake-3"/>
          <p:cNvGrpSpPr/>
          <p:nvPr/>
        </p:nvGrpSpPr>
        <p:grpSpPr>
          <a:xfrm>
            <a:off x="8077200" y="4914900"/>
            <a:ext cx="3505200" cy="1238250"/>
            <a:chOff x="8077200" y="4914900"/>
            <a:chExt cx="3505200" cy="1238250"/>
          </a:xfrm>
        </p:grpSpPr>
        <p:sp>
          <p:nvSpPr>
            <p:cNvPr id="53" name="Rectangle 53"/>
            <p:cNvSpPr/>
            <p:nvPr/>
          </p:nvSpPr>
          <p:spPr>
            <a:xfrm>
              <a:off x="8077200" y="4914900"/>
              <a:ext cx="3505200" cy="1238250"/>
            </a:xfrm>
            <a:prstGeom prst="roundRect">
              <a:avLst>
                <a:gd name="adj" fmla="val 7692"/>
              </a:avLst>
            </a:prstGeom>
            <a:solidFill>
              <a:srgbClr val="FFFFFF"/>
            </a:solidFill>
            <a:ln w="14288">
              <a:solidFill>
                <a:srgbClr val="B8CBD3"/>
              </a:solidFill>
            </a:ln>
          </p:spPr>
        </p:sp>
        <p:sp>
          <p:nvSpPr>
            <p:cNvPr id="54" name="Rectangle 54"/>
            <p:cNvSpPr/>
            <p:nvPr/>
          </p:nvSpPr>
          <p:spPr>
            <a:xfrm>
              <a:off x="8077200" y="4914900"/>
              <a:ext cx="57150" cy="1238250"/>
            </a:xfrm>
            <a:prstGeom prst="rect">
              <a:avLst/>
            </a:prstGeom>
            <a:solidFill>
              <a:srgbClr val="00A6A6"/>
            </a:solidFill>
            <a:ln>
              <a:noFill/>
            </a:ln>
          </p:spPr>
        </p:sp>
        <p:sp>
          <p:nvSpPr>
            <p:cNvPr id="55" name="TextBox 55"/>
            <p:cNvSpPr txBox="1"/>
            <p:nvPr/>
          </p:nvSpPr>
          <p:spPr>
            <a:xfrm>
              <a:off x="8299323" y="5005864"/>
              <a:ext cx="1907591"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Sıfıra yakınlığı kesin</a:t>
              </a:r>
              <a:br/>
              <a:r>
                <a:rPr lang="tr-TR" sz="1280" b="1" dirty="0">
                  <a:solidFill>
                    <a:srgbClr val="12355B"/>
                  </a:solidFill>
                  <a:latin typeface="+mn-lt"/>
                  <a:ea typeface="+mn-ea"/>
                  <a:cs typeface="+mn-cs"/>
                </a:rPr>
                <a:t>normallik sanmak</a:t>
              </a:r>
            </a:p>
          </p:txBody>
        </p:sp>
        <p:sp>
          <p:nvSpPr>
            <p:cNvPr id="56" name="TextBox 56"/>
            <p:cNvSpPr txBox="1"/>
            <p:nvPr/>
          </p:nvSpPr>
          <p:spPr>
            <a:xfrm>
              <a:off x="8300466" y="5373052"/>
              <a:ext cx="2184273"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Sıfıra yakın çarpıklık, kesin</a:t>
              </a:r>
              <a:br/>
              <a:r>
                <a:rPr lang="tr-TR" sz="1050" dirty="0">
                  <a:solidFill>
                    <a:srgbClr val="172B3A"/>
                  </a:solidFill>
                  <a:latin typeface="+mn-lt"/>
                  <a:ea typeface="+mn-ea"/>
                  <a:cs typeface="+mn-cs"/>
                </a:rPr>
                <a:t>normal dağılım kanıtı değildir;</a:t>
              </a:r>
              <a:br/>
              <a:r>
                <a:rPr lang="tr-TR" sz="1050" dirty="0">
                  <a:solidFill>
                    <a:srgbClr val="172B3A"/>
                  </a:solidFill>
                  <a:latin typeface="+mn-lt"/>
                  <a:ea typeface="+mn-ea"/>
                  <a:cs typeface="+mn-cs"/>
                </a:rPr>
                <a:t>başka testlerle doğrulanmalıdır.</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26</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53639" cy="557403"/>
            <a:chOff x="595122" y="282892"/>
            <a:chExt cx="7153639" cy="557403"/>
          </a:xfrm>
        </p:grpSpPr>
        <p:sp>
          <p:nvSpPr>
            <p:cNvPr id="4" name="TextBox 4"/>
            <p:cNvSpPr txBox="1"/>
            <p:nvPr/>
          </p:nvSpPr>
          <p:spPr>
            <a:xfrm>
              <a:off x="595122" y="282892"/>
              <a:ext cx="715363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Korelasyon: tanım ve neden vardır?</a:t>
              </a:r>
            </a:p>
          </p:txBody>
        </p:sp>
      </p:grpSp>
      <p:grpSp>
        <p:nvGrpSpPr>
          <p:cNvPr id="7" name="kicker"/>
          <p:cNvGrpSpPr/>
          <p:nvPr/>
        </p:nvGrpSpPr>
        <p:grpSpPr>
          <a:xfrm>
            <a:off x="604266" y="1048702"/>
            <a:ext cx="4262719" cy="205359"/>
            <a:chOff x="604266" y="1048702"/>
            <a:chExt cx="4262719" cy="205359"/>
          </a:xfrm>
        </p:grpSpPr>
        <p:sp>
          <p:nvSpPr>
            <p:cNvPr id="6" name="TextBox 6"/>
            <p:cNvSpPr txBox="1"/>
            <p:nvPr/>
          </p:nvSpPr>
          <p:spPr>
            <a:xfrm>
              <a:off x="604266" y="1048702"/>
              <a:ext cx="4262719"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TEKNİK 4 / 5 · ÖĞRENCİ BAŞARI VERİSİ ÖRNEĞİ</a:t>
              </a:r>
            </a:p>
          </p:txBody>
        </p:sp>
      </p:grpSp>
      <p:grpSp>
        <p:nvGrpSpPr>
          <p:cNvPr id="13" name="definition-card"/>
          <p:cNvGrpSpPr/>
          <p:nvPr/>
        </p:nvGrpSpPr>
        <p:grpSpPr>
          <a:xfrm>
            <a:off x="609600" y="1333500"/>
            <a:ext cx="5295900" cy="3238500"/>
            <a:chOff x="609600" y="1333500"/>
            <a:chExt cx="5295900" cy="3238500"/>
          </a:xfrm>
        </p:grpSpPr>
        <p:sp>
          <p:nvSpPr>
            <p:cNvPr id="8" name="Rectangle 8"/>
            <p:cNvSpPr/>
            <p:nvPr/>
          </p:nvSpPr>
          <p:spPr>
            <a:xfrm>
              <a:off x="609600" y="1333500"/>
              <a:ext cx="5295900" cy="3238500"/>
            </a:xfrm>
            <a:prstGeom prst="roundRect">
              <a:avLst>
                <a:gd name="adj" fmla="val 2941"/>
              </a:avLst>
            </a:prstGeom>
            <a:solidFill>
              <a:srgbClr val="FFFFFF"/>
            </a:solidFill>
            <a:ln w="14288">
              <a:solidFill>
                <a:srgbClr val="B8CBD3"/>
              </a:solidFill>
            </a:ln>
          </p:spPr>
        </p:sp>
        <p:sp>
          <p:nvSpPr>
            <p:cNvPr id="9" name="TextBox 9"/>
            <p:cNvSpPr txBox="1"/>
            <p:nvPr/>
          </p:nvSpPr>
          <p:spPr>
            <a:xfrm>
              <a:off x="829056" y="14820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0" name="TextBox 10"/>
            <p:cNvSpPr txBox="1"/>
            <p:nvPr/>
          </p:nvSpPr>
          <p:spPr>
            <a:xfrm>
              <a:off x="831342" y="1892618"/>
              <a:ext cx="3305556"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İki sayısal değişkenin birlikte değişme</a:t>
              </a:r>
              <a:br/>
              <a:r>
                <a:rPr lang="tr-TR" sz="1350" dirty="0">
                  <a:solidFill>
                    <a:srgbClr val="172B3A"/>
                  </a:solidFill>
                  <a:latin typeface="+mn-lt"/>
                  <a:ea typeface="+mn-ea"/>
                  <a:cs typeface="+mn-cs"/>
                </a:rPr>
                <a:t>yönünü ve gücünü ölçen istatistiksel</a:t>
              </a:r>
              <a:br/>
              <a:r>
                <a:rPr lang="tr-TR" sz="1350" dirty="0">
                  <a:solidFill>
                    <a:srgbClr val="172B3A"/>
                  </a:solidFill>
                  <a:latin typeface="+mn-lt"/>
                  <a:ea typeface="+mn-ea"/>
                  <a:cs typeface="+mn-cs"/>
                </a:rPr>
                <a:t>ilişkidir. Pearson korelasyon katsayısı</a:t>
              </a:r>
              <a:br/>
              <a:r>
                <a:rPr lang="tr-TR" sz="1350" dirty="0">
                  <a:solidFill>
                    <a:srgbClr val="172B3A"/>
                  </a:solidFill>
                  <a:latin typeface="+mn-lt"/>
                  <a:ea typeface="+mn-ea"/>
                  <a:cs typeface="+mn-cs"/>
                </a:rPr>
                <a:t>-1 ile +1 arasındadır; pozitif değer</a:t>
              </a:r>
              <a:br/>
              <a:r>
                <a:rPr lang="tr-TR" sz="1350" dirty="0">
                  <a:solidFill>
                    <a:srgbClr val="172B3A"/>
                  </a:solidFill>
                  <a:latin typeface="+mn-lt"/>
                  <a:ea typeface="+mn-ea"/>
                  <a:cs typeface="+mn-cs"/>
                </a:rPr>
                <a:t>aynı yönü, negatif ters yönü belirtir.</a:t>
              </a:r>
            </a:p>
          </p:txBody>
        </p:sp>
        <p:sp>
          <p:nvSpPr>
            <p:cNvPr id="11" name="Line 11"/>
            <p:cNvSpPr/>
            <p:nvPr/>
          </p:nvSpPr>
          <p:spPr>
            <a:xfrm>
              <a:off x="8382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2" name="TextBox 12"/>
            <p:cNvSpPr txBox="1"/>
            <p:nvPr/>
          </p:nvSpPr>
          <p:spPr>
            <a:xfrm>
              <a:off x="832104" y="3680460"/>
              <a:ext cx="2900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Şemsiye ile yağmur ilişkisine benzer:</a:t>
              </a:r>
              <a:br/>
              <a:r>
                <a:rPr lang="tr-TR" sz="1200" dirty="0">
                  <a:solidFill>
                    <a:srgbClr val="52616B"/>
                  </a:solidFill>
                  <a:latin typeface="+mn-lt"/>
                  <a:ea typeface="+mn-ea"/>
                  <a:cs typeface="+mn-cs"/>
                </a:rPr>
                <a:t>yağmur arttıkça şemsiye artar; fakat</a:t>
              </a:r>
              <a:br/>
              <a:r>
                <a:rPr lang="tr-TR" sz="1200" dirty="0">
                  <a:solidFill>
                    <a:srgbClr val="52616B"/>
                  </a:solidFill>
                  <a:latin typeface="+mn-lt"/>
                  <a:ea typeface="+mn-ea"/>
                  <a:cs typeface="+mn-cs"/>
                </a:rPr>
                <a:t>şemsiyeler yağmuru oluşturmaz.</a:t>
              </a:r>
            </a:p>
          </p:txBody>
        </p:sp>
      </p:grpSp>
      <p:grpSp>
        <p:nvGrpSpPr>
          <p:cNvPr id="19" name="why-card"/>
          <p:cNvGrpSpPr/>
          <p:nvPr/>
        </p:nvGrpSpPr>
        <p:grpSpPr>
          <a:xfrm>
            <a:off x="6286500" y="1333500"/>
            <a:ext cx="5295900" cy="3238500"/>
            <a:chOff x="6286500" y="1333500"/>
            <a:chExt cx="5295900" cy="3238500"/>
          </a:xfrm>
        </p:grpSpPr>
        <p:sp>
          <p:nvSpPr>
            <p:cNvPr id="14" name="Rectangle 14"/>
            <p:cNvSpPr/>
            <p:nvPr/>
          </p:nvSpPr>
          <p:spPr>
            <a:xfrm>
              <a:off x="6286500" y="1333500"/>
              <a:ext cx="5295900" cy="3238500"/>
            </a:xfrm>
            <a:prstGeom prst="roundRect">
              <a:avLst>
                <a:gd name="adj" fmla="val 2941"/>
              </a:avLst>
            </a:prstGeom>
            <a:solidFill>
              <a:srgbClr val="FFFFFF"/>
            </a:solidFill>
            <a:ln w="14288">
              <a:solidFill>
                <a:srgbClr val="B8CBD3"/>
              </a:solidFill>
            </a:ln>
          </p:spPr>
        </p:sp>
        <p:sp>
          <p:nvSpPr>
            <p:cNvPr id="15" name="TextBox 15"/>
            <p:cNvSpPr txBox="1"/>
            <p:nvPr/>
          </p:nvSpPr>
          <p:spPr>
            <a:xfrm>
              <a:off x="6505956" y="1482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6" name="TextBox 16"/>
            <p:cNvSpPr txBox="1"/>
            <p:nvPr/>
          </p:nvSpPr>
          <p:spPr>
            <a:xfrm>
              <a:off x="6508242" y="1892618"/>
              <a:ext cx="3228404" cy="1254633"/>
            </a:xfrm>
            <a:prstGeom prst="rect">
              <a:avLst/>
            </a:prstGeom>
            <a:noFill/>
            <a:ln>
              <a:noFill/>
            </a:ln>
          </p:spPr>
          <p:txBody>
            <a:bodyPr wrap="none" lIns="0" tIns="0" rIns="0" bIns="0" anchor="t" anchorCtr="0">
              <a:spAutoFit/>
            </a:bodyPr>
            <a:lstStyle/>
            <a:p>
              <a:pPr algn="l">
                <a:lnSpc>
                  <a:spcPts val="1950"/>
                </a:lnSpc>
              </a:pPr>
              <a:r>
                <a:rPr lang="tr-TR" sz="1350" dirty="0">
                  <a:solidFill>
                    <a:srgbClr val="172B3A"/>
                  </a:solidFill>
                  <a:latin typeface="+mn-lt"/>
                  <a:ea typeface="+mn-ea"/>
                  <a:cs typeface="+mn-cs"/>
                </a:rPr>
                <a:t>Çok sayıda sayısal değişken varken</a:t>
              </a:r>
              <a:br/>
              <a:r>
                <a:rPr lang="tr-TR" sz="1350" dirty="0">
                  <a:solidFill>
                    <a:srgbClr val="172B3A"/>
                  </a:solidFill>
                  <a:latin typeface="+mn-lt"/>
                  <a:ea typeface="+mn-ea"/>
                  <a:cs typeface="+mn-cs"/>
                </a:rPr>
                <a:t>hangilerinin birlikte hareket ettiğini</a:t>
              </a:r>
              <a:br/>
              <a:r>
                <a:rPr lang="tr-TR" sz="1350" dirty="0">
                  <a:solidFill>
                    <a:srgbClr val="172B3A"/>
                  </a:solidFill>
                  <a:latin typeface="+mn-lt"/>
                  <a:ea typeface="+mn-ea"/>
                  <a:cs typeface="+mn-cs"/>
                </a:rPr>
                <a:t>hızlıca görmek gerekir. Çalışma saati</a:t>
              </a:r>
              <a:br/>
              <a:r>
                <a:rPr lang="tr-TR" sz="1350" dirty="0">
                  <a:solidFill>
                    <a:srgbClr val="172B3A"/>
                  </a:solidFill>
                  <a:latin typeface="+mn-lt"/>
                  <a:ea typeface="+mn-ea"/>
                  <a:cs typeface="+mn-cs"/>
                </a:rPr>
                <a:t>ve not arasında pozitif, devamsızlık</a:t>
              </a:r>
              <a:br/>
              <a:r>
                <a:rPr lang="tr-TR" sz="1350" dirty="0">
                  <a:solidFill>
                    <a:srgbClr val="172B3A"/>
                  </a:solidFill>
                  <a:latin typeface="+mn-lt"/>
                  <a:ea typeface="+mn-ea"/>
                  <a:cs typeface="+mn-cs"/>
                </a:rPr>
                <a:t>ile not arasında negatif ilişki olabilir.</a:t>
              </a:r>
            </a:p>
          </p:txBody>
        </p:sp>
        <p:sp>
          <p:nvSpPr>
            <p:cNvPr id="17" name="Line 17"/>
            <p:cNvSpPr/>
            <p:nvPr/>
          </p:nvSpPr>
          <p:spPr>
            <a:xfrm>
              <a:off x="6515100" y="3524250"/>
              <a:ext cx="4838700" cy="9525"/>
            </a:xfrm>
            <a:custGeom>
              <a:avLst/>
              <a:gdLst/>
              <a:ahLst/>
              <a:cxnLst/>
              <a:rect l="l" t="t" r="r" b="b"/>
              <a:pathLst>
                <a:path w="4838700" h="9525">
                  <a:moveTo>
                    <a:pt x="0" y="0"/>
                  </a:moveTo>
                  <a:lnTo>
                    <a:pt x="4838700" y="0"/>
                  </a:lnTo>
                </a:path>
              </a:pathLst>
            </a:custGeom>
            <a:noFill/>
            <a:ln w="9525">
              <a:solidFill>
                <a:srgbClr val="B8CBD3"/>
              </a:solidFill>
            </a:ln>
          </p:spPr>
        </p:sp>
        <p:sp>
          <p:nvSpPr>
            <p:cNvPr id="18" name="TextBox 18"/>
            <p:cNvSpPr txBox="1"/>
            <p:nvPr/>
          </p:nvSpPr>
          <p:spPr>
            <a:xfrm>
              <a:off x="6509004" y="3680460"/>
              <a:ext cx="3060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Korelasyon ortak neden, ters nedensellik</a:t>
              </a:r>
              <a:br/>
              <a:r>
                <a:rPr lang="tr-TR" sz="1200" dirty="0">
                  <a:solidFill>
                    <a:srgbClr val="52616B"/>
                  </a:solidFill>
                  <a:latin typeface="+mn-lt"/>
                  <a:ea typeface="+mn-ea"/>
                  <a:cs typeface="+mn-cs"/>
                </a:rPr>
                <a:t>ve rastlantı olasılıklarını dışlamaz;</a:t>
              </a:r>
              <a:br/>
              <a:r>
                <a:rPr lang="tr-TR" sz="1200" dirty="0">
                  <a:solidFill>
                    <a:srgbClr val="52616B"/>
                  </a:solidFill>
                  <a:latin typeface="+mn-lt"/>
                  <a:ea typeface="+mn-ea"/>
                  <a:cs typeface="+mn-cs"/>
                </a:rPr>
                <a:t>yalnızca birlikte değişimi işaret eder.</a:t>
              </a:r>
            </a:p>
          </p:txBody>
        </p:sp>
      </p:grpSp>
      <p:grpSp>
        <p:nvGrpSpPr>
          <p:cNvPr id="23" name="analogy-band"/>
          <p:cNvGrpSpPr/>
          <p:nvPr/>
        </p:nvGrpSpPr>
        <p:grpSpPr>
          <a:xfrm>
            <a:off x="609600" y="4762500"/>
            <a:ext cx="10972800" cy="994601"/>
            <a:chOff x="609600" y="4762500"/>
            <a:chExt cx="10972800" cy="994601"/>
          </a:xfrm>
        </p:grpSpPr>
        <p:sp>
          <p:nvSpPr>
            <p:cNvPr id="20" name="Rectangle 20"/>
            <p:cNvSpPr/>
            <p:nvPr/>
          </p:nvSpPr>
          <p:spPr>
            <a:xfrm>
              <a:off x="609600" y="4762500"/>
              <a:ext cx="10972800" cy="952500"/>
            </a:xfrm>
            <a:prstGeom prst="roundRect">
              <a:avLst>
                <a:gd name="adj" fmla="val 8000"/>
              </a:avLst>
            </a:prstGeom>
            <a:solidFill>
              <a:srgbClr val="EAF4F6"/>
            </a:solidFill>
            <a:ln>
              <a:noFill/>
            </a:ln>
          </p:spPr>
        </p:sp>
        <p:sp>
          <p:nvSpPr>
            <p:cNvPr id="21" name="TextBox 21"/>
            <p:cNvSpPr txBox="1"/>
            <p:nvPr/>
          </p:nvSpPr>
          <p:spPr>
            <a:xfrm>
              <a:off x="906399" y="4935379"/>
              <a:ext cx="660080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Benzetme: şemsiye sayısı yağmurun nedeni değil, sonucudur</a:t>
              </a:r>
            </a:p>
          </p:txBody>
        </p:sp>
        <p:sp>
          <p:nvSpPr>
            <p:cNvPr id="22" name="TextBox 22"/>
            <p:cNvSpPr txBox="1"/>
            <p:nvPr/>
          </p:nvSpPr>
          <p:spPr>
            <a:xfrm>
              <a:off x="907542" y="5264468"/>
              <a:ext cx="6614541"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52616B"/>
                  </a:solidFill>
                  <a:latin typeface="+mn-lt"/>
                  <a:ea typeface="+mn-ea"/>
                  <a:cs typeface="+mn-cs"/>
                </a:rPr>
                <a:t>Korelasyon; "müşteri kaybına hangi değişken neden olur?" sorusuna tek başına</a:t>
              </a:r>
              <a:br/>
              <a:r>
                <a:rPr lang="tr-TR" sz="1350" dirty="0">
                  <a:solidFill>
                    <a:srgbClr val="52616B"/>
                  </a:solidFill>
                  <a:latin typeface="+mn-lt"/>
                  <a:ea typeface="+mn-ea"/>
                  <a:cs typeface="+mn-cs"/>
                </a:rPr>
                <a:t>cevap vermez, deney tasarımı veya alan bilgisi gerekir.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26</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071817" cy="668845"/>
            <a:chOff x="609600" y="171450"/>
            <a:chExt cx="9071817"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38144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Korelasyon uygulama: çalışma saati ve not</a:t>
              </a:r>
            </a:p>
          </p:txBody>
        </p:sp>
      </p:grpSp>
      <p:grpSp>
        <p:nvGrpSpPr>
          <p:cNvPr id="20" name="code-card"/>
          <p:cNvGrpSpPr/>
          <p:nvPr/>
        </p:nvGrpSpPr>
        <p:grpSpPr>
          <a:xfrm>
            <a:off x="609600" y="1104900"/>
            <a:ext cx="5334000" cy="4762500"/>
            <a:chOff x="609600" y="1104900"/>
            <a:chExt cx="5334000" cy="4762500"/>
          </a:xfrm>
        </p:grpSpPr>
        <p:sp>
          <p:nvSpPr>
            <p:cNvPr id="11" name="Rectangle 11"/>
            <p:cNvSpPr/>
            <p:nvPr/>
          </p:nvSpPr>
          <p:spPr>
            <a:xfrm>
              <a:off x="609600" y="1104900"/>
              <a:ext cx="5334000" cy="4762500"/>
            </a:xfrm>
            <a:prstGeom prst="roundRect">
              <a:avLst>
                <a:gd name="adj" fmla="val 2000"/>
              </a:avLst>
            </a:prstGeom>
            <a:solidFill>
              <a:srgbClr val="12355B"/>
            </a:solidFill>
            <a:ln>
              <a:noFill/>
            </a:ln>
          </p:spPr>
        </p:sp>
        <p:sp>
          <p:nvSpPr>
            <p:cNvPr id="12" name="Ellipse 12"/>
            <p:cNvSpPr/>
            <p:nvPr/>
          </p:nvSpPr>
          <p:spPr>
            <a:xfrm>
              <a:off x="781050" y="1276350"/>
              <a:ext cx="114300" cy="114300"/>
            </a:xfrm>
            <a:prstGeom prst="ellipse">
              <a:avLst/>
            </a:prstGeom>
            <a:solidFill>
              <a:srgbClr val="00A6A6"/>
            </a:solidFill>
            <a:ln>
              <a:noFill/>
            </a:ln>
          </p:spPr>
        </p:sp>
        <p:sp>
          <p:nvSpPr>
            <p:cNvPr id="13" name="Ellipse 13"/>
            <p:cNvSpPr/>
            <p:nvPr/>
          </p:nvSpPr>
          <p:spPr>
            <a:xfrm>
              <a:off x="971550" y="1276350"/>
              <a:ext cx="114300" cy="114300"/>
            </a:xfrm>
            <a:prstGeom prst="ellipse">
              <a:avLst/>
            </a:prstGeom>
            <a:solidFill>
              <a:srgbClr val="2E86AB"/>
            </a:solidFill>
            <a:ln>
              <a:noFill/>
            </a:ln>
          </p:spPr>
        </p:sp>
        <p:sp>
          <p:nvSpPr>
            <p:cNvPr id="14" name="Ellipse 14"/>
            <p:cNvSpPr/>
            <p:nvPr/>
          </p:nvSpPr>
          <p:spPr>
            <a:xfrm>
              <a:off x="1162050" y="1276350"/>
              <a:ext cx="114300" cy="114300"/>
            </a:xfrm>
            <a:prstGeom prst="ellipse">
              <a:avLst/>
            </a:prstGeom>
            <a:solidFill>
              <a:srgbClr val="EAF4F6"/>
            </a:solidFill>
            <a:ln>
              <a:noFill/>
            </a:ln>
          </p:spPr>
        </p:sp>
        <p:sp>
          <p:nvSpPr>
            <p:cNvPr id="15" name="TextBox 15"/>
            <p:cNvSpPr txBox="1"/>
            <p:nvPr/>
          </p:nvSpPr>
          <p:spPr>
            <a:xfrm>
              <a:off x="832866" y="1563052"/>
              <a:ext cx="2871026" cy="776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ogrenci_verisi = pd.DataFrame({</a:t>
              </a:r>
              <a:br/>
              <a:r>
                <a:rPr lang="tr-TR" sz="1050" dirty="0">
                  <a:solidFill>
                    <a:srgbClr val="EAF4F6"/>
                  </a:solidFill>
                  <a:latin typeface="Consolas"/>
                  <a:ea typeface="Consolas"/>
                  <a:cs typeface="Consolas"/>
                </a:rPr>
                <a:t>"calisma_saati": [8,10,12,15,18,20,25],</a:t>
              </a:r>
              <a:br/>
              <a:r>
                <a:rPr lang="tr-TR" sz="1050" dirty="0">
                  <a:solidFill>
                    <a:srgbClr val="EAF4F6"/>
                  </a:solidFill>
                  <a:latin typeface="Consolas"/>
                  <a:ea typeface="Consolas"/>
                  <a:cs typeface="Consolas"/>
                </a:rPr>
                <a:t>"sinav_notu": [58,62,68,75,82,86,94]</a:t>
              </a:r>
              <a:br/>
              <a:r>
                <a:rPr lang="tr-TR" sz="1050" dirty="0">
                  <a:solidFill>
                    <a:srgbClr val="EAF4F6"/>
                  </a:solidFill>
                  <a:latin typeface="Consolas"/>
                  <a:ea typeface="Consolas"/>
                  <a:cs typeface="Consolas"/>
                </a:rPr>
                <a:t>})</a:t>
              </a:r>
            </a:p>
          </p:txBody>
        </p:sp>
        <p:sp>
          <p:nvSpPr>
            <p:cNvPr id="16" name="TextBox 16"/>
            <p:cNvSpPr txBox="1"/>
            <p:nvPr/>
          </p:nvSpPr>
          <p:spPr>
            <a:xfrm>
              <a:off x="832866" y="2534602"/>
              <a:ext cx="279768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korelasyon = df["calisma_saati"].corr(</a:t>
              </a:r>
              <a:br/>
              <a:r>
                <a:rPr lang="tr-TR" sz="1050" dirty="0">
                  <a:solidFill>
                    <a:srgbClr val="00A6A6"/>
                  </a:solidFill>
                  <a:latin typeface="Consolas"/>
                  <a:ea typeface="Consolas"/>
                  <a:cs typeface="Consolas"/>
                </a:rPr>
                <a:t>df["sinav_notu"])</a:t>
              </a:r>
            </a:p>
          </p:txBody>
        </p:sp>
        <p:sp>
          <p:nvSpPr>
            <p:cNvPr id="17" name="TextBox 17"/>
            <p:cNvSpPr txBox="1"/>
            <p:nvPr/>
          </p:nvSpPr>
          <p:spPr>
            <a:xfrm>
              <a:off x="832866" y="3163252"/>
              <a:ext cx="2504313"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sns.regplot(data=df,</a:t>
              </a:r>
              <a:br/>
              <a:r>
                <a:rPr lang="tr-TR" sz="1050" dirty="0">
                  <a:solidFill>
                    <a:srgbClr val="EAF4F6"/>
                  </a:solidFill>
                  <a:latin typeface="Consolas"/>
                  <a:ea typeface="Consolas"/>
                  <a:cs typeface="Consolas"/>
                </a:rPr>
                <a:t>x="calisma_saati", y="sinav_notu")</a:t>
              </a:r>
            </a:p>
          </p:txBody>
        </p:sp>
        <p:sp>
          <p:nvSpPr>
            <p:cNvPr id="18" name="TextBox 18"/>
            <p:cNvSpPr txBox="1"/>
            <p:nvPr/>
          </p:nvSpPr>
          <p:spPr>
            <a:xfrm>
              <a:off x="832866" y="3791902"/>
              <a:ext cx="1990916" cy="395859"/>
            </a:xfrm>
            <a:prstGeom prst="rect">
              <a:avLst/>
            </a:prstGeom>
            <a:noFill/>
            <a:ln>
              <a:noFill/>
            </a:ln>
          </p:spPr>
          <p:txBody>
            <a:bodyPr wrap="none" lIns="0" tIns="0" rIns="0" bIns="0" anchor="t" anchorCtr="0">
              <a:spAutoFit/>
            </a:bodyPr>
            <a:lstStyle/>
            <a:p>
              <a:pPr algn="l">
                <a:lnSpc>
                  <a:spcPts val="1500"/>
                </a:lnSpc>
              </a:pPr>
              <a:r>
                <a:rPr lang="tr-TR" sz="1050" dirty="0">
                  <a:solidFill>
                    <a:srgbClr val="B8CBD3"/>
                  </a:solidFill>
                  <a:latin typeface="Consolas"/>
                  <a:ea typeface="Consolas"/>
                  <a:cs typeface="Consolas"/>
                </a:rPr>
                <a:t># Çıktı: korelasyon ≈0.99</a:t>
              </a:r>
              <a:br/>
              <a:r>
                <a:rPr lang="tr-TR" sz="1050" dirty="0">
                  <a:solidFill>
                    <a:srgbClr val="B8CBD3"/>
                  </a:solidFill>
                  <a:latin typeface="Consolas"/>
                  <a:ea typeface="Consolas"/>
                  <a:cs typeface="Consolas"/>
                </a:rPr>
                <a:t># (pozitif ve güçlü ilişki)</a:t>
              </a:r>
            </a:p>
          </p:txBody>
        </p:sp>
        <p:sp>
          <p:nvSpPr>
            <p:cNvPr id="19" name="TextBox 19"/>
            <p:cNvSpPr txBox="1"/>
            <p:nvPr/>
          </p:nvSpPr>
          <p:spPr>
            <a:xfrm>
              <a:off x="833247" y="4466749"/>
              <a:ext cx="2953385" cy="552640"/>
            </a:xfrm>
            <a:prstGeom prst="rect">
              <a:avLst/>
            </a:prstGeom>
            <a:noFill/>
            <a:ln>
              <a:noFill/>
            </a:ln>
          </p:spPr>
          <p:txBody>
            <a:bodyPr wrap="none" lIns="0" tIns="0" rIns="0" bIns="0" anchor="t" anchorCtr="0">
              <a:spAutoFit/>
            </a:bodyPr>
            <a:lstStyle/>
            <a:p>
              <a:pPr algn="l">
                <a:lnSpc>
                  <a:spcPts val="1425"/>
                </a:lnSpc>
              </a:pPr>
              <a:r>
                <a:rPr lang="tr-TR" sz="980" dirty="0">
                  <a:solidFill>
                    <a:srgbClr val="52616B"/>
                  </a:solidFill>
                  <a:latin typeface="Consolas"/>
                  <a:ea typeface="Consolas"/>
                  <a:cs typeface="Consolas"/>
                </a:rPr>
                <a:t>regplot her öğrenciyi bir nokta olarak</a:t>
              </a:r>
              <a:br/>
              <a:r>
                <a:rPr lang="tr-TR" sz="980" dirty="0">
                  <a:solidFill>
                    <a:srgbClr val="52616B"/>
                  </a:solidFill>
                  <a:latin typeface="Consolas"/>
                  <a:ea typeface="Consolas"/>
                  <a:cs typeface="Consolas"/>
                </a:rPr>
                <a:t>çizer ve doğrusal eğilim çizgisi ekler.</a:t>
              </a:r>
              <a:br/>
              <a:r>
                <a:rPr lang="tr-TR" sz="980" dirty="0">
                  <a:solidFill>
                    <a:srgbClr val="52616B"/>
                  </a:solidFill>
                  <a:latin typeface="Consolas"/>
                  <a:ea typeface="Consolas"/>
                  <a:cs typeface="Consolas"/>
                </a:rPr>
                <a:t>Noktalar çizgiye yakınsa ilişki tutarlıdır.</a:t>
              </a:r>
            </a:p>
          </p:txBody>
        </p:sp>
      </p:grpSp>
      <p:grpSp>
        <p:nvGrpSpPr>
          <p:cNvPr id="35" name="chart-card"/>
          <p:cNvGrpSpPr/>
          <p:nvPr/>
        </p:nvGrpSpPr>
        <p:grpSpPr>
          <a:xfrm>
            <a:off x="6248400" y="1104900"/>
            <a:ext cx="5334000" cy="3048000"/>
            <a:chOff x="6248400" y="1104900"/>
            <a:chExt cx="5334000" cy="3048000"/>
          </a:xfrm>
        </p:grpSpPr>
        <p:sp>
          <p:nvSpPr>
            <p:cNvPr id="21" name="Rectangle 21"/>
            <p:cNvSpPr/>
            <p:nvPr/>
          </p:nvSpPr>
          <p:spPr>
            <a:xfrm>
              <a:off x="6248400" y="1104900"/>
              <a:ext cx="5334000" cy="3048000"/>
            </a:xfrm>
            <a:prstGeom prst="roundRect">
              <a:avLst>
                <a:gd name="adj" fmla="val 3125"/>
              </a:avLst>
            </a:prstGeom>
            <a:solidFill>
              <a:srgbClr val="FFFFFF"/>
            </a:solidFill>
            <a:ln w="14288">
              <a:solidFill>
                <a:srgbClr val="B8CBD3"/>
              </a:solidFill>
            </a:ln>
          </p:spPr>
        </p:sp>
        <p:sp>
          <p:nvSpPr>
            <p:cNvPr id="22" name="TextBox 22"/>
            <p:cNvSpPr txBox="1"/>
            <p:nvPr/>
          </p:nvSpPr>
          <p:spPr>
            <a:xfrm>
              <a:off x="6470142" y="1283018"/>
              <a:ext cx="315889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Çalışma saati - sınav notu ilişkisi</a:t>
              </a:r>
            </a:p>
          </p:txBody>
        </p:sp>
        <p:sp>
          <p:nvSpPr>
            <p:cNvPr id="23" name="Line 23"/>
            <p:cNvSpPr/>
            <p:nvPr/>
          </p:nvSpPr>
          <p:spPr>
            <a:xfrm>
              <a:off x="6667500" y="3619500"/>
              <a:ext cx="4476750" cy="9525"/>
            </a:xfrm>
            <a:custGeom>
              <a:avLst/>
              <a:gdLst/>
              <a:ahLst/>
              <a:cxnLst/>
              <a:rect l="l" t="t" r="r" b="b"/>
              <a:pathLst>
                <a:path w="4476750" h="9525">
                  <a:moveTo>
                    <a:pt x="0" y="0"/>
                  </a:moveTo>
                  <a:lnTo>
                    <a:pt x="4476750" y="0"/>
                  </a:lnTo>
                </a:path>
              </a:pathLst>
            </a:custGeom>
            <a:noFill/>
            <a:ln w="14288">
              <a:solidFill>
                <a:srgbClr val="B8CBD3"/>
              </a:solidFill>
            </a:ln>
          </p:spPr>
        </p:sp>
        <p:sp>
          <p:nvSpPr>
            <p:cNvPr id="24" name="Line 24"/>
            <p:cNvSpPr/>
            <p:nvPr/>
          </p:nvSpPr>
          <p:spPr>
            <a:xfrm>
              <a:off x="6667500" y="1714500"/>
              <a:ext cx="9525" cy="1905000"/>
            </a:xfrm>
            <a:custGeom>
              <a:avLst/>
              <a:gdLst/>
              <a:ahLst/>
              <a:cxnLst/>
              <a:rect l="l" t="t" r="r" b="b"/>
              <a:pathLst>
                <a:path w="9525" h="1905000">
                  <a:moveTo>
                    <a:pt x="0" y="0"/>
                  </a:moveTo>
                  <a:lnTo>
                    <a:pt x="0" y="1905000"/>
                  </a:lnTo>
                </a:path>
              </a:pathLst>
            </a:custGeom>
            <a:noFill/>
            <a:ln w="14288">
              <a:solidFill>
                <a:srgbClr val="B8CBD3"/>
              </a:solidFill>
            </a:ln>
          </p:spPr>
        </p:sp>
        <p:sp>
          <p:nvSpPr>
            <p:cNvPr id="25" name="Line 25"/>
            <p:cNvSpPr/>
            <p:nvPr/>
          </p:nvSpPr>
          <p:spPr>
            <a:xfrm>
              <a:off x="6667500" y="1714500"/>
              <a:ext cx="4286250" cy="1714500"/>
            </a:xfrm>
            <a:custGeom>
              <a:avLst/>
              <a:gdLst/>
              <a:ahLst/>
              <a:cxnLst/>
              <a:rect l="l" t="t" r="r" b="b"/>
              <a:pathLst>
                <a:path w="4286250" h="1714500">
                  <a:moveTo>
                    <a:pt x="0" y="1714500"/>
                  </a:moveTo>
                  <a:lnTo>
                    <a:pt x="4286250" y="0"/>
                  </a:lnTo>
                </a:path>
              </a:pathLst>
            </a:custGeom>
            <a:noFill/>
            <a:ln w="23812">
              <a:solidFill>
                <a:srgbClr val="2E86AB"/>
              </a:solidFill>
              <a:custDash>
                <a:ds d="160000" sp="120000"/>
              </a:custDash>
            </a:ln>
          </p:spPr>
        </p:sp>
        <p:sp>
          <p:nvSpPr>
            <p:cNvPr id="26" name="Ellipse 26"/>
            <p:cNvSpPr/>
            <p:nvPr/>
          </p:nvSpPr>
          <p:spPr>
            <a:xfrm>
              <a:off x="6600825" y="3362325"/>
              <a:ext cx="133350" cy="133350"/>
            </a:xfrm>
            <a:prstGeom prst="ellipse">
              <a:avLst/>
            </a:prstGeom>
            <a:solidFill>
              <a:srgbClr val="12355B"/>
            </a:solidFill>
            <a:ln>
              <a:noFill/>
            </a:ln>
          </p:spPr>
        </p:sp>
        <p:sp>
          <p:nvSpPr>
            <p:cNvPr id="27" name="Ellipse 27"/>
            <p:cNvSpPr/>
            <p:nvPr/>
          </p:nvSpPr>
          <p:spPr>
            <a:xfrm>
              <a:off x="7277100" y="3171825"/>
              <a:ext cx="133350" cy="133350"/>
            </a:xfrm>
            <a:prstGeom prst="ellipse">
              <a:avLst/>
            </a:prstGeom>
            <a:solidFill>
              <a:srgbClr val="12355B"/>
            </a:solidFill>
            <a:ln>
              <a:noFill/>
            </a:ln>
          </p:spPr>
        </p:sp>
        <p:sp>
          <p:nvSpPr>
            <p:cNvPr id="28" name="Ellipse 28"/>
            <p:cNvSpPr/>
            <p:nvPr/>
          </p:nvSpPr>
          <p:spPr>
            <a:xfrm>
              <a:off x="7753350" y="2886075"/>
              <a:ext cx="133350" cy="133350"/>
            </a:xfrm>
            <a:prstGeom prst="ellipse">
              <a:avLst/>
            </a:prstGeom>
            <a:solidFill>
              <a:srgbClr val="12355B"/>
            </a:solidFill>
            <a:ln>
              <a:noFill/>
            </a:ln>
          </p:spPr>
        </p:sp>
        <p:sp>
          <p:nvSpPr>
            <p:cNvPr id="29" name="Ellipse 29"/>
            <p:cNvSpPr/>
            <p:nvPr/>
          </p:nvSpPr>
          <p:spPr>
            <a:xfrm>
              <a:off x="8477250" y="2552700"/>
              <a:ext cx="133350" cy="133350"/>
            </a:xfrm>
            <a:prstGeom prst="ellipse">
              <a:avLst/>
            </a:prstGeom>
            <a:solidFill>
              <a:srgbClr val="12355B"/>
            </a:solidFill>
            <a:ln>
              <a:noFill/>
            </a:ln>
          </p:spPr>
        </p:sp>
        <p:sp>
          <p:nvSpPr>
            <p:cNvPr id="30" name="Ellipse 30"/>
            <p:cNvSpPr/>
            <p:nvPr/>
          </p:nvSpPr>
          <p:spPr>
            <a:xfrm>
              <a:off x="9201150" y="2219325"/>
              <a:ext cx="133350" cy="133350"/>
            </a:xfrm>
            <a:prstGeom prst="ellipse">
              <a:avLst/>
            </a:prstGeom>
            <a:solidFill>
              <a:srgbClr val="12355B"/>
            </a:solidFill>
            <a:ln>
              <a:noFill/>
            </a:ln>
          </p:spPr>
        </p:sp>
        <p:sp>
          <p:nvSpPr>
            <p:cNvPr id="31" name="Ellipse 31"/>
            <p:cNvSpPr/>
            <p:nvPr/>
          </p:nvSpPr>
          <p:spPr>
            <a:xfrm>
              <a:off x="9677400" y="2028825"/>
              <a:ext cx="133350" cy="133350"/>
            </a:xfrm>
            <a:prstGeom prst="ellipse">
              <a:avLst/>
            </a:prstGeom>
            <a:solidFill>
              <a:srgbClr val="12355B"/>
            </a:solidFill>
            <a:ln>
              <a:noFill/>
            </a:ln>
          </p:spPr>
        </p:sp>
        <p:sp>
          <p:nvSpPr>
            <p:cNvPr id="32" name="Ellipse 32"/>
            <p:cNvSpPr/>
            <p:nvPr/>
          </p:nvSpPr>
          <p:spPr>
            <a:xfrm>
              <a:off x="10887075" y="1647825"/>
              <a:ext cx="133350" cy="133350"/>
            </a:xfrm>
            <a:prstGeom prst="ellipse">
              <a:avLst/>
            </a:prstGeom>
            <a:solidFill>
              <a:srgbClr val="12355B"/>
            </a:solidFill>
            <a:ln>
              <a:noFill/>
            </a:ln>
          </p:spPr>
        </p:sp>
        <p:sp>
          <p:nvSpPr>
            <p:cNvPr id="33" name="TextBox 33"/>
            <p:cNvSpPr txBox="1"/>
            <p:nvPr/>
          </p:nvSpPr>
          <p:spPr>
            <a:xfrm>
              <a:off x="8117366" y="3696652"/>
              <a:ext cx="157701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Haftalık çalışma saati</a:t>
              </a:r>
            </a:p>
          </p:txBody>
        </p:sp>
        <p:sp>
          <p:nvSpPr>
            <p:cNvPr id="34" name="TextBox 34"/>
            <p:cNvSpPr txBox="1"/>
            <p:nvPr/>
          </p:nvSpPr>
          <p:spPr>
            <a:xfrm>
              <a:off x="6662166" y="1505902"/>
              <a:ext cx="75742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Sınav notu</a:t>
              </a:r>
            </a:p>
          </p:txBody>
        </p:sp>
      </p:grpSp>
      <p:grpSp>
        <p:nvGrpSpPr>
          <p:cNvPr id="39" name="interp-card"/>
          <p:cNvGrpSpPr/>
          <p:nvPr/>
        </p:nvGrpSpPr>
        <p:grpSpPr>
          <a:xfrm>
            <a:off x="6248400" y="4305300"/>
            <a:ext cx="5334000" cy="1562100"/>
            <a:chOff x="6248400" y="4305300"/>
            <a:chExt cx="5334000" cy="1562100"/>
          </a:xfrm>
        </p:grpSpPr>
        <p:sp>
          <p:nvSpPr>
            <p:cNvPr id="36" name="Rectangle 36"/>
            <p:cNvSpPr/>
            <p:nvPr/>
          </p:nvSpPr>
          <p:spPr>
            <a:xfrm>
              <a:off x="6248400" y="4305300"/>
              <a:ext cx="5334000" cy="1562100"/>
            </a:xfrm>
            <a:prstGeom prst="roundRect">
              <a:avLst>
                <a:gd name="adj" fmla="val 6098"/>
              </a:avLst>
            </a:prstGeom>
            <a:solidFill>
              <a:srgbClr val="EAF4F6"/>
            </a:solidFill>
            <a:ln>
              <a:noFill/>
            </a:ln>
          </p:spPr>
        </p:sp>
        <p:sp>
          <p:nvSpPr>
            <p:cNvPr id="37" name="TextBox 37"/>
            <p:cNvSpPr txBox="1"/>
            <p:nvPr/>
          </p:nvSpPr>
          <p:spPr>
            <a:xfrm>
              <a:off x="6470142" y="4483418"/>
              <a:ext cx="21385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Bu çıktı ne anlatıyor?</a:t>
              </a:r>
            </a:p>
          </p:txBody>
        </p:sp>
        <p:sp>
          <p:nvSpPr>
            <p:cNvPr id="38" name="TextBox 38"/>
            <p:cNvSpPr txBox="1"/>
            <p:nvPr/>
          </p:nvSpPr>
          <p:spPr>
            <a:xfrm>
              <a:off x="6470904" y="4804410"/>
              <a:ext cx="2923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Noktalar eğilim çizgisi çevresinde sıkı</a:t>
              </a:r>
              <a:br/>
              <a:r>
                <a:rPr lang="tr-TR" sz="1200" dirty="0">
                  <a:solidFill>
                    <a:srgbClr val="172B3A"/>
                  </a:solidFill>
                  <a:latin typeface="+mn-lt"/>
                  <a:ea typeface="+mn-ea"/>
                  <a:cs typeface="+mn-cs"/>
                </a:rPr>
                <a:t>toplanır; güçlü doğrusal ilişki, ancak</a:t>
              </a:r>
              <a:br/>
              <a:r>
                <a:rPr lang="tr-TR" sz="1200" dirty="0">
                  <a:solidFill>
                    <a:srgbClr val="172B3A"/>
                  </a:solidFill>
                  <a:latin typeface="+mn-lt"/>
                  <a:ea typeface="+mn-ea"/>
                  <a:cs typeface="+mn-cs"/>
                </a:rPr>
                <a:t>nedensellik iddiası için yeterli değildir.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26</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326082" cy="668845"/>
            <a:chOff x="609600" y="171450"/>
            <a:chExt cx="832608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63571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Korelasyon: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YÖNTEM</a:t>
              </a:r>
            </a:p>
          </p:txBody>
        </p:sp>
        <p:sp>
          <p:nvSpPr>
            <p:cNvPr id="13" name="TextBox 13"/>
            <p:cNvSpPr txBox="1"/>
            <p:nvPr/>
          </p:nvSpPr>
          <p:spPr>
            <a:xfrm>
              <a:off x="2851785" y="1221581"/>
              <a:ext cx="112175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UYGUN DURUM</a:t>
              </a:r>
            </a:p>
          </p:txBody>
        </p:sp>
        <p:sp>
          <p:nvSpPr>
            <p:cNvPr id="14" name="TextBox 14"/>
            <p:cNvSpPr txBox="1"/>
            <p:nvPr/>
          </p:nvSpPr>
          <p:spPr>
            <a:xfrm>
              <a:off x="5899785" y="1221581"/>
              <a:ext cx="71944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AVANTAJ</a:t>
              </a:r>
            </a:p>
          </p:txBody>
        </p:sp>
        <p:sp>
          <p:nvSpPr>
            <p:cNvPr id="15" name="TextBox 15"/>
            <p:cNvSpPr txBox="1"/>
            <p:nvPr/>
          </p:nvSpPr>
          <p:spPr>
            <a:xfrm>
              <a:off x="8566785" y="1221581"/>
              <a:ext cx="86017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SINIRLILIK</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71516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Pearson</a:t>
              </a:r>
            </a:p>
          </p:txBody>
        </p:sp>
        <p:sp>
          <p:nvSpPr>
            <p:cNvPr id="18" name="TextBox 18"/>
            <p:cNvSpPr txBox="1"/>
            <p:nvPr/>
          </p:nvSpPr>
          <p:spPr>
            <a:xfrm>
              <a:off x="2851785" y="1669256"/>
              <a:ext cx="16215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Doğrusal sayısal ilişki</a:t>
              </a:r>
            </a:p>
          </p:txBody>
        </p:sp>
        <p:sp>
          <p:nvSpPr>
            <p:cNvPr id="19" name="TextBox 19"/>
            <p:cNvSpPr txBox="1"/>
            <p:nvPr/>
          </p:nvSpPr>
          <p:spPr>
            <a:xfrm>
              <a:off x="5899785" y="1669256"/>
              <a:ext cx="114716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Yaygın ve hızlı</a:t>
              </a:r>
            </a:p>
          </p:txBody>
        </p:sp>
        <p:sp>
          <p:nvSpPr>
            <p:cNvPr id="20" name="TextBox 20"/>
            <p:cNvSpPr txBox="1"/>
            <p:nvPr/>
          </p:nvSpPr>
          <p:spPr>
            <a:xfrm>
              <a:off x="8566785" y="1669256"/>
              <a:ext cx="18556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Aykırı değerlere duyarlı</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85111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Spearman</a:t>
              </a:r>
            </a:p>
          </p:txBody>
        </p:sp>
        <p:sp>
          <p:nvSpPr>
            <p:cNvPr id="23" name="TextBox 23"/>
            <p:cNvSpPr txBox="1"/>
            <p:nvPr/>
          </p:nvSpPr>
          <p:spPr>
            <a:xfrm>
              <a:off x="2851785" y="2193131"/>
              <a:ext cx="156147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Sıralı/monoton ilişki</a:t>
              </a:r>
            </a:p>
          </p:txBody>
        </p:sp>
        <p:sp>
          <p:nvSpPr>
            <p:cNvPr id="24" name="TextBox 24"/>
            <p:cNvSpPr txBox="1"/>
            <p:nvPr/>
          </p:nvSpPr>
          <p:spPr>
            <a:xfrm>
              <a:off x="5899785" y="2193131"/>
              <a:ext cx="9733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Dayanıklıdır</a:t>
              </a:r>
            </a:p>
          </p:txBody>
        </p:sp>
        <p:sp>
          <p:nvSpPr>
            <p:cNvPr id="25" name="TextBox 25"/>
            <p:cNvSpPr txBox="1"/>
            <p:nvPr/>
          </p:nvSpPr>
          <p:spPr>
            <a:xfrm>
              <a:off x="8566785" y="2193131"/>
              <a:ext cx="208212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Doğrusal güç yorumu vermez</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36632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Saçılım grafiği</a:t>
              </a:r>
            </a:p>
          </p:txBody>
        </p:sp>
        <p:sp>
          <p:nvSpPr>
            <p:cNvPr id="28" name="TextBox 28"/>
            <p:cNvSpPr txBox="1"/>
            <p:nvPr/>
          </p:nvSpPr>
          <p:spPr>
            <a:xfrm>
              <a:off x="2851785" y="2717006"/>
              <a:ext cx="14861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İki sayısal değişken</a:t>
              </a:r>
            </a:p>
          </p:txBody>
        </p:sp>
        <p:sp>
          <p:nvSpPr>
            <p:cNvPr id="29" name="TextBox 29"/>
            <p:cNvSpPr txBox="1"/>
            <p:nvPr/>
          </p:nvSpPr>
          <p:spPr>
            <a:xfrm>
              <a:off x="5899785" y="2717006"/>
              <a:ext cx="14788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Görsel örüntü sunar</a:t>
              </a:r>
            </a:p>
          </p:txBody>
        </p:sp>
        <p:sp>
          <p:nvSpPr>
            <p:cNvPr id="30" name="TextBox 30"/>
            <p:cNvSpPr txBox="1"/>
            <p:nvPr/>
          </p:nvSpPr>
          <p:spPr>
            <a:xfrm>
              <a:off x="8566785" y="2717006"/>
              <a:ext cx="15919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Kesin katsayı vermez</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117686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Ki-kare testi</a:t>
              </a:r>
            </a:p>
          </p:txBody>
        </p:sp>
        <p:sp>
          <p:nvSpPr>
            <p:cNvPr id="33" name="TextBox 33"/>
            <p:cNvSpPr txBox="1"/>
            <p:nvPr/>
          </p:nvSpPr>
          <p:spPr>
            <a:xfrm>
              <a:off x="2851785" y="3240881"/>
              <a:ext cx="160660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Kategorik değişkenler</a:t>
              </a:r>
            </a:p>
          </p:txBody>
        </p:sp>
        <p:sp>
          <p:nvSpPr>
            <p:cNvPr id="34" name="TextBox 34"/>
            <p:cNvSpPr txBox="1"/>
            <p:nvPr/>
          </p:nvSpPr>
          <p:spPr>
            <a:xfrm>
              <a:off x="5899785" y="3240881"/>
              <a:ext cx="134293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Bağımlılığı sınar</a:t>
              </a:r>
            </a:p>
          </p:txBody>
        </p:sp>
        <p:sp>
          <p:nvSpPr>
            <p:cNvPr id="35" name="TextBox 35"/>
            <p:cNvSpPr txBox="1"/>
            <p:nvPr/>
          </p:nvSpPr>
          <p:spPr>
            <a:xfrm>
              <a:off x="8566785" y="3240881"/>
              <a:ext cx="16139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Sayısal ilişkiyi ölçmez</a:t>
              </a:r>
            </a:p>
          </p:txBody>
        </p:sp>
      </p:grpSp>
      <p:grpSp>
        <p:nvGrpSpPr>
          <p:cNvPr id="40" name="nezaman-band"/>
          <p:cNvGrpSpPr/>
          <p:nvPr/>
        </p:nvGrpSpPr>
        <p:grpSpPr>
          <a:xfrm>
            <a:off x="609600" y="3771900"/>
            <a:ext cx="10972800" cy="609600"/>
            <a:chOff x="609600" y="3771900"/>
            <a:chExt cx="10972800" cy="609600"/>
          </a:xfrm>
        </p:grpSpPr>
        <p:sp>
          <p:nvSpPr>
            <p:cNvPr id="37" name="Rectangle 37"/>
            <p:cNvSpPr/>
            <p:nvPr/>
          </p:nvSpPr>
          <p:spPr>
            <a:xfrm>
              <a:off x="609600" y="3771900"/>
              <a:ext cx="10972800" cy="609600"/>
            </a:xfrm>
            <a:prstGeom prst="roundRect">
              <a:avLst>
                <a:gd name="adj" fmla="val 12500"/>
              </a:avLst>
            </a:prstGeom>
            <a:solidFill>
              <a:srgbClr val="EAF4F6"/>
            </a:solidFill>
            <a:ln>
              <a:noFill/>
            </a:ln>
          </p:spPr>
        </p:sp>
        <p:sp>
          <p:nvSpPr>
            <p:cNvPr id="38" name="TextBox 38"/>
            <p:cNvSpPr txBox="1"/>
            <p:nvPr/>
          </p:nvSpPr>
          <p:spPr>
            <a:xfrm>
              <a:off x="908304" y="3890010"/>
              <a:ext cx="231598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tercih edilmelidir?</a:t>
              </a:r>
            </a:p>
          </p:txBody>
        </p:sp>
        <p:sp>
          <p:nvSpPr>
            <p:cNvPr id="39" name="TextBox 39"/>
            <p:cNvSpPr txBox="1"/>
            <p:nvPr/>
          </p:nvSpPr>
          <p:spPr>
            <a:xfrm>
              <a:off x="908685" y="4126706"/>
              <a:ext cx="969329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Pearson, iki değişken arasındaki yaklaşık doğrusal ilişkide uygundur; sıralı ama doğrusal olmayan verilerde Spearman tercih edilir.</a:t>
              </a:r>
            </a:p>
          </p:txBody>
        </p:sp>
      </p:grpSp>
      <p:grpSp>
        <p:nvGrpSpPr>
          <p:cNvPr id="42" name="mistakes-label"/>
          <p:cNvGrpSpPr/>
          <p:nvPr/>
        </p:nvGrpSpPr>
        <p:grpSpPr>
          <a:xfrm>
            <a:off x="601599" y="4573429"/>
            <a:ext cx="1631012" cy="308039"/>
            <a:chOff x="601599" y="4573429"/>
            <a:chExt cx="1631012" cy="308039"/>
          </a:xfrm>
        </p:grpSpPr>
        <p:sp>
          <p:nvSpPr>
            <p:cNvPr id="41" name="TextBox 41"/>
            <p:cNvSpPr txBox="1"/>
            <p:nvPr/>
          </p:nvSpPr>
          <p:spPr>
            <a:xfrm>
              <a:off x="601599" y="45734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7" name="mistake-1"/>
          <p:cNvGrpSpPr/>
          <p:nvPr/>
        </p:nvGrpSpPr>
        <p:grpSpPr>
          <a:xfrm>
            <a:off x="609600" y="4914900"/>
            <a:ext cx="3505200" cy="1238250"/>
            <a:chOff x="609600" y="4914900"/>
            <a:chExt cx="3505200" cy="1238250"/>
          </a:xfrm>
        </p:grpSpPr>
        <p:sp>
          <p:nvSpPr>
            <p:cNvPr id="43" name="Rectangle 43"/>
            <p:cNvSpPr/>
            <p:nvPr/>
          </p:nvSpPr>
          <p:spPr>
            <a:xfrm>
              <a:off x="609600" y="4914900"/>
              <a:ext cx="3505200" cy="1238250"/>
            </a:xfrm>
            <a:prstGeom prst="roundRect">
              <a:avLst>
                <a:gd name="adj" fmla="val 7692"/>
              </a:avLst>
            </a:prstGeom>
            <a:solidFill>
              <a:srgbClr val="FFFFFF"/>
            </a:solidFill>
            <a:ln w="14288">
              <a:solidFill>
                <a:srgbClr val="B8CBD3"/>
              </a:solidFill>
            </a:ln>
          </p:spPr>
        </p:sp>
        <p:sp>
          <p:nvSpPr>
            <p:cNvPr id="44" name="Rectangle 44"/>
            <p:cNvSpPr/>
            <p:nvPr/>
          </p:nvSpPr>
          <p:spPr>
            <a:xfrm>
              <a:off x="609600" y="4914900"/>
              <a:ext cx="57150" cy="1238250"/>
            </a:xfrm>
            <a:prstGeom prst="rect">
              <a:avLst/>
            </a:prstGeom>
            <a:solidFill>
              <a:srgbClr val="00A6A6"/>
            </a:solidFill>
            <a:ln>
              <a:noFill/>
            </a:ln>
          </p:spPr>
        </p:sp>
        <p:sp>
          <p:nvSpPr>
            <p:cNvPr id="45" name="TextBox 45"/>
            <p:cNvSpPr txBox="1"/>
            <p:nvPr/>
          </p:nvSpPr>
          <p:spPr>
            <a:xfrm>
              <a:off x="831723" y="5005864"/>
              <a:ext cx="1617421"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Yüksek korelasyonu</a:t>
              </a:r>
              <a:br/>
              <a:r>
                <a:rPr lang="tr-TR" sz="1280" b="1" dirty="0">
                  <a:solidFill>
                    <a:srgbClr val="12355B"/>
                  </a:solidFill>
                  <a:latin typeface="+mn-lt"/>
                  <a:ea typeface="+mn-ea"/>
                  <a:cs typeface="+mn-cs"/>
                </a:rPr>
                <a:t>nedensellik saymak</a:t>
              </a:r>
            </a:p>
          </p:txBody>
        </p:sp>
        <p:sp>
          <p:nvSpPr>
            <p:cNvPr id="46" name="TextBox 46"/>
            <p:cNvSpPr txBox="1"/>
            <p:nvPr/>
          </p:nvSpPr>
          <p:spPr>
            <a:xfrm>
              <a:off x="832866" y="5373052"/>
              <a:ext cx="196424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Çalışma saati notu kesin</a:t>
              </a:r>
              <a:br/>
              <a:r>
                <a:rPr lang="tr-TR" sz="1050" dirty="0">
                  <a:solidFill>
                    <a:srgbClr val="172B3A"/>
                  </a:solidFill>
                  <a:latin typeface="+mn-lt"/>
                  <a:ea typeface="+mn-ea"/>
                  <a:cs typeface="+mn-cs"/>
                </a:rPr>
                <a:t>artırır demek yerine, pozitif</a:t>
              </a:r>
              <a:br/>
              <a:r>
                <a:rPr lang="tr-TR" sz="1050" dirty="0">
                  <a:solidFill>
                    <a:srgbClr val="172B3A"/>
                  </a:solidFill>
                  <a:latin typeface="+mn-lt"/>
                  <a:ea typeface="+mn-ea"/>
                  <a:cs typeface="+mn-cs"/>
                </a:rPr>
                <a:t>ilişki gözlendiği söylenmeli.</a:t>
              </a:r>
            </a:p>
          </p:txBody>
        </p:sp>
      </p:grpSp>
      <p:grpSp>
        <p:nvGrpSpPr>
          <p:cNvPr id="52" name="mistake-2"/>
          <p:cNvGrpSpPr/>
          <p:nvPr/>
        </p:nvGrpSpPr>
        <p:grpSpPr>
          <a:xfrm>
            <a:off x="4343400" y="4914900"/>
            <a:ext cx="3505200" cy="1238250"/>
            <a:chOff x="4343400" y="4914900"/>
            <a:chExt cx="3505200" cy="1238250"/>
          </a:xfrm>
        </p:grpSpPr>
        <p:sp>
          <p:nvSpPr>
            <p:cNvPr id="48" name="Rectangle 48"/>
            <p:cNvSpPr/>
            <p:nvPr/>
          </p:nvSpPr>
          <p:spPr>
            <a:xfrm>
              <a:off x="4343400" y="4914900"/>
              <a:ext cx="3505200" cy="1238250"/>
            </a:xfrm>
            <a:prstGeom prst="roundRect">
              <a:avLst>
                <a:gd name="adj" fmla="val 7692"/>
              </a:avLst>
            </a:prstGeom>
            <a:solidFill>
              <a:srgbClr val="FFFFFF"/>
            </a:solidFill>
            <a:ln w="14288">
              <a:solidFill>
                <a:srgbClr val="B8CBD3"/>
              </a:solidFill>
            </a:ln>
          </p:spPr>
        </p:sp>
        <p:sp>
          <p:nvSpPr>
            <p:cNvPr id="49" name="Rectangle 49"/>
            <p:cNvSpPr/>
            <p:nvPr/>
          </p:nvSpPr>
          <p:spPr>
            <a:xfrm>
              <a:off x="4343400" y="4914900"/>
              <a:ext cx="57150" cy="1238250"/>
            </a:xfrm>
            <a:prstGeom prst="rect">
              <a:avLst/>
            </a:prstGeom>
            <a:solidFill>
              <a:srgbClr val="00A6A6"/>
            </a:solidFill>
            <a:ln>
              <a:noFill/>
            </a:ln>
          </p:spPr>
        </p:sp>
        <p:sp>
          <p:nvSpPr>
            <p:cNvPr id="50" name="TextBox 50"/>
            <p:cNvSpPr txBox="1"/>
            <p:nvPr/>
          </p:nvSpPr>
          <p:spPr>
            <a:xfrm>
              <a:off x="4565523" y="5005864"/>
              <a:ext cx="2223364"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Metin sütununa korelasyon</a:t>
              </a:r>
              <a:br/>
              <a:r>
                <a:rPr lang="tr-TR" sz="1280" b="1" dirty="0">
                  <a:solidFill>
                    <a:srgbClr val="12355B"/>
                  </a:solidFill>
                  <a:latin typeface="+mn-lt"/>
                  <a:ea typeface="+mn-ea"/>
                  <a:cs typeface="+mn-cs"/>
                </a:rPr>
                <a:t>uygulamak</a:t>
              </a:r>
            </a:p>
          </p:txBody>
        </p:sp>
        <p:sp>
          <p:nvSpPr>
            <p:cNvPr id="51" name="TextBox 51"/>
            <p:cNvSpPr txBox="1"/>
            <p:nvPr/>
          </p:nvSpPr>
          <p:spPr>
            <a:xfrm>
              <a:off x="4566666" y="5373052"/>
              <a:ext cx="207092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Pearson yalnızca sayısal</a:t>
              </a:r>
              <a:br/>
              <a:r>
                <a:rPr lang="tr-TR" sz="1050" dirty="0">
                  <a:solidFill>
                    <a:srgbClr val="172B3A"/>
                  </a:solidFill>
                  <a:latin typeface="+mn-lt"/>
                  <a:ea typeface="+mn-ea"/>
                  <a:cs typeface="+mn-cs"/>
                </a:rPr>
                <a:t>sütunlar için tanımlıdır; metin</a:t>
              </a:r>
              <a:br/>
              <a:r>
                <a:rPr lang="tr-TR" sz="1050" dirty="0">
                  <a:solidFill>
                    <a:srgbClr val="172B3A"/>
                  </a:solidFill>
                  <a:latin typeface="+mn-lt"/>
                  <a:ea typeface="+mn-ea"/>
                  <a:cs typeface="+mn-cs"/>
                </a:rPr>
                <a:t>önce sayısallaştırılmalıdır.</a:t>
              </a:r>
            </a:p>
          </p:txBody>
        </p:sp>
      </p:grpSp>
      <p:grpSp>
        <p:nvGrpSpPr>
          <p:cNvPr id="57" name="mistake-3"/>
          <p:cNvGrpSpPr/>
          <p:nvPr/>
        </p:nvGrpSpPr>
        <p:grpSpPr>
          <a:xfrm>
            <a:off x="8077200" y="4914900"/>
            <a:ext cx="3505200" cy="1238250"/>
            <a:chOff x="8077200" y="4914900"/>
            <a:chExt cx="3505200" cy="1238250"/>
          </a:xfrm>
        </p:grpSpPr>
        <p:sp>
          <p:nvSpPr>
            <p:cNvPr id="53" name="Rectangle 53"/>
            <p:cNvSpPr/>
            <p:nvPr/>
          </p:nvSpPr>
          <p:spPr>
            <a:xfrm>
              <a:off x="8077200" y="4914900"/>
              <a:ext cx="3505200" cy="1238250"/>
            </a:xfrm>
            <a:prstGeom prst="roundRect">
              <a:avLst>
                <a:gd name="adj" fmla="val 7692"/>
              </a:avLst>
            </a:prstGeom>
            <a:solidFill>
              <a:srgbClr val="FFFFFF"/>
            </a:solidFill>
            <a:ln w="14288">
              <a:solidFill>
                <a:srgbClr val="B8CBD3"/>
              </a:solidFill>
            </a:ln>
          </p:spPr>
        </p:sp>
        <p:sp>
          <p:nvSpPr>
            <p:cNvPr id="54" name="Rectangle 54"/>
            <p:cNvSpPr/>
            <p:nvPr/>
          </p:nvSpPr>
          <p:spPr>
            <a:xfrm>
              <a:off x="8077200" y="4914900"/>
              <a:ext cx="57150" cy="1238250"/>
            </a:xfrm>
            <a:prstGeom prst="rect">
              <a:avLst/>
            </a:prstGeom>
            <a:solidFill>
              <a:srgbClr val="00A6A6"/>
            </a:solidFill>
            <a:ln>
              <a:noFill/>
            </a:ln>
          </p:spPr>
        </p:sp>
        <p:sp>
          <p:nvSpPr>
            <p:cNvPr id="55" name="TextBox 55"/>
            <p:cNvSpPr txBox="1"/>
            <p:nvPr/>
          </p:nvSpPr>
          <p:spPr>
            <a:xfrm>
              <a:off x="8299323" y="5005864"/>
              <a:ext cx="1916125"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Aykırı değerin etkisini</a:t>
              </a:r>
              <a:br/>
              <a:r>
                <a:rPr lang="tr-TR" sz="1280" b="1" dirty="0">
                  <a:solidFill>
                    <a:srgbClr val="12355B"/>
                  </a:solidFill>
                  <a:latin typeface="+mn-lt"/>
                  <a:ea typeface="+mn-ea"/>
                  <a:cs typeface="+mn-cs"/>
                </a:rPr>
                <a:t>görmezden gelmek</a:t>
              </a:r>
            </a:p>
          </p:txBody>
        </p:sp>
        <p:sp>
          <p:nvSpPr>
            <p:cNvPr id="56" name="TextBox 56"/>
            <p:cNvSpPr txBox="1"/>
            <p:nvPr/>
          </p:nvSpPr>
          <p:spPr>
            <a:xfrm>
              <a:off x="8300466" y="5373052"/>
              <a:ext cx="204425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Tek bir aşırı gözlem, Pearson</a:t>
              </a:r>
              <a:br/>
              <a:r>
                <a:rPr lang="tr-TR" sz="1050" dirty="0">
                  <a:solidFill>
                    <a:srgbClr val="172B3A"/>
                  </a:solidFill>
                  <a:latin typeface="+mn-lt"/>
                  <a:ea typeface="+mn-ea"/>
                  <a:cs typeface="+mn-cs"/>
                </a:rPr>
                <a:t>katsayısını fark edilir biçimde</a:t>
              </a:r>
              <a:br/>
              <a:r>
                <a:rPr lang="tr-TR" sz="1050" dirty="0">
                  <a:solidFill>
                    <a:srgbClr val="172B3A"/>
                  </a:solidFill>
                  <a:latin typeface="+mn-lt"/>
                  <a:ea typeface="+mn-ea"/>
                  <a:cs typeface="+mn-cs"/>
                </a:rPr>
                <a:t>değiştirebilir.</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18164" cy="557403"/>
            <a:chOff x="595122" y="282892"/>
            <a:chExt cx="7818164" cy="557403"/>
          </a:xfrm>
        </p:grpSpPr>
        <p:sp>
          <p:nvSpPr>
            <p:cNvPr id="4" name="TextBox 4"/>
            <p:cNvSpPr txBox="1"/>
            <p:nvPr/>
          </p:nvSpPr>
          <p:spPr>
            <a:xfrm>
              <a:off x="595122" y="282892"/>
              <a:ext cx="78181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Kutu grafiği: tanım, neden ve uygulama</a:t>
              </a:r>
            </a:p>
          </p:txBody>
        </p:sp>
      </p:grpSp>
      <p:grpSp>
        <p:nvGrpSpPr>
          <p:cNvPr id="7" name="kicker"/>
          <p:cNvGrpSpPr/>
          <p:nvPr/>
        </p:nvGrpSpPr>
        <p:grpSpPr>
          <a:xfrm>
            <a:off x="604266" y="1048702"/>
            <a:ext cx="3572340" cy="205359"/>
            <a:chOff x="604266" y="1048702"/>
            <a:chExt cx="3572340" cy="205359"/>
          </a:xfrm>
        </p:grpSpPr>
        <p:sp>
          <p:nvSpPr>
            <p:cNvPr id="6" name="TextBox 6"/>
            <p:cNvSpPr txBox="1"/>
            <p:nvPr/>
          </p:nvSpPr>
          <p:spPr>
            <a:xfrm>
              <a:off x="604266" y="1048702"/>
              <a:ext cx="3572340" cy="205359"/>
            </a:xfrm>
            <a:prstGeom prst="rect">
              <a:avLst/>
            </a:prstGeom>
            <a:noFill/>
            <a:ln>
              <a:noFill/>
            </a:ln>
          </p:spPr>
          <p:txBody>
            <a:bodyPr wrap="none" lIns="0" tIns="0" rIns="0" bIns="0" anchor="t" anchorCtr="0">
              <a:spAutoFit/>
            </a:bodyPr>
            <a:lstStyle/>
            <a:p>
              <a:pPr algn="l"/>
              <a:r>
                <a:rPr lang="tr-TR" sz="1050" b="1" spc="150" dirty="0">
                  <a:solidFill>
                    <a:srgbClr val="00A6A6"/>
                  </a:solidFill>
                  <a:latin typeface="+mn-lt"/>
                  <a:ea typeface="+mn-ea"/>
                  <a:cs typeface="+mn-cs"/>
                </a:rPr>
                <a:t>TEKNİK 5 / 5 · BÖLÜM KARŞILAŞTIRMASI</a:t>
              </a:r>
            </a:p>
          </p:txBody>
        </p:sp>
      </p:grpSp>
      <p:grpSp>
        <p:nvGrpSpPr>
          <p:cNvPr id="11" name="definition-card"/>
          <p:cNvGrpSpPr/>
          <p:nvPr/>
        </p:nvGrpSpPr>
        <p:grpSpPr>
          <a:xfrm>
            <a:off x="609600" y="1333500"/>
            <a:ext cx="5295900" cy="2095500"/>
            <a:chOff x="609600" y="1333500"/>
            <a:chExt cx="5295900" cy="2095500"/>
          </a:xfrm>
        </p:grpSpPr>
        <p:sp>
          <p:nvSpPr>
            <p:cNvPr id="8" name="Rectangle 8"/>
            <p:cNvSpPr/>
            <p:nvPr/>
          </p:nvSpPr>
          <p:spPr>
            <a:xfrm>
              <a:off x="609600" y="1333500"/>
              <a:ext cx="5295900" cy="2095500"/>
            </a:xfrm>
            <a:prstGeom prst="roundRect">
              <a:avLst>
                <a:gd name="adj" fmla="val 4545"/>
              </a:avLst>
            </a:prstGeom>
            <a:solidFill>
              <a:srgbClr val="FFFFFF"/>
            </a:solidFill>
            <a:ln w="14288">
              <a:solidFill>
                <a:srgbClr val="B8CBD3"/>
              </a:solidFill>
            </a:ln>
          </p:spPr>
        </p:sp>
        <p:sp>
          <p:nvSpPr>
            <p:cNvPr id="9" name="TextBox 9"/>
            <p:cNvSpPr txBox="1"/>
            <p:nvPr/>
          </p:nvSpPr>
          <p:spPr>
            <a:xfrm>
              <a:off x="829818" y="1460182"/>
              <a:ext cx="71257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Tanım</a:t>
              </a:r>
            </a:p>
          </p:txBody>
        </p:sp>
        <p:sp>
          <p:nvSpPr>
            <p:cNvPr id="10" name="TextBox 10"/>
            <p:cNvSpPr txBox="1"/>
            <p:nvPr/>
          </p:nvSpPr>
          <p:spPr>
            <a:xfrm>
              <a:off x="831723" y="1805464"/>
              <a:ext cx="3410458"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Medyanı, çeyrekleri, yayılımı ve olası</a:t>
              </a:r>
              <a:br/>
              <a:r>
                <a:rPr lang="tr-TR" sz="1280" dirty="0">
                  <a:solidFill>
                    <a:srgbClr val="172B3A"/>
                  </a:solidFill>
                  <a:latin typeface="+mn-lt"/>
                  <a:ea typeface="+mn-ea"/>
                  <a:cs typeface="+mn-cs"/>
                </a:rPr>
                <a:t>aykırı gözlemleri tek görünümde gösteren</a:t>
              </a:r>
              <a:br/>
              <a:r>
                <a:rPr lang="tr-TR" sz="1280" dirty="0">
                  <a:solidFill>
                    <a:srgbClr val="172B3A"/>
                  </a:solidFill>
                  <a:latin typeface="+mn-lt"/>
                  <a:ea typeface="+mn-ea"/>
                  <a:cs typeface="+mn-cs"/>
                </a:rPr>
                <a:t>grafiktir; kutu sınırları birinci ve üçüncü</a:t>
              </a:r>
              <a:br/>
              <a:r>
                <a:rPr lang="tr-TR" sz="1280" dirty="0">
                  <a:solidFill>
                    <a:srgbClr val="172B3A"/>
                  </a:solidFill>
                  <a:latin typeface="+mn-lt"/>
                  <a:ea typeface="+mn-ea"/>
                  <a:cs typeface="+mn-cs"/>
                </a:rPr>
                <a:t>çeyreği ifade eder.</a:t>
              </a:r>
            </a:p>
          </p:txBody>
        </p:sp>
      </p:grpSp>
      <p:grpSp>
        <p:nvGrpSpPr>
          <p:cNvPr id="15" name="why-card"/>
          <p:cNvGrpSpPr/>
          <p:nvPr/>
        </p:nvGrpSpPr>
        <p:grpSpPr>
          <a:xfrm>
            <a:off x="6286500" y="1333500"/>
            <a:ext cx="5295900" cy="2095500"/>
            <a:chOff x="6286500" y="1333500"/>
            <a:chExt cx="5295900" cy="2095500"/>
          </a:xfrm>
        </p:grpSpPr>
        <p:sp>
          <p:nvSpPr>
            <p:cNvPr id="12" name="Rectangle 12"/>
            <p:cNvSpPr/>
            <p:nvPr/>
          </p:nvSpPr>
          <p:spPr>
            <a:xfrm>
              <a:off x="6286500" y="1333500"/>
              <a:ext cx="5295900" cy="2095500"/>
            </a:xfrm>
            <a:prstGeom prst="roundRect">
              <a:avLst>
                <a:gd name="adj" fmla="val 4545"/>
              </a:avLst>
            </a:prstGeom>
            <a:solidFill>
              <a:srgbClr val="FFFFFF"/>
            </a:solidFill>
            <a:ln w="14288">
              <a:solidFill>
                <a:srgbClr val="B8CBD3"/>
              </a:solidFill>
            </a:ln>
          </p:spPr>
        </p:sp>
        <p:sp>
          <p:nvSpPr>
            <p:cNvPr id="13" name="TextBox 13"/>
            <p:cNvSpPr txBox="1"/>
            <p:nvPr/>
          </p:nvSpPr>
          <p:spPr>
            <a:xfrm>
              <a:off x="6506718" y="1460182"/>
              <a:ext cx="163432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vardır?</a:t>
              </a:r>
            </a:p>
          </p:txBody>
        </p:sp>
        <p:sp>
          <p:nvSpPr>
            <p:cNvPr id="14" name="TextBox 14"/>
            <p:cNvSpPr txBox="1"/>
            <p:nvPr/>
          </p:nvSpPr>
          <p:spPr>
            <a:xfrm>
              <a:off x="6508623" y="1805464"/>
              <a:ext cx="3548634"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Grupları yalnızca ortalamayla</a:t>
              </a:r>
              <a:br/>
              <a:r>
                <a:rPr lang="tr-TR" sz="1280" dirty="0">
                  <a:solidFill>
                    <a:srgbClr val="172B3A"/>
                  </a:solidFill>
                  <a:latin typeface="+mn-lt"/>
                  <a:ea typeface="+mn-ea"/>
                  <a:cs typeface="+mn-cs"/>
                </a:rPr>
                <a:t>karşılaştırmak yetersizdir; iki bölümün</a:t>
              </a:r>
              <a:br/>
              <a:r>
                <a:rPr lang="tr-TR" sz="1280" dirty="0">
                  <a:solidFill>
                    <a:srgbClr val="172B3A"/>
                  </a:solidFill>
                  <a:latin typeface="+mn-lt"/>
                  <a:ea typeface="+mn-ea"/>
                  <a:cs typeface="+mn-cs"/>
                </a:rPr>
                <a:t>ortalaması aynı olsa da biri daha dağınık</a:t>
              </a:r>
              <a:br/>
              <a:r>
                <a:rPr lang="tr-TR" sz="1280" dirty="0">
                  <a:solidFill>
                    <a:srgbClr val="172B3A"/>
                  </a:solidFill>
                  <a:latin typeface="+mn-lt"/>
                  <a:ea typeface="+mn-ea"/>
                  <a:cs typeface="+mn-cs"/>
                </a:rPr>
                <a:t>olabilir. Kutu grafiği bu farkı kısaca sunar.</a:t>
              </a:r>
            </a:p>
          </p:txBody>
        </p:sp>
      </p:grpSp>
      <p:grpSp>
        <p:nvGrpSpPr>
          <p:cNvPr id="33" name="boxplot-card"/>
          <p:cNvGrpSpPr/>
          <p:nvPr/>
        </p:nvGrpSpPr>
        <p:grpSpPr>
          <a:xfrm>
            <a:off x="609600" y="3619500"/>
            <a:ext cx="10972800" cy="2270284"/>
            <a:chOff x="609600" y="3619500"/>
            <a:chExt cx="10972800" cy="2270284"/>
          </a:xfrm>
        </p:grpSpPr>
        <p:sp>
          <p:nvSpPr>
            <p:cNvPr id="16" name="Rectangle 16"/>
            <p:cNvSpPr/>
            <p:nvPr/>
          </p:nvSpPr>
          <p:spPr>
            <a:xfrm>
              <a:off x="609600" y="3619500"/>
              <a:ext cx="10972800" cy="2247900"/>
            </a:xfrm>
            <a:prstGeom prst="roundRect">
              <a:avLst>
                <a:gd name="adj" fmla="val 4237"/>
              </a:avLst>
            </a:prstGeom>
            <a:solidFill>
              <a:srgbClr val="FFFFFF"/>
            </a:solidFill>
            <a:ln w="14288">
              <a:solidFill>
                <a:srgbClr val="B8CBD3"/>
              </a:solidFill>
            </a:ln>
          </p:spPr>
        </p:sp>
        <p:sp>
          <p:nvSpPr>
            <p:cNvPr id="17" name="TextBox 17"/>
            <p:cNvSpPr txBox="1"/>
            <p:nvPr/>
          </p:nvSpPr>
          <p:spPr>
            <a:xfrm>
              <a:off x="831342" y="3778568"/>
              <a:ext cx="271042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Bölümlere göre sınav notları</a:t>
              </a:r>
            </a:p>
          </p:txBody>
        </p:sp>
        <p:sp>
          <p:nvSpPr>
            <p:cNvPr id="18" name="Line 18"/>
            <p:cNvSpPr/>
            <p:nvPr/>
          </p:nvSpPr>
          <p:spPr>
            <a:xfrm>
              <a:off x="1714500" y="5619750"/>
              <a:ext cx="9144000" cy="9525"/>
            </a:xfrm>
            <a:custGeom>
              <a:avLst/>
              <a:gdLst/>
              <a:ahLst/>
              <a:cxnLst/>
              <a:rect l="l" t="t" r="r" b="b"/>
              <a:pathLst>
                <a:path w="9144000" h="9525">
                  <a:moveTo>
                    <a:pt x="0" y="0"/>
                  </a:moveTo>
                  <a:lnTo>
                    <a:pt x="9144000" y="0"/>
                  </a:lnTo>
                </a:path>
              </a:pathLst>
            </a:custGeom>
            <a:noFill/>
            <a:ln w="14288">
              <a:solidFill>
                <a:srgbClr val="B8CBD3"/>
              </a:solidFill>
            </a:ln>
          </p:spPr>
        </p:sp>
        <p:grpSp>
          <p:nvGrpSpPr>
            <p:cNvPr id="24" name="box-bilgisayar"/>
            <p:cNvGrpSpPr/>
            <p:nvPr/>
          </p:nvGrpSpPr>
          <p:grpSpPr>
            <a:xfrm>
              <a:off x="3143250" y="4095750"/>
              <a:ext cx="952500" cy="1794034"/>
              <a:chOff x="3143250" y="4095750"/>
              <a:chExt cx="952500" cy="1794034"/>
            </a:xfrm>
          </p:grpSpPr>
          <p:sp>
            <p:nvSpPr>
              <p:cNvPr id="19" name="Line 19"/>
              <p:cNvSpPr/>
              <p:nvPr/>
            </p:nvSpPr>
            <p:spPr>
              <a:xfrm>
                <a:off x="3619500" y="4191000"/>
                <a:ext cx="9525" cy="1333500"/>
              </a:xfrm>
              <a:custGeom>
                <a:avLst/>
                <a:gdLst/>
                <a:ahLst/>
                <a:cxnLst/>
                <a:rect l="l" t="t" r="r" b="b"/>
                <a:pathLst>
                  <a:path w="9525" h="1333500">
                    <a:moveTo>
                      <a:pt x="0" y="0"/>
                    </a:moveTo>
                    <a:lnTo>
                      <a:pt x="0" y="1333500"/>
                    </a:lnTo>
                  </a:path>
                </a:pathLst>
              </a:custGeom>
              <a:noFill/>
              <a:ln w="19050">
                <a:solidFill>
                  <a:srgbClr val="2E86AB"/>
                </a:solidFill>
              </a:ln>
            </p:spPr>
          </p:sp>
          <p:sp>
            <p:nvSpPr>
              <p:cNvPr id="20" name="Rectangle 20"/>
              <p:cNvSpPr/>
              <p:nvPr/>
            </p:nvSpPr>
            <p:spPr>
              <a:xfrm>
                <a:off x="3143250" y="4381500"/>
                <a:ext cx="952500" cy="762000"/>
              </a:xfrm>
              <a:prstGeom prst="rect">
                <a:avLst/>
              </a:prstGeom>
              <a:solidFill>
                <a:srgbClr val="EAF4F6"/>
              </a:solidFill>
              <a:ln w="19050">
                <a:solidFill>
                  <a:srgbClr val="2E86AB"/>
                </a:solidFill>
              </a:ln>
            </p:spPr>
          </p:sp>
          <p:sp>
            <p:nvSpPr>
              <p:cNvPr id="21" name="Line 21"/>
              <p:cNvSpPr/>
              <p:nvPr/>
            </p:nvSpPr>
            <p:spPr>
              <a:xfrm>
                <a:off x="3143250" y="4667250"/>
                <a:ext cx="952500" cy="9525"/>
              </a:xfrm>
              <a:custGeom>
                <a:avLst/>
                <a:gdLst/>
                <a:ahLst/>
                <a:cxnLst/>
                <a:rect l="l" t="t" r="r" b="b"/>
                <a:pathLst>
                  <a:path w="952500" h="9525">
                    <a:moveTo>
                      <a:pt x="0" y="0"/>
                    </a:moveTo>
                    <a:lnTo>
                      <a:pt x="952500" y="0"/>
                    </a:lnTo>
                  </a:path>
                </a:pathLst>
              </a:custGeom>
              <a:noFill/>
              <a:ln w="23812">
                <a:solidFill>
                  <a:srgbClr val="12355B"/>
                </a:solidFill>
              </a:ln>
            </p:spPr>
          </p:sp>
          <p:sp>
            <p:nvSpPr>
              <p:cNvPr id="22" name="Ellipse 22"/>
              <p:cNvSpPr/>
              <p:nvPr/>
            </p:nvSpPr>
            <p:spPr>
              <a:xfrm>
                <a:off x="3562350" y="4095750"/>
                <a:ext cx="114300" cy="114300"/>
              </a:xfrm>
              <a:prstGeom prst="ellipse">
                <a:avLst/>
              </a:prstGeom>
              <a:solidFill>
                <a:srgbClr val="D64545"/>
              </a:solidFill>
              <a:ln>
                <a:noFill/>
              </a:ln>
            </p:spPr>
          </p:sp>
          <p:sp>
            <p:nvSpPr>
              <p:cNvPr id="23" name="TextBox 23"/>
              <p:cNvSpPr txBox="1"/>
              <p:nvPr/>
            </p:nvSpPr>
            <p:spPr>
              <a:xfrm>
                <a:off x="3253669" y="5669756"/>
                <a:ext cx="731662"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Bilgisayar</a:t>
                </a:r>
              </a:p>
            </p:txBody>
          </p:sp>
        </p:grpSp>
        <p:grpSp>
          <p:nvGrpSpPr>
            <p:cNvPr id="29" name="box-elektrik"/>
            <p:cNvGrpSpPr/>
            <p:nvPr/>
          </p:nvGrpSpPr>
          <p:grpSpPr>
            <a:xfrm>
              <a:off x="7334250" y="4381500"/>
              <a:ext cx="952500" cy="1508284"/>
              <a:chOff x="7334250" y="4381500"/>
              <a:chExt cx="952500" cy="1508284"/>
            </a:xfrm>
          </p:grpSpPr>
          <p:sp>
            <p:nvSpPr>
              <p:cNvPr id="25" name="Line 25"/>
              <p:cNvSpPr/>
              <p:nvPr/>
            </p:nvSpPr>
            <p:spPr>
              <a:xfrm>
                <a:off x="7810500" y="4381500"/>
                <a:ext cx="9525" cy="1143000"/>
              </a:xfrm>
              <a:custGeom>
                <a:avLst/>
                <a:gdLst/>
                <a:ahLst/>
                <a:cxnLst/>
                <a:rect l="l" t="t" r="r" b="b"/>
                <a:pathLst>
                  <a:path w="9525" h="1143000">
                    <a:moveTo>
                      <a:pt x="0" y="0"/>
                    </a:moveTo>
                    <a:lnTo>
                      <a:pt x="0" y="1143000"/>
                    </a:lnTo>
                  </a:path>
                </a:pathLst>
              </a:custGeom>
              <a:noFill/>
              <a:ln w="19050">
                <a:solidFill>
                  <a:srgbClr val="2E86AB"/>
                </a:solidFill>
              </a:ln>
            </p:spPr>
          </p:sp>
          <p:sp>
            <p:nvSpPr>
              <p:cNvPr id="26" name="Rectangle 26"/>
              <p:cNvSpPr/>
              <p:nvPr/>
            </p:nvSpPr>
            <p:spPr>
              <a:xfrm>
                <a:off x="7334250" y="4552950"/>
                <a:ext cx="952500" cy="628650"/>
              </a:xfrm>
              <a:prstGeom prst="rect">
                <a:avLst/>
              </a:prstGeom>
              <a:solidFill>
                <a:srgbClr val="EAF4F6"/>
              </a:solidFill>
              <a:ln w="19050">
                <a:solidFill>
                  <a:srgbClr val="2E86AB"/>
                </a:solidFill>
              </a:ln>
            </p:spPr>
          </p:sp>
          <p:sp>
            <p:nvSpPr>
              <p:cNvPr id="27" name="Line 27"/>
              <p:cNvSpPr/>
              <p:nvPr/>
            </p:nvSpPr>
            <p:spPr>
              <a:xfrm>
                <a:off x="7334250" y="4810125"/>
                <a:ext cx="952500" cy="9525"/>
              </a:xfrm>
              <a:custGeom>
                <a:avLst/>
                <a:gdLst/>
                <a:ahLst/>
                <a:cxnLst/>
                <a:rect l="l" t="t" r="r" b="b"/>
                <a:pathLst>
                  <a:path w="952500" h="9525">
                    <a:moveTo>
                      <a:pt x="0" y="0"/>
                    </a:moveTo>
                    <a:lnTo>
                      <a:pt x="952500" y="0"/>
                    </a:lnTo>
                  </a:path>
                </a:pathLst>
              </a:custGeom>
              <a:noFill/>
              <a:ln w="23812">
                <a:solidFill>
                  <a:srgbClr val="12355B"/>
                </a:solidFill>
              </a:ln>
            </p:spPr>
          </p:sp>
          <p:sp>
            <p:nvSpPr>
              <p:cNvPr id="28" name="TextBox 28"/>
              <p:cNvSpPr txBox="1"/>
              <p:nvPr/>
            </p:nvSpPr>
            <p:spPr>
              <a:xfrm>
                <a:off x="7508695" y="5669756"/>
                <a:ext cx="60361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Elektrik</a:t>
                </a:r>
              </a:p>
            </p:txBody>
          </p:sp>
        </p:grpSp>
        <p:sp>
          <p:nvSpPr>
            <p:cNvPr id="30" name="TextBox 30"/>
            <p:cNvSpPr txBox="1"/>
            <p:nvPr/>
          </p:nvSpPr>
          <p:spPr>
            <a:xfrm>
              <a:off x="4471797" y="4600099"/>
              <a:ext cx="68933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medyan≈78</a:t>
              </a:r>
            </a:p>
          </p:txBody>
        </p:sp>
        <p:sp>
          <p:nvSpPr>
            <p:cNvPr id="31" name="TextBox 31"/>
            <p:cNvSpPr txBox="1"/>
            <p:nvPr/>
          </p:nvSpPr>
          <p:spPr>
            <a:xfrm>
              <a:off x="8662797" y="4742974"/>
              <a:ext cx="68933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medyan≈72</a:t>
              </a:r>
            </a:p>
          </p:txBody>
        </p:sp>
        <p:sp>
          <p:nvSpPr>
            <p:cNvPr id="32" name="TextBox 32"/>
            <p:cNvSpPr txBox="1"/>
            <p:nvPr/>
          </p:nvSpPr>
          <p:spPr>
            <a:xfrm>
              <a:off x="3268237" y="3952399"/>
              <a:ext cx="702526" cy="190690"/>
            </a:xfrm>
            <a:prstGeom prst="rect">
              <a:avLst/>
            </a:prstGeom>
            <a:noFill/>
            <a:ln>
              <a:noFill/>
            </a:ln>
          </p:spPr>
          <p:txBody>
            <a:bodyPr wrap="none" lIns="0" tIns="0" rIns="0" bIns="0" anchor="t" anchorCtr="0">
              <a:spAutoFit/>
            </a:bodyPr>
            <a:lstStyle/>
            <a:p>
              <a:pPr algn="ctr"/>
              <a:r>
                <a:rPr lang="tr-TR" sz="980" dirty="0">
                  <a:solidFill>
                    <a:srgbClr val="D64545"/>
                  </a:solidFill>
                  <a:latin typeface="+mn-lt"/>
                  <a:ea typeface="+mn-ea"/>
                  <a:cs typeface="+mn-cs"/>
                </a:rPr>
                <a:t>aykırı: 98</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26</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567812" cy="668845"/>
            <a:chOff x="609600" y="171450"/>
            <a:chExt cx="856781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8774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Kutu grafiği: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YÖNTEM</a:t>
              </a:r>
            </a:p>
          </p:txBody>
        </p:sp>
        <p:sp>
          <p:nvSpPr>
            <p:cNvPr id="13" name="TextBox 13"/>
            <p:cNvSpPr txBox="1"/>
            <p:nvPr/>
          </p:nvSpPr>
          <p:spPr>
            <a:xfrm>
              <a:off x="2851785" y="1221581"/>
              <a:ext cx="165413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EN UYGUN KULLANIM</a:t>
              </a:r>
            </a:p>
          </p:txBody>
        </p:sp>
        <p:sp>
          <p:nvSpPr>
            <p:cNvPr id="14" name="TextBox 14"/>
            <p:cNvSpPr txBox="1"/>
            <p:nvPr/>
          </p:nvSpPr>
          <p:spPr>
            <a:xfrm>
              <a:off x="5899785" y="1221581"/>
              <a:ext cx="985632"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GÜÇLÜ YÖNÜ</a:t>
              </a:r>
            </a:p>
          </p:txBody>
        </p:sp>
        <p:sp>
          <p:nvSpPr>
            <p:cNvPr id="15" name="TextBox 15"/>
            <p:cNvSpPr txBox="1"/>
            <p:nvPr/>
          </p:nvSpPr>
          <p:spPr>
            <a:xfrm>
              <a:off x="8566785" y="1221581"/>
              <a:ext cx="92102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SINIRLILIĞI</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107683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Kutu grafiği</a:t>
              </a:r>
            </a:p>
          </p:txBody>
        </p:sp>
        <p:sp>
          <p:nvSpPr>
            <p:cNvPr id="18" name="TextBox 18"/>
            <p:cNvSpPr txBox="1"/>
            <p:nvPr/>
          </p:nvSpPr>
          <p:spPr>
            <a:xfrm>
              <a:off x="2851785" y="1669256"/>
              <a:ext cx="162952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Grup karşılaştırması</a:t>
              </a:r>
            </a:p>
          </p:txBody>
        </p:sp>
        <p:sp>
          <p:nvSpPr>
            <p:cNvPr id="19" name="TextBox 19"/>
            <p:cNvSpPr txBox="1"/>
            <p:nvPr/>
          </p:nvSpPr>
          <p:spPr>
            <a:xfrm>
              <a:off x="5899785" y="1669256"/>
              <a:ext cx="226285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Medyan ve aykırıları gösterir</a:t>
              </a:r>
            </a:p>
          </p:txBody>
        </p:sp>
        <p:sp>
          <p:nvSpPr>
            <p:cNvPr id="20" name="TextBox 20"/>
            <p:cNvSpPr txBox="1"/>
            <p:nvPr/>
          </p:nvSpPr>
          <p:spPr>
            <a:xfrm>
              <a:off x="8566785" y="1669256"/>
              <a:ext cx="164464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Yoğunluk ayrıntısı az</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90508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Histogram</a:t>
              </a:r>
            </a:p>
          </p:txBody>
        </p:sp>
        <p:sp>
          <p:nvSpPr>
            <p:cNvPr id="23" name="TextBox 23"/>
            <p:cNvSpPr txBox="1"/>
            <p:nvPr/>
          </p:nvSpPr>
          <p:spPr>
            <a:xfrm>
              <a:off x="2851785" y="2193131"/>
              <a:ext cx="6422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 grup</a:t>
              </a:r>
            </a:p>
          </p:txBody>
        </p:sp>
        <p:sp>
          <p:nvSpPr>
            <p:cNvPr id="24" name="TextBox 24"/>
            <p:cNvSpPr txBox="1"/>
            <p:nvPr/>
          </p:nvSpPr>
          <p:spPr>
            <a:xfrm>
              <a:off x="5899785" y="2193131"/>
              <a:ext cx="113959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Frekans yapısı</a:t>
              </a:r>
            </a:p>
          </p:txBody>
        </p:sp>
        <p:sp>
          <p:nvSpPr>
            <p:cNvPr id="25" name="TextBox 25"/>
            <p:cNvSpPr txBox="1"/>
            <p:nvPr/>
          </p:nvSpPr>
          <p:spPr>
            <a:xfrm>
              <a:off x="8566785" y="2193131"/>
              <a:ext cx="16746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Gruplar karmaşıklaşır</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13960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Violin grafiği</a:t>
              </a:r>
            </a:p>
          </p:txBody>
        </p:sp>
        <p:sp>
          <p:nvSpPr>
            <p:cNvPr id="28" name="TextBox 28"/>
            <p:cNvSpPr txBox="1"/>
            <p:nvPr/>
          </p:nvSpPr>
          <p:spPr>
            <a:xfrm>
              <a:off x="2851785" y="2717006"/>
              <a:ext cx="113201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 örneklem</a:t>
              </a:r>
            </a:p>
          </p:txBody>
        </p:sp>
        <p:sp>
          <p:nvSpPr>
            <p:cNvPr id="29" name="TextBox 29"/>
            <p:cNvSpPr txBox="1"/>
            <p:nvPr/>
          </p:nvSpPr>
          <p:spPr>
            <a:xfrm>
              <a:off x="5899785" y="2717006"/>
              <a:ext cx="13956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Yoğunluğu gösterir</a:t>
              </a:r>
            </a:p>
          </p:txBody>
        </p:sp>
        <p:sp>
          <p:nvSpPr>
            <p:cNvPr id="30" name="TextBox 30"/>
            <p:cNvSpPr txBox="1"/>
            <p:nvPr/>
          </p:nvSpPr>
          <p:spPr>
            <a:xfrm>
              <a:off x="8566785" y="2717006"/>
              <a:ext cx="16222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Yorumlaması daha zor</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205416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Ortalama çubuk grafiği</a:t>
              </a:r>
            </a:p>
          </p:txBody>
        </p:sp>
        <p:sp>
          <p:nvSpPr>
            <p:cNvPr id="33" name="TextBox 33"/>
            <p:cNvSpPr txBox="1"/>
            <p:nvPr/>
          </p:nvSpPr>
          <p:spPr>
            <a:xfrm>
              <a:off x="2851785" y="3240881"/>
              <a:ext cx="83831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Özet sunum</a:t>
              </a:r>
            </a:p>
          </p:txBody>
        </p:sp>
        <p:sp>
          <p:nvSpPr>
            <p:cNvPr id="34" name="TextBox 34"/>
            <p:cNvSpPr txBox="1"/>
            <p:nvPr/>
          </p:nvSpPr>
          <p:spPr>
            <a:xfrm>
              <a:off x="5899785" y="3240881"/>
              <a:ext cx="6036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Basittir</a:t>
              </a:r>
            </a:p>
          </p:txBody>
        </p:sp>
        <p:sp>
          <p:nvSpPr>
            <p:cNvPr id="35" name="TextBox 35"/>
            <p:cNvSpPr txBox="1"/>
            <p:nvPr/>
          </p:nvSpPr>
          <p:spPr>
            <a:xfrm>
              <a:off x="8566785" y="3240881"/>
              <a:ext cx="117708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Yayılımı saklar</a:t>
              </a:r>
            </a:p>
          </p:txBody>
        </p:sp>
      </p:grpSp>
      <p:grpSp>
        <p:nvGrpSpPr>
          <p:cNvPr id="38" name="mistakes-label"/>
          <p:cNvGrpSpPr/>
          <p:nvPr/>
        </p:nvGrpSpPr>
        <p:grpSpPr>
          <a:xfrm>
            <a:off x="601599" y="3811429"/>
            <a:ext cx="1631012" cy="308039"/>
            <a:chOff x="601599" y="3811429"/>
            <a:chExt cx="1631012" cy="308039"/>
          </a:xfrm>
        </p:grpSpPr>
        <p:sp>
          <p:nvSpPr>
            <p:cNvPr id="37" name="TextBox 37"/>
            <p:cNvSpPr txBox="1"/>
            <p:nvPr/>
          </p:nvSpPr>
          <p:spPr>
            <a:xfrm>
              <a:off x="601599" y="38114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3" name="mistake-1"/>
          <p:cNvGrpSpPr/>
          <p:nvPr/>
        </p:nvGrpSpPr>
        <p:grpSpPr>
          <a:xfrm>
            <a:off x="609600" y="4152900"/>
            <a:ext cx="3505200" cy="1390650"/>
            <a:chOff x="609600" y="4152900"/>
            <a:chExt cx="3505200" cy="1390650"/>
          </a:xfrm>
        </p:grpSpPr>
        <p:sp>
          <p:nvSpPr>
            <p:cNvPr id="39" name="Rectangle 39"/>
            <p:cNvSpPr/>
            <p:nvPr/>
          </p:nvSpPr>
          <p:spPr>
            <a:xfrm>
              <a:off x="609600" y="4152900"/>
              <a:ext cx="3505200" cy="1390650"/>
            </a:xfrm>
            <a:prstGeom prst="roundRect">
              <a:avLst>
                <a:gd name="adj" fmla="val 6849"/>
              </a:avLst>
            </a:prstGeom>
            <a:solidFill>
              <a:srgbClr val="FFFFFF"/>
            </a:solidFill>
            <a:ln w="14288">
              <a:solidFill>
                <a:srgbClr val="B8CBD3"/>
              </a:solidFill>
            </a:ln>
          </p:spPr>
        </p:sp>
        <p:sp>
          <p:nvSpPr>
            <p:cNvPr id="40" name="Rectangle 40"/>
            <p:cNvSpPr/>
            <p:nvPr/>
          </p:nvSpPr>
          <p:spPr>
            <a:xfrm>
              <a:off x="609600" y="4152900"/>
              <a:ext cx="57150" cy="1390650"/>
            </a:xfrm>
            <a:prstGeom prst="rect">
              <a:avLst/>
            </a:prstGeom>
            <a:solidFill>
              <a:srgbClr val="00A6A6"/>
            </a:solidFill>
            <a:ln>
              <a:noFill/>
            </a:ln>
          </p:spPr>
        </p:sp>
        <p:sp>
          <p:nvSpPr>
            <p:cNvPr id="41" name="TextBox 41"/>
            <p:cNvSpPr txBox="1"/>
            <p:nvPr/>
          </p:nvSpPr>
          <p:spPr>
            <a:xfrm>
              <a:off x="831723" y="4301014"/>
              <a:ext cx="275977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Aykırı gözlemi doğrudan silmek</a:t>
              </a:r>
            </a:p>
          </p:txBody>
        </p:sp>
        <p:sp>
          <p:nvSpPr>
            <p:cNvPr id="42" name="TextBox 42"/>
            <p:cNvSpPr txBox="1"/>
            <p:nvPr/>
          </p:nvSpPr>
          <p:spPr>
            <a:xfrm>
              <a:off x="832866" y="4611052"/>
              <a:ext cx="2617661"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Önce kayıt hatası, ölçüm hatası</a:t>
              </a:r>
              <a:br/>
              <a:r>
                <a:rPr lang="tr-TR" sz="1050" dirty="0">
                  <a:solidFill>
                    <a:srgbClr val="172B3A"/>
                  </a:solidFill>
                  <a:latin typeface="+mn-lt"/>
                  <a:ea typeface="+mn-ea"/>
                  <a:cs typeface="+mn-cs"/>
                </a:rPr>
                <a:t>ve gerçek iş durumu ayrıştırılmalıdır.</a:t>
              </a:r>
            </a:p>
          </p:txBody>
        </p:sp>
      </p:grpSp>
      <p:grpSp>
        <p:nvGrpSpPr>
          <p:cNvPr id="48" name="mistake-2"/>
          <p:cNvGrpSpPr/>
          <p:nvPr/>
        </p:nvGrpSpPr>
        <p:grpSpPr>
          <a:xfrm>
            <a:off x="4343400" y="4152900"/>
            <a:ext cx="3505200" cy="1390650"/>
            <a:chOff x="4343400" y="4152900"/>
            <a:chExt cx="3505200" cy="1390650"/>
          </a:xfrm>
        </p:grpSpPr>
        <p:sp>
          <p:nvSpPr>
            <p:cNvPr id="44" name="Rectangle 44"/>
            <p:cNvSpPr/>
            <p:nvPr/>
          </p:nvSpPr>
          <p:spPr>
            <a:xfrm>
              <a:off x="4343400" y="4152900"/>
              <a:ext cx="3505200" cy="1390650"/>
            </a:xfrm>
            <a:prstGeom prst="roundRect">
              <a:avLst>
                <a:gd name="adj" fmla="val 6849"/>
              </a:avLst>
            </a:prstGeom>
            <a:solidFill>
              <a:srgbClr val="FFFFFF"/>
            </a:solidFill>
            <a:ln w="14288">
              <a:solidFill>
                <a:srgbClr val="B8CBD3"/>
              </a:solidFill>
            </a:ln>
          </p:spPr>
        </p:sp>
        <p:sp>
          <p:nvSpPr>
            <p:cNvPr id="45" name="Rectangle 45"/>
            <p:cNvSpPr/>
            <p:nvPr/>
          </p:nvSpPr>
          <p:spPr>
            <a:xfrm>
              <a:off x="4343400" y="4152900"/>
              <a:ext cx="57150" cy="1390650"/>
            </a:xfrm>
            <a:prstGeom prst="rect">
              <a:avLst/>
            </a:prstGeom>
            <a:solidFill>
              <a:srgbClr val="00A6A6"/>
            </a:solidFill>
            <a:ln>
              <a:noFill/>
            </a:ln>
          </p:spPr>
        </p:sp>
        <p:sp>
          <p:nvSpPr>
            <p:cNvPr id="46" name="TextBox 46"/>
            <p:cNvSpPr txBox="1"/>
            <p:nvPr/>
          </p:nvSpPr>
          <p:spPr>
            <a:xfrm>
              <a:off x="4565523" y="4243864"/>
              <a:ext cx="1847850"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Kutunun tüm veriyi</a:t>
              </a:r>
              <a:br/>
              <a:r>
                <a:rPr lang="tr-TR" sz="1280" b="1" dirty="0">
                  <a:solidFill>
                    <a:srgbClr val="12355B"/>
                  </a:solidFill>
                  <a:latin typeface="+mn-lt"/>
                  <a:ea typeface="+mn-ea"/>
                  <a:cs typeface="+mn-cs"/>
                </a:rPr>
                <a:t>temsil ettiğini sanmak</a:t>
              </a:r>
            </a:p>
          </p:txBody>
        </p:sp>
        <p:sp>
          <p:nvSpPr>
            <p:cNvPr id="47" name="TextBox 47"/>
            <p:cNvSpPr txBox="1"/>
            <p:nvPr/>
          </p:nvSpPr>
          <p:spPr>
            <a:xfrm>
              <a:off x="4566666" y="4687252"/>
              <a:ext cx="1750886"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Kutu çoğunlukla orta yüzde</a:t>
              </a:r>
              <a:br/>
              <a:r>
                <a:rPr lang="tr-TR" sz="1050" dirty="0">
                  <a:solidFill>
                    <a:srgbClr val="172B3A"/>
                  </a:solidFill>
                  <a:latin typeface="+mn-lt"/>
                  <a:ea typeface="+mn-ea"/>
                  <a:cs typeface="+mn-cs"/>
                </a:rPr>
                <a:t>ellilik bölümü gösterir.</a:t>
              </a:r>
            </a:p>
          </p:txBody>
        </p:sp>
      </p:grpSp>
      <p:grpSp>
        <p:nvGrpSpPr>
          <p:cNvPr id="53" name="mistake-3"/>
          <p:cNvGrpSpPr/>
          <p:nvPr/>
        </p:nvGrpSpPr>
        <p:grpSpPr>
          <a:xfrm>
            <a:off x="8077200" y="4152900"/>
            <a:ext cx="3505200" cy="1390650"/>
            <a:chOff x="8077200" y="4152900"/>
            <a:chExt cx="3505200" cy="1390650"/>
          </a:xfrm>
        </p:grpSpPr>
        <p:sp>
          <p:nvSpPr>
            <p:cNvPr id="49" name="Rectangle 49"/>
            <p:cNvSpPr/>
            <p:nvPr/>
          </p:nvSpPr>
          <p:spPr>
            <a:xfrm>
              <a:off x="8077200" y="4152900"/>
              <a:ext cx="3505200" cy="1390650"/>
            </a:xfrm>
            <a:prstGeom prst="roundRect">
              <a:avLst>
                <a:gd name="adj" fmla="val 6849"/>
              </a:avLst>
            </a:prstGeom>
            <a:solidFill>
              <a:srgbClr val="FFFFFF"/>
            </a:solidFill>
            <a:ln w="14288">
              <a:solidFill>
                <a:srgbClr val="B8CBD3"/>
              </a:solidFill>
            </a:ln>
          </p:spPr>
        </p:sp>
        <p:sp>
          <p:nvSpPr>
            <p:cNvPr id="50" name="Rectangle 50"/>
            <p:cNvSpPr/>
            <p:nvPr/>
          </p:nvSpPr>
          <p:spPr>
            <a:xfrm>
              <a:off x="8077200" y="4152900"/>
              <a:ext cx="57150" cy="1390650"/>
            </a:xfrm>
            <a:prstGeom prst="rect">
              <a:avLst/>
            </a:prstGeom>
            <a:solidFill>
              <a:srgbClr val="00A6A6"/>
            </a:solidFill>
            <a:ln>
              <a:noFill/>
            </a:ln>
          </p:spPr>
        </p:sp>
        <p:sp>
          <p:nvSpPr>
            <p:cNvPr id="51" name="TextBox 51"/>
            <p:cNvSpPr txBox="1"/>
            <p:nvPr/>
          </p:nvSpPr>
          <p:spPr>
            <a:xfrm>
              <a:off x="8299323" y="4243864"/>
              <a:ext cx="1941728" cy="458914"/>
            </a:xfrm>
            <a:prstGeom prst="rect">
              <a:avLst/>
            </a:prstGeom>
            <a:noFill/>
            <a:ln>
              <a:noFill/>
            </a:ln>
          </p:spPr>
          <p:txBody>
            <a:bodyPr wrap="none" lIns="0" tIns="0" rIns="0" bIns="0" anchor="t" anchorCtr="0">
              <a:spAutoFit/>
            </a:bodyPr>
            <a:lstStyle/>
            <a:p>
              <a:pPr algn="l">
                <a:lnSpc>
                  <a:spcPts val="1650"/>
                </a:lnSpc>
              </a:pPr>
              <a:r>
                <a:rPr lang="tr-TR" sz="1280" b="1" dirty="0">
                  <a:solidFill>
                    <a:srgbClr val="12355B"/>
                  </a:solidFill>
                  <a:latin typeface="+mn-lt"/>
                  <a:ea typeface="+mn-ea"/>
                  <a:cs typeface="+mn-cs"/>
                </a:rPr>
                <a:t>Küçük örneklemde güçlü</a:t>
              </a:r>
              <a:br/>
              <a:r>
                <a:rPr lang="tr-TR" sz="1280" b="1" dirty="0">
                  <a:solidFill>
                    <a:srgbClr val="12355B"/>
                  </a:solidFill>
                  <a:latin typeface="+mn-lt"/>
                  <a:ea typeface="+mn-ea"/>
                  <a:cs typeface="+mn-cs"/>
                </a:rPr>
                <a:t>sonuç çıkarmak</a:t>
              </a:r>
            </a:p>
          </p:txBody>
        </p:sp>
        <p:sp>
          <p:nvSpPr>
            <p:cNvPr id="52" name="TextBox 52"/>
            <p:cNvSpPr txBox="1"/>
            <p:nvPr/>
          </p:nvSpPr>
          <p:spPr>
            <a:xfrm>
              <a:off x="8300466" y="4687252"/>
              <a:ext cx="1944243"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Az sayıda gözlemde çeyrekler</a:t>
              </a:r>
              <a:br/>
              <a:r>
                <a:rPr lang="tr-TR" sz="1050" dirty="0">
                  <a:solidFill>
                    <a:srgbClr val="172B3A"/>
                  </a:solidFill>
                  <a:latin typeface="+mn-lt"/>
                  <a:ea typeface="+mn-ea"/>
                  <a:cs typeface="+mn-cs"/>
                </a:rPr>
                <a:t>güvenilir bir özet olmayabilir.</a:t>
              </a:r>
            </a:p>
          </p:txBody>
        </p:sp>
      </p:grpSp>
      <p:grpSp>
        <p:nvGrpSpPr>
          <p:cNvPr id="57" name="exam-band"/>
          <p:cNvGrpSpPr/>
          <p:nvPr/>
        </p:nvGrpSpPr>
        <p:grpSpPr>
          <a:xfrm>
            <a:off x="609600" y="5676900"/>
            <a:ext cx="10972800" cy="609600"/>
            <a:chOff x="609600" y="5676900"/>
            <a:chExt cx="10972800" cy="609600"/>
          </a:xfrm>
        </p:grpSpPr>
        <p:sp>
          <p:nvSpPr>
            <p:cNvPr id="54" name="Rectangle 54"/>
            <p:cNvSpPr/>
            <p:nvPr/>
          </p:nvSpPr>
          <p:spPr>
            <a:xfrm>
              <a:off x="609600" y="5676900"/>
              <a:ext cx="10972800" cy="609600"/>
            </a:xfrm>
            <a:prstGeom prst="roundRect">
              <a:avLst>
                <a:gd name="adj" fmla="val 12500"/>
              </a:avLst>
            </a:prstGeom>
            <a:solidFill>
              <a:srgbClr val="EAF4F6"/>
            </a:solidFill>
            <a:ln>
              <a:noFill/>
            </a:ln>
          </p:spPr>
        </p:sp>
        <p:sp>
          <p:nvSpPr>
            <p:cNvPr id="55" name="TextBox 55"/>
            <p:cNvSpPr txBox="1"/>
            <p:nvPr/>
          </p:nvSpPr>
          <p:spPr>
            <a:xfrm>
              <a:off x="908304" y="5795010"/>
              <a:ext cx="697552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Sınav Notu: Kutu grafiğindeki nokta otomatik olarak "hatalı veri" anlamına gelmez;</a:t>
              </a:r>
            </a:p>
          </p:txBody>
        </p:sp>
        <p:sp>
          <p:nvSpPr>
            <p:cNvPr id="56" name="TextBox 56"/>
            <p:cNvSpPr txBox="1"/>
            <p:nvPr/>
          </p:nvSpPr>
          <p:spPr>
            <a:xfrm>
              <a:off x="908304" y="6004560"/>
              <a:ext cx="43738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istatistiksel olarak olağan dışı bir gözlemdir.</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26</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18164" cy="557403"/>
            <a:chOff x="595122" y="282892"/>
            <a:chExt cx="7818164" cy="557403"/>
          </a:xfrm>
        </p:grpSpPr>
        <p:sp>
          <p:nvSpPr>
            <p:cNvPr id="4" name="TextBox 4"/>
            <p:cNvSpPr txBox="1"/>
            <p:nvPr/>
          </p:nvSpPr>
          <p:spPr>
            <a:xfrm>
              <a:off x="595122" y="282892"/>
              <a:ext cx="78181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Isı haritası: tanım, neden ve uygulama</a:t>
              </a:r>
            </a:p>
          </p:txBody>
        </p:sp>
      </p:grpSp>
      <p:grpSp>
        <p:nvGrpSpPr>
          <p:cNvPr id="9" name="definition-card"/>
          <p:cNvGrpSpPr/>
          <p:nvPr/>
        </p:nvGrpSpPr>
        <p:grpSpPr>
          <a:xfrm>
            <a:off x="609600" y="1104900"/>
            <a:ext cx="5295900" cy="2381250"/>
            <a:chOff x="609600" y="1104900"/>
            <a:chExt cx="5295900" cy="2381250"/>
          </a:xfrm>
        </p:grpSpPr>
        <p:sp>
          <p:nvSpPr>
            <p:cNvPr id="6" name="Rectangle 6"/>
            <p:cNvSpPr/>
            <p:nvPr/>
          </p:nvSpPr>
          <p:spPr>
            <a:xfrm>
              <a:off x="609600" y="1104900"/>
              <a:ext cx="5295900" cy="2381250"/>
            </a:xfrm>
            <a:prstGeom prst="roundRect">
              <a:avLst>
                <a:gd name="adj" fmla="val 4000"/>
              </a:avLst>
            </a:prstGeom>
            <a:solidFill>
              <a:srgbClr val="FFFFFF"/>
            </a:solidFill>
            <a:ln w="14288">
              <a:solidFill>
                <a:srgbClr val="B8CBD3"/>
              </a:solidFill>
            </a:ln>
          </p:spPr>
        </p:sp>
        <p:sp>
          <p:nvSpPr>
            <p:cNvPr id="7" name="TextBox 7"/>
            <p:cNvSpPr txBox="1"/>
            <p:nvPr/>
          </p:nvSpPr>
          <p:spPr>
            <a:xfrm>
              <a:off x="829818" y="1231582"/>
              <a:ext cx="271903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Tanım ve neden vardır?</a:t>
              </a:r>
            </a:p>
          </p:txBody>
        </p:sp>
        <p:sp>
          <p:nvSpPr>
            <p:cNvPr id="8" name="TextBox 8"/>
            <p:cNvSpPr txBox="1"/>
            <p:nvPr/>
          </p:nvSpPr>
          <p:spPr>
            <a:xfrm>
              <a:off x="832104" y="1584960"/>
              <a:ext cx="322783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Sayısal değerleri renk yoğunluğuyla</a:t>
              </a:r>
              <a:br/>
              <a:r>
                <a:rPr lang="tr-TR" sz="1200" dirty="0">
                  <a:solidFill>
                    <a:srgbClr val="172B3A"/>
                  </a:solidFill>
                  <a:latin typeface="+mn-lt"/>
                  <a:ea typeface="+mn-ea"/>
                  <a:cs typeface="+mn-cs"/>
                </a:rPr>
                <a:t>gösteren görselleştirmedir; her hücre iki</a:t>
              </a:r>
              <a:br/>
              <a:r>
                <a:rPr lang="tr-TR" sz="1200" dirty="0">
                  <a:solidFill>
                    <a:srgbClr val="172B3A"/>
                  </a:solidFill>
                  <a:latin typeface="+mn-lt"/>
                  <a:ea typeface="+mn-ea"/>
                  <a:cs typeface="+mn-cs"/>
                </a:rPr>
                <a:t>değişken arasındaki korelasyonu temsil</a:t>
              </a:r>
              <a:br/>
              <a:r>
                <a:rPr lang="tr-TR" sz="1200" dirty="0">
                  <a:solidFill>
                    <a:srgbClr val="172B3A"/>
                  </a:solidFill>
                  <a:latin typeface="+mn-lt"/>
                  <a:ea typeface="+mn-ea"/>
                  <a:cs typeface="+mn-cs"/>
                </a:rPr>
                <a:t>eder. Sekiz-on değişkenin ilişkisini tek</a:t>
              </a:r>
              <a:br/>
              <a:r>
                <a:rPr lang="tr-TR" sz="1200" dirty="0">
                  <a:solidFill>
                    <a:srgbClr val="172B3A"/>
                  </a:solidFill>
                  <a:latin typeface="+mn-lt"/>
                  <a:ea typeface="+mn-ea"/>
                  <a:cs typeface="+mn-cs"/>
                </a:rPr>
                <a:t>tek okumak zordur; ısı haritası güçlü</a:t>
              </a:r>
              <a:br/>
              <a:r>
                <a:rPr lang="tr-TR" sz="1200" dirty="0">
                  <a:solidFill>
                    <a:srgbClr val="172B3A"/>
                  </a:solidFill>
                  <a:latin typeface="+mn-lt"/>
                  <a:ea typeface="+mn-ea"/>
                  <a:cs typeface="+mn-cs"/>
                </a:rPr>
                <a:t>pozitif ve negatif ilişkileri belirginleştirir.</a:t>
              </a:r>
            </a:p>
          </p:txBody>
        </p:sp>
      </p:grpSp>
      <p:grpSp>
        <p:nvGrpSpPr>
          <p:cNvPr id="54" name="heatmap-card"/>
          <p:cNvGrpSpPr/>
          <p:nvPr/>
        </p:nvGrpSpPr>
        <p:grpSpPr>
          <a:xfrm>
            <a:off x="6248400" y="1104900"/>
            <a:ext cx="5334000" cy="2381250"/>
            <a:chOff x="6248400" y="1104900"/>
            <a:chExt cx="5334000" cy="2381250"/>
          </a:xfrm>
        </p:grpSpPr>
        <p:sp>
          <p:nvSpPr>
            <p:cNvPr id="10" name="Rectangle 10"/>
            <p:cNvSpPr/>
            <p:nvPr/>
          </p:nvSpPr>
          <p:spPr>
            <a:xfrm>
              <a:off x="6248400" y="1104900"/>
              <a:ext cx="5334000" cy="2381250"/>
            </a:xfrm>
            <a:prstGeom prst="roundRect">
              <a:avLst>
                <a:gd name="adj" fmla="val 4000"/>
              </a:avLst>
            </a:prstGeom>
            <a:solidFill>
              <a:srgbClr val="FFFFFF"/>
            </a:solidFill>
            <a:ln w="14288">
              <a:solidFill>
                <a:srgbClr val="B8CBD3"/>
              </a:solidFill>
            </a:ln>
          </p:spPr>
        </p:sp>
        <p:sp>
          <p:nvSpPr>
            <p:cNvPr id="11" name="TextBox 11"/>
            <p:cNvSpPr txBox="1"/>
            <p:nvPr/>
          </p:nvSpPr>
          <p:spPr>
            <a:xfrm>
              <a:off x="6470904" y="1280160"/>
              <a:ext cx="36981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Öğrenci değişkenleri korelasyon ısı haritası</a:t>
              </a:r>
            </a:p>
          </p:txBody>
        </p:sp>
        <p:grpSp>
          <p:nvGrpSpPr>
            <p:cNvPr id="44" name="Group 44"/>
            <p:cNvGrpSpPr/>
            <p:nvPr/>
          </p:nvGrpSpPr>
          <p:grpSpPr>
            <a:xfrm>
              <a:off x="8096250" y="1581150"/>
              <a:ext cx="3352800" cy="1600200"/>
              <a:chOff x="8096250" y="1581150"/>
              <a:chExt cx="3352800" cy="1600200"/>
            </a:xfrm>
          </p:grpSpPr>
          <p:sp>
            <p:nvSpPr>
              <p:cNvPr id="12" name="Rectangle 12"/>
              <p:cNvSpPr/>
              <p:nvPr/>
            </p:nvSpPr>
            <p:spPr>
              <a:xfrm>
                <a:off x="8096250" y="1581150"/>
                <a:ext cx="838200" cy="400050"/>
              </a:xfrm>
              <a:prstGeom prst="rect">
                <a:avLst/>
              </a:prstGeom>
              <a:solidFill>
                <a:srgbClr val="C0392B"/>
              </a:solidFill>
              <a:ln>
                <a:noFill/>
              </a:ln>
            </p:spPr>
          </p:sp>
          <p:sp>
            <p:nvSpPr>
              <p:cNvPr id="13" name="TextBox 13"/>
              <p:cNvSpPr txBox="1"/>
              <p:nvPr/>
            </p:nvSpPr>
            <p:spPr>
              <a:xfrm>
                <a:off x="8377314" y="17316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sp>
            <p:nvSpPr>
              <p:cNvPr id="14" name="Rectangle 14"/>
              <p:cNvSpPr/>
              <p:nvPr/>
            </p:nvSpPr>
            <p:spPr>
              <a:xfrm>
                <a:off x="8934450" y="1581150"/>
                <a:ext cx="838200" cy="400050"/>
              </a:xfrm>
              <a:prstGeom prst="rect">
                <a:avLst/>
              </a:prstGeom>
              <a:solidFill>
                <a:srgbClr val="1F4E8C"/>
              </a:solidFill>
              <a:ln>
                <a:noFill/>
              </a:ln>
            </p:spPr>
          </p:sp>
          <p:sp>
            <p:nvSpPr>
              <p:cNvPr id="15" name="TextBox 15"/>
              <p:cNvSpPr txBox="1"/>
              <p:nvPr/>
            </p:nvSpPr>
            <p:spPr>
              <a:xfrm>
                <a:off x="9182195" y="173164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-0.98</a:t>
                </a:r>
              </a:p>
            </p:txBody>
          </p:sp>
          <p:sp>
            <p:nvSpPr>
              <p:cNvPr id="16" name="Rectangle 16"/>
              <p:cNvSpPr/>
              <p:nvPr/>
            </p:nvSpPr>
            <p:spPr>
              <a:xfrm>
                <a:off x="9772650" y="1581150"/>
                <a:ext cx="838200" cy="400050"/>
              </a:xfrm>
              <a:prstGeom prst="rect">
                <a:avLst/>
              </a:prstGeom>
              <a:solidFill>
                <a:srgbClr val="C0392B"/>
              </a:solidFill>
              <a:ln>
                <a:noFill/>
              </a:ln>
            </p:spPr>
          </p:sp>
          <p:sp>
            <p:nvSpPr>
              <p:cNvPr id="17" name="TextBox 17"/>
              <p:cNvSpPr txBox="1"/>
              <p:nvPr/>
            </p:nvSpPr>
            <p:spPr>
              <a:xfrm>
                <a:off x="10053714" y="17316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sp>
            <p:nvSpPr>
              <p:cNvPr id="18" name="Rectangle 18"/>
              <p:cNvSpPr/>
              <p:nvPr/>
            </p:nvSpPr>
            <p:spPr>
              <a:xfrm>
                <a:off x="10610850" y="1581150"/>
                <a:ext cx="838200" cy="400050"/>
              </a:xfrm>
              <a:prstGeom prst="rect">
                <a:avLst/>
              </a:prstGeom>
              <a:solidFill>
                <a:srgbClr val="D9534F"/>
              </a:solidFill>
              <a:ln>
                <a:noFill/>
              </a:ln>
            </p:spPr>
          </p:sp>
          <p:sp>
            <p:nvSpPr>
              <p:cNvPr id="19" name="TextBox 19"/>
              <p:cNvSpPr txBox="1"/>
              <p:nvPr/>
            </p:nvSpPr>
            <p:spPr>
              <a:xfrm>
                <a:off x="10891914" y="17316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0.99</a:t>
                </a:r>
              </a:p>
            </p:txBody>
          </p:sp>
          <p:sp>
            <p:nvSpPr>
              <p:cNvPr id="20" name="Rectangle 20"/>
              <p:cNvSpPr/>
              <p:nvPr/>
            </p:nvSpPr>
            <p:spPr>
              <a:xfrm>
                <a:off x="8096250" y="1981200"/>
                <a:ext cx="838200" cy="400050"/>
              </a:xfrm>
              <a:prstGeom prst="rect">
                <a:avLst/>
              </a:prstGeom>
              <a:solidFill>
                <a:srgbClr val="1F4E8C"/>
              </a:solidFill>
              <a:ln>
                <a:noFill/>
              </a:ln>
            </p:spPr>
          </p:sp>
          <p:sp>
            <p:nvSpPr>
              <p:cNvPr id="21" name="TextBox 21"/>
              <p:cNvSpPr txBox="1"/>
              <p:nvPr/>
            </p:nvSpPr>
            <p:spPr>
              <a:xfrm>
                <a:off x="8343995" y="213169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-0.98</a:t>
                </a:r>
              </a:p>
            </p:txBody>
          </p:sp>
          <p:sp>
            <p:nvSpPr>
              <p:cNvPr id="22" name="Rectangle 22"/>
              <p:cNvSpPr/>
              <p:nvPr/>
            </p:nvSpPr>
            <p:spPr>
              <a:xfrm>
                <a:off x="8934450" y="1981200"/>
                <a:ext cx="838200" cy="400050"/>
              </a:xfrm>
              <a:prstGeom prst="rect">
                <a:avLst/>
              </a:prstGeom>
              <a:solidFill>
                <a:srgbClr val="C0392B"/>
              </a:solidFill>
              <a:ln>
                <a:noFill/>
              </a:ln>
            </p:spPr>
          </p:sp>
          <p:sp>
            <p:nvSpPr>
              <p:cNvPr id="23" name="TextBox 23"/>
              <p:cNvSpPr txBox="1"/>
              <p:nvPr/>
            </p:nvSpPr>
            <p:spPr>
              <a:xfrm>
                <a:off x="9215514" y="213169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sp>
            <p:nvSpPr>
              <p:cNvPr id="24" name="Rectangle 24"/>
              <p:cNvSpPr/>
              <p:nvPr/>
            </p:nvSpPr>
            <p:spPr>
              <a:xfrm>
                <a:off x="9772650" y="1981200"/>
                <a:ext cx="838200" cy="400050"/>
              </a:xfrm>
              <a:prstGeom prst="rect">
                <a:avLst/>
              </a:prstGeom>
              <a:solidFill>
                <a:srgbClr val="1F4E8C"/>
              </a:solidFill>
              <a:ln>
                <a:noFill/>
              </a:ln>
            </p:spPr>
          </p:sp>
          <p:sp>
            <p:nvSpPr>
              <p:cNvPr id="25" name="TextBox 25"/>
              <p:cNvSpPr txBox="1"/>
              <p:nvPr/>
            </p:nvSpPr>
            <p:spPr>
              <a:xfrm>
                <a:off x="10020395" y="213169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-0.99</a:t>
                </a:r>
              </a:p>
            </p:txBody>
          </p:sp>
          <p:sp>
            <p:nvSpPr>
              <p:cNvPr id="26" name="Rectangle 26"/>
              <p:cNvSpPr/>
              <p:nvPr/>
            </p:nvSpPr>
            <p:spPr>
              <a:xfrm>
                <a:off x="10610850" y="1981200"/>
                <a:ext cx="838200" cy="400050"/>
              </a:xfrm>
              <a:prstGeom prst="rect">
                <a:avLst/>
              </a:prstGeom>
              <a:solidFill>
                <a:srgbClr val="2E6DA4"/>
              </a:solidFill>
              <a:ln>
                <a:noFill/>
              </a:ln>
            </p:spPr>
          </p:sp>
          <p:sp>
            <p:nvSpPr>
              <p:cNvPr id="27" name="TextBox 27"/>
              <p:cNvSpPr txBox="1"/>
              <p:nvPr/>
            </p:nvSpPr>
            <p:spPr>
              <a:xfrm>
                <a:off x="10858595" y="213169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-0.97</a:t>
                </a:r>
              </a:p>
            </p:txBody>
          </p:sp>
          <p:sp>
            <p:nvSpPr>
              <p:cNvPr id="28" name="Rectangle 28"/>
              <p:cNvSpPr/>
              <p:nvPr/>
            </p:nvSpPr>
            <p:spPr>
              <a:xfrm>
                <a:off x="8096250" y="2381250"/>
                <a:ext cx="838200" cy="400050"/>
              </a:xfrm>
              <a:prstGeom prst="rect">
                <a:avLst/>
              </a:prstGeom>
              <a:solidFill>
                <a:srgbClr val="C0392B"/>
              </a:solidFill>
              <a:ln>
                <a:noFill/>
              </a:ln>
            </p:spPr>
          </p:sp>
          <p:sp>
            <p:nvSpPr>
              <p:cNvPr id="29" name="TextBox 29"/>
              <p:cNvSpPr txBox="1"/>
              <p:nvPr/>
            </p:nvSpPr>
            <p:spPr>
              <a:xfrm>
                <a:off x="8377314" y="25317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sp>
            <p:nvSpPr>
              <p:cNvPr id="30" name="Rectangle 30"/>
              <p:cNvSpPr/>
              <p:nvPr/>
            </p:nvSpPr>
            <p:spPr>
              <a:xfrm>
                <a:off x="8934450" y="2381250"/>
                <a:ext cx="838200" cy="400050"/>
              </a:xfrm>
              <a:prstGeom prst="rect">
                <a:avLst/>
              </a:prstGeom>
              <a:solidFill>
                <a:srgbClr val="1F4E8C"/>
              </a:solidFill>
              <a:ln>
                <a:noFill/>
              </a:ln>
            </p:spPr>
          </p:sp>
          <p:sp>
            <p:nvSpPr>
              <p:cNvPr id="31" name="TextBox 31"/>
              <p:cNvSpPr txBox="1"/>
              <p:nvPr/>
            </p:nvSpPr>
            <p:spPr>
              <a:xfrm>
                <a:off x="9182195" y="253174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-0.99</a:t>
                </a:r>
              </a:p>
            </p:txBody>
          </p:sp>
          <p:sp>
            <p:nvSpPr>
              <p:cNvPr id="32" name="Rectangle 32"/>
              <p:cNvSpPr/>
              <p:nvPr/>
            </p:nvSpPr>
            <p:spPr>
              <a:xfrm>
                <a:off x="9772650" y="2381250"/>
                <a:ext cx="838200" cy="400050"/>
              </a:xfrm>
              <a:prstGeom prst="rect">
                <a:avLst/>
              </a:prstGeom>
              <a:solidFill>
                <a:srgbClr val="C0392B"/>
              </a:solidFill>
              <a:ln>
                <a:noFill/>
              </a:ln>
            </p:spPr>
          </p:sp>
          <p:sp>
            <p:nvSpPr>
              <p:cNvPr id="33" name="TextBox 33"/>
              <p:cNvSpPr txBox="1"/>
              <p:nvPr/>
            </p:nvSpPr>
            <p:spPr>
              <a:xfrm>
                <a:off x="10053714" y="25317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sp>
            <p:nvSpPr>
              <p:cNvPr id="34" name="Rectangle 34"/>
              <p:cNvSpPr/>
              <p:nvPr/>
            </p:nvSpPr>
            <p:spPr>
              <a:xfrm>
                <a:off x="10610850" y="2381250"/>
                <a:ext cx="838200" cy="400050"/>
              </a:xfrm>
              <a:prstGeom prst="rect">
                <a:avLst/>
              </a:prstGeom>
              <a:solidFill>
                <a:srgbClr val="D9534F"/>
              </a:solidFill>
              <a:ln>
                <a:noFill/>
              </a:ln>
            </p:spPr>
          </p:sp>
          <p:sp>
            <p:nvSpPr>
              <p:cNvPr id="35" name="TextBox 35"/>
              <p:cNvSpPr txBox="1"/>
              <p:nvPr/>
            </p:nvSpPr>
            <p:spPr>
              <a:xfrm>
                <a:off x="10891914" y="253174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0.98</a:t>
                </a:r>
              </a:p>
            </p:txBody>
          </p:sp>
          <p:sp>
            <p:nvSpPr>
              <p:cNvPr id="36" name="Rectangle 36"/>
              <p:cNvSpPr/>
              <p:nvPr/>
            </p:nvSpPr>
            <p:spPr>
              <a:xfrm>
                <a:off x="8096250" y="2781300"/>
                <a:ext cx="838200" cy="400050"/>
              </a:xfrm>
              <a:prstGeom prst="rect">
                <a:avLst/>
              </a:prstGeom>
              <a:solidFill>
                <a:srgbClr val="D9534F"/>
              </a:solidFill>
              <a:ln>
                <a:noFill/>
              </a:ln>
            </p:spPr>
          </p:sp>
          <p:sp>
            <p:nvSpPr>
              <p:cNvPr id="37" name="TextBox 37"/>
              <p:cNvSpPr txBox="1"/>
              <p:nvPr/>
            </p:nvSpPr>
            <p:spPr>
              <a:xfrm>
                <a:off x="8377314" y="293179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0.99</a:t>
                </a:r>
              </a:p>
            </p:txBody>
          </p:sp>
          <p:sp>
            <p:nvSpPr>
              <p:cNvPr id="38" name="Rectangle 38"/>
              <p:cNvSpPr/>
              <p:nvPr/>
            </p:nvSpPr>
            <p:spPr>
              <a:xfrm>
                <a:off x="8934450" y="2781300"/>
                <a:ext cx="838200" cy="400050"/>
              </a:xfrm>
              <a:prstGeom prst="rect">
                <a:avLst/>
              </a:prstGeom>
              <a:solidFill>
                <a:srgbClr val="2E6DA4"/>
              </a:solidFill>
              <a:ln>
                <a:noFill/>
              </a:ln>
            </p:spPr>
          </p:sp>
          <p:sp>
            <p:nvSpPr>
              <p:cNvPr id="39" name="TextBox 39"/>
              <p:cNvSpPr txBox="1"/>
              <p:nvPr/>
            </p:nvSpPr>
            <p:spPr>
              <a:xfrm>
                <a:off x="9182195" y="2931795"/>
                <a:ext cx="342710"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-0.97</a:t>
                </a:r>
              </a:p>
            </p:txBody>
          </p:sp>
          <p:sp>
            <p:nvSpPr>
              <p:cNvPr id="40" name="Rectangle 40"/>
              <p:cNvSpPr/>
              <p:nvPr/>
            </p:nvSpPr>
            <p:spPr>
              <a:xfrm>
                <a:off x="9772650" y="2781300"/>
                <a:ext cx="838200" cy="400050"/>
              </a:xfrm>
              <a:prstGeom prst="rect">
                <a:avLst/>
              </a:prstGeom>
              <a:solidFill>
                <a:srgbClr val="D9534F"/>
              </a:solidFill>
              <a:ln>
                <a:noFill/>
              </a:ln>
            </p:spPr>
          </p:sp>
          <p:sp>
            <p:nvSpPr>
              <p:cNvPr id="41" name="TextBox 41"/>
              <p:cNvSpPr txBox="1"/>
              <p:nvPr/>
            </p:nvSpPr>
            <p:spPr>
              <a:xfrm>
                <a:off x="10053714" y="293179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0.98</a:t>
                </a:r>
              </a:p>
            </p:txBody>
          </p:sp>
          <p:sp>
            <p:nvSpPr>
              <p:cNvPr id="42" name="Rectangle 42"/>
              <p:cNvSpPr/>
              <p:nvPr/>
            </p:nvSpPr>
            <p:spPr>
              <a:xfrm>
                <a:off x="10610850" y="2781300"/>
                <a:ext cx="838200" cy="400050"/>
              </a:xfrm>
              <a:prstGeom prst="rect">
                <a:avLst/>
              </a:prstGeom>
              <a:solidFill>
                <a:srgbClr val="C0392B"/>
              </a:solidFill>
              <a:ln>
                <a:noFill/>
              </a:ln>
            </p:spPr>
          </p:sp>
          <p:sp>
            <p:nvSpPr>
              <p:cNvPr id="43" name="TextBox 43"/>
              <p:cNvSpPr txBox="1"/>
              <p:nvPr/>
            </p:nvSpPr>
            <p:spPr>
              <a:xfrm>
                <a:off x="10891914" y="2931795"/>
                <a:ext cx="276073" cy="176212"/>
              </a:xfrm>
              <a:prstGeom prst="rect">
                <a:avLst/>
              </a:prstGeom>
              <a:noFill/>
              <a:ln>
                <a:noFill/>
              </a:ln>
            </p:spPr>
            <p:txBody>
              <a:bodyPr wrap="none" lIns="0" tIns="0" rIns="0" bIns="0" anchor="t" anchorCtr="0">
                <a:spAutoFit/>
              </a:bodyPr>
              <a:lstStyle/>
              <a:p>
                <a:pPr algn="ctr"/>
                <a:r>
                  <a:rPr lang="tr-TR" sz="900" dirty="0">
                    <a:solidFill>
                      <a:srgbClr val="FFFFFF"/>
                    </a:solidFill>
                    <a:latin typeface="+mn-lt"/>
                    <a:ea typeface="+mn-ea"/>
                    <a:cs typeface="+mn-cs"/>
                  </a:rPr>
                  <a:t>1.00</a:t>
                </a:r>
              </a:p>
            </p:txBody>
          </p:sp>
        </p:grpSp>
        <p:sp>
          <p:nvSpPr>
            <p:cNvPr id="45" name="TextBox 45"/>
            <p:cNvSpPr txBox="1"/>
            <p:nvPr/>
          </p:nvSpPr>
          <p:spPr>
            <a:xfrm>
              <a:off x="6472238" y="1731645"/>
              <a:ext cx="150343"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ÇS</a:t>
              </a:r>
            </a:p>
          </p:txBody>
        </p:sp>
        <p:sp>
          <p:nvSpPr>
            <p:cNvPr id="46" name="TextBox 46"/>
            <p:cNvSpPr txBox="1"/>
            <p:nvPr/>
          </p:nvSpPr>
          <p:spPr>
            <a:xfrm>
              <a:off x="6472238" y="2131695"/>
              <a:ext cx="150343"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DG</a:t>
              </a:r>
            </a:p>
          </p:txBody>
        </p:sp>
        <p:sp>
          <p:nvSpPr>
            <p:cNvPr id="47" name="TextBox 47"/>
            <p:cNvSpPr txBox="1"/>
            <p:nvPr/>
          </p:nvSpPr>
          <p:spPr>
            <a:xfrm>
              <a:off x="6472238" y="2531745"/>
              <a:ext cx="150343"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SN</a:t>
              </a:r>
            </a:p>
          </p:txBody>
        </p:sp>
        <p:sp>
          <p:nvSpPr>
            <p:cNvPr id="48" name="TextBox 48"/>
            <p:cNvSpPr txBox="1"/>
            <p:nvPr/>
          </p:nvSpPr>
          <p:spPr>
            <a:xfrm>
              <a:off x="6472238" y="2931795"/>
              <a:ext cx="150343"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US</a:t>
              </a:r>
            </a:p>
          </p:txBody>
        </p:sp>
        <p:sp>
          <p:nvSpPr>
            <p:cNvPr id="49" name="TextBox 49"/>
            <p:cNvSpPr txBox="1"/>
            <p:nvPr/>
          </p:nvSpPr>
          <p:spPr>
            <a:xfrm>
              <a:off x="8440179" y="1445895"/>
              <a:ext cx="150343"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ÇS</a:t>
              </a:r>
            </a:p>
          </p:txBody>
        </p:sp>
        <p:sp>
          <p:nvSpPr>
            <p:cNvPr id="50" name="TextBox 50"/>
            <p:cNvSpPr txBox="1"/>
            <p:nvPr/>
          </p:nvSpPr>
          <p:spPr>
            <a:xfrm>
              <a:off x="9278379" y="1445895"/>
              <a:ext cx="150343"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DG</a:t>
              </a:r>
            </a:p>
          </p:txBody>
        </p:sp>
        <p:sp>
          <p:nvSpPr>
            <p:cNvPr id="51" name="TextBox 51"/>
            <p:cNvSpPr txBox="1"/>
            <p:nvPr/>
          </p:nvSpPr>
          <p:spPr>
            <a:xfrm>
              <a:off x="10116579" y="1445895"/>
              <a:ext cx="150343"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SN</a:t>
              </a:r>
            </a:p>
          </p:txBody>
        </p:sp>
        <p:sp>
          <p:nvSpPr>
            <p:cNvPr id="52" name="TextBox 52"/>
            <p:cNvSpPr txBox="1"/>
            <p:nvPr/>
          </p:nvSpPr>
          <p:spPr>
            <a:xfrm>
              <a:off x="10954779" y="1445895"/>
              <a:ext cx="150343"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US</a:t>
              </a:r>
            </a:p>
          </p:txBody>
        </p:sp>
        <p:sp>
          <p:nvSpPr>
            <p:cNvPr id="53" name="TextBox 53"/>
            <p:cNvSpPr txBox="1"/>
            <p:nvPr/>
          </p:nvSpPr>
          <p:spPr>
            <a:xfrm>
              <a:off x="6472238" y="3255645"/>
              <a:ext cx="4179194" cy="176212"/>
            </a:xfrm>
            <a:prstGeom prst="rect">
              <a:avLst/>
            </a:prstGeom>
            <a:noFill/>
            <a:ln>
              <a:noFill/>
            </a:ln>
          </p:spPr>
          <p:txBody>
            <a:bodyPr wrap="none" lIns="0" tIns="0" rIns="0" bIns="0" anchor="t" anchorCtr="0">
              <a:spAutoFit/>
            </a:bodyPr>
            <a:lstStyle/>
            <a:p>
              <a:pPr algn="l"/>
              <a:r>
                <a:rPr lang="tr-TR" sz="900" dirty="0">
                  <a:solidFill>
                    <a:srgbClr val="52616B"/>
                  </a:solidFill>
                  <a:latin typeface="+mn-lt"/>
                  <a:ea typeface="+mn-ea"/>
                  <a:cs typeface="+mn-cs"/>
                </a:rPr>
                <a:t>ÇS: çalışma saati · DG: devamsızlık · SN: sınav notu · US: uyku saati</a:t>
              </a:r>
            </a:p>
          </p:txBody>
        </p:sp>
      </p:grpSp>
      <p:grpSp>
        <p:nvGrpSpPr>
          <p:cNvPr id="60" name="code-band"/>
          <p:cNvGrpSpPr/>
          <p:nvPr/>
        </p:nvGrpSpPr>
        <p:grpSpPr>
          <a:xfrm>
            <a:off x="609600" y="3657600"/>
            <a:ext cx="10972800" cy="1238250"/>
            <a:chOff x="609600" y="3657600"/>
            <a:chExt cx="10972800" cy="1238250"/>
          </a:xfrm>
        </p:grpSpPr>
        <p:sp>
          <p:nvSpPr>
            <p:cNvPr id="55" name="Rectangle 55"/>
            <p:cNvSpPr/>
            <p:nvPr/>
          </p:nvSpPr>
          <p:spPr>
            <a:xfrm>
              <a:off x="609600" y="3657600"/>
              <a:ext cx="10972800" cy="1238250"/>
            </a:xfrm>
            <a:prstGeom prst="roundRect">
              <a:avLst>
                <a:gd name="adj" fmla="val 6154"/>
              </a:avLst>
            </a:prstGeom>
            <a:solidFill>
              <a:srgbClr val="12355B"/>
            </a:solidFill>
            <a:ln>
              <a:noFill/>
            </a:ln>
          </p:spPr>
        </p:sp>
        <p:sp>
          <p:nvSpPr>
            <p:cNvPr id="56" name="TextBox 56"/>
            <p:cNvSpPr txBox="1"/>
            <p:nvPr/>
          </p:nvSpPr>
          <p:spPr>
            <a:xfrm>
              <a:off x="832866" y="3810952"/>
              <a:ext cx="460280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Consolas"/>
                  <a:ea typeface="Consolas"/>
                  <a:cs typeface="Consolas"/>
                </a:rPr>
                <a:t>korelasyon_matrisi = ogrenci_verisi.corr(numeric_only=True)</a:t>
              </a:r>
            </a:p>
          </p:txBody>
        </p:sp>
        <p:sp>
          <p:nvSpPr>
            <p:cNvPr id="57" name="TextBox 57"/>
            <p:cNvSpPr txBox="1"/>
            <p:nvPr/>
          </p:nvSpPr>
          <p:spPr>
            <a:xfrm>
              <a:off x="832866" y="4077652"/>
              <a:ext cx="6858511"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sns.heatmap(korelasyon_matrisi, annot=True, cmap="coolwarm", vmin=-1, vmax=1, fmt=".2f")</a:t>
              </a:r>
            </a:p>
          </p:txBody>
        </p:sp>
        <p:sp>
          <p:nvSpPr>
            <p:cNvPr id="58" name="TextBox 58"/>
            <p:cNvSpPr txBox="1"/>
            <p:nvPr/>
          </p:nvSpPr>
          <p:spPr>
            <a:xfrm>
              <a:off x="833247" y="4409599"/>
              <a:ext cx="6400222"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 annot=True hücrelere değeri yazar; vmin/vmax tüm grafiklerde aynı ölçeği garanti eder.</a:t>
              </a:r>
            </a:p>
          </p:txBody>
        </p:sp>
        <p:sp>
          <p:nvSpPr>
            <p:cNvPr id="59" name="TextBox 59"/>
            <p:cNvSpPr txBox="1"/>
            <p:nvPr/>
          </p:nvSpPr>
          <p:spPr>
            <a:xfrm>
              <a:off x="833247" y="4657249"/>
              <a:ext cx="6110110" cy="190690"/>
            </a:xfrm>
            <a:prstGeom prst="rect">
              <a:avLst/>
            </a:prstGeom>
            <a:noFill/>
            <a:ln>
              <a:noFill/>
            </a:ln>
          </p:spPr>
          <p:txBody>
            <a:bodyPr wrap="none" lIns="0" tIns="0" rIns="0" bIns="0" anchor="t" anchorCtr="0">
              <a:spAutoFit/>
            </a:bodyPr>
            <a:lstStyle/>
            <a:p>
              <a:pPr algn="l"/>
              <a:r>
                <a:rPr lang="tr-TR" sz="980" dirty="0">
                  <a:solidFill>
                    <a:srgbClr val="B8CBD3"/>
                  </a:solidFill>
                  <a:latin typeface="Consolas"/>
                  <a:ea typeface="Consolas"/>
                  <a:cs typeface="Consolas"/>
                </a:rPr>
                <a:t># Köşegen her zaman 1.00'dir çünkü bir değişken kendisiyle mükemmel korelasyonludur.</a:t>
              </a:r>
            </a:p>
          </p:txBody>
        </p:sp>
      </p:grpSp>
      <p:grpSp>
        <p:nvGrpSpPr>
          <p:cNvPr id="64" name="interp-band"/>
          <p:cNvGrpSpPr/>
          <p:nvPr/>
        </p:nvGrpSpPr>
        <p:grpSpPr>
          <a:xfrm>
            <a:off x="609600" y="5010150"/>
            <a:ext cx="10972800" cy="857250"/>
            <a:chOff x="609600" y="5010150"/>
            <a:chExt cx="10972800" cy="857250"/>
          </a:xfrm>
        </p:grpSpPr>
        <p:sp>
          <p:nvSpPr>
            <p:cNvPr id="61" name="Rectangle 61"/>
            <p:cNvSpPr/>
            <p:nvPr/>
          </p:nvSpPr>
          <p:spPr>
            <a:xfrm>
              <a:off x="609600" y="5010150"/>
              <a:ext cx="10972800" cy="857250"/>
            </a:xfrm>
            <a:prstGeom prst="roundRect">
              <a:avLst>
                <a:gd name="adj" fmla="val 8889"/>
              </a:avLst>
            </a:prstGeom>
            <a:solidFill>
              <a:srgbClr val="EAF4F6"/>
            </a:solidFill>
            <a:ln>
              <a:noFill/>
            </a:ln>
          </p:spPr>
        </p:sp>
        <p:sp>
          <p:nvSpPr>
            <p:cNvPr id="62" name="TextBox 62"/>
            <p:cNvSpPr txBox="1"/>
            <p:nvPr/>
          </p:nvSpPr>
          <p:spPr>
            <a:xfrm>
              <a:off x="907542" y="5131118"/>
              <a:ext cx="633604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Koyu kırmızı güçlü pozitif, koyu mavi güçlü negatif ilişkiyi gösterir</a:t>
              </a:r>
            </a:p>
          </p:txBody>
        </p:sp>
        <p:sp>
          <p:nvSpPr>
            <p:cNvPr id="63" name="TextBox 63"/>
            <p:cNvSpPr txBox="1"/>
            <p:nvPr/>
          </p:nvSpPr>
          <p:spPr>
            <a:xfrm>
              <a:off x="908304" y="5414010"/>
              <a:ext cx="64129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Çalışma saati-sınav notu 1.00 iken devamsızlık-sınav notu -0.99'dur; hangi sütunun</a:t>
              </a:r>
              <a:br/>
              <a:r>
                <a:rPr lang="tr-TR" sz="1200" dirty="0">
                  <a:solidFill>
                    <a:srgbClr val="172B3A"/>
                  </a:solidFill>
                  <a:latin typeface="+mn-lt"/>
                  <a:ea typeface="+mn-ea"/>
                  <a:cs typeface="+mn-cs"/>
                </a:rPr>
                <a:t>tutulacağı yalnızca renge göre değil, iş anlamına göre kararlaştırılmalıdır.</a:t>
              </a:r>
            </a:p>
          </p:txBody>
        </p:sp>
      </p:grpSp>
      <p:sp>
        <p:nvSpPr>
          <p:cNvPr id="65" name="TextBox 6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26</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8567812" cy="668845"/>
            <a:chOff x="609600" y="171450"/>
            <a:chExt cx="856781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8774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Isı haritası: ne zaman ve alternatifleri</a:t>
              </a:r>
            </a:p>
          </p:txBody>
        </p:sp>
      </p:grpSp>
      <p:grpSp>
        <p:nvGrpSpPr>
          <p:cNvPr id="36" name="alt-table"/>
          <p:cNvGrpSpPr/>
          <p:nvPr/>
        </p:nvGrpSpPr>
        <p:grpSpPr>
          <a:xfrm>
            <a:off x="609600" y="1104900"/>
            <a:ext cx="10972800" cy="2476500"/>
            <a:chOff x="609600" y="1104900"/>
            <a:chExt cx="10972800" cy="2476500"/>
          </a:xfrm>
        </p:grpSpPr>
        <p:sp>
          <p:nvSpPr>
            <p:cNvPr id="11" name="Rectangle 11"/>
            <p:cNvSpPr/>
            <p:nvPr/>
          </p:nvSpPr>
          <p:spPr>
            <a:xfrm>
              <a:off x="609600" y="1104900"/>
              <a:ext cx="10972800" cy="381000"/>
            </a:xfrm>
            <a:prstGeom prst="rect">
              <a:avLst/>
            </a:prstGeom>
            <a:solidFill>
              <a:srgbClr val="12355B"/>
            </a:solidFill>
            <a:ln>
              <a:noFill/>
            </a:ln>
          </p:spPr>
        </p:sp>
        <p:sp>
          <p:nvSpPr>
            <p:cNvPr id="12" name="TextBox 12"/>
            <p:cNvSpPr txBox="1"/>
            <p:nvPr/>
          </p:nvSpPr>
          <p:spPr>
            <a:xfrm>
              <a:off x="756285" y="1221581"/>
              <a:ext cx="41143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ARAÇ</a:t>
              </a:r>
            </a:p>
          </p:txBody>
        </p:sp>
        <p:sp>
          <p:nvSpPr>
            <p:cNvPr id="13" name="TextBox 13"/>
            <p:cNvSpPr txBox="1"/>
            <p:nvPr/>
          </p:nvSpPr>
          <p:spPr>
            <a:xfrm>
              <a:off x="2851785" y="1221581"/>
              <a:ext cx="137958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KULLANIM AMACI</a:t>
              </a:r>
            </a:p>
          </p:txBody>
        </p:sp>
        <p:sp>
          <p:nvSpPr>
            <p:cNvPr id="14" name="TextBox 14"/>
            <p:cNvSpPr txBox="1"/>
            <p:nvPr/>
          </p:nvSpPr>
          <p:spPr>
            <a:xfrm>
              <a:off x="5899785" y="1221581"/>
              <a:ext cx="71944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AVANTAJ</a:t>
              </a:r>
            </a:p>
          </p:txBody>
        </p:sp>
        <p:sp>
          <p:nvSpPr>
            <p:cNvPr id="15" name="TextBox 15"/>
            <p:cNvSpPr txBox="1"/>
            <p:nvPr/>
          </p:nvSpPr>
          <p:spPr>
            <a:xfrm>
              <a:off x="8566785" y="1221581"/>
              <a:ext cx="102745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DEZAVANTAJ</a:t>
              </a:r>
            </a:p>
          </p:txBody>
        </p:sp>
        <p:sp>
          <p:nvSpPr>
            <p:cNvPr id="16" name="Rectangle 16"/>
            <p:cNvSpPr/>
            <p:nvPr/>
          </p:nvSpPr>
          <p:spPr>
            <a:xfrm>
              <a:off x="609600" y="1485900"/>
              <a:ext cx="10972800" cy="523875"/>
            </a:xfrm>
            <a:prstGeom prst="rect">
              <a:avLst/>
            </a:prstGeom>
            <a:solidFill>
              <a:srgbClr val="EAF4F6"/>
            </a:solidFill>
            <a:ln>
              <a:noFill/>
            </a:ln>
          </p:spPr>
        </p:sp>
        <p:sp>
          <p:nvSpPr>
            <p:cNvPr id="17" name="TextBox 17"/>
            <p:cNvSpPr txBox="1"/>
            <p:nvPr/>
          </p:nvSpPr>
          <p:spPr>
            <a:xfrm>
              <a:off x="755523" y="1653064"/>
              <a:ext cx="107683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Isı haritası</a:t>
              </a:r>
            </a:p>
          </p:txBody>
        </p:sp>
        <p:sp>
          <p:nvSpPr>
            <p:cNvPr id="18" name="TextBox 18"/>
            <p:cNvSpPr txBox="1"/>
            <p:nvPr/>
          </p:nvSpPr>
          <p:spPr>
            <a:xfrm>
              <a:off x="2851785" y="1669256"/>
              <a:ext cx="15992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değişkenli tarama</a:t>
              </a:r>
            </a:p>
          </p:txBody>
        </p:sp>
        <p:sp>
          <p:nvSpPr>
            <p:cNvPr id="19" name="TextBox 19"/>
            <p:cNvSpPr txBox="1"/>
            <p:nvPr/>
          </p:nvSpPr>
          <p:spPr>
            <a:xfrm>
              <a:off x="5899785" y="1669256"/>
              <a:ext cx="14712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Hızlı genel görünüm</a:t>
              </a:r>
            </a:p>
          </p:txBody>
        </p:sp>
        <p:sp>
          <p:nvSpPr>
            <p:cNvPr id="20" name="TextBox 20"/>
            <p:cNvSpPr txBox="1"/>
            <p:nvPr/>
          </p:nvSpPr>
          <p:spPr>
            <a:xfrm>
              <a:off x="8566785" y="1669256"/>
              <a:ext cx="163684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Nedensellik göstermez</a:t>
              </a:r>
            </a:p>
          </p:txBody>
        </p:sp>
        <p:sp>
          <p:nvSpPr>
            <p:cNvPr id="21" name="Rectangle 21"/>
            <p:cNvSpPr/>
            <p:nvPr/>
          </p:nvSpPr>
          <p:spPr>
            <a:xfrm>
              <a:off x="609600" y="2009775"/>
              <a:ext cx="10972800" cy="523875"/>
            </a:xfrm>
            <a:prstGeom prst="rect">
              <a:avLst/>
            </a:prstGeom>
            <a:solidFill>
              <a:srgbClr val="FFFFFF"/>
            </a:solidFill>
            <a:ln>
              <a:noFill/>
            </a:ln>
          </p:spPr>
        </p:sp>
        <p:sp>
          <p:nvSpPr>
            <p:cNvPr id="22" name="TextBox 22"/>
            <p:cNvSpPr txBox="1"/>
            <p:nvPr/>
          </p:nvSpPr>
          <p:spPr>
            <a:xfrm>
              <a:off x="755523" y="2176939"/>
              <a:ext cx="136632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Saçılım grafiği</a:t>
              </a:r>
            </a:p>
          </p:txBody>
        </p:sp>
        <p:sp>
          <p:nvSpPr>
            <p:cNvPr id="23" name="TextBox 23"/>
            <p:cNvSpPr txBox="1"/>
            <p:nvPr/>
          </p:nvSpPr>
          <p:spPr>
            <a:xfrm>
              <a:off x="2851785" y="2193131"/>
              <a:ext cx="89799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İki değişken</a:t>
              </a:r>
            </a:p>
          </p:txBody>
        </p:sp>
        <p:sp>
          <p:nvSpPr>
            <p:cNvPr id="24" name="TextBox 24"/>
            <p:cNvSpPr txBox="1"/>
            <p:nvPr/>
          </p:nvSpPr>
          <p:spPr>
            <a:xfrm>
              <a:off x="5899785" y="2193131"/>
              <a:ext cx="176536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Nokta örüntüsü görünür</a:t>
              </a:r>
            </a:p>
          </p:txBody>
        </p:sp>
        <p:sp>
          <p:nvSpPr>
            <p:cNvPr id="25" name="TextBox 25"/>
            <p:cNvSpPr txBox="1"/>
            <p:nvPr/>
          </p:nvSpPr>
          <p:spPr>
            <a:xfrm>
              <a:off x="8566785" y="2193131"/>
              <a:ext cx="160683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 sütunda kalabalık</a:t>
              </a:r>
            </a:p>
          </p:txBody>
        </p:sp>
        <p:sp>
          <p:nvSpPr>
            <p:cNvPr id="26" name="Rectangle 26"/>
            <p:cNvSpPr/>
            <p:nvPr/>
          </p:nvSpPr>
          <p:spPr>
            <a:xfrm>
              <a:off x="609600" y="2533650"/>
              <a:ext cx="10972800" cy="523875"/>
            </a:xfrm>
            <a:prstGeom prst="rect">
              <a:avLst/>
            </a:prstGeom>
            <a:solidFill>
              <a:srgbClr val="EAF4F6"/>
            </a:solidFill>
            <a:ln>
              <a:noFill/>
            </a:ln>
          </p:spPr>
        </p:sp>
        <p:sp>
          <p:nvSpPr>
            <p:cNvPr id="27" name="TextBox 27"/>
            <p:cNvSpPr txBox="1"/>
            <p:nvPr/>
          </p:nvSpPr>
          <p:spPr>
            <a:xfrm>
              <a:off x="755523" y="2700814"/>
              <a:ext cx="1673969"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Korelasyon tablosu</a:t>
              </a:r>
            </a:p>
          </p:txBody>
        </p:sp>
        <p:sp>
          <p:nvSpPr>
            <p:cNvPr id="28" name="TextBox 28"/>
            <p:cNvSpPr txBox="1"/>
            <p:nvPr/>
          </p:nvSpPr>
          <p:spPr>
            <a:xfrm>
              <a:off x="2851785" y="2717006"/>
              <a:ext cx="13432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Kesin değer okuma</a:t>
              </a:r>
            </a:p>
          </p:txBody>
        </p:sp>
        <p:sp>
          <p:nvSpPr>
            <p:cNvPr id="29" name="TextBox 29"/>
            <p:cNvSpPr txBox="1"/>
            <p:nvPr/>
          </p:nvSpPr>
          <p:spPr>
            <a:xfrm>
              <a:off x="5899785" y="2717006"/>
              <a:ext cx="129784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Yazdırması kolay</a:t>
              </a:r>
            </a:p>
          </p:txBody>
        </p:sp>
        <p:sp>
          <p:nvSpPr>
            <p:cNvPr id="30" name="TextBox 30"/>
            <p:cNvSpPr txBox="1"/>
            <p:nvPr/>
          </p:nvSpPr>
          <p:spPr>
            <a:xfrm>
              <a:off x="8566785" y="2717006"/>
              <a:ext cx="123731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Görsel öncelik az</a:t>
              </a:r>
            </a:p>
          </p:txBody>
        </p:sp>
        <p:sp>
          <p:nvSpPr>
            <p:cNvPr id="31" name="Rectangle 31"/>
            <p:cNvSpPr/>
            <p:nvPr/>
          </p:nvSpPr>
          <p:spPr>
            <a:xfrm>
              <a:off x="609600" y="3057525"/>
              <a:ext cx="10972800" cy="523875"/>
            </a:xfrm>
            <a:prstGeom prst="rect">
              <a:avLst/>
            </a:prstGeom>
            <a:solidFill>
              <a:srgbClr val="FFFFFF"/>
            </a:solidFill>
            <a:ln>
              <a:noFill/>
            </a:ln>
          </p:spPr>
        </p:sp>
        <p:sp>
          <p:nvSpPr>
            <p:cNvPr id="32" name="TextBox 32"/>
            <p:cNvSpPr txBox="1"/>
            <p:nvPr/>
          </p:nvSpPr>
          <p:spPr>
            <a:xfrm>
              <a:off x="755523" y="3224689"/>
              <a:ext cx="72357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Pairplot</a:t>
              </a:r>
            </a:p>
          </p:txBody>
        </p:sp>
        <p:sp>
          <p:nvSpPr>
            <p:cNvPr id="33" name="TextBox 33"/>
            <p:cNvSpPr txBox="1"/>
            <p:nvPr/>
          </p:nvSpPr>
          <p:spPr>
            <a:xfrm>
              <a:off x="2851785" y="3240881"/>
              <a:ext cx="109328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Çoklu ikili ilişki</a:t>
              </a:r>
            </a:p>
          </p:txBody>
        </p:sp>
        <p:sp>
          <p:nvSpPr>
            <p:cNvPr id="34" name="TextBox 34"/>
            <p:cNvSpPr txBox="1"/>
            <p:nvPr/>
          </p:nvSpPr>
          <p:spPr>
            <a:xfrm>
              <a:off x="5899785" y="3240881"/>
              <a:ext cx="97336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Ayrıntılıdır</a:t>
              </a:r>
            </a:p>
          </p:txBody>
        </p:sp>
        <p:sp>
          <p:nvSpPr>
            <p:cNvPr id="35" name="TextBox 35"/>
            <p:cNvSpPr txBox="1"/>
            <p:nvPr/>
          </p:nvSpPr>
          <p:spPr>
            <a:xfrm>
              <a:off x="8566785" y="3240881"/>
              <a:ext cx="19534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Büyük veride yavaş olabilir</a:t>
              </a:r>
            </a:p>
          </p:txBody>
        </p:sp>
      </p:grpSp>
      <p:grpSp>
        <p:nvGrpSpPr>
          <p:cNvPr id="40" name="nezaman-band"/>
          <p:cNvGrpSpPr/>
          <p:nvPr/>
        </p:nvGrpSpPr>
        <p:grpSpPr>
          <a:xfrm>
            <a:off x="609600" y="3771900"/>
            <a:ext cx="10972800" cy="609600"/>
            <a:chOff x="609600" y="3771900"/>
            <a:chExt cx="10972800" cy="609600"/>
          </a:xfrm>
        </p:grpSpPr>
        <p:sp>
          <p:nvSpPr>
            <p:cNvPr id="37" name="Rectangle 37"/>
            <p:cNvSpPr/>
            <p:nvPr/>
          </p:nvSpPr>
          <p:spPr>
            <a:xfrm>
              <a:off x="609600" y="3771900"/>
              <a:ext cx="10972800" cy="609600"/>
            </a:xfrm>
            <a:prstGeom prst="roundRect">
              <a:avLst>
                <a:gd name="adj" fmla="val 12500"/>
              </a:avLst>
            </a:prstGeom>
            <a:solidFill>
              <a:srgbClr val="EAF4F6"/>
            </a:solidFill>
            <a:ln>
              <a:noFill/>
            </a:ln>
          </p:spPr>
        </p:sp>
        <p:sp>
          <p:nvSpPr>
            <p:cNvPr id="38" name="TextBox 38"/>
            <p:cNvSpPr txBox="1"/>
            <p:nvPr/>
          </p:nvSpPr>
          <p:spPr>
            <a:xfrm>
              <a:off x="908304" y="3890010"/>
              <a:ext cx="231598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 tercih edilmelidir?</a:t>
              </a:r>
            </a:p>
          </p:txBody>
        </p:sp>
        <p:sp>
          <p:nvSpPr>
            <p:cNvPr id="39" name="TextBox 39"/>
            <p:cNvSpPr txBox="1"/>
            <p:nvPr/>
          </p:nvSpPr>
          <p:spPr>
            <a:xfrm>
              <a:off x="908685" y="4126706"/>
              <a:ext cx="927357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Üçten fazla sayısal değişkenin ilişkisini ilk kez taramak için; iki değişkenin ayrıntılı biçimi için saçılım grafiğine geçilmelidir.</a:t>
              </a:r>
            </a:p>
          </p:txBody>
        </p:sp>
      </p:grpSp>
      <p:grpSp>
        <p:nvGrpSpPr>
          <p:cNvPr id="42" name="mistakes-label"/>
          <p:cNvGrpSpPr/>
          <p:nvPr/>
        </p:nvGrpSpPr>
        <p:grpSpPr>
          <a:xfrm>
            <a:off x="601599" y="4573429"/>
            <a:ext cx="1631012" cy="308039"/>
            <a:chOff x="601599" y="4573429"/>
            <a:chExt cx="1631012" cy="308039"/>
          </a:xfrm>
        </p:grpSpPr>
        <p:sp>
          <p:nvSpPr>
            <p:cNvPr id="41" name="TextBox 41"/>
            <p:cNvSpPr txBox="1"/>
            <p:nvPr/>
          </p:nvSpPr>
          <p:spPr>
            <a:xfrm>
              <a:off x="601599" y="457342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grpSp>
      <p:grpSp>
        <p:nvGrpSpPr>
          <p:cNvPr id="47" name="mistake-1"/>
          <p:cNvGrpSpPr/>
          <p:nvPr/>
        </p:nvGrpSpPr>
        <p:grpSpPr>
          <a:xfrm>
            <a:off x="609600" y="4914900"/>
            <a:ext cx="3505200" cy="1238250"/>
            <a:chOff x="609600" y="4914900"/>
            <a:chExt cx="3505200" cy="1238250"/>
          </a:xfrm>
        </p:grpSpPr>
        <p:sp>
          <p:nvSpPr>
            <p:cNvPr id="43" name="Rectangle 43"/>
            <p:cNvSpPr/>
            <p:nvPr/>
          </p:nvSpPr>
          <p:spPr>
            <a:xfrm>
              <a:off x="609600" y="4914900"/>
              <a:ext cx="3505200" cy="1238250"/>
            </a:xfrm>
            <a:prstGeom prst="roundRect">
              <a:avLst>
                <a:gd name="adj" fmla="val 7692"/>
              </a:avLst>
            </a:prstGeom>
            <a:solidFill>
              <a:srgbClr val="FFFFFF"/>
            </a:solidFill>
            <a:ln w="14288">
              <a:solidFill>
                <a:srgbClr val="B8CBD3"/>
              </a:solidFill>
            </a:ln>
          </p:spPr>
        </p:sp>
        <p:sp>
          <p:nvSpPr>
            <p:cNvPr id="44" name="Rectangle 44"/>
            <p:cNvSpPr/>
            <p:nvPr/>
          </p:nvSpPr>
          <p:spPr>
            <a:xfrm>
              <a:off x="609600" y="4914900"/>
              <a:ext cx="57150" cy="1238250"/>
            </a:xfrm>
            <a:prstGeom prst="rect">
              <a:avLst/>
            </a:prstGeom>
            <a:solidFill>
              <a:srgbClr val="00A6A6"/>
            </a:solidFill>
            <a:ln>
              <a:noFill/>
            </a:ln>
          </p:spPr>
        </p:sp>
        <p:sp>
          <p:nvSpPr>
            <p:cNvPr id="45" name="TextBox 45"/>
            <p:cNvSpPr txBox="1"/>
            <p:nvPr/>
          </p:nvSpPr>
          <p:spPr>
            <a:xfrm>
              <a:off x="831723" y="5063014"/>
              <a:ext cx="256076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Köşegeni önemli bulgu sanmak</a:t>
              </a:r>
            </a:p>
          </p:txBody>
        </p:sp>
        <p:sp>
          <p:nvSpPr>
            <p:cNvPr id="46" name="TextBox 46"/>
            <p:cNvSpPr txBox="1"/>
            <p:nvPr/>
          </p:nvSpPr>
          <p:spPr>
            <a:xfrm>
              <a:off x="832866" y="5373052"/>
              <a:ext cx="1904238"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Her değişken kendisiyle tam</a:t>
              </a:r>
              <a:br/>
              <a:r>
                <a:rPr lang="tr-TR" sz="1050" dirty="0">
                  <a:solidFill>
                    <a:srgbClr val="172B3A"/>
                  </a:solidFill>
                  <a:latin typeface="+mn-lt"/>
                  <a:ea typeface="+mn-ea"/>
                  <a:cs typeface="+mn-cs"/>
                </a:rPr>
                <a:t>ilişkilidir; köşegen her zaman</a:t>
              </a:r>
              <a:br/>
              <a:r>
                <a:rPr lang="tr-TR" sz="1050" dirty="0">
                  <a:solidFill>
                    <a:srgbClr val="172B3A"/>
                  </a:solidFill>
                  <a:latin typeface="+mn-lt"/>
                  <a:ea typeface="+mn-ea"/>
                  <a:cs typeface="+mn-cs"/>
                </a:rPr>
                <a:t>1.00'dir.</a:t>
              </a:r>
            </a:p>
          </p:txBody>
        </p:sp>
      </p:grpSp>
      <p:grpSp>
        <p:nvGrpSpPr>
          <p:cNvPr id="52" name="mistake-2"/>
          <p:cNvGrpSpPr/>
          <p:nvPr/>
        </p:nvGrpSpPr>
        <p:grpSpPr>
          <a:xfrm>
            <a:off x="4343400" y="4914900"/>
            <a:ext cx="3505200" cy="1238250"/>
            <a:chOff x="4343400" y="4914900"/>
            <a:chExt cx="3505200" cy="1238250"/>
          </a:xfrm>
        </p:grpSpPr>
        <p:sp>
          <p:nvSpPr>
            <p:cNvPr id="48" name="Rectangle 48"/>
            <p:cNvSpPr/>
            <p:nvPr/>
          </p:nvSpPr>
          <p:spPr>
            <a:xfrm>
              <a:off x="4343400" y="4914900"/>
              <a:ext cx="3505200" cy="1238250"/>
            </a:xfrm>
            <a:prstGeom prst="roundRect">
              <a:avLst>
                <a:gd name="adj" fmla="val 7692"/>
              </a:avLst>
            </a:prstGeom>
            <a:solidFill>
              <a:srgbClr val="FFFFFF"/>
            </a:solidFill>
            <a:ln w="14288">
              <a:solidFill>
                <a:srgbClr val="B8CBD3"/>
              </a:solidFill>
            </a:ln>
          </p:spPr>
        </p:sp>
        <p:sp>
          <p:nvSpPr>
            <p:cNvPr id="49" name="Rectangle 49"/>
            <p:cNvSpPr/>
            <p:nvPr/>
          </p:nvSpPr>
          <p:spPr>
            <a:xfrm>
              <a:off x="4343400" y="4914900"/>
              <a:ext cx="57150" cy="1238250"/>
            </a:xfrm>
            <a:prstGeom prst="rect">
              <a:avLst/>
            </a:prstGeom>
            <a:solidFill>
              <a:srgbClr val="00A6A6"/>
            </a:solidFill>
            <a:ln>
              <a:noFill/>
            </a:ln>
          </p:spPr>
        </p:sp>
        <p:sp>
          <p:nvSpPr>
            <p:cNvPr id="50" name="TextBox 50"/>
            <p:cNvSpPr txBox="1"/>
            <p:nvPr/>
          </p:nvSpPr>
          <p:spPr>
            <a:xfrm>
              <a:off x="4565523" y="5063014"/>
              <a:ext cx="269677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Rengi okumadan sayıya bakmak</a:t>
              </a:r>
            </a:p>
          </p:txBody>
        </p:sp>
        <p:sp>
          <p:nvSpPr>
            <p:cNvPr id="51" name="TextBox 51"/>
            <p:cNvSpPr txBox="1"/>
            <p:nvPr/>
          </p:nvSpPr>
          <p:spPr>
            <a:xfrm>
              <a:off x="4566666" y="5373052"/>
              <a:ext cx="191090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Renk tonu, ilişkinin yönünü ve</a:t>
              </a:r>
              <a:br/>
              <a:r>
                <a:rPr lang="tr-TR" sz="1050" dirty="0">
                  <a:solidFill>
                    <a:srgbClr val="172B3A"/>
                  </a:solidFill>
                  <a:latin typeface="+mn-lt"/>
                  <a:ea typeface="+mn-ea"/>
                  <a:cs typeface="+mn-cs"/>
                </a:rPr>
                <a:t>gücünü hızla ayırt etmeyi</a:t>
              </a:r>
              <a:br/>
              <a:r>
                <a:rPr lang="tr-TR" sz="1050" dirty="0">
                  <a:solidFill>
                    <a:srgbClr val="172B3A"/>
                  </a:solidFill>
                  <a:latin typeface="+mn-lt"/>
                  <a:ea typeface="+mn-ea"/>
                  <a:cs typeface="+mn-cs"/>
                </a:rPr>
                <a:t>sağlar.</a:t>
              </a:r>
            </a:p>
          </p:txBody>
        </p:sp>
      </p:grpSp>
      <p:grpSp>
        <p:nvGrpSpPr>
          <p:cNvPr id="57" name="mistake-3"/>
          <p:cNvGrpSpPr/>
          <p:nvPr/>
        </p:nvGrpSpPr>
        <p:grpSpPr>
          <a:xfrm>
            <a:off x="8077200" y="4914900"/>
            <a:ext cx="3505200" cy="1238250"/>
            <a:chOff x="8077200" y="4914900"/>
            <a:chExt cx="3505200" cy="1238250"/>
          </a:xfrm>
        </p:grpSpPr>
        <p:sp>
          <p:nvSpPr>
            <p:cNvPr id="53" name="Rectangle 53"/>
            <p:cNvSpPr/>
            <p:nvPr/>
          </p:nvSpPr>
          <p:spPr>
            <a:xfrm>
              <a:off x="8077200" y="4914900"/>
              <a:ext cx="3505200" cy="1238250"/>
            </a:xfrm>
            <a:prstGeom prst="roundRect">
              <a:avLst>
                <a:gd name="adj" fmla="val 7692"/>
              </a:avLst>
            </a:prstGeom>
            <a:solidFill>
              <a:srgbClr val="FFFFFF"/>
            </a:solidFill>
            <a:ln w="14288">
              <a:solidFill>
                <a:srgbClr val="B8CBD3"/>
              </a:solidFill>
            </a:ln>
          </p:spPr>
        </p:sp>
        <p:sp>
          <p:nvSpPr>
            <p:cNvPr id="54" name="Rectangle 54"/>
            <p:cNvSpPr/>
            <p:nvPr/>
          </p:nvSpPr>
          <p:spPr>
            <a:xfrm>
              <a:off x="8077200" y="4914900"/>
              <a:ext cx="57150" cy="1238250"/>
            </a:xfrm>
            <a:prstGeom prst="rect">
              <a:avLst/>
            </a:prstGeom>
            <a:solidFill>
              <a:srgbClr val="00A6A6"/>
            </a:solidFill>
            <a:ln>
              <a:noFill/>
            </a:ln>
          </p:spPr>
        </p:sp>
        <p:sp>
          <p:nvSpPr>
            <p:cNvPr id="55" name="TextBox 55"/>
            <p:cNvSpPr txBox="1"/>
            <p:nvPr/>
          </p:nvSpPr>
          <p:spPr>
            <a:xfrm>
              <a:off x="8299323" y="5063014"/>
              <a:ext cx="3212004"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Kodlanmış kategoriyi sürekli sanmak</a:t>
              </a:r>
            </a:p>
          </p:txBody>
        </p:sp>
        <p:sp>
          <p:nvSpPr>
            <p:cNvPr id="56" name="TextBox 56"/>
            <p:cNvSpPr txBox="1"/>
            <p:nvPr/>
          </p:nvSpPr>
          <p:spPr>
            <a:xfrm>
              <a:off x="8300466" y="5373052"/>
              <a:ext cx="177755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Sayısal kodlanmış kategori</a:t>
              </a:r>
              <a:br/>
              <a:r>
                <a:rPr lang="tr-TR" sz="1050" dirty="0">
                  <a:solidFill>
                    <a:srgbClr val="172B3A"/>
                  </a:solidFill>
                  <a:latin typeface="+mn-lt"/>
                  <a:ea typeface="+mn-ea"/>
                  <a:cs typeface="+mn-cs"/>
                </a:rPr>
                <a:t>sütunu sürekli ölçüm gibi</a:t>
              </a:r>
              <a:br/>
              <a:r>
                <a:rPr lang="tr-TR" sz="1050" dirty="0">
                  <a:solidFill>
                    <a:srgbClr val="172B3A"/>
                  </a:solidFill>
                  <a:latin typeface="+mn-lt"/>
                  <a:ea typeface="+mn-ea"/>
                  <a:cs typeface="+mn-cs"/>
                </a:rPr>
                <a:t>yorumlanmamalıdır.</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26</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286133" cy="668845"/>
            <a:chOff x="609600" y="171450"/>
            <a:chExt cx="828613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59576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sık yanlış anlama</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correlation"/>
          <p:cNvGrpSpPr/>
          <p:nvPr/>
        </p:nvGrpSpPr>
        <p:grpSpPr>
          <a:xfrm>
            <a:off x="609600" y="1849279"/>
            <a:ext cx="10972800" cy="1313021"/>
            <a:chOff x="609600" y="1849279"/>
            <a:chExt cx="10972800" cy="1313021"/>
          </a:xfrm>
        </p:grpSpPr>
        <p:sp>
          <p:nvSpPr>
            <p:cNvPr id="17" name="TextBox 17"/>
            <p:cNvSpPr txBox="1"/>
            <p:nvPr/>
          </p:nvSpPr>
          <p:spPr>
            <a:xfrm>
              <a:off x="753999" y="1849279"/>
              <a:ext cx="2502179"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"Korelasyon 0.90 ise</a:t>
              </a:r>
              <a:br/>
              <a:r>
                <a:rPr lang="tr-TR" sz="1580" b="1" dirty="0">
                  <a:solidFill>
                    <a:srgbClr val="12355B"/>
                  </a:solidFill>
                  <a:latin typeface="+mn-lt"/>
                  <a:ea typeface="+mn-ea"/>
                  <a:cs typeface="+mn-cs"/>
                </a:rPr>
                <a:t>birinci değişken ikincinin</a:t>
              </a:r>
              <a:br/>
              <a:r>
                <a:rPr lang="tr-TR" sz="1580" b="1" dirty="0">
                  <a:solidFill>
                    <a:srgbClr val="12355B"/>
                  </a:solidFill>
                  <a:latin typeface="+mn-lt"/>
                  <a:ea typeface="+mn-ea"/>
                  <a:cs typeface="+mn-cs"/>
                </a:rPr>
                <a:t>nedenidir."</a:t>
              </a:r>
            </a:p>
          </p:txBody>
        </p:sp>
        <p:sp>
          <p:nvSpPr>
            <p:cNvPr id="18" name="TextBox 18"/>
            <p:cNvSpPr txBox="1"/>
            <p:nvPr/>
          </p:nvSpPr>
          <p:spPr>
            <a:xfrm>
              <a:off x="4375404" y="1889760"/>
              <a:ext cx="31211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Korelasyon yalnızca birlikte değişimi</a:t>
              </a:r>
              <a:br/>
              <a:r>
                <a:rPr lang="tr-TR" sz="1200" dirty="0">
                  <a:solidFill>
                    <a:srgbClr val="172B3A"/>
                  </a:solidFill>
                  <a:latin typeface="+mn-lt"/>
                  <a:ea typeface="+mn-ea"/>
                  <a:cs typeface="+mn-cs"/>
                </a:rPr>
                <a:t>ölçer. Üçüncü bir değişken veya rastlantı</a:t>
              </a:r>
              <a:br/>
              <a:r>
                <a:rPr lang="tr-TR" sz="1200" dirty="0">
                  <a:solidFill>
                    <a:srgbClr val="172B3A"/>
                  </a:solidFill>
                  <a:latin typeface="+mn-lt"/>
                  <a:ea typeface="+mn-ea"/>
                  <a:cs typeface="+mn-cs"/>
                </a:rPr>
                <a:t>da aynı ilişkiyi üretebilir; yüksek katsayı</a:t>
              </a:r>
              <a:br/>
              <a:r>
                <a:rPr lang="tr-TR" sz="1200" dirty="0">
                  <a:solidFill>
                    <a:srgbClr val="172B3A"/>
                  </a:solidFill>
                  <a:latin typeface="+mn-lt"/>
                  <a:ea typeface="+mn-ea"/>
                  <a:cs typeface="+mn-cs"/>
                </a:rPr>
                <a:t>nedenselliği kanıtlamaz.</a:t>
              </a:r>
            </a:p>
          </p:txBody>
        </p:sp>
        <p:sp>
          <p:nvSpPr>
            <p:cNvPr id="19" name="TextBox 19"/>
            <p:cNvSpPr txBox="1"/>
            <p:nvPr/>
          </p:nvSpPr>
          <p:spPr>
            <a:xfrm>
              <a:off x="8185404" y="1889760"/>
              <a:ext cx="27020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İlişkinin yönünü ihtiyatlı ifade edin:</a:t>
              </a:r>
              <a:br/>
              <a:r>
                <a:rPr lang="tr-TR" sz="1200" dirty="0">
                  <a:solidFill>
                    <a:srgbClr val="172B3A"/>
                  </a:solidFill>
                  <a:latin typeface="+mn-lt"/>
                  <a:ea typeface="+mn-ea"/>
                  <a:cs typeface="+mn-cs"/>
                </a:rPr>
                <a:t>"pozitif ilişki gözlenmiştir" deyin;</a:t>
              </a:r>
              <a:br/>
              <a:r>
                <a:rPr lang="tr-TR" sz="1200" dirty="0">
                  <a:solidFill>
                    <a:srgbClr val="172B3A"/>
                  </a:solidFill>
                  <a:latin typeface="+mn-lt"/>
                  <a:ea typeface="+mn-ea"/>
                  <a:cs typeface="+mn-cs"/>
                </a:rPr>
                <a:t>nedensellik iddiası için deney</a:t>
              </a:r>
              <a:br/>
              <a:r>
                <a:rPr lang="tr-TR" sz="1200" dirty="0">
                  <a:solidFill>
                    <a:srgbClr val="172B3A"/>
                  </a:solidFill>
                  <a:latin typeface="+mn-lt"/>
                  <a:ea typeface="+mn-ea"/>
                  <a:cs typeface="+mn-cs"/>
                </a:rPr>
                <a:t>tasarımı veya alan bilgisi gerekir.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skew"/>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639130"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"Sıfıra yakın çarpıklık,</a:t>
              </a:r>
              <a:br/>
              <a:r>
                <a:rPr lang="tr-TR" sz="1580" b="1" dirty="0">
                  <a:solidFill>
                    <a:srgbClr val="12355B"/>
                  </a:solidFill>
                  <a:latin typeface="+mn-lt"/>
                  <a:ea typeface="+mn-ea"/>
                  <a:cs typeface="+mn-cs"/>
                </a:rPr>
                <a:t>verinin kesin normal</a:t>
              </a:r>
              <a:br/>
              <a:r>
                <a:rPr lang="tr-TR" sz="1580" b="1" dirty="0">
                  <a:solidFill>
                    <a:srgbClr val="12355B"/>
                  </a:solidFill>
                  <a:latin typeface="+mn-lt"/>
                  <a:ea typeface="+mn-ea"/>
                  <a:cs typeface="+mn-cs"/>
                </a:rPr>
                <a:t>dağıldığını ispatlar."</a:t>
              </a:r>
            </a:p>
          </p:txBody>
        </p:sp>
        <p:sp>
          <p:nvSpPr>
            <p:cNvPr id="24" name="TextBox 24"/>
            <p:cNvSpPr txBox="1"/>
            <p:nvPr/>
          </p:nvSpPr>
          <p:spPr>
            <a:xfrm>
              <a:off x="4375404" y="3337560"/>
              <a:ext cx="30525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Çarpıklık yalnızca dağılımın tek yönlü</a:t>
              </a:r>
              <a:br/>
              <a:r>
                <a:rPr lang="tr-TR" sz="1200" dirty="0">
                  <a:solidFill>
                    <a:srgbClr val="172B3A"/>
                  </a:solidFill>
                  <a:latin typeface="+mn-lt"/>
                  <a:ea typeface="+mn-ea"/>
                  <a:cs typeface="+mn-cs"/>
                </a:rPr>
                <a:t>asimetrisini açıklar; sıfıra yakın değer</a:t>
              </a:r>
              <a:br/>
              <a:r>
                <a:rPr lang="tr-TR" sz="1200" dirty="0">
                  <a:solidFill>
                    <a:srgbClr val="172B3A"/>
                  </a:solidFill>
                  <a:latin typeface="+mn-lt"/>
                  <a:ea typeface="+mn-ea"/>
                  <a:cs typeface="+mn-cs"/>
                </a:rPr>
                <a:t>tek başına normal dağılım kanıtı</a:t>
              </a:r>
              <a:br/>
              <a:r>
                <a:rPr lang="tr-TR" sz="1200" dirty="0">
                  <a:solidFill>
                    <a:srgbClr val="172B3A"/>
                  </a:solidFill>
                  <a:latin typeface="+mn-lt"/>
                  <a:ea typeface="+mn-ea"/>
                  <a:cs typeface="+mn-cs"/>
                </a:rPr>
                <a:t>değildir.</a:t>
              </a:r>
            </a:p>
          </p:txBody>
        </p:sp>
        <p:sp>
          <p:nvSpPr>
            <p:cNvPr id="25" name="TextBox 25"/>
            <p:cNvSpPr txBox="1"/>
            <p:nvPr/>
          </p:nvSpPr>
          <p:spPr>
            <a:xfrm>
              <a:off x="8185404" y="3337560"/>
              <a:ext cx="2839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Normalite iddiasını Q-Q grafiği veya</a:t>
              </a:r>
              <a:br/>
              <a:r>
                <a:rPr lang="tr-TR" sz="1200" dirty="0">
                  <a:solidFill>
                    <a:srgbClr val="172B3A"/>
                  </a:solidFill>
                  <a:latin typeface="+mn-lt"/>
                  <a:ea typeface="+mn-ea"/>
                  <a:cs typeface="+mn-cs"/>
                </a:rPr>
                <a:t>normalite testiyle ayrıca doğrulayın;</a:t>
              </a:r>
              <a:br/>
              <a:r>
                <a:rPr lang="tr-TR" sz="1200" dirty="0">
                  <a:solidFill>
                    <a:srgbClr val="172B3A"/>
                  </a:solidFill>
                  <a:latin typeface="+mn-lt"/>
                  <a:ea typeface="+mn-ea"/>
                  <a:cs typeface="+mn-cs"/>
                </a:rPr>
                <a:t>çarpıklığı tek kanıt olarak</a:t>
              </a:r>
              <a:br/>
              <a:r>
                <a:rPr lang="tr-TR" sz="1200" dirty="0">
                  <a:solidFill>
                    <a:srgbClr val="172B3A"/>
                  </a:solidFill>
                  <a:latin typeface="+mn-lt"/>
                  <a:ea typeface="+mn-ea"/>
                  <a:cs typeface="+mn-cs"/>
                </a:rPr>
                <a:t>kullanmayın.</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outlier"/>
          <p:cNvGrpSpPr/>
          <p:nvPr/>
        </p:nvGrpSpPr>
        <p:grpSpPr>
          <a:xfrm>
            <a:off x="753999" y="4744879"/>
            <a:ext cx="10262997" cy="903827"/>
            <a:chOff x="753999" y="4744879"/>
            <a:chExt cx="10262997" cy="903827"/>
          </a:xfrm>
        </p:grpSpPr>
        <p:sp>
          <p:nvSpPr>
            <p:cNvPr id="28" name="TextBox 28"/>
            <p:cNvSpPr txBox="1"/>
            <p:nvPr/>
          </p:nvSpPr>
          <p:spPr>
            <a:xfrm>
              <a:off x="753999" y="4744879"/>
              <a:ext cx="264966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"Kutu grafiğindeki aykırı</a:t>
              </a:r>
              <a:br/>
              <a:r>
                <a:rPr lang="tr-TR" sz="1580" b="1" dirty="0">
                  <a:solidFill>
                    <a:srgbClr val="12355B"/>
                  </a:solidFill>
                  <a:latin typeface="+mn-lt"/>
                  <a:ea typeface="+mn-ea"/>
                  <a:cs typeface="+mn-cs"/>
                </a:rPr>
                <a:t>nokta otomatik olarak</a:t>
              </a:r>
              <a:br/>
              <a:r>
                <a:rPr lang="tr-TR" sz="1580" b="1" dirty="0">
                  <a:solidFill>
                    <a:srgbClr val="12355B"/>
                  </a:solidFill>
                  <a:latin typeface="+mn-lt"/>
                  <a:ea typeface="+mn-ea"/>
                  <a:cs typeface="+mn-cs"/>
                </a:rPr>
                <a:t>'hatalı veri' demektir."</a:t>
              </a:r>
            </a:p>
          </p:txBody>
        </p:sp>
        <p:sp>
          <p:nvSpPr>
            <p:cNvPr id="29" name="TextBox 29"/>
            <p:cNvSpPr txBox="1"/>
            <p:nvPr/>
          </p:nvSpPr>
          <p:spPr>
            <a:xfrm>
              <a:off x="4375404" y="4785360"/>
              <a:ext cx="27858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Aykırı gözlem veri giriş hatası</a:t>
              </a:r>
              <a:br/>
              <a:r>
                <a:rPr lang="tr-TR" sz="1200" dirty="0">
                  <a:solidFill>
                    <a:srgbClr val="172B3A"/>
                  </a:solidFill>
                  <a:latin typeface="+mn-lt"/>
                  <a:ea typeface="+mn-ea"/>
                  <a:cs typeface="+mn-cs"/>
                </a:rPr>
                <a:t>olabileceği gibi çok başarılı ya da çok</a:t>
              </a:r>
              <a:br/>
              <a:r>
                <a:rPr lang="tr-TR" sz="1200" dirty="0">
                  <a:solidFill>
                    <a:srgbClr val="172B3A"/>
                  </a:solidFill>
                  <a:latin typeface="+mn-lt"/>
                  <a:ea typeface="+mn-ea"/>
                  <a:cs typeface="+mn-cs"/>
                </a:rPr>
                <a:t>başarısız gerçek bir gözlem de</a:t>
              </a:r>
              <a:br/>
              <a:r>
                <a:rPr lang="tr-TR" sz="1200" dirty="0">
                  <a:solidFill>
                    <a:srgbClr val="172B3A"/>
                  </a:solidFill>
                  <a:latin typeface="+mn-lt"/>
                  <a:ea typeface="+mn-ea"/>
                  <a:cs typeface="+mn-cs"/>
                </a:rPr>
                <a:t>olabilir.</a:t>
              </a:r>
            </a:p>
          </p:txBody>
        </p:sp>
        <p:sp>
          <p:nvSpPr>
            <p:cNvPr id="30" name="TextBox 30"/>
            <p:cNvSpPr txBox="1"/>
            <p:nvPr/>
          </p:nvSpPr>
          <p:spPr>
            <a:xfrm>
              <a:off x="8185404" y="4785360"/>
              <a:ext cx="28315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Silmeden önce kaynağını raporlayın:</a:t>
              </a:r>
              <a:br/>
              <a:r>
                <a:rPr lang="tr-TR" sz="1200" dirty="0">
                  <a:solidFill>
                    <a:srgbClr val="172B3A"/>
                  </a:solidFill>
                  <a:latin typeface="+mn-lt"/>
                  <a:ea typeface="+mn-ea"/>
                  <a:cs typeface="+mn-cs"/>
                </a:rPr>
                <a:t>kayıt hatası, ölçüm hatası ve gerçek</a:t>
              </a:r>
              <a:br/>
              <a:r>
                <a:rPr lang="tr-TR" sz="1200" dirty="0">
                  <a:solidFill>
                    <a:srgbClr val="172B3A"/>
                  </a:solidFill>
                  <a:latin typeface="+mn-lt"/>
                  <a:ea typeface="+mn-ea"/>
                  <a:cs typeface="+mn-cs"/>
                </a:rPr>
                <a:t>iş durumu ayrı ayrı</a:t>
              </a:r>
              <a:br/>
              <a:r>
                <a:rPr lang="tr-TR" sz="1200" dirty="0">
                  <a:solidFill>
                    <a:srgbClr val="172B3A"/>
                  </a:solidFill>
                  <a:latin typeface="+mn-lt"/>
                  <a:ea typeface="+mn-ea"/>
                  <a:cs typeface="+mn-cs"/>
                </a:rPr>
                <a:t>değerlendirilmelidir.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26</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54007" cy="668845"/>
            <a:chOff x="609600" y="171450"/>
            <a:chExt cx="855400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86363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Çalışan Python uygulaması: OgrenciEDA</a:t>
              </a:r>
            </a:p>
          </p:txBody>
        </p:sp>
      </p:grpSp>
      <p:grpSp>
        <p:nvGrpSpPr>
          <p:cNvPr id="21" name="code-card"/>
          <p:cNvGrpSpPr/>
          <p:nvPr/>
        </p:nvGrpSpPr>
        <p:grpSpPr>
          <a:xfrm>
            <a:off x="609600" y="1104900"/>
            <a:ext cx="5905500" cy="4762500"/>
            <a:chOff x="609600" y="1104900"/>
            <a:chExt cx="5905500" cy="4762500"/>
          </a:xfrm>
        </p:grpSpPr>
        <p:sp>
          <p:nvSpPr>
            <p:cNvPr id="12" name="Rectangle 12"/>
            <p:cNvSpPr/>
            <p:nvPr/>
          </p:nvSpPr>
          <p:spPr>
            <a:xfrm>
              <a:off x="609600" y="1104900"/>
              <a:ext cx="5905500" cy="4762500"/>
            </a:xfrm>
            <a:prstGeom prst="roundRect">
              <a:avLst>
                <a:gd name="adj" fmla="val 2000"/>
              </a:avLst>
            </a:prstGeom>
            <a:solidFill>
              <a:srgbClr val="12355B"/>
            </a:solidFill>
            <a:ln>
              <a:noFill/>
            </a:ln>
          </p:spPr>
        </p:sp>
        <p:sp>
          <p:nvSpPr>
            <p:cNvPr id="13" name="Ellipse 13"/>
            <p:cNvSpPr/>
            <p:nvPr/>
          </p:nvSpPr>
          <p:spPr>
            <a:xfrm>
              <a:off x="781050" y="1276350"/>
              <a:ext cx="114300" cy="114300"/>
            </a:xfrm>
            <a:prstGeom prst="ellipse">
              <a:avLst/>
            </a:prstGeom>
            <a:solidFill>
              <a:srgbClr val="00A6A6"/>
            </a:solidFill>
            <a:ln>
              <a:noFill/>
            </a:ln>
          </p:spPr>
        </p:sp>
        <p:sp>
          <p:nvSpPr>
            <p:cNvPr id="14" name="Ellipse 14"/>
            <p:cNvSpPr/>
            <p:nvPr/>
          </p:nvSpPr>
          <p:spPr>
            <a:xfrm>
              <a:off x="971550" y="1276350"/>
              <a:ext cx="114300" cy="114300"/>
            </a:xfrm>
            <a:prstGeom prst="ellipse">
              <a:avLst/>
            </a:prstGeom>
            <a:solidFill>
              <a:srgbClr val="2E86AB"/>
            </a:solidFill>
            <a:ln>
              <a:noFill/>
            </a:ln>
          </p:spPr>
        </p:sp>
        <p:sp>
          <p:nvSpPr>
            <p:cNvPr id="15" name="Ellipse 15"/>
            <p:cNvSpPr/>
            <p:nvPr/>
          </p:nvSpPr>
          <p:spPr>
            <a:xfrm>
              <a:off x="1162050" y="1276350"/>
              <a:ext cx="114300" cy="114300"/>
            </a:xfrm>
            <a:prstGeom prst="ellipse">
              <a:avLst/>
            </a:prstGeom>
            <a:solidFill>
              <a:srgbClr val="EAF4F6"/>
            </a:solidFill>
            <a:ln>
              <a:noFill/>
            </a:ln>
          </p:spPr>
        </p:sp>
        <p:sp>
          <p:nvSpPr>
            <p:cNvPr id="16" name="TextBox 16"/>
            <p:cNvSpPr txBox="1"/>
            <p:nvPr/>
          </p:nvSpPr>
          <p:spPr>
            <a:xfrm>
              <a:off x="832866" y="1563052"/>
              <a:ext cx="1844231"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class OgrenciEDA:</a:t>
              </a:r>
              <a:br/>
              <a:r>
                <a:rPr lang="tr-TR" sz="1050" dirty="0">
                  <a:solidFill>
                    <a:srgbClr val="EAF4F6"/>
                  </a:solidFill>
                  <a:latin typeface="Consolas"/>
                  <a:ea typeface="Consolas"/>
                  <a:cs typeface="Consolas"/>
                </a:rPr>
                <a:t>def __init__(self, veri):</a:t>
              </a:r>
              <a:br/>
              <a:r>
                <a:rPr lang="tr-TR" sz="1050" dirty="0">
                  <a:solidFill>
                    <a:srgbClr val="EAF4F6"/>
                  </a:solidFill>
                  <a:latin typeface="Consolas"/>
                  <a:ea typeface="Consolas"/>
                  <a:cs typeface="Consolas"/>
                </a:rPr>
                <a:t>self.veri = veri.copy()</a:t>
              </a:r>
            </a:p>
          </p:txBody>
        </p:sp>
        <p:sp>
          <p:nvSpPr>
            <p:cNvPr id="17" name="TextBox 17"/>
            <p:cNvSpPr txBox="1"/>
            <p:nvPr/>
          </p:nvSpPr>
          <p:spPr>
            <a:xfrm>
              <a:off x="832866" y="2325052"/>
              <a:ext cx="2210943" cy="7768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def veri_dogrula(self):</a:t>
              </a:r>
              <a:br/>
              <a:r>
                <a:rPr lang="tr-TR" sz="1050" dirty="0">
                  <a:solidFill>
                    <a:srgbClr val="00A6A6"/>
                  </a:solidFill>
                  <a:latin typeface="Consolas"/>
                  <a:ea typeface="Consolas"/>
                  <a:cs typeface="Consolas"/>
                </a:rPr>
                <a:t>self.veri["calisma_saati"] = (</a:t>
              </a:r>
              <a:br/>
              <a:r>
                <a:rPr lang="tr-TR" sz="1050" dirty="0">
                  <a:solidFill>
                    <a:srgbClr val="00A6A6"/>
                  </a:solidFill>
                  <a:latin typeface="Consolas"/>
                  <a:ea typeface="Consolas"/>
                  <a:cs typeface="Consolas"/>
                </a:rPr>
                <a:t>self.veri["calisma_saati"]</a:t>
              </a:r>
              <a:br/>
              <a:r>
                <a:rPr lang="tr-TR" sz="1050" dirty="0">
                  <a:solidFill>
                    <a:srgbClr val="00A6A6"/>
                  </a:solidFill>
                  <a:latin typeface="Consolas"/>
                  <a:ea typeface="Consolas"/>
                  <a:cs typeface="Consolas"/>
                </a:rPr>
                <a:t>.fillna(medyan))</a:t>
              </a:r>
            </a:p>
          </p:txBody>
        </p:sp>
        <p:sp>
          <p:nvSpPr>
            <p:cNvPr id="18" name="TextBox 18"/>
            <p:cNvSpPr txBox="1"/>
            <p:nvPr/>
          </p:nvSpPr>
          <p:spPr>
            <a:xfrm>
              <a:off x="832866" y="3315652"/>
              <a:ext cx="2724341"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def ozet_yazdir(self):</a:t>
              </a:r>
              <a:br/>
              <a:r>
                <a:rPr lang="tr-TR" sz="1050" dirty="0">
                  <a:solidFill>
                    <a:srgbClr val="EAF4F6"/>
                  </a:solidFill>
                  <a:latin typeface="Consolas"/>
                  <a:ea typeface="Consolas"/>
                  <a:cs typeface="Consolas"/>
                </a:rPr>
                <a:t>carpiklik = veri["sinav_notu"].skew()</a:t>
              </a:r>
              <a:br/>
              <a:r>
                <a:rPr lang="tr-TR" sz="1050" dirty="0">
                  <a:solidFill>
                    <a:srgbClr val="EAF4F6"/>
                  </a:solidFill>
                  <a:latin typeface="Consolas"/>
                  <a:ea typeface="Consolas"/>
                  <a:cs typeface="Consolas"/>
                </a:rPr>
                <a:t>return veri.corr(numeric_only=True)</a:t>
              </a:r>
            </a:p>
          </p:txBody>
        </p:sp>
        <p:sp>
          <p:nvSpPr>
            <p:cNvPr id="19" name="TextBox 19"/>
            <p:cNvSpPr txBox="1"/>
            <p:nvPr/>
          </p:nvSpPr>
          <p:spPr>
            <a:xfrm>
              <a:off x="832866" y="4115752"/>
              <a:ext cx="2577656"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00A6A6"/>
                  </a:solidFill>
                  <a:latin typeface="Consolas"/>
                  <a:ea typeface="Consolas"/>
                  <a:cs typeface="Consolas"/>
                </a:rPr>
                <a:t>def grafikleri_uret(self, kor_mat):</a:t>
              </a:r>
              <a:br/>
              <a:r>
                <a:rPr lang="tr-TR" sz="1050" dirty="0">
                  <a:solidFill>
                    <a:srgbClr val="00A6A6"/>
                  </a:solidFill>
                  <a:latin typeface="Consolas"/>
                  <a:ea typeface="Consolas"/>
                  <a:cs typeface="Consolas"/>
                </a:rPr>
                <a:t>sns.histplot(...); sns.boxplot(...)</a:t>
              </a:r>
              <a:br/>
              <a:r>
                <a:rPr lang="tr-TR" sz="1050" dirty="0">
                  <a:solidFill>
                    <a:srgbClr val="00A6A6"/>
                  </a:solidFill>
                  <a:latin typeface="Consolas"/>
                  <a:ea typeface="Consolas"/>
                  <a:cs typeface="Consolas"/>
                </a:rPr>
                <a:t>sns.heatmap(kor_mat, annot=True)</a:t>
              </a:r>
            </a:p>
          </p:txBody>
        </p:sp>
        <p:sp>
          <p:nvSpPr>
            <p:cNvPr id="20" name="TextBox 20"/>
            <p:cNvSpPr txBox="1"/>
            <p:nvPr/>
          </p:nvSpPr>
          <p:spPr>
            <a:xfrm>
              <a:off x="833247" y="5209699"/>
              <a:ext cx="2474214" cy="552640"/>
            </a:xfrm>
            <a:prstGeom prst="rect">
              <a:avLst/>
            </a:prstGeom>
            <a:noFill/>
            <a:ln>
              <a:noFill/>
            </a:ln>
          </p:spPr>
          <p:txBody>
            <a:bodyPr wrap="none" lIns="0" tIns="0" rIns="0" bIns="0" anchor="t" anchorCtr="0">
              <a:spAutoFit/>
            </a:bodyPr>
            <a:lstStyle/>
            <a:p>
              <a:pPr algn="l">
                <a:lnSpc>
                  <a:spcPts val="1425"/>
                </a:lnSpc>
              </a:pPr>
              <a:r>
                <a:rPr lang="tr-TR" sz="980" dirty="0">
                  <a:solidFill>
                    <a:srgbClr val="B8CBD3"/>
                  </a:solidFill>
                  <a:latin typeface="Consolas"/>
                  <a:ea typeface="Consolas"/>
                  <a:cs typeface="Consolas"/>
                </a:rPr>
                <a:t># Çıktı: eksik değer özeti, betimsel</a:t>
              </a:r>
              <a:br/>
              <a:r>
                <a:rPr lang="tr-TR" sz="980" dirty="0">
                  <a:solidFill>
                    <a:srgbClr val="B8CBD3"/>
                  </a:solidFill>
                  <a:latin typeface="Consolas"/>
                  <a:ea typeface="Consolas"/>
                  <a:cs typeface="Consolas"/>
                </a:rPr>
                <a:t># istatistik, çarpıklık, korelasyon</a:t>
              </a:r>
              <a:br/>
              <a:r>
                <a:rPr lang="tr-TR" sz="980" dirty="0">
                  <a:solidFill>
                    <a:srgbClr val="B8CBD3"/>
                  </a:solidFill>
                  <a:latin typeface="Consolas"/>
                  <a:ea typeface="Consolas"/>
                  <a:cs typeface="Consolas"/>
                </a:rPr>
                <a:t># ve üç EDA grafiği üretilir.</a:t>
              </a:r>
            </a:p>
          </p:txBody>
        </p:sp>
      </p:grpSp>
      <p:grpSp>
        <p:nvGrpSpPr>
          <p:cNvPr id="25" name="steps-card"/>
          <p:cNvGrpSpPr/>
          <p:nvPr/>
        </p:nvGrpSpPr>
        <p:grpSpPr>
          <a:xfrm>
            <a:off x="6819900" y="1104900"/>
            <a:ext cx="4762500" cy="2476500"/>
            <a:chOff x="6819900" y="1104900"/>
            <a:chExt cx="4762500" cy="2476500"/>
          </a:xfrm>
        </p:grpSpPr>
        <p:sp>
          <p:nvSpPr>
            <p:cNvPr id="22" name="Rectangle 22"/>
            <p:cNvSpPr/>
            <p:nvPr/>
          </p:nvSpPr>
          <p:spPr>
            <a:xfrm>
              <a:off x="6819900" y="1104900"/>
              <a:ext cx="4762500" cy="2476500"/>
            </a:xfrm>
            <a:prstGeom prst="roundRect">
              <a:avLst>
                <a:gd name="adj" fmla="val 3846"/>
              </a:avLst>
            </a:prstGeom>
            <a:solidFill>
              <a:srgbClr val="FFFFFF"/>
            </a:solidFill>
            <a:ln w="14288">
              <a:solidFill>
                <a:srgbClr val="B8CBD3"/>
              </a:solidFill>
            </a:ln>
          </p:spPr>
        </p:sp>
        <p:sp>
          <p:nvSpPr>
            <p:cNvPr id="23" name="TextBox 23"/>
            <p:cNvSpPr txBox="1"/>
            <p:nvPr/>
          </p:nvSpPr>
          <p:spPr>
            <a:xfrm>
              <a:off x="7040118" y="1269682"/>
              <a:ext cx="358125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Neden sınıf olarak tasarlandı?</a:t>
              </a:r>
            </a:p>
          </p:txBody>
        </p:sp>
        <p:sp>
          <p:nvSpPr>
            <p:cNvPr id="24" name="TextBox 24"/>
            <p:cNvSpPr txBox="1"/>
            <p:nvPr/>
          </p:nvSpPr>
          <p:spPr>
            <a:xfrm>
              <a:off x="7042404" y="1661160"/>
              <a:ext cx="3174492" cy="13776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Doğrulama, özetleme ve görselleştirme</a:t>
              </a:r>
              <a:br/>
              <a:r>
                <a:rPr lang="tr-TR" sz="1200" dirty="0">
                  <a:solidFill>
                    <a:srgbClr val="172B3A"/>
                  </a:solidFill>
                  <a:latin typeface="+mn-lt"/>
                  <a:ea typeface="+mn-ea"/>
                  <a:cs typeface="+mn-cs"/>
                </a:rPr>
                <a:t>adımları birbirinden bağımsız test edilir.</a:t>
              </a:r>
              <a:br/>
              <a:r>
                <a:rPr lang="tr-TR" sz="1200" dirty="0">
                  <a:solidFill>
                    <a:srgbClr val="172B3A"/>
                  </a:solidFill>
                  <a:latin typeface="+mn-lt"/>
                  <a:ea typeface="+mn-ea"/>
                  <a:cs typeface="+mn-cs"/>
                </a:rPr>
                <a:t>`veri_dogrula()` her zaman diğer iki</a:t>
              </a:r>
              <a:br/>
              <a:r>
                <a:rPr lang="tr-TR" sz="1200" dirty="0">
                  <a:solidFill>
                    <a:srgbClr val="172B3A"/>
                  </a:solidFill>
                  <a:latin typeface="+mn-lt"/>
                  <a:ea typeface="+mn-ea"/>
                  <a:cs typeface="+mn-cs"/>
                </a:rPr>
                <a:t>metottan önce çalışmalıdır; aksi hâlde</a:t>
              </a:r>
              <a:br/>
              <a:r>
                <a:rPr lang="tr-TR" sz="1200" dirty="0">
                  <a:solidFill>
                    <a:srgbClr val="172B3A"/>
                  </a:solidFill>
                  <a:latin typeface="+mn-lt"/>
                  <a:ea typeface="+mn-ea"/>
                  <a:cs typeface="+mn-cs"/>
                </a:rPr>
                <a:t>eksik veya hatalı veri sessizce yanlış</a:t>
              </a:r>
              <a:br/>
              <a:r>
                <a:rPr lang="tr-TR" sz="1200" dirty="0">
                  <a:solidFill>
                    <a:srgbClr val="172B3A"/>
                  </a:solidFill>
                  <a:latin typeface="+mn-lt"/>
                  <a:ea typeface="+mn-ea"/>
                  <a:cs typeface="+mn-cs"/>
                </a:rPr>
                <a:t>istatistiklere karışabilir.</a:t>
              </a:r>
            </a:p>
          </p:txBody>
        </p:sp>
      </p:grpSp>
      <p:grpSp>
        <p:nvGrpSpPr>
          <p:cNvPr id="29" name="capstone-card"/>
          <p:cNvGrpSpPr/>
          <p:nvPr/>
        </p:nvGrpSpPr>
        <p:grpSpPr>
          <a:xfrm>
            <a:off x="6819900" y="3810000"/>
            <a:ext cx="4762500" cy="2057400"/>
            <a:chOff x="6819900" y="3810000"/>
            <a:chExt cx="4762500" cy="2057400"/>
          </a:xfrm>
        </p:grpSpPr>
        <p:sp>
          <p:nvSpPr>
            <p:cNvPr id="26" name="Rectangle 26"/>
            <p:cNvSpPr/>
            <p:nvPr/>
          </p:nvSpPr>
          <p:spPr>
            <a:xfrm>
              <a:off x="6819900" y="3810000"/>
              <a:ext cx="4762500" cy="2057400"/>
            </a:xfrm>
            <a:prstGeom prst="roundRect">
              <a:avLst>
                <a:gd name="adj" fmla="val 4630"/>
              </a:avLst>
            </a:prstGeom>
            <a:solidFill>
              <a:srgbClr val="EAF4F6"/>
            </a:solidFill>
            <a:ln w="14288">
              <a:solidFill>
                <a:srgbClr val="00A6A6"/>
              </a:solidFill>
            </a:ln>
          </p:spPr>
        </p:sp>
        <p:sp>
          <p:nvSpPr>
            <p:cNvPr id="27" name="TextBox 27"/>
            <p:cNvSpPr txBox="1"/>
            <p:nvPr/>
          </p:nvSpPr>
          <p:spPr>
            <a:xfrm>
              <a:off x="7040880" y="3990975"/>
              <a:ext cx="327792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Capstone Katkısı — Telco Churn</a:t>
              </a:r>
            </a:p>
          </p:txBody>
        </p:sp>
        <p:sp>
          <p:nvSpPr>
            <p:cNvPr id="28" name="TextBox 28"/>
            <p:cNvSpPr txBox="1"/>
            <p:nvPr/>
          </p:nvSpPr>
          <p:spPr>
            <a:xfrm>
              <a:off x="7042404" y="4328160"/>
              <a:ext cx="31897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Aynı mantığı `MonthlyCharges`, `tenure`</a:t>
              </a:r>
              <a:br/>
              <a:r>
                <a:rPr lang="tr-TR" sz="1200" dirty="0">
                  <a:solidFill>
                    <a:srgbClr val="172B3A"/>
                  </a:solidFill>
                  <a:latin typeface="+mn-lt"/>
                  <a:ea typeface="+mn-ea"/>
                  <a:cs typeface="+mn-cs"/>
                </a:rPr>
                <a:t>ve `Churn` için uyarlayın: veri sözlüğü ve</a:t>
              </a:r>
              <a:br/>
              <a:r>
                <a:rPr lang="tr-TR" sz="1200" dirty="0">
                  <a:solidFill>
                    <a:srgbClr val="172B3A"/>
                  </a:solidFill>
                  <a:latin typeface="+mn-lt"/>
                  <a:ea typeface="+mn-ea"/>
                  <a:cs typeface="+mn-cs"/>
                </a:rPr>
                <a:t>EDA notu, Bölüm 3'ün sızıntısız ön</a:t>
              </a:r>
              <a:br/>
              <a:r>
                <a:rPr lang="tr-TR" sz="1200" dirty="0">
                  <a:solidFill>
                    <a:srgbClr val="172B3A"/>
                  </a:solidFill>
                  <a:latin typeface="+mn-lt"/>
                  <a:ea typeface="+mn-ea"/>
                  <a:cs typeface="+mn-cs"/>
                </a:rPr>
                <a:t>işleme hattının girdisi olacaktır.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26</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07202" cy="668845"/>
            <a:chOff x="609600" y="171450"/>
            <a:chExt cx="840720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1683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hata ayıklama</a:t>
              </a:r>
            </a:p>
          </p:txBody>
        </p:sp>
      </p:grpSp>
      <p:grpSp>
        <p:nvGrpSpPr>
          <p:cNvPr id="21" name="bug-code"/>
          <p:cNvGrpSpPr/>
          <p:nvPr/>
        </p:nvGrpSpPr>
        <p:grpSpPr>
          <a:xfrm>
            <a:off x="609600" y="1104900"/>
            <a:ext cx="5676900" cy="2857500"/>
            <a:chOff x="609600" y="1104900"/>
            <a:chExt cx="5676900" cy="2857500"/>
          </a:xfrm>
        </p:grpSpPr>
        <p:sp>
          <p:nvSpPr>
            <p:cNvPr id="12" name="Rectangle 12"/>
            <p:cNvSpPr/>
            <p:nvPr/>
          </p:nvSpPr>
          <p:spPr>
            <a:xfrm>
              <a:off x="609600" y="1104900"/>
              <a:ext cx="5676900" cy="2857500"/>
            </a:xfrm>
            <a:prstGeom prst="roundRect">
              <a:avLst>
                <a:gd name="adj" fmla="val 3333"/>
              </a:avLst>
            </a:prstGeom>
            <a:solidFill>
              <a:srgbClr val="12355B"/>
            </a:solidFill>
            <a:ln>
              <a:noFill/>
            </a:ln>
          </p:spPr>
        </p:sp>
        <p:sp>
          <p:nvSpPr>
            <p:cNvPr id="13" name="Ellipse 13"/>
            <p:cNvSpPr/>
            <p:nvPr/>
          </p:nvSpPr>
          <p:spPr>
            <a:xfrm>
              <a:off x="781050" y="1276350"/>
              <a:ext cx="114300" cy="114300"/>
            </a:xfrm>
            <a:prstGeom prst="ellipse">
              <a:avLst/>
            </a:prstGeom>
            <a:solidFill>
              <a:srgbClr val="00A6A6"/>
            </a:solidFill>
            <a:ln>
              <a:noFill/>
            </a:ln>
          </p:spPr>
        </p:sp>
        <p:sp>
          <p:nvSpPr>
            <p:cNvPr id="14" name="Ellipse 14"/>
            <p:cNvSpPr/>
            <p:nvPr/>
          </p:nvSpPr>
          <p:spPr>
            <a:xfrm>
              <a:off x="971550" y="1276350"/>
              <a:ext cx="114300" cy="114300"/>
            </a:xfrm>
            <a:prstGeom prst="ellipse">
              <a:avLst/>
            </a:prstGeom>
            <a:solidFill>
              <a:srgbClr val="2E86AB"/>
            </a:solidFill>
            <a:ln>
              <a:noFill/>
            </a:ln>
          </p:spPr>
        </p:sp>
        <p:sp>
          <p:nvSpPr>
            <p:cNvPr id="15" name="Ellipse 15"/>
            <p:cNvSpPr/>
            <p:nvPr/>
          </p:nvSpPr>
          <p:spPr>
            <a:xfrm>
              <a:off x="1162050" y="1276350"/>
              <a:ext cx="114300" cy="114300"/>
            </a:xfrm>
            <a:prstGeom prst="ellipse">
              <a:avLst/>
            </a:prstGeom>
            <a:solidFill>
              <a:srgbClr val="EAF4F6"/>
            </a:solidFill>
            <a:ln>
              <a:noFill/>
            </a:ln>
          </p:spPr>
        </p:sp>
        <p:sp>
          <p:nvSpPr>
            <p:cNvPr id="16" name="TextBox 16"/>
            <p:cNvSpPr txBox="1"/>
            <p:nvPr/>
          </p:nvSpPr>
          <p:spPr>
            <a:xfrm>
              <a:off x="832866" y="1524952"/>
              <a:ext cx="2504100" cy="205359"/>
            </a:xfrm>
            <a:prstGeom prst="rect">
              <a:avLst/>
            </a:prstGeom>
            <a:noFill/>
            <a:ln>
              <a:noFill/>
            </a:ln>
          </p:spPr>
          <p:txBody>
            <a:bodyPr wrap="none" lIns="0" tIns="0" rIns="0" bIns="0" anchor="t" anchorCtr="0">
              <a:spAutoFit/>
            </a:bodyPr>
            <a:lstStyle/>
            <a:p>
              <a:pPr algn="l"/>
              <a:r>
                <a:rPr lang="tr-TR" sz="1050" b="1" dirty="0">
                  <a:solidFill>
                    <a:srgbClr val="B8CBD3"/>
                  </a:solidFill>
                  <a:latin typeface="+mn-lt"/>
                  <a:ea typeface="+mn-ea"/>
                  <a:cs typeface="+mn-cs"/>
                </a:rPr>
                <a:t>07_eda_hata_ayiklama.py (hatalı)</a:t>
              </a:r>
            </a:p>
          </p:txBody>
        </p:sp>
        <p:sp>
          <p:nvSpPr>
            <p:cNvPr id="17" name="TextBox 17"/>
            <p:cNvSpPr txBox="1"/>
            <p:nvPr/>
          </p:nvSpPr>
          <p:spPr>
            <a:xfrm>
              <a:off x="833247" y="1818799"/>
              <a:ext cx="3364103" cy="381191"/>
            </a:xfrm>
            <a:prstGeom prst="rect">
              <a:avLst/>
            </a:prstGeom>
            <a:noFill/>
            <a:ln>
              <a:noFill/>
            </a:ln>
          </p:spPr>
          <p:txBody>
            <a:bodyPr wrap="none" lIns="0" tIns="0" rIns="0" bIns="0" anchor="t" anchorCtr="0">
              <a:spAutoFit/>
            </a:bodyPr>
            <a:lstStyle/>
            <a:p>
              <a:pPr algn="l">
                <a:lnSpc>
                  <a:spcPts val="1500"/>
                </a:lnSpc>
              </a:pPr>
              <a:r>
                <a:rPr lang="tr-TR" sz="980" dirty="0">
                  <a:solidFill>
                    <a:srgbClr val="EAF4F6"/>
                  </a:solidFill>
                  <a:latin typeface="Consolas"/>
                  <a:ea typeface="Consolas"/>
                  <a:cs typeface="Consolas"/>
                </a:rPr>
                <a:t>notlar = df["sinav_notu"]</a:t>
              </a:r>
              <a:br/>
              <a:r>
                <a:rPr lang="tr-TR" sz="980" dirty="0">
                  <a:solidFill>
                    <a:srgbClr val="EAF4F6"/>
                  </a:solidFill>
                  <a:latin typeface="Consolas"/>
                  <a:ea typeface="Consolas"/>
                  <a:cs typeface="Consolas"/>
                </a:rPr>
                <a:t>ort = sum(notlar) / len(notlar) # str karışabilir</a:t>
              </a:r>
            </a:p>
          </p:txBody>
        </p:sp>
        <p:sp>
          <p:nvSpPr>
            <p:cNvPr id="18" name="TextBox 18"/>
            <p:cNvSpPr txBox="1"/>
            <p:nvPr/>
          </p:nvSpPr>
          <p:spPr>
            <a:xfrm>
              <a:off x="833247" y="2295049"/>
              <a:ext cx="3090291" cy="381191"/>
            </a:xfrm>
            <a:prstGeom prst="rect">
              <a:avLst/>
            </a:prstGeom>
            <a:noFill/>
            <a:ln>
              <a:noFill/>
            </a:ln>
          </p:spPr>
          <p:txBody>
            <a:bodyPr wrap="none" lIns="0" tIns="0" rIns="0" bIns="0" anchor="t" anchorCtr="0">
              <a:spAutoFit/>
            </a:bodyPr>
            <a:lstStyle/>
            <a:p>
              <a:pPr algn="l">
                <a:lnSpc>
                  <a:spcPts val="1500"/>
                </a:lnSpc>
              </a:pPr>
              <a:r>
                <a:rPr lang="tr-TR" sz="980" dirty="0">
                  <a:solidFill>
                    <a:srgbClr val="00A6A6"/>
                  </a:solidFill>
                  <a:latin typeface="Consolas"/>
                  <a:ea typeface="Consolas"/>
                  <a:cs typeface="Consolas"/>
                </a:rPr>
                <a:t>if ort &gt; 70:</a:t>
              </a:r>
              <a:br/>
              <a:r>
                <a:rPr lang="tr-TR" sz="980" dirty="0">
                  <a:solidFill>
                    <a:srgbClr val="00A6A6"/>
                  </a:solidFill>
                  <a:latin typeface="Consolas"/>
                  <a:ea typeface="Consolas"/>
                  <a:cs typeface="Consolas"/>
                </a:rPr>
                <a:t>print("hepsi başarılı") # tek ort. genellenir</a:t>
              </a:r>
            </a:p>
          </p:txBody>
        </p:sp>
        <p:sp>
          <p:nvSpPr>
            <p:cNvPr id="19" name="TextBox 19"/>
            <p:cNvSpPr txBox="1"/>
            <p:nvPr/>
          </p:nvSpPr>
          <p:spPr>
            <a:xfrm>
              <a:off x="833247" y="2771299"/>
              <a:ext cx="357094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df["calışma_saati"].mean() # Türkçe karakterli ad</a:t>
              </a:r>
            </a:p>
          </p:txBody>
        </p:sp>
        <p:sp>
          <p:nvSpPr>
            <p:cNvPr id="20" name="TextBox 20"/>
            <p:cNvSpPr txBox="1"/>
            <p:nvPr/>
          </p:nvSpPr>
          <p:spPr>
            <a:xfrm>
              <a:off x="833247" y="3095149"/>
              <a:ext cx="3928156" cy="190690"/>
            </a:xfrm>
            <a:prstGeom prst="rect">
              <a:avLst/>
            </a:prstGeom>
            <a:noFill/>
            <a:ln>
              <a:noFill/>
            </a:ln>
          </p:spPr>
          <p:txBody>
            <a:bodyPr wrap="none" lIns="0" tIns="0" rIns="0" bIns="0" anchor="t" anchorCtr="0">
              <a:spAutoFit/>
            </a:bodyPr>
            <a:lstStyle/>
            <a:p>
              <a:pPr algn="l"/>
              <a:r>
                <a:rPr lang="tr-TR" sz="980" dirty="0">
                  <a:solidFill>
                    <a:srgbClr val="00A6A6"/>
                  </a:solidFill>
                  <a:latin typeface="Consolas"/>
                  <a:ea typeface="Consolas"/>
                  <a:cs typeface="Consolas"/>
                </a:rPr>
                <a:t>df["devamsizlik_gunu"].fillna(0) # eksik veri gizlenir</a:t>
              </a:r>
            </a:p>
          </p:txBody>
        </p:sp>
      </p:grpSp>
      <p:grpSp>
        <p:nvGrpSpPr>
          <p:cNvPr id="28" name="fix-code"/>
          <p:cNvGrpSpPr/>
          <p:nvPr/>
        </p:nvGrpSpPr>
        <p:grpSpPr>
          <a:xfrm>
            <a:off x="6438900" y="1104900"/>
            <a:ext cx="5143500" cy="2857500"/>
            <a:chOff x="6438900" y="1104900"/>
            <a:chExt cx="5143500" cy="2857500"/>
          </a:xfrm>
        </p:grpSpPr>
        <p:sp>
          <p:nvSpPr>
            <p:cNvPr id="22" name="Rectangle 22"/>
            <p:cNvSpPr/>
            <p:nvPr/>
          </p:nvSpPr>
          <p:spPr>
            <a:xfrm>
              <a:off x="6438900" y="1104900"/>
              <a:ext cx="5143500" cy="2857500"/>
            </a:xfrm>
            <a:prstGeom prst="roundRect">
              <a:avLst>
                <a:gd name="adj" fmla="val 3333"/>
              </a:avLst>
            </a:prstGeom>
            <a:solidFill>
              <a:srgbClr val="FFFFFF"/>
            </a:solidFill>
            <a:ln w="14288">
              <a:solidFill>
                <a:srgbClr val="00A6A6"/>
              </a:solidFill>
            </a:ln>
          </p:spPr>
        </p:sp>
        <p:sp>
          <p:nvSpPr>
            <p:cNvPr id="23" name="TextBox 23"/>
            <p:cNvSpPr txBox="1"/>
            <p:nvPr/>
          </p:nvSpPr>
          <p:spPr>
            <a:xfrm>
              <a:off x="6660642" y="1302068"/>
              <a:ext cx="84967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Düzeltme</a:t>
              </a:r>
            </a:p>
          </p:txBody>
        </p:sp>
        <p:sp>
          <p:nvSpPr>
            <p:cNvPr id="24" name="TextBox 24"/>
            <p:cNvSpPr txBox="1"/>
            <p:nvPr/>
          </p:nvSpPr>
          <p:spPr>
            <a:xfrm>
              <a:off x="6662166" y="1601152"/>
              <a:ext cx="2797683"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 xml:space="preserve">1. Tür hatası: </a:t>
              </a:r>
              <a:r>
                <a:rPr lang="tr-TR" sz="1050" b="1" dirty="0">
                  <a:solidFill>
                    <a:srgbClr val="172B3A"/>
                  </a:solidFill>
                  <a:latin typeface="+mn-lt"/>
                  <a:ea typeface="+mn-ea"/>
                  <a:cs typeface="+mn-cs"/>
                </a:rPr>
                <a:t>pd.to_numeric</a:t>
              </a:r>
              <a:r>
                <a:rPr lang="tr-TR" sz="1050" dirty="0">
                  <a:solidFill>
                    <a:srgbClr val="172B3A"/>
                  </a:solidFill>
                  <a:latin typeface="+mn-lt"/>
                  <a:ea typeface="+mn-ea"/>
                  <a:cs typeface="+mn-cs"/>
                </a:rPr>
                <a:t xml:space="preserve"> ile</a:t>
              </a:r>
              <a:br/>
              <a:r>
                <a:rPr lang="tr-TR" sz="1050" dirty="0">
                  <a:solidFill>
                    <a:srgbClr val="172B3A"/>
                  </a:solidFill>
                  <a:latin typeface="+mn-lt"/>
                  <a:ea typeface="+mn-ea"/>
                  <a:cs typeface="+mn-cs"/>
                </a:rPr>
                <a:t>sayısala çevirip hatalı satırı işaretleyin.</a:t>
              </a:r>
            </a:p>
          </p:txBody>
        </p:sp>
        <p:sp>
          <p:nvSpPr>
            <p:cNvPr id="25" name="TextBox 25"/>
            <p:cNvSpPr txBox="1"/>
            <p:nvPr/>
          </p:nvSpPr>
          <p:spPr>
            <a:xfrm>
              <a:off x="6662166" y="2077402"/>
              <a:ext cx="2657666" cy="567309"/>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2. Mantık hatası: tek ortalamayla</a:t>
              </a:r>
              <a:br/>
              <a:r>
                <a:rPr lang="tr-TR" sz="1050" dirty="0">
                  <a:solidFill>
                    <a:srgbClr val="172B3A"/>
                  </a:solidFill>
                  <a:latin typeface="+mn-lt"/>
                  <a:ea typeface="+mn-ea"/>
                  <a:cs typeface="+mn-cs"/>
                </a:rPr>
                <a:t>"hepsi başarılı" denemeyin; dağılımı ve</a:t>
              </a:r>
              <a:br/>
              <a:r>
                <a:rPr lang="tr-TR" sz="1050" dirty="0">
                  <a:solidFill>
                    <a:srgbClr val="172B3A"/>
                  </a:solidFill>
                  <a:latin typeface="+mn-lt"/>
                  <a:ea typeface="+mn-ea"/>
                  <a:cs typeface="+mn-cs"/>
                </a:rPr>
                <a:t>çeyrekleri de inceleyin.</a:t>
              </a:r>
            </a:p>
          </p:txBody>
        </p:sp>
        <p:sp>
          <p:nvSpPr>
            <p:cNvPr id="26" name="TextBox 26"/>
            <p:cNvSpPr txBox="1"/>
            <p:nvPr/>
          </p:nvSpPr>
          <p:spPr>
            <a:xfrm>
              <a:off x="6662166" y="2648902"/>
              <a:ext cx="2717673"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3. Adlandırma hatası: sütun adını</a:t>
              </a:r>
              <a:br/>
              <a:r>
                <a:rPr lang="tr-TR" sz="1050" dirty="0">
                  <a:solidFill>
                    <a:srgbClr val="172B3A"/>
                  </a:solidFill>
                  <a:latin typeface="+mn-lt"/>
                  <a:ea typeface="+mn-ea"/>
                  <a:cs typeface="+mn-cs"/>
                </a:rPr>
                <a:t>ASCII ile ("calisma_saati") tutarlı yazın.</a:t>
              </a:r>
            </a:p>
          </p:txBody>
        </p:sp>
        <p:sp>
          <p:nvSpPr>
            <p:cNvPr id="27" name="TextBox 27"/>
            <p:cNvSpPr txBox="1"/>
            <p:nvPr/>
          </p:nvSpPr>
          <p:spPr>
            <a:xfrm>
              <a:off x="6662166" y="3125152"/>
              <a:ext cx="2684336" cy="386334"/>
            </a:xfrm>
            <a:prstGeom prst="rect">
              <a:avLst/>
            </a:prstGeom>
            <a:noFill/>
            <a:ln>
              <a:noFill/>
            </a:ln>
          </p:spPr>
          <p:txBody>
            <a:bodyPr wrap="none" lIns="0" tIns="0" rIns="0" bIns="0" anchor="t" anchorCtr="0">
              <a:spAutoFit/>
            </a:bodyPr>
            <a:lstStyle/>
            <a:p>
              <a:pPr algn="l">
                <a:lnSpc>
                  <a:spcPts val="1425"/>
                </a:lnSpc>
              </a:pPr>
              <a:r>
                <a:rPr lang="tr-TR" sz="1050" dirty="0">
                  <a:solidFill>
                    <a:srgbClr val="172B3A"/>
                  </a:solidFill>
                  <a:latin typeface="+mn-lt"/>
                  <a:ea typeface="+mn-ea"/>
                  <a:cs typeface="+mn-cs"/>
                </a:rPr>
                <a:t>4. Eksik değer hatası: `fillna(0)` yerine</a:t>
              </a:r>
              <a:br/>
              <a:r>
                <a:rPr lang="tr-TR" sz="1050" dirty="0">
                  <a:solidFill>
                    <a:srgbClr val="172B3A"/>
                  </a:solidFill>
                  <a:latin typeface="+mn-lt"/>
                  <a:ea typeface="+mn-ea"/>
                  <a:cs typeface="+mn-cs"/>
                </a:rPr>
                <a:t>medyan veya işaretli özel değer kullanın.</a:t>
              </a:r>
            </a:p>
          </p:txBody>
        </p:sp>
      </p:grpSp>
      <p:grpSp>
        <p:nvGrpSpPr>
          <p:cNvPr id="32" name="warn-band"/>
          <p:cNvGrpSpPr/>
          <p:nvPr/>
        </p:nvGrpSpPr>
        <p:grpSpPr>
          <a:xfrm>
            <a:off x="609600" y="4152900"/>
            <a:ext cx="10972800" cy="914400"/>
            <a:chOff x="609600" y="4152900"/>
            <a:chExt cx="10972800" cy="914400"/>
          </a:xfrm>
        </p:grpSpPr>
        <p:sp>
          <p:nvSpPr>
            <p:cNvPr id="29" name="Rectangle 29"/>
            <p:cNvSpPr/>
            <p:nvPr/>
          </p:nvSpPr>
          <p:spPr>
            <a:xfrm>
              <a:off x="609600" y="4152900"/>
              <a:ext cx="10972800" cy="914400"/>
            </a:xfrm>
            <a:prstGeom prst="roundRect">
              <a:avLst>
                <a:gd name="adj" fmla="val 8333"/>
              </a:avLst>
            </a:prstGeom>
            <a:solidFill>
              <a:srgbClr val="EAF4F6"/>
            </a:solidFill>
            <a:ln>
              <a:noFill/>
            </a:ln>
          </p:spPr>
        </p:sp>
        <p:sp>
          <p:nvSpPr>
            <p:cNvPr id="30" name="TextBox 30"/>
            <p:cNvSpPr txBox="1"/>
            <p:nvPr/>
          </p:nvSpPr>
          <p:spPr>
            <a:xfrm>
              <a:off x="907542" y="4331018"/>
              <a:ext cx="269085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Dört hata birlikte bulunabilir</a:t>
              </a:r>
            </a:p>
          </p:txBody>
        </p:sp>
        <p:sp>
          <p:nvSpPr>
            <p:cNvPr id="31" name="TextBox 31"/>
            <p:cNvSpPr txBox="1"/>
            <p:nvPr/>
          </p:nvSpPr>
          <p:spPr>
            <a:xfrm>
              <a:off x="908304" y="4613910"/>
              <a:ext cx="77312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Tür, mantık, adlandırma ve eksik değer hataları aynı betikte üst üste görülebilir; her adımdan sonra</a:t>
              </a:r>
              <a:br/>
              <a:r>
                <a:rPr lang="tr-TR" sz="1200" dirty="0">
                  <a:solidFill>
                    <a:srgbClr val="172B3A"/>
                  </a:solidFill>
                  <a:latin typeface="+mn-lt"/>
                  <a:ea typeface="+mn-ea"/>
                  <a:cs typeface="+mn-cs"/>
                </a:rPr>
                <a:t>`df.dtypes`, `df.isna().sum()` ve örnek satırları tekrar kontrol etmek gizli hataları erken yakalar.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26</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258697" cy="668845"/>
            <a:chOff x="609600" y="171450"/>
            <a:chExt cx="725869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5683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ve varsayımlar</a:t>
              </a:r>
            </a:p>
          </p:txBody>
        </p:sp>
      </p:grpSp>
      <p:grpSp>
        <p:nvGrpSpPr>
          <p:cNvPr id="21" name="formula-card"/>
          <p:cNvGrpSpPr/>
          <p:nvPr/>
        </p:nvGrpSpPr>
        <p:grpSpPr>
          <a:xfrm>
            <a:off x="609600" y="1104900"/>
            <a:ext cx="5295900" cy="2857500"/>
            <a:chOff x="609600" y="1104900"/>
            <a:chExt cx="5295900" cy="2857500"/>
          </a:xfrm>
        </p:grpSpPr>
        <p:sp>
          <p:nvSpPr>
            <p:cNvPr id="13" name="Rectangle 13"/>
            <p:cNvSpPr/>
            <p:nvPr/>
          </p:nvSpPr>
          <p:spPr>
            <a:xfrm>
              <a:off x="609600" y="1104900"/>
              <a:ext cx="5295900" cy="2857500"/>
            </a:xfrm>
            <a:prstGeom prst="roundRect">
              <a:avLst>
                <a:gd name="adj" fmla="val 3333"/>
              </a:avLst>
            </a:prstGeom>
            <a:solidFill>
              <a:srgbClr val="FFFFFF"/>
            </a:solidFill>
            <a:ln w="14288">
              <a:solidFill>
                <a:srgbClr val="B8CBD3"/>
              </a:solidFill>
            </a:ln>
          </p:spPr>
        </p:sp>
        <p:sp>
          <p:nvSpPr>
            <p:cNvPr id="14" name="TextBox 14"/>
            <p:cNvSpPr txBox="1"/>
            <p:nvPr/>
          </p:nvSpPr>
          <p:spPr>
            <a:xfrm>
              <a:off x="829818" y="1231582"/>
              <a:ext cx="304420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Betimsel ölçütlerin tanımı</a:t>
              </a:r>
            </a:p>
          </p:txBody>
        </p:sp>
        <p:sp>
          <p:nvSpPr>
            <p:cNvPr id="15" name="TextBox 15"/>
            <p:cNvSpPr txBox="1"/>
            <p:nvPr/>
          </p:nvSpPr>
          <p:spPr>
            <a:xfrm>
              <a:off x="832104" y="1623060"/>
              <a:ext cx="25942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Ortalama, veriyi tek bir merkezi</a:t>
              </a:r>
            </a:p>
          </p:txBody>
        </p:sp>
        <p:sp>
          <p:nvSpPr>
            <p:cNvPr id="16" name="TextBox 16"/>
            <p:cNvSpPr txBox="1"/>
            <p:nvPr/>
          </p:nvSpPr>
          <p:spPr>
            <a:xfrm>
              <a:off x="830580" y="1800225"/>
              <a:ext cx="1499949" cy="293370"/>
            </a:xfrm>
            <a:prstGeom prst="rect">
              <a:avLst/>
            </a:prstGeom>
            <a:noFill/>
            <a:ln>
              <a:noFill/>
            </a:ln>
          </p:spPr>
          <p:txBody>
            <a:bodyPr wrap="none" lIns="0" tIns="0" rIns="0" bIns="0" anchor="t" anchorCtr="0">
              <a:spAutoFit/>
            </a:bodyPr>
            <a:lstStyle/>
            <a:p>
              <a:pPr algn="l"/>
              <a:r>
                <a:rPr lang="el-GR" sz="1500" i="1" dirty="0">
                  <a:solidFill>
                    <a:srgbClr val="12355B"/>
                  </a:solidFill>
                  <a:latin typeface="+mn-lt"/>
                  <a:ea typeface="+mn-ea"/>
                  <a:cs typeface="+mn-cs"/>
                </a:rPr>
                <a:t>x̄ = (1/n) · Σxᵢ</a:t>
              </a:r>
            </a:p>
          </p:txBody>
        </p:sp>
        <p:sp>
          <p:nvSpPr>
            <p:cNvPr id="17" name="TextBox 17"/>
            <p:cNvSpPr txBox="1"/>
            <p:nvPr/>
          </p:nvSpPr>
          <p:spPr>
            <a:xfrm>
              <a:off x="832104" y="2156460"/>
              <a:ext cx="30303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Standart sapma, gözlemlerin ortalama</a:t>
              </a:r>
            </a:p>
          </p:txBody>
        </p:sp>
        <p:sp>
          <p:nvSpPr>
            <p:cNvPr id="18" name="TextBox 18"/>
            <p:cNvSpPr txBox="1"/>
            <p:nvPr/>
          </p:nvSpPr>
          <p:spPr>
            <a:xfrm>
              <a:off x="832104" y="2366010"/>
              <a:ext cx="24191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etrafındaki yayılımını ölçer:</a:t>
              </a:r>
            </a:p>
          </p:txBody>
        </p:sp>
        <p:sp>
          <p:nvSpPr>
            <p:cNvPr id="19" name="TextBox 19"/>
            <p:cNvSpPr txBox="1"/>
            <p:nvPr/>
          </p:nvSpPr>
          <p:spPr>
            <a:xfrm>
              <a:off x="830580" y="2619375"/>
              <a:ext cx="3088691" cy="293370"/>
            </a:xfrm>
            <a:prstGeom prst="rect">
              <a:avLst/>
            </a:prstGeom>
            <a:noFill/>
            <a:ln>
              <a:noFill/>
            </a:ln>
          </p:spPr>
          <p:txBody>
            <a:bodyPr wrap="none" lIns="0" tIns="0" rIns="0" bIns="0" anchor="t" anchorCtr="0">
              <a:spAutoFit/>
            </a:bodyPr>
            <a:lstStyle/>
            <a:p>
              <a:pPr algn="l"/>
              <a:r>
                <a:rPr lang="el-GR" sz="1500" i="1" dirty="0">
                  <a:solidFill>
                    <a:srgbClr val="12355B"/>
                  </a:solidFill>
                  <a:latin typeface="+mn-lt"/>
                  <a:ea typeface="+mn-ea"/>
                  <a:cs typeface="+mn-cs"/>
                </a:rPr>
                <a:t>s = √( (1/(n-1)) · Σ(xᵢ - x̄)² )</a:t>
              </a:r>
            </a:p>
          </p:txBody>
        </p:sp>
        <p:sp>
          <p:nvSpPr>
            <p:cNvPr id="20" name="TextBox 20"/>
            <p:cNvSpPr txBox="1"/>
            <p:nvPr/>
          </p:nvSpPr>
          <p:spPr>
            <a:xfrm>
              <a:off x="832104" y="3013710"/>
              <a:ext cx="24582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Medyan, sıralı verinin ortanca</a:t>
              </a:r>
              <a:br/>
              <a:r>
                <a:rPr lang="tr-TR" sz="1200" dirty="0">
                  <a:solidFill>
                    <a:srgbClr val="172B3A"/>
                  </a:solidFill>
                  <a:latin typeface="+mn-lt"/>
                  <a:ea typeface="+mn-ea"/>
                  <a:cs typeface="+mn-cs"/>
                </a:rPr>
                <a:t>değeridir ve aykırı gözlemlerden</a:t>
              </a:r>
              <a:br/>
              <a:r>
                <a:rPr lang="tr-TR" sz="1200" dirty="0">
                  <a:solidFill>
                    <a:srgbClr val="172B3A"/>
                  </a:solidFill>
                  <a:latin typeface="+mn-lt"/>
                  <a:ea typeface="+mn-ea"/>
                  <a:cs typeface="+mn-cs"/>
                </a:rPr>
                <a:t>ortalamadan daha az etkilenir.</a:t>
              </a:r>
            </a:p>
          </p:txBody>
        </p:sp>
      </p:grpSp>
      <p:grpSp>
        <p:nvGrpSpPr>
          <p:cNvPr id="27" name="descriptive-card"/>
          <p:cNvGrpSpPr/>
          <p:nvPr/>
        </p:nvGrpSpPr>
        <p:grpSpPr>
          <a:xfrm>
            <a:off x="6248400" y="1104900"/>
            <a:ext cx="5334000" cy="2857500"/>
            <a:chOff x="6248400" y="1104900"/>
            <a:chExt cx="5334000" cy="2857500"/>
          </a:xfrm>
        </p:grpSpPr>
        <p:sp>
          <p:nvSpPr>
            <p:cNvPr id="22" name="Rectangle 22"/>
            <p:cNvSpPr/>
            <p:nvPr/>
          </p:nvSpPr>
          <p:spPr>
            <a:xfrm>
              <a:off x="6248400" y="1104900"/>
              <a:ext cx="5334000" cy="2857500"/>
            </a:xfrm>
            <a:prstGeom prst="roundRect">
              <a:avLst>
                <a:gd name="adj" fmla="val 3333"/>
              </a:avLst>
            </a:prstGeom>
            <a:solidFill>
              <a:srgbClr val="EAF4F6"/>
            </a:solidFill>
            <a:ln w="14288">
              <a:solidFill>
                <a:srgbClr val="00A6A6"/>
              </a:solidFill>
            </a:ln>
          </p:spPr>
        </p:sp>
        <p:sp>
          <p:nvSpPr>
            <p:cNvPr id="23" name="TextBox 23"/>
            <p:cNvSpPr txBox="1"/>
            <p:nvPr/>
          </p:nvSpPr>
          <p:spPr>
            <a:xfrm>
              <a:off x="6468618" y="1231582"/>
              <a:ext cx="4163904"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Betimsel ve doğrulayıcı analiz farkı</a:t>
              </a:r>
            </a:p>
          </p:txBody>
        </p:sp>
        <p:sp>
          <p:nvSpPr>
            <p:cNvPr id="24" name="TextBox 24"/>
            <p:cNvSpPr txBox="1"/>
            <p:nvPr/>
          </p:nvSpPr>
          <p:spPr>
            <a:xfrm>
              <a:off x="6470904" y="1623060"/>
              <a:ext cx="314401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 xml:space="preserve">EDA </a:t>
              </a:r>
              <a:r>
                <a:rPr lang="tr-TR" sz="1200" b="1" dirty="0">
                  <a:solidFill>
                    <a:srgbClr val="172B3A"/>
                  </a:solidFill>
                  <a:latin typeface="+mn-lt"/>
                  <a:ea typeface="+mn-ea"/>
                  <a:cs typeface="+mn-cs"/>
                </a:rPr>
                <a:t>betimseldir</a:t>
              </a:r>
              <a:r>
                <a:rPr lang="tr-TR" sz="1200" dirty="0">
                  <a:solidFill>
                    <a:srgbClr val="172B3A"/>
                  </a:solidFill>
                  <a:latin typeface="+mn-lt"/>
                  <a:ea typeface="+mn-ea"/>
                  <a:cs typeface="+mn-cs"/>
                </a:rPr>
                <a:t>: veride örüntü ve</a:t>
              </a:r>
              <a:br/>
              <a:r>
                <a:rPr lang="tr-TR" sz="1200" dirty="0">
                  <a:solidFill>
                    <a:srgbClr val="172B3A"/>
                  </a:solidFill>
                  <a:latin typeface="+mn-lt"/>
                  <a:ea typeface="+mn-ea"/>
                  <a:cs typeface="+mn-cs"/>
                </a:rPr>
                <a:t>anomali arar, hipotez üretir.</a:t>
              </a:r>
              <a:br/>
              <a:r>
                <a:rPr lang="tr-TR" sz="1200" b="1" dirty="0">
                  <a:solidFill>
                    <a:srgbClr val="172B3A"/>
                  </a:solidFill>
                  <a:latin typeface="+mn-lt"/>
                  <a:ea typeface="+mn-ea"/>
                  <a:cs typeface="+mn-cs"/>
                </a:rPr>
                <a:t>Doğrulayıcı analiz</a:t>
              </a:r>
              <a:r>
                <a:rPr lang="tr-TR" sz="1200" dirty="0">
                  <a:solidFill>
                    <a:srgbClr val="172B3A"/>
                  </a:solidFill>
                  <a:latin typeface="+mn-lt"/>
                  <a:ea typeface="+mn-ea"/>
                  <a:cs typeface="+mn-cs"/>
                </a:rPr>
                <a:t xml:space="preserve"> ise önceden</a:t>
              </a:r>
              <a:br/>
              <a:r>
                <a:rPr lang="tr-TR" sz="1200" dirty="0">
                  <a:solidFill>
                    <a:srgbClr val="172B3A"/>
                  </a:solidFill>
                  <a:latin typeface="+mn-lt"/>
                  <a:ea typeface="+mn-ea"/>
                  <a:cs typeface="+mn-cs"/>
                </a:rPr>
                <a:t>belirlenmiş bir hipotezi, ayrı bir</a:t>
              </a:r>
              <a:br/>
              <a:r>
                <a:rPr lang="tr-TR" sz="1200" dirty="0">
                  <a:solidFill>
                    <a:srgbClr val="172B3A"/>
                  </a:solidFill>
                  <a:latin typeface="+mn-lt"/>
                  <a:ea typeface="+mn-ea"/>
                  <a:cs typeface="+mn-cs"/>
                </a:rPr>
                <a:t>veri kümesinde istatistiksel testle sınar.</a:t>
              </a:r>
            </a:p>
          </p:txBody>
        </p:sp>
        <p:sp>
          <p:nvSpPr>
            <p:cNvPr id="25" name="TextBox 25"/>
            <p:cNvSpPr txBox="1"/>
            <p:nvPr/>
          </p:nvSpPr>
          <p:spPr>
            <a:xfrm>
              <a:off x="6470904" y="2727960"/>
              <a:ext cx="212917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Çoklu karşılaştırma riski</a:t>
              </a:r>
            </a:p>
          </p:txBody>
        </p:sp>
        <p:sp>
          <p:nvSpPr>
            <p:cNvPr id="26" name="TextBox 26"/>
            <p:cNvSpPr txBox="1"/>
            <p:nvPr/>
          </p:nvSpPr>
          <p:spPr>
            <a:xfrm>
              <a:off x="6470904" y="2975610"/>
              <a:ext cx="29382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EDA sırasında onlarca ilişkiye</a:t>
              </a:r>
              <a:br/>
              <a:r>
                <a:rPr lang="tr-TR" sz="1200" dirty="0">
                  <a:solidFill>
                    <a:srgbClr val="172B3A"/>
                  </a:solidFill>
                  <a:latin typeface="+mn-lt"/>
                  <a:ea typeface="+mn-ea"/>
                  <a:cs typeface="+mn-cs"/>
                </a:rPr>
                <a:t>bakıldığında bazı korelasyonlar</a:t>
              </a:r>
              <a:br/>
              <a:r>
                <a:rPr lang="tr-TR" sz="1200" dirty="0">
                  <a:solidFill>
                    <a:srgbClr val="172B3A"/>
                  </a:solidFill>
                  <a:latin typeface="+mn-lt"/>
                  <a:ea typeface="+mn-ea"/>
                  <a:cs typeface="+mn-cs"/>
                </a:rPr>
                <a:t>yalnızca rastlantıyla yüksek çıkabilir.</a:t>
              </a:r>
            </a:p>
          </p:txBody>
        </p:sp>
      </p:grpSp>
      <p:grpSp>
        <p:nvGrpSpPr>
          <p:cNvPr id="48" name="purpose-table"/>
          <p:cNvGrpSpPr/>
          <p:nvPr/>
        </p:nvGrpSpPr>
        <p:grpSpPr>
          <a:xfrm>
            <a:off x="609600" y="4152900"/>
            <a:ext cx="10972800" cy="1905000"/>
            <a:chOff x="609600" y="4152900"/>
            <a:chExt cx="10972800" cy="1905000"/>
          </a:xfrm>
        </p:grpSpPr>
        <p:sp>
          <p:nvSpPr>
            <p:cNvPr id="28" name="Rectangle 28"/>
            <p:cNvSpPr/>
            <p:nvPr/>
          </p:nvSpPr>
          <p:spPr>
            <a:xfrm>
              <a:off x="609600" y="4152900"/>
              <a:ext cx="10972800" cy="342900"/>
            </a:xfrm>
            <a:prstGeom prst="rect">
              <a:avLst/>
            </a:prstGeom>
            <a:solidFill>
              <a:srgbClr val="12355B"/>
            </a:solidFill>
            <a:ln>
              <a:noFill/>
            </a:ln>
          </p:spPr>
        </p:sp>
        <p:sp>
          <p:nvSpPr>
            <p:cNvPr id="29" name="TextBox 29"/>
            <p:cNvSpPr txBox="1"/>
            <p:nvPr/>
          </p:nvSpPr>
          <p:spPr>
            <a:xfrm>
              <a:off x="756285" y="4260056"/>
              <a:ext cx="1421398"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İNCELEME AMACI</a:t>
              </a:r>
            </a:p>
          </p:txBody>
        </p:sp>
        <p:sp>
          <p:nvSpPr>
            <p:cNvPr id="30" name="TextBox 30"/>
            <p:cNvSpPr txBox="1"/>
            <p:nvPr/>
          </p:nvSpPr>
          <p:spPr>
            <a:xfrm>
              <a:off x="3994785" y="4260056"/>
              <a:ext cx="207317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KULLANILAN ÖLÇÜT/ARAÇ</a:t>
              </a:r>
            </a:p>
          </p:txBody>
        </p:sp>
        <p:sp>
          <p:nvSpPr>
            <p:cNvPr id="31" name="TextBox 31"/>
            <p:cNvSpPr txBox="1"/>
            <p:nvPr/>
          </p:nvSpPr>
          <p:spPr>
            <a:xfrm>
              <a:off x="7614285" y="4260056"/>
              <a:ext cx="210662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DİKKAT EDİLECEK NOKTA</a:t>
              </a:r>
            </a:p>
          </p:txBody>
        </p:sp>
        <p:sp>
          <p:nvSpPr>
            <p:cNvPr id="32" name="Rectangle 32"/>
            <p:cNvSpPr/>
            <p:nvPr/>
          </p:nvSpPr>
          <p:spPr>
            <a:xfrm>
              <a:off x="609600" y="4495800"/>
              <a:ext cx="10972800" cy="390525"/>
            </a:xfrm>
            <a:prstGeom prst="rect">
              <a:avLst/>
            </a:prstGeom>
            <a:solidFill>
              <a:srgbClr val="EAF4F6"/>
            </a:solidFill>
            <a:ln>
              <a:noFill/>
            </a:ln>
          </p:spPr>
        </p:sp>
        <p:sp>
          <p:nvSpPr>
            <p:cNvPr id="33" name="TextBox 33"/>
            <p:cNvSpPr txBox="1"/>
            <p:nvPr/>
          </p:nvSpPr>
          <p:spPr>
            <a:xfrm>
              <a:off x="756285" y="4622006"/>
              <a:ext cx="10487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Merkezi eğilim</a:t>
              </a:r>
            </a:p>
          </p:txBody>
        </p:sp>
        <p:sp>
          <p:nvSpPr>
            <p:cNvPr id="34" name="TextBox 34"/>
            <p:cNvSpPr txBox="1"/>
            <p:nvPr/>
          </p:nvSpPr>
          <p:spPr>
            <a:xfrm>
              <a:off x="3994785" y="4622006"/>
              <a:ext cx="135874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Ortalama, medyan</a:t>
              </a:r>
            </a:p>
          </p:txBody>
        </p:sp>
        <p:sp>
          <p:nvSpPr>
            <p:cNvPr id="35" name="TextBox 35"/>
            <p:cNvSpPr txBox="1"/>
            <p:nvPr/>
          </p:nvSpPr>
          <p:spPr>
            <a:xfrm>
              <a:off x="7614285" y="4622006"/>
              <a:ext cx="264724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Aykırı değerde medyan tercih edilir</a:t>
              </a:r>
            </a:p>
          </p:txBody>
        </p:sp>
        <p:sp>
          <p:nvSpPr>
            <p:cNvPr id="36" name="Rectangle 36"/>
            <p:cNvSpPr/>
            <p:nvPr/>
          </p:nvSpPr>
          <p:spPr>
            <a:xfrm>
              <a:off x="609600" y="4886325"/>
              <a:ext cx="10972800" cy="390525"/>
            </a:xfrm>
            <a:prstGeom prst="rect">
              <a:avLst/>
            </a:prstGeom>
            <a:solidFill>
              <a:srgbClr val="FFFFFF"/>
            </a:solidFill>
            <a:ln>
              <a:noFill/>
            </a:ln>
          </p:spPr>
        </p:sp>
        <p:sp>
          <p:nvSpPr>
            <p:cNvPr id="37" name="TextBox 37"/>
            <p:cNvSpPr txBox="1"/>
            <p:nvPr/>
          </p:nvSpPr>
          <p:spPr>
            <a:xfrm>
              <a:off x="756285" y="5012531"/>
              <a:ext cx="58900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Yayılım</a:t>
              </a:r>
            </a:p>
          </p:txBody>
        </p:sp>
        <p:sp>
          <p:nvSpPr>
            <p:cNvPr id="38" name="TextBox 38"/>
            <p:cNvSpPr txBox="1"/>
            <p:nvPr/>
          </p:nvSpPr>
          <p:spPr>
            <a:xfrm>
              <a:off x="3994785" y="5012531"/>
              <a:ext cx="200677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Standart sapma, çeyrekler</a:t>
              </a:r>
            </a:p>
          </p:txBody>
        </p:sp>
        <p:sp>
          <p:nvSpPr>
            <p:cNvPr id="39" name="TextBox 39"/>
            <p:cNvSpPr txBox="1"/>
            <p:nvPr/>
          </p:nvSpPr>
          <p:spPr>
            <a:xfrm>
              <a:off x="7614285" y="5012531"/>
              <a:ext cx="168953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Ölçek birimine bağlıdır</a:t>
              </a:r>
            </a:p>
          </p:txBody>
        </p:sp>
        <p:sp>
          <p:nvSpPr>
            <p:cNvPr id="40" name="Rectangle 40"/>
            <p:cNvSpPr/>
            <p:nvPr/>
          </p:nvSpPr>
          <p:spPr>
            <a:xfrm>
              <a:off x="609600" y="5276850"/>
              <a:ext cx="10972800" cy="390525"/>
            </a:xfrm>
            <a:prstGeom prst="rect">
              <a:avLst/>
            </a:prstGeom>
            <a:solidFill>
              <a:srgbClr val="EAF4F6"/>
            </a:solidFill>
            <a:ln>
              <a:noFill/>
            </a:ln>
          </p:spPr>
        </p:sp>
        <p:sp>
          <p:nvSpPr>
            <p:cNvPr id="41" name="TextBox 41"/>
            <p:cNvSpPr txBox="1"/>
            <p:nvPr/>
          </p:nvSpPr>
          <p:spPr>
            <a:xfrm>
              <a:off x="756285" y="5403056"/>
              <a:ext cx="35451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Şekil</a:t>
              </a:r>
            </a:p>
          </p:txBody>
        </p:sp>
        <p:sp>
          <p:nvSpPr>
            <p:cNvPr id="42" name="TextBox 42"/>
            <p:cNvSpPr txBox="1"/>
            <p:nvPr/>
          </p:nvSpPr>
          <p:spPr>
            <a:xfrm>
              <a:off x="3994785" y="5403056"/>
              <a:ext cx="159197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Çarpıklık, histogram</a:t>
              </a:r>
            </a:p>
          </p:txBody>
        </p:sp>
        <p:sp>
          <p:nvSpPr>
            <p:cNvPr id="43" name="TextBox 43"/>
            <p:cNvSpPr txBox="1"/>
            <p:nvPr/>
          </p:nvSpPr>
          <p:spPr>
            <a:xfrm>
              <a:off x="7614285" y="5403056"/>
              <a:ext cx="26924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Tek başına normalite kanıtı değildir</a:t>
              </a:r>
            </a:p>
          </p:txBody>
        </p:sp>
        <p:sp>
          <p:nvSpPr>
            <p:cNvPr id="44" name="Rectangle 44"/>
            <p:cNvSpPr/>
            <p:nvPr/>
          </p:nvSpPr>
          <p:spPr>
            <a:xfrm>
              <a:off x="609600" y="5667375"/>
              <a:ext cx="10972800" cy="390525"/>
            </a:xfrm>
            <a:prstGeom prst="rect">
              <a:avLst/>
            </a:prstGeom>
            <a:solidFill>
              <a:srgbClr val="FFFFFF"/>
            </a:solidFill>
            <a:ln>
              <a:noFill/>
            </a:ln>
          </p:spPr>
        </p:sp>
        <p:sp>
          <p:nvSpPr>
            <p:cNvPr id="45" name="TextBox 45"/>
            <p:cNvSpPr txBox="1"/>
            <p:nvPr/>
          </p:nvSpPr>
          <p:spPr>
            <a:xfrm>
              <a:off x="756285" y="5793581"/>
              <a:ext cx="3995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İlişki</a:t>
              </a:r>
            </a:p>
          </p:txBody>
        </p:sp>
        <p:sp>
          <p:nvSpPr>
            <p:cNvPr id="46" name="TextBox 46"/>
            <p:cNvSpPr txBox="1"/>
            <p:nvPr/>
          </p:nvSpPr>
          <p:spPr>
            <a:xfrm>
              <a:off x="3994785" y="5793581"/>
              <a:ext cx="25571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Korelasyon, saçılım, ısı haritası</a:t>
              </a:r>
            </a:p>
          </p:txBody>
        </p:sp>
        <p:sp>
          <p:nvSpPr>
            <p:cNvPr id="47" name="TextBox 47"/>
            <p:cNvSpPr txBox="1"/>
            <p:nvPr/>
          </p:nvSpPr>
          <p:spPr>
            <a:xfrm>
              <a:off x="7614285" y="5793581"/>
              <a:ext cx="248109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Nedensellik iddiasını desteklemez</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26</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eda"/>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4618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EDA</a:t>
              </a:r>
            </a:p>
          </p:txBody>
        </p:sp>
        <p:sp>
          <p:nvSpPr>
            <p:cNvPr id="8" name="TextBox 8"/>
            <p:cNvSpPr txBox="1"/>
            <p:nvPr/>
          </p:nvSpPr>
          <p:spPr>
            <a:xfrm>
              <a:off x="832104" y="1908810"/>
              <a:ext cx="2496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Modellemeden önce veriyi</a:t>
              </a:r>
              <a:br/>
              <a:r>
                <a:rPr lang="tr-TR" sz="1200" dirty="0">
                  <a:solidFill>
                    <a:srgbClr val="172B3A"/>
                  </a:solidFill>
                  <a:latin typeface="+mn-lt"/>
                  <a:ea typeface="+mn-ea"/>
                  <a:cs typeface="+mn-cs"/>
                </a:rPr>
                <a:t>doğrulayan, betimleyen ve</a:t>
              </a:r>
              <a:br/>
              <a:r>
                <a:rPr lang="tr-TR" sz="1200" dirty="0">
                  <a:solidFill>
                    <a:srgbClr val="172B3A"/>
                  </a:solidFill>
                  <a:latin typeface="+mn-lt"/>
                  <a:ea typeface="+mn-ea"/>
                  <a:cs typeface="+mn-cs"/>
                </a:rPr>
                <a:t>görselleştiren döngüsel adımdır.</a:t>
              </a:r>
            </a:p>
          </p:txBody>
        </p:sp>
      </p:grpSp>
      <p:grpSp>
        <p:nvGrpSpPr>
          <p:cNvPr id="13" name="summary-dagilim"/>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6216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Dağılım ve çarpıklık</a:t>
              </a:r>
            </a:p>
          </p:txBody>
        </p:sp>
        <p:sp>
          <p:nvSpPr>
            <p:cNvPr id="12" name="TextBox 12"/>
            <p:cNvSpPr txBox="1"/>
            <p:nvPr/>
          </p:nvSpPr>
          <p:spPr>
            <a:xfrm>
              <a:off x="4565904" y="1908810"/>
              <a:ext cx="23896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Histogram şekli, ortalama ve</a:t>
              </a:r>
              <a:br/>
              <a:r>
                <a:rPr lang="tr-TR" sz="1200" dirty="0">
                  <a:solidFill>
                    <a:srgbClr val="172B3A"/>
                  </a:solidFill>
                  <a:latin typeface="+mn-lt"/>
                  <a:ea typeface="+mn-ea"/>
                  <a:cs typeface="+mn-cs"/>
                </a:rPr>
                <a:t>medyanın ne zaman ayrıştığını</a:t>
              </a:r>
              <a:br/>
              <a:r>
                <a:rPr lang="tr-TR" sz="1200" dirty="0">
                  <a:solidFill>
                    <a:srgbClr val="172B3A"/>
                  </a:solidFill>
                  <a:latin typeface="+mn-lt"/>
                  <a:ea typeface="+mn-ea"/>
                  <a:cs typeface="+mn-cs"/>
                </a:rPr>
                <a:t>gösterir.</a:t>
              </a:r>
            </a:p>
          </p:txBody>
        </p:sp>
      </p:grpSp>
      <p:grpSp>
        <p:nvGrpSpPr>
          <p:cNvPr id="17" name="summary-korelasyon"/>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Korelasyon</a:t>
              </a:r>
            </a:p>
          </p:txBody>
        </p:sp>
        <p:sp>
          <p:nvSpPr>
            <p:cNvPr id="16" name="TextBox 16"/>
            <p:cNvSpPr txBox="1"/>
            <p:nvPr/>
          </p:nvSpPr>
          <p:spPr>
            <a:xfrm>
              <a:off x="8299704" y="1908810"/>
              <a:ext cx="1993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Saçılım grafiği ve katsayı</a:t>
              </a:r>
              <a:br/>
              <a:r>
                <a:rPr lang="tr-TR" sz="1200" dirty="0">
                  <a:solidFill>
                    <a:srgbClr val="172B3A"/>
                  </a:solidFill>
                  <a:latin typeface="+mn-lt"/>
                  <a:ea typeface="+mn-ea"/>
                  <a:cs typeface="+mn-cs"/>
                </a:rPr>
                <a:t>birlikte değişimi gösterir;</a:t>
              </a:r>
              <a:br/>
              <a:r>
                <a:rPr lang="tr-TR" sz="1200" dirty="0">
                  <a:solidFill>
                    <a:srgbClr val="172B3A"/>
                  </a:solidFill>
                  <a:latin typeface="+mn-lt"/>
                  <a:ea typeface="+mn-ea"/>
                  <a:cs typeface="+mn-cs"/>
                </a:rPr>
                <a:t>nedenselliği kanıtlamaz.</a:t>
              </a:r>
            </a:p>
          </p:txBody>
        </p:sp>
      </p:grpSp>
      <p:grpSp>
        <p:nvGrpSpPr>
          <p:cNvPr id="21" name="summary-kutu"/>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514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Kutu grafiği</a:t>
              </a:r>
            </a:p>
          </p:txBody>
        </p:sp>
        <p:sp>
          <p:nvSpPr>
            <p:cNvPr id="20" name="TextBox 20"/>
            <p:cNvSpPr txBox="1"/>
            <p:nvPr/>
          </p:nvSpPr>
          <p:spPr>
            <a:xfrm>
              <a:off x="832104" y="3718560"/>
              <a:ext cx="25572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Grup karşılaştırmasında medyan,</a:t>
              </a:r>
              <a:br/>
              <a:r>
                <a:rPr lang="tr-TR" sz="1200" dirty="0">
                  <a:solidFill>
                    <a:srgbClr val="172B3A"/>
                  </a:solidFill>
                  <a:latin typeface="+mn-lt"/>
                  <a:ea typeface="+mn-ea"/>
                  <a:cs typeface="+mn-cs"/>
                </a:rPr>
                <a:t>çeyrekler ve aykırı gözlemleri</a:t>
              </a:r>
              <a:br/>
              <a:r>
                <a:rPr lang="tr-TR" sz="1200" dirty="0">
                  <a:solidFill>
                    <a:srgbClr val="172B3A"/>
                  </a:solidFill>
                  <a:latin typeface="+mn-lt"/>
                  <a:ea typeface="+mn-ea"/>
                  <a:cs typeface="+mn-cs"/>
                </a:rPr>
                <a:t>birlikte görünür kılar.</a:t>
              </a:r>
            </a:p>
          </p:txBody>
        </p:sp>
      </p:grpSp>
      <p:grpSp>
        <p:nvGrpSpPr>
          <p:cNvPr id="25" name="summary-isi"/>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5143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Isı haritası</a:t>
              </a:r>
            </a:p>
          </p:txBody>
        </p:sp>
        <p:sp>
          <p:nvSpPr>
            <p:cNvPr id="24" name="TextBox 24"/>
            <p:cNvSpPr txBox="1"/>
            <p:nvPr/>
          </p:nvSpPr>
          <p:spPr>
            <a:xfrm>
              <a:off x="4565904" y="3718560"/>
              <a:ext cx="20086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Çok sayıda değişken çiftini</a:t>
              </a:r>
              <a:br/>
              <a:r>
                <a:rPr lang="tr-TR" sz="1200" dirty="0">
                  <a:solidFill>
                    <a:srgbClr val="172B3A"/>
                  </a:solidFill>
                  <a:latin typeface="+mn-lt"/>
                  <a:ea typeface="+mn-ea"/>
                  <a:cs typeface="+mn-cs"/>
                </a:rPr>
                <a:t>tek bakışta tarayıp güçlü</a:t>
              </a:r>
              <a:br/>
              <a:r>
                <a:rPr lang="tr-TR" sz="1200" dirty="0">
                  <a:solidFill>
                    <a:srgbClr val="172B3A"/>
                  </a:solidFill>
                  <a:latin typeface="+mn-lt"/>
                  <a:ea typeface="+mn-ea"/>
                  <a:cs typeface="+mn-cs"/>
                </a:rPr>
                <a:t>ilişkileri belirginleştirir.</a:t>
              </a:r>
            </a:p>
          </p:txBody>
        </p:sp>
      </p:grpSp>
      <p:grpSp>
        <p:nvGrpSpPr>
          <p:cNvPr id="29" name="summary-yanılgı"/>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4051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Kavram yanılgıları</a:t>
              </a:r>
            </a:p>
          </p:txBody>
        </p:sp>
        <p:sp>
          <p:nvSpPr>
            <p:cNvPr id="28" name="TextBox 28"/>
            <p:cNvSpPr txBox="1"/>
            <p:nvPr/>
          </p:nvSpPr>
          <p:spPr>
            <a:xfrm>
              <a:off x="8299704" y="3718560"/>
              <a:ext cx="27934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Korelasyon-nedensellik, sıfır</a:t>
              </a:r>
              <a:br/>
              <a:r>
                <a:rPr lang="tr-TR" sz="1200" dirty="0">
                  <a:solidFill>
                    <a:srgbClr val="172B3A"/>
                  </a:solidFill>
                  <a:latin typeface="+mn-lt"/>
                  <a:ea typeface="+mn-ea"/>
                  <a:cs typeface="+mn-cs"/>
                </a:rPr>
                <a:t>çarpıklık-normallik ve aykırı-hata</a:t>
              </a:r>
              <a:br/>
              <a:r>
                <a:rPr lang="tr-TR" sz="1200" dirty="0">
                  <a:solidFill>
                    <a:srgbClr val="172B3A"/>
                  </a:solidFill>
                  <a:latin typeface="+mn-lt"/>
                  <a:ea typeface="+mn-ea"/>
                  <a:cs typeface="+mn-cs"/>
                </a:rPr>
                <a:t>eşleşmeleri her zaman doğru değildir.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66718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EDA'nın en önemli katkısı, grafiği süslemek değildir.</a:t>
              </a:r>
            </a:p>
          </p:txBody>
        </p:sp>
        <p:sp>
          <p:nvSpPr>
            <p:cNvPr id="32" name="TextBox 32"/>
            <p:cNvSpPr txBox="1"/>
            <p:nvPr/>
          </p:nvSpPr>
          <p:spPr>
            <a:xfrm>
              <a:off x="906399" y="5583079"/>
              <a:ext cx="74461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Veriyi karara dönüştürmeden önce güvenilir ve dürüst hâle getirmektir.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26</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975342" cy="724281"/>
            <a:chOff x="599694" y="1484948"/>
            <a:chExt cx="9975342" cy="724281"/>
          </a:xfrm>
        </p:grpSpPr>
        <p:sp>
          <p:nvSpPr>
            <p:cNvPr id="7" name="TextBox 7"/>
            <p:cNvSpPr txBox="1"/>
            <p:nvPr/>
          </p:nvSpPr>
          <p:spPr>
            <a:xfrm>
              <a:off x="599694" y="1484948"/>
              <a:ext cx="997534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Dağılımı, çarpıklığı ve ilişkileri okumayı öğrendiniz. Sıradaki adım, bu bulguları</a:t>
              </a:r>
              <a:br/>
              <a:r>
                <a:rPr lang="tr-TR" sz="1950" dirty="0">
                  <a:solidFill>
                    <a:srgbClr val="172B3A"/>
                  </a:solidFill>
                  <a:latin typeface="+mn-lt"/>
                  <a:ea typeface="+mn-ea"/>
                  <a:cs typeface="+mn-cs"/>
                </a:rPr>
                <a:t>temiz ve tutarlı bir veri kümesine dönüştürmektir.</a:t>
              </a:r>
            </a:p>
          </p:txBody>
        </p:sp>
      </p:grpSp>
      <p:grpSp>
        <p:nvGrpSpPr>
          <p:cNvPr id="14" name="bridge-now"/>
          <p:cNvGrpSpPr/>
          <p:nvPr/>
        </p:nvGrpSpPr>
        <p:grpSpPr>
          <a:xfrm>
            <a:off x="599694" y="2799398"/>
            <a:ext cx="2884170" cy="1834419"/>
            <a:chOff x="599694" y="2799398"/>
            <a:chExt cx="2884170"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7441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Eksik ve aykırı gözlemleri</a:t>
              </a:r>
              <a:br/>
              <a:r>
                <a:rPr lang="tr-TR" sz="1580" dirty="0">
                  <a:solidFill>
                    <a:srgbClr val="172B3A"/>
                  </a:solidFill>
                  <a:latin typeface="+mn-lt"/>
                  <a:ea typeface="+mn-ea"/>
                  <a:cs typeface="+mn-cs"/>
                </a:rPr>
                <a:t>grafikle tespit etmek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63461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Korelasyonu nedensellikten</a:t>
              </a:r>
              <a:br/>
              <a:r>
                <a:rPr lang="tr-TR" sz="1580" dirty="0">
                  <a:solidFill>
                    <a:srgbClr val="172B3A"/>
                  </a:solidFill>
                  <a:latin typeface="+mn-lt"/>
                  <a:ea typeface="+mn-ea"/>
                  <a:cs typeface="+mn-cs"/>
                </a:rPr>
                <a:t>ayırarak yorumlamak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588181"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Veri hazırlama ve</a:t>
              </a:r>
              <a:br/>
              <a:r>
                <a:rPr lang="tr-TR" sz="2250" b="1" dirty="0">
                  <a:solidFill>
                    <a:srgbClr val="FFFFFF"/>
                  </a:solidFill>
                  <a:latin typeface="+mn-lt"/>
                  <a:ea typeface="+mn-ea"/>
                  <a:cs typeface="+mn-cs"/>
                </a:rPr>
                <a:t>temizleme</a:t>
              </a:r>
            </a:p>
          </p:txBody>
        </p:sp>
        <p:sp>
          <p:nvSpPr>
            <p:cNvPr id="18" name="TextBox 18"/>
            <p:cNvSpPr txBox="1"/>
            <p:nvPr/>
          </p:nvSpPr>
          <p:spPr>
            <a:xfrm>
              <a:off x="7307199" y="4078129"/>
              <a:ext cx="3256661"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EDA'da tespit ettiğiniz sorunları</a:t>
              </a:r>
              <a:br/>
              <a:r>
                <a:rPr lang="tr-TR" sz="1580" dirty="0">
                  <a:solidFill>
                    <a:srgbClr val="EAF4F6"/>
                  </a:solidFill>
                  <a:latin typeface="+mn-lt"/>
                  <a:ea typeface="+mn-ea"/>
                  <a:cs typeface="+mn-cs"/>
                </a:rPr>
                <a:t>sızıntısız bir ön işleme</a:t>
              </a:r>
              <a:br/>
              <a:r>
                <a:rPr lang="tr-TR" sz="1580" dirty="0">
                  <a:solidFill>
                    <a:srgbClr val="EAF4F6"/>
                  </a:solidFill>
                  <a:latin typeface="+mn-lt"/>
                  <a:ea typeface="+mn-ea"/>
                  <a:cs typeface="+mn-cs"/>
                </a:rPr>
                <a:t>hattına çevireceksiniz.</a:t>
              </a:r>
            </a:p>
          </p:txBody>
        </p:sp>
      </p:grpSp>
      <p:grpSp>
        <p:nvGrpSpPr>
          <p:cNvPr id="23"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0751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Her yeni veri kümesinde önce EDA yapın, sonra temizleme</a:t>
              </a:r>
            </a:p>
          </p:txBody>
        </p:sp>
        <p:sp>
          <p:nvSpPr>
            <p:cNvPr id="22" name="TextBox 22"/>
            <p:cNvSpPr txBox="1"/>
            <p:nvPr/>
          </p:nvSpPr>
          <p:spPr>
            <a:xfrm>
              <a:off x="905256" y="5806440"/>
              <a:ext cx="511882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kararlarını EDA bulgularına dayandırın.</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26 / 26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2_eda_gorsellestirme-20260916">
  <a:themeElements>
    <a:clrScheme name="ch02_eda_gorsellestirm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2_eda_gorsellestirm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2_eda_gorsellestirm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2_eda_gorsellestirme-20260916">
  <a:themeElements>
    <a:clrScheme name="ch02_eda_gorsellestirm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2_eda_gorsellestirm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2_eda_gorsellestirm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2026-09-19T21:21:52Z</dcterms:created>
  <dcterms:modified xsi:type="dcterms:W3CDTF">2026-09-19T21:21:52Z</dcterms:modified>
  <cp:category/>
  <cp:contentStatus/>
</cp:coreProperties>
</file>