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  <Relationship Id="rId3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denetimsiz öğrenmenin en yaygın kullanılan üç tekniğine, K-Means, hiyerarşik kümeleme ve DBSCAN'a odaklanıyoruz. Şimdiye kadar işlediğimiz konular çoğunlukla etiketli veriyle çalışan gözetimli öğrenme yöntemleriydi; bu bölümle birlikte "doğru cevabın olmadığı" bir dünyaya geçiyoruz. Kapak sayfasındaki turkuaz ve mavi noktalar, aslında ders boyunca defalarca döneceğimiz temel fikri simgeliyor: birbirine yakın noktaların bir küme, birbirinden uzak noktaların ayrı kümeler oluşturması. Bölümün sonunda bu üç algoritmayı gerçek bir müşteri kaybı (churn) verisine uygulayarak teoriyi pratiğe bağlayacağız.</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beş soru, aslında bölümün iskeletini oluşturuyor ve her biri ilerleyen slaytlarda ayrıntılı olarak cevaplanacak. İlk soru, kümeleme problemlerinin en can alıcı zorluğuna işaret ediyor: gözetimli öğrenmede doğruluk veya F1 skoru gibi nesnel ölçütlerimiz varken, kümelemede "doğru" kümeleme kavramı bağlama göre değişir. İkinci ve üçüncü sorular K-Means'in sınırlarını ve bu sınırları aşmak için kullanılan tamamlayıcı araçları (Dirsek ve Silhouette) öne çıkarıyor. Dördüncü soru hiyerarşik kümelemenin dendrogram mantığına, beşinci soru ise DBSCAN'ın yoğunluk tabanlı yaklaşımına hazırlık niteliğinde. Öğrencilere bu soruları not almalarını, bölüm ilerledikçe hangi slaytta hangi sorunun cevaplandığını kendi kendilerine işaretlemelerini önerebilirsiniz — bu, aktif okumayı teşvik eden basit ama etkili bir tekniktir.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Her hedefin yanındaki "ölçüt" satırı tesadüfen eklenmedi; bu bölümün değerlendirmesinde soyut "anlama" yerine somut, gözlemlenebilir başarımlar arandığını gösteriyor. Örneğin ilk hedefte öğrenciden sadece K-Means'i çalıştırması değil, çıkan merkez koordinatlarını ve küme büyüklüklerini yorumlaması bekleniyor — bu, algoritmanın çıktısını kör kör kabul etmek yerine sorgulamayı öğretir. İkinci hedef özellikle önemlidir çünkü Dirsek ve Silhouette'in çoğu zaman farklı k değerleri önerdiği gerçek durumlarla karşılaşacağız; öğrencinin bu çelişkiyi bir hata değil, farklı sorulara verilen farklı cevaplar olarak görmesi gerekiyor. Son hedef ise sentezdir: üç algoritmanın da doğru olduğu ama farklı veri şekillerinde farklı derecede işe yaradığı fikrini pekiştirir. Başarı ölçütü kutusu, bölümün nihai sınavının aslında Telco Churn projesi olduğunu açıkça ortaya koyuyor.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kavram haritası bölümün zihinsel iskeletini tek bir görselde özetliyor. Merkezdeki "Kümeleme" kutusundan çıkan üç ana dal — K-Means, Hiyerarşik Kümeleme ve DBSCAN — birbirinden bağımsız değil, aynı problemi farklı varsayımlarla çözen alternatif yaklaşımlar olarak düşünülmeli. Kesikli gri oklar, algoritmalar arası tamamlayıcı ilişkileri gösteriyor: örneğin Dirsek ve Silhouette kutusu yalnızca K-Means'e değil, kavramsal olarak hiyerarşik kümelemenin küme sayısı belirleme sürecine de bağlanabilir, ve DBSCAN'ın "iç içe geçmiş veri" güçlü yönü K-Means'in zayıf yönüyle doğrudan tezat oluşturur. En alttaki Telco Churn kutusu bilinçli olarak geniş tutuldu, çünkü bölümün pratik uygulaması üç algoritmanın da devreye girdiği ortak bir varış noktası. Bu slaytı bölüm başında hızlıca geçip, bölüm sonunda özet slaytıyla karşılaştırmalı olarak tekrar göstermek öğrencilerin öğrenme yolculuğunu somutlaştırır.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Elif'in tablosu örneği, kümelemeyi soyut bir matematik problemi olmaktan çıkarıp somut bir iş problemine dönüştürüyor. Buradaki kritik nokta, denetimsiz öğrenme ile gözetimli öğrenme arasındaki farkın sadece teknik değil, kavramsal olduğu: gözetimli öğrenmede model bir hedefi optimize eder, kümelemede ise "hedef" kısmen bizim tanımladığımız bir benzerlik ölçüsüdür. Süpermarket benzetmesi bunu güçlendiriyor — müdür meyveleri kategorilere önceden atanmış etiketlerle değil, gördüğü fiziksel özelliklerle gruplandırıyor, tıpkı algoritmanın sayısal özniteliklerle yapacağı gibi. Tanım kutusundaki "aynı küme içi benzerlik yüksek, kümeler arası benzerlik düşük" ifadesi, ders boyunca göreceğimiz tüm değerlendirme ölçütlerinin (WCSS, Silhouette) temelini oluşturur ve bu noktada vurgulanmalı. Kümelemenin 1960'lı yılların biyolojik taksonomi çalışmalarına dayanması da ilginç bir tarihsel bağlam sunar: türleri sınıflandırma ihtiyacı, bugün müşteri segmentasyonunda kullandığımız matematiğin kökeninde yatıyor.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K-Means'in tarihçesi genellikle atlanan ama öğretici bir detaydır: algoritma başlangıçta kümeleme için değil, 1957'de Bell Labs'da sinyal kuantalama (quantization) problemi için Stuart Lloyd tarafından geliştirildi ve yayımlanması yıllarca gecikti. Bu, algoritmanın neden bu kadar "mühendislik zihniyetiyle" tasarlandığını, yani hız ve basitliğe öncelik verdiğini açıklar. İtfaiye istasyonu benzetmesi özellikle güçlüdür çünkü öğrencilere algoritmanın neden yinelemeli olduğunu sezgisel olarak gösterir: ilk yerleşim rastgele veya kaba bir tahmindir, sonra sistem kendi kendini düzeltir. Sezgisel döngüdeki dört adımı vurgularken, üçüncü adımın (merkezi ortalamaya taşıma) aslında algoritmanın ismini nereden aldığını açıklayan adım olduğunu belirtmek faydalı olur. Son olarak, döngünün "merkez sabitlenene kadar" tekrarlanması yakınsama kavramını tanıtır — bu kavramı bir sonraki slaytta WCSS ile matematiksel olarak somutlaştıracağız.</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WCSS (Within-Cluster Sum of Squares) formülü ilk bakışta korkutucu görünebilir ama aslında çok basit bir fikri ifade ediyor: her noktanın kendi merkezine olan uzaklığının karesini topluyoruz. Karenin alınmasının nedeni, hem negatif ve pozitif farkların birbirini götürmesini engellemek hem de büyük sapmaları orantısız şekilde cezalandırmaktır — bu, birçok makine öğrenmesi kayıp fonksiyonunda karşımıza çıkan bir tasarım deseni. scikit-learn'de bu değerin "inertia" olarak adlandırılması ve `kmeans.inertia_` ile doğrudan erişilebilir olması, öğrencilerin kodda bu terimi gördüklerinde tanımasını sağlamalı. Döngü diyagramındaki dört adım, önceki slaytta gördüğümüz sezgisel döngünün matematiksel karşılığıdır; özellikle "kontrol" adımındaki "merkezler değişti mi?" sorusu, algoritmanın durma kriterini tanımlar. En kritik uyarı en alttaki kutuda: K-Means yalnızca yerel minimum garantisi verir, global minimum garantisi vermez. Bu yüzden `n_init` parametresiyle birden fazla rastgele başlangıçtan çalıştırıp en iyi sonucu seçmek, pratikte neredeyse her zaman uygulanan bir standarttır ve bu detay sınavlarda sıkça sorulur.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slayt, K-Means'i savunmasız bir şekilde her probleme uygulamanın risklerini somutlaştırıyor. Sol taraftaki "iyi çalıştığı durumlar" listesi dikkatlice okunmalı: O(n·k·i·d) karmaşıklığı, algoritmanın neden büyük veride bu kadar tercih edildiğini açıklıyor — n gözlem sayısı, k küme sayısı, i iterasyon sayısı ve d boyut sayısı olmak üzere, bu çarpım diğer birçok kümeleme yöntemine göre çok daha ölçeklenebilir. Sağ taraftaki zorlanma durumları ise ders boyunca tekrar tekrar karşılaşacağımız bir temayı başlatıyor: K-Means'in küresel/dışbükey küme varsayımı, gerçek dünya verisinde her zaman geçerli değildir. Kod örneğindeki ölçeklendirme hatası özellikle önemlidir çünkü bu, öğrencilerin kendi projelerinde en sık düştüğü tuzaklardan biridir — aylık ücret gibi geniş aralıklı bir değişken, hizmet sayısı gibi dar aralıklı bir değişkeni Öklid uzaklığı hesabında bastırır. `n_init=1` kullanmanın riski de benzer şekilde pratik bir uyarı: bu parametreyi varsayılan bırakmak yerine bilinçli olarak yüksek tutmak, kötü bir yerel optimumda takılı kalma ihtimalini azaltır.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Dirsek yöntemi, K-Means'in en can alıcı pratik sorusuna, "kaç küme olmalı?" sorusuna, görsel bir cevap arar. Otobüs durağı benzetmesi burada özellikle işe yarar: durak sayısını artırmanın faydası azalan getiriler prensibine tabidir, tıpkı küme sayısını artırmanın WCSS'yi azaltmaya devam etmesi ama her ek kümenin sağladığı iyileşmenin giderek küçülmesi gibi. Grafikte gösterilen Iris veri setindeki eğrinin k=1'den k=3'e kadar dik düşüp sonra yataylaşması, klasik bir "dirsek" örneğidir ve Iris'in gerçekte üç tür içerdiği bilgisiyle örtüşür — bu, yöntemin sınıf etiketleri hiç kullanılmadan doğru sonuca ulaştığını gösteren güçlü bir doğrulamadır. Ancak sınırlama kutusunda vurgulanan nokta kritik: gerçek dünya verisinde eğri her zaman bu kadar net bir köşe yapmaz, bazen yumuşak bir eğim şeklinde azalır ve bu durumda göz kararına dayalı yorum öznel hale gelir. Bu belirsizlik, bir sonraki slaytta göreceğimiz Silhouette skorunun neden gerekli olduğunu doğal olarak gerekçelendiriyor.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Silhouette skoru, Dirsek yönteminin öznelliğine karşı nesnel bir alternatif sunar. Formülün mantığını açarken şunu vurgulayın: a değeri "kendi kümene ne kadar yakınsın", b değeri ise "en yakın rakip kümeye ne kadar uzaksın" sorusunu cevaplar; skorun pozitif olması, noktanın kendi kümesine rakip kümeden daha yakın olduğu, yani doğru yerleştirildiği anlamına gelir. Sınıf grupları benzetmesi bu fikri somutlaştırır: bir öğrenci kendi arkadaş grubundan çok komşu gruba benziyorsa, muhtemelen yanlış gruba dahil edilmiştir. Peter Rousseeuw'un 1987'de geliştirdiği bu ölçütün önemli bir pratik avantajı, `silhouette_samples` fonksiyonuyla her nokta için ayrı ayrı hesaplanabilmesidir — bu, sadece genel bir ortalama değil, hangi noktaların veya hangi kümelerin sorunlu olduğunu teşhis etmemizi sağlar. Grafikteki en dikkat çekici bulgu ise skorun monoton olmayışı: k=2'de zirveye ulaşıp sonra dalgalanarak gerilemesi, "büyük k her zaman daha iyi ayrışma demek değildir" mesajını verir ve öğrencilerin sıkça yaptığı "en yüksek WCSS azalmasını veren k'yı seç" hatasına karşı bir denge oluşturur.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slaytın ana mesajı, iki yöntemin çelişmesinin bir hata değil, farklı sorulara farklı cevaplar vermelerinin doğal sonucu olduğudur. Tablodaki üç kriter — hesaplama maliyeti, yorum kolaylığı ve nesnellik — öğrencilere pratikte hangi yöntemi ne zaman tercih edeceklerine dair bir çerçeve sunar; örneğin çok büyük bir veri kümesinde Gap statistic'in yüksek maliyeti onu daha az cazip kılarken, hızlı bir ilk keşif için Dirsek yeterli olabilir. İpucu kutusundaki Iris örneği gerçek bir çelişkiyi gösteriyor: Dirsek k=3 öneriyor (biyolojik gerçekle örtüşüyor) ama Silhouette k=2 öneriyor (setosa türü diğer ikisinden çok net ayrıştığı için, virginica ve versicolor'un örtüşen kısmı skorda daha görünür oluyor). Bu ayrım öğrencilere şunu öğretir: nihai k kararı yalnızca istatistiksel bir optimizasyon değil, iş bağlamına bağlı bir yorum meselesidir. Nokta bazlı tanı kutusu ise pratik bir ileri adım sunuyor — negatif silhouette skoruna sahip noktaların varlığı, kümeleme sonucunun tamamen "temiz" olmadığının somut bir kanıtıdır ve gerçek projelerde bu noktaların ayrıca incelenmesi önerilir.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Hiyerarşik kümeleme, K-Means'ten kavramsal olarak çok farklı bir yaklaşım benimser: küme sayısını önceden istemek yerine, tüm olası birleşme hiyerarşisini bir ağaç yapısında sunar ve karar sonradan verilir. Aile soy ağacı benzetmesi bu fikri güçlü bir şekilde aktarır — en alttaki bireyler (yapraklar) yukarı doğru birleşerek aileleri, sonra daha geniş toplulukları oluşturur, ve ağacı hangi seviyeden keserseniz o kadar grup elde edersiniz. Dendrogramdaki kesim eşiği çizgisi, bu "kesme" işleminin görsel karşılığıdır; burada üç kümenin ortaya çıkması, dikey çizginin belirli bir yükseklik aralığında hiçbir yatay birleşmeyle kesişmemesi sayesindedir. K-Means'ten en önemli farkı vurgulayın: hiyerarşik kümeleme deterministiktir, yani aynı veri ve aynı linkage yöntemiyle her çalıştırıldığında aynı sonucu üretir — bu, K-Means'in başlangıç merkez seçimine duyarlı olmasıyla tam bir tezat oluşturur ve tekrarlanabilirlik gerektiren araştırma bağlamlarında önemli bir avantajdır.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Linkage yöntemi seçimi, dendrogramın şeklini ve dolayısıyla ortaya çıkan kümelerin karakterini doğrudan belirler. Ward yöntemi pratikte en sık kullanılanıdır çünkü küme içi varyansı minimize etmeye çalışır ve bu, K-Means'in WCSS mantığıyla kavramsal olarak örtüşür — bu paralelliği öğrencilere hatırlatmak faydalı olur. Single linkage'ın "en yakın çift" mantığı ilginç bir yan etki yaratır: zincirleme etkisi (chaining effect) denen bir fenomenle uzun, ince kümeler oluşturabilir, bu da bazen istenmeyen ama bazen de (örneğin coğrafi süreklilik gösteren veri için) tam olarak aranan bir özelliktir. Complete linkage bunun tam tersini yaparak daha kompakt, yuvarlak kümeler üretme eğilimindedir. Ölçeklenebilirlik uyarısı gerçek bir sınırlamayı yansıtıyor: hiyerarşik kümelemenin O(n²) hatta bazı durumlarda O(n³) karmaşıklığı, onu büyük veri setlerinde K-Means veya DBSCAN'a kıyasla dezavantajlı kılar; bu yüzden pratikte büyük veri setlerinde önce örnekleme yapılır veya `truncate_mode="lastp"` gibi görselleştirme teknikleriyle dendrogramın yalnızca üst seviyeleri gösterilir.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DBSCAN, K-Means ve hiyerarşik kümelemenin ikisinden de kökten farklı bir felsefeye sahiptir: küme sayısını hiç sormaz, bunun yerine "yoğunluk" kavramını temel alır. Nüfus yoğunluğu haritası benzetmesi bunu iyi özetliyor — yoğun mahalleler kümeleri, izole tek evler ise gürültüyü temsil eder. Sağ taraftaki görselde çekirdek noktanın etrafındaki eps yarıçaplı daire içinde yeterli sayıda (min_samples) komşu bulunduğu için bu nokta "çekirdek" sayılırken, sınır noktası kendi çevresinde daha az komşuya sahip olduğu için farklı bir kategoriye düşer — bu ayrım öğrencilerin genellikle karıştırdığı bir noktadır ve mutlaka net biçimde açıklanmalıdır. DBSCAN'ın gürültü noktalarını -1 etiketiyle işaretlemesi, K-Means'in her noktayı zorla bir kümeye atamasına kıyasla önemli bir avantajdır çünkü gerçek dünya verisinde aykırı değerler her zaman bulunur. Algoritmanın 1996'da Martin Ester ve arkadaşları tarafından geliştirilmesi ve 2014'te ACM SIGKDD tarafından "test of time" ödülüne layık görülmesi, yaklaşık yirmi yıl sonra bile etkisini koruyan nadir bir makine öğrenmesi katkısı olduğunu gösterir.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slayt, önceki slaytlarda anlatılan teorik farkı somut bir görsel kanıtla pekiştiriyor. make_moons veri setindeki iki iç içe geçmiş hilal, K-Means'in küresel küme varsayımının çöktüğü klasik bir senaryodur: sol paneldeki doğrusal ayırıcı sınır, aslında her iki hilali de ikiye bölerek anlamsız bir gruplama üretiyor çünkü K-Means yalnızca merkeze olan Öklid uzaklığına bakabiliyor, verinin eğrisel yapısını "göremiyor". Sağ panelde DBSCAN aynı veride, yoğunluk sürekliliğini takip ederek her hilali doğru şekilde ayrı bir küme olarak tanımlıyor; bu, algoritmanın rastgele şekilli kümeleri bulma yeteneğinin en çarpıcı gösterimlerinden biridir. Sonuç kutusundaki sayısal karşılaştırma önemli: K-Means'in %100 küme içi karışıklık göstermesi, sadece "biraz daha kötü" değil, kavramsal olarak tamamen yanlış bir sonuç ürettiği anlamına gelir. Bu örnek, öğrencilere algoritma seçiminin sadece performans meselesi değil, verinin geometrik yapısına uygunluk meselesi olduğunu gösterir — bir sonraki slaytlarda bu seçimi nasıl sistematik hale getireceğimizi göreceğiz.</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DBSCAN'ın gücü aynı zamanda zorluğudur: iki parametreye (eps ve min_samples) duyarlı olması, doğru ayarlanmadığında tamamen anlamsız sonuçlar üretebileceği anlamına gelir. k-mesafe grafiği, eps seçimi için sistematik bir yöntem sunar: her noktanın k. en yakın komşusuna olan mesafesini sıralayıp çizdiğimizde, eğrinin keskin bir şekilde yükseldiği "dirsek" noktası genellikle iyi bir eps başlangıç değeri verir — bu, önceki slaytlarda gördüğümüz Dirsek yöntemiyle kavramsal bir benzerlik taşır. min_samples için "boyut sayısının iki katı" kuralı pratik bir başlangıç noktasıdır ama kesin değildir; gürültülü veride bu değeri artırmak, temiz düşük boyutlu veride ise azaltmak gerekebilir. Sık yapılan hatalar listesindeki ilk iki madde birbirinin simetriği: eps çok küçükse algoritma her şeyi gürültü sayar, çok büyükse her şeyi tek kümeye birleştirir — bu, parametrenin ne kadar hassas bir denge gerektirdiğini gösterir. Gürültü oranı kontrolü pratik bir sağlamlık testidir: eğer noktaların %20'den fazlası -1 etiketi alıyorsa, bu büyük olasılıkla model hatası değil parametre hatasıdır ve öğrencilere bu kontrolü her DBSCAN uygulamasından sonra yapmaları alışkanlık haline getirilmelidir.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karşılaştırma tablosu, bölüm boyunca ayrı ayrı öğrendiğimiz üç algoritmayı yan yana koyarak sentezlemeyi amaçlıyor. Küme şekli satırı en temel farkı özetliyor: K-Means küresel/dışbükey varsayımıyla sınırlıyken, DBSCAN rastgele şekilli kümeleri bulabiliyor ve hiyerarşik kümeleme linkage seçimine bağlı olarak arada bir esneklik sunuyor. Gürültü yönetimi satırı özellikle önemli çünkü gerçek dünya verisinde aykırı değerler kaçınılmazdır — DBSCAN'ın bunu doğal olarak ele alması, veri temizleme aşamasında zaman kazandırabilir. Ölçeklenebilirlik satırındaki farklar, büyük veri projelerinde algoritma seçiminin performans açısından da önemli olduğunu gösteriyor: hiyerarşik kümelemenin O(n²)/O(n³) karmaşıklığı onu milyonlarca satırlık veri için pratik dışı bırakırken, K-Means bu ölçekte rahatlıkla çalışabiliyor. Determinizm satırı ise araştırma tekrarlanabilirliği açısından kritik bir ayrımı vurguluyor: K-Means'in başlangıca duyarlı olması, aynı analizi tekrar çalıştırdığınızda farklı sonuç alabileceğiniz anlamına gelir, bu da bilimsel raporlama açısından dikkat gerektirir. Sentez kutusundaki mesaj bölümün en önemli çıkarımı: "en iyi" algoritma diye bir şey yok, doğru soru "hangi veri şekli, hangi gürültü toleransı, hangi ölçek için hangi algoritma" sorusudur.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karar akış şeması, önceki slaytlardaki teorik karşılaştırmayı pratik bir karar verme sürecine dönüştürüyor. İlk soru olan veri büyüklüğü, aslında hesaplama kısıtlarını öne çıkarıyor: çok büyük veri setlerinde hiyerarşik kümeleme pratik olmadığından, akış doğrudan K-Means'e yönleniyor. Veri küçük-orta ölçekliyse, ikinci soru küme şekli ve sayısı hakkında ön bilgimiz olup olmadığını sorguluyor — eğer kümelerin küresel olduğunu ve kaç küme aradığımızı biliyorsak, K-Means en basit ve hızlı çözümdür. Üçüncü soru, yorumlanabilir hiyerarşi ihtiyacını öne çıkarıyor: eğer amacımız sadece kümeleme değil, aynı zamanda kümeler arası iç içe geçmiş ilişkileri (örneğin genetik benzerlik ağaçları veya doküman taksonomisi) görselleştirmekse, hiyerarşik kümeleme tercih edilir. Bu üç soruyu geçemeyen durumlar DBSCAN'a düşer, çünkü bu genellikle rastgele şekilli kümeler, farklı yoğunluklar veya belirgin gürültü beklentisi olan senaryoları temsil eder. Öğrencilere bu şemayı ezberlemek yerine her sorunun arkasındaki mantığı anlamalarını, yani her algoritmanın hangi varsayımı test ettiğini kavramalarını önerin.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slayt, bölüm boyunca üstü kapalı kullandığımız ama hiç açık şekilde tartışmadığımız bir kavramı, uzaklık ölçüsünü, ön plana çıkarıyor. Örnekteki A=(1,1) ve B=(4,5) noktaları arasındaki hesaplamalar, üç farklı "benzerlik" tanımının aynı iki nokta için nasıl farklı sayılar üretebileceğini gösteriyor: Öklid uzaklığı (5,00) doğrudan geometrik mesafeyi, Manhattan uzaklığı (7,00) ızgara/şehir bloğu tarzı bir mesafeyi, kosinüs benzerliği (yaklaşık 0,970) ise vektörlerin büyüklüğünü değil yönünü karşılaştırıyor. Öklid uzaklığının K-Means'in varsayılan ölçüsü olması tesadüf değil — WCSS formülündeki kare farkı doğrudan Öklid uzaklığının karesidir, bu bağlantıyı öğrencilere hatırlatmak faydalı olur. Manhattan uzaklığının aykırı değerlere daha az duyarlı olması, gürültülü veya seyrek veride neden tercih edilebileceğini açıklıyor. Kosinüs benzerliğinin metin ve doküman kümeleme gibi yüksek boyutlu temsillerde tercih edilmesi ise ileride, örneğin doğal dil işleme derslerinde, tekrar karşılarına çıkacak bir kavramdır — bu bağlantıyı kurmak öğrencilerin bilgiyi transfer etmesine yardımcı olur.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uygulama slaytı, bölüm boyunca öğrendiğimiz teorinin gerçek bir iş problemine nasıl uygulandığını gösteren köprü niteliğinde. Pipeline'daki ColumnTransformer adımı özellikle önemli çünkü gerçek dünya verisi nadiren yalnızca sayısaldır — sayısal ve kategorik sütunları farklı şekilde işlemek (ölçekleme ve one-hot encoding) daha önce 08 numaralı slaytta gördüğümüz ölçeklendirme hatasını önlemek için kritik bir adımdır. k'nın Silhouette skoruyla sistematik olarak taranması, öğrencilere göz kararına dayanmayan, tekrarlanabilir bir model seçim süreci gösteriyor. İki segment profili arasındaki tezat çarpıcı: Segment 0'daki uzun sözleşme süresi, düşük ücret varyansı ve çoklu hizmet paketi kombinasyonu düşük churn oranıyla (%7) örtüşürken, Segment 1'deki kısa sözleşme, yüksek ücret ve tek hizmet kombinasyonu yüksek churn riskiyle (%41) örtüşüyor. En altta vurgulanan not pedagojik açıdan çok önemli: churn etiketi kümeleme sürecinde hiç kullanılmadı, yalnızca davranışsal ve demografik özniteliklerden ortaya çıkan segmentler sonradan churn oranıyla doğrulandı — bu, denetimsiz öğrenmenin gücünü gösteren bir örnek, çünkü model hiçbir etiket görmeden iş açısından anlamlı ve gerçekten ayrışan gruplar keşfetti.</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slaytta ele alınan üç yanılgı, öğrencilerin gerçek projelerde en sık düştüğü tuzakları temsil ediyor. İlk yanılgı, K-Means'in evrensel olarak doğru sonuç vereceği inancı, aslında tüm bölümün ana temasına geri dönüyor: algoritmanın küresel/dışbükey/eşit yoğunluklu küme varsayımı, hilal veya iç içe halka gibi şekillerde sistematik olarak yanılmasına neden olur, ve doğru yaklaşım her zaman veriyi önce görselleştirmektir. İkinci yanılgı, DBSCAN'ın -1 etiketini bir hata sinyali olarak yorumlamak, aslında algoritmanın en değerli özelliğinin yanlış anlaşılmasıdır — gürültü etiketi kasıtlı bir tasarım kararıdır ve dürüst bir "bu noktayı hiçbir kümeye zorla sokmuyorum" ifadesidir. Üçüncü yanılgı, kategorik verilere doğrudan Öklid uzaklığı uygulamak, öğrencilerin ön işleme aşamasını atlamaya çalıştığında sıkça karşılaştığımız bir hatadır; kategorileri ham sayılara çevirmek yapay bir sıralama ilişkisi (örneğin "İstanbul" &lt; "Ankara" gibi anlamsız bir karşılaştırma) yaratır. Bu üç yanılgıyı bir arada göstermenin amacı, öğrencilere kümelemenin "çalıştır ve sonucu kabul et" bir süreç olmadığını, her adımda varsayımların sorgulanması gerektiğini hatırlatmaktır.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özet slaytı, bölüm boyunca öğrendiğimiz altı ana kavramı tek bir bakışta toplu olarak sunuyor ve öğrencilerin zihinlerinde dağınık kalabilecek bilgileri yeniden birbirine bağlıyor. K-Means kartı merkez tabanlı mantığı, Dirsek ve Silhouette kartı bu mantığın en zayıf noktasını (k seçimi) çözmek için geliştirilen tamamlayıcı araçları temsil ediyor. Hiyerarşik kümeleme kartı deterministik ve iç içe yapı sunan alternatif yaklaşımı, DBSCAN kartı ise yoğunluk temelli ve gürültüye dayanıklı üçüncü yaklaşımı özetliyor. Uzaklık ölçüleri kartının burada yer alması bilinçli bir tercih: bu kavram tüm algoritmaların altında yatan ortak paydadır ve genellikle öğrenciler tarafından "arka plan detayı" olarak küçümsenir, oysa seçilen uzaklık ölçüsü sonucu kökten değiştirebilir. Gerçek dünya tuzakları kartı ise teoriyle pratik arasındaki köprüyü hatırlatıyor. En alttaki vurgu cümlesi bölümün felsefi özeti niteliğinde: kümeleme tek bir formülle çözülen bir problem değil, veriyi ve iş sorusunu anlamayı gerektiren bir düşünme sürecidir — bu mesajı derse kapanış yaparken tekrar vurgulamak öğrencilerin bilgiyi ezber değil anlayış olarak içselleştirmesine yardımcı olur.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köprü slaytı, kümeleme bölümünü kapatırken doğal bir sonraki adıma işaret ediyor. Kümeleme "hangi noktalar birbirine benzer" sorusuna cevap verirken, birliktelik kuralı madenciliği "hangi öğeler birlikte ortaya çıkıyor" sorusuna odaklanıyor — bu iki soru birbirini tamamlıyor çünkü ikisi de etiketsiz veriden yapı çıkarma amacı taşıyan denetimsiz öğrenme teknikleri. "Artık yapabilirsiniz" kutusundaki iki madde, bu bölümde kazanılan somut becerileri özetliyor: doğru algoritmayı veri şekline göre seçebilmek ve k sayısını nesnel bir ölçütle doğrulayabilmek — bu iki beceri, önümüzdeki bölümde Apriori ve FP-Growth algoritmalarının parametrelerini (destek ve güven eşikleri) anlarken de işimize yarayacak çünkü orada da benzer bir "eşik seçimi" problemi karşımıza çıkacak. Kapanış cümlesindeki "segmentleri belirledikten sonra bu segmentler içindeki birlikte satın alma örüntülerini keşfetme" fikri, iki bölümün nasıl art arda kullanılabileceğine dair somut bir iş senaryosu sunuyor: örneğin Telco Churn projesinde bulduğumuz yüksek riskli segment içinde hangi hizmetlerin birlikte satın alındığını keşfetmek, doğrudan bir sonraki bölümün konusu olacak.</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07_kumeleme_analizi-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07_kumeleme_analizi-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grpSp>
        <p:nvGrpSpPr>
          <p:cNvPr id="12" name="cover-scatter"/>
          <p:cNvGrpSpPr/>
          <p:nvPr/>
        </p:nvGrpSpPr>
        <p:grpSpPr>
          <a:xfrm>
            <a:off x="885825" y="866775"/>
            <a:ext cx="2609850" cy="1076325"/>
            <a:chOff x="885825" y="866775"/>
            <a:chExt cx="2609850" cy="1076325"/>
          </a:xfrm>
        </p:grpSpPr>
        <p:sp>
          <p:nvSpPr>
            <p:cNvPr id="3" name="Ellipse 3"/>
            <p:cNvSpPr/>
            <p:nvPr/>
          </p:nvSpPr>
          <p:spPr>
            <a:xfrm>
              <a:off x="1076325" y="1076325"/>
              <a:ext cx="133350" cy="133350"/>
            </a:xfrm>
            <a:prstGeom prst="ellipse">
              <a:avLst/>
            </a:prstGeom>
            <a:solidFill>
              <a:srgbClr val="00A6A6"/>
            </a:solidFill>
            <a:ln>
              <a:noFill/>
            </a:ln>
          </p:spPr>
        </p:sp>
        <p:sp>
          <p:nvSpPr>
            <p:cNvPr id="4" name="Ellipse 4"/>
            <p:cNvSpPr/>
            <p:nvPr/>
          </p:nvSpPr>
          <p:spPr>
            <a:xfrm>
              <a:off x="1362075" y="866775"/>
              <a:ext cx="133350" cy="133350"/>
            </a:xfrm>
            <a:prstGeom prst="ellipse">
              <a:avLst/>
            </a:prstGeom>
            <a:solidFill>
              <a:srgbClr val="00A6A6"/>
            </a:solidFill>
            <a:ln>
              <a:noFill/>
            </a:ln>
          </p:spPr>
        </p:sp>
        <p:sp>
          <p:nvSpPr>
            <p:cNvPr id="5" name="Ellipse 5"/>
            <p:cNvSpPr/>
            <p:nvPr/>
          </p:nvSpPr>
          <p:spPr>
            <a:xfrm>
              <a:off x="885825" y="1362075"/>
              <a:ext cx="133350" cy="133350"/>
            </a:xfrm>
            <a:prstGeom prst="ellipse">
              <a:avLst/>
            </a:prstGeom>
            <a:solidFill>
              <a:srgbClr val="00A6A6"/>
            </a:solidFill>
            <a:ln>
              <a:noFill/>
            </a:ln>
          </p:spPr>
        </p:sp>
        <p:sp>
          <p:nvSpPr>
            <p:cNvPr id="6" name="Ellipse 6"/>
            <p:cNvSpPr/>
            <p:nvPr/>
          </p:nvSpPr>
          <p:spPr>
            <a:xfrm>
              <a:off x="1457325" y="1266825"/>
              <a:ext cx="133350" cy="133350"/>
            </a:xfrm>
            <a:prstGeom prst="ellipse">
              <a:avLst/>
            </a:prstGeom>
            <a:solidFill>
              <a:srgbClr val="00A6A6"/>
            </a:solidFill>
            <a:ln>
              <a:noFill/>
            </a:ln>
          </p:spPr>
        </p:sp>
        <p:sp>
          <p:nvSpPr>
            <p:cNvPr id="7" name="Ellipse 7"/>
            <p:cNvSpPr/>
            <p:nvPr/>
          </p:nvSpPr>
          <p:spPr>
            <a:xfrm>
              <a:off x="2790825" y="1171575"/>
              <a:ext cx="133350" cy="133350"/>
            </a:xfrm>
            <a:prstGeom prst="ellipse">
              <a:avLst/>
            </a:prstGeom>
            <a:solidFill>
              <a:srgbClr val="2E86AB"/>
            </a:solidFill>
            <a:ln>
              <a:noFill/>
            </a:ln>
          </p:spPr>
        </p:sp>
        <p:sp>
          <p:nvSpPr>
            <p:cNvPr id="8" name="Ellipse 8"/>
            <p:cNvSpPr/>
            <p:nvPr/>
          </p:nvSpPr>
          <p:spPr>
            <a:xfrm>
              <a:off x="3076575" y="933450"/>
              <a:ext cx="133350" cy="133350"/>
            </a:xfrm>
            <a:prstGeom prst="ellipse">
              <a:avLst/>
            </a:prstGeom>
            <a:solidFill>
              <a:srgbClr val="2E86AB"/>
            </a:solidFill>
            <a:ln>
              <a:noFill/>
            </a:ln>
          </p:spPr>
        </p:sp>
        <p:sp>
          <p:nvSpPr>
            <p:cNvPr id="9" name="Ellipse 9"/>
            <p:cNvSpPr/>
            <p:nvPr/>
          </p:nvSpPr>
          <p:spPr>
            <a:xfrm>
              <a:off x="2981325" y="1457325"/>
              <a:ext cx="133350" cy="133350"/>
            </a:xfrm>
            <a:prstGeom prst="ellipse">
              <a:avLst/>
            </a:prstGeom>
            <a:solidFill>
              <a:srgbClr val="2E86AB"/>
            </a:solidFill>
            <a:ln>
              <a:noFill/>
            </a:ln>
          </p:spPr>
        </p:sp>
        <p:sp>
          <p:nvSpPr>
            <p:cNvPr id="10" name="Ellipse 10"/>
            <p:cNvSpPr/>
            <p:nvPr/>
          </p:nvSpPr>
          <p:spPr>
            <a:xfrm>
              <a:off x="3362325" y="1219200"/>
              <a:ext cx="133350" cy="133350"/>
            </a:xfrm>
            <a:prstGeom prst="ellipse">
              <a:avLst/>
            </a:prstGeom>
            <a:solidFill>
              <a:srgbClr val="2E86AB"/>
            </a:solidFill>
            <a:ln>
              <a:noFill/>
            </a:ln>
          </p:spPr>
        </p:sp>
        <p:sp>
          <p:nvSpPr>
            <p:cNvPr id="11" name="Ellipse 11"/>
            <p:cNvSpPr/>
            <p:nvPr/>
          </p:nvSpPr>
          <p:spPr>
            <a:xfrm>
              <a:off x="2057400" y="1866900"/>
              <a:ext cx="76200" cy="76200"/>
            </a:xfrm>
            <a:prstGeom prst="ellipse">
              <a:avLst/>
            </a:prstGeom>
            <a:solidFill>
              <a:srgbClr val="EAF4F6"/>
            </a:solidFill>
            <a:ln>
              <a:noFill/>
            </a:ln>
          </p:spPr>
        </p:sp>
      </p:grpSp>
      <p:sp>
        <p:nvSpPr>
          <p:cNvPr id="13" name="Line 13"/>
          <p:cNvSpPr/>
          <p:nvPr/>
        </p:nvSpPr>
        <p:spPr>
          <a:xfrm>
            <a:off x="685800" y="5905500"/>
            <a:ext cx="10553700" cy="1"/>
          </a:xfrm>
          <a:prstGeom prst="line">
            <a:avLst/>
          </a:prstGeom>
          <a:noFill/>
          <a:ln w="19050">
            <a:solidFill>
              <a:srgbClr val="00A6A6"/>
            </a:solidFill>
            <a:tailEnd type="arrow" w="lg" len="lg"/>
          </a:ln>
        </p:spPr>
      </p:sp>
      <p:grpSp>
        <p:nvGrpSpPr>
          <p:cNvPr id="16" name="cover-chapter"/>
          <p:cNvGrpSpPr/>
          <p:nvPr/>
        </p:nvGrpSpPr>
        <p:grpSpPr>
          <a:xfrm>
            <a:off x="666750" y="2251710"/>
            <a:ext cx="1787319" cy="2410777"/>
            <a:chOff x="666750" y="2251710"/>
            <a:chExt cx="1787319" cy="2410777"/>
          </a:xfrm>
        </p:grpSpPr>
        <p:sp>
          <p:nvSpPr>
            <p:cNvPr id="14" name="TextBox 1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15" name="TextBox 1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07</a:t>
              </a:r>
            </a:p>
          </p:txBody>
        </p:sp>
      </p:grpSp>
      <p:grpSp>
        <p:nvGrpSpPr>
          <p:cNvPr id="18" name="cover-title"/>
          <p:cNvGrpSpPr/>
          <p:nvPr/>
        </p:nvGrpSpPr>
        <p:grpSpPr>
          <a:xfrm>
            <a:off x="4933950" y="1927860"/>
            <a:ext cx="5582793" cy="2152650"/>
            <a:chOff x="4933950" y="1927860"/>
            <a:chExt cx="5582793" cy="2152650"/>
          </a:xfrm>
        </p:grpSpPr>
        <p:sp>
          <p:nvSpPr>
            <p:cNvPr id="17" name="TextBox 17"/>
            <p:cNvSpPr txBox="1"/>
            <p:nvPr/>
          </p:nvSpPr>
          <p:spPr>
            <a:xfrm>
              <a:off x="4933950" y="1927860"/>
              <a:ext cx="5582793" cy="2152650"/>
            </a:xfrm>
            <a:prstGeom prst="rect">
              <a:avLst/>
            </a:prstGeom>
            <a:noFill/>
            <a:ln>
              <a:noFill/>
            </a:ln>
          </p:spPr>
          <p:txBody>
            <a:bodyPr wrap="none" lIns="0" tIns="0" rIns="0" bIns="0" anchor="t" anchorCtr="0">
              <a:spAutoFit/>
            </a:bodyPr>
            <a:lstStyle/>
            <a:p>
              <a:pPr algn="l">
                <a:lnSpc>
                  <a:spcPts val="5250"/>
                </a:lnSpc>
              </a:pPr>
              <a:r>
                <a:rPr lang="tr-TR" sz="4200" b="1" dirty="0">
                  <a:solidFill>
                    <a:srgbClr val="12355B"/>
                  </a:solidFill>
                  <a:latin typeface="+mj-lt"/>
                  <a:ea typeface="+mj-ea"/>
                  <a:cs typeface="+mj-cs"/>
                </a:rPr>
                <a:t>Kümeleme Analizi:</a:t>
              </a:r>
              <a:br/>
              <a:r>
                <a:rPr lang="tr-TR" sz="4200" b="1" dirty="0">
                  <a:solidFill>
                    <a:srgbClr val="12355B"/>
                  </a:solidFill>
                  <a:latin typeface="+mj-lt"/>
                  <a:ea typeface="+mj-ea"/>
                  <a:cs typeface="+mj-cs"/>
                </a:rPr>
                <a:t>K-Means, Hiyerarşik</a:t>
              </a:r>
              <a:br/>
              <a:r>
                <a:rPr lang="tr-TR" sz="4200" b="1" dirty="0">
                  <a:solidFill>
                    <a:srgbClr val="12355B"/>
                  </a:solidFill>
                  <a:latin typeface="+mj-lt"/>
                  <a:ea typeface="+mj-ea"/>
                  <a:cs typeface="+mj-cs"/>
                </a:rPr>
                <a:t>Kümeleme ve DBSCAN</a:t>
              </a:r>
            </a:p>
          </p:txBody>
        </p:sp>
      </p:grpSp>
      <p:grpSp>
        <p:nvGrpSpPr>
          <p:cNvPr id="22" name="cover-subtitle"/>
          <p:cNvGrpSpPr/>
          <p:nvPr/>
        </p:nvGrpSpPr>
        <p:grpSpPr>
          <a:xfrm>
            <a:off x="4943094" y="4095750"/>
            <a:ext cx="3976056" cy="900018"/>
            <a:chOff x="4943094" y="4095750"/>
            <a:chExt cx="3976056" cy="900018"/>
          </a:xfrm>
        </p:grpSpPr>
        <p:sp>
          <p:nvSpPr>
            <p:cNvPr id="19" name="Rectangle 19"/>
            <p:cNvSpPr/>
            <p:nvPr/>
          </p:nvSpPr>
          <p:spPr>
            <a:xfrm>
              <a:off x="4953000" y="4095750"/>
              <a:ext cx="1143000" cy="38100"/>
            </a:xfrm>
            <a:prstGeom prst="rect">
              <a:avLst/>
            </a:prstGeom>
            <a:solidFill>
              <a:srgbClr val="00A6A6"/>
            </a:solidFill>
            <a:ln>
              <a:noFill/>
            </a:ln>
          </p:spPr>
        </p:sp>
        <p:sp>
          <p:nvSpPr>
            <p:cNvPr id="20" name="TextBox 20"/>
            <p:cNvSpPr txBox="1"/>
            <p:nvPr/>
          </p:nvSpPr>
          <p:spPr>
            <a:xfrm>
              <a:off x="4943094" y="4228148"/>
              <a:ext cx="3976056"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Veri Madenciliğine Giriş</a:t>
              </a:r>
            </a:p>
          </p:txBody>
        </p:sp>
        <p:sp>
          <p:nvSpPr>
            <p:cNvPr id="21" name="TextBox 2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24" name="cover-meta"/>
          <p:cNvGrpSpPr/>
          <p:nvPr/>
        </p:nvGrpSpPr>
        <p:grpSpPr>
          <a:xfrm>
            <a:off x="4946904" y="6233160"/>
            <a:ext cx="4973434" cy="234696"/>
            <a:chOff x="4946904" y="6233160"/>
            <a:chExt cx="4973434" cy="234696"/>
          </a:xfrm>
        </p:grpSpPr>
        <p:sp>
          <p:nvSpPr>
            <p:cNvPr id="23" name="TextBox 2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lead"/>
          <p:cNvGrpSpPr/>
          <p:nvPr/>
        </p:nvGrpSpPr>
        <p:grpSpPr>
          <a:xfrm>
            <a:off x="601599" y="1125379"/>
            <a:ext cx="5202566" cy="308039"/>
            <a:chOff x="601599" y="1125379"/>
            <a:chExt cx="5202566" cy="308039"/>
          </a:xfrm>
        </p:grpSpPr>
        <p:sp>
          <p:nvSpPr>
            <p:cNvPr id="6" name="TextBox 6"/>
            <p:cNvSpPr txBox="1"/>
            <p:nvPr/>
          </p:nvSpPr>
          <p:spPr>
            <a:xfrm>
              <a:off x="601599" y="1125379"/>
              <a:ext cx="520256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beş soruyu aklınızda tutun:</a:t>
              </a:r>
            </a:p>
          </p:txBody>
        </p:sp>
      </p:grpSp>
      <p:grpSp>
        <p:nvGrpSpPr>
          <p:cNvPr id="11" name="q1"/>
          <p:cNvGrpSpPr/>
          <p:nvPr/>
        </p:nvGrpSpPr>
        <p:grpSpPr>
          <a:xfrm>
            <a:off x="666750" y="1466850"/>
            <a:ext cx="8239639" cy="385668"/>
            <a:chOff x="666750" y="1466850"/>
            <a:chExt cx="8239639" cy="385668"/>
          </a:xfrm>
        </p:grpSpPr>
        <p:sp>
          <p:nvSpPr>
            <p:cNvPr id="8" name="Ellipse 8"/>
            <p:cNvSpPr/>
            <p:nvPr/>
          </p:nvSpPr>
          <p:spPr>
            <a:xfrm>
              <a:off x="666750" y="1466850"/>
              <a:ext cx="342900" cy="342900"/>
            </a:xfrm>
            <a:prstGeom prst="ellipse">
              <a:avLst/>
            </a:prstGeom>
            <a:solidFill>
              <a:srgbClr val="00A6A6"/>
            </a:solidFill>
            <a:ln>
              <a:noFill/>
            </a:ln>
          </p:spPr>
        </p:sp>
        <p:sp>
          <p:nvSpPr>
            <p:cNvPr id="9" name="TextBox 9"/>
            <p:cNvSpPr txBox="1"/>
            <p:nvPr/>
          </p:nvSpPr>
          <p:spPr>
            <a:xfrm>
              <a:off x="778865" y="154971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0" name="TextBox 10"/>
            <p:cNvSpPr txBox="1"/>
            <p:nvPr/>
          </p:nvSpPr>
          <p:spPr>
            <a:xfrm>
              <a:off x="1173099" y="1544479"/>
              <a:ext cx="773329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Etiketlenmemiş bir veri kümesinde "doğru" küme sayısını nasıl bilebiliriz?</a:t>
              </a:r>
            </a:p>
          </p:txBody>
        </p:sp>
      </p:grpSp>
      <p:grpSp>
        <p:nvGrpSpPr>
          <p:cNvPr id="15" name="q2"/>
          <p:cNvGrpSpPr/>
          <p:nvPr/>
        </p:nvGrpSpPr>
        <p:grpSpPr>
          <a:xfrm>
            <a:off x="666750" y="2038350"/>
            <a:ext cx="10086604" cy="385668"/>
            <a:chOff x="666750" y="2038350"/>
            <a:chExt cx="10086604" cy="385668"/>
          </a:xfrm>
        </p:grpSpPr>
        <p:sp>
          <p:nvSpPr>
            <p:cNvPr id="12" name="Ellipse 12"/>
            <p:cNvSpPr/>
            <p:nvPr/>
          </p:nvSpPr>
          <p:spPr>
            <a:xfrm>
              <a:off x="666750" y="2038350"/>
              <a:ext cx="342900" cy="342900"/>
            </a:xfrm>
            <a:prstGeom prst="ellipse">
              <a:avLst/>
            </a:prstGeom>
            <a:solidFill>
              <a:srgbClr val="00A6A6"/>
            </a:solidFill>
            <a:ln>
              <a:noFill/>
            </a:ln>
          </p:spPr>
        </p:sp>
        <p:sp>
          <p:nvSpPr>
            <p:cNvPr id="13" name="TextBox 13"/>
            <p:cNvSpPr txBox="1"/>
            <p:nvPr/>
          </p:nvSpPr>
          <p:spPr>
            <a:xfrm>
              <a:off x="778865" y="212121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14" name="TextBox 14"/>
            <p:cNvSpPr txBox="1"/>
            <p:nvPr/>
          </p:nvSpPr>
          <p:spPr>
            <a:xfrm>
              <a:off x="1173099" y="2115979"/>
              <a:ext cx="958025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K-Means neden bazen yanlış kümeler üretir, hangi varsayımlar ihlal edilince başarısız olur?</a:t>
              </a:r>
            </a:p>
          </p:txBody>
        </p:sp>
      </p:grpSp>
      <p:grpSp>
        <p:nvGrpSpPr>
          <p:cNvPr id="19" name="q3"/>
          <p:cNvGrpSpPr/>
          <p:nvPr/>
        </p:nvGrpSpPr>
        <p:grpSpPr>
          <a:xfrm>
            <a:off x="666750" y="2609850"/>
            <a:ext cx="10299253" cy="385668"/>
            <a:chOff x="666750" y="2609850"/>
            <a:chExt cx="10299253" cy="385668"/>
          </a:xfrm>
        </p:grpSpPr>
        <p:sp>
          <p:nvSpPr>
            <p:cNvPr id="16" name="Ellipse 16"/>
            <p:cNvSpPr/>
            <p:nvPr/>
          </p:nvSpPr>
          <p:spPr>
            <a:xfrm>
              <a:off x="666750" y="2609850"/>
              <a:ext cx="342900" cy="342900"/>
            </a:xfrm>
            <a:prstGeom prst="ellipse">
              <a:avLst/>
            </a:prstGeom>
            <a:solidFill>
              <a:srgbClr val="00A6A6"/>
            </a:solidFill>
            <a:ln>
              <a:noFill/>
            </a:ln>
          </p:spPr>
        </p:sp>
        <p:sp>
          <p:nvSpPr>
            <p:cNvPr id="17" name="TextBox 17"/>
            <p:cNvSpPr txBox="1"/>
            <p:nvPr/>
          </p:nvSpPr>
          <p:spPr>
            <a:xfrm>
              <a:off x="778865" y="269271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18" name="TextBox 18"/>
            <p:cNvSpPr txBox="1"/>
            <p:nvPr/>
          </p:nvSpPr>
          <p:spPr>
            <a:xfrm>
              <a:off x="1173099" y="2687479"/>
              <a:ext cx="979290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Dirsek yöntemi ile Silhouette skoru aynı soruyu mu cevaplıyor, yoksa birbirini mi tamamlıyor?</a:t>
              </a:r>
            </a:p>
          </p:txBody>
        </p:sp>
      </p:grpSp>
      <p:grpSp>
        <p:nvGrpSpPr>
          <p:cNvPr id="23" name="q4"/>
          <p:cNvGrpSpPr/>
          <p:nvPr/>
        </p:nvGrpSpPr>
        <p:grpSpPr>
          <a:xfrm>
            <a:off x="666750" y="3181350"/>
            <a:ext cx="10430703" cy="385668"/>
            <a:chOff x="666750" y="3181350"/>
            <a:chExt cx="10430703" cy="385668"/>
          </a:xfrm>
        </p:grpSpPr>
        <p:sp>
          <p:nvSpPr>
            <p:cNvPr id="20" name="Ellipse 20"/>
            <p:cNvSpPr/>
            <p:nvPr/>
          </p:nvSpPr>
          <p:spPr>
            <a:xfrm>
              <a:off x="666750" y="3181350"/>
              <a:ext cx="342900" cy="342900"/>
            </a:xfrm>
            <a:prstGeom prst="ellipse">
              <a:avLst/>
            </a:prstGeom>
            <a:solidFill>
              <a:srgbClr val="00A6A6"/>
            </a:solidFill>
            <a:ln>
              <a:noFill/>
            </a:ln>
          </p:spPr>
        </p:sp>
        <p:sp>
          <p:nvSpPr>
            <p:cNvPr id="21" name="TextBox 21"/>
            <p:cNvSpPr txBox="1"/>
            <p:nvPr/>
          </p:nvSpPr>
          <p:spPr>
            <a:xfrm>
              <a:off x="778865" y="326421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22" name="TextBox 22"/>
            <p:cNvSpPr txBox="1"/>
            <p:nvPr/>
          </p:nvSpPr>
          <p:spPr>
            <a:xfrm>
              <a:off x="1173099" y="3258979"/>
              <a:ext cx="992435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Hiyerarşik kümeleme sonucundaki dendrogramı nereden "keserek" küme sayısına karar veririz?</a:t>
              </a:r>
            </a:p>
          </p:txBody>
        </p:sp>
      </p:grpSp>
      <p:grpSp>
        <p:nvGrpSpPr>
          <p:cNvPr id="27" name="q5"/>
          <p:cNvGrpSpPr/>
          <p:nvPr/>
        </p:nvGrpSpPr>
        <p:grpSpPr>
          <a:xfrm>
            <a:off x="666750" y="3752850"/>
            <a:ext cx="10799703" cy="385668"/>
            <a:chOff x="666750" y="3752850"/>
            <a:chExt cx="10799703" cy="385668"/>
          </a:xfrm>
        </p:grpSpPr>
        <p:sp>
          <p:nvSpPr>
            <p:cNvPr id="24" name="Ellipse 24"/>
            <p:cNvSpPr/>
            <p:nvPr/>
          </p:nvSpPr>
          <p:spPr>
            <a:xfrm>
              <a:off x="666750" y="3752850"/>
              <a:ext cx="342900" cy="342900"/>
            </a:xfrm>
            <a:prstGeom prst="ellipse">
              <a:avLst/>
            </a:prstGeom>
            <a:solidFill>
              <a:srgbClr val="00A6A6"/>
            </a:solidFill>
            <a:ln>
              <a:noFill/>
            </a:ln>
          </p:spPr>
        </p:sp>
        <p:sp>
          <p:nvSpPr>
            <p:cNvPr id="25" name="TextBox 25"/>
            <p:cNvSpPr txBox="1"/>
            <p:nvPr/>
          </p:nvSpPr>
          <p:spPr>
            <a:xfrm>
              <a:off x="778865" y="383571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5</a:t>
              </a:r>
            </a:p>
          </p:txBody>
        </p:sp>
        <p:sp>
          <p:nvSpPr>
            <p:cNvPr id="26" name="TextBox 26"/>
            <p:cNvSpPr txBox="1"/>
            <p:nvPr/>
          </p:nvSpPr>
          <p:spPr>
            <a:xfrm>
              <a:off x="1173099" y="3830479"/>
              <a:ext cx="1029335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DBSCAN, K-Means'in başarısız olduğu hangi veri şekillerinde devreye girer, gürültüyü nasıl tanır?</a:t>
              </a:r>
            </a:p>
          </p:txBody>
        </p:sp>
      </p:grpSp>
      <p:grpSp>
        <p:nvGrpSpPr>
          <p:cNvPr id="33" name="goal-box"/>
          <p:cNvGrpSpPr/>
          <p:nvPr/>
        </p:nvGrpSpPr>
        <p:grpSpPr>
          <a:xfrm>
            <a:off x="609600" y="4476750"/>
            <a:ext cx="10972800" cy="1433418"/>
            <a:chOff x="609600" y="4476750"/>
            <a:chExt cx="10972800" cy="1433418"/>
          </a:xfrm>
        </p:grpSpPr>
        <p:sp>
          <p:nvSpPr>
            <p:cNvPr id="28" name="Rectangle 28"/>
            <p:cNvSpPr/>
            <p:nvPr/>
          </p:nvSpPr>
          <p:spPr>
            <a:xfrm>
              <a:off x="609600" y="4476750"/>
              <a:ext cx="10972800" cy="1428750"/>
            </a:xfrm>
            <a:prstGeom prst="roundRect">
              <a:avLst>
                <a:gd name="adj" fmla="val 6667"/>
              </a:avLst>
            </a:prstGeom>
            <a:solidFill>
              <a:srgbClr val="EAF4F6"/>
            </a:solidFill>
            <a:ln w="14288">
              <a:solidFill>
                <a:srgbClr val="00A6A6"/>
              </a:solidFill>
            </a:ln>
          </p:spPr>
        </p:sp>
        <p:sp>
          <p:nvSpPr>
            <p:cNvPr id="29" name="TextBox 29"/>
            <p:cNvSpPr txBox="1"/>
            <p:nvPr/>
          </p:nvSpPr>
          <p:spPr>
            <a:xfrm>
              <a:off x="905256" y="4663440"/>
              <a:ext cx="19076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 Bölüm Hedefi</a:t>
              </a:r>
            </a:p>
          </p:txBody>
        </p:sp>
        <p:sp>
          <p:nvSpPr>
            <p:cNvPr id="30" name="TextBox 30"/>
            <p:cNvSpPr txBox="1"/>
            <p:nvPr/>
          </p:nvSpPr>
          <p:spPr>
            <a:xfrm>
              <a:off x="906399" y="5030629"/>
              <a:ext cx="900277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Bu bölümü tamamladığınızda K-Means, hiyerarşik kümeleme ve DBSCAN algoritmalarını</a:t>
              </a:r>
            </a:p>
          </p:txBody>
        </p:sp>
        <p:sp>
          <p:nvSpPr>
            <p:cNvPr id="31" name="TextBox 31"/>
            <p:cNvSpPr txBox="1"/>
            <p:nvPr/>
          </p:nvSpPr>
          <p:spPr>
            <a:xfrm>
              <a:off x="906399" y="5316379"/>
              <a:ext cx="961938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uygulayabilecek, optimum küme sayısına karar verebilecek ve öğrendiğiniz tekniği gerçek bir</a:t>
              </a:r>
            </a:p>
          </p:txBody>
        </p:sp>
        <p:sp>
          <p:nvSpPr>
            <p:cNvPr id="32" name="TextBox 32"/>
            <p:cNvSpPr txBox="1"/>
            <p:nvPr/>
          </p:nvSpPr>
          <p:spPr>
            <a:xfrm>
              <a:off x="906399" y="5602129"/>
              <a:ext cx="736798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müşteri segmentasyonu problemine (Telco Churn) uygulayabileceksiniz.</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23</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104135" cy="668845"/>
            <a:chOff x="609600" y="171450"/>
            <a:chExt cx="810413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12" name="objective-1"/>
          <p:cNvGrpSpPr/>
          <p:nvPr/>
        </p:nvGrpSpPr>
        <p:grpSpPr>
          <a:xfrm>
            <a:off x="685800" y="1196340"/>
            <a:ext cx="9198199" cy="598361"/>
            <a:chOff x="685800" y="1196340"/>
            <a:chExt cx="9198199" cy="598361"/>
          </a:xfrm>
        </p:grpSpPr>
        <p:sp>
          <p:nvSpPr>
            <p:cNvPr id="9" name="Rectangle 9"/>
            <p:cNvSpPr/>
            <p:nvPr/>
          </p:nvSpPr>
          <p:spPr>
            <a:xfrm>
              <a:off x="685800" y="1200150"/>
              <a:ext cx="57150" cy="457200"/>
            </a:xfrm>
            <a:prstGeom prst="rect">
              <a:avLst/>
            </a:prstGeom>
            <a:solidFill>
              <a:srgbClr val="00A6A6"/>
            </a:solidFill>
            <a:ln>
              <a:noFill/>
            </a:ln>
          </p:spPr>
        </p:sp>
        <p:sp>
          <p:nvSpPr>
            <p:cNvPr id="10" name="TextBox 10"/>
            <p:cNvSpPr txBox="1"/>
            <p:nvPr/>
          </p:nvSpPr>
          <p:spPr>
            <a:xfrm>
              <a:off x="981456" y="1196340"/>
              <a:ext cx="890254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K-Means'in merkez tabanlı mantığını uygulayıp inertia'yı yorumlamak</a:t>
              </a:r>
            </a:p>
          </p:txBody>
        </p:sp>
        <p:sp>
          <p:nvSpPr>
            <p:cNvPr id="11" name="TextBox 11"/>
            <p:cNvSpPr txBox="1"/>
            <p:nvPr/>
          </p:nvSpPr>
          <p:spPr>
            <a:xfrm>
              <a:off x="983742" y="1530668"/>
              <a:ext cx="7498512"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Ölçüt: k=3 için merkez koordinatlarını ve küme başına nokta sayısını doğru okumak</a:t>
              </a:r>
            </a:p>
          </p:txBody>
        </p:sp>
      </p:grpSp>
      <p:grpSp>
        <p:nvGrpSpPr>
          <p:cNvPr id="16" name="objective-2"/>
          <p:cNvGrpSpPr/>
          <p:nvPr/>
        </p:nvGrpSpPr>
        <p:grpSpPr>
          <a:xfrm>
            <a:off x="685800" y="1901190"/>
            <a:ext cx="9642620" cy="598361"/>
            <a:chOff x="685800" y="1901190"/>
            <a:chExt cx="9642620" cy="598361"/>
          </a:xfrm>
        </p:grpSpPr>
        <p:sp>
          <p:nvSpPr>
            <p:cNvPr id="13" name="Rectangle 13"/>
            <p:cNvSpPr/>
            <p:nvPr/>
          </p:nvSpPr>
          <p:spPr>
            <a:xfrm>
              <a:off x="685800" y="1905000"/>
              <a:ext cx="57150" cy="457200"/>
            </a:xfrm>
            <a:prstGeom prst="rect">
              <a:avLst/>
            </a:prstGeom>
            <a:solidFill>
              <a:srgbClr val="00A6A6"/>
            </a:solidFill>
            <a:ln>
              <a:noFill/>
            </a:ln>
          </p:spPr>
        </p:sp>
        <p:sp>
          <p:nvSpPr>
            <p:cNvPr id="14" name="TextBox 14"/>
            <p:cNvSpPr txBox="1"/>
            <p:nvPr/>
          </p:nvSpPr>
          <p:spPr>
            <a:xfrm>
              <a:off x="981456" y="1901190"/>
              <a:ext cx="934696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Dirsek yöntemi ve Silhouette skorunu birlikte kullanarak k'ya karar vermek</a:t>
              </a:r>
            </a:p>
          </p:txBody>
        </p:sp>
        <p:sp>
          <p:nvSpPr>
            <p:cNvPr id="15" name="TextBox 15"/>
            <p:cNvSpPr txBox="1"/>
            <p:nvPr/>
          </p:nvSpPr>
          <p:spPr>
            <a:xfrm>
              <a:off x="983742" y="2235518"/>
              <a:ext cx="7943056"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Ölçüt: iki yöntem çelişince hangi bağlamda hangisine ağırlık verileceğini gerekçelendirmek</a:t>
              </a:r>
            </a:p>
          </p:txBody>
        </p:sp>
      </p:grpSp>
      <p:grpSp>
        <p:nvGrpSpPr>
          <p:cNvPr id="20" name="objective-3"/>
          <p:cNvGrpSpPr/>
          <p:nvPr/>
        </p:nvGrpSpPr>
        <p:grpSpPr>
          <a:xfrm>
            <a:off x="685800" y="2606040"/>
            <a:ext cx="8947457" cy="598361"/>
            <a:chOff x="685800" y="2606040"/>
            <a:chExt cx="8947457" cy="598361"/>
          </a:xfrm>
        </p:grpSpPr>
        <p:sp>
          <p:nvSpPr>
            <p:cNvPr id="17" name="Rectangle 17"/>
            <p:cNvSpPr/>
            <p:nvPr/>
          </p:nvSpPr>
          <p:spPr>
            <a:xfrm>
              <a:off x="685800" y="2609850"/>
              <a:ext cx="57150" cy="457200"/>
            </a:xfrm>
            <a:prstGeom prst="rect">
              <a:avLst/>
            </a:prstGeom>
            <a:solidFill>
              <a:srgbClr val="00A6A6"/>
            </a:solidFill>
            <a:ln>
              <a:noFill/>
            </a:ln>
          </p:spPr>
        </p:sp>
        <p:sp>
          <p:nvSpPr>
            <p:cNvPr id="18" name="TextBox 18"/>
            <p:cNvSpPr txBox="1"/>
            <p:nvPr/>
          </p:nvSpPr>
          <p:spPr>
            <a:xfrm>
              <a:off x="981456" y="2606040"/>
              <a:ext cx="86518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Dendrogram üretip uygun bir mesafe eşiğinden küme sayısı belirlemek</a:t>
              </a:r>
            </a:p>
          </p:txBody>
        </p:sp>
        <p:sp>
          <p:nvSpPr>
            <p:cNvPr id="19" name="TextBox 19"/>
            <p:cNvSpPr txBox="1"/>
            <p:nvPr/>
          </p:nvSpPr>
          <p:spPr>
            <a:xfrm>
              <a:off x="983742" y="2940368"/>
              <a:ext cx="7049719"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Ölçüt: Ward bağlantısıyla kesim eşiğini ve sonuçtaki küme sayısını doğrulamak</a:t>
              </a:r>
            </a:p>
          </p:txBody>
        </p:sp>
      </p:grpSp>
      <p:grpSp>
        <p:nvGrpSpPr>
          <p:cNvPr id="24" name="objective-4"/>
          <p:cNvGrpSpPr/>
          <p:nvPr/>
        </p:nvGrpSpPr>
        <p:grpSpPr>
          <a:xfrm>
            <a:off x="685800" y="3310890"/>
            <a:ext cx="9497286" cy="598361"/>
            <a:chOff x="685800" y="3310890"/>
            <a:chExt cx="9497286" cy="598361"/>
          </a:xfrm>
        </p:grpSpPr>
        <p:sp>
          <p:nvSpPr>
            <p:cNvPr id="21" name="Rectangle 21"/>
            <p:cNvSpPr/>
            <p:nvPr/>
          </p:nvSpPr>
          <p:spPr>
            <a:xfrm>
              <a:off x="685800" y="3314700"/>
              <a:ext cx="57150" cy="457200"/>
            </a:xfrm>
            <a:prstGeom prst="rect">
              <a:avLst/>
            </a:prstGeom>
            <a:solidFill>
              <a:srgbClr val="00A6A6"/>
            </a:solidFill>
            <a:ln>
              <a:noFill/>
            </a:ln>
          </p:spPr>
        </p:sp>
        <p:sp>
          <p:nvSpPr>
            <p:cNvPr id="22" name="TextBox 22"/>
            <p:cNvSpPr txBox="1"/>
            <p:nvPr/>
          </p:nvSpPr>
          <p:spPr>
            <a:xfrm>
              <a:off x="981456" y="3310890"/>
              <a:ext cx="920163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DBSCAN ile dışbükey olmayan kümeleri ve gürültü noktalarını ayrıştırmak</a:t>
              </a:r>
            </a:p>
          </p:txBody>
        </p:sp>
        <p:sp>
          <p:nvSpPr>
            <p:cNvPr id="23" name="TextBox 23"/>
            <p:cNvSpPr txBox="1"/>
            <p:nvPr/>
          </p:nvSpPr>
          <p:spPr>
            <a:xfrm>
              <a:off x="983742" y="3645218"/>
              <a:ext cx="7106812"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Ölçüt: hilal biçimli veride DBSCAN'ın küme ve gürültü sayısını doğru raporlamak</a:t>
              </a:r>
            </a:p>
          </p:txBody>
        </p:sp>
      </p:grpSp>
      <p:grpSp>
        <p:nvGrpSpPr>
          <p:cNvPr id="28" name="objective-5"/>
          <p:cNvGrpSpPr/>
          <p:nvPr/>
        </p:nvGrpSpPr>
        <p:grpSpPr>
          <a:xfrm>
            <a:off x="685800" y="4015740"/>
            <a:ext cx="10206848" cy="598361"/>
            <a:chOff x="685800" y="4015740"/>
            <a:chExt cx="10206848" cy="598361"/>
          </a:xfrm>
        </p:grpSpPr>
        <p:sp>
          <p:nvSpPr>
            <p:cNvPr id="25" name="Rectangle 25"/>
            <p:cNvSpPr/>
            <p:nvPr/>
          </p:nvSpPr>
          <p:spPr>
            <a:xfrm>
              <a:off x="685800" y="4019550"/>
              <a:ext cx="57150" cy="457200"/>
            </a:xfrm>
            <a:prstGeom prst="rect">
              <a:avLst/>
            </a:prstGeom>
            <a:solidFill>
              <a:srgbClr val="00A6A6"/>
            </a:solidFill>
            <a:ln>
              <a:noFill/>
            </a:ln>
          </p:spPr>
        </p:sp>
        <p:sp>
          <p:nvSpPr>
            <p:cNvPr id="26" name="TextBox 26"/>
            <p:cNvSpPr txBox="1"/>
            <p:nvPr/>
          </p:nvSpPr>
          <p:spPr>
            <a:xfrm>
              <a:off x="981456" y="4015740"/>
              <a:ext cx="991119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Üç algoritmanın varsayımlarını karşılaştırıp veri şekline göre yöntem seçmek</a:t>
              </a:r>
            </a:p>
          </p:txBody>
        </p:sp>
        <p:sp>
          <p:nvSpPr>
            <p:cNvPr id="27" name="TextBox 27"/>
            <p:cNvSpPr txBox="1"/>
            <p:nvPr/>
          </p:nvSpPr>
          <p:spPr>
            <a:xfrm>
              <a:off x="983742" y="4350068"/>
              <a:ext cx="7043785"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Ölçüt: küme şekli, gürültü ve ölçek kriterlerine göre gerekçeli bir öneri sunmak</a:t>
              </a:r>
            </a:p>
          </p:txBody>
        </p:sp>
      </p:grpSp>
      <p:grpSp>
        <p:nvGrpSpPr>
          <p:cNvPr id="34" name="success-criterion"/>
          <p:cNvGrpSpPr/>
          <p:nvPr/>
        </p:nvGrpSpPr>
        <p:grpSpPr>
          <a:xfrm>
            <a:off x="609600" y="4838700"/>
            <a:ext cx="10972800" cy="1147001"/>
            <a:chOff x="609600" y="4838700"/>
            <a:chExt cx="10972800" cy="1147001"/>
          </a:xfrm>
        </p:grpSpPr>
        <p:sp>
          <p:nvSpPr>
            <p:cNvPr id="29" name="Rectangle 29"/>
            <p:cNvSpPr/>
            <p:nvPr/>
          </p:nvSpPr>
          <p:spPr>
            <a:xfrm>
              <a:off x="609600" y="4838700"/>
              <a:ext cx="10972800" cy="1123950"/>
            </a:xfrm>
            <a:prstGeom prst="roundRect">
              <a:avLst>
                <a:gd name="adj" fmla="val 8475"/>
              </a:avLst>
            </a:prstGeom>
            <a:solidFill>
              <a:srgbClr val="EAF4F6"/>
            </a:solidFill>
            <a:ln w="14288">
              <a:solidFill>
                <a:srgbClr val="00A6A6"/>
              </a:solidFill>
            </a:ln>
          </p:spPr>
        </p:sp>
        <p:sp>
          <p:nvSpPr>
            <p:cNvPr id="30" name="TextBox 30"/>
            <p:cNvSpPr txBox="1"/>
            <p:nvPr/>
          </p:nvSpPr>
          <p:spPr>
            <a:xfrm>
              <a:off x="906399" y="4973479"/>
              <a:ext cx="15081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Başarı ölçütü</a:t>
              </a:r>
            </a:p>
          </p:txBody>
        </p:sp>
        <p:sp>
          <p:nvSpPr>
            <p:cNvPr id="31" name="TextBox 31"/>
            <p:cNvSpPr txBox="1"/>
            <p:nvPr/>
          </p:nvSpPr>
          <p:spPr>
            <a:xfrm>
              <a:off x="907542" y="5264468"/>
              <a:ext cx="820013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Öğrenci, etiketsiz bir müşteri veri kümesinde üç algoritmayı uygulayıp Dirsek/Silhouette ile</a:t>
              </a:r>
            </a:p>
          </p:txBody>
        </p:sp>
        <p:sp>
          <p:nvSpPr>
            <p:cNvPr id="32" name="TextBox 32"/>
            <p:cNvSpPr txBox="1"/>
            <p:nvPr/>
          </p:nvSpPr>
          <p:spPr>
            <a:xfrm>
              <a:off x="907542" y="5493068"/>
              <a:ext cx="795507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gerekçeli bir küme sayısı önerebiliyor, DBSCAN'ın gürültüsünü doğru yorumluyor ve hangi</a:t>
              </a:r>
            </a:p>
          </p:txBody>
        </p:sp>
        <p:sp>
          <p:nvSpPr>
            <p:cNvPr id="33" name="TextBox 33"/>
            <p:cNvSpPr txBox="1"/>
            <p:nvPr/>
          </p:nvSpPr>
          <p:spPr>
            <a:xfrm>
              <a:off x="907542" y="5721668"/>
              <a:ext cx="830092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algoritmanın hangi veri şeklinde tercih edileceğini savunabiliyorsa hedeflere ulaşmış sayılır.</a:t>
              </a:r>
            </a:p>
          </p:txBody>
        </p:sp>
      </p:grpSp>
      <p:sp>
        <p:nvSpPr>
          <p:cNvPr id="35" name="TextBox 3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23</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8165941" cy="668845"/>
            <a:chOff x="609600" y="171450"/>
            <a:chExt cx="8165941"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747556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beş temel yapı taşı</a:t>
              </a:r>
            </a:p>
          </p:txBody>
        </p:sp>
      </p:grpSp>
      <p:grpSp>
        <p:nvGrpSpPr>
          <p:cNvPr id="51" name="concept-map"/>
          <p:cNvGrpSpPr/>
          <p:nvPr/>
        </p:nvGrpSpPr>
        <p:grpSpPr>
          <a:xfrm>
            <a:off x="685800" y="1219200"/>
            <a:ext cx="10896600" cy="4886706"/>
            <a:chOff x="685800" y="1219200"/>
            <a:chExt cx="10896600" cy="4886706"/>
          </a:xfrm>
        </p:grpSpPr>
        <p:grpSp>
          <p:nvGrpSpPr>
            <p:cNvPr id="22" name="Group 22"/>
            <p:cNvGrpSpPr/>
            <p:nvPr/>
          </p:nvGrpSpPr>
          <p:grpSpPr>
            <a:xfrm>
              <a:off x="3143250" y="1581150"/>
              <a:ext cx="6953250" cy="4038600"/>
              <a:chOff x="3143250" y="1581150"/>
              <a:chExt cx="69532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1457325"/>
              </a:xfrm>
              <a:prstGeom prst="line">
                <a:avLst/>
              </a:prstGeom>
              <a:noFill/>
              <a:ln w="23812">
                <a:solidFill>
                  <a:srgbClr val="00A6A6"/>
                </a:solidFill>
                <a:tailEnd type="arrow" w="lg" len="lg"/>
              </a:ln>
            </p:spPr>
          </p:sp>
          <p:sp>
            <p:nvSpPr>
              <p:cNvPr id="18" name="Line 18"/>
              <p:cNvSpPr/>
              <p:nvPr/>
            </p:nvSpPr>
            <p:spPr>
              <a:xfrm>
                <a:off x="3143250" y="3095625"/>
                <a:ext cx="1352550" cy="2524125"/>
              </a:xfrm>
              <a:prstGeom prst="line">
                <a:avLst/>
              </a:prstGeom>
              <a:noFill/>
              <a:ln w="23812">
                <a:solidFill>
                  <a:srgbClr val="00A6A6"/>
                </a:solidFill>
                <a:tailEnd type="arrow" w="lg" len="lg"/>
              </a:ln>
            </p:spPr>
          </p:sp>
          <p:sp>
            <p:nvSpPr>
              <p:cNvPr id="19" name="Line 19"/>
              <p:cNvSpPr/>
              <p:nvPr/>
            </p:nvSpPr>
            <p:spPr>
              <a:xfrm>
                <a:off x="6477000" y="2952750"/>
                <a:ext cx="1" cy="190500"/>
              </a:xfrm>
              <a:prstGeom prst="line">
                <a:avLst/>
              </a:prstGeom>
              <a:noFill/>
              <a:ln w="19050">
                <a:solidFill>
                  <a:srgbClr val="52616B"/>
                </a:solidFill>
                <a:custDash>
                  <a:ds d="300000" sp="200000"/>
                </a:custDash>
                <a:tailEnd type="arrow" w="lg" len="lg"/>
              </a:ln>
            </p:spPr>
          </p:sp>
          <p:sp>
            <p:nvSpPr>
              <p:cNvPr id="20" name="Line 20"/>
              <p:cNvSpPr/>
              <p:nvPr/>
            </p:nvSpPr>
            <p:spPr>
              <a:xfrm flipV="1">
                <a:off x="6477000" y="3981450"/>
                <a:ext cx="1" cy="190500"/>
              </a:xfrm>
              <a:prstGeom prst="line">
                <a:avLst/>
              </a:prstGeom>
              <a:noFill/>
              <a:ln w="19050">
                <a:solidFill>
                  <a:srgbClr val="52616B"/>
                </a:solidFill>
                <a:custDash>
                  <a:ds d="300000" sp="200000"/>
                </a:custDash>
                <a:tailEnd type="arrow" w="lg" len="lg"/>
              </a:ln>
            </p:spPr>
          </p:sp>
          <p:sp>
            <p:nvSpPr>
              <p:cNvPr id="21" name="Line 21"/>
              <p:cNvSpPr/>
              <p:nvPr/>
            </p:nvSpPr>
            <p:spPr>
              <a:xfrm>
                <a:off x="8496300" y="1676400"/>
                <a:ext cx="1600200" cy="3581400"/>
              </a:xfrm>
              <a:prstGeom prst="line">
                <a:avLst/>
              </a:prstGeom>
              <a:noFill/>
              <a:ln w="19050">
                <a:solidFill>
                  <a:srgbClr val="52616B"/>
                </a:solidFill>
                <a:custDash>
                  <a:ds d="300000" sp="200000"/>
                </a:custDash>
                <a:tailEnd type="arrow" w="lg" len="lg"/>
              </a:ln>
            </p:spPr>
          </p:sp>
        </p:grpSp>
        <p:grpSp>
          <p:nvGrpSpPr>
            <p:cNvPr id="25" name="map-hub"/>
            <p:cNvGrpSpPr/>
            <p:nvPr/>
          </p:nvGrpSpPr>
          <p:grpSpPr>
            <a:xfrm>
              <a:off x="685800" y="2381250"/>
              <a:ext cx="2381250" cy="1435417"/>
              <a:chOff x="685800" y="2381250"/>
              <a:chExt cx="2381250" cy="1435417"/>
            </a:xfrm>
          </p:grpSpPr>
          <p:sp>
            <p:nvSpPr>
              <p:cNvPr id="23" name="Rectangle 23"/>
              <p:cNvSpPr/>
              <p:nvPr/>
            </p:nvSpPr>
            <p:spPr>
              <a:xfrm>
                <a:off x="685800" y="2381250"/>
                <a:ext cx="2381250" cy="1428750"/>
              </a:xfrm>
              <a:prstGeom prst="roundRect">
                <a:avLst>
                  <a:gd name="adj" fmla="val 6667"/>
                </a:avLst>
              </a:prstGeom>
              <a:solidFill>
                <a:srgbClr val="12355B"/>
              </a:solidFill>
              <a:ln>
                <a:noFill/>
              </a:ln>
            </p:spPr>
          </p:sp>
          <p:sp>
            <p:nvSpPr>
              <p:cNvPr id="24" name="TextBox 24"/>
              <p:cNvSpPr txBox="1"/>
              <p:nvPr/>
            </p:nvSpPr>
            <p:spPr>
              <a:xfrm>
                <a:off x="941070" y="2614612"/>
                <a:ext cx="1748076" cy="1202055"/>
              </a:xfrm>
              <a:prstGeom prst="rect">
                <a:avLst/>
              </a:prstGeom>
              <a:noFill/>
              <a:ln>
                <a:noFill/>
              </a:ln>
            </p:spPr>
            <p:txBody>
              <a:bodyPr wrap="none" lIns="0" tIns="0" rIns="0" bIns="0" anchor="t" anchorCtr="0">
                <a:spAutoFit/>
              </a:bodyPr>
              <a:lstStyle/>
              <a:p>
                <a:pPr algn="l">
                  <a:lnSpc>
                    <a:spcPts val="3000"/>
                  </a:lnSpc>
                </a:pPr>
                <a:r>
                  <a:rPr lang="tr-TR" sz="2250" b="1" dirty="0">
                    <a:solidFill>
                      <a:srgbClr val="FFFFFF"/>
                    </a:solidFill>
                    <a:latin typeface="+mn-lt"/>
                    <a:ea typeface="+mn-ea"/>
                    <a:cs typeface="+mn-cs"/>
                  </a:rPr>
                  <a:t>Kümeleme</a:t>
                </a:r>
                <a:br/>
                <a:r>
                  <a:rPr lang="tr-TR" sz="2250" b="1" dirty="0">
                    <a:solidFill>
                      <a:srgbClr val="FFFFFF"/>
                    </a:solidFill>
                    <a:latin typeface="+mn-lt"/>
                    <a:ea typeface="+mn-ea"/>
                    <a:cs typeface="+mn-cs"/>
                  </a:rPr>
                  <a:t>(denetimsiz</a:t>
                </a:r>
                <a:br/>
                <a:r>
                  <a:rPr lang="tr-TR" sz="2250" b="1" dirty="0">
                    <a:solidFill>
                      <a:srgbClr val="FFFFFF"/>
                    </a:solidFill>
                    <a:latin typeface="+mn-lt"/>
                    <a:ea typeface="+mn-ea"/>
                    <a:cs typeface="+mn-cs"/>
                  </a:rPr>
                  <a:t>öğrenme)</a:t>
                </a:r>
              </a:p>
            </p:txBody>
          </p:sp>
        </p:grpSp>
        <p:grpSp>
          <p:nvGrpSpPr>
            <p:cNvPr id="29" name="map-node-kmeans"/>
            <p:cNvGrpSpPr/>
            <p:nvPr/>
          </p:nvGrpSpPr>
          <p:grpSpPr>
            <a:xfrm>
              <a:off x="4572000" y="1219200"/>
              <a:ext cx="3810000" cy="723900"/>
              <a:chOff x="4572000" y="1219200"/>
              <a:chExt cx="3810000" cy="723900"/>
            </a:xfrm>
          </p:grpSpPr>
          <p:sp>
            <p:nvSpPr>
              <p:cNvPr id="26" name="Rectangle 26"/>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7" name="TextBox 27"/>
              <p:cNvSpPr txBox="1"/>
              <p:nvPr/>
            </p:nvSpPr>
            <p:spPr>
              <a:xfrm>
                <a:off x="4791456" y="1329690"/>
                <a:ext cx="106817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K-Means</a:t>
                </a:r>
              </a:p>
            </p:txBody>
          </p:sp>
          <p:sp>
            <p:nvSpPr>
              <p:cNvPr id="28" name="TextBox 28"/>
              <p:cNvSpPr txBox="1"/>
              <p:nvPr/>
            </p:nvSpPr>
            <p:spPr>
              <a:xfrm>
                <a:off x="4792599" y="1601629"/>
                <a:ext cx="277046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merkez (centroid) tabanlı</a:t>
                </a:r>
              </a:p>
            </p:txBody>
          </p:sp>
        </p:grpSp>
        <p:grpSp>
          <p:nvGrpSpPr>
            <p:cNvPr id="33" name="map-node-hiyerarsik"/>
            <p:cNvGrpSpPr/>
            <p:nvPr/>
          </p:nvGrpSpPr>
          <p:grpSpPr>
            <a:xfrm>
              <a:off x="4572000" y="2209800"/>
              <a:ext cx="3810000" cy="723900"/>
              <a:chOff x="4572000" y="2209800"/>
              <a:chExt cx="3810000" cy="723900"/>
            </a:xfrm>
          </p:grpSpPr>
          <p:sp>
            <p:nvSpPr>
              <p:cNvPr id="30" name="Rectangle 30"/>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1" name="TextBox 31"/>
              <p:cNvSpPr txBox="1"/>
              <p:nvPr/>
            </p:nvSpPr>
            <p:spPr>
              <a:xfrm>
                <a:off x="4791456" y="2320290"/>
                <a:ext cx="253232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Hiyerarşik kümeleme</a:t>
                </a:r>
              </a:p>
            </p:txBody>
          </p:sp>
          <p:sp>
            <p:nvSpPr>
              <p:cNvPr id="32" name="TextBox 32"/>
              <p:cNvSpPr txBox="1"/>
              <p:nvPr/>
            </p:nvSpPr>
            <p:spPr>
              <a:xfrm>
                <a:off x="4792599" y="2592229"/>
                <a:ext cx="267474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dendrogram ile iç içe yapı</a:t>
                </a:r>
              </a:p>
            </p:txBody>
          </p:sp>
        </p:grpSp>
        <p:grpSp>
          <p:nvGrpSpPr>
            <p:cNvPr id="37" name="map-node-dbscan"/>
            <p:cNvGrpSpPr/>
            <p:nvPr/>
          </p:nvGrpSpPr>
          <p:grpSpPr>
            <a:xfrm>
              <a:off x="4572000" y="3200400"/>
              <a:ext cx="3810000" cy="723900"/>
              <a:chOff x="4572000" y="3200400"/>
              <a:chExt cx="3810000" cy="723900"/>
            </a:xfrm>
          </p:grpSpPr>
          <p:sp>
            <p:nvSpPr>
              <p:cNvPr id="34" name="Rectangle 34"/>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5" name="TextBox 35"/>
              <p:cNvSpPr txBox="1"/>
              <p:nvPr/>
            </p:nvSpPr>
            <p:spPr>
              <a:xfrm>
                <a:off x="4791456" y="3310890"/>
                <a:ext cx="90543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DBSCAN</a:t>
                </a:r>
              </a:p>
            </p:txBody>
          </p:sp>
          <p:sp>
            <p:nvSpPr>
              <p:cNvPr id="36" name="TextBox 36"/>
              <p:cNvSpPr txBox="1"/>
              <p:nvPr/>
            </p:nvSpPr>
            <p:spPr>
              <a:xfrm>
                <a:off x="4792599" y="3582829"/>
                <a:ext cx="325967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yoğunluk temelli, gürültü tanır</a:t>
                </a:r>
              </a:p>
            </p:txBody>
          </p:sp>
        </p:grpSp>
        <p:grpSp>
          <p:nvGrpSpPr>
            <p:cNvPr id="41" name="map-node-kselim"/>
            <p:cNvGrpSpPr/>
            <p:nvPr/>
          </p:nvGrpSpPr>
          <p:grpSpPr>
            <a:xfrm>
              <a:off x="4572000" y="4191000"/>
              <a:ext cx="3810000" cy="723900"/>
              <a:chOff x="4572000" y="4191000"/>
              <a:chExt cx="3810000" cy="723900"/>
            </a:xfrm>
          </p:grpSpPr>
          <p:sp>
            <p:nvSpPr>
              <p:cNvPr id="38" name="Rectangle 38"/>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9" name="TextBox 39"/>
              <p:cNvSpPr txBox="1"/>
              <p:nvPr/>
            </p:nvSpPr>
            <p:spPr>
              <a:xfrm>
                <a:off x="4791456" y="4301490"/>
                <a:ext cx="237562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Dirsek &amp; Silhouette</a:t>
                </a:r>
              </a:p>
            </p:txBody>
          </p:sp>
          <p:sp>
            <p:nvSpPr>
              <p:cNvPr id="40" name="TextBox 40"/>
              <p:cNvSpPr txBox="1"/>
              <p:nvPr/>
            </p:nvSpPr>
            <p:spPr>
              <a:xfrm>
                <a:off x="4792599" y="4573429"/>
                <a:ext cx="303633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 değerine nesnel karar verir</a:t>
                </a:r>
              </a:p>
            </p:txBody>
          </p:sp>
        </p:grpSp>
        <p:grpSp>
          <p:nvGrpSpPr>
            <p:cNvPr id="45" name="map-node-telco"/>
            <p:cNvGrpSpPr/>
            <p:nvPr/>
          </p:nvGrpSpPr>
          <p:grpSpPr>
            <a:xfrm>
              <a:off x="4572000" y="5334000"/>
              <a:ext cx="7010400" cy="723900"/>
              <a:chOff x="4572000" y="5334000"/>
              <a:chExt cx="7010400" cy="723900"/>
            </a:xfrm>
          </p:grpSpPr>
          <p:sp>
            <p:nvSpPr>
              <p:cNvPr id="42" name="Rectangle 42"/>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3" name="TextBox 43"/>
              <p:cNvSpPr txBox="1"/>
              <p:nvPr/>
            </p:nvSpPr>
            <p:spPr>
              <a:xfrm>
                <a:off x="4791456" y="5444490"/>
                <a:ext cx="299839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Telco Churn mini-projesi</a:t>
                </a:r>
              </a:p>
            </p:txBody>
          </p:sp>
          <p:sp>
            <p:nvSpPr>
              <p:cNvPr id="44" name="TextBox 44"/>
              <p:cNvSpPr txBox="1"/>
              <p:nvPr/>
            </p:nvSpPr>
            <p:spPr>
              <a:xfrm>
                <a:off x="4792599" y="5716429"/>
                <a:ext cx="504634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üç yaklaşımın gerçek segmentasyona uygulanışı</a:t>
                </a:r>
              </a:p>
            </p:txBody>
          </p:sp>
        </p:grpSp>
        <p:grpSp>
          <p:nvGrpSpPr>
            <p:cNvPr id="50" name="map-legend"/>
            <p:cNvGrpSpPr/>
            <p:nvPr/>
          </p:nvGrpSpPr>
          <p:grpSpPr>
            <a:xfrm>
              <a:off x="685800" y="5528310"/>
              <a:ext cx="3165500" cy="577596"/>
              <a:chOff x="685800" y="5528310"/>
              <a:chExt cx="3165500" cy="577596"/>
            </a:xfrm>
          </p:grpSpPr>
          <p:sp>
            <p:nvSpPr>
              <p:cNvPr id="46" name="Line 46"/>
              <p:cNvSpPr/>
              <p:nvPr/>
            </p:nvSpPr>
            <p:spPr>
              <a:xfrm>
                <a:off x="685800" y="5600700"/>
                <a:ext cx="304800" cy="1"/>
              </a:xfrm>
              <a:prstGeom prst="line">
                <a:avLst/>
              </a:prstGeom>
              <a:noFill/>
              <a:ln w="23812">
                <a:solidFill>
                  <a:srgbClr val="00A6A6"/>
                </a:solidFill>
                <a:tailEnd type="arrow" w="lg" len="lg"/>
              </a:ln>
            </p:spPr>
          </p:sp>
          <p:sp>
            <p:nvSpPr>
              <p:cNvPr id="47" name="TextBox 47"/>
              <p:cNvSpPr txBox="1"/>
              <p:nvPr/>
            </p:nvSpPr>
            <p:spPr>
              <a:xfrm>
                <a:off x="1079754" y="5528310"/>
                <a:ext cx="206098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Kümelemenin bir yapı taşı</a:t>
                </a:r>
              </a:p>
            </p:txBody>
          </p:sp>
          <p:sp>
            <p:nvSpPr>
              <p:cNvPr id="48" name="Line 48"/>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9" name="TextBox 49"/>
              <p:cNvSpPr txBox="1"/>
              <p:nvPr/>
            </p:nvSpPr>
            <p:spPr>
              <a:xfrm>
                <a:off x="1079754" y="5871210"/>
                <a:ext cx="27715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Kavramlar arası tamamlayıcı ilişki</a:t>
                </a:r>
              </a:p>
            </p:txBody>
          </p:sp>
        </p:gr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23</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6850148" cy="668845"/>
            <a:chOff x="609600" y="171450"/>
            <a:chExt cx="6850148"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615977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Neden kümeleme? Elif'in sorusu</a:t>
              </a:r>
            </a:p>
          </p:txBody>
        </p:sp>
      </p:grpSp>
      <p:grpSp>
        <p:nvGrpSpPr>
          <p:cNvPr id="15" name="lead"/>
          <p:cNvGrpSpPr/>
          <p:nvPr/>
        </p:nvGrpSpPr>
        <p:grpSpPr>
          <a:xfrm>
            <a:off x="601599" y="1144429"/>
            <a:ext cx="9594805" cy="555689"/>
            <a:chOff x="601599" y="1144429"/>
            <a:chExt cx="9594805" cy="555689"/>
          </a:xfrm>
        </p:grpSpPr>
        <p:sp>
          <p:nvSpPr>
            <p:cNvPr id="13" name="TextBox 13"/>
            <p:cNvSpPr txBox="1"/>
            <p:nvPr/>
          </p:nvSpPr>
          <p:spPr>
            <a:xfrm>
              <a:off x="601599" y="1144429"/>
              <a:ext cx="959480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Etiket sütunu ya da "doğru cevap" yokken, verinin kendi içindeki yapıyı keşfetmek gerekir —</a:t>
              </a:r>
            </a:p>
          </p:txBody>
        </p:sp>
        <p:sp>
          <p:nvSpPr>
            <p:cNvPr id="14" name="TextBox 14"/>
            <p:cNvSpPr txBox="1"/>
            <p:nvPr/>
          </p:nvSpPr>
          <p:spPr>
            <a:xfrm>
              <a:off x="601599" y="1392079"/>
              <a:ext cx="569508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bu, gözetimli öğrenmenin çözemeyeceği bir problemdir.</a:t>
              </a:r>
            </a:p>
          </p:txBody>
        </p:sp>
      </p:grpSp>
      <p:grpSp>
        <p:nvGrpSpPr>
          <p:cNvPr id="24" name="card-elif"/>
          <p:cNvGrpSpPr/>
          <p:nvPr/>
        </p:nvGrpSpPr>
        <p:grpSpPr>
          <a:xfrm>
            <a:off x="609600" y="1866900"/>
            <a:ext cx="5334000" cy="2133600"/>
            <a:chOff x="609600" y="1866900"/>
            <a:chExt cx="5334000" cy="2133600"/>
          </a:xfrm>
        </p:grpSpPr>
        <p:sp>
          <p:nvSpPr>
            <p:cNvPr id="16" name="Rectangle 16"/>
            <p:cNvSpPr/>
            <p:nvPr/>
          </p:nvSpPr>
          <p:spPr>
            <a:xfrm>
              <a:off x="609600" y="1866900"/>
              <a:ext cx="5334000" cy="2133600"/>
            </a:xfrm>
            <a:prstGeom prst="roundRect">
              <a:avLst>
                <a:gd name="adj" fmla="val 4464"/>
              </a:avLst>
            </a:prstGeom>
            <a:solidFill>
              <a:srgbClr val="FFFFFF"/>
            </a:solidFill>
            <a:ln w="14288">
              <a:solidFill>
                <a:srgbClr val="B8CBD3"/>
              </a:solidFill>
            </a:ln>
          </p:spPr>
        </p:sp>
        <p:sp>
          <p:nvSpPr>
            <p:cNvPr id="17" name="TextBox 17"/>
            <p:cNvSpPr txBox="1"/>
            <p:nvPr/>
          </p:nvSpPr>
          <p:spPr>
            <a:xfrm>
              <a:off x="829056" y="2015490"/>
              <a:ext cx="299919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Problem: Elif'in tablosu</a:t>
              </a:r>
            </a:p>
          </p:txBody>
        </p:sp>
        <p:sp>
          <p:nvSpPr>
            <p:cNvPr id="18" name="TextBox 18"/>
            <p:cNvSpPr txBox="1"/>
            <p:nvPr/>
          </p:nvSpPr>
          <p:spPr>
            <a:xfrm>
              <a:off x="831342" y="2368868"/>
              <a:ext cx="369389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5000 satırlık müşteri verisinde ne etiket</a:t>
              </a:r>
            </a:p>
          </p:txBody>
        </p:sp>
        <p:sp>
          <p:nvSpPr>
            <p:cNvPr id="19" name="TextBox 19"/>
            <p:cNvSpPr txBox="1"/>
            <p:nvPr/>
          </p:nvSpPr>
          <p:spPr>
            <a:xfrm>
              <a:off x="831342" y="2597468"/>
              <a:ext cx="385745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sütunu ne de "doğru cevap" listesi vardır —</a:t>
              </a:r>
            </a:p>
          </p:txBody>
        </p:sp>
        <p:sp>
          <p:nvSpPr>
            <p:cNvPr id="20" name="TextBox 20"/>
            <p:cNvSpPr txBox="1"/>
            <p:nvPr/>
          </p:nvSpPr>
          <p:spPr>
            <a:xfrm>
              <a:off x="831342" y="2826068"/>
              <a:ext cx="346671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yalnızca yaş, aylık harcama, sözleşme</a:t>
              </a:r>
            </a:p>
          </p:txBody>
        </p:sp>
        <p:sp>
          <p:nvSpPr>
            <p:cNvPr id="21" name="TextBox 21"/>
            <p:cNvSpPr txBox="1"/>
            <p:nvPr/>
          </p:nvSpPr>
          <p:spPr>
            <a:xfrm>
              <a:off x="831342" y="3054668"/>
              <a:ext cx="332132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süresi gibi sayısal özellikler bulunur.</a:t>
              </a:r>
            </a:p>
          </p:txBody>
        </p:sp>
        <p:sp>
          <p:nvSpPr>
            <p:cNvPr id="22" name="TextBox 22"/>
            <p:cNvSpPr txBox="1"/>
            <p:nvPr/>
          </p:nvSpPr>
          <p:spPr>
            <a:xfrm>
              <a:off x="831342" y="3397568"/>
              <a:ext cx="3413621" cy="264033"/>
            </a:xfrm>
            <a:prstGeom prst="rect">
              <a:avLst/>
            </a:prstGeom>
            <a:noFill/>
            <a:ln>
              <a:noFill/>
            </a:ln>
          </p:spPr>
          <p:txBody>
            <a:bodyPr wrap="none" lIns="0" tIns="0" rIns="0" bIns="0" anchor="t" anchorCtr="0">
              <a:spAutoFit/>
            </a:bodyPr>
            <a:lstStyle/>
            <a:p>
              <a:pPr algn="l"/>
              <a:r>
                <a:rPr lang="tr-TR" sz="1350" b="1" dirty="0">
                  <a:solidFill>
                    <a:srgbClr val="2E86AB"/>
                  </a:solidFill>
                  <a:latin typeface="+mn-lt"/>
                  <a:ea typeface="+mn-ea"/>
                  <a:cs typeface="+mn-cs"/>
                </a:rPr>
                <a:t>Soru: "Bu müşterileri hangi gruplara</a:t>
              </a:r>
            </a:p>
          </p:txBody>
        </p:sp>
        <p:sp>
          <p:nvSpPr>
            <p:cNvPr id="23" name="TextBox 23"/>
            <p:cNvSpPr txBox="1"/>
            <p:nvPr/>
          </p:nvSpPr>
          <p:spPr>
            <a:xfrm>
              <a:off x="831342" y="3626168"/>
              <a:ext cx="1406730" cy="264033"/>
            </a:xfrm>
            <a:prstGeom prst="rect">
              <a:avLst/>
            </a:prstGeom>
            <a:noFill/>
            <a:ln>
              <a:noFill/>
            </a:ln>
          </p:spPr>
          <p:txBody>
            <a:bodyPr wrap="none" lIns="0" tIns="0" rIns="0" bIns="0" anchor="t" anchorCtr="0">
              <a:spAutoFit/>
            </a:bodyPr>
            <a:lstStyle/>
            <a:p>
              <a:pPr algn="l"/>
              <a:r>
                <a:rPr lang="tr-TR" sz="1350" b="1" dirty="0">
                  <a:solidFill>
                    <a:srgbClr val="2E86AB"/>
                  </a:solidFill>
                  <a:latin typeface="+mn-lt"/>
                  <a:ea typeface="+mn-ea"/>
                  <a:cs typeface="+mn-cs"/>
                </a:rPr>
                <a:t>ayırmalıyım?"</a:t>
              </a:r>
            </a:p>
          </p:txBody>
        </p:sp>
      </p:grpSp>
      <p:grpSp>
        <p:nvGrpSpPr>
          <p:cNvPr id="33" name="card-benzetme"/>
          <p:cNvGrpSpPr/>
          <p:nvPr/>
        </p:nvGrpSpPr>
        <p:grpSpPr>
          <a:xfrm>
            <a:off x="6248400" y="1866900"/>
            <a:ext cx="5334000" cy="2133600"/>
            <a:chOff x="6248400" y="1866900"/>
            <a:chExt cx="5334000" cy="2133600"/>
          </a:xfrm>
        </p:grpSpPr>
        <p:sp>
          <p:nvSpPr>
            <p:cNvPr id="25" name="Rectangle 25"/>
            <p:cNvSpPr/>
            <p:nvPr/>
          </p:nvSpPr>
          <p:spPr>
            <a:xfrm>
              <a:off x="6248400" y="1866900"/>
              <a:ext cx="5334000" cy="2133600"/>
            </a:xfrm>
            <a:prstGeom prst="roundRect">
              <a:avLst>
                <a:gd name="adj" fmla="val 4464"/>
              </a:avLst>
            </a:prstGeom>
            <a:solidFill>
              <a:srgbClr val="FFFFFF"/>
            </a:solidFill>
            <a:ln w="14288">
              <a:solidFill>
                <a:srgbClr val="B8CBD3"/>
              </a:solidFill>
            </a:ln>
          </p:spPr>
        </p:sp>
        <p:sp>
          <p:nvSpPr>
            <p:cNvPr id="26" name="TextBox 26"/>
            <p:cNvSpPr txBox="1"/>
            <p:nvPr/>
          </p:nvSpPr>
          <p:spPr>
            <a:xfrm>
              <a:off x="6467856" y="2015490"/>
              <a:ext cx="304143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Günlük hayat benzetmesi</a:t>
              </a:r>
            </a:p>
          </p:txBody>
        </p:sp>
        <p:sp>
          <p:nvSpPr>
            <p:cNvPr id="27" name="TextBox 27"/>
            <p:cNvSpPr txBox="1"/>
            <p:nvPr/>
          </p:nvSpPr>
          <p:spPr>
            <a:xfrm>
              <a:off x="6470142" y="2368868"/>
              <a:ext cx="396344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Bir süpermarket müdürü, kasadaki meyveleri</a:t>
              </a:r>
            </a:p>
          </p:txBody>
        </p:sp>
        <p:sp>
          <p:nvSpPr>
            <p:cNvPr id="28" name="TextBox 28"/>
            <p:cNvSpPr txBox="1"/>
            <p:nvPr/>
          </p:nvSpPr>
          <p:spPr>
            <a:xfrm>
              <a:off x="6470142" y="2597468"/>
              <a:ext cx="426636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"elma", "armut" diye önceden bilmeden yalnızca</a:t>
              </a:r>
            </a:p>
          </p:txBody>
        </p:sp>
        <p:sp>
          <p:nvSpPr>
            <p:cNvPr id="29" name="TextBox 29"/>
            <p:cNvSpPr txBox="1"/>
            <p:nvPr/>
          </p:nvSpPr>
          <p:spPr>
            <a:xfrm>
              <a:off x="6470142" y="2826068"/>
              <a:ext cx="339402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renk, boyut ve şekle bakarak gruplar.</a:t>
              </a:r>
            </a:p>
          </p:txBody>
        </p:sp>
        <p:sp>
          <p:nvSpPr>
            <p:cNvPr id="30" name="TextBox 30"/>
            <p:cNvSpPr txBox="1"/>
            <p:nvPr/>
          </p:nvSpPr>
          <p:spPr>
            <a:xfrm>
              <a:off x="6470142" y="3168968"/>
              <a:ext cx="3940987" cy="264033"/>
            </a:xfrm>
            <a:prstGeom prst="rect">
              <a:avLst/>
            </a:prstGeom>
            <a:noFill/>
            <a:ln>
              <a:noFill/>
            </a:ln>
          </p:spPr>
          <p:txBody>
            <a:bodyPr wrap="none" lIns="0" tIns="0" rIns="0" bIns="0" anchor="t" anchorCtr="0">
              <a:spAutoFit/>
            </a:bodyPr>
            <a:lstStyle/>
            <a:p>
              <a:pPr algn="l"/>
              <a:r>
                <a:rPr lang="tr-TR" sz="1350" b="1" dirty="0">
                  <a:solidFill>
                    <a:srgbClr val="2E86AB"/>
                  </a:solidFill>
                  <a:latin typeface="+mn-lt"/>
                  <a:ea typeface="+mn-ea"/>
                  <a:cs typeface="+mn-cs"/>
                </a:rPr>
                <a:t>Kategori isimleri olmadan, yalnızca özellik</a:t>
              </a:r>
            </a:p>
          </p:txBody>
        </p:sp>
        <p:sp>
          <p:nvSpPr>
            <p:cNvPr id="31" name="TextBox 31"/>
            <p:cNvSpPr txBox="1"/>
            <p:nvPr/>
          </p:nvSpPr>
          <p:spPr>
            <a:xfrm>
              <a:off x="6470142" y="3397568"/>
              <a:ext cx="4011476" cy="264033"/>
            </a:xfrm>
            <a:prstGeom prst="rect">
              <a:avLst/>
            </a:prstGeom>
            <a:noFill/>
            <a:ln>
              <a:noFill/>
            </a:ln>
          </p:spPr>
          <p:txBody>
            <a:bodyPr wrap="none" lIns="0" tIns="0" rIns="0" bIns="0" anchor="t" anchorCtr="0">
              <a:spAutoFit/>
            </a:bodyPr>
            <a:lstStyle/>
            <a:p>
              <a:pPr algn="l"/>
              <a:r>
                <a:rPr lang="tr-TR" sz="1350" b="1" dirty="0">
                  <a:solidFill>
                    <a:srgbClr val="2E86AB"/>
                  </a:solidFill>
                  <a:latin typeface="+mn-lt"/>
                  <a:ea typeface="+mn-ea"/>
                  <a:cs typeface="+mn-cs"/>
                </a:rPr>
                <a:t>benzerliğine dayalı gruplama — kümelemenin</a:t>
              </a:r>
            </a:p>
          </p:txBody>
        </p:sp>
        <p:sp>
          <p:nvSpPr>
            <p:cNvPr id="32" name="TextBox 32"/>
            <p:cNvSpPr txBox="1"/>
            <p:nvPr/>
          </p:nvSpPr>
          <p:spPr>
            <a:xfrm>
              <a:off x="6470142" y="3626168"/>
              <a:ext cx="2856991" cy="264033"/>
            </a:xfrm>
            <a:prstGeom prst="rect">
              <a:avLst/>
            </a:prstGeom>
            <a:noFill/>
            <a:ln>
              <a:noFill/>
            </a:ln>
          </p:spPr>
          <p:txBody>
            <a:bodyPr wrap="none" lIns="0" tIns="0" rIns="0" bIns="0" anchor="t" anchorCtr="0">
              <a:spAutoFit/>
            </a:bodyPr>
            <a:lstStyle/>
            <a:p>
              <a:pPr algn="l"/>
              <a:r>
                <a:rPr lang="tr-TR" sz="1350" b="1" dirty="0">
                  <a:solidFill>
                    <a:srgbClr val="2E86AB"/>
                  </a:solidFill>
                  <a:latin typeface="+mn-lt"/>
                  <a:ea typeface="+mn-ea"/>
                  <a:cs typeface="+mn-cs"/>
                </a:rPr>
                <a:t>tam olarak yaptığı şey budur.</a:t>
              </a:r>
            </a:p>
          </p:txBody>
        </p:sp>
      </p:grpSp>
      <p:grpSp>
        <p:nvGrpSpPr>
          <p:cNvPr id="40" name="definition-box"/>
          <p:cNvGrpSpPr/>
          <p:nvPr/>
        </p:nvGrpSpPr>
        <p:grpSpPr>
          <a:xfrm>
            <a:off x="609600" y="4267200"/>
            <a:ext cx="10972800" cy="1638300"/>
            <a:chOff x="609600" y="4267200"/>
            <a:chExt cx="10972800" cy="1638300"/>
          </a:xfrm>
        </p:grpSpPr>
        <p:sp>
          <p:nvSpPr>
            <p:cNvPr id="34" name="Rectangle 34"/>
            <p:cNvSpPr/>
            <p:nvPr/>
          </p:nvSpPr>
          <p:spPr>
            <a:xfrm>
              <a:off x="609600" y="4267200"/>
              <a:ext cx="10972800" cy="1638300"/>
            </a:xfrm>
            <a:prstGeom prst="roundRect">
              <a:avLst>
                <a:gd name="adj" fmla="val 5814"/>
              </a:avLst>
            </a:prstGeom>
            <a:solidFill>
              <a:srgbClr val="EAF4F6"/>
            </a:solidFill>
            <a:ln w="14288">
              <a:solidFill>
                <a:srgbClr val="00A6A6"/>
              </a:solidFill>
            </a:ln>
          </p:spPr>
        </p:sp>
        <p:sp>
          <p:nvSpPr>
            <p:cNvPr id="35" name="TextBox 35"/>
            <p:cNvSpPr txBox="1"/>
            <p:nvPr/>
          </p:nvSpPr>
          <p:spPr>
            <a:xfrm>
              <a:off x="906399" y="4440079"/>
              <a:ext cx="333450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 Kümeleme (Clustering)</a:t>
              </a:r>
            </a:p>
          </p:txBody>
        </p:sp>
        <p:sp>
          <p:nvSpPr>
            <p:cNvPr id="36" name="TextBox 36"/>
            <p:cNvSpPr txBox="1"/>
            <p:nvPr/>
          </p:nvSpPr>
          <p:spPr>
            <a:xfrm>
              <a:off x="907542" y="4750118"/>
              <a:ext cx="827936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Etiketlenmemiş bir veri kümesindeki noktaları, aralarındaki benzerlik ölçüsüne göre gruplara</a:t>
              </a:r>
            </a:p>
          </p:txBody>
        </p:sp>
        <p:sp>
          <p:nvSpPr>
            <p:cNvPr id="37" name="TextBox 37"/>
            <p:cNvSpPr txBox="1"/>
            <p:nvPr/>
          </p:nvSpPr>
          <p:spPr>
            <a:xfrm>
              <a:off x="907542" y="4978718"/>
              <a:ext cx="837075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(kümelere) ayıran bir denetimsiz öğrenme yaklaşımıdır. Amaç, aynı küme içindeki noktaların</a:t>
              </a:r>
            </a:p>
          </p:txBody>
        </p:sp>
        <p:sp>
          <p:nvSpPr>
            <p:cNvPr id="38" name="TextBox 38"/>
            <p:cNvSpPr txBox="1"/>
            <p:nvPr/>
          </p:nvSpPr>
          <p:spPr>
            <a:xfrm>
              <a:off x="907542" y="5207318"/>
              <a:ext cx="782840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birbirine mümkün olduğunca benzer, farklı kümelerdeki noktaların ise mümkün olduğunca</a:t>
              </a:r>
            </a:p>
          </p:txBody>
        </p:sp>
        <p:sp>
          <p:nvSpPr>
            <p:cNvPr id="39" name="TextBox 39"/>
            <p:cNvSpPr txBox="1"/>
            <p:nvPr/>
          </p:nvSpPr>
          <p:spPr>
            <a:xfrm>
              <a:off x="907542" y="5435918"/>
              <a:ext cx="867051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farklı olmasını sağlamaktır. Kökleri 1960'lı yılların biyolojik taksonomi çalışmalarına dayanır.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23</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544217" cy="557403"/>
            <a:chOff x="595122" y="282892"/>
            <a:chExt cx="6544217" cy="557403"/>
          </a:xfrm>
        </p:grpSpPr>
        <p:sp>
          <p:nvSpPr>
            <p:cNvPr id="4" name="TextBox 4"/>
            <p:cNvSpPr txBox="1"/>
            <p:nvPr/>
          </p:nvSpPr>
          <p:spPr>
            <a:xfrm>
              <a:off x="595122" y="282892"/>
              <a:ext cx="654421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K-Means: merkez tabanlı mantık</a:t>
              </a:r>
            </a:p>
          </p:txBody>
        </p:sp>
      </p:grpSp>
      <p:grpSp>
        <p:nvGrpSpPr>
          <p:cNvPr id="9" name="definition"/>
          <p:cNvGrpSpPr/>
          <p:nvPr/>
        </p:nvGrpSpPr>
        <p:grpSpPr>
          <a:xfrm>
            <a:off x="601599" y="1144429"/>
            <a:ext cx="9626449" cy="803339"/>
            <a:chOff x="601599" y="1144429"/>
            <a:chExt cx="9626449" cy="803339"/>
          </a:xfrm>
        </p:grpSpPr>
        <p:sp>
          <p:nvSpPr>
            <p:cNvPr id="6" name="TextBox 6"/>
            <p:cNvSpPr txBox="1"/>
            <p:nvPr/>
          </p:nvSpPr>
          <p:spPr>
            <a:xfrm>
              <a:off x="601599" y="1144429"/>
              <a:ext cx="888737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 xml:space="preserve">Veri noktalarını önceden belirlenmiş </a:t>
              </a:r>
              <a:r>
                <a:rPr lang="tr-TR" sz="1580" b="1" dirty="0">
                  <a:solidFill>
                    <a:srgbClr val="12355B"/>
                  </a:solidFill>
                  <a:latin typeface="+mn-lt"/>
                  <a:ea typeface="+mn-ea"/>
                  <a:cs typeface="+mn-cs"/>
                </a:rPr>
                <a:t>k</a:t>
              </a:r>
              <a:r>
                <a:rPr lang="tr-TR" sz="1580" dirty="0">
                  <a:solidFill>
                    <a:srgbClr val="172B3A"/>
                  </a:solidFill>
                  <a:latin typeface="+mn-lt"/>
                  <a:ea typeface="+mn-ea"/>
                  <a:cs typeface="+mn-cs"/>
                </a:rPr>
                <a:t xml:space="preserve"> sayıda kümeye, her kümenin merkez noktasına</a:t>
              </a:r>
            </a:p>
          </p:txBody>
        </p:sp>
        <p:sp>
          <p:nvSpPr>
            <p:cNvPr id="7" name="TextBox 7"/>
            <p:cNvSpPr txBox="1"/>
            <p:nvPr/>
          </p:nvSpPr>
          <p:spPr>
            <a:xfrm>
              <a:off x="601599" y="1392079"/>
              <a:ext cx="962644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(centroid) olan uzaklığı minimize edecek şekilde atayan, yinelemeli bir algoritmadır. Adını,</a:t>
              </a:r>
            </a:p>
          </p:txBody>
        </p:sp>
        <p:sp>
          <p:nvSpPr>
            <p:cNvPr id="8" name="TextBox 8"/>
            <p:cNvSpPr txBox="1"/>
            <p:nvPr/>
          </p:nvSpPr>
          <p:spPr>
            <a:xfrm>
              <a:off x="601599" y="1639729"/>
              <a:ext cx="785398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her kümenin ortalamasından (mean) hesaplanan merkez noktalarından alır.</a:t>
              </a:r>
            </a:p>
          </p:txBody>
        </p:sp>
      </p:grpSp>
      <p:grpSp>
        <p:nvGrpSpPr>
          <p:cNvPr id="18" name="card-history"/>
          <p:cNvGrpSpPr/>
          <p:nvPr/>
        </p:nvGrpSpPr>
        <p:grpSpPr>
          <a:xfrm>
            <a:off x="609600" y="2076450"/>
            <a:ext cx="5334000" cy="2095500"/>
            <a:chOff x="609600" y="2076450"/>
            <a:chExt cx="5334000" cy="2095500"/>
          </a:xfrm>
        </p:grpSpPr>
        <p:sp>
          <p:nvSpPr>
            <p:cNvPr id="10" name="Rectangle 10"/>
            <p:cNvSpPr/>
            <p:nvPr/>
          </p:nvSpPr>
          <p:spPr>
            <a:xfrm>
              <a:off x="609600" y="2076450"/>
              <a:ext cx="5334000" cy="2095500"/>
            </a:xfrm>
            <a:prstGeom prst="roundRect">
              <a:avLst>
                <a:gd name="adj" fmla="val 4545"/>
              </a:avLst>
            </a:prstGeom>
            <a:solidFill>
              <a:srgbClr val="FFFFFF"/>
            </a:solidFill>
            <a:ln w="14288">
              <a:solidFill>
                <a:srgbClr val="B8CBD3"/>
              </a:solidFill>
            </a:ln>
          </p:spPr>
        </p:sp>
        <p:sp>
          <p:nvSpPr>
            <p:cNvPr id="11" name="TextBox 11"/>
            <p:cNvSpPr txBox="1"/>
            <p:nvPr/>
          </p:nvSpPr>
          <p:spPr>
            <a:xfrm>
              <a:off x="829056" y="2225040"/>
              <a:ext cx="9416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Tarihçe</a:t>
              </a:r>
            </a:p>
          </p:txBody>
        </p:sp>
        <p:sp>
          <p:nvSpPr>
            <p:cNvPr id="12" name="TextBox 12"/>
            <p:cNvSpPr txBox="1"/>
            <p:nvPr/>
          </p:nvSpPr>
          <p:spPr>
            <a:xfrm>
              <a:off x="831342" y="2597468"/>
              <a:ext cx="350756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1957'de Stuart Lloyd tarafından sinyal</a:t>
              </a:r>
            </a:p>
          </p:txBody>
        </p:sp>
        <p:sp>
          <p:nvSpPr>
            <p:cNvPr id="13" name="TextBox 13"/>
            <p:cNvSpPr txBox="1"/>
            <p:nvPr/>
          </p:nvSpPr>
          <p:spPr>
            <a:xfrm>
              <a:off x="831342" y="2826068"/>
              <a:ext cx="373023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işleme (kuantalama) amacıyla geliştirildi.</a:t>
              </a:r>
            </a:p>
          </p:txBody>
        </p:sp>
        <p:sp>
          <p:nvSpPr>
            <p:cNvPr id="14" name="TextBox 14"/>
            <p:cNvSpPr txBox="1"/>
            <p:nvPr/>
          </p:nvSpPr>
          <p:spPr>
            <a:xfrm>
              <a:off x="831342" y="3054668"/>
              <a:ext cx="380024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1967'de James MacQueen "k-means" adını</a:t>
              </a:r>
            </a:p>
          </p:txBody>
        </p:sp>
        <p:sp>
          <p:nvSpPr>
            <p:cNvPr id="15" name="TextBox 15"/>
            <p:cNvSpPr txBox="1"/>
            <p:nvPr/>
          </p:nvSpPr>
          <p:spPr>
            <a:xfrm>
              <a:off x="831342" y="3283268"/>
              <a:ext cx="336359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verdi. Bugün hâlâ en yaygın kullanılan</a:t>
              </a:r>
            </a:p>
          </p:txBody>
        </p:sp>
        <p:sp>
          <p:nvSpPr>
            <p:cNvPr id="16" name="TextBox 16"/>
            <p:cNvSpPr txBox="1"/>
            <p:nvPr/>
          </p:nvSpPr>
          <p:spPr>
            <a:xfrm>
              <a:off x="831342" y="3511868"/>
              <a:ext cx="376658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kümeleme algoritmasıdır — basit, hızlı ve</a:t>
              </a:r>
            </a:p>
          </p:txBody>
        </p:sp>
        <p:sp>
          <p:nvSpPr>
            <p:cNvPr id="17" name="TextBox 17"/>
            <p:cNvSpPr txBox="1"/>
            <p:nvPr/>
          </p:nvSpPr>
          <p:spPr>
            <a:xfrm>
              <a:off x="831342" y="3740468"/>
              <a:ext cx="244899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büyük veride ölçeklenebilir.</a:t>
              </a:r>
            </a:p>
          </p:txBody>
        </p:sp>
      </p:grpSp>
      <p:grpSp>
        <p:nvGrpSpPr>
          <p:cNvPr id="26" name="card-analogy"/>
          <p:cNvGrpSpPr/>
          <p:nvPr/>
        </p:nvGrpSpPr>
        <p:grpSpPr>
          <a:xfrm>
            <a:off x="6248400" y="2076450"/>
            <a:ext cx="5334000" cy="2095500"/>
            <a:chOff x="6248400" y="2076450"/>
            <a:chExt cx="5334000" cy="2095500"/>
          </a:xfrm>
        </p:grpSpPr>
        <p:sp>
          <p:nvSpPr>
            <p:cNvPr id="19" name="Rectangle 19"/>
            <p:cNvSpPr/>
            <p:nvPr/>
          </p:nvSpPr>
          <p:spPr>
            <a:xfrm>
              <a:off x="6248400" y="2076450"/>
              <a:ext cx="5334000" cy="2095500"/>
            </a:xfrm>
            <a:prstGeom prst="roundRect">
              <a:avLst>
                <a:gd name="adj" fmla="val 4545"/>
              </a:avLst>
            </a:prstGeom>
            <a:solidFill>
              <a:srgbClr val="FFFFFF"/>
            </a:solidFill>
            <a:ln w="14288">
              <a:solidFill>
                <a:srgbClr val="B8CBD3"/>
              </a:solidFill>
            </a:ln>
          </p:spPr>
        </p:sp>
        <p:sp>
          <p:nvSpPr>
            <p:cNvPr id="20" name="TextBox 20"/>
            <p:cNvSpPr txBox="1"/>
            <p:nvPr/>
          </p:nvSpPr>
          <p:spPr>
            <a:xfrm>
              <a:off x="6467856" y="2225040"/>
              <a:ext cx="38937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Benzetme: itfaiye istasyonları</a:t>
              </a:r>
            </a:p>
          </p:txBody>
        </p:sp>
        <p:sp>
          <p:nvSpPr>
            <p:cNvPr id="21" name="TextBox 21"/>
            <p:cNvSpPr txBox="1"/>
            <p:nvPr/>
          </p:nvSpPr>
          <p:spPr>
            <a:xfrm>
              <a:off x="6470142" y="2597468"/>
              <a:ext cx="413914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 tane itfaiye istasyonu yerleştirme problemi:</a:t>
              </a:r>
            </a:p>
          </p:txBody>
        </p:sp>
        <p:sp>
          <p:nvSpPr>
            <p:cNvPr id="22" name="TextBox 22"/>
            <p:cNvSpPr txBox="1"/>
            <p:nvPr/>
          </p:nvSpPr>
          <p:spPr>
            <a:xfrm>
              <a:off x="6470142" y="2826068"/>
              <a:ext cx="403919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her istasyon, en yakın mahalleleri sorumluluk</a:t>
              </a:r>
            </a:p>
          </p:txBody>
        </p:sp>
        <p:sp>
          <p:nvSpPr>
            <p:cNvPr id="23" name="TextBox 23"/>
            <p:cNvSpPr txBox="1"/>
            <p:nvPr/>
          </p:nvSpPr>
          <p:spPr>
            <a:xfrm>
              <a:off x="6470142" y="3054668"/>
              <a:ext cx="391197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alanı olarak üstlenir; sonra istasyon, kendi</a:t>
              </a:r>
            </a:p>
          </p:txBody>
        </p:sp>
        <p:sp>
          <p:nvSpPr>
            <p:cNvPr id="24" name="TextBox 24"/>
            <p:cNvSpPr txBox="1"/>
            <p:nvPr/>
          </p:nvSpPr>
          <p:spPr>
            <a:xfrm>
              <a:off x="6470142" y="3283268"/>
              <a:ext cx="442992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sorumluluk alanının ağırlık merkezine kaydırılır</a:t>
              </a:r>
            </a:p>
          </p:txBody>
        </p:sp>
        <p:sp>
          <p:nvSpPr>
            <p:cNvPr id="25" name="TextBox 25"/>
            <p:cNvSpPr txBox="1"/>
            <p:nvPr/>
          </p:nvSpPr>
          <p:spPr>
            <a:xfrm>
              <a:off x="6470142" y="3511868"/>
              <a:ext cx="409371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 bu süreç konumlar stabilleşene kadar sürer.</a:t>
              </a:r>
            </a:p>
          </p:txBody>
        </p:sp>
      </p:grpSp>
      <p:grpSp>
        <p:nvGrpSpPr>
          <p:cNvPr id="49" name="steps"/>
          <p:cNvGrpSpPr/>
          <p:nvPr/>
        </p:nvGrpSpPr>
        <p:grpSpPr>
          <a:xfrm>
            <a:off x="609600" y="4381500"/>
            <a:ext cx="10972800" cy="1610106"/>
            <a:chOff x="609600" y="4381500"/>
            <a:chExt cx="10972800" cy="1610106"/>
          </a:xfrm>
        </p:grpSpPr>
        <p:sp>
          <p:nvSpPr>
            <p:cNvPr id="27" name="Rectangle 27"/>
            <p:cNvSpPr/>
            <p:nvPr/>
          </p:nvSpPr>
          <p:spPr>
            <a:xfrm>
              <a:off x="609600" y="4381500"/>
              <a:ext cx="10972800" cy="1524000"/>
            </a:xfrm>
            <a:prstGeom prst="roundRect">
              <a:avLst>
                <a:gd name="adj" fmla="val 6250"/>
              </a:avLst>
            </a:prstGeom>
            <a:solidFill>
              <a:srgbClr val="EAF4F6"/>
            </a:solidFill>
            <a:ln>
              <a:noFill/>
            </a:ln>
          </p:spPr>
        </p:sp>
        <p:sp>
          <p:nvSpPr>
            <p:cNvPr id="28" name="TextBox 28"/>
            <p:cNvSpPr txBox="1"/>
            <p:nvPr/>
          </p:nvSpPr>
          <p:spPr>
            <a:xfrm>
              <a:off x="906399" y="4535329"/>
              <a:ext cx="157493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Sezgisel döngü</a:t>
              </a:r>
            </a:p>
          </p:txBody>
        </p:sp>
        <p:sp>
          <p:nvSpPr>
            <p:cNvPr id="29" name="Ellipse 29"/>
            <p:cNvSpPr/>
            <p:nvPr/>
          </p:nvSpPr>
          <p:spPr>
            <a:xfrm>
              <a:off x="1200150" y="5105400"/>
              <a:ext cx="457200" cy="457200"/>
            </a:xfrm>
            <a:prstGeom prst="ellipse">
              <a:avLst/>
            </a:prstGeom>
            <a:solidFill>
              <a:srgbClr val="12355B"/>
            </a:solidFill>
            <a:ln>
              <a:noFill/>
            </a:ln>
          </p:spPr>
        </p:sp>
        <p:sp>
          <p:nvSpPr>
            <p:cNvPr id="30" name="TextBox 30"/>
            <p:cNvSpPr txBox="1"/>
            <p:nvPr/>
          </p:nvSpPr>
          <p:spPr>
            <a:xfrm>
              <a:off x="1369415" y="52549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31" name="TextBox 31"/>
            <p:cNvSpPr txBox="1"/>
            <p:nvPr/>
          </p:nvSpPr>
          <p:spPr>
            <a:xfrm>
              <a:off x="1043026" y="5585460"/>
              <a:ext cx="77144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k temsilci</a:t>
              </a:r>
            </a:p>
          </p:txBody>
        </p:sp>
        <p:sp>
          <p:nvSpPr>
            <p:cNvPr id="32" name="TextBox 32"/>
            <p:cNvSpPr txBox="1"/>
            <p:nvPr/>
          </p:nvSpPr>
          <p:spPr>
            <a:xfrm>
              <a:off x="1043026" y="5756910"/>
              <a:ext cx="77144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nokta seç</a:t>
              </a:r>
            </a:p>
          </p:txBody>
        </p:sp>
        <p:sp>
          <p:nvSpPr>
            <p:cNvPr id="33" name="Line 33"/>
            <p:cNvSpPr/>
            <p:nvPr/>
          </p:nvSpPr>
          <p:spPr>
            <a:xfrm>
              <a:off x="1866900" y="5334000"/>
              <a:ext cx="1143000" cy="1"/>
            </a:xfrm>
            <a:prstGeom prst="line">
              <a:avLst/>
            </a:prstGeom>
            <a:noFill/>
            <a:ln w="23812">
              <a:solidFill>
                <a:srgbClr val="00A6A6"/>
              </a:solidFill>
              <a:tailEnd type="arrow" w="lg" len="lg"/>
            </a:ln>
          </p:spPr>
        </p:sp>
        <p:sp>
          <p:nvSpPr>
            <p:cNvPr id="34" name="Ellipse 34"/>
            <p:cNvSpPr/>
            <p:nvPr/>
          </p:nvSpPr>
          <p:spPr>
            <a:xfrm>
              <a:off x="3219450" y="5105400"/>
              <a:ext cx="457200" cy="457200"/>
            </a:xfrm>
            <a:prstGeom prst="ellipse">
              <a:avLst/>
            </a:prstGeom>
            <a:solidFill>
              <a:srgbClr val="12355B"/>
            </a:solidFill>
            <a:ln>
              <a:noFill/>
            </a:ln>
          </p:spPr>
        </p:sp>
        <p:sp>
          <p:nvSpPr>
            <p:cNvPr id="35" name="TextBox 35"/>
            <p:cNvSpPr txBox="1"/>
            <p:nvPr/>
          </p:nvSpPr>
          <p:spPr>
            <a:xfrm>
              <a:off x="3388715" y="52549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36" name="TextBox 36"/>
            <p:cNvSpPr txBox="1"/>
            <p:nvPr/>
          </p:nvSpPr>
          <p:spPr>
            <a:xfrm>
              <a:off x="2860396" y="5585460"/>
              <a:ext cx="117530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her noktayı en</a:t>
              </a:r>
            </a:p>
          </p:txBody>
        </p:sp>
        <p:sp>
          <p:nvSpPr>
            <p:cNvPr id="37" name="TextBox 37"/>
            <p:cNvSpPr txBox="1"/>
            <p:nvPr/>
          </p:nvSpPr>
          <p:spPr>
            <a:xfrm>
              <a:off x="3017901" y="5756910"/>
              <a:ext cx="860298"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yakına ata</a:t>
              </a:r>
            </a:p>
          </p:txBody>
        </p:sp>
        <p:sp>
          <p:nvSpPr>
            <p:cNvPr id="38" name="Line 38"/>
            <p:cNvSpPr/>
            <p:nvPr/>
          </p:nvSpPr>
          <p:spPr>
            <a:xfrm>
              <a:off x="3886200" y="5334000"/>
              <a:ext cx="1143000" cy="1"/>
            </a:xfrm>
            <a:prstGeom prst="line">
              <a:avLst/>
            </a:prstGeom>
            <a:noFill/>
            <a:ln w="23812">
              <a:solidFill>
                <a:srgbClr val="00A6A6"/>
              </a:solidFill>
              <a:tailEnd type="arrow" w="lg" len="lg"/>
            </a:ln>
          </p:spPr>
        </p:sp>
        <p:sp>
          <p:nvSpPr>
            <p:cNvPr id="39" name="Ellipse 39"/>
            <p:cNvSpPr/>
            <p:nvPr/>
          </p:nvSpPr>
          <p:spPr>
            <a:xfrm>
              <a:off x="5238750" y="5105400"/>
              <a:ext cx="457200" cy="457200"/>
            </a:xfrm>
            <a:prstGeom prst="ellipse">
              <a:avLst/>
            </a:prstGeom>
            <a:solidFill>
              <a:srgbClr val="12355B"/>
            </a:solidFill>
            <a:ln>
              <a:noFill/>
            </a:ln>
          </p:spPr>
        </p:sp>
        <p:sp>
          <p:nvSpPr>
            <p:cNvPr id="40" name="TextBox 40"/>
            <p:cNvSpPr txBox="1"/>
            <p:nvPr/>
          </p:nvSpPr>
          <p:spPr>
            <a:xfrm>
              <a:off x="5408015" y="52549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41" name="TextBox 41"/>
            <p:cNvSpPr txBox="1"/>
            <p:nvPr/>
          </p:nvSpPr>
          <p:spPr>
            <a:xfrm>
              <a:off x="4689881" y="5585460"/>
              <a:ext cx="1554937"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merkezi ortalamaya</a:t>
              </a:r>
            </a:p>
          </p:txBody>
        </p:sp>
        <p:sp>
          <p:nvSpPr>
            <p:cNvPr id="42" name="TextBox 42"/>
            <p:cNvSpPr txBox="1"/>
            <p:nvPr/>
          </p:nvSpPr>
          <p:spPr>
            <a:xfrm>
              <a:off x="5283556" y="5756910"/>
              <a:ext cx="36758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taşı</a:t>
              </a:r>
            </a:p>
          </p:txBody>
        </p:sp>
        <p:sp>
          <p:nvSpPr>
            <p:cNvPr id="43" name="Line 43"/>
            <p:cNvSpPr/>
            <p:nvPr/>
          </p:nvSpPr>
          <p:spPr>
            <a:xfrm>
              <a:off x="5905500" y="5334000"/>
              <a:ext cx="1143000" cy="1"/>
            </a:xfrm>
            <a:prstGeom prst="line">
              <a:avLst/>
            </a:prstGeom>
            <a:noFill/>
            <a:ln w="23812">
              <a:solidFill>
                <a:srgbClr val="00A6A6"/>
              </a:solidFill>
              <a:tailEnd type="arrow" w="lg" len="lg"/>
            </a:ln>
          </p:spPr>
        </p:sp>
        <p:sp>
          <p:nvSpPr>
            <p:cNvPr id="44" name="Ellipse 44"/>
            <p:cNvSpPr/>
            <p:nvPr/>
          </p:nvSpPr>
          <p:spPr>
            <a:xfrm>
              <a:off x="7258050" y="5105400"/>
              <a:ext cx="457200" cy="457200"/>
            </a:xfrm>
            <a:prstGeom prst="ellipse">
              <a:avLst/>
            </a:prstGeom>
            <a:solidFill>
              <a:srgbClr val="12355B"/>
            </a:solidFill>
            <a:ln>
              <a:noFill/>
            </a:ln>
          </p:spPr>
        </p:sp>
        <p:sp>
          <p:nvSpPr>
            <p:cNvPr id="45" name="TextBox 45"/>
            <p:cNvSpPr txBox="1"/>
            <p:nvPr/>
          </p:nvSpPr>
          <p:spPr>
            <a:xfrm>
              <a:off x="7427315" y="52549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46" name="TextBox 46"/>
            <p:cNvSpPr txBox="1"/>
            <p:nvPr/>
          </p:nvSpPr>
          <p:spPr>
            <a:xfrm>
              <a:off x="6725336" y="5585460"/>
              <a:ext cx="1522628"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merkez sabitlenene</a:t>
              </a:r>
            </a:p>
          </p:txBody>
        </p:sp>
        <p:sp>
          <p:nvSpPr>
            <p:cNvPr id="47" name="TextBox 47"/>
            <p:cNvSpPr txBox="1"/>
            <p:nvPr/>
          </p:nvSpPr>
          <p:spPr>
            <a:xfrm>
              <a:off x="6898996" y="5756910"/>
              <a:ext cx="117530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kadar tekrarla</a:t>
              </a:r>
            </a:p>
          </p:txBody>
        </p:sp>
        <p:sp>
          <p:nvSpPr>
            <p:cNvPr id="48" name="Freeform 48"/>
            <p:cNvSpPr/>
            <p:nvPr/>
          </p:nvSpPr>
          <p:spPr>
            <a:xfrm>
              <a:off x="7486650" y="4622800"/>
              <a:ext cx="3181350" cy="1028700"/>
            </a:xfrm>
            <a:custGeom>
              <a:avLst/>
              <a:gdLst/>
              <a:ahLst/>
              <a:cxnLst/>
              <a:rect l="l" t="t" r="r" b="b"/>
              <a:pathLst>
                <a:path w="3181350" h="1028700">
                  <a:moveTo>
                    <a:pt x="0" y="482600"/>
                  </a:moveTo>
                  <a:cubicBezTo>
                    <a:pt x="2120900" y="0"/>
                    <a:pt x="3181350" y="76200"/>
                    <a:pt x="3181350" y="711200"/>
                  </a:cubicBezTo>
                  <a:cubicBezTo>
                    <a:pt x="3181350" y="1028700"/>
                    <a:pt x="2266950" y="1028700"/>
                    <a:pt x="438150" y="711200"/>
                  </a:cubicBezTo>
                </a:path>
              </a:pathLst>
            </a:custGeom>
            <a:noFill/>
            <a:ln w="19050">
              <a:solidFill>
                <a:srgbClr val="52616B"/>
              </a:solidFill>
              <a:custDash>
                <a:ds d="300000" sp="200000"/>
              </a:custDash>
              <a:tailEnd type="arrow" w="lg" len="lg"/>
            </a:ln>
          </p:spPr>
        </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23</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90537" cy="557403"/>
            <a:chOff x="595122" y="282892"/>
            <a:chExt cx="7490537" cy="557403"/>
          </a:xfrm>
        </p:grpSpPr>
        <p:sp>
          <p:nvSpPr>
            <p:cNvPr id="4" name="TextBox 4"/>
            <p:cNvSpPr txBox="1"/>
            <p:nvPr/>
          </p:nvSpPr>
          <p:spPr>
            <a:xfrm>
              <a:off x="595122" y="282892"/>
              <a:ext cx="749053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K-Means: WCSS ve yakınsama döngüsü</a:t>
              </a:r>
            </a:p>
          </p:txBody>
        </p:sp>
      </p:grpSp>
      <p:grpSp>
        <p:nvGrpSpPr>
          <p:cNvPr id="10" name="formula-box"/>
          <p:cNvGrpSpPr/>
          <p:nvPr/>
        </p:nvGrpSpPr>
        <p:grpSpPr>
          <a:xfrm>
            <a:off x="609600" y="1123950"/>
            <a:ext cx="10972800" cy="1028700"/>
            <a:chOff x="609600" y="1123950"/>
            <a:chExt cx="10972800" cy="1028700"/>
          </a:xfrm>
        </p:grpSpPr>
        <p:sp>
          <p:nvSpPr>
            <p:cNvPr id="6" name="Rectangle 6"/>
            <p:cNvSpPr/>
            <p:nvPr/>
          </p:nvSpPr>
          <p:spPr>
            <a:xfrm>
              <a:off x="609600" y="1123950"/>
              <a:ext cx="10972800" cy="1028700"/>
            </a:xfrm>
            <a:prstGeom prst="roundRect">
              <a:avLst>
                <a:gd name="adj" fmla="val 9259"/>
              </a:avLst>
            </a:prstGeom>
            <a:solidFill>
              <a:srgbClr val="EAF4F6"/>
            </a:solidFill>
            <a:ln w="14288">
              <a:solidFill>
                <a:srgbClr val="00A6A6"/>
              </a:solidFill>
            </a:ln>
          </p:spPr>
        </p:sp>
        <p:sp>
          <p:nvSpPr>
            <p:cNvPr id="7" name="TextBox 7"/>
            <p:cNvSpPr txBox="1"/>
            <p:nvPr/>
          </p:nvSpPr>
          <p:spPr>
            <a:xfrm>
              <a:off x="905256" y="1272540"/>
              <a:ext cx="3602440" cy="352044"/>
            </a:xfrm>
            <a:prstGeom prst="rect">
              <a:avLst/>
            </a:prstGeom>
            <a:noFill/>
            <a:ln>
              <a:noFill/>
            </a:ln>
          </p:spPr>
          <p:txBody>
            <a:bodyPr wrap="none" lIns="0" tIns="0" rIns="0" bIns="0" anchor="t" anchorCtr="0">
              <a:spAutoFit/>
            </a:bodyPr>
            <a:lstStyle/>
            <a:p>
              <a:pPr algn="l"/>
              <a:r>
                <a:rPr lang="el-GR" sz="1800" b="1" dirty="0">
                  <a:solidFill>
                    <a:srgbClr val="12355B"/>
                  </a:solidFill>
                  <a:latin typeface="+mn-lt"/>
                  <a:ea typeface="+mn-ea"/>
                  <a:cs typeface="+mn-cs"/>
                </a:rPr>
                <a:t>WCSS = Σⱼ Σ(x∈Cⱼ) ‖x − μⱼ‖²</a:t>
              </a:r>
            </a:p>
          </p:txBody>
        </p:sp>
        <p:sp>
          <p:nvSpPr>
            <p:cNvPr id="8" name="TextBox 8"/>
            <p:cNvSpPr txBox="1"/>
            <p:nvPr/>
          </p:nvSpPr>
          <p:spPr>
            <a:xfrm>
              <a:off x="907542" y="1606868"/>
              <a:ext cx="9079286" cy="264033"/>
            </a:xfrm>
            <a:prstGeom prst="rect">
              <a:avLst/>
            </a:prstGeom>
            <a:noFill/>
            <a:ln>
              <a:noFill/>
            </a:ln>
          </p:spPr>
          <p:txBody>
            <a:bodyPr wrap="none" lIns="0" tIns="0" rIns="0" bIns="0" anchor="t" anchorCtr="0">
              <a:spAutoFit/>
            </a:bodyPr>
            <a:lstStyle/>
            <a:p>
              <a:pPr algn="l"/>
              <a:r>
                <a:rPr lang="el-GR" sz="1350" dirty="0">
                  <a:solidFill>
                    <a:srgbClr val="172B3A"/>
                  </a:solidFill>
                  <a:latin typeface="+mn-lt"/>
                  <a:ea typeface="+mn-ea"/>
                  <a:cs typeface="+mn-cs"/>
                </a:rPr>
                <a:t>Cⱼ: j. küme · μⱼ: kümenin merkezi (centroid) · ‖x − μⱼ‖²: noktanın merkeze Öklid uzaklığının karesi.</a:t>
              </a:r>
            </a:p>
          </p:txBody>
        </p:sp>
        <p:sp>
          <p:nvSpPr>
            <p:cNvPr id="9" name="TextBox 9"/>
            <p:cNvSpPr txBox="1"/>
            <p:nvPr/>
          </p:nvSpPr>
          <p:spPr>
            <a:xfrm>
              <a:off x="907542" y="1835468"/>
              <a:ext cx="974891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 xml:space="preserve">scikit-learn'de bu toplama </a:t>
              </a:r>
              <a:r>
                <a:rPr lang="tr-TR" sz="1350" b="1" dirty="0">
                  <a:solidFill>
                    <a:srgbClr val="172B3A"/>
                  </a:solidFill>
                  <a:latin typeface="+mn-lt"/>
                  <a:ea typeface="+mn-ea"/>
                  <a:cs typeface="+mn-cs"/>
                </a:rPr>
                <a:t>inertia</a:t>
              </a:r>
              <a:r>
                <a:rPr lang="tr-TR" sz="1350" dirty="0">
                  <a:solidFill>
                    <a:srgbClr val="172B3A"/>
                  </a:solidFill>
                  <a:latin typeface="+mn-lt"/>
                  <a:ea typeface="+mn-ea"/>
                  <a:cs typeface="+mn-cs"/>
                </a:rPr>
                <a:t xml:space="preserve"> denir; algoritma bu değeri her adımda azaltır, k arttıkça monoton düşer.</a:t>
              </a:r>
            </a:p>
          </p:txBody>
        </p:sp>
      </p:grpSp>
      <p:grpSp>
        <p:nvGrpSpPr>
          <p:cNvPr id="12" name="loop-title"/>
          <p:cNvGrpSpPr/>
          <p:nvPr/>
        </p:nvGrpSpPr>
        <p:grpSpPr>
          <a:xfrm>
            <a:off x="601599" y="2344579"/>
            <a:ext cx="5595535" cy="308039"/>
            <a:chOff x="601599" y="2344579"/>
            <a:chExt cx="5595535" cy="308039"/>
          </a:xfrm>
        </p:grpSpPr>
        <p:sp>
          <p:nvSpPr>
            <p:cNvPr id="11" name="TextBox 11"/>
            <p:cNvSpPr txBox="1"/>
            <p:nvPr/>
          </p:nvSpPr>
          <p:spPr>
            <a:xfrm>
              <a:off x="601599" y="2344579"/>
              <a:ext cx="559553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Merkez başlatmadan yakınsamaya: yinelemeli döngü</a:t>
              </a:r>
            </a:p>
          </p:txBody>
        </p:sp>
      </p:grpSp>
      <p:grpSp>
        <p:nvGrpSpPr>
          <p:cNvPr id="17" name="loop-step1"/>
          <p:cNvGrpSpPr/>
          <p:nvPr/>
        </p:nvGrpSpPr>
        <p:grpSpPr>
          <a:xfrm>
            <a:off x="609600" y="2819400"/>
            <a:ext cx="2476500" cy="1333500"/>
            <a:chOff x="609600" y="2819400"/>
            <a:chExt cx="2476500" cy="1333500"/>
          </a:xfrm>
        </p:grpSpPr>
        <p:sp>
          <p:nvSpPr>
            <p:cNvPr id="13" name="Rectangle 13"/>
            <p:cNvSpPr/>
            <p:nvPr/>
          </p:nvSpPr>
          <p:spPr>
            <a:xfrm>
              <a:off x="609600" y="2819400"/>
              <a:ext cx="2476500" cy="1333500"/>
            </a:xfrm>
            <a:prstGeom prst="roundRect">
              <a:avLst>
                <a:gd name="adj" fmla="val 7143"/>
              </a:avLst>
            </a:prstGeom>
            <a:solidFill>
              <a:srgbClr val="FFFFFF"/>
            </a:solidFill>
            <a:ln w="14288">
              <a:solidFill>
                <a:srgbClr val="2E86AB"/>
              </a:solidFill>
            </a:ln>
          </p:spPr>
        </p:sp>
        <p:sp>
          <p:nvSpPr>
            <p:cNvPr id="14" name="TextBox 14"/>
            <p:cNvSpPr txBox="1"/>
            <p:nvPr/>
          </p:nvSpPr>
          <p:spPr>
            <a:xfrm>
              <a:off x="830199" y="2992279"/>
              <a:ext cx="101921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1. Başlat</a:t>
              </a:r>
            </a:p>
          </p:txBody>
        </p:sp>
        <p:sp>
          <p:nvSpPr>
            <p:cNvPr id="15" name="TextBox 15"/>
            <p:cNvSpPr txBox="1"/>
            <p:nvPr/>
          </p:nvSpPr>
          <p:spPr>
            <a:xfrm>
              <a:off x="832104" y="3318510"/>
              <a:ext cx="12156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k-means++ ile k</a:t>
              </a:r>
            </a:p>
          </p:txBody>
        </p:sp>
        <p:sp>
          <p:nvSpPr>
            <p:cNvPr id="16" name="TextBox 16"/>
            <p:cNvSpPr txBox="1"/>
            <p:nvPr/>
          </p:nvSpPr>
          <p:spPr>
            <a:xfrm>
              <a:off x="832104" y="3528060"/>
              <a:ext cx="15630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merkez noktası seç</a:t>
              </a:r>
            </a:p>
          </p:txBody>
        </p:sp>
      </p:grpSp>
      <p:sp>
        <p:nvSpPr>
          <p:cNvPr id="18" name="Line 18"/>
          <p:cNvSpPr/>
          <p:nvPr/>
        </p:nvSpPr>
        <p:spPr>
          <a:xfrm>
            <a:off x="3086100" y="3486150"/>
            <a:ext cx="342900" cy="1"/>
          </a:xfrm>
          <a:prstGeom prst="line">
            <a:avLst/>
          </a:prstGeom>
          <a:noFill/>
          <a:ln w="23812">
            <a:solidFill>
              <a:srgbClr val="00A6A6"/>
            </a:solidFill>
            <a:tailEnd type="arrow" w="lg" len="lg"/>
          </a:ln>
        </p:spPr>
      </p:sp>
      <p:grpSp>
        <p:nvGrpSpPr>
          <p:cNvPr id="23" name="loop-step2"/>
          <p:cNvGrpSpPr/>
          <p:nvPr/>
        </p:nvGrpSpPr>
        <p:grpSpPr>
          <a:xfrm>
            <a:off x="3429000" y="2819400"/>
            <a:ext cx="2476500" cy="1333500"/>
            <a:chOff x="3429000" y="2819400"/>
            <a:chExt cx="2476500" cy="1333500"/>
          </a:xfrm>
        </p:grpSpPr>
        <p:sp>
          <p:nvSpPr>
            <p:cNvPr id="19" name="Rectangle 19"/>
            <p:cNvSpPr/>
            <p:nvPr/>
          </p:nvSpPr>
          <p:spPr>
            <a:xfrm>
              <a:off x="3429000" y="2819400"/>
              <a:ext cx="2476500" cy="1333500"/>
            </a:xfrm>
            <a:prstGeom prst="roundRect">
              <a:avLst>
                <a:gd name="adj" fmla="val 7143"/>
              </a:avLst>
            </a:prstGeom>
            <a:solidFill>
              <a:srgbClr val="FFFFFF"/>
            </a:solidFill>
            <a:ln w="14288">
              <a:solidFill>
                <a:srgbClr val="2E86AB"/>
              </a:solidFill>
            </a:ln>
          </p:spPr>
        </p:sp>
        <p:sp>
          <p:nvSpPr>
            <p:cNvPr id="20" name="TextBox 20"/>
            <p:cNvSpPr txBox="1"/>
            <p:nvPr/>
          </p:nvSpPr>
          <p:spPr>
            <a:xfrm>
              <a:off x="3649599" y="2992279"/>
              <a:ext cx="71002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2. Ata</a:t>
              </a:r>
            </a:p>
          </p:txBody>
        </p:sp>
        <p:sp>
          <p:nvSpPr>
            <p:cNvPr id="21" name="TextBox 21"/>
            <p:cNvSpPr txBox="1"/>
            <p:nvPr/>
          </p:nvSpPr>
          <p:spPr>
            <a:xfrm>
              <a:off x="3651504" y="3318510"/>
              <a:ext cx="16680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her noktayı en yakın</a:t>
              </a:r>
            </a:p>
          </p:txBody>
        </p:sp>
        <p:sp>
          <p:nvSpPr>
            <p:cNvPr id="22" name="TextBox 22"/>
            <p:cNvSpPr txBox="1"/>
            <p:nvPr/>
          </p:nvSpPr>
          <p:spPr>
            <a:xfrm>
              <a:off x="3651504" y="3528060"/>
              <a:ext cx="9814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merkeze ata</a:t>
              </a:r>
            </a:p>
          </p:txBody>
        </p:sp>
      </p:grpSp>
      <p:sp>
        <p:nvSpPr>
          <p:cNvPr id="24" name="Line 24"/>
          <p:cNvSpPr/>
          <p:nvPr/>
        </p:nvSpPr>
        <p:spPr>
          <a:xfrm>
            <a:off x="5905500" y="3486150"/>
            <a:ext cx="342900" cy="1"/>
          </a:xfrm>
          <a:prstGeom prst="line">
            <a:avLst/>
          </a:prstGeom>
          <a:noFill/>
          <a:ln w="23812">
            <a:solidFill>
              <a:srgbClr val="00A6A6"/>
            </a:solidFill>
            <a:tailEnd type="arrow" w="lg" len="lg"/>
          </a:ln>
        </p:spPr>
      </p:sp>
      <p:grpSp>
        <p:nvGrpSpPr>
          <p:cNvPr id="29" name="loop-step3"/>
          <p:cNvGrpSpPr/>
          <p:nvPr/>
        </p:nvGrpSpPr>
        <p:grpSpPr>
          <a:xfrm>
            <a:off x="6248400" y="2819400"/>
            <a:ext cx="2476500" cy="1333500"/>
            <a:chOff x="6248400" y="2819400"/>
            <a:chExt cx="2476500" cy="1333500"/>
          </a:xfrm>
        </p:grpSpPr>
        <p:sp>
          <p:nvSpPr>
            <p:cNvPr id="25" name="Rectangle 25"/>
            <p:cNvSpPr/>
            <p:nvPr/>
          </p:nvSpPr>
          <p:spPr>
            <a:xfrm>
              <a:off x="6248400" y="2819400"/>
              <a:ext cx="2476500" cy="1333500"/>
            </a:xfrm>
            <a:prstGeom prst="roundRect">
              <a:avLst>
                <a:gd name="adj" fmla="val 7143"/>
              </a:avLst>
            </a:prstGeom>
            <a:solidFill>
              <a:srgbClr val="FFFFFF"/>
            </a:solidFill>
            <a:ln w="14288">
              <a:solidFill>
                <a:srgbClr val="2E86AB"/>
              </a:solidFill>
            </a:ln>
          </p:spPr>
        </p:sp>
        <p:sp>
          <p:nvSpPr>
            <p:cNvPr id="26" name="TextBox 26"/>
            <p:cNvSpPr txBox="1"/>
            <p:nvPr/>
          </p:nvSpPr>
          <p:spPr>
            <a:xfrm>
              <a:off x="6468999" y="2992279"/>
              <a:ext cx="120805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3. Güncelle</a:t>
              </a:r>
            </a:p>
          </p:txBody>
        </p:sp>
        <p:sp>
          <p:nvSpPr>
            <p:cNvPr id="27" name="TextBox 27"/>
            <p:cNvSpPr txBox="1"/>
            <p:nvPr/>
          </p:nvSpPr>
          <p:spPr>
            <a:xfrm>
              <a:off x="6470904" y="3318510"/>
              <a:ext cx="21526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merkezi kendi noktalarının</a:t>
              </a:r>
            </a:p>
          </p:txBody>
        </p:sp>
        <p:sp>
          <p:nvSpPr>
            <p:cNvPr id="28" name="TextBox 28"/>
            <p:cNvSpPr txBox="1"/>
            <p:nvPr/>
          </p:nvSpPr>
          <p:spPr>
            <a:xfrm>
              <a:off x="6470904" y="3528060"/>
              <a:ext cx="147416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ortalamasına taşı</a:t>
              </a:r>
            </a:p>
          </p:txBody>
        </p:sp>
      </p:grpSp>
      <p:sp>
        <p:nvSpPr>
          <p:cNvPr id="30" name="Line 30"/>
          <p:cNvSpPr/>
          <p:nvPr/>
        </p:nvSpPr>
        <p:spPr>
          <a:xfrm>
            <a:off x="8724900" y="3486150"/>
            <a:ext cx="342900" cy="1"/>
          </a:xfrm>
          <a:prstGeom prst="line">
            <a:avLst/>
          </a:prstGeom>
          <a:noFill/>
          <a:ln w="23812">
            <a:solidFill>
              <a:srgbClr val="00A6A6"/>
            </a:solidFill>
            <a:tailEnd type="arrow" w="lg" len="lg"/>
          </a:ln>
        </p:spPr>
      </p:sp>
      <p:grpSp>
        <p:nvGrpSpPr>
          <p:cNvPr id="35" name="loop-step4"/>
          <p:cNvGrpSpPr/>
          <p:nvPr/>
        </p:nvGrpSpPr>
        <p:grpSpPr>
          <a:xfrm>
            <a:off x="9067800" y="2819400"/>
            <a:ext cx="2514600" cy="1333500"/>
            <a:chOff x="9067800" y="2819400"/>
            <a:chExt cx="2514600" cy="1333500"/>
          </a:xfrm>
        </p:grpSpPr>
        <p:sp>
          <p:nvSpPr>
            <p:cNvPr id="31" name="Rectangle 31"/>
            <p:cNvSpPr/>
            <p:nvPr/>
          </p:nvSpPr>
          <p:spPr>
            <a:xfrm>
              <a:off x="9067800" y="2819400"/>
              <a:ext cx="2514600" cy="1333500"/>
            </a:xfrm>
            <a:prstGeom prst="roundRect">
              <a:avLst>
                <a:gd name="adj" fmla="val 7143"/>
              </a:avLst>
            </a:prstGeom>
            <a:solidFill>
              <a:srgbClr val="12355B"/>
            </a:solidFill>
            <a:ln>
              <a:noFill/>
            </a:ln>
          </p:spPr>
        </p:sp>
        <p:sp>
          <p:nvSpPr>
            <p:cNvPr id="32" name="TextBox 32"/>
            <p:cNvSpPr txBox="1"/>
            <p:nvPr/>
          </p:nvSpPr>
          <p:spPr>
            <a:xfrm>
              <a:off x="9288399" y="2992279"/>
              <a:ext cx="1141705"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4. Kontrol</a:t>
              </a:r>
            </a:p>
          </p:txBody>
        </p:sp>
        <p:sp>
          <p:nvSpPr>
            <p:cNvPr id="33" name="TextBox 33"/>
            <p:cNvSpPr txBox="1"/>
            <p:nvPr/>
          </p:nvSpPr>
          <p:spPr>
            <a:xfrm>
              <a:off x="9290304" y="3318510"/>
              <a:ext cx="170032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merkezler değişti mi?</a:t>
              </a:r>
            </a:p>
          </p:txBody>
        </p:sp>
        <p:sp>
          <p:nvSpPr>
            <p:cNvPr id="34" name="TextBox 34"/>
            <p:cNvSpPr txBox="1"/>
            <p:nvPr/>
          </p:nvSpPr>
          <p:spPr>
            <a:xfrm>
              <a:off x="9290304" y="3528060"/>
              <a:ext cx="1947367"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Hayır → Dur (yakınsadı)</a:t>
              </a:r>
            </a:p>
          </p:txBody>
        </p:sp>
      </p:grpSp>
      <p:sp>
        <p:nvSpPr>
          <p:cNvPr id="36" name="Freeform 36"/>
          <p:cNvSpPr/>
          <p:nvPr/>
        </p:nvSpPr>
        <p:spPr>
          <a:xfrm>
            <a:off x="3657600" y="4152900"/>
            <a:ext cx="6667500" cy="609600"/>
          </a:xfrm>
          <a:custGeom>
            <a:avLst/>
            <a:gdLst/>
            <a:ahLst/>
            <a:cxnLst/>
            <a:rect l="l" t="t" r="r" b="b"/>
            <a:pathLst>
              <a:path w="6667500" h="609600">
                <a:moveTo>
                  <a:pt x="6667500" y="0"/>
                </a:moveTo>
                <a:cubicBezTo>
                  <a:pt x="6667500" y="406400"/>
                  <a:pt x="4781550" y="609600"/>
                  <a:pt x="1009650" y="609600"/>
                </a:cubicBezTo>
                <a:cubicBezTo>
                  <a:pt x="336550" y="609600"/>
                  <a:pt x="0" y="406400"/>
                  <a:pt x="0" y="0"/>
                </a:cubicBezTo>
              </a:path>
            </a:pathLst>
          </a:custGeom>
          <a:noFill/>
          <a:ln w="19050">
            <a:solidFill>
              <a:srgbClr val="52616B"/>
            </a:solidFill>
            <a:custDash>
              <a:ds d="300000" sp="200000"/>
            </a:custDash>
            <a:tailEnd type="arrow" w="lg" len="lg"/>
          </a:ln>
        </p:spPr>
      </p:sp>
      <p:sp>
        <p:nvSpPr>
          <p:cNvPr id="37" name="TextBox 37"/>
          <p:cNvSpPr txBox="1"/>
          <p:nvPr/>
        </p:nvSpPr>
        <p:spPr>
          <a:xfrm>
            <a:off x="5878278" y="4575810"/>
            <a:ext cx="1578445"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Evet → 2. adıma dön</a:t>
            </a:r>
          </a:p>
        </p:txBody>
      </p:sp>
      <p:grpSp>
        <p:nvGrpSpPr>
          <p:cNvPr id="42" name="loop-note"/>
          <p:cNvGrpSpPr/>
          <p:nvPr/>
        </p:nvGrpSpPr>
        <p:grpSpPr>
          <a:xfrm>
            <a:off x="609600" y="5143500"/>
            <a:ext cx="10972800" cy="880301"/>
            <a:chOff x="609600" y="5143500"/>
            <a:chExt cx="10972800" cy="880301"/>
          </a:xfrm>
        </p:grpSpPr>
        <p:sp>
          <p:nvSpPr>
            <p:cNvPr id="38" name="Rectangle 38"/>
            <p:cNvSpPr/>
            <p:nvPr/>
          </p:nvSpPr>
          <p:spPr>
            <a:xfrm>
              <a:off x="609600" y="5143500"/>
              <a:ext cx="10972800" cy="857250"/>
            </a:xfrm>
            <a:prstGeom prst="roundRect">
              <a:avLst>
                <a:gd name="adj" fmla="val 8889"/>
              </a:avLst>
            </a:prstGeom>
            <a:solidFill>
              <a:srgbClr val="EAF4F6"/>
            </a:solidFill>
            <a:ln>
              <a:noFill/>
            </a:ln>
          </p:spPr>
        </p:sp>
        <p:sp>
          <p:nvSpPr>
            <p:cNvPr id="39" name="TextBox 39"/>
            <p:cNvSpPr txBox="1"/>
            <p:nvPr/>
          </p:nvSpPr>
          <p:spPr>
            <a:xfrm>
              <a:off x="907542" y="5302568"/>
              <a:ext cx="375053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Uyarı: yalnızca yerel minimum garantisi</a:t>
              </a:r>
            </a:p>
          </p:txBody>
        </p:sp>
        <p:sp>
          <p:nvSpPr>
            <p:cNvPr id="40" name="TextBox 40"/>
            <p:cNvSpPr txBox="1"/>
            <p:nvPr/>
          </p:nvSpPr>
          <p:spPr>
            <a:xfrm>
              <a:off x="907542" y="5550218"/>
              <a:ext cx="803494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WCSS monoton azalır, ancak global minimuma değil bir yerel minimuma yakınsar — bu yüzden</a:t>
              </a:r>
            </a:p>
          </p:txBody>
        </p:sp>
        <p:sp>
          <p:nvSpPr>
            <p:cNvPr id="41" name="TextBox 41"/>
            <p:cNvSpPr txBox="1"/>
            <p:nvPr/>
          </p:nvSpPr>
          <p:spPr>
            <a:xfrm>
              <a:off x="907542" y="5759768"/>
              <a:ext cx="3646639"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n_init</a:t>
              </a:r>
              <a:r>
                <a:rPr lang="tr-TR" sz="1350" dirty="0">
                  <a:solidFill>
                    <a:srgbClr val="172B3A"/>
                  </a:solidFill>
                  <a:latin typeface="+mn-lt"/>
                  <a:ea typeface="+mn-ea"/>
                  <a:cs typeface="+mn-cs"/>
                </a:rPr>
                <a:t xml:space="preserve"> ile birden fazla başlangıç denenir.</a:t>
              </a:r>
            </a:p>
          </p:txBody>
        </p:sp>
      </p:gr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23</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11384677" cy="668845"/>
            <a:chOff x="609600" y="171450"/>
            <a:chExt cx="11384677"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1069430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K-Means: ne zaman çalışır, ne zaman başarısız olur?</a:t>
              </a:r>
            </a:p>
          </p:txBody>
        </p:sp>
      </p:grpSp>
      <p:grpSp>
        <p:nvGrpSpPr>
          <p:cNvPr id="22" name="card-good"/>
          <p:cNvGrpSpPr/>
          <p:nvPr/>
        </p:nvGrpSpPr>
        <p:grpSpPr>
          <a:xfrm>
            <a:off x="609600" y="1123950"/>
            <a:ext cx="5334000" cy="2000250"/>
            <a:chOff x="609600" y="1123950"/>
            <a:chExt cx="5334000" cy="2000250"/>
          </a:xfrm>
        </p:grpSpPr>
        <p:sp>
          <p:nvSpPr>
            <p:cNvPr id="11" name="Rectangle 11"/>
            <p:cNvSpPr/>
            <p:nvPr/>
          </p:nvSpPr>
          <p:spPr>
            <a:xfrm>
              <a:off x="609600" y="1123950"/>
              <a:ext cx="5334000" cy="2000250"/>
            </a:xfrm>
            <a:prstGeom prst="roundRect">
              <a:avLst>
                <a:gd name="adj" fmla="val 4762"/>
              </a:avLst>
            </a:prstGeom>
            <a:solidFill>
              <a:srgbClr val="FFFFFF"/>
            </a:solidFill>
            <a:ln w="14288">
              <a:solidFill>
                <a:srgbClr val="00A6A6"/>
              </a:solidFill>
            </a:ln>
          </p:spPr>
        </p:sp>
        <p:sp>
          <p:nvSpPr>
            <p:cNvPr id="12" name="TextBox 12"/>
            <p:cNvSpPr txBox="1"/>
            <p:nvPr/>
          </p:nvSpPr>
          <p:spPr>
            <a:xfrm>
              <a:off x="829818" y="1269682"/>
              <a:ext cx="2905296"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 İyi çalıştığı durumlar</a:t>
              </a:r>
            </a:p>
          </p:txBody>
        </p:sp>
        <p:sp>
          <p:nvSpPr>
            <p:cNvPr id="13" name="Rectangle 13"/>
            <p:cNvSpPr/>
            <p:nvPr/>
          </p:nvSpPr>
          <p:spPr>
            <a:xfrm>
              <a:off x="838200" y="1600200"/>
              <a:ext cx="57150" cy="228600"/>
            </a:xfrm>
            <a:prstGeom prst="rect">
              <a:avLst/>
            </a:prstGeom>
            <a:solidFill>
              <a:srgbClr val="00A6A6"/>
            </a:solidFill>
            <a:ln>
              <a:noFill/>
            </a:ln>
          </p:spPr>
        </p:sp>
        <p:sp>
          <p:nvSpPr>
            <p:cNvPr id="14" name="TextBox 14"/>
            <p:cNvSpPr txBox="1"/>
            <p:nvPr/>
          </p:nvSpPr>
          <p:spPr>
            <a:xfrm>
              <a:off x="983742" y="1625918"/>
              <a:ext cx="324563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Küme sayısı (k) yaklaşık biliniyorsa</a:t>
              </a:r>
            </a:p>
          </p:txBody>
        </p:sp>
        <p:sp>
          <p:nvSpPr>
            <p:cNvPr id="15" name="Rectangle 15"/>
            <p:cNvSpPr/>
            <p:nvPr/>
          </p:nvSpPr>
          <p:spPr>
            <a:xfrm>
              <a:off x="838200" y="1905000"/>
              <a:ext cx="57150" cy="228600"/>
            </a:xfrm>
            <a:prstGeom prst="rect">
              <a:avLst/>
            </a:prstGeom>
            <a:solidFill>
              <a:srgbClr val="00A6A6"/>
            </a:solidFill>
            <a:ln>
              <a:noFill/>
            </a:ln>
          </p:spPr>
        </p:sp>
        <p:sp>
          <p:nvSpPr>
            <p:cNvPr id="16" name="TextBox 16"/>
            <p:cNvSpPr txBox="1"/>
            <p:nvPr/>
          </p:nvSpPr>
          <p:spPr>
            <a:xfrm>
              <a:off x="983742" y="1930718"/>
              <a:ext cx="379068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Kümeler dışbükey ve benzer büyüklükte ise</a:t>
              </a:r>
            </a:p>
          </p:txBody>
        </p:sp>
        <p:sp>
          <p:nvSpPr>
            <p:cNvPr id="17" name="Rectangle 17"/>
            <p:cNvSpPr/>
            <p:nvPr/>
          </p:nvSpPr>
          <p:spPr>
            <a:xfrm>
              <a:off x="838200" y="2209800"/>
              <a:ext cx="57150" cy="381000"/>
            </a:xfrm>
            <a:prstGeom prst="rect">
              <a:avLst/>
            </a:prstGeom>
            <a:solidFill>
              <a:srgbClr val="00A6A6"/>
            </a:solidFill>
            <a:ln>
              <a:noFill/>
            </a:ln>
          </p:spPr>
        </p:sp>
        <p:sp>
          <p:nvSpPr>
            <p:cNvPr id="18" name="TextBox 18"/>
            <p:cNvSpPr txBox="1"/>
            <p:nvPr/>
          </p:nvSpPr>
          <p:spPr>
            <a:xfrm>
              <a:off x="983742" y="2235518"/>
              <a:ext cx="437963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Büyük veri: O(n·k·i·d) karmaşıklığı milyonlarca</a:t>
              </a:r>
            </a:p>
          </p:txBody>
        </p:sp>
        <p:sp>
          <p:nvSpPr>
            <p:cNvPr id="19" name="TextBox 19"/>
            <p:cNvSpPr txBox="1"/>
            <p:nvPr/>
          </p:nvSpPr>
          <p:spPr>
            <a:xfrm>
              <a:off x="983742" y="2445068"/>
              <a:ext cx="194012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satırda bile pratiktir</a:t>
              </a:r>
            </a:p>
          </p:txBody>
        </p:sp>
        <p:sp>
          <p:nvSpPr>
            <p:cNvPr id="20" name="Rectangle 20"/>
            <p:cNvSpPr/>
            <p:nvPr/>
          </p:nvSpPr>
          <p:spPr>
            <a:xfrm>
              <a:off x="838200" y="2724150"/>
              <a:ext cx="57150" cy="228600"/>
            </a:xfrm>
            <a:prstGeom prst="rect">
              <a:avLst/>
            </a:prstGeom>
            <a:solidFill>
              <a:srgbClr val="00A6A6"/>
            </a:solidFill>
            <a:ln>
              <a:noFill/>
            </a:ln>
          </p:spPr>
        </p:sp>
        <p:sp>
          <p:nvSpPr>
            <p:cNvPr id="21" name="TextBox 21"/>
            <p:cNvSpPr txBox="1"/>
            <p:nvPr/>
          </p:nvSpPr>
          <p:spPr>
            <a:xfrm>
              <a:off x="983742" y="2749868"/>
              <a:ext cx="410905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Örn. milyonlarca müşteriyi 5 segmente ayırma</a:t>
              </a:r>
            </a:p>
          </p:txBody>
        </p:sp>
      </p:grpSp>
      <p:grpSp>
        <p:nvGrpSpPr>
          <p:cNvPr id="34" name="card-bad"/>
          <p:cNvGrpSpPr/>
          <p:nvPr/>
        </p:nvGrpSpPr>
        <p:grpSpPr>
          <a:xfrm>
            <a:off x="6248400" y="1123950"/>
            <a:ext cx="5334000" cy="2000250"/>
            <a:chOff x="6248400" y="1123950"/>
            <a:chExt cx="5334000" cy="2000250"/>
          </a:xfrm>
        </p:grpSpPr>
        <p:sp>
          <p:nvSpPr>
            <p:cNvPr id="23" name="Rectangle 23"/>
            <p:cNvSpPr/>
            <p:nvPr/>
          </p:nvSpPr>
          <p:spPr>
            <a:xfrm>
              <a:off x="6248400" y="1123950"/>
              <a:ext cx="5334000" cy="2000250"/>
            </a:xfrm>
            <a:prstGeom prst="roundRect">
              <a:avLst>
                <a:gd name="adj" fmla="val 4762"/>
              </a:avLst>
            </a:prstGeom>
            <a:solidFill>
              <a:srgbClr val="FFFFFF"/>
            </a:solidFill>
            <a:ln w="14288">
              <a:solidFill>
                <a:srgbClr val="B8CBD3"/>
              </a:solidFill>
            </a:ln>
          </p:spPr>
        </p:sp>
        <p:sp>
          <p:nvSpPr>
            <p:cNvPr id="24" name="TextBox 24"/>
            <p:cNvSpPr txBox="1"/>
            <p:nvPr/>
          </p:nvSpPr>
          <p:spPr>
            <a:xfrm>
              <a:off x="6468618" y="1269682"/>
              <a:ext cx="2637145"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 Zorlandığı durumlar</a:t>
              </a:r>
            </a:p>
          </p:txBody>
        </p:sp>
        <p:sp>
          <p:nvSpPr>
            <p:cNvPr id="25" name="Rectangle 25"/>
            <p:cNvSpPr/>
            <p:nvPr/>
          </p:nvSpPr>
          <p:spPr>
            <a:xfrm>
              <a:off x="6477000" y="1600200"/>
              <a:ext cx="57150" cy="228600"/>
            </a:xfrm>
            <a:prstGeom prst="rect">
              <a:avLst/>
            </a:prstGeom>
            <a:solidFill>
              <a:srgbClr val="52616B"/>
            </a:solidFill>
            <a:ln>
              <a:noFill/>
            </a:ln>
          </p:spPr>
        </p:sp>
        <p:sp>
          <p:nvSpPr>
            <p:cNvPr id="26" name="TextBox 26"/>
            <p:cNvSpPr txBox="1"/>
            <p:nvPr/>
          </p:nvSpPr>
          <p:spPr>
            <a:xfrm>
              <a:off x="6622542" y="1625918"/>
              <a:ext cx="365401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Kümeler iç içe geçmiş veya hilal biçimliyse</a:t>
              </a:r>
            </a:p>
          </p:txBody>
        </p:sp>
        <p:sp>
          <p:nvSpPr>
            <p:cNvPr id="27" name="Rectangle 27"/>
            <p:cNvSpPr/>
            <p:nvPr/>
          </p:nvSpPr>
          <p:spPr>
            <a:xfrm>
              <a:off x="6477000" y="1905000"/>
              <a:ext cx="57150" cy="228600"/>
            </a:xfrm>
            <a:prstGeom prst="rect">
              <a:avLst/>
            </a:prstGeom>
            <a:solidFill>
              <a:srgbClr val="52616B"/>
            </a:solidFill>
            <a:ln>
              <a:noFill/>
            </a:ln>
          </p:spPr>
        </p:sp>
        <p:sp>
          <p:nvSpPr>
            <p:cNvPr id="28" name="TextBox 28"/>
            <p:cNvSpPr txBox="1"/>
            <p:nvPr/>
          </p:nvSpPr>
          <p:spPr>
            <a:xfrm>
              <a:off x="6622542" y="1930718"/>
              <a:ext cx="354511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Kümeler çok farklı yoğunluklara sahipse</a:t>
              </a:r>
            </a:p>
          </p:txBody>
        </p:sp>
        <p:sp>
          <p:nvSpPr>
            <p:cNvPr id="29" name="Rectangle 29"/>
            <p:cNvSpPr/>
            <p:nvPr/>
          </p:nvSpPr>
          <p:spPr>
            <a:xfrm>
              <a:off x="6477000" y="2209800"/>
              <a:ext cx="57150" cy="381000"/>
            </a:xfrm>
            <a:prstGeom prst="rect">
              <a:avLst/>
            </a:prstGeom>
            <a:solidFill>
              <a:srgbClr val="52616B"/>
            </a:solidFill>
            <a:ln>
              <a:noFill/>
            </a:ln>
          </p:spPr>
        </p:sp>
        <p:sp>
          <p:nvSpPr>
            <p:cNvPr id="30" name="TextBox 30"/>
            <p:cNvSpPr txBox="1"/>
            <p:nvPr/>
          </p:nvSpPr>
          <p:spPr>
            <a:xfrm>
              <a:off x="6622542" y="2235518"/>
              <a:ext cx="405445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Aykırı değerlere hassastır: tek bir uç nokta</a:t>
              </a:r>
            </a:p>
          </p:txBody>
        </p:sp>
        <p:sp>
          <p:nvSpPr>
            <p:cNvPr id="31" name="TextBox 31"/>
            <p:cNvSpPr txBox="1"/>
            <p:nvPr/>
          </p:nvSpPr>
          <p:spPr>
            <a:xfrm>
              <a:off x="6622542" y="2445068"/>
              <a:ext cx="375749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merkezin konumunu önemli ölçüde kaydırır</a:t>
              </a:r>
            </a:p>
          </p:txBody>
        </p:sp>
        <p:sp>
          <p:nvSpPr>
            <p:cNvPr id="32" name="Rectangle 32"/>
            <p:cNvSpPr/>
            <p:nvPr/>
          </p:nvSpPr>
          <p:spPr>
            <a:xfrm>
              <a:off x="6477000" y="2724150"/>
              <a:ext cx="57150" cy="228600"/>
            </a:xfrm>
            <a:prstGeom prst="rect">
              <a:avLst/>
            </a:prstGeom>
            <a:solidFill>
              <a:srgbClr val="52616B"/>
            </a:solidFill>
            <a:ln>
              <a:noFill/>
            </a:ln>
          </p:spPr>
        </p:sp>
        <p:sp>
          <p:nvSpPr>
            <p:cNvPr id="33" name="TextBox 33"/>
            <p:cNvSpPr txBox="1"/>
            <p:nvPr/>
          </p:nvSpPr>
          <p:spPr>
            <a:xfrm>
              <a:off x="6622542" y="2749868"/>
              <a:ext cx="397208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Bu durumlarda DBSCAN/hiyerarşik daha uygun</a:t>
              </a:r>
            </a:p>
          </p:txBody>
        </p:sp>
      </p:grpSp>
      <p:sp>
        <p:nvSpPr>
          <p:cNvPr id="35" name="TextBox 35"/>
          <p:cNvSpPr txBox="1"/>
          <p:nvPr/>
        </p:nvSpPr>
        <p:spPr>
          <a:xfrm>
            <a:off x="601599" y="3354229"/>
            <a:ext cx="609817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Sık yapılan hata: standardizasyon yapmadan kümelemek</a:t>
            </a:r>
          </a:p>
        </p:txBody>
      </p:sp>
      <p:grpSp>
        <p:nvGrpSpPr>
          <p:cNvPr id="42" name="code-wrong"/>
          <p:cNvGrpSpPr/>
          <p:nvPr/>
        </p:nvGrpSpPr>
        <p:grpSpPr>
          <a:xfrm>
            <a:off x="609600" y="3733800"/>
            <a:ext cx="5334000" cy="1428750"/>
            <a:chOff x="609600" y="3733800"/>
            <a:chExt cx="5334000" cy="1428750"/>
          </a:xfrm>
        </p:grpSpPr>
        <p:sp>
          <p:nvSpPr>
            <p:cNvPr id="36" name="Rectangle 36"/>
            <p:cNvSpPr/>
            <p:nvPr/>
          </p:nvSpPr>
          <p:spPr>
            <a:xfrm>
              <a:off x="609600" y="3733800"/>
              <a:ext cx="5334000" cy="1428750"/>
            </a:xfrm>
            <a:prstGeom prst="roundRect">
              <a:avLst>
                <a:gd name="adj" fmla="val 5333"/>
              </a:avLst>
            </a:prstGeom>
            <a:solidFill>
              <a:srgbClr val="12355B"/>
            </a:solidFill>
            <a:ln>
              <a:noFill/>
            </a:ln>
          </p:spPr>
        </p:sp>
        <p:sp>
          <p:nvSpPr>
            <p:cNvPr id="37" name="TextBox 37"/>
            <p:cNvSpPr txBox="1"/>
            <p:nvPr/>
          </p:nvSpPr>
          <p:spPr>
            <a:xfrm>
              <a:off x="832104" y="3870960"/>
              <a:ext cx="757005"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 Yanlış</a:t>
              </a:r>
            </a:p>
          </p:txBody>
        </p:sp>
        <p:sp>
          <p:nvSpPr>
            <p:cNvPr id="38" name="TextBox 38"/>
            <p:cNvSpPr txBox="1"/>
            <p:nvPr/>
          </p:nvSpPr>
          <p:spPr>
            <a:xfrm>
              <a:off x="832485" y="4164806"/>
              <a:ext cx="259478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kumeleme = KMeans(n_clusters=3)</a:t>
              </a:r>
            </a:p>
          </p:txBody>
        </p:sp>
        <p:sp>
          <p:nvSpPr>
            <p:cNvPr id="39" name="TextBox 39"/>
            <p:cNvSpPr txBox="1"/>
            <p:nvPr/>
          </p:nvSpPr>
          <p:spPr>
            <a:xfrm>
              <a:off x="832485" y="4393406"/>
              <a:ext cx="175835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kumeleme.fit(hamVeri)</a:t>
              </a:r>
            </a:p>
          </p:txBody>
        </p:sp>
        <p:sp>
          <p:nvSpPr>
            <p:cNvPr id="40" name="TextBox 40"/>
            <p:cNvSpPr txBox="1"/>
            <p:nvPr/>
          </p:nvSpPr>
          <p:spPr>
            <a:xfrm>
              <a:off x="832485" y="4679156"/>
              <a:ext cx="2732908" cy="220028"/>
            </a:xfrm>
            <a:prstGeom prst="rect">
              <a:avLst/>
            </a:prstGeom>
            <a:noFill/>
            <a:ln>
              <a:noFill/>
            </a:ln>
          </p:spPr>
          <p:txBody>
            <a:bodyPr wrap="none" lIns="0" tIns="0" rIns="0" bIns="0" anchor="t" anchorCtr="0">
              <a:spAutoFit/>
            </a:bodyPr>
            <a:lstStyle/>
            <a:p>
              <a:pPr algn="l"/>
              <a:r>
                <a:rPr lang="tr-TR" sz="1120" dirty="0">
                  <a:solidFill>
                    <a:srgbClr val="B8CBD3"/>
                  </a:solidFill>
                  <a:latin typeface="+mn-lt"/>
                  <a:ea typeface="+mn-ea"/>
                  <a:cs typeface="+mn-cs"/>
                </a:rPr>
                <a:t>aylik_ucret (0-500) ile hizmet_sayisi</a:t>
              </a:r>
            </a:p>
          </p:txBody>
        </p:sp>
        <p:sp>
          <p:nvSpPr>
            <p:cNvPr id="41" name="TextBox 41"/>
            <p:cNvSpPr txBox="1"/>
            <p:nvPr/>
          </p:nvSpPr>
          <p:spPr>
            <a:xfrm>
              <a:off x="832485" y="4869656"/>
              <a:ext cx="2235352" cy="220028"/>
            </a:xfrm>
            <a:prstGeom prst="rect">
              <a:avLst/>
            </a:prstGeom>
            <a:noFill/>
            <a:ln>
              <a:noFill/>
            </a:ln>
          </p:spPr>
          <p:txBody>
            <a:bodyPr wrap="none" lIns="0" tIns="0" rIns="0" bIns="0" anchor="t" anchorCtr="0">
              <a:spAutoFit/>
            </a:bodyPr>
            <a:lstStyle/>
            <a:p>
              <a:pPr algn="l"/>
              <a:r>
                <a:rPr lang="tr-TR" sz="1120" dirty="0">
                  <a:solidFill>
                    <a:srgbClr val="B8CBD3"/>
                  </a:solidFill>
                  <a:latin typeface="+mn-lt"/>
                  <a:ea typeface="+mn-ea"/>
                  <a:cs typeface="+mn-cs"/>
                </a:rPr>
                <a:t>(0-10) aynı ağırlıkta değildir</a:t>
              </a:r>
            </a:p>
          </p:txBody>
        </p:sp>
      </p:grpSp>
      <p:grpSp>
        <p:nvGrpSpPr>
          <p:cNvPr id="49" name="code-right"/>
          <p:cNvGrpSpPr/>
          <p:nvPr/>
        </p:nvGrpSpPr>
        <p:grpSpPr>
          <a:xfrm>
            <a:off x="6248400" y="3733800"/>
            <a:ext cx="5334000" cy="1428750"/>
            <a:chOff x="6248400" y="3733800"/>
            <a:chExt cx="5334000" cy="1428750"/>
          </a:xfrm>
        </p:grpSpPr>
        <p:sp>
          <p:nvSpPr>
            <p:cNvPr id="43" name="Rectangle 43"/>
            <p:cNvSpPr/>
            <p:nvPr/>
          </p:nvSpPr>
          <p:spPr>
            <a:xfrm>
              <a:off x="6248400" y="3733800"/>
              <a:ext cx="5334000" cy="1428750"/>
            </a:xfrm>
            <a:prstGeom prst="roundRect">
              <a:avLst>
                <a:gd name="adj" fmla="val 5333"/>
              </a:avLst>
            </a:prstGeom>
            <a:solidFill>
              <a:srgbClr val="12355B"/>
            </a:solidFill>
            <a:ln>
              <a:noFill/>
            </a:ln>
          </p:spPr>
        </p:sp>
        <p:sp>
          <p:nvSpPr>
            <p:cNvPr id="44" name="TextBox 44"/>
            <p:cNvSpPr txBox="1"/>
            <p:nvPr/>
          </p:nvSpPr>
          <p:spPr>
            <a:xfrm>
              <a:off x="6470904" y="3870960"/>
              <a:ext cx="706935"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 Doğru</a:t>
              </a:r>
            </a:p>
          </p:txBody>
        </p:sp>
        <p:sp>
          <p:nvSpPr>
            <p:cNvPr id="45" name="TextBox 45"/>
            <p:cNvSpPr txBox="1"/>
            <p:nvPr/>
          </p:nvSpPr>
          <p:spPr>
            <a:xfrm>
              <a:off x="6471285" y="4164806"/>
              <a:ext cx="284742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olceklenmisVeri = StandardScaler()</a:t>
              </a:r>
            </a:p>
          </p:txBody>
        </p:sp>
        <p:sp>
          <p:nvSpPr>
            <p:cNvPr id="46" name="TextBox 46"/>
            <p:cNvSpPr txBox="1"/>
            <p:nvPr/>
          </p:nvSpPr>
          <p:spPr>
            <a:xfrm>
              <a:off x="6471285" y="4355306"/>
              <a:ext cx="192440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.fit_transform(hamVeri)</a:t>
              </a:r>
            </a:p>
          </p:txBody>
        </p:sp>
        <p:sp>
          <p:nvSpPr>
            <p:cNvPr id="47" name="TextBox 47"/>
            <p:cNvSpPr txBox="1"/>
            <p:nvPr/>
          </p:nvSpPr>
          <p:spPr>
            <a:xfrm>
              <a:off x="6471285" y="4583906"/>
              <a:ext cx="3508400"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kumeleme = KMeans(n_clusters=3, n_init=10)</a:t>
              </a:r>
            </a:p>
          </p:txBody>
        </p:sp>
        <p:sp>
          <p:nvSpPr>
            <p:cNvPr id="48" name="TextBox 48"/>
            <p:cNvSpPr txBox="1"/>
            <p:nvPr/>
          </p:nvSpPr>
          <p:spPr>
            <a:xfrm>
              <a:off x="6471285" y="4869656"/>
              <a:ext cx="1971497" cy="220028"/>
            </a:xfrm>
            <a:prstGeom prst="rect">
              <a:avLst/>
            </a:prstGeom>
            <a:noFill/>
            <a:ln>
              <a:noFill/>
            </a:ln>
          </p:spPr>
          <p:txBody>
            <a:bodyPr wrap="none" lIns="0" tIns="0" rIns="0" bIns="0" anchor="t" anchorCtr="0">
              <a:spAutoFit/>
            </a:bodyPr>
            <a:lstStyle/>
            <a:p>
              <a:pPr algn="l"/>
              <a:r>
                <a:rPr lang="tr-TR" sz="1120" dirty="0">
                  <a:solidFill>
                    <a:srgbClr val="B8CBD3"/>
                  </a:solidFill>
                  <a:latin typeface="+mn-lt"/>
                  <a:ea typeface="+mn-ea"/>
                  <a:cs typeface="+mn-cs"/>
                </a:rPr>
                <a:t>önce ölçekle, sonra kümele</a:t>
              </a:r>
            </a:p>
          </p:txBody>
        </p:sp>
      </p:grpSp>
      <p:grpSp>
        <p:nvGrpSpPr>
          <p:cNvPr id="52" name="mistake-explain"/>
          <p:cNvGrpSpPr/>
          <p:nvPr/>
        </p:nvGrpSpPr>
        <p:grpSpPr>
          <a:xfrm>
            <a:off x="602742" y="5397818"/>
            <a:ext cx="10414957" cy="492633"/>
            <a:chOff x="602742" y="5397818"/>
            <a:chExt cx="10414957" cy="492633"/>
          </a:xfrm>
        </p:grpSpPr>
        <p:sp>
          <p:nvSpPr>
            <p:cNvPr id="50" name="TextBox 50"/>
            <p:cNvSpPr txBox="1"/>
            <p:nvPr/>
          </p:nvSpPr>
          <p:spPr>
            <a:xfrm>
              <a:off x="602742" y="5397818"/>
              <a:ext cx="1041495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Ölçek farkı büyük özellikler uzaklık hesabını ezer; kümeleme yalnızca tek bir özelliğe göre yapılmış gibi sonuçlanır.</a:t>
              </a:r>
            </a:p>
          </p:txBody>
        </p:sp>
        <p:sp>
          <p:nvSpPr>
            <p:cNvPr id="51" name="TextBox 51"/>
            <p:cNvSpPr txBox="1"/>
            <p:nvPr/>
          </p:nvSpPr>
          <p:spPr>
            <a:xfrm>
              <a:off x="602742" y="5626418"/>
              <a:ext cx="1002792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 xml:space="preserve">İkinci sık hata: </a:t>
              </a:r>
              <a:r>
                <a:rPr lang="tr-TR" sz="1350" b="1" dirty="0">
                  <a:solidFill>
                    <a:srgbClr val="172B3A"/>
                  </a:solidFill>
                  <a:latin typeface="+mn-lt"/>
                  <a:ea typeface="+mn-ea"/>
                  <a:cs typeface="+mn-cs"/>
                </a:rPr>
                <a:t>n_init=1</a:t>
              </a:r>
              <a:r>
                <a:rPr lang="tr-TR" sz="1350" dirty="0">
                  <a:solidFill>
                    <a:srgbClr val="172B3A"/>
                  </a:solidFill>
                  <a:latin typeface="+mn-lt"/>
                  <a:ea typeface="+mn-ea"/>
                  <a:cs typeface="+mn-cs"/>
                </a:rPr>
                <a:t xml:space="preserve"> ile tek başlangıca güvenmek kötü yerel optimuma düşme riski taşır; </a:t>
              </a:r>
              <a:r>
                <a:rPr lang="tr-TR" sz="1350" b="1" dirty="0">
                  <a:solidFill>
                    <a:srgbClr val="172B3A"/>
                  </a:solidFill>
                  <a:latin typeface="+mn-lt"/>
                  <a:ea typeface="+mn-ea"/>
                  <a:cs typeface="+mn-cs"/>
                </a:rPr>
                <a:t>n_init=10</a:t>
              </a:r>
              <a:r>
                <a:rPr lang="tr-TR" sz="1350" dirty="0">
                  <a:solidFill>
                    <a:srgbClr val="172B3A"/>
                  </a:solidFill>
                  <a:latin typeface="+mn-lt"/>
                  <a:ea typeface="+mn-ea"/>
                  <a:cs typeface="+mn-cs"/>
                </a:rPr>
                <a:t xml:space="preserve"> önerilir.</a:t>
              </a:r>
            </a:p>
          </p:txBody>
        </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23</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134752" cy="557403"/>
            <a:chOff x="595122" y="282892"/>
            <a:chExt cx="6134752" cy="557403"/>
          </a:xfrm>
        </p:grpSpPr>
        <p:sp>
          <p:nvSpPr>
            <p:cNvPr id="4" name="TextBox 4"/>
            <p:cNvSpPr txBox="1"/>
            <p:nvPr/>
          </p:nvSpPr>
          <p:spPr>
            <a:xfrm>
              <a:off x="595122" y="282892"/>
              <a:ext cx="613475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Dirsek yöntemi (Elbow Method)</a:t>
              </a:r>
            </a:p>
          </p:txBody>
        </p:sp>
      </p:grpSp>
      <p:grpSp>
        <p:nvGrpSpPr>
          <p:cNvPr id="12" name="definition"/>
          <p:cNvGrpSpPr/>
          <p:nvPr/>
        </p:nvGrpSpPr>
        <p:grpSpPr>
          <a:xfrm>
            <a:off x="601599" y="1258729"/>
            <a:ext cx="4076681" cy="1393222"/>
            <a:chOff x="601599" y="1258729"/>
            <a:chExt cx="4076681" cy="1393222"/>
          </a:xfrm>
        </p:grpSpPr>
        <p:sp>
          <p:nvSpPr>
            <p:cNvPr id="6" name="TextBox 6"/>
            <p:cNvSpPr txBox="1"/>
            <p:nvPr/>
          </p:nvSpPr>
          <p:spPr>
            <a:xfrm>
              <a:off x="601599" y="125872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7" name="TextBox 7"/>
            <p:cNvSpPr txBox="1"/>
            <p:nvPr/>
          </p:nvSpPr>
          <p:spPr>
            <a:xfrm>
              <a:off x="602742" y="1549718"/>
              <a:ext cx="399925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Farklı k değerleri için inertia grafiğini çizip,</a:t>
              </a:r>
            </a:p>
          </p:txBody>
        </p:sp>
        <p:sp>
          <p:nvSpPr>
            <p:cNvPr id="8" name="TextBox 8"/>
            <p:cNvSpPr txBox="1"/>
            <p:nvPr/>
          </p:nvSpPr>
          <p:spPr>
            <a:xfrm>
              <a:off x="602742" y="1759268"/>
              <a:ext cx="389380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eğimin belirgin biçimde yavaşladığı "dirsek"</a:t>
              </a:r>
            </a:p>
          </p:txBody>
        </p:sp>
        <p:sp>
          <p:nvSpPr>
            <p:cNvPr id="9" name="TextBox 9"/>
            <p:cNvSpPr txBox="1"/>
            <p:nvPr/>
          </p:nvSpPr>
          <p:spPr>
            <a:xfrm>
              <a:off x="602742" y="1968818"/>
              <a:ext cx="407553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noktasını bularak optimum k'yı görsel olarak</a:t>
              </a:r>
            </a:p>
          </p:txBody>
        </p:sp>
        <p:sp>
          <p:nvSpPr>
            <p:cNvPr id="10" name="TextBox 10"/>
            <p:cNvSpPr txBox="1"/>
            <p:nvPr/>
          </p:nvSpPr>
          <p:spPr>
            <a:xfrm>
              <a:off x="602742" y="2178368"/>
              <a:ext cx="400284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tahmin eden bir tekniktir. k arttıkça inertia</a:t>
              </a:r>
            </a:p>
          </p:txBody>
        </p:sp>
        <p:sp>
          <p:nvSpPr>
            <p:cNvPr id="11" name="TextBox 11"/>
            <p:cNvSpPr txBox="1"/>
            <p:nvPr/>
          </p:nvSpPr>
          <p:spPr>
            <a:xfrm>
              <a:off x="602742" y="2387918"/>
              <a:ext cx="316685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monoton azalır (k=n'de sıfırdır).</a:t>
              </a:r>
            </a:p>
          </p:txBody>
        </p:sp>
      </p:grpSp>
      <p:grpSp>
        <p:nvGrpSpPr>
          <p:cNvPr id="20" name="analogy"/>
          <p:cNvGrpSpPr/>
          <p:nvPr/>
        </p:nvGrpSpPr>
        <p:grpSpPr>
          <a:xfrm>
            <a:off x="609600" y="2857500"/>
            <a:ext cx="5905500" cy="1619250"/>
            <a:chOff x="609600" y="2857500"/>
            <a:chExt cx="5905500" cy="1619250"/>
          </a:xfrm>
        </p:grpSpPr>
        <p:sp>
          <p:nvSpPr>
            <p:cNvPr id="13" name="Rectangle 13"/>
            <p:cNvSpPr/>
            <p:nvPr/>
          </p:nvSpPr>
          <p:spPr>
            <a:xfrm>
              <a:off x="609600" y="2857500"/>
              <a:ext cx="5905500" cy="1619250"/>
            </a:xfrm>
            <a:prstGeom prst="roundRect">
              <a:avLst>
                <a:gd name="adj" fmla="val 5882"/>
              </a:avLst>
            </a:prstGeom>
            <a:solidFill>
              <a:srgbClr val="FFFFFF"/>
            </a:solidFill>
            <a:ln w="14288">
              <a:solidFill>
                <a:srgbClr val="B8CBD3"/>
              </a:solidFill>
            </a:ln>
          </p:spPr>
        </p:sp>
        <p:sp>
          <p:nvSpPr>
            <p:cNvPr id="14" name="TextBox 14"/>
            <p:cNvSpPr txBox="1"/>
            <p:nvPr/>
          </p:nvSpPr>
          <p:spPr>
            <a:xfrm>
              <a:off x="830580" y="3000375"/>
              <a:ext cx="2937779"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Benzetme: otobüs durakları</a:t>
              </a:r>
            </a:p>
          </p:txBody>
        </p:sp>
        <p:sp>
          <p:nvSpPr>
            <p:cNvPr id="15" name="TextBox 15"/>
            <p:cNvSpPr txBox="1"/>
            <p:nvPr/>
          </p:nvSpPr>
          <p:spPr>
            <a:xfrm>
              <a:off x="831342" y="3283268"/>
              <a:ext cx="427253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Durak sayısı arttıkça yürüme mesafesi azalır,</a:t>
              </a:r>
            </a:p>
          </p:txBody>
        </p:sp>
        <p:sp>
          <p:nvSpPr>
            <p:cNvPr id="16" name="TextBox 16"/>
            <p:cNvSpPr txBox="1"/>
            <p:nvPr/>
          </p:nvSpPr>
          <p:spPr>
            <a:xfrm>
              <a:off x="831342" y="3492818"/>
              <a:ext cx="354850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ancak bir noktadan sonra her yeni durak</a:t>
              </a:r>
            </a:p>
          </p:txBody>
        </p:sp>
        <p:sp>
          <p:nvSpPr>
            <p:cNvPr id="17" name="TextBox 17"/>
            <p:cNvSpPr txBox="1"/>
            <p:nvPr/>
          </p:nvSpPr>
          <p:spPr>
            <a:xfrm>
              <a:off x="831342" y="3702368"/>
              <a:ext cx="363936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yalnızca birkaç metrelik iyileşme sağlar.</a:t>
              </a:r>
            </a:p>
          </p:txBody>
        </p:sp>
        <p:sp>
          <p:nvSpPr>
            <p:cNvPr id="18" name="TextBox 18"/>
            <p:cNvSpPr txBox="1"/>
            <p:nvPr/>
          </p:nvSpPr>
          <p:spPr>
            <a:xfrm>
              <a:off x="831342" y="3969068"/>
              <a:ext cx="3598647" cy="264033"/>
            </a:xfrm>
            <a:prstGeom prst="rect">
              <a:avLst/>
            </a:prstGeom>
            <a:noFill/>
            <a:ln>
              <a:noFill/>
            </a:ln>
          </p:spPr>
          <p:txBody>
            <a:bodyPr wrap="none" lIns="0" tIns="0" rIns="0" bIns="0" anchor="t" anchorCtr="0">
              <a:spAutoFit/>
            </a:bodyPr>
            <a:lstStyle/>
            <a:p>
              <a:pPr algn="l"/>
              <a:r>
                <a:rPr lang="tr-TR" sz="1350" b="1" dirty="0">
                  <a:solidFill>
                    <a:srgbClr val="2E86AB"/>
                  </a:solidFill>
                  <a:latin typeface="+mn-lt"/>
                  <a:ea typeface="+mn-ea"/>
                  <a:cs typeface="+mn-cs"/>
                </a:rPr>
                <a:t>"Dirsek", tam olarak bu maliyet-fayda</a:t>
              </a:r>
            </a:p>
          </p:txBody>
        </p:sp>
        <p:sp>
          <p:nvSpPr>
            <p:cNvPr id="19" name="TextBox 19"/>
            <p:cNvSpPr txBox="1"/>
            <p:nvPr/>
          </p:nvSpPr>
          <p:spPr>
            <a:xfrm>
              <a:off x="831342" y="4178618"/>
              <a:ext cx="2923780" cy="264033"/>
            </a:xfrm>
            <a:prstGeom prst="rect">
              <a:avLst/>
            </a:prstGeom>
            <a:noFill/>
            <a:ln>
              <a:noFill/>
            </a:ln>
          </p:spPr>
          <p:txBody>
            <a:bodyPr wrap="none" lIns="0" tIns="0" rIns="0" bIns="0" anchor="t" anchorCtr="0">
              <a:spAutoFit/>
            </a:bodyPr>
            <a:lstStyle/>
            <a:p>
              <a:pPr algn="l"/>
              <a:r>
                <a:rPr lang="tr-TR" sz="1350" b="1" dirty="0">
                  <a:solidFill>
                    <a:srgbClr val="2E86AB"/>
                  </a:solidFill>
                  <a:latin typeface="+mn-lt"/>
                  <a:ea typeface="+mn-ea"/>
                  <a:cs typeface="+mn-cs"/>
                </a:rPr>
                <a:t>dengesinin bozulduğu noktadır.</a:t>
              </a:r>
            </a:p>
          </p:txBody>
        </p:sp>
      </p:grpSp>
      <p:grpSp>
        <p:nvGrpSpPr>
          <p:cNvPr id="27" name="limitation"/>
          <p:cNvGrpSpPr/>
          <p:nvPr/>
        </p:nvGrpSpPr>
        <p:grpSpPr>
          <a:xfrm>
            <a:off x="609600" y="4667250"/>
            <a:ext cx="5905500" cy="1238250"/>
            <a:chOff x="609600" y="4667250"/>
            <a:chExt cx="5905500" cy="1238250"/>
          </a:xfrm>
        </p:grpSpPr>
        <p:sp>
          <p:nvSpPr>
            <p:cNvPr id="21" name="Rectangle 21"/>
            <p:cNvSpPr/>
            <p:nvPr/>
          </p:nvSpPr>
          <p:spPr>
            <a:xfrm>
              <a:off x="609600" y="4667250"/>
              <a:ext cx="5905500" cy="1238250"/>
            </a:xfrm>
            <a:prstGeom prst="roundRect">
              <a:avLst>
                <a:gd name="adj" fmla="val 6154"/>
              </a:avLst>
            </a:prstGeom>
            <a:solidFill>
              <a:srgbClr val="EAF4F6"/>
            </a:solidFill>
            <a:ln>
              <a:noFill/>
            </a:ln>
          </p:spPr>
        </p:sp>
        <p:sp>
          <p:nvSpPr>
            <p:cNvPr id="22" name="TextBox 22"/>
            <p:cNvSpPr txBox="1"/>
            <p:nvPr/>
          </p:nvSpPr>
          <p:spPr>
            <a:xfrm>
              <a:off x="831342" y="4788218"/>
              <a:ext cx="954634"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Sınırlama</a:t>
              </a:r>
            </a:p>
          </p:txBody>
        </p:sp>
        <p:sp>
          <p:nvSpPr>
            <p:cNvPr id="23" name="TextBox 23"/>
            <p:cNvSpPr txBox="1"/>
            <p:nvPr/>
          </p:nvSpPr>
          <p:spPr>
            <a:xfrm>
              <a:off x="832104" y="5052060"/>
              <a:ext cx="35798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Dirsek noktası her zaman net görülmez; bazı</a:t>
              </a:r>
            </a:p>
          </p:txBody>
        </p:sp>
        <p:sp>
          <p:nvSpPr>
            <p:cNvPr id="24" name="TextBox 24"/>
            <p:cNvSpPr txBox="1"/>
            <p:nvPr/>
          </p:nvSpPr>
          <p:spPr>
            <a:xfrm>
              <a:off x="832104" y="5242560"/>
              <a:ext cx="37761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 kümelerinde eğri yumuşak azalır ve belirgin</a:t>
              </a:r>
            </a:p>
          </p:txBody>
        </p:sp>
        <p:sp>
          <p:nvSpPr>
            <p:cNvPr id="25" name="TextBox 25"/>
            <p:cNvSpPr txBox="1"/>
            <p:nvPr/>
          </p:nvSpPr>
          <p:spPr>
            <a:xfrm>
              <a:off x="832104" y="5433060"/>
              <a:ext cx="360395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köşe oluşmaz — bu yüzden Silhouette skoru</a:t>
              </a:r>
            </a:p>
          </p:txBody>
        </p:sp>
        <p:sp>
          <p:nvSpPr>
            <p:cNvPr id="26" name="TextBox 26"/>
            <p:cNvSpPr txBox="1"/>
            <p:nvPr/>
          </p:nvSpPr>
          <p:spPr>
            <a:xfrm>
              <a:off x="832104" y="5623560"/>
              <a:ext cx="313806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tamamlayıcı bir araç olarak kullanılır.</a:t>
              </a:r>
            </a:p>
          </p:txBody>
        </p:sp>
      </p:grpSp>
      <p:grpSp>
        <p:nvGrpSpPr>
          <p:cNvPr id="51" name="chart"/>
          <p:cNvGrpSpPr/>
          <p:nvPr/>
        </p:nvGrpSpPr>
        <p:grpSpPr>
          <a:xfrm>
            <a:off x="6700288" y="1283018"/>
            <a:ext cx="4882112" cy="4873466"/>
            <a:chOff x="6700288" y="1283018"/>
            <a:chExt cx="4882112" cy="4873466"/>
          </a:xfrm>
        </p:grpSpPr>
        <p:sp>
          <p:nvSpPr>
            <p:cNvPr id="28" name="TextBox 28"/>
            <p:cNvSpPr txBox="1"/>
            <p:nvPr/>
          </p:nvSpPr>
          <p:spPr>
            <a:xfrm>
              <a:off x="8131982" y="1283018"/>
              <a:ext cx="2100237"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Iris: k'ya göre inertia</a:t>
              </a:r>
            </a:p>
          </p:txBody>
        </p:sp>
        <p:sp>
          <p:nvSpPr>
            <p:cNvPr id="29" name="Line 29"/>
            <p:cNvSpPr/>
            <p:nvPr/>
          </p:nvSpPr>
          <p:spPr>
            <a:xfrm>
              <a:off x="7429500" y="2286000"/>
              <a:ext cx="9525" cy="3048000"/>
            </a:xfrm>
            <a:custGeom>
              <a:avLst/>
              <a:gdLst/>
              <a:ahLst/>
              <a:cxnLst/>
              <a:rect l="l" t="t" r="r" b="b"/>
              <a:pathLst>
                <a:path w="9525" h="3048000">
                  <a:moveTo>
                    <a:pt x="0" y="0"/>
                  </a:moveTo>
                  <a:lnTo>
                    <a:pt x="0" y="3048000"/>
                  </a:lnTo>
                </a:path>
              </a:pathLst>
            </a:custGeom>
            <a:noFill/>
            <a:ln w="14288">
              <a:solidFill>
                <a:srgbClr val="52616B"/>
              </a:solidFill>
            </a:ln>
          </p:spPr>
        </p:sp>
        <p:sp>
          <p:nvSpPr>
            <p:cNvPr id="30" name="Line 30"/>
            <p:cNvSpPr/>
            <p:nvPr/>
          </p:nvSpPr>
          <p:spPr>
            <a:xfrm>
              <a:off x="7429500" y="5334000"/>
              <a:ext cx="3810000" cy="9525"/>
            </a:xfrm>
            <a:custGeom>
              <a:avLst/>
              <a:gdLst/>
              <a:ahLst/>
              <a:cxnLst/>
              <a:rect l="l" t="t" r="r" b="b"/>
              <a:pathLst>
                <a:path w="3810000" h="9525">
                  <a:moveTo>
                    <a:pt x="0" y="0"/>
                  </a:moveTo>
                  <a:lnTo>
                    <a:pt x="3810000" y="0"/>
                  </a:lnTo>
                </a:path>
              </a:pathLst>
            </a:custGeom>
            <a:noFill/>
            <a:ln w="14288">
              <a:solidFill>
                <a:srgbClr val="52616B"/>
              </a:solidFill>
            </a:ln>
          </p:spPr>
        </p:sp>
        <p:sp>
          <p:nvSpPr>
            <p:cNvPr id="31" name="TextBox 31"/>
            <p:cNvSpPr txBox="1"/>
            <p:nvPr/>
          </p:nvSpPr>
          <p:spPr>
            <a:xfrm>
              <a:off x="8489158" y="5585460"/>
              <a:ext cx="1309684"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Küme Sayısı (k)</a:t>
              </a:r>
            </a:p>
          </p:txBody>
        </p:sp>
        <p:sp>
          <p:nvSpPr>
            <p:cNvPr id="32" name="TextBox 32"/>
            <p:cNvSpPr txBox="1"/>
            <p:nvPr/>
          </p:nvSpPr>
          <p:spPr>
            <a:xfrm rot="-5400000">
              <a:off x="6700288" y="3692652"/>
              <a:ext cx="55774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Inertia</a:t>
              </a:r>
            </a:p>
          </p:txBody>
        </p:sp>
        <p:sp>
          <p:nvSpPr>
            <p:cNvPr id="33" name="Polyline 33"/>
            <p:cNvSpPr/>
            <p:nvPr/>
          </p:nvSpPr>
          <p:spPr>
            <a:xfrm>
              <a:off x="7429500" y="2286000"/>
              <a:ext cx="3810000" cy="2809875"/>
            </a:xfrm>
            <a:custGeom>
              <a:avLst/>
              <a:gdLst/>
              <a:ahLst/>
              <a:cxnLst/>
              <a:rect l="l" t="t" r="r" b="b"/>
              <a:pathLst>
                <a:path w="3810000" h="2809875">
                  <a:moveTo>
                    <a:pt x="0" y="0"/>
                  </a:moveTo>
                  <a:lnTo>
                    <a:pt x="419100" y="1914525"/>
                  </a:lnTo>
                  <a:lnTo>
                    <a:pt x="847725" y="2333625"/>
                  </a:lnTo>
                  <a:lnTo>
                    <a:pt x="1266825" y="2466975"/>
                  </a:lnTo>
                  <a:lnTo>
                    <a:pt x="1695450" y="2590800"/>
                  </a:lnTo>
                  <a:lnTo>
                    <a:pt x="2114550" y="2638425"/>
                  </a:lnTo>
                  <a:lnTo>
                    <a:pt x="2543175" y="2676525"/>
                  </a:lnTo>
                  <a:lnTo>
                    <a:pt x="2962275" y="2733675"/>
                  </a:lnTo>
                  <a:lnTo>
                    <a:pt x="3390900" y="2771775"/>
                  </a:lnTo>
                  <a:lnTo>
                    <a:pt x="3810000" y="2809875"/>
                  </a:lnTo>
                </a:path>
              </a:pathLst>
            </a:custGeom>
            <a:noFill/>
            <a:ln w="23812">
              <a:solidFill>
                <a:srgbClr val="2E86AB"/>
              </a:solidFill>
            </a:ln>
          </p:spPr>
        </p:sp>
        <p:sp>
          <p:nvSpPr>
            <p:cNvPr id="34" name="Ellipse 34"/>
            <p:cNvSpPr/>
            <p:nvPr/>
          </p:nvSpPr>
          <p:spPr>
            <a:xfrm>
              <a:off x="7386638" y="2243138"/>
              <a:ext cx="85725" cy="85725"/>
            </a:xfrm>
            <a:prstGeom prst="ellipse">
              <a:avLst/>
            </a:prstGeom>
            <a:solidFill>
              <a:srgbClr val="2E86AB"/>
            </a:solidFill>
            <a:ln>
              <a:noFill/>
            </a:ln>
          </p:spPr>
        </p:sp>
        <p:sp>
          <p:nvSpPr>
            <p:cNvPr id="35" name="Ellipse 35"/>
            <p:cNvSpPr/>
            <p:nvPr/>
          </p:nvSpPr>
          <p:spPr>
            <a:xfrm>
              <a:off x="7805738" y="4157662"/>
              <a:ext cx="85725" cy="85725"/>
            </a:xfrm>
            <a:prstGeom prst="ellipse">
              <a:avLst/>
            </a:prstGeom>
            <a:solidFill>
              <a:srgbClr val="2E86AB"/>
            </a:solidFill>
            <a:ln>
              <a:noFill/>
            </a:ln>
          </p:spPr>
        </p:sp>
        <p:sp>
          <p:nvSpPr>
            <p:cNvPr id="36" name="Ellipse 36"/>
            <p:cNvSpPr/>
            <p:nvPr/>
          </p:nvSpPr>
          <p:spPr>
            <a:xfrm>
              <a:off x="8234362" y="4576762"/>
              <a:ext cx="85725" cy="85725"/>
            </a:xfrm>
            <a:prstGeom prst="ellipse">
              <a:avLst/>
            </a:prstGeom>
            <a:solidFill>
              <a:srgbClr val="2E86AB"/>
            </a:solidFill>
            <a:ln>
              <a:noFill/>
            </a:ln>
          </p:spPr>
        </p:sp>
        <p:sp>
          <p:nvSpPr>
            <p:cNvPr id="37" name="Ellipse 37"/>
            <p:cNvSpPr/>
            <p:nvPr/>
          </p:nvSpPr>
          <p:spPr>
            <a:xfrm>
              <a:off x="8653462" y="4710112"/>
              <a:ext cx="85725" cy="85725"/>
            </a:xfrm>
            <a:prstGeom prst="ellipse">
              <a:avLst/>
            </a:prstGeom>
            <a:solidFill>
              <a:srgbClr val="2E86AB"/>
            </a:solidFill>
            <a:ln>
              <a:noFill/>
            </a:ln>
          </p:spPr>
        </p:sp>
        <p:sp>
          <p:nvSpPr>
            <p:cNvPr id="38" name="Ellipse 38"/>
            <p:cNvSpPr/>
            <p:nvPr/>
          </p:nvSpPr>
          <p:spPr>
            <a:xfrm>
              <a:off x="9082088" y="4833938"/>
              <a:ext cx="85725" cy="85725"/>
            </a:xfrm>
            <a:prstGeom prst="ellipse">
              <a:avLst/>
            </a:prstGeom>
            <a:solidFill>
              <a:srgbClr val="2E86AB"/>
            </a:solidFill>
            <a:ln>
              <a:noFill/>
            </a:ln>
          </p:spPr>
        </p:sp>
        <p:sp>
          <p:nvSpPr>
            <p:cNvPr id="39" name="Ellipse 39"/>
            <p:cNvSpPr/>
            <p:nvPr/>
          </p:nvSpPr>
          <p:spPr>
            <a:xfrm>
              <a:off x="9501188" y="4881562"/>
              <a:ext cx="85725" cy="85725"/>
            </a:xfrm>
            <a:prstGeom prst="ellipse">
              <a:avLst/>
            </a:prstGeom>
            <a:solidFill>
              <a:srgbClr val="2E86AB"/>
            </a:solidFill>
            <a:ln>
              <a:noFill/>
            </a:ln>
          </p:spPr>
        </p:sp>
        <p:sp>
          <p:nvSpPr>
            <p:cNvPr id="40" name="Ellipse 40"/>
            <p:cNvSpPr/>
            <p:nvPr/>
          </p:nvSpPr>
          <p:spPr>
            <a:xfrm>
              <a:off x="9929812" y="4919662"/>
              <a:ext cx="85725" cy="85725"/>
            </a:xfrm>
            <a:prstGeom prst="ellipse">
              <a:avLst/>
            </a:prstGeom>
            <a:solidFill>
              <a:srgbClr val="2E86AB"/>
            </a:solidFill>
            <a:ln>
              <a:noFill/>
            </a:ln>
          </p:spPr>
        </p:sp>
        <p:sp>
          <p:nvSpPr>
            <p:cNvPr id="41" name="Ellipse 41"/>
            <p:cNvSpPr/>
            <p:nvPr/>
          </p:nvSpPr>
          <p:spPr>
            <a:xfrm>
              <a:off x="10348912" y="4976812"/>
              <a:ext cx="85725" cy="85725"/>
            </a:xfrm>
            <a:prstGeom prst="ellipse">
              <a:avLst/>
            </a:prstGeom>
            <a:solidFill>
              <a:srgbClr val="2E86AB"/>
            </a:solidFill>
            <a:ln>
              <a:noFill/>
            </a:ln>
          </p:spPr>
        </p:sp>
        <p:sp>
          <p:nvSpPr>
            <p:cNvPr id="42" name="Ellipse 42"/>
            <p:cNvSpPr/>
            <p:nvPr/>
          </p:nvSpPr>
          <p:spPr>
            <a:xfrm>
              <a:off x="10777538" y="5014912"/>
              <a:ext cx="85725" cy="85725"/>
            </a:xfrm>
            <a:prstGeom prst="ellipse">
              <a:avLst/>
            </a:prstGeom>
            <a:solidFill>
              <a:srgbClr val="2E86AB"/>
            </a:solidFill>
            <a:ln>
              <a:noFill/>
            </a:ln>
          </p:spPr>
        </p:sp>
        <p:sp>
          <p:nvSpPr>
            <p:cNvPr id="43" name="Ellipse 43"/>
            <p:cNvSpPr/>
            <p:nvPr/>
          </p:nvSpPr>
          <p:spPr>
            <a:xfrm>
              <a:off x="11196638" y="5053012"/>
              <a:ext cx="85725" cy="85725"/>
            </a:xfrm>
            <a:prstGeom prst="ellipse">
              <a:avLst/>
            </a:prstGeom>
            <a:solidFill>
              <a:srgbClr val="2E86AB"/>
            </a:solidFill>
            <a:ln>
              <a:noFill/>
            </a:ln>
          </p:spPr>
        </p:sp>
        <p:sp>
          <p:nvSpPr>
            <p:cNvPr id="44" name="Line 44"/>
            <p:cNvSpPr/>
            <p:nvPr/>
          </p:nvSpPr>
          <p:spPr>
            <a:xfrm>
              <a:off x="8277225" y="2286000"/>
              <a:ext cx="9525" cy="3048000"/>
            </a:xfrm>
            <a:custGeom>
              <a:avLst/>
              <a:gdLst/>
              <a:ahLst/>
              <a:cxnLst/>
              <a:rect l="l" t="t" r="r" b="b"/>
              <a:pathLst>
                <a:path w="9525" h="3048000">
                  <a:moveTo>
                    <a:pt x="0" y="0"/>
                  </a:moveTo>
                  <a:lnTo>
                    <a:pt x="0" y="3048000"/>
                  </a:lnTo>
                </a:path>
              </a:pathLst>
            </a:custGeom>
            <a:noFill/>
            <a:ln w="19050">
              <a:solidFill>
                <a:srgbClr val="00A6A6"/>
              </a:solidFill>
              <a:custDash>
                <a:ds d="300000" sp="200000"/>
              </a:custDash>
            </a:ln>
          </p:spPr>
        </p:sp>
        <p:sp>
          <p:nvSpPr>
            <p:cNvPr id="45" name="TextBox 45"/>
            <p:cNvSpPr txBox="1"/>
            <p:nvPr/>
          </p:nvSpPr>
          <p:spPr>
            <a:xfrm>
              <a:off x="8131192" y="2042160"/>
              <a:ext cx="292067"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k=3</a:t>
              </a:r>
            </a:p>
          </p:txBody>
        </p:sp>
        <p:sp>
          <p:nvSpPr>
            <p:cNvPr id="46" name="TextBox 46"/>
            <p:cNvSpPr txBox="1"/>
            <p:nvPr/>
          </p:nvSpPr>
          <p:spPr>
            <a:xfrm>
              <a:off x="7385294" y="5411152"/>
              <a:ext cx="88411"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1</a:t>
              </a:r>
            </a:p>
          </p:txBody>
        </p:sp>
        <p:sp>
          <p:nvSpPr>
            <p:cNvPr id="47" name="TextBox 47"/>
            <p:cNvSpPr txBox="1"/>
            <p:nvPr/>
          </p:nvSpPr>
          <p:spPr>
            <a:xfrm>
              <a:off x="11156423" y="5411152"/>
              <a:ext cx="166154"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10</a:t>
              </a:r>
            </a:p>
          </p:txBody>
        </p:sp>
        <p:sp>
          <p:nvSpPr>
            <p:cNvPr id="48" name="Rectangle 48"/>
            <p:cNvSpPr/>
            <p:nvPr/>
          </p:nvSpPr>
          <p:spPr>
            <a:xfrm>
              <a:off x="6819900" y="5886450"/>
              <a:ext cx="4762500" cy="19050"/>
            </a:xfrm>
            <a:prstGeom prst="rect">
              <a:avLst/>
            </a:prstGeom>
            <a:noFill/>
            <a:ln>
              <a:noFill/>
            </a:ln>
          </p:spPr>
        </p:sp>
        <p:sp>
          <p:nvSpPr>
            <p:cNvPr id="49" name="TextBox 49"/>
            <p:cNvSpPr txBox="1"/>
            <p:nvPr/>
          </p:nvSpPr>
          <p:spPr>
            <a:xfrm>
              <a:off x="8256661" y="5765006"/>
              <a:ext cx="1850878" cy="220028"/>
            </a:xfrm>
            <a:prstGeom prst="rect">
              <a:avLst/>
            </a:prstGeom>
            <a:noFill/>
            <a:ln>
              <a:noFill/>
            </a:ln>
          </p:spPr>
          <p:txBody>
            <a:bodyPr wrap="none" lIns="0" tIns="0" rIns="0" bIns="0" anchor="t" anchorCtr="0">
              <a:spAutoFit/>
            </a:bodyPr>
            <a:lstStyle/>
            <a:p>
              <a:pPr algn="ctr"/>
              <a:r>
                <a:rPr lang="tr-TR" sz="1120" dirty="0">
                  <a:solidFill>
                    <a:srgbClr val="172B3A"/>
                  </a:solidFill>
                  <a:latin typeface="+mn-lt"/>
                  <a:ea typeface="+mn-ea"/>
                  <a:cs typeface="+mn-cs"/>
                </a:rPr>
                <a:t>k=1'den k=3'e dik düşüş,</a:t>
              </a:r>
            </a:p>
          </p:txBody>
        </p:sp>
        <p:sp>
          <p:nvSpPr>
            <p:cNvPr id="50" name="TextBox 50"/>
            <p:cNvSpPr txBox="1"/>
            <p:nvPr/>
          </p:nvSpPr>
          <p:spPr>
            <a:xfrm>
              <a:off x="7796799" y="5936456"/>
              <a:ext cx="2770602" cy="220028"/>
            </a:xfrm>
            <a:prstGeom prst="rect">
              <a:avLst/>
            </a:prstGeom>
            <a:noFill/>
            <a:ln>
              <a:noFill/>
            </a:ln>
          </p:spPr>
          <p:txBody>
            <a:bodyPr wrap="none" lIns="0" tIns="0" rIns="0" bIns="0" anchor="t" anchorCtr="0">
              <a:spAutoFit/>
            </a:bodyPr>
            <a:lstStyle/>
            <a:p>
              <a:pPr algn="ctr"/>
              <a:r>
                <a:rPr lang="tr-TR" sz="1120" dirty="0">
                  <a:solidFill>
                    <a:srgbClr val="172B3A"/>
                  </a:solidFill>
                  <a:latin typeface="+mn-lt"/>
                  <a:ea typeface="+mn-ea"/>
                  <a:cs typeface="+mn-cs"/>
                </a:rPr>
                <a:t>sonrası yataylaşır — dirsek noktası.</a:t>
              </a:r>
            </a:p>
          </p:txBody>
        </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23</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3974511" cy="668845"/>
            <a:chOff x="609600" y="171450"/>
            <a:chExt cx="3974511"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328413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Silhouette skoru</a:t>
              </a:r>
            </a:p>
          </p:txBody>
        </p:sp>
      </p:grpSp>
      <p:grpSp>
        <p:nvGrpSpPr>
          <p:cNvPr id="15" name="definition"/>
          <p:cNvGrpSpPr/>
          <p:nvPr/>
        </p:nvGrpSpPr>
        <p:grpSpPr>
          <a:xfrm>
            <a:off x="601599" y="1258729"/>
            <a:ext cx="4140289" cy="1419510"/>
            <a:chOff x="601599" y="1258729"/>
            <a:chExt cx="4140289" cy="1419510"/>
          </a:xfrm>
        </p:grpSpPr>
        <p:sp>
          <p:nvSpPr>
            <p:cNvPr id="9" name="TextBox 9"/>
            <p:cNvSpPr txBox="1"/>
            <p:nvPr/>
          </p:nvSpPr>
          <p:spPr>
            <a:xfrm>
              <a:off x="601599" y="125872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0" name="TextBox 10"/>
            <p:cNvSpPr txBox="1"/>
            <p:nvPr/>
          </p:nvSpPr>
          <p:spPr>
            <a:xfrm>
              <a:off x="602742" y="1549718"/>
              <a:ext cx="373608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Bir noktanın kendi kümesine olan ortalama</a:t>
              </a:r>
            </a:p>
          </p:txBody>
        </p:sp>
        <p:sp>
          <p:nvSpPr>
            <p:cNvPr id="11" name="TextBox 11"/>
            <p:cNvSpPr txBox="1"/>
            <p:nvPr/>
          </p:nvSpPr>
          <p:spPr>
            <a:xfrm>
              <a:off x="602742" y="1759268"/>
              <a:ext cx="388471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uzaklığı (a) ile en yakın komşu kümeye olan</a:t>
              </a:r>
            </a:p>
          </p:txBody>
        </p:sp>
        <p:sp>
          <p:nvSpPr>
            <p:cNvPr id="12" name="TextBox 12"/>
            <p:cNvSpPr txBox="1"/>
            <p:nvPr/>
          </p:nvSpPr>
          <p:spPr>
            <a:xfrm>
              <a:off x="602742" y="1968818"/>
              <a:ext cx="413914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uzaklığı (b) arasındaki farkı normalize eder:</a:t>
              </a:r>
            </a:p>
          </p:txBody>
        </p:sp>
        <p:sp>
          <p:nvSpPr>
            <p:cNvPr id="13" name="Rectangle 13"/>
            <p:cNvSpPr/>
            <p:nvPr/>
          </p:nvSpPr>
          <p:spPr>
            <a:xfrm>
              <a:off x="609600" y="2266950"/>
              <a:ext cx="3619500" cy="400050"/>
            </a:xfrm>
            <a:prstGeom prst="roundRect">
              <a:avLst>
                <a:gd name="adj" fmla="val 14286"/>
              </a:avLst>
            </a:prstGeom>
            <a:solidFill>
              <a:srgbClr val="EAF4F6"/>
            </a:solidFill>
            <a:ln>
              <a:noFill/>
            </a:ln>
          </p:spPr>
        </p:sp>
        <p:sp>
          <p:nvSpPr>
            <p:cNvPr id="14" name="TextBox 14"/>
            <p:cNvSpPr txBox="1"/>
            <p:nvPr/>
          </p:nvSpPr>
          <p:spPr>
            <a:xfrm>
              <a:off x="791718" y="2355532"/>
              <a:ext cx="2605608"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s = (b − a) / max(a, b)</a:t>
              </a:r>
            </a:p>
          </p:txBody>
        </p:sp>
      </p:grpSp>
      <p:grpSp>
        <p:nvGrpSpPr>
          <p:cNvPr id="18" name="range"/>
          <p:cNvGrpSpPr/>
          <p:nvPr/>
        </p:nvGrpSpPr>
        <p:grpSpPr>
          <a:xfrm>
            <a:off x="602742" y="2826068"/>
            <a:ext cx="4701493" cy="473583"/>
            <a:chOff x="602742" y="2826068"/>
            <a:chExt cx="4701493" cy="473583"/>
          </a:xfrm>
        </p:grpSpPr>
        <p:sp>
          <p:nvSpPr>
            <p:cNvPr id="16" name="TextBox 16"/>
            <p:cNvSpPr txBox="1"/>
            <p:nvPr/>
          </p:nvSpPr>
          <p:spPr>
            <a:xfrm>
              <a:off x="602742" y="2826068"/>
              <a:ext cx="470149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 xml:space="preserve">Aralık: </a:t>
              </a:r>
              <a:r>
                <a:rPr lang="tr-TR" sz="1350" b="1" dirty="0">
                  <a:solidFill>
                    <a:srgbClr val="12355B"/>
                  </a:solidFill>
                  <a:latin typeface="+mn-lt"/>
                  <a:ea typeface="+mn-ea"/>
                  <a:cs typeface="+mn-cs"/>
                </a:rPr>
                <a:t>[-1, +1]</a:t>
              </a:r>
              <a:r>
                <a:rPr lang="tr-TR" sz="1350" dirty="0">
                  <a:solidFill>
                    <a:srgbClr val="172B3A"/>
                  </a:solidFill>
                  <a:latin typeface="+mn-lt"/>
                  <a:ea typeface="+mn-ea"/>
                  <a:cs typeface="+mn-cs"/>
                </a:rPr>
                <a:t>. +1'e yakın: kendi kümesine çok iyi</a:t>
              </a:r>
            </a:p>
          </p:txBody>
        </p:sp>
        <p:sp>
          <p:nvSpPr>
            <p:cNvPr id="17" name="TextBox 17"/>
            <p:cNvSpPr txBox="1"/>
            <p:nvPr/>
          </p:nvSpPr>
          <p:spPr>
            <a:xfrm>
              <a:off x="602742" y="3035618"/>
              <a:ext cx="437540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yerleşmiş; 0: sınırda; negatif: yanlış atanmış.</a:t>
              </a:r>
            </a:p>
          </p:txBody>
        </p:sp>
      </p:grpSp>
      <p:grpSp>
        <p:nvGrpSpPr>
          <p:cNvPr id="24" name="analogy"/>
          <p:cNvGrpSpPr/>
          <p:nvPr/>
        </p:nvGrpSpPr>
        <p:grpSpPr>
          <a:xfrm>
            <a:off x="609600" y="3448050"/>
            <a:ext cx="5905500" cy="1238250"/>
            <a:chOff x="609600" y="3448050"/>
            <a:chExt cx="5905500" cy="1238250"/>
          </a:xfrm>
        </p:grpSpPr>
        <p:sp>
          <p:nvSpPr>
            <p:cNvPr id="19" name="Rectangle 19"/>
            <p:cNvSpPr/>
            <p:nvPr/>
          </p:nvSpPr>
          <p:spPr>
            <a:xfrm>
              <a:off x="609600" y="3448050"/>
              <a:ext cx="5905500" cy="1238250"/>
            </a:xfrm>
            <a:prstGeom prst="roundRect">
              <a:avLst>
                <a:gd name="adj" fmla="val 7692"/>
              </a:avLst>
            </a:prstGeom>
            <a:solidFill>
              <a:srgbClr val="FFFFFF"/>
            </a:solidFill>
            <a:ln w="14288">
              <a:solidFill>
                <a:srgbClr val="B8CBD3"/>
              </a:solidFill>
            </a:ln>
          </p:spPr>
        </p:sp>
        <p:sp>
          <p:nvSpPr>
            <p:cNvPr id="20" name="TextBox 20"/>
            <p:cNvSpPr txBox="1"/>
            <p:nvPr/>
          </p:nvSpPr>
          <p:spPr>
            <a:xfrm>
              <a:off x="830580" y="3571875"/>
              <a:ext cx="2704605"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Benzetme: sınıf grupları</a:t>
              </a:r>
            </a:p>
          </p:txBody>
        </p:sp>
        <p:sp>
          <p:nvSpPr>
            <p:cNvPr id="21" name="TextBox 21"/>
            <p:cNvSpPr txBox="1"/>
            <p:nvPr/>
          </p:nvSpPr>
          <p:spPr>
            <a:xfrm>
              <a:off x="832104" y="3851910"/>
              <a:ext cx="355514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öğrenci kendi grubundakilerden çok komşu</a:t>
              </a:r>
            </a:p>
          </p:txBody>
        </p:sp>
        <p:sp>
          <p:nvSpPr>
            <p:cNvPr id="22" name="TextBox 22"/>
            <p:cNvSpPr txBox="1"/>
            <p:nvPr/>
          </p:nvSpPr>
          <p:spPr>
            <a:xfrm>
              <a:off x="832104" y="4042410"/>
              <a:ext cx="42688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gruptakilere benziyorsa, skoru düşük (hatta negatif)</a:t>
              </a:r>
            </a:p>
          </p:txBody>
        </p:sp>
        <p:sp>
          <p:nvSpPr>
            <p:cNvPr id="23" name="TextBox 23"/>
            <p:cNvSpPr txBox="1"/>
            <p:nvPr/>
          </p:nvSpPr>
          <p:spPr>
            <a:xfrm>
              <a:off x="832104" y="4232910"/>
              <a:ext cx="36953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çıkar — muhtemelen yanlış gruba konulmuştur.</a:t>
              </a:r>
            </a:p>
          </p:txBody>
        </p:sp>
      </p:grpSp>
      <p:grpSp>
        <p:nvGrpSpPr>
          <p:cNvPr id="30" name="history"/>
          <p:cNvGrpSpPr/>
          <p:nvPr/>
        </p:nvGrpSpPr>
        <p:grpSpPr>
          <a:xfrm>
            <a:off x="609600" y="4819650"/>
            <a:ext cx="5905500" cy="1085850"/>
            <a:chOff x="609600" y="4819650"/>
            <a:chExt cx="5905500" cy="1085850"/>
          </a:xfrm>
        </p:grpSpPr>
        <p:sp>
          <p:nvSpPr>
            <p:cNvPr id="25" name="Rectangle 25"/>
            <p:cNvSpPr/>
            <p:nvPr/>
          </p:nvSpPr>
          <p:spPr>
            <a:xfrm>
              <a:off x="609600" y="4819650"/>
              <a:ext cx="5905500" cy="1085850"/>
            </a:xfrm>
            <a:prstGeom prst="roundRect">
              <a:avLst>
                <a:gd name="adj" fmla="val 7018"/>
              </a:avLst>
            </a:prstGeom>
            <a:solidFill>
              <a:srgbClr val="EAF4F6"/>
            </a:solidFill>
            <a:ln>
              <a:noFill/>
            </a:ln>
          </p:spPr>
        </p:sp>
        <p:sp>
          <p:nvSpPr>
            <p:cNvPr id="26" name="TextBox 26"/>
            <p:cNvSpPr txBox="1"/>
            <p:nvPr/>
          </p:nvSpPr>
          <p:spPr>
            <a:xfrm>
              <a:off x="831342" y="4940618"/>
              <a:ext cx="2177844"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Peter Rousseeuw, 1987</a:t>
              </a:r>
            </a:p>
          </p:txBody>
        </p:sp>
        <p:sp>
          <p:nvSpPr>
            <p:cNvPr id="27" name="TextBox 27"/>
            <p:cNvSpPr txBox="1"/>
            <p:nvPr/>
          </p:nvSpPr>
          <p:spPr>
            <a:xfrm>
              <a:off x="832104" y="5204460"/>
              <a:ext cx="3536678"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silhouette_samples</a:t>
              </a:r>
              <a:r>
                <a:rPr lang="tr-TR" sz="1200" dirty="0">
                  <a:solidFill>
                    <a:srgbClr val="172B3A"/>
                  </a:solidFill>
                  <a:latin typeface="+mn-lt"/>
                  <a:ea typeface="+mn-ea"/>
                  <a:cs typeface="+mn-cs"/>
                </a:rPr>
                <a:t xml:space="preserve"> her nokta için ayrı skor</a:t>
              </a:r>
            </a:p>
          </p:txBody>
        </p:sp>
        <p:sp>
          <p:nvSpPr>
            <p:cNvPr id="28" name="TextBox 28"/>
            <p:cNvSpPr txBox="1"/>
            <p:nvPr/>
          </p:nvSpPr>
          <p:spPr>
            <a:xfrm>
              <a:off x="832104" y="5394960"/>
              <a:ext cx="34450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üretir — hangi kümenin kötü tanımlandığını</a:t>
              </a:r>
            </a:p>
          </p:txBody>
        </p:sp>
        <p:sp>
          <p:nvSpPr>
            <p:cNvPr id="29" name="TextBox 29"/>
            <p:cNvSpPr txBox="1"/>
            <p:nvPr/>
          </p:nvSpPr>
          <p:spPr>
            <a:xfrm>
              <a:off x="832104" y="5585460"/>
              <a:ext cx="22414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tespit etmeye olanak tanır.</a:t>
              </a:r>
            </a:p>
          </p:txBody>
        </p:sp>
      </p:grpSp>
      <p:grpSp>
        <p:nvGrpSpPr>
          <p:cNvPr id="49" name="chart"/>
          <p:cNvGrpSpPr/>
          <p:nvPr/>
        </p:nvGrpSpPr>
        <p:grpSpPr>
          <a:xfrm>
            <a:off x="6566916" y="1283018"/>
            <a:ext cx="4865587" cy="4880038"/>
            <a:chOff x="6566916" y="1283018"/>
            <a:chExt cx="4865587" cy="4880038"/>
          </a:xfrm>
        </p:grpSpPr>
        <p:sp>
          <p:nvSpPr>
            <p:cNvPr id="31" name="TextBox 31"/>
            <p:cNvSpPr txBox="1"/>
            <p:nvPr/>
          </p:nvSpPr>
          <p:spPr>
            <a:xfrm>
              <a:off x="7527751" y="1283018"/>
              <a:ext cx="3308699"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Iris: k'ya göre ortalama Silhouette</a:t>
              </a:r>
            </a:p>
          </p:txBody>
        </p:sp>
        <p:sp>
          <p:nvSpPr>
            <p:cNvPr id="32" name="Line 32"/>
            <p:cNvSpPr/>
            <p:nvPr/>
          </p:nvSpPr>
          <p:spPr>
            <a:xfrm>
              <a:off x="7429500" y="2286000"/>
              <a:ext cx="9525" cy="3048000"/>
            </a:xfrm>
            <a:custGeom>
              <a:avLst/>
              <a:gdLst/>
              <a:ahLst/>
              <a:cxnLst/>
              <a:rect l="l" t="t" r="r" b="b"/>
              <a:pathLst>
                <a:path w="9525" h="3048000">
                  <a:moveTo>
                    <a:pt x="0" y="0"/>
                  </a:moveTo>
                  <a:lnTo>
                    <a:pt x="0" y="3048000"/>
                  </a:lnTo>
                </a:path>
              </a:pathLst>
            </a:custGeom>
            <a:noFill/>
            <a:ln w="14288">
              <a:solidFill>
                <a:srgbClr val="52616B"/>
              </a:solidFill>
            </a:ln>
          </p:spPr>
        </p:sp>
        <p:sp>
          <p:nvSpPr>
            <p:cNvPr id="33" name="Line 33"/>
            <p:cNvSpPr/>
            <p:nvPr/>
          </p:nvSpPr>
          <p:spPr>
            <a:xfrm>
              <a:off x="7429500" y="5334000"/>
              <a:ext cx="3810000" cy="9525"/>
            </a:xfrm>
            <a:custGeom>
              <a:avLst/>
              <a:gdLst/>
              <a:ahLst/>
              <a:cxnLst/>
              <a:rect l="l" t="t" r="r" b="b"/>
              <a:pathLst>
                <a:path w="3810000" h="9525">
                  <a:moveTo>
                    <a:pt x="0" y="0"/>
                  </a:moveTo>
                  <a:lnTo>
                    <a:pt x="3810000" y="0"/>
                  </a:lnTo>
                </a:path>
              </a:pathLst>
            </a:custGeom>
            <a:noFill/>
            <a:ln w="14288">
              <a:solidFill>
                <a:srgbClr val="52616B"/>
              </a:solidFill>
            </a:ln>
          </p:spPr>
        </p:sp>
        <p:sp>
          <p:nvSpPr>
            <p:cNvPr id="34" name="TextBox 34"/>
            <p:cNvSpPr txBox="1"/>
            <p:nvPr/>
          </p:nvSpPr>
          <p:spPr>
            <a:xfrm>
              <a:off x="8489158" y="5585460"/>
              <a:ext cx="1309684"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Küme Sayısı (k)</a:t>
              </a:r>
            </a:p>
          </p:txBody>
        </p:sp>
        <p:sp>
          <p:nvSpPr>
            <p:cNvPr id="35" name="TextBox 35"/>
            <p:cNvSpPr txBox="1"/>
            <p:nvPr/>
          </p:nvSpPr>
          <p:spPr>
            <a:xfrm rot="-5400000">
              <a:off x="6566916" y="3692652"/>
              <a:ext cx="824484"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Silhouette</a:t>
              </a:r>
            </a:p>
          </p:txBody>
        </p:sp>
        <p:sp>
          <p:nvSpPr>
            <p:cNvPr id="36" name="Polyline 36"/>
            <p:cNvSpPr/>
            <p:nvPr/>
          </p:nvSpPr>
          <p:spPr>
            <a:xfrm>
              <a:off x="7429500" y="2800350"/>
              <a:ext cx="3810000" cy="1152525"/>
            </a:xfrm>
            <a:custGeom>
              <a:avLst/>
              <a:gdLst/>
              <a:ahLst/>
              <a:cxnLst/>
              <a:rect l="l" t="t" r="r" b="b"/>
              <a:pathLst>
                <a:path w="3810000" h="1152525">
                  <a:moveTo>
                    <a:pt x="0" y="0"/>
                  </a:moveTo>
                  <a:lnTo>
                    <a:pt x="638175" y="533400"/>
                  </a:lnTo>
                  <a:lnTo>
                    <a:pt x="1266825" y="847725"/>
                  </a:lnTo>
                  <a:lnTo>
                    <a:pt x="1905000" y="1028700"/>
                  </a:lnTo>
                  <a:lnTo>
                    <a:pt x="2543175" y="1152525"/>
                  </a:lnTo>
                  <a:lnTo>
                    <a:pt x="3171825" y="1143000"/>
                  </a:lnTo>
                  <a:lnTo>
                    <a:pt x="3810000" y="1057275"/>
                  </a:lnTo>
                </a:path>
              </a:pathLst>
            </a:custGeom>
            <a:noFill/>
            <a:ln w="23812">
              <a:solidFill>
                <a:srgbClr val="2E86AB"/>
              </a:solidFill>
            </a:ln>
          </p:spPr>
        </p:sp>
        <p:sp>
          <p:nvSpPr>
            <p:cNvPr id="37" name="Ellipse 37"/>
            <p:cNvSpPr/>
            <p:nvPr/>
          </p:nvSpPr>
          <p:spPr>
            <a:xfrm>
              <a:off x="7386638" y="2757488"/>
              <a:ext cx="85725" cy="85725"/>
            </a:xfrm>
            <a:prstGeom prst="ellipse">
              <a:avLst/>
            </a:prstGeom>
            <a:solidFill>
              <a:srgbClr val="2E86AB"/>
            </a:solidFill>
            <a:ln>
              <a:noFill/>
            </a:ln>
          </p:spPr>
        </p:sp>
        <p:sp>
          <p:nvSpPr>
            <p:cNvPr id="38" name="Ellipse 38"/>
            <p:cNvSpPr/>
            <p:nvPr/>
          </p:nvSpPr>
          <p:spPr>
            <a:xfrm>
              <a:off x="8024812" y="3290888"/>
              <a:ext cx="85725" cy="85725"/>
            </a:xfrm>
            <a:prstGeom prst="ellipse">
              <a:avLst/>
            </a:prstGeom>
            <a:solidFill>
              <a:srgbClr val="2E86AB"/>
            </a:solidFill>
            <a:ln>
              <a:noFill/>
            </a:ln>
          </p:spPr>
        </p:sp>
        <p:sp>
          <p:nvSpPr>
            <p:cNvPr id="39" name="Ellipse 39"/>
            <p:cNvSpPr/>
            <p:nvPr/>
          </p:nvSpPr>
          <p:spPr>
            <a:xfrm>
              <a:off x="8653462" y="3605212"/>
              <a:ext cx="85725" cy="85725"/>
            </a:xfrm>
            <a:prstGeom prst="ellipse">
              <a:avLst/>
            </a:prstGeom>
            <a:solidFill>
              <a:srgbClr val="2E86AB"/>
            </a:solidFill>
            <a:ln>
              <a:noFill/>
            </a:ln>
          </p:spPr>
        </p:sp>
        <p:sp>
          <p:nvSpPr>
            <p:cNvPr id="40" name="Ellipse 40"/>
            <p:cNvSpPr/>
            <p:nvPr/>
          </p:nvSpPr>
          <p:spPr>
            <a:xfrm>
              <a:off x="9291638" y="3786188"/>
              <a:ext cx="85725" cy="85725"/>
            </a:xfrm>
            <a:prstGeom prst="ellipse">
              <a:avLst/>
            </a:prstGeom>
            <a:solidFill>
              <a:srgbClr val="2E86AB"/>
            </a:solidFill>
            <a:ln>
              <a:noFill/>
            </a:ln>
          </p:spPr>
        </p:sp>
        <p:sp>
          <p:nvSpPr>
            <p:cNvPr id="41" name="Ellipse 41"/>
            <p:cNvSpPr/>
            <p:nvPr/>
          </p:nvSpPr>
          <p:spPr>
            <a:xfrm>
              <a:off x="9929812" y="3910012"/>
              <a:ext cx="85725" cy="85725"/>
            </a:xfrm>
            <a:prstGeom prst="ellipse">
              <a:avLst/>
            </a:prstGeom>
            <a:solidFill>
              <a:srgbClr val="2E86AB"/>
            </a:solidFill>
            <a:ln>
              <a:noFill/>
            </a:ln>
          </p:spPr>
        </p:sp>
        <p:sp>
          <p:nvSpPr>
            <p:cNvPr id="42" name="Ellipse 42"/>
            <p:cNvSpPr/>
            <p:nvPr/>
          </p:nvSpPr>
          <p:spPr>
            <a:xfrm>
              <a:off x="10558462" y="3900488"/>
              <a:ext cx="85725" cy="85725"/>
            </a:xfrm>
            <a:prstGeom prst="ellipse">
              <a:avLst/>
            </a:prstGeom>
            <a:solidFill>
              <a:srgbClr val="2E86AB"/>
            </a:solidFill>
            <a:ln>
              <a:noFill/>
            </a:ln>
          </p:spPr>
        </p:sp>
        <p:sp>
          <p:nvSpPr>
            <p:cNvPr id="43" name="Ellipse 43"/>
            <p:cNvSpPr/>
            <p:nvPr/>
          </p:nvSpPr>
          <p:spPr>
            <a:xfrm>
              <a:off x="11196638" y="3814762"/>
              <a:ext cx="85725" cy="85725"/>
            </a:xfrm>
            <a:prstGeom prst="ellipse">
              <a:avLst/>
            </a:prstGeom>
            <a:solidFill>
              <a:srgbClr val="2E86AB"/>
            </a:solidFill>
            <a:ln>
              <a:noFill/>
            </a:ln>
          </p:spPr>
        </p:sp>
        <p:sp>
          <p:nvSpPr>
            <p:cNvPr id="44" name="Line 44"/>
            <p:cNvSpPr/>
            <p:nvPr/>
          </p:nvSpPr>
          <p:spPr>
            <a:xfrm>
              <a:off x="7429500" y="2286000"/>
              <a:ext cx="9525" cy="3048000"/>
            </a:xfrm>
            <a:custGeom>
              <a:avLst/>
              <a:gdLst/>
              <a:ahLst/>
              <a:cxnLst/>
              <a:rect l="l" t="t" r="r" b="b"/>
              <a:pathLst>
                <a:path w="9525" h="3048000">
                  <a:moveTo>
                    <a:pt x="0" y="0"/>
                  </a:moveTo>
                  <a:lnTo>
                    <a:pt x="0" y="3048000"/>
                  </a:lnTo>
                </a:path>
              </a:pathLst>
            </a:custGeom>
            <a:noFill/>
            <a:ln w="19050">
              <a:solidFill>
                <a:srgbClr val="00A6A6"/>
              </a:solidFill>
              <a:custDash>
                <a:ds d="300000" sp="200000"/>
              </a:custDash>
            </a:ln>
          </p:spPr>
        </p:sp>
        <p:sp>
          <p:nvSpPr>
            <p:cNvPr id="45" name="TextBox 45"/>
            <p:cNvSpPr txBox="1"/>
            <p:nvPr/>
          </p:nvSpPr>
          <p:spPr>
            <a:xfrm>
              <a:off x="6956622" y="2042160"/>
              <a:ext cx="1326756"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k=2 (en yüksek)</a:t>
              </a:r>
            </a:p>
          </p:txBody>
        </p:sp>
        <p:sp>
          <p:nvSpPr>
            <p:cNvPr id="46" name="TextBox 46"/>
            <p:cNvSpPr txBox="1"/>
            <p:nvPr/>
          </p:nvSpPr>
          <p:spPr>
            <a:xfrm>
              <a:off x="7385294" y="5411152"/>
              <a:ext cx="88411"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2</a:t>
              </a:r>
            </a:p>
          </p:txBody>
        </p:sp>
        <p:sp>
          <p:nvSpPr>
            <p:cNvPr id="47" name="TextBox 47"/>
            <p:cNvSpPr txBox="1"/>
            <p:nvPr/>
          </p:nvSpPr>
          <p:spPr>
            <a:xfrm>
              <a:off x="11195294" y="5411152"/>
              <a:ext cx="88411"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8</a:t>
              </a:r>
            </a:p>
          </p:txBody>
        </p:sp>
        <p:sp>
          <p:nvSpPr>
            <p:cNvPr id="48" name="TextBox 48"/>
            <p:cNvSpPr txBox="1"/>
            <p:nvPr/>
          </p:nvSpPr>
          <p:spPr>
            <a:xfrm>
              <a:off x="6931698" y="5928360"/>
              <a:ext cx="4500805"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Monoton değil: k=2'de zirve, sonra dalgalanarak geriler.</a:t>
              </a:r>
            </a:p>
          </p:txBody>
        </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23</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655434" cy="557403"/>
            <a:chOff x="595122" y="282892"/>
            <a:chExt cx="8655434" cy="557403"/>
          </a:xfrm>
        </p:grpSpPr>
        <p:sp>
          <p:nvSpPr>
            <p:cNvPr id="4" name="TextBox 4"/>
            <p:cNvSpPr txBox="1"/>
            <p:nvPr/>
          </p:nvSpPr>
          <p:spPr>
            <a:xfrm>
              <a:off x="595122" y="282892"/>
              <a:ext cx="865543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Dirsek ile Silhouette: iki tamamlayıcı bakış</a:t>
              </a:r>
            </a:p>
          </p:txBody>
        </p:sp>
      </p:grpSp>
      <p:grpSp>
        <p:nvGrpSpPr>
          <p:cNvPr id="11" name="table-header"/>
          <p:cNvGrpSpPr/>
          <p:nvPr/>
        </p:nvGrpSpPr>
        <p:grpSpPr>
          <a:xfrm>
            <a:off x="609600" y="1123950"/>
            <a:ext cx="10972800" cy="381000"/>
            <a:chOff x="609600" y="1123950"/>
            <a:chExt cx="10972800" cy="381000"/>
          </a:xfrm>
        </p:grpSpPr>
        <p:sp>
          <p:nvSpPr>
            <p:cNvPr id="6" name="Rectangle 6"/>
            <p:cNvSpPr/>
            <p:nvPr/>
          </p:nvSpPr>
          <p:spPr>
            <a:xfrm>
              <a:off x="609600" y="1123950"/>
              <a:ext cx="10972800" cy="381000"/>
            </a:xfrm>
            <a:prstGeom prst="rect">
              <a:avLst/>
            </a:prstGeom>
            <a:solidFill>
              <a:srgbClr val="12355B"/>
            </a:solidFill>
            <a:ln>
              <a:noFill/>
            </a:ln>
          </p:spPr>
        </p:sp>
        <p:sp>
          <p:nvSpPr>
            <p:cNvPr id="7" name="TextBox 7"/>
            <p:cNvSpPr txBox="1"/>
            <p:nvPr/>
          </p:nvSpPr>
          <p:spPr>
            <a:xfrm>
              <a:off x="755904" y="1242060"/>
              <a:ext cx="692810"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YÖNTEM</a:t>
              </a:r>
            </a:p>
          </p:txBody>
        </p:sp>
        <p:sp>
          <p:nvSpPr>
            <p:cNvPr id="8" name="TextBox 8"/>
            <p:cNvSpPr txBox="1"/>
            <p:nvPr/>
          </p:nvSpPr>
          <p:spPr>
            <a:xfrm>
              <a:off x="3270504" y="1242060"/>
              <a:ext cx="199473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HESAPLAMA MALİYETİ</a:t>
              </a:r>
            </a:p>
          </p:txBody>
        </p:sp>
        <p:sp>
          <p:nvSpPr>
            <p:cNvPr id="9" name="TextBox 9"/>
            <p:cNvSpPr txBox="1"/>
            <p:nvPr/>
          </p:nvSpPr>
          <p:spPr>
            <a:xfrm>
              <a:off x="6032754" y="1242060"/>
              <a:ext cx="161324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YORUM KOLAYLIĞI</a:t>
              </a:r>
            </a:p>
          </p:txBody>
        </p:sp>
        <p:sp>
          <p:nvSpPr>
            <p:cNvPr id="10" name="TextBox 10"/>
            <p:cNvSpPr txBox="1"/>
            <p:nvPr/>
          </p:nvSpPr>
          <p:spPr>
            <a:xfrm>
              <a:off x="8795004" y="1242060"/>
              <a:ext cx="984687"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NESNELLİK</a:t>
              </a:r>
            </a:p>
          </p:txBody>
        </p:sp>
      </p:grpSp>
      <p:grpSp>
        <p:nvGrpSpPr>
          <p:cNvPr id="17" name="row1"/>
          <p:cNvGrpSpPr/>
          <p:nvPr/>
        </p:nvGrpSpPr>
        <p:grpSpPr>
          <a:xfrm>
            <a:off x="609600" y="1704975"/>
            <a:ext cx="10972800" cy="419100"/>
            <a:chOff x="609600" y="1704975"/>
            <a:chExt cx="10972800" cy="419100"/>
          </a:xfrm>
        </p:grpSpPr>
        <p:sp>
          <p:nvSpPr>
            <p:cNvPr id="12" name="TextBox 12"/>
            <p:cNvSpPr txBox="1"/>
            <p:nvPr/>
          </p:nvSpPr>
          <p:spPr>
            <a:xfrm>
              <a:off x="754380" y="1704975"/>
              <a:ext cx="1537830"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Dirsek yöntemi</a:t>
              </a:r>
            </a:p>
          </p:txBody>
        </p:sp>
        <p:sp>
          <p:nvSpPr>
            <p:cNvPr id="13" name="TextBox 13"/>
            <p:cNvSpPr txBox="1"/>
            <p:nvPr/>
          </p:nvSpPr>
          <p:spPr>
            <a:xfrm>
              <a:off x="3269742" y="1721168"/>
              <a:ext cx="51915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Düşük</a:t>
              </a:r>
            </a:p>
          </p:txBody>
        </p:sp>
        <p:sp>
          <p:nvSpPr>
            <p:cNvPr id="14" name="TextBox 14"/>
            <p:cNvSpPr txBox="1"/>
            <p:nvPr/>
          </p:nvSpPr>
          <p:spPr>
            <a:xfrm>
              <a:off x="6031992" y="1721168"/>
              <a:ext cx="194586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Görsel, bazen belirsiz</a:t>
              </a:r>
            </a:p>
          </p:txBody>
        </p:sp>
        <p:sp>
          <p:nvSpPr>
            <p:cNvPr id="15" name="TextBox 15"/>
            <p:cNvSpPr txBox="1"/>
            <p:nvPr/>
          </p:nvSpPr>
          <p:spPr>
            <a:xfrm>
              <a:off x="8794242" y="1721168"/>
              <a:ext cx="168333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Öznel (göz kararı)</a:t>
              </a:r>
            </a:p>
          </p:txBody>
        </p:sp>
        <p:sp>
          <p:nvSpPr>
            <p:cNvPr id="16" name="Line 16"/>
            <p:cNvSpPr/>
            <p:nvPr/>
          </p:nvSpPr>
          <p:spPr>
            <a:xfrm>
              <a:off x="609600" y="21145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3" name="row2"/>
          <p:cNvGrpSpPr/>
          <p:nvPr/>
        </p:nvGrpSpPr>
        <p:grpSpPr>
          <a:xfrm>
            <a:off x="609600" y="2114550"/>
            <a:ext cx="10972800" cy="609600"/>
            <a:chOff x="609600" y="2114550"/>
            <a:chExt cx="10972800" cy="609600"/>
          </a:xfrm>
        </p:grpSpPr>
        <p:sp>
          <p:nvSpPr>
            <p:cNvPr id="18" name="Rectangle 18"/>
            <p:cNvSpPr/>
            <p:nvPr/>
          </p:nvSpPr>
          <p:spPr>
            <a:xfrm>
              <a:off x="609600" y="2114550"/>
              <a:ext cx="10972800" cy="609600"/>
            </a:xfrm>
            <a:prstGeom prst="rect">
              <a:avLst/>
            </a:prstGeom>
            <a:solidFill>
              <a:srgbClr val="EAF4F6"/>
            </a:solidFill>
            <a:ln>
              <a:noFill/>
            </a:ln>
          </p:spPr>
        </p:sp>
        <p:sp>
          <p:nvSpPr>
            <p:cNvPr id="19" name="TextBox 19"/>
            <p:cNvSpPr txBox="1"/>
            <p:nvPr/>
          </p:nvSpPr>
          <p:spPr>
            <a:xfrm>
              <a:off x="754380" y="2314575"/>
              <a:ext cx="1728494"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Silhouette skoru</a:t>
              </a:r>
            </a:p>
          </p:txBody>
        </p:sp>
        <p:sp>
          <p:nvSpPr>
            <p:cNvPr id="20" name="TextBox 20"/>
            <p:cNvSpPr txBox="1"/>
            <p:nvPr/>
          </p:nvSpPr>
          <p:spPr>
            <a:xfrm>
              <a:off x="3269742" y="2330768"/>
              <a:ext cx="115600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Orta-yüksek</a:t>
              </a:r>
            </a:p>
          </p:txBody>
        </p:sp>
        <p:sp>
          <p:nvSpPr>
            <p:cNvPr id="21" name="TextBox 21"/>
            <p:cNvSpPr txBox="1"/>
            <p:nvPr/>
          </p:nvSpPr>
          <p:spPr>
            <a:xfrm>
              <a:off x="6031992" y="2330768"/>
              <a:ext cx="189184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Sayısal, tek bir skor</a:t>
              </a:r>
            </a:p>
          </p:txBody>
        </p:sp>
        <p:sp>
          <p:nvSpPr>
            <p:cNvPr id="22" name="TextBox 22"/>
            <p:cNvSpPr txBox="1"/>
            <p:nvPr/>
          </p:nvSpPr>
          <p:spPr>
            <a:xfrm>
              <a:off x="8794242" y="2330768"/>
              <a:ext cx="57324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Nesnel</a:t>
              </a:r>
            </a:p>
          </p:txBody>
        </p:sp>
      </p:grpSp>
      <p:grpSp>
        <p:nvGrpSpPr>
          <p:cNvPr id="29" name="row3"/>
          <p:cNvGrpSpPr/>
          <p:nvPr/>
        </p:nvGrpSpPr>
        <p:grpSpPr>
          <a:xfrm>
            <a:off x="609600" y="2924175"/>
            <a:ext cx="10972800" cy="419100"/>
            <a:chOff x="609600" y="2924175"/>
            <a:chExt cx="10972800" cy="419100"/>
          </a:xfrm>
        </p:grpSpPr>
        <p:sp>
          <p:nvSpPr>
            <p:cNvPr id="24" name="TextBox 24"/>
            <p:cNvSpPr txBox="1"/>
            <p:nvPr/>
          </p:nvSpPr>
          <p:spPr>
            <a:xfrm>
              <a:off x="754380" y="2924175"/>
              <a:ext cx="1378610"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Gap statistic</a:t>
              </a:r>
            </a:p>
          </p:txBody>
        </p:sp>
        <p:sp>
          <p:nvSpPr>
            <p:cNvPr id="25" name="TextBox 25"/>
            <p:cNvSpPr txBox="1"/>
            <p:nvPr/>
          </p:nvSpPr>
          <p:spPr>
            <a:xfrm>
              <a:off x="3269742" y="2940368"/>
              <a:ext cx="61910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Yüksek</a:t>
              </a:r>
            </a:p>
          </p:txBody>
        </p:sp>
        <p:sp>
          <p:nvSpPr>
            <p:cNvPr id="26" name="TextBox 26"/>
            <p:cNvSpPr txBox="1"/>
            <p:nvPr/>
          </p:nvSpPr>
          <p:spPr>
            <a:xfrm>
              <a:off x="6031992" y="2940368"/>
              <a:ext cx="195530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Sayısal ama karmaşık</a:t>
              </a:r>
            </a:p>
          </p:txBody>
        </p:sp>
        <p:sp>
          <p:nvSpPr>
            <p:cNvPr id="27" name="TextBox 27"/>
            <p:cNvSpPr txBox="1"/>
            <p:nvPr/>
          </p:nvSpPr>
          <p:spPr>
            <a:xfrm>
              <a:off x="8794242" y="2940368"/>
              <a:ext cx="57324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Nesnel</a:t>
              </a:r>
            </a:p>
          </p:txBody>
        </p:sp>
        <p:sp>
          <p:nvSpPr>
            <p:cNvPr id="28" name="Line 28"/>
            <p:cNvSpPr/>
            <p:nvPr/>
          </p:nvSpPr>
          <p:spPr>
            <a:xfrm>
              <a:off x="609600" y="33337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5" name="tip-box"/>
          <p:cNvGrpSpPr/>
          <p:nvPr/>
        </p:nvGrpSpPr>
        <p:grpSpPr>
          <a:xfrm>
            <a:off x="609600" y="3619500"/>
            <a:ext cx="10972800" cy="1428750"/>
            <a:chOff x="609600" y="3619500"/>
            <a:chExt cx="10972800" cy="1428750"/>
          </a:xfrm>
        </p:grpSpPr>
        <p:sp>
          <p:nvSpPr>
            <p:cNvPr id="30" name="Rectangle 30"/>
            <p:cNvSpPr/>
            <p:nvPr/>
          </p:nvSpPr>
          <p:spPr>
            <a:xfrm>
              <a:off x="609600" y="3619500"/>
              <a:ext cx="10972800" cy="1428750"/>
            </a:xfrm>
            <a:prstGeom prst="roundRect">
              <a:avLst>
                <a:gd name="adj" fmla="val 6667"/>
              </a:avLst>
            </a:prstGeom>
            <a:solidFill>
              <a:srgbClr val="EAF4F6"/>
            </a:solidFill>
            <a:ln w="14288">
              <a:solidFill>
                <a:srgbClr val="00A6A6"/>
              </a:solidFill>
            </a:ln>
          </p:spPr>
        </p:sp>
        <p:sp>
          <p:nvSpPr>
            <p:cNvPr id="31" name="TextBox 31"/>
            <p:cNvSpPr txBox="1"/>
            <p:nvPr/>
          </p:nvSpPr>
          <p:spPr>
            <a:xfrm>
              <a:off x="906399" y="3773329"/>
              <a:ext cx="363041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İpucu: çelişki bir hata değildir</a:t>
              </a:r>
            </a:p>
          </p:txBody>
        </p:sp>
        <p:sp>
          <p:nvSpPr>
            <p:cNvPr id="32" name="TextBox 32"/>
            <p:cNvSpPr txBox="1"/>
            <p:nvPr/>
          </p:nvSpPr>
          <p:spPr>
            <a:xfrm>
              <a:off x="907542" y="4083368"/>
              <a:ext cx="786244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Iris verisinde Dirsek k=3 önerirken Silhouette k=2 önerdi. Dirsek "ekstra küme eklemenin</a:t>
              </a:r>
            </a:p>
          </p:txBody>
        </p:sp>
        <p:sp>
          <p:nvSpPr>
            <p:cNvPr id="33" name="TextBox 33"/>
            <p:cNvSpPr txBox="1"/>
            <p:nvPr/>
          </p:nvSpPr>
          <p:spPr>
            <a:xfrm>
              <a:off x="907542" y="4311968"/>
              <a:ext cx="861619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faydası azalıyor mu" sorusuna, Silhouette ise "kümeler ne kadar net ayrışıyor" sorusuna cevap</a:t>
              </a:r>
            </a:p>
          </p:txBody>
        </p:sp>
        <p:sp>
          <p:nvSpPr>
            <p:cNvPr id="34" name="TextBox 34"/>
            <p:cNvSpPr txBox="1"/>
            <p:nvPr/>
          </p:nvSpPr>
          <p:spPr>
            <a:xfrm>
              <a:off x="907542" y="4540568"/>
              <a:ext cx="785265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verir. Nihai kararı iş bağlamına (örn. yönetilebilir segment sayısı) göre siz verirsiniz.</a:t>
              </a:r>
            </a:p>
          </p:txBody>
        </p:sp>
      </p:grpSp>
      <p:grpSp>
        <p:nvGrpSpPr>
          <p:cNvPr id="39" name="sample-note"/>
          <p:cNvGrpSpPr/>
          <p:nvPr/>
        </p:nvGrpSpPr>
        <p:grpSpPr>
          <a:xfrm>
            <a:off x="609600" y="5238750"/>
            <a:ext cx="10972800" cy="762000"/>
            <a:chOff x="609600" y="5238750"/>
            <a:chExt cx="10972800" cy="762000"/>
          </a:xfrm>
        </p:grpSpPr>
        <p:sp>
          <p:nvSpPr>
            <p:cNvPr id="36" name="Rectangle 36"/>
            <p:cNvSpPr/>
            <p:nvPr/>
          </p:nvSpPr>
          <p:spPr>
            <a:xfrm>
              <a:off x="609600" y="5238750"/>
              <a:ext cx="10972800" cy="762000"/>
            </a:xfrm>
            <a:prstGeom prst="roundRect">
              <a:avLst>
                <a:gd name="adj" fmla="val 10000"/>
              </a:avLst>
            </a:prstGeom>
            <a:solidFill>
              <a:srgbClr val="FFFFFF"/>
            </a:solidFill>
            <a:ln w="14288">
              <a:solidFill>
                <a:srgbClr val="B8CBD3"/>
              </a:solidFill>
            </a:ln>
          </p:spPr>
        </p:sp>
        <p:sp>
          <p:nvSpPr>
            <p:cNvPr id="37" name="TextBox 37"/>
            <p:cNvSpPr txBox="1"/>
            <p:nvPr/>
          </p:nvSpPr>
          <p:spPr>
            <a:xfrm>
              <a:off x="907542" y="5378768"/>
              <a:ext cx="350261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Nokta bazlı tanı: silhouette_samples</a:t>
              </a:r>
            </a:p>
          </p:txBody>
        </p:sp>
        <p:sp>
          <p:nvSpPr>
            <p:cNvPr id="38" name="TextBox 38"/>
            <p:cNvSpPr txBox="1"/>
            <p:nvPr/>
          </p:nvSpPr>
          <p:spPr>
            <a:xfrm>
              <a:off x="908304" y="5642610"/>
              <a:ext cx="79278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k=3 kümelemesinde minimum nokta skoru -0,0249 — en az bir nokta sınırda, yanlış kümeye yakındır.</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23</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681608" cy="668845"/>
            <a:chOff x="609600" y="171450"/>
            <a:chExt cx="7681608"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699123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Hiyerarşik kümeleme ve dendrogram</a:t>
              </a:r>
            </a:p>
          </p:txBody>
        </p:sp>
      </p:grpSp>
      <p:grpSp>
        <p:nvGrpSpPr>
          <p:cNvPr id="19" name="definition"/>
          <p:cNvGrpSpPr/>
          <p:nvPr/>
        </p:nvGrpSpPr>
        <p:grpSpPr>
          <a:xfrm>
            <a:off x="601599" y="1258729"/>
            <a:ext cx="4445980" cy="1393222"/>
            <a:chOff x="601599" y="1258729"/>
            <a:chExt cx="4445980" cy="1393222"/>
          </a:xfrm>
        </p:grpSpPr>
        <p:sp>
          <p:nvSpPr>
            <p:cNvPr id="13" name="TextBox 13"/>
            <p:cNvSpPr txBox="1"/>
            <p:nvPr/>
          </p:nvSpPr>
          <p:spPr>
            <a:xfrm>
              <a:off x="601599" y="125872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4" name="TextBox 14"/>
            <p:cNvSpPr txBox="1"/>
            <p:nvPr/>
          </p:nvSpPr>
          <p:spPr>
            <a:xfrm>
              <a:off x="602742" y="1549718"/>
              <a:ext cx="430877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Noktaları ayrı kümeler olarak ele alıp, en yakın</a:t>
              </a:r>
            </a:p>
          </p:txBody>
        </p:sp>
        <p:sp>
          <p:nvSpPr>
            <p:cNvPr id="15" name="TextBox 15"/>
            <p:cNvSpPr txBox="1"/>
            <p:nvPr/>
          </p:nvSpPr>
          <p:spPr>
            <a:xfrm>
              <a:off x="602742" y="1759268"/>
              <a:ext cx="382110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çift kümeleri adım adım birleştirerek ağaç</a:t>
              </a:r>
            </a:p>
          </p:txBody>
        </p:sp>
        <p:sp>
          <p:nvSpPr>
            <p:cNvPr id="16" name="TextBox 16"/>
            <p:cNvSpPr txBox="1"/>
            <p:nvPr/>
          </p:nvSpPr>
          <p:spPr>
            <a:xfrm>
              <a:off x="602742" y="1968818"/>
              <a:ext cx="404827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yapısı (dendrogram) oluşturan kümelemedir.</a:t>
              </a:r>
            </a:p>
          </p:txBody>
        </p:sp>
        <p:sp>
          <p:nvSpPr>
            <p:cNvPr id="17" name="TextBox 17"/>
            <p:cNvSpPr txBox="1"/>
            <p:nvPr/>
          </p:nvSpPr>
          <p:spPr>
            <a:xfrm>
              <a:off x="602742" y="2178368"/>
              <a:ext cx="444483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Küme sayısı, dendrogramı belirli bir yükseklikten</a:t>
              </a:r>
            </a:p>
          </p:txBody>
        </p:sp>
        <p:sp>
          <p:nvSpPr>
            <p:cNvPr id="18" name="TextBox 18"/>
            <p:cNvSpPr txBox="1"/>
            <p:nvPr/>
          </p:nvSpPr>
          <p:spPr>
            <a:xfrm>
              <a:off x="602742" y="2387918"/>
              <a:ext cx="273977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"keserek" sonradan belirlenir.</a:t>
              </a:r>
            </a:p>
          </p:txBody>
        </p:sp>
      </p:grpSp>
      <p:grpSp>
        <p:nvGrpSpPr>
          <p:cNvPr id="25" name="analogy"/>
          <p:cNvGrpSpPr/>
          <p:nvPr/>
        </p:nvGrpSpPr>
        <p:grpSpPr>
          <a:xfrm>
            <a:off x="609600" y="2838450"/>
            <a:ext cx="5905500" cy="1238250"/>
            <a:chOff x="609600" y="2838450"/>
            <a:chExt cx="5905500" cy="1238250"/>
          </a:xfrm>
        </p:grpSpPr>
        <p:sp>
          <p:nvSpPr>
            <p:cNvPr id="20" name="Rectangle 20"/>
            <p:cNvSpPr/>
            <p:nvPr/>
          </p:nvSpPr>
          <p:spPr>
            <a:xfrm>
              <a:off x="609600" y="2838450"/>
              <a:ext cx="5905500" cy="1238250"/>
            </a:xfrm>
            <a:prstGeom prst="roundRect">
              <a:avLst>
                <a:gd name="adj" fmla="val 7692"/>
              </a:avLst>
            </a:prstGeom>
            <a:solidFill>
              <a:srgbClr val="FFFFFF"/>
            </a:solidFill>
            <a:ln w="14288">
              <a:solidFill>
                <a:srgbClr val="B8CBD3"/>
              </a:solidFill>
            </a:ln>
          </p:spPr>
        </p:sp>
        <p:sp>
          <p:nvSpPr>
            <p:cNvPr id="21" name="TextBox 21"/>
            <p:cNvSpPr txBox="1"/>
            <p:nvPr/>
          </p:nvSpPr>
          <p:spPr>
            <a:xfrm>
              <a:off x="830580" y="2962275"/>
              <a:ext cx="2598653"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Benzetme: aile soy ağacı</a:t>
              </a:r>
            </a:p>
          </p:txBody>
        </p:sp>
        <p:sp>
          <p:nvSpPr>
            <p:cNvPr id="22" name="TextBox 22"/>
            <p:cNvSpPr txBox="1"/>
            <p:nvPr/>
          </p:nvSpPr>
          <p:spPr>
            <a:xfrm>
              <a:off x="832104" y="3242310"/>
              <a:ext cx="34824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En alttaki yapraklar bireyleri, yukarı doğru</a:t>
              </a:r>
            </a:p>
          </p:txBody>
        </p:sp>
        <p:sp>
          <p:nvSpPr>
            <p:cNvPr id="23" name="TextBox 23"/>
            <p:cNvSpPr txBox="1"/>
            <p:nvPr/>
          </p:nvSpPr>
          <p:spPr>
            <a:xfrm>
              <a:off x="832104" y="3432810"/>
              <a:ext cx="37165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birleşen dallar aileleri temsil eder. Ağacı hangi</a:t>
              </a:r>
            </a:p>
          </p:txBody>
        </p:sp>
        <p:sp>
          <p:nvSpPr>
            <p:cNvPr id="24" name="TextBox 24"/>
            <p:cNvSpPr txBox="1"/>
            <p:nvPr/>
          </p:nvSpPr>
          <p:spPr>
            <a:xfrm>
              <a:off x="832104" y="3623310"/>
              <a:ext cx="40104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seviyeden keserseniz, o kadar grup elde edersiniz.</a:t>
              </a:r>
            </a:p>
          </p:txBody>
        </p:sp>
      </p:grpSp>
      <p:grpSp>
        <p:nvGrpSpPr>
          <p:cNvPr id="33" name="difference"/>
          <p:cNvGrpSpPr/>
          <p:nvPr/>
        </p:nvGrpSpPr>
        <p:grpSpPr>
          <a:xfrm>
            <a:off x="609600" y="4229100"/>
            <a:ext cx="5905500" cy="1676400"/>
            <a:chOff x="609600" y="4229100"/>
            <a:chExt cx="5905500" cy="1676400"/>
          </a:xfrm>
        </p:grpSpPr>
        <p:sp>
          <p:nvSpPr>
            <p:cNvPr id="26" name="Rectangle 26"/>
            <p:cNvSpPr/>
            <p:nvPr/>
          </p:nvSpPr>
          <p:spPr>
            <a:xfrm>
              <a:off x="609600" y="4229100"/>
              <a:ext cx="5905500" cy="1676400"/>
            </a:xfrm>
            <a:prstGeom prst="roundRect">
              <a:avLst>
                <a:gd name="adj" fmla="val 4545"/>
              </a:avLst>
            </a:prstGeom>
            <a:solidFill>
              <a:srgbClr val="EAF4F6"/>
            </a:solidFill>
            <a:ln>
              <a:noFill/>
            </a:ln>
          </p:spPr>
        </p:sp>
        <p:sp>
          <p:nvSpPr>
            <p:cNvPr id="27" name="TextBox 27"/>
            <p:cNvSpPr txBox="1"/>
            <p:nvPr/>
          </p:nvSpPr>
          <p:spPr>
            <a:xfrm>
              <a:off x="831342" y="4350068"/>
              <a:ext cx="180272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K-Means'ten farkı</a:t>
              </a:r>
            </a:p>
          </p:txBody>
        </p:sp>
        <p:sp>
          <p:nvSpPr>
            <p:cNvPr id="28" name="TextBox 28"/>
            <p:cNvSpPr txBox="1"/>
            <p:nvPr/>
          </p:nvSpPr>
          <p:spPr>
            <a:xfrm>
              <a:off x="832104" y="4613910"/>
              <a:ext cx="32567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Küme sayısı önceden istenmez; sonradan</a:t>
              </a:r>
            </a:p>
          </p:txBody>
        </p:sp>
        <p:sp>
          <p:nvSpPr>
            <p:cNvPr id="29" name="TextBox 29"/>
            <p:cNvSpPr txBox="1"/>
            <p:nvPr/>
          </p:nvSpPr>
          <p:spPr>
            <a:xfrm>
              <a:off x="832104" y="4804410"/>
              <a:ext cx="38862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dendrogramdan belirlenir. Aynı veri ve linkage ile</a:t>
              </a:r>
            </a:p>
          </p:txBody>
        </p:sp>
        <p:sp>
          <p:nvSpPr>
            <p:cNvPr id="30" name="TextBox 30"/>
            <p:cNvSpPr txBox="1"/>
            <p:nvPr/>
          </p:nvSpPr>
          <p:spPr>
            <a:xfrm>
              <a:off x="832104" y="4994910"/>
              <a:ext cx="393771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her zaman aynı sonucu üretir (deterministiktir),</a:t>
              </a:r>
            </a:p>
          </p:txBody>
        </p:sp>
        <p:sp>
          <p:nvSpPr>
            <p:cNvPr id="31" name="TextBox 31"/>
            <p:cNvSpPr txBox="1"/>
            <p:nvPr/>
          </p:nvSpPr>
          <p:spPr>
            <a:xfrm>
              <a:off x="832104" y="5185410"/>
              <a:ext cx="36979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K-Means'in aksine başlangıca duyarlı değildir.</a:t>
              </a:r>
            </a:p>
          </p:txBody>
        </p:sp>
        <p:sp>
          <p:nvSpPr>
            <p:cNvPr id="32" name="TextBox 32"/>
            <p:cNvSpPr txBox="1"/>
            <p:nvPr/>
          </p:nvSpPr>
          <p:spPr>
            <a:xfrm>
              <a:off x="832104" y="5471160"/>
              <a:ext cx="45168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Kökleri 20. yy numerik taksonomi çalışmalarına dayanır.</a:t>
              </a:r>
            </a:p>
          </p:txBody>
        </p:sp>
      </p:grpSp>
      <p:grpSp>
        <p:nvGrpSpPr>
          <p:cNvPr id="58" name="dendrogram"/>
          <p:cNvGrpSpPr/>
          <p:nvPr/>
        </p:nvGrpSpPr>
        <p:grpSpPr>
          <a:xfrm>
            <a:off x="6277575" y="1283018"/>
            <a:ext cx="5063271" cy="4537138"/>
            <a:chOff x="6277575" y="1283018"/>
            <a:chExt cx="5063271" cy="4537138"/>
          </a:xfrm>
        </p:grpSpPr>
        <p:sp>
          <p:nvSpPr>
            <p:cNvPr id="34" name="TextBox 34"/>
            <p:cNvSpPr txBox="1"/>
            <p:nvPr/>
          </p:nvSpPr>
          <p:spPr>
            <a:xfrm>
              <a:off x="7965176" y="1283018"/>
              <a:ext cx="2433848"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Dendrogram ve kesim eşiği</a:t>
              </a:r>
            </a:p>
          </p:txBody>
        </p:sp>
        <p:sp>
          <p:nvSpPr>
            <p:cNvPr id="35" name="TextBox 35"/>
            <p:cNvSpPr txBox="1"/>
            <p:nvPr/>
          </p:nvSpPr>
          <p:spPr>
            <a:xfrm rot="-5400000">
              <a:off x="6277575" y="3692652"/>
              <a:ext cx="1403166"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Birleşme Uzaklığı</a:t>
              </a:r>
            </a:p>
          </p:txBody>
        </p:sp>
        <p:sp>
          <p:nvSpPr>
            <p:cNvPr id="36" name="Line 36"/>
            <p:cNvSpPr/>
            <p:nvPr/>
          </p:nvSpPr>
          <p:spPr>
            <a:xfrm>
              <a:off x="7429500" y="2286000"/>
              <a:ext cx="9525" cy="3048000"/>
            </a:xfrm>
            <a:custGeom>
              <a:avLst/>
              <a:gdLst/>
              <a:ahLst/>
              <a:cxnLst/>
              <a:rect l="l" t="t" r="r" b="b"/>
              <a:pathLst>
                <a:path w="9525" h="3048000">
                  <a:moveTo>
                    <a:pt x="0" y="0"/>
                  </a:moveTo>
                  <a:lnTo>
                    <a:pt x="0" y="3048000"/>
                  </a:lnTo>
                </a:path>
              </a:pathLst>
            </a:custGeom>
            <a:noFill/>
            <a:ln w="14288">
              <a:solidFill>
                <a:srgbClr val="52616B"/>
              </a:solidFill>
            </a:ln>
          </p:spPr>
        </p:sp>
        <p:sp>
          <p:nvSpPr>
            <p:cNvPr id="37" name="Line 37"/>
            <p:cNvSpPr/>
            <p:nvPr/>
          </p:nvSpPr>
          <p:spPr>
            <a:xfrm>
              <a:off x="7429500" y="5334000"/>
              <a:ext cx="3810000" cy="9525"/>
            </a:xfrm>
            <a:custGeom>
              <a:avLst/>
              <a:gdLst/>
              <a:ahLst/>
              <a:cxnLst/>
              <a:rect l="l" t="t" r="r" b="b"/>
              <a:pathLst>
                <a:path w="3810000" h="9525">
                  <a:moveTo>
                    <a:pt x="0" y="0"/>
                  </a:moveTo>
                  <a:lnTo>
                    <a:pt x="3810000" y="0"/>
                  </a:lnTo>
                </a:path>
              </a:pathLst>
            </a:custGeom>
            <a:noFill/>
            <a:ln w="14288">
              <a:solidFill>
                <a:srgbClr val="52616B"/>
              </a:solidFill>
            </a:ln>
          </p:spPr>
        </p:sp>
        <p:sp>
          <p:nvSpPr>
            <p:cNvPr id="38" name="TextBox 38"/>
            <p:cNvSpPr txBox="1"/>
            <p:nvPr/>
          </p:nvSpPr>
          <p:spPr>
            <a:xfrm>
              <a:off x="8555355" y="5585460"/>
              <a:ext cx="117729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Örnek Kümeleri</a:t>
              </a:r>
            </a:p>
          </p:txBody>
        </p:sp>
        <p:sp>
          <p:nvSpPr>
            <p:cNvPr id="39" name="Line 39"/>
            <p:cNvSpPr/>
            <p:nvPr/>
          </p:nvSpPr>
          <p:spPr>
            <a:xfrm>
              <a:off x="7620000" y="4953000"/>
              <a:ext cx="9525" cy="381000"/>
            </a:xfrm>
            <a:custGeom>
              <a:avLst/>
              <a:gdLst/>
              <a:ahLst/>
              <a:cxnLst/>
              <a:rect l="l" t="t" r="r" b="b"/>
              <a:pathLst>
                <a:path w="9525" h="381000">
                  <a:moveTo>
                    <a:pt x="0" y="381000"/>
                  </a:moveTo>
                  <a:lnTo>
                    <a:pt x="0" y="0"/>
                  </a:lnTo>
                </a:path>
              </a:pathLst>
            </a:custGeom>
            <a:noFill/>
            <a:ln w="19050">
              <a:solidFill>
                <a:srgbClr val="2E86AB"/>
              </a:solidFill>
            </a:ln>
          </p:spPr>
        </p:sp>
        <p:sp>
          <p:nvSpPr>
            <p:cNvPr id="40" name="Line 40"/>
            <p:cNvSpPr/>
            <p:nvPr/>
          </p:nvSpPr>
          <p:spPr>
            <a:xfrm>
              <a:off x="8382000" y="4953000"/>
              <a:ext cx="9525" cy="381000"/>
            </a:xfrm>
            <a:custGeom>
              <a:avLst/>
              <a:gdLst/>
              <a:ahLst/>
              <a:cxnLst/>
              <a:rect l="l" t="t" r="r" b="b"/>
              <a:pathLst>
                <a:path w="9525" h="381000">
                  <a:moveTo>
                    <a:pt x="0" y="381000"/>
                  </a:moveTo>
                  <a:lnTo>
                    <a:pt x="0" y="0"/>
                  </a:lnTo>
                </a:path>
              </a:pathLst>
            </a:custGeom>
            <a:noFill/>
            <a:ln w="19050">
              <a:solidFill>
                <a:srgbClr val="2E86AB"/>
              </a:solidFill>
            </a:ln>
          </p:spPr>
        </p:sp>
        <p:sp>
          <p:nvSpPr>
            <p:cNvPr id="41" name="Line 41"/>
            <p:cNvSpPr/>
            <p:nvPr/>
          </p:nvSpPr>
          <p:spPr>
            <a:xfrm>
              <a:off x="7620000" y="4953000"/>
              <a:ext cx="762000" cy="9525"/>
            </a:xfrm>
            <a:custGeom>
              <a:avLst/>
              <a:gdLst/>
              <a:ahLst/>
              <a:cxnLst/>
              <a:rect l="l" t="t" r="r" b="b"/>
              <a:pathLst>
                <a:path w="762000" h="9525">
                  <a:moveTo>
                    <a:pt x="0" y="0"/>
                  </a:moveTo>
                  <a:lnTo>
                    <a:pt x="762000" y="0"/>
                  </a:lnTo>
                </a:path>
              </a:pathLst>
            </a:custGeom>
            <a:noFill/>
            <a:ln w="19050">
              <a:solidFill>
                <a:srgbClr val="2E86AB"/>
              </a:solidFill>
            </a:ln>
          </p:spPr>
        </p:sp>
        <p:sp>
          <p:nvSpPr>
            <p:cNvPr id="42" name="Line 42"/>
            <p:cNvSpPr/>
            <p:nvPr/>
          </p:nvSpPr>
          <p:spPr>
            <a:xfrm>
              <a:off x="8001000" y="4191000"/>
              <a:ext cx="9525" cy="762000"/>
            </a:xfrm>
            <a:custGeom>
              <a:avLst/>
              <a:gdLst/>
              <a:ahLst/>
              <a:cxnLst/>
              <a:rect l="l" t="t" r="r" b="b"/>
              <a:pathLst>
                <a:path w="9525" h="762000">
                  <a:moveTo>
                    <a:pt x="0" y="762000"/>
                  </a:moveTo>
                  <a:lnTo>
                    <a:pt x="0" y="0"/>
                  </a:lnTo>
                </a:path>
              </a:pathLst>
            </a:custGeom>
            <a:noFill/>
            <a:ln w="19050">
              <a:solidFill>
                <a:srgbClr val="2E86AB"/>
              </a:solidFill>
            </a:ln>
          </p:spPr>
        </p:sp>
        <p:sp>
          <p:nvSpPr>
            <p:cNvPr id="43" name="Line 43"/>
            <p:cNvSpPr/>
            <p:nvPr/>
          </p:nvSpPr>
          <p:spPr>
            <a:xfrm>
              <a:off x="9144000" y="4191000"/>
              <a:ext cx="9525" cy="1143000"/>
            </a:xfrm>
            <a:custGeom>
              <a:avLst/>
              <a:gdLst/>
              <a:ahLst/>
              <a:cxnLst/>
              <a:rect l="l" t="t" r="r" b="b"/>
              <a:pathLst>
                <a:path w="9525" h="1143000">
                  <a:moveTo>
                    <a:pt x="0" y="1143000"/>
                  </a:moveTo>
                  <a:lnTo>
                    <a:pt x="0" y="0"/>
                  </a:lnTo>
                </a:path>
              </a:pathLst>
            </a:custGeom>
            <a:noFill/>
            <a:ln w="19050">
              <a:solidFill>
                <a:srgbClr val="12355B"/>
              </a:solidFill>
            </a:ln>
          </p:spPr>
        </p:sp>
        <p:sp>
          <p:nvSpPr>
            <p:cNvPr id="44" name="Line 44"/>
            <p:cNvSpPr/>
            <p:nvPr/>
          </p:nvSpPr>
          <p:spPr>
            <a:xfrm>
              <a:off x="8001000" y="4191000"/>
              <a:ext cx="1143000" cy="9525"/>
            </a:xfrm>
            <a:custGeom>
              <a:avLst/>
              <a:gdLst/>
              <a:ahLst/>
              <a:cxnLst/>
              <a:rect l="l" t="t" r="r" b="b"/>
              <a:pathLst>
                <a:path w="1143000" h="9525">
                  <a:moveTo>
                    <a:pt x="0" y="0"/>
                  </a:moveTo>
                  <a:lnTo>
                    <a:pt x="1143000" y="0"/>
                  </a:lnTo>
                </a:path>
              </a:pathLst>
            </a:custGeom>
            <a:noFill/>
            <a:ln w="19050">
              <a:solidFill>
                <a:srgbClr val="172B3A"/>
              </a:solidFill>
            </a:ln>
          </p:spPr>
        </p:sp>
        <p:sp>
          <p:nvSpPr>
            <p:cNvPr id="45" name="Line 45"/>
            <p:cNvSpPr/>
            <p:nvPr/>
          </p:nvSpPr>
          <p:spPr>
            <a:xfrm>
              <a:off x="8572500" y="2857500"/>
              <a:ext cx="9525" cy="1333500"/>
            </a:xfrm>
            <a:custGeom>
              <a:avLst/>
              <a:gdLst/>
              <a:ahLst/>
              <a:cxnLst/>
              <a:rect l="l" t="t" r="r" b="b"/>
              <a:pathLst>
                <a:path w="9525" h="1333500">
                  <a:moveTo>
                    <a:pt x="0" y="1333500"/>
                  </a:moveTo>
                  <a:lnTo>
                    <a:pt x="0" y="0"/>
                  </a:lnTo>
                </a:path>
              </a:pathLst>
            </a:custGeom>
            <a:noFill/>
            <a:ln w="19050">
              <a:solidFill>
                <a:srgbClr val="172B3A"/>
              </a:solidFill>
            </a:ln>
          </p:spPr>
        </p:sp>
        <p:sp>
          <p:nvSpPr>
            <p:cNvPr id="46" name="Line 46"/>
            <p:cNvSpPr/>
            <p:nvPr/>
          </p:nvSpPr>
          <p:spPr>
            <a:xfrm>
              <a:off x="10287000" y="4953000"/>
              <a:ext cx="9525" cy="381000"/>
            </a:xfrm>
            <a:custGeom>
              <a:avLst/>
              <a:gdLst/>
              <a:ahLst/>
              <a:cxnLst/>
              <a:rect l="l" t="t" r="r" b="b"/>
              <a:pathLst>
                <a:path w="9525" h="381000">
                  <a:moveTo>
                    <a:pt x="0" y="381000"/>
                  </a:moveTo>
                  <a:lnTo>
                    <a:pt x="0" y="0"/>
                  </a:lnTo>
                </a:path>
              </a:pathLst>
            </a:custGeom>
            <a:noFill/>
            <a:ln w="19050">
              <a:solidFill>
                <a:srgbClr val="00A6A6"/>
              </a:solidFill>
            </a:ln>
          </p:spPr>
        </p:sp>
        <p:sp>
          <p:nvSpPr>
            <p:cNvPr id="47" name="Line 47"/>
            <p:cNvSpPr/>
            <p:nvPr/>
          </p:nvSpPr>
          <p:spPr>
            <a:xfrm>
              <a:off x="11049000" y="4953000"/>
              <a:ext cx="9525" cy="381000"/>
            </a:xfrm>
            <a:custGeom>
              <a:avLst/>
              <a:gdLst/>
              <a:ahLst/>
              <a:cxnLst/>
              <a:rect l="l" t="t" r="r" b="b"/>
              <a:pathLst>
                <a:path w="9525" h="381000">
                  <a:moveTo>
                    <a:pt x="0" y="381000"/>
                  </a:moveTo>
                  <a:lnTo>
                    <a:pt x="0" y="0"/>
                  </a:lnTo>
                </a:path>
              </a:pathLst>
            </a:custGeom>
            <a:noFill/>
            <a:ln w="19050">
              <a:solidFill>
                <a:srgbClr val="00A6A6"/>
              </a:solidFill>
            </a:ln>
          </p:spPr>
        </p:sp>
        <p:sp>
          <p:nvSpPr>
            <p:cNvPr id="48" name="Line 48"/>
            <p:cNvSpPr/>
            <p:nvPr/>
          </p:nvSpPr>
          <p:spPr>
            <a:xfrm>
              <a:off x="10287000" y="4953000"/>
              <a:ext cx="762000" cy="9525"/>
            </a:xfrm>
            <a:custGeom>
              <a:avLst/>
              <a:gdLst/>
              <a:ahLst/>
              <a:cxnLst/>
              <a:rect l="l" t="t" r="r" b="b"/>
              <a:pathLst>
                <a:path w="762000" h="9525">
                  <a:moveTo>
                    <a:pt x="0" y="0"/>
                  </a:moveTo>
                  <a:lnTo>
                    <a:pt x="762000" y="0"/>
                  </a:lnTo>
                </a:path>
              </a:pathLst>
            </a:custGeom>
            <a:noFill/>
            <a:ln w="19050">
              <a:solidFill>
                <a:srgbClr val="00A6A6"/>
              </a:solidFill>
            </a:ln>
          </p:spPr>
        </p:sp>
        <p:sp>
          <p:nvSpPr>
            <p:cNvPr id="49" name="Line 49"/>
            <p:cNvSpPr/>
            <p:nvPr/>
          </p:nvSpPr>
          <p:spPr>
            <a:xfrm>
              <a:off x="10668000" y="2857500"/>
              <a:ext cx="9525" cy="2095500"/>
            </a:xfrm>
            <a:custGeom>
              <a:avLst/>
              <a:gdLst/>
              <a:ahLst/>
              <a:cxnLst/>
              <a:rect l="l" t="t" r="r" b="b"/>
              <a:pathLst>
                <a:path w="9525" h="2095500">
                  <a:moveTo>
                    <a:pt x="0" y="2095500"/>
                  </a:moveTo>
                  <a:lnTo>
                    <a:pt x="0" y="0"/>
                  </a:lnTo>
                </a:path>
              </a:pathLst>
            </a:custGeom>
            <a:noFill/>
            <a:ln w="19050">
              <a:solidFill>
                <a:srgbClr val="00A6A6"/>
              </a:solidFill>
            </a:ln>
          </p:spPr>
        </p:sp>
        <p:sp>
          <p:nvSpPr>
            <p:cNvPr id="50" name="Line 50"/>
            <p:cNvSpPr/>
            <p:nvPr/>
          </p:nvSpPr>
          <p:spPr>
            <a:xfrm>
              <a:off x="8572500" y="2857500"/>
              <a:ext cx="2095500" cy="9525"/>
            </a:xfrm>
            <a:custGeom>
              <a:avLst/>
              <a:gdLst/>
              <a:ahLst/>
              <a:cxnLst/>
              <a:rect l="l" t="t" r="r" b="b"/>
              <a:pathLst>
                <a:path w="2095500" h="9525">
                  <a:moveTo>
                    <a:pt x="0" y="0"/>
                  </a:moveTo>
                  <a:lnTo>
                    <a:pt x="2095500" y="0"/>
                  </a:lnTo>
                </a:path>
              </a:pathLst>
            </a:custGeom>
            <a:noFill/>
            <a:ln w="19050">
              <a:solidFill>
                <a:srgbClr val="172B3A"/>
              </a:solidFill>
            </a:ln>
          </p:spPr>
        </p:sp>
        <p:sp>
          <p:nvSpPr>
            <p:cNvPr id="51" name="Ellipse 51"/>
            <p:cNvSpPr/>
            <p:nvPr/>
          </p:nvSpPr>
          <p:spPr>
            <a:xfrm>
              <a:off x="7577138" y="5291138"/>
              <a:ext cx="85725" cy="85725"/>
            </a:xfrm>
            <a:prstGeom prst="ellipse">
              <a:avLst/>
            </a:prstGeom>
            <a:solidFill>
              <a:srgbClr val="2E86AB"/>
            </a:solidFill>
            <a:ln>
              <a:noFill/>
            </a:ln>
          </p:spPr>
        </p:sp>
        <p:sp>
          <p:nvSpPr>
            <p:cNvPr id="52" name="Ellipse 52"/>
            <p:cNvSpPr/>
            <p:nvPr/>
          </p:nvSpPr>
          <p:spPr>
            <a:xfrm>
              <a:off x="8339138" y="5291138"/>
              <a:ext cx="85725" cy="85725"/>
            </a:xfrm>
            <a:prstGeom prst="ellipse">
              <a:avLst/>
            </a:prstGeom>
            <a:solidFill>
              <a:srgbClr val="2E86AB"/>
            </a:solidFill>
            <a:ln>
              <a:noFill/>
            </a:ln>
          </p:spPr>
        </p:sp>
        <p:sp>
          <p:nvSpPr>
            <p:cNvPr id="53" name="Ellipse 53"/>
            <p:cNvSpPr/>
            <p:nvPr/>
          </p:nvSpPr>
          <p:spPr>
            <a:xfrm>
              <a:off x="9101138" y="5291138"/>
              <a:ext cx="85725" cy="85725"/>
            </a:xfrm>
            <a:prstGeom prst="ellipse">
              <a:avLst/>
            </a:prstGeom>
            <a:solidFill>
              <a:srgbClr val="12355B"/>
            </a:solidFill>
            <a:ln>
              <a:noFill/>
            </a:ln>
          </p:spPr>
        </p:sp>
        <p:sp>
          <p:nvSpPr>
            <p:cNvPr id="54" name="Ellipse 54"/>
            <p:cNvSpPr/>
            <p:nvPr/>
          </p:nvSpPr>
          <p:spPr>
            <a:xfrm>
              <a:off x="10244138" y="5291138"/>
              <a:ext cx="85725" cy="85725"/>
            </a:xfrm>
            <a:prstGeom prst="ellipse">
              <a:avLst/>
            </a:prstGeom>
            <a:solidFill>
              <a:srgbClr val="00A6A6"/>
            </a:solidFill>
            <a:ln>
              <a:noFill/>
            </a:ln>
          </p:spPr>
        </p:sp>
        <p:sp>
          <p:nvSpPr>
            <p:cNvPr id="55" name="Ellipse 55"/>
            <p:cNvSpPr/>
            <p:nvPr/>
          </p:nvSpPr>
          <p:spPr>
            <a:xfrm>
              <a:off x="11006138" y="5291138"/>
              <a:ext cx="85725" cy="85725"/>
            </a:xfrm>
            <a:prstGeom prst="ellipse">
              <a:avLst/>
            </a:prstGeom>
            <a:solidFill>
              <a:srgbClr val="00A6A6"/>
            </a:solidFill>
            <a:ln>
              <a:noFill/>
            </a:ln>
          </p:spPr>
        </p:sp>
        <p:sp>
          <p:nvSpPr>
            <p:cNvPr id="56" name="Line 56"/>
            <p:cNvSpPr/>
            <p:nvPr/>
          </p:nvSpPr>
          <p:spPr>
            <a:xfrm>
              <a:off x="7334250" y="4762500"/>
              <a:ext cx="4000500" cy="9525"/>
            </a:xfrm>
            <a:custGeom>
              <a:avLst/>
              <a:gdLst/>
              <a:ahLst/>
              <a:cxnLst/>
              <a:rect l="l" t="t" r="r" b="b"/>
              <a:pathLst>
                <a:path w="4000500" h="9525">
                  <a:moveTo>
                    <a:pt x="0" y="0"/>
                  </a:moveTo>
                  <a:lnTo>
                    <a:pt x="4000500" y="0"/>
                  </a:lnTo>
                </a:path>
              </a:pathLst>
            </a:custGeom>
            <a:noFill/>
            <a:ln w="19050">
              <a:solidFill>
                <a:srgbClr val="00A6A6"/>
              </a:solidFill>
              <a:custDash>
                <a:ds d="300000" sp="200000"/>
              </a:custDash>
            </a:ln>
          </p:spPr>
        </p:sp>
        <p:sp>
          <p:nvSpPr>
            <p:cNvPr id="57" name="TextBox 57"/>
            <p:cNvSpPr txBox="1"/>
            <p:nvPr/>
          </p:nvSpPr>
          <p:spPr>
            <a:xfrm>
              <a:off x="9685191" y="4575810"/>
              <a:ext cx="1655655" cy="234696"/>
            </a:xfrm>
            <a:prstGeom prst="rect">
              <a:avLst/>
            </a:prstGeom>
            <a:noFill/>
            <a:ln>
              <a:noFill/>
            </a:ln>
          </p:spPr>
          <p:txBody>
            <a:bodyPr wrap="none" lIns="0" tIns="0" rIns="0" bIns="0" anchor="t" anchorCtr="0">
              <a:spAutoFit/>
            </a:bodyPr>
            <a:lstStyle/>
            <a:p>
              <a:pPr algn="r"/>
              <a:r>
                <a:rPr lang="tr-TR" sz="1200" b="1" dirty="0">
                  <a:solidFill>
                    <a:srgbClr val="12355B"/>
                  </a:solidFill>
                  <a:latin typeface="+mn-lt"/>
                  <a:ea typeface="+mn-ea"/>
                  <a:cs typeface="+mn-cs"/>
                </a:rPr>
                <a:t>Kesim eşiği → 3 küme</a:t>
              </a:r>
            </a:p>
          </p:txBody>
        </p:sp>
      </p:grpSp>
      <p:sp>
        <p:nvSpPr>
          <p:cNvPr id="59" name="TextBox 5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23</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9615071" cy="668845"/>
            <a:chOff x="609600" y="171450"/>
            <a:chExt cx="9615071"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892469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Hiyerarşik kümeleme: linkage ve sınırlamalar</a:t>
              </a:r>
            </a:p>
          </p:txBody>
        </p:sp>
      </p:grpSp>
      <p:grpSp>
        <p:nvGrpSpPr>
          <p:cNvPr id="17" name="table-header"/>
          <p:cNvGrpSpPr/>
          <p:nvPr/>
        </p:nvGrpSpPr>
        <p:grpSpPr>
          <a:xfrm>
            <a:off x="609600" y="1123950"/>
            <a:ext cx="10972800" cy="381000"/>
            <a:chOff x="609600" y="1123950"/>
            <a:chExt cx="10972800" cy="381000"/>
          </a:xfrm>
        </p:grpSpPr>
        <p:sp>
          <p:nvSpPr>
            <p:cNvPr id="13" name="Rectangle 13"/>
            <p:cNvSpPr/>
            <p:nvPr/>
          </p:nvSpPr>
          <p:spPr>
            <a:xfrm>
              <a:off x="609600" y="1123950"/>
              <a:ext cx="10972800" cy="381000"/>
            </a:xfrm>
            <a:prstGeom prst="rect">
              <a:avLst/>
            </a:prstGeom>
            <a:solidFill>
              <a:srgbClr val="12355B"/>
            </a:solidFill>
            <a:ln>
              <a:noFill/>
            </a:ln>
          </p:spPr>
        </p:sp>
        <p:sp>
          <p:nvSpPr>
            <p:cNvPr id="14" name="TextBox 14"/>
            <p:cNvSpPr txBox="1"/>
            <p:nvPr/>
          </p:nvSpPr>
          <p:spPr>
            <a:xfrm>
              <a:off x="755904" y="1242060"/>
              <a:ext cx="721401"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LINKAGE</a:t>
              </a:r>
            </a:p>
          </p:txBody>
        </p:sp>
        <p:sp>
          <p:nvSpPr>
            <p:cNvPr id="15" name="TextBox 15"/>
            <p:cNvSpPr txBox="1"/>
            <p:nvPr/>
          </p:nvSpPr>
          <p:spPr>
            <a:xfrm>
              <a:off x="3137154" y="1242060"/>
              <a:ext cx="64800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MANTIK</a:t>
              </a:r>
            </a:p>
          </p:txBody>
        </p:sp>
        <p:sp>
          <p:nvSpPr>
            <p:cNvPr id="16" name="TextBox 16"/>
            <p:cNvSpPr txBox="1"/>
            <p:nvPr/>
          </p:nvSpPr>
          <p:spPr>
            <a:xfrm>
              <a:off x="7042404" y="1242060"/>
              <a:ext cx="1477122"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NE ZAMAN UYGUN</a:t>
              </a:r>
            </a:p>
          </p:txBody>
        </p:sp>
      </p:grpSp>
      <p:grpSp>
        <p:nvGrpSpPr>
          <p:cNvPr id="22" name="row1"/>
          <p:cNvGrpSpPr/>
          <p:nvPr/>
        </p:nvGrpSpPr>
        <p:grpSpPr>
          <a:xfrm>
            <a:off x="609600" y="1636871"/>
            <a:ext cx="10972800" cy="372904"/>
            <a:chOff x="609600" y="1636871"/>
            <a:chExt cx="10972800" cy="372904"/>
          </a:xfrm>
        </p:grpSpPr>
        <p:sp>
          <p:nvSpPr>
            <p:cNvPr id="18" name="TextBox 18"/>
            <p:cNvSpPr txBox="1"/>
            <p:nvPr/>
          </p:nvSpPr>
          <p:spPr>
            <a:xfrm>
              <a:off x="754761" y="1636871"/>
              <a:ext cx="50301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Ward</a:t>
              </a:r>
            </a:p>
          </p:txBody>
        </p:sp>
        <p:sp>
          <p:nvSpPr>
            <p:cNvPr id="19" name="TextBox 19"/>
            <p:cNvSpPr txBox="1"/>
            <p:nvPr/>
          </p:nvSpPr>
          <p:spPr>
            <a:xfrm>
              <a:off x="3136773" y="1653064"/>
              <a:ext cx="267214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Küme içi varyansı minimize eder</a:t>
              </a:r>
            </a:p>
          </p:txBody>
        </p:sp>
        <p:sp>
          <p:nvSpPr>
            <p:cNvPr id="20" name="TextBox 20"/>
            <p:cNvSpPr txBox="1"/>
            <p:nvPr/>
          </p:nvSpPr>
          <p:spPr>
            <a:xfrm>
              <a:off x="7042023" y="1653064"/>
              <a:ext cx="2413536"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Dengeli, küresel kümeler için</a:t>
              </a:r>
            </a:p>
          </p:txBody>
        </p:sp>
        <p:sp>
          <p:nvSpPr>
            <p:cNvPr id="21" name="Line 21"/>
            <p:cNvSpPr/>
            <p:nvPr/>
          </p:nvSpPr>
          <p:spPr>
            <a:xfrm>
              <a:off x="609600" y="20002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row2"/>
          <p:cNvGrpSpPr/>
          <p:nvPr/>
        </p:nvGrpSpPr>
        <p:grpSpPr>
          <a:xfrm>
            <a:off x="609600" y="2000250"/>
            <a:ext cx="10972800" cy="495300"/>
            <a:chOff x="609600" y="2000250"/>
            <a:chExt cx="10972800" cy="495300"/>
          </a:xfrm>
        </p:grpSpPr>
        <p:sp>
          <p:nvSpPr>
            <p:cNvPr id="23" name="Rectangle 23"/>
            <p:cNvSpPr/>
            <p:nvPr/>
          </p:nvSpPr>
          <p:spPr>
            <a:xfrm>
              <a:off x="609600" y="2000250"/>
              <a:ext cx="10972800" cy="495300"/>
            </a:xfrm>
            <a:prstGeom prst="rect">
              <a:avLst/>
            </a:prstGeom>
            <a:solidFill>
              <a:srgbClr val="EAF4F6"/>
            </a:solidFill>
            <a:ln>
              <a:noFill/>
            </a:ln>
          </p:spPr>
        </p:sp>
        <p:sp>
          <p:nvSpPr>
            <p:cNvPr id="24" name="TextBox 24"/>
            <p:cNvSpPr txBox="1"/>
            <p:nvPr/>
          </p:nvSpPr>
          <p:spPr>
            <a:xfrm>
              <a:off x="754761" y="2132171"/>
              <a:ext cx="2440340"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Complete (tam bağlantı)</a:t>
              </a:r>
            </a:p>
          </p:txBody>
        </p:sp>
        <p:sp>
          <p:nvSpPr>
            <p:cNvPr id="25" name="TextBox 25"/>
            <p:cNvSpPr txBox="1"/>
            <p:nvPr/>
          </p:nvSpPr>
          <p:spPr>
            <a:xfrm>
              <a:off x="3136773" y="2148364"/>
              <a:ext cx="297390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En uzak çift noktalar arası mesafe</a:t>
              </a:r>
            </a:p>
          </p:txBody>
        </p:sp>
        <p:sp>
          <p:nvSpPr>
            <p:cNvPr id="26" name="TextBox 26"/>
            <p:cNvSpPr txBox="1"/>
            <p:nvPr/>
          </p:nvSpPr>
          <p:spPr>
            <a:xfrm>
              <a:off x="7042023" y="2148364"/>
              <a:ext cx="176743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Kompakt kümeler için</a:t>
              </a:r>
            </a:p>
          </p:txBody>
        </p:sp>
      </p:grpSp>
      <p:grpSp>
        <p:nvGrpSpPr>
          <p:cNvPr id="32" name="row3"/>
          <p:cNvGrpSpPr/>
          <p:nvPr/>
        </p:nvGrpSpPr>
        <p:grpSpPr>
          <a:xfrm>
            <a:off x="609600" y="2627471"/>
            <a:ext cx="10972800" cy="372904"/>
            <a:chOff x="609600" y="2627471"/>
            <a:chExt cx="10972800" cy="372904"/>
          </a:xfrm>
        </p:grpSpPr>
        <p:sp>
          <p:nvSpPr>
            <p:cNvPr id="28" name="TextBox 28"/>
            <p:cNvSpPr txBox="1"/>
            <p:nvPr/>
          </p:nvSpPr>
          <p:spPr>
            <a:xfrm>
              <a:off x="754761" y="2627471"/>
              <a:ext cx="2088761"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Single (tek bağlantı)</a:t>
              </a:r>
            </a:p>
          </p:txBody>
        </p:sp>
        <p:sp>
          <p:nvSpPr>
            <p:cNvPr id="29" name="TextBox 29"/>
            <p:cNvSpPr txBox="1"/>
            <p:nvPr/>
          </p:nvSpPr>
          <p:spPr>
            <a:xfrm>
              <a:off x="3136773" y="2643664"/>
              <a:ext cx="306865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En yakın çift noktalar arası mesafe</a:t>
              </a:r>
            </a:p>
          </p:txBody>
        </p:sp>
        <p:sp>
          <p:nvSpPr>
            <p:cNvPr id="30" name="TextBox 30"/>
            <p:cNvSpPr txBox="1"/>
            <p:nvPr/>
          </p:nvSpPr>
          <p:spPr>
            <a:xfrm>
              <a:off x="7042023" y="2643664"/>
              <a:ext cx="280125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Uzun, zincir şeklinde kümeler için</a:t>
              </a:r>
            </a:p>
          </p:txBody>
        </p:sp>
        <p:sp>
          <p:nvSpPr>
            <p:cNvPr id="31" name="Line 31"/>
            <p:cNvSpPr/>
            <p:nvPr/>
          </p:nvSpPr>
          <p:spPr>
            <a:xfrm>
              <a:off x="609600" y="29908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row4"/>
          <p:cNvGrpSpPr/>
          <p:nvPr/>
        </p:nvGrpSpPr>
        <p:grpSpPr>
          <a:xfrm>
            <a:off x="609600" y="2990850"/>
            <a:ext cx="10972800" cy="495300"/>
            <a:chOff x="609600" y="2990850"/>
            <a:chExt cx="10972800" cy="495300"/>
          </a:xfrm>
        </p:grpSpPr>
        <p:sp>
          <p:nvSpPr>
            <p:cNvPr id="33" name="Rectangle 33"/>
            <p:cNvSpPr/>
            <p:nvPr/>
          </p:nvSpPr>
          <p:spPr>
            <a:xfrm>
              <a:off x="609600" y="2990850"/>
              <a:ext cx="10972800" cy="495300"/>
            </a:xfrm>
            <a:prstGeom prst="rect">
              <a:avLst/>
            </a:prstGeom>
            <a:solidFill>
              <a:srgbClr val="EAF4F6"/>
            </a:solidFill>
            <a:ln>
              <a:noFill/>
            </a:ln>
          </p:spPr>
        </p:sp>
        <p:sp>
          <p:nvSpPr>
            <p:cNvPr id="34" name="TextBox 34"/>
            <p:cNvSpPr txBox="1"/>
            <p:nvPr/>
          </p:nvSpPr>
          <p:spPr>
            <a:xfrm>
              <a:off x="754761" y="3122771"/>
              <a:ext cx="2841512"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Average (ortalama bağlantı)</a:t>
              </a:r>
            </a:p>
          </p:txBody>
        </p:sp>
        <p:sp>
          <p:nvSpPr>
            <p:cNvPr id="35" name="TextBox 35"/>
            <p:cNvSpPr txBox="1"/>
            <p:nvPr/>
          </p:nvSpPr>
          <p:spPr>
            <a:xfrm>
              <a:off x="3136773" y="3138964"/>
              <a:ext cx="271511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Tüm çiftlerin ortalama mesafesi</a:t>
              </a:r>
            </a:p>
          </p:txBody>
        </p:sp>
        <p:sp>
          <p:nvSpPr>
            <p:cNvPr id="36" name="TextBox 36"/>
            <p:cNvSpPr txBox="1"/>
            <p:nvPr/>
          </p:nvSpPr>
          <p:spPr>
            <a:xfrm>
              <a:off x="7042023" y="3138964"/>
              <a:ext cx="230172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Genel amaçlı, dengeli seçim</a:t>
              </a:r>
            </a:p>
          </p:txBody>
        </p:sp>
      </p:grpSp>
      <p:grpSp>
        <p:nvGrpSpPr>
          <p:cNvPr id="49" name="when-use"/>
          <p:cNvGrpSpPr/>
          <p:nvPr/>
        </p:nvGrpSpPr>
        <p:grpSpPr>
          <a:xfrm>
            <a:off x="609600" y="3733800"/>
            <a:ext cx="5334000" cy="2000250"/>
            <a:chOff x="609600" y="3733800"/>
            <a:chExt cx="5334000" cy="2000250"/>
          </a:xfrm>
        </p:grpSpPr>
        <p:sp>
          <p:nvSpPr>
            <p:cNvPr id="38" name="Rectangle 38"/>
            <p:cNvSpPr/>
            <p:nvPr/>
          </p:nvSpPr>
          <p:spPr>
            <a:xfrm>
              <a:off x="609600" y="3733800"/>
              <a:ext cx="5334000" cy="2000250"/>
            </a:xfrm>
            <a:prstGeom prst="roundRect">
              <a:avLst>
                <a:gd name="adj" fmla="val 4762"/>
              </a:avLst>
            </a:prstGeom>
            <a:solidFill>
              <a:srgbClr val="FFFFFF"/>
            </a:solidFill>
            <a:ln w="14288">
              <a:solidFill>
                <a:srgbClr val="00A6A6"/>
              </a:solidFill>
            </a:ln>
          </p:spPr>
        </p:sp>
        <p:sp>
          <p:nvSpPr>
            <p:cNvPr id="39" name="TextBox 39"/>
            <p:cNvSpPr txBox="1"/>
            <p:nvPr/>
          </p:nvSpPr>
          <p:spPr>
            <a:xfrm>
              <a:off x="830199" y="3868579"/>
              <a:ext cx="273683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 zaman tercih edilmeli?</a:t>
              </a:r>
            </a:p>
          </p:txBody>
        </p:sp>
        <p:sp>
          <p:nvSpPr>
            <p:cNvPr id="40" name="Rectangle 40"/>
            <p:cNvSpPr/>
            <p:nvPr/>
          </p:nvSpPr>
          <p:spPr>
            <a:xfrm>
              <a:off x="838200" y="4191000"/>
              <a:ext cx="57150" cy="228600"/>
            </a:xfrm>
            <a:prstGeom prst="rect">
              <a:avLst/>
            </a:prstGeom>
            <a:solidFill>
              <a:srgbClr val="00A6A6"/>
            </a:solidFill>
            <a:ln>
              <a:noFill/>
            </a:ln>
          </p:spPr>
        </p:sp>
        <p:sp>
          <p:nvSpPr>
            <p:cNvPr id="41" name="TextBox 41"/>
            <p:cNvSpPr txBox="1"/>
            <p:nvPr/>
          </p:nvSpPr>
          <p:spPr>
            <a:xfrm>
              <a:off x="984123" y="4224814"/>
              <a:ext cx="405094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Küçük-orta ölçekli veri (birkaç bin satırdan az)</a:t>
              </a:r>
            </a:p>
          </p:txBody>
        </p:sp>
        <p:sp>
          <p:nvSpPr>
            <p:cNvPr id="42" name="Rectangle 42"/>
            <p:cNvSpPr/>
            <p:nvPr/>
          </p:nvSpPr>
          <p:spPr>
            <a:xfrm>
              <a:off x="838200" y="4495800"/>
              <a:ext cx="57150" cy="228600"/>
            </a:xfrm>
            <a:prstGeom prst="rect">
              <a:avLst/>
            </a:prstGeom>
            <a:solidFill>
              <a:srgbClr val="00A6A6"/>
            </a:solidFill>
            <a:ln>
              <a:noFill/>
            </a:ln>
          </p:spPr>
        </p:sp>
        <p:sp>
          <p:nvSpPr>
            <p:cNvPr id="43" name="TextBox 43"/>
            <p:cNvSpPr txBox="1"/>
            <p:nvPr/>
          </p:nvSpPr>
          <p:spPr>
            <a:xfrm>
              <a:off x="984123" y="4529614"/>
              <a:ext cx="2818515"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Küme sayısı önceden bilinmiyorsa</a:t>
              </a:r>
            </a:p>
          </p:txBody>
        </p:sp>
        <p:sp>
          <p:nvSpPr>
            <p:cNvPr id="44" name="Rectangle 44"/>
            <p:cNvSpPr/>
            <p:nvPr/>
          </p:nvSpPr>
          <p:spPr>
            <a:xfrm>
              <a:off x="838200" y="4800600"/>
              <a:ext cx="57150" cy="381000"/>
            </a:xfrm>
            <a:prstGeom prst="rect">
              <a:avLst/>
            </a:prstGeom>
            <a:solidFill>
              <a:srgbClr val="00A6A6"/>
            </a:solidFill>
            <a:ln>
              <a:noFill/>
            </a:ln>
          </p:spPr>
        </p:sp>
        <p:sp>
          <p:nvSpPr>
            <p:cNvPr id="45" name="TextBox 45"/>
            <p:cNvSpPr txBox="1"/>
            <p:nvPr/>
          </p:nvSpPr>
          <p:spPr>
            <a:xfrm>
              <a:off x="984123" y="4834414"/>
              <a:ext cx="412012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İç içe geçmiş (nested) yapı anlamlıysa — genetik</a:t>
              </a:r>
            </a:p>
          </p:txBody>
        </p:sp>
        <p:sp>
          <p:nvSpPr>
            <p:cNvPr id="46" name="TextBox 46"/>
            <p:cNvSpPr txBox="1"/>
            <p:nvPr/>
          </p:nvSpPr>
          <p:spPr>
            <a:xfrm>
              <a:off x="984123" y="5043964"/>
              <a:ext cx="245980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benzerlik, doküman kümeleme</a:t>
              </a:r>
            </a:p>
          </p:txBody>
        </p:sp>
        <p:sp>
          <p:nvSpPr>
            <p:cNvPr id="47" name="Rectangle 47"/>
            <p:cNvSpPr/>
            <p:nvPr/>
          </p:nvSpPr>
          <p:spPr>
            <a:xfrm>
              <a:off x="838200" y="5314950"/>
              <a:ext cx="57150" cy="228600"/>
            </a:xfrm>
            <a:prstGeom prst="rect">
              <a:avLst/>
            </a:prstGeom>
            <a:solidFill>
              <a:srgbClr val="00A6A6"/>
            </a:solidFill>
            <a:ln>
              <a:noFill/>
            </a:ln>
          </p:spPr>
        </p:sp>
        <p:sp>
          <p:nvSpPr>
            <p:cNvPr id="48" name="TextBox 48"/>
            <p:cNvSpPr txBox="1"/>
            <p:nvPr/>
          </p:nvSpPr>
          <p:spPr>
            <a:xfrm>
              <a:off x="984123" y="5348764"/>
              <a:ext cx="393824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Tekrarlanabilirlik önemliyse (deterministiktir)</a:t>
              </a:r>
            </a:p>
          </p:txBody>
        </p:sp>
      </p:grpSp>
      <p:grpSp>
        <p:nvGrpSpPr>
          <p:cNvPr id="58" name="warning"/>
          <p:cNvGrpSpPr/>
          <p:nvPr/>
        </p:nvGrpSpPr>
        <p:grpSpPr>
          <a:xfrm>
            <a:off x="6248400" y="3733800"/>
            <a:ext cx="5334000" cy="2000250"/>
            <a:chOff x="6248400" y="3733800"/>
            <a:chExt cx="5334000" cy="2000250"/>
          </a:xfrm>
        </p:grpSpPr>
        <p:sp>
          <p:nvSpPr>
            <p:cNvPr id="50" name="Rectangle 50"/>
            <p:cNvSpPr/>
            <p:nvPr/>
          </p:nvSpPr>
          <p:spPr>
            <a:xfrm>
              <a:off x="6248400" y="3733800"/>
              <a:ext cx="5334000" cy="2000250"/>
            </a:xfrm>
            <a:prstGeom prst="roundRect">
              <a:avLst>
                <a:gd name="adj" fmla="val 4762"/>
              </a:avLst>
            </a:prstGeom>
            <a:solidFill>
              <a:srgbClr val="12355B"/>
            </a:solidFill>
            <a:ln>
              <a:noFill/>
            </a:ln>
          </p:spPr>
        </p:sp>
        <p:sp>
          <p:nvSpPr>
            <p:cNvPr id="51" name="TextBox 51"/>
            <p:cNvSpPr txBox="1"/>
            <p:nvPr/>
          </p:nvSpPr>
          <p:spPr>
            <a:xfrm>
              <a:off x="6468999" y="3868579"/>
              <a:ext cx="2881720"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 Dikkat: ölçeklenebilirlik</a:t>
              </a:r>
            </a:p>
          </p:txBody>
        </p:sp>
        <p:sp>
          <p:nvSpPr>
            <p:cNvPr id="52" name="TextBox 52"/>
            <p:cNvSpPr txBox="1"/>
            <p:nvPr/>
          </p:nvSpPr>
          <p:spPr>
            <a:xfrm>
              <a:off x="6470523" y="4205764"/>
              <a:ext cx="4473410"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linkage karmaşıklığı O(n²), hatta bazı yöntemlerde</a:t>
              </a:r>
            </a:p>
          </p:txBody>
        </p:sp>
        <p:sp>
          <p:nvSpPr>
            <p:cNvPr id="53" name="TextBox 53"/>
            <p:cNvSpPr txBox="1"/>
            <p:nvPr/>
          </p:nvSpPr>
          <p:spPr>
            <a:xfrm>
              <a:off x="6470523" y="4415314"/>
              <a:ext cx="4061332"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O(n³) düzeyindedir. 10.000+ satırlı veride hem</a:t>
              </a:r>
            </a:p>
          </p:txBody>
        </p:sp>
        <p:sp>
          <p:nvSpPr>
            <p:cNvPr id="54" name="TextBox 54"/>
            <p:cNvSpPr txBox="1"/>
            <p:nvPr/>
          </p:nvSpPr>
          <p:spPr>
            <a:xfrm>
              <a:off x="6470523" y="4624864"/>
              <a:ext cx="3829700"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bellek hem süre açısından pratik olmayabilir.</a:t>
              </a:r>
            </a:p>
          </p:txBody>
        </p:sp>
        <p:sp>
          <p:nvSpPr>
            <p:cNvPr id="55" name="TextBox 55"/>
            <p:cNvSpPr txBox="1"/>
            <p:nvPr/>
          </p:nvSpPr>
          <p:spPr>
            <a:xfrm>
              <a:off x="6470523" y="4910614"/>
              <a:ext cx="3759876" cy="249364"/>
            </a:xfrm>
            <a:prstGeom prst="rect">
              <a:avLst/>
            </a:prstGeom>
            <a:noFill/>
            <a:ln>
              <a:noFill/>
            </a:ln>
          </p:spPr>
          <p:txBody>
            <a:bodyPr wrap="none" lIns="0" tIns="0" rIns="0" bIns="0" anchor="t" anchorCtr="0">
              <a:spAutoFit/>
            </a:bodyPr>
            <a:lstStyle/>
            <a:p>
              <a:pPr algn="l"/>
              <a:r>
                <a:rPr lang="tr-TR" sz="1280" b="1" dirty="0">
                  <a:solidFill>
                    <a:srgbClr val="00A6A6"/>
                  </a:solidFill>
                  <a:latin typeface="+mn-lt"/>
                  <a:ea typeface="+mn-ea"/>
                  <a:cs typeface="+mn-cs"/>
                </a:rPr>
                <a:t>Çözüm: önce K-Means ile örnekleme, sonra</a:t>
              </a:r>
            </a:p>
          </p:txBody>
        </p:sp>
        <p:sp>
          <p:nvSpPr>
            <p:cNvPr id="56" name="TextBox 56"/>
            <p:cNvSpPr txBox="1"/>
            <p:nvPr/>
          </p:nvSpPr>
          <p:spPr>
            <a:xfrm>
              <a:off x="6470523" y="5120164"/>
              <a:ext cx="3414424" cy="249364"/>
            </a:xfrm>
            <a:prstGeom prst="rect">
              <a:avLst/>
            </a:prstGeom>
            <a:noFill/>
            <a:ln>
              <a:noFill/>
            </a:ln>
          </p:spPr>
          <p:txBody>
            <a:bodyPr wrap="none" lIns="0" tIns="0" rIns="0" bIns="0" anchor="t" anchorCtr="0">
              <a:spAutoFit/>
            </a:bodyPr>
            <a:lstStyle/>
            <a:p>
              <a:pPr algn="l"/>
              <a:r>
                <a:rPr lang="tr-TR" sz="1280" b="1" dirty="0">
                  <a:solidFill>
                    <a:srgbClr val="00A6A6"/>
                  </a:solidFill>
                  <a:latin typeface="+mn-lt"/>
                  <a:ea typeface="+mn-ea"/>
                  <a:cs typeface="+mn-cs"/>
                </a:rPr>
                <a:t>hiyerarşik analiz; büyük dendrogramda</a:t>
              </a:r>
            </a:p>
          </p:txBody>
        </p:sp>
        <p:sp>
          <p:nvSpPr>
            <p:cNvPr id="57" name="TextBox 57"/>
            <p:cNvSpPr txBox="1"/>
            <p:nvPr/>
          </p:nvSpPr>
          <p:spPr>
            <a:xfrm>
              <a:off x="6470523" y="5329714"/>
              <a:ext cx="4569765" cy="249364"/>
            </a:xfrm>
            <a:prstGeom prst="rect">
              <a:avLst/>
            </a:prstGeom>
            <a:noFill/>
            <a:ln>
              <a:noFill/>
            </a:ln>
          </p:spPr>
          <p:txBody>
            <a:bodyPr wrap="none" lIns="0" tIns="0" rIns="0" bIns="0" anchor="t" anchorCtr="0">
              <a:spAutoFit/>
            </a:bodyPr>
            <a:lstStyle/>
            <a:p>
              <a:pPr algn="l"/>
              <a:r>
                <a:rPr lang="tr-TR" sz="1280" b="1" dirty="0">
                  <a:solidFill>
                    <a:srgbClr val="00A6A6"/>
                  </a:solidFill>
                  <a:latin typeface="+mn-lt"/>
                  <a:ea typeface="+mn-ea"/>
                  <a:cs typeface="+mn-cs"/>
                </a:rPr>
                <a:t>truncate_mode="lastp" ile son N birleşmeyi göster.</a:t>
              </a:r>
            </a:p>
          </p:txBody>
        </p:sp>
      </p:grpSp>
      <p:sp>
        <p:nvSpPr>
          <p:cNvPr id="59" name="TextBox 5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23</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546095" cy="668845"/>
            <a:chOff x="609600" y="171450"/>
            <a:chExt cx="754609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68557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DBSCAN: yoğunluk temelli kümeleme</a:t>
              </a:r>
            </a:p>
          </p:txBody>
        </p:sp>
      </p:grpSp>
      <p:grpSp>
        <p:nvGrpSpPr>
          <p:cNvPr id="19" name="definition"/>
          <p:cNvGrpSpPr/>
          <p:nvPr/>
        </p:nvGrpSpPr>
        <p:grpSpPr>
          <a:xfrm>
            <a:off x="601599" y="1258729"/>
            <a:ext cx="4249331" cy="1393222"/>
            <a:chOff x="601599" y="1258729"/>
            <a:chExt cx="4249331" cy="1393222"/>
          </a:xfrm>
        </p:grpSpPr>
        <p:sp>
          <p:nvSpPr>
            <p:cNvPr id="13" name="TextBox 13"/>
            <p:cNvSpPr txBox="1"/>
            <p:nvPr/>
          </p:nvSpPr>
          <p:spPr>
            <a:xfrm>
              <a:off x="601599" y="125872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4" name="TextBox 14"/>
            <p:cNvSpPr txBox="1"/>
            <p:nvPr/>
          </p:nvSpPr>
          <p:spPr>
            <a:xfrm>
              <a:off x="602742" y="1549718"/>
              <a:ext cx="387243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Noktaları yoğunluk temelli kümeleyen, küme</a:t>
              </a:r>
            </a:p>
          </p:txBody>
        </p:sp>
        <p:sp>
          <p:nvSpPr>
            <p:cNvPr id="15" name="TextBox 15"/>
            <p:cNvSpPr txBox="1"/>
            <p:nvPr/>
          </p:nvSpPr>
          <p:spPr>
            <a:xfrm>
              <a:off x="602742" y="1759268"/>
              <a:ext cx="397558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sayısını önceden istemeyen, gürültüyü (-1)</a:t>
              </a:r>
            </a:p>
          </p:txBody>
        </p:sp>
        <p:sp>
          <p:nvSpPr>
            <p:cNvPr id="16" name="TextBox 16"/>
            <p:cNvSpPr txBox="1"/>
            <p:nvPr/>
          </p:nvSpPr>
          <p:spPr>
            <a:xfrm>
              <a:off x="602742" y="1968818"/>
              <a:ext cx="424818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ayrı sınıf olarak işaretleyebilen algoritmadır.</a:t>
              </a:r>
            </a:p>
          </p:txBody>
        </p:sp>
        <p:sp>
          <p:nvSpPr>
            <p:cNvPr id="17" name="TextBox 17"/>
            <p:cNvSpPr txBox="1"/>
            <p:nvPr/>
          </p:nvSpPr>
          <p:spPr>
            <a:xfrm>
              <a:off x="602742" y="2178368"/>
              <a:ext cx="363344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 xml:space="preserve">İki parametreye dayanır: </a:t>
              </a:r>
              <a:r>
                <a:rPr lang="tr-TR" sz="1350" b="1" dirty="0">
                  <a:solidFill>
                    <a:srgbClr val="172B3A"/>
                  </a:solidFill>
                  <a:latin typeface="+mn-lt"/>
                  <a:ea typeface="+mn-ea"/>
                  <a:cs typeface="+mn-cs"/>
                </a:rPr>
                <a:t>eps</a:t>
              </a:r>
              <a:r>
                <a:rPr lang="tr-TR" sz="1350" dirty="0">
                  <a:solidFill>
                    <a:srgbClr val="172B3A"/>
                  </a:solidFill>
                  <a:latin typeface="+mn-lt"/>
                  <a:ea typeface="+mn-ea"/>
                  <a:cs typeface="+mn-cs"/>
                </a:rPr>
                <a:t xml:space="preserve"> (komşuluk</a:t>
              </a:r>
            </a:p>
          </p:txBody>
        </p:sp>
        <p:sp>
          <p:nvSpPr>
            <p:cNvPr id="18" name="TextBox 18"/>
            <p:cNvSpPr txBox="1"/>
            <p:nvPr/>
          </p:nvSpPr>
          <p:spPr>
            <a:xfrm>
              <a:off x="602742" y="2387918"/>
              <a:ext cx="392969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 xml:space="preserve">yarıçapı) ve </a:t>
              </a:r>
              <a:r>
                <a:rPr lang="tr-TR" sz="1350" b="1" dirty="0">
                  <a:solidFill>
                    <a:srgbClr val="172B3A"/>
                  </a:solidFill>
                  <a:latin typeface="+mn-lt"/>
                  <a:ea typeface="+mn-ea"/>
                  <a:cs typeface="+mn-cs"/>
                </a:rPr>
                <a:t>min_samples</a:t>
              </a:r>
              <a:r>
                <a:rPr lang="tr-TR" sz="1350" dirty="0">
                  <a:solidFill>
                    <a:srgbClr val="172B3A"/>
                  </a:solidFill>
                  <a:latin typeface="+mn-lt"/>
                  <a:ea typeface="+mn-ea"/>
                  <a:cs typeface="+mn-cs"/>
                </a:rPr>
                <a:t xml:space="preserve"> (çekirdek eşiği).</a:t>
              </a:r>
            </a:p>
          </p:txBody>
        </p:sp>
      </p:grpSp>
      <p:grpSp>
        <p:nvGrpSpPr>
          <p:cNvPr id="26" name="analogy"/>
          <p:cNvGrpSpPr/>
          <p:nvPr/>
        </p:nvGrpSpPr>
        <p:grpSpPr>
          <a:xfrm>
            <a:off x="609600" y="2838450"/>
            <a:ext cx="5905500" cy="1333500"/>
            <a:chOff x="609600" y="2838450"/>
            <a:chExt cx="5905500" cy="1333500"/>
          </a:xfrm>
        </p:grpSpPr>
        <p:sp>
          <p:nvSpPr>
            <p:cNvPr id="20" name="Rectangle 20"/>
            <p:cNvSpPr/>
            <p:nvPr/>
          </p:nvSpPr>
          <p:spPr>
            <a:xfrm>
              <a:off x="609600" y="2838450"/>
              <a:ext cx="5905500" cy="1333500"/>
            </a:xfrm>
            <a:prstGeom prst="roundRect">
              <a:avLst>
                <a:gd name="adj" fmla="val 7143"/>
              </a:avLst>
            </a:prstGeom>
            <a:solidFill>
              <a:srgbClr val="FFFFFF"/>
            </a:solidFill>
            <a:ln w="14288">
              <a:solidFill>
                <a:srgbClr val="B8CBD3"/>
              </a:solidFill>
            </a:ln>
          </p:spPr>
        </p:sp>
        <p:sp>
          <p:nvSpPr>
            <p:cNvPr id="21" name="TextBox 21"/>
            <p:cNvSpPr txBox="1"/>
            <p:nvPr/>
          </p:nvSpPr>
          <p:spPr>
            <a:xfrm>
              <a:off x="830580" y="2962275"/>
              <a:ext cx="3764569"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Benzetme: nüfus yoğunluğu haritası</a:t>
              </a:r>
            </a:p>
          </p:txBody>
        </p:sp>
        <p:sp>
          <p:nvSpPr>
            <p:cNvPr id="22" name="TextBox 22"/>
            <p:cNvSpPr txBox="1"/>
            <p:nvPr/>
          </p:nvSpPr>
          <p:spPr>
            <a:xfrm>
              <a:off x="832104" y="3261360"/>
              <a:ext cx="36764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Yoğun mahalleler birer küme oluştururken, tek</a:t>
              </a:r>
            </a:p>
          </p:txBody>
        </p:sp>
        <p:sp>
          <p:nvSpPr>
            <p:cNvPr id="23" name="TextBox 23"/>
            <p:cNvSpPr txBox="1"/>
            <p:nvPr/>
          </p:nvSpPr>
          <p:spPr>
            <a:xfrm>
              <a:off x="832104" y="3451860"/>
              <a:ext cx="33561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başına duran, komşusu olmayan izole evler</a:t>
              </a:r>
            </a:p>
          </p:txBody>
        </p:sp>
        <p:sp>
          <p:nvSpPr>
            <p:cNvPr id="24" name="TextBox 24"/>
            <p:cNvSpPr txBox="1"/>
            <p:nvPr/>
          </p:nvSpPr>
          <p:spPr>
            <a:xfrm>
              <a:off x="832104" y="3642360"/>
              <a:ext cx="25807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"gürültü" olarak değerlendirilir.</a:t>
              </a:r>
            </a:p>
          </p:txBody>
        </p:sp>
        <p:sp>
          <p:nvSpPr>
            <p:cNvPr id="25" name="TextBox 25"/>
            <p:cNvSpPr txBox="1"/>
            <p:nvPr/>
          </p:nvSpPr>
          <p:spPr>
            <a:xfrm>
              <a:off x="832104" y="3890010"/>
              <a:ext cx="3989809"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eps içinde ≥ min_samples komşu → çekirdek nokta</a:t>
              </a:r>
            </a:p>
          </p:txBody>
        </p:sp>
      </p:grpSp>
      <p:grpSp>
        <p:nvGrpSpPr>
          <p:cNvPr id="31" name="history"/>
          <p:cNvGrpSpPr/>
          <p:nvPr/>
        </p:nvGrpSpPr>
        <p:grpSpPr>
          <a:xfrm>
            <a:off x="609600" y="4362450"/>
            <a:ext cx="5905500" cy="1009650"/>
            <a:chOff x="609600" y="4362450"/>
            <a:chExt cx="5905500" cy="1009650"/>
          </a:xfrm>
        </p:grpSpPr>
        <p:sp>
          <p:nvSpPr>
            <p:cNvPr id="27" name="Rectangle 27"/>
            <p:cNvSpPr/>
            <p:nvPr/>
          </p:nvSpPr>
          <p:spPr>
            <a:xfrm>
              <a:off x="609600" y="4362450"/>
              <a:ext cx="5905500" cy="1009650"/>
            </a:xfrm>
            <a:prstGeom prst="roundRect">
              <a:avLst>
                <a:gd name="adj" fmla="val 7547"/>
              </a:avLst>
            </a:prstGeom>
            <a:solidFill>
              <a:srgbClr val="EAF4F6"/>
            </a:solidFill>
            <a:ln>
              <a:noFill/>
            </a:ln>
          </p:spPr>
        </p:sp>
        <p:sp>
          <p:nvSpPr>
            <p:cNvPr id="28" name="TextBox 28"/>
            <p:cNvSpPr txBox="1"/>
            <p:nvPr/>
          </p:nvSpPr>
          <p:spPr>
            <a:xfrm>
              <a:off x="831342" y="4483418"/>
              <a:ext cx="330178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1996 — Martin Ester ve arkadaşları</a:t>
              </a:r>
            </a:p>
          </p:txBody>
        </p:sp>
        <p:sp>
          <p:nvSpPr>
            <p:cNvPr id="29" name="TextBox 29"/>
            <p:cNvSpPr txBox="1"/>
            <p:nvPr/>
          </p:nvSpPr>
          <p:spPr>
            <a:xfrm>
              <a:off x="832104" y="4747260"/>
              <a:ext cx="33804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2014'te ACM SIGKDD "test of time" ödülü —</a:t>
              </a:r>
            </a:p>
          </p:txBody>
        </p:sp>
        <p:sp>
          <p:nvSpPr>
            <p:cNvPr id="30" name="TextBox 30"/>
            <p:cNvSpPr txBox="1"/>
            <p:nvPr/>
          </p:nvSpPr>
          <p:spPr>
            <a:xfrm>
              <a:off x="832104" y="4956810"/>
              <a:ext cx="28311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yıllar geçmesine rağmen hâlâ etkili.</a:t>
              </a:r>
            </a:p>
          </p:txBody>
        </p:sp>
      </p:grpSp>
      <p:grpSp>
        <p:nvGrpSpPr>
          <p:cNvPr id="60" name="density-plot"/>
          <p:cNvGrpSpPr/>
          <p:nvPr/>
        </p:nvGrpSpPr>
        <p:grpSpPr>
          <a:xfrm>
            <a:off x="7086600" y="1283018"/>
            <a:ext cx="3924300" cy="4647819"/>
            <a:chOff x="7086600" y="1283018"/>
            <a:chExt cx="3924300" cy="4647819"/>
          </a:xfrm>
        </p:grpSpPr>
        <p:sp>
          <p:nvSpPr>
            <p:cNvPr id="32" name="TextBox 32"/>
            <p:cNvSpPr txBox="1"/>
            <p:nvPr/>
          </p:nvSpPr>
          <p:spPr>
            <a:xfrm>
              <a:off x="7530954" y="1283018"/>
              <a:ext cx="3302293"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Çekirdek, sınır ve gürültü noktası</a:t>
              </a:r>
            </a:p>
          </p:txBody>
        </p:sp>
        <p:sp>
          <p:nvSpPr>
            <p:cNvPr id="33" name="Ellipse 33"/>
            <p:cNvSpPr/>
            <p:nvPr/>
          </p:nvSpPr>
          <p:spPr>
            <a:xfrm>
              <a:off x="8496300" y="2305050"/>
              <a:ext cx="1104900" cy="1104900"/>
            </a:xfrm>
            <a:prstGeom prst="ellipse">
              <a:avLst/>
            </a:prstGeom>
            <a:solidFill>
              <a:srgbClr val="00A6A6">
                <a:alpha val="12000"/>
              </a:srgbClr>
            </a:solidFill>
            <a:ln w="14288">
              <a:solidFill>
                <a:srgbClr val="00A6A6">
                  <a:alpha val="12000"/>
                </a:srgbClr>
              </a:solidFill>
              <a:custDash>
                <a:ds d="333333" sp="266667"/>
              </a:custDash>
            </a:ln>
          </p:spPr>
        </p:sp>
        <p:sp>
          <p:nvSpPr>
            <p:cNvPr id="34" name="Ellipse 34"/>
            <p:cNvSpPr/>
            <p:nvPr/>
          </p:nvSpPr>
          <p:spPr>
            <a:xfrm>
              <a:off x="9239250" y="3000375"/>
              <a:ext cx="571500" cy="571500"/>
            </a:xfrm>
            <a:prstGeom prst="ellipse">
              <a:avLst/>
            </a:prstGeom>
            <a:solidFill>
              <a:srgbClr val="2E86AB">
                <a:alpha val="12000"/>
              </a:srgbClr>
            </a:solidFill>
            <a:ln w="14288">
              <a:solidFill>
                <a:srgbClr val="2E86AB">
                  <a:alpha val="12000"/>
                </a:srgbClr>
              </a:solidFill>
              <a:custDash>
                <a:ds d="333333" sp="266667"/>
              </a:custDash>
            </a:ln>
          </p:spPr>
        </p:sp>
        <p:sp>
          <p:nvSpPr>
            <p:cNvPr id="35" name="Ellipse 35"/>
            <p:cNvSpPr/>
            <p:nvPr/>
          </p:nvSpPr>
          <p:spPr>
            <a:xfrm>
              <a:off x="8801100" y="2705100"/>
              <a:ext cx="114300" cy="114300"/>
            </a:xfrm>
            <a:prstGeom prst="ellipse">
              <a:avLst/>
            </a:prstGeom>
            <a:solidFill>
              <a:srgbClr val="2E86AB"/>
            </a:solidFill>
            <a:ln>
              <a:noFill/>
            </a:ln>
          </p:spPr>
        </p:sp>
        <p:sp>
          <p:nvSpPr>
            <p:cNvPr id="36" name="Ellipse 36"/>
            <p:cNvSpPr/>
            <p:nvPr/>
          </p:nvSpPr>
          <p:spPr>
            <a:xfrm>
              <a:off x="9134475" y="2609850"/>
              <a:ext cx="114300" cy="114300"/>
            </a:xfrm>
            <a:prstGeom prst="ellipse">
              <a:avLst/>
            </a:prstGeom>
            <a:solidFill>
              <a:srgbClr val="2E86AB"/>
            </a:solidFill>
            <a:ln>
              <a:noFill/>
            </a:ln>
          </p:spPr>
        </p:sp>
        <p:sp>
          <p:nvSpPr>
            <p:cNvPr id="37" name="Ellipse 37"/>
            <p:cNvSpPr/>
            <p:nvPr/>
          </p:nvSpPr>
          <p:spPr>
            <a:xfrm>
              <a:off x="8982075" y="2886075"/>
              <a:ext cx="133350" cy="133350"/>
            </a:xfrm>
            <a:prstGeom prst="ellipse">
              <a:avLst/>
            </a:prstGeom>
            <a:solidFill>
              <a:srgbClr val="12355B"/>
            </a:solidFill>
            <a:ln>
              <a:noFill/>
            </a:ln>
          </p:spPr>
        </p:sp>
        <p:sp>
          <p:nvSpPr>
            <p:cNvPr id="38" name="Ellipse 38"/>
            <p:cNvSpPr/>
            <p:nvPr/>
          </p:nvSpPr>
          <p:spPr>
            <a:xfrm>
              <a:off x="8705850" y="2990850"/>
              <a:ext cx="114300" cy="114300"/>
            </a:xfrm>
            <a:prstGeom prst="ellipse">
              <a:avLst/>
            </a:prstGeom>
            <a:solidFill>
              <a:srgbClr val="2E86AB"/>
            </a:solidFill>
            <a:ln>
              <a:noFill/>
            </a:ln>
          </p:spPr>
        </p:sp>
        <p:sp>
          <p:nvSpPr>
            <p:cNvPr id="39" name="Ellipse 39"/>
            <p:cNvSpPr/>
            <p:nvPr/>
          </p:nvSpPr>
          <p:spPr>
            <a:xfrm>
              <a:off x="9182100" y="2990850"/>
              <a:ext cx="114300" cy="114300"/>
            </a:xfrm>
            <a:prstGeom prst="ellipse">
              <a:avLst/>
            </a:prstGeom>
            <a:solidFill>
              <a:srgbClr val="2E86AB"/>
            </a:solidFill>
            <a:ln>
              <a:noFill/>
            </a:ln>
          </p:spPr>
        </p:sp>
        <p:sp>
          <p:nvSpPr>
            <p:cNvPr id="40" name="Ellipse 40"/>
            <p:cNvSpPr/>
            <p:nvPr/>
          </p:nvSpPr>
          <p:spPr>
            <a:xfrm>
              <a:off x="8896350" y="3181350"/>
              <a:ext cx="114300" cy="114300"/>
            </a:xfrm>
            <a:prstGeom prst="ellipse">
              <a:avLst/>
            </a:prstGeom>
            <a:solidFill>
              <a:srgbClr val="2E86AB"/>
            </a:solidFill>
            <a:ln>
              <a:noFill/>
            </a:ln>
          </p:spPr>
        </p:sp>
        <p:sp>
          <p:nvSpPr>
            <p:cNvPr id="41" name="Ellipse 41"/>
            <p:cNvSpPr/>
            <p:nvPr/>
          </p:nvSpPr>
          <p:spPr>
            <a:xfrm>
              <a:off x="8658225" y="2800350"/>
              <a:ext cx="114300" cy="114300"/>
            </a:xfrm>
            <a:prstGeom prst="ellipse">
              <a:avLst/>
            </a:prstGeom>
            <a:solidFill>
              <a:srgbClr val="2E86AB"/>
            </a:solidFill>
            <a:ln>
              <a:noFill/>
            </a:ln>
          </p:spPr>
        </p:sp>
        <p:sp>
          <p:nvSpPr>
            <p:cNvPr id="42" name="Ellipse 42"/>
            <p:cNvSpPr/>
            <p:nvPr/>
          </p:nvSpPr>
          <p:spPr>
            <a:xfrm>
              <a:off x="9277350" y="2800350"/>
              <a:ext cx="114300" cy="114300"/>
            </a:xfrm>
            <a:prstGeom prst="ellipse">
              <a:avLst/>
            </a:prstGeom>
            <a:solidFill>
              <a:srgbClr val="2E86AB"/>
            </a:solidFill>
            <a:ln>
              <a:noFill/>
            </a:ln>
          </p:spPr>
        </p:sp>
        <p:sp>
          <p:nvSpPr>
            <p:cNvPr id="43" name="Ellipse 43"/>
            <p:cNvSpPr/>
            <p:nvPr/>
          </p:nvSpPr>
          <p:spPr>
            <a:xfrm>
              <a:off x="9039225" y="2419350"/>
              <a:ext cx="114300" cy="114300"/>
            </a:xfrm>
            <a:prstGeom prst="ellipse">
              <a:avLst/>
            </a:prstGeom>
            <a:solidFill>
              <a:srgbClr val="2E86AB"/>
            </a:solidFill>
            <a:ln>
              <a:noFill/>
            </a:ln>
          </p:spPr>
        </p:sp>
        <p:sp>
          <p:nvSpPr>
            <p:cNvPr id="44" name="Ellipse 44"/>
            <p:cNvSpPr/>
            <p:nvPr/>
          </p:nvSpPr>
          <p:spPr>
            <a:xfrm>
              <a:off x="9467850" y="3228975"/>
              <a:ext cx="114300" cy="114300"/>
            </a:xfrm>
            <a:prstGeom prst="ellipse">
              <a:avLst/>
            </a:prstGeom>
            <a:solidFill>
              <a:srgbClr val="FFFFFF"/>
            </a:solidFill>
            <a:ln w="19050">
              <a:solidFill>
                <a:srgbClr val="2E86AB"/>
              </a:solidFill>
            </a:ln>
          </p:spPr>
        </p:sp>
        <p:sp>
          <p:nvSpPr>
            <p:cNvPr id="45" name="TextBox 45"/>
            <p:cNvSpPr txBox="1"/>
            <p:nvPr/>
          </p:nvSpPr>
          <p:spPr>
            <a:xfrm>
              <a:off x="9710166" y="3220402"/>
              <a:ext cx="985990"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sınır noktası</a:t>
              </a:r>
            </a:p>
          </p:txBody>
        </p:sp>
        <p:sp>
          <p:nvSpPr>
            <p:cNvPr id="46" name="TextBox 46"/>
            <p:cNvSpPr txBox="1"/>
            <p:nvPr/>
          </p:nvSpPr>
          <p:spPr>
            <a:xfrm>
              <a:off x="8509109" y="2458402"/>
              <a:ext cx="1079282" cy="205359"/>
            </a:xfrm>
            <a:prstGeom prst="rect">
              <a:avLst/>
            </a:prstGeom>
            <a:noFill/>
            <a:ln>
              <a:noFill/>
            </a:ln>
          </p:spPr>
          <p:txBody>
            <a:bodyPr wrap="none" lIns="0" tIns="0" rIns="0" bIns="0" anchor="t" anchorCtr="0">
              <a:spAutoFit/>
            </a:bodyPr>
            <a:lstStyle/>
            <a:p>
              <a:pPr algn="ctr"/>
              <a:r>
                <a:rPr lang="tr-TR" sz="1050" b="1" dirty="0">
                  <a:solidFill>
                    <a:srgbClr val="12355B"/>
                  </a:solidFill>
                  <a:latin typeface="+mn-lt"/>
                  <a:ea typeface="+mn-ea"/>
                  <a:cs typeface="+mn-cs"/>
                </a:rPr>
                <a:t>çekirdek (eps)</a:t>
              </a:r>
            </a:p>
          </p:txBody>
        </p:sp>
        <p:sp>
          <p:nvSpPr>
            <p:cNvPr id="47" name="Ellipse 47"/>
            <p:cNvSpPr/>
            <p:nvPr/>
          </p:nvSpPr>
          <p:spPr>
            <a:xfrm>
              <a:off x="7181850" y="5086350"/>
              <a:ext cx="114300" cy="114300"/>
            </a:xfrm>
            <a:prstGeom prst="ellipse">
              <a:avLst/>
            </a:prstGeom>
            <a:solidFill>
              <a:srgbClr val="F7FAFC"/>
            </a:solidFill>
            <a:ln w="19050">
              <a:solidFill>
                <a:srgbClr val="52616B"/>
              </a:solidFill>
            </a:ln>
          </p:spPr>
        </p:sp>
        <p:sp>
          <p:nvSpPr>
            <p:cNvPr id="48" name="TextBox 48"/>
            <p:cNvSpPr txBox="1"/>
            <p:nvPr/>
          </p:nvSpPr>
          <p:spPr>
            <a:xfrm>
              <a:off x="7376541" y="5077778"/>
              <a:ext cx="87290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gürültü (-1)</a:t>
              </a:r>
            </a:p>
          </p:txBody>
        </p:sp>
        <p:sp>
          <p:nvSpPr>
            <p:cNvPr id="49" name="Ellipse 49"/>
            <p:cNvSpPr/>
            <p:nvPr/>
          </p:nvSpPr>
          <p:spPr>
            <a:xfrm>
              <a:off x="10896600" y="1847850"/>
              <a:ext cx="114300" cy="114300"/>
            </a:xfrm>
            <a:prstGeom prst="ellipse">
              <a:avLst/>
            </a:prstGeom>
            <a:solidFill>
              <a:srgbClr val="F7FAFC"/>
            </a:solidFill>
            <a:ln w="19050">
              <a:solidFill>
                <a:srgbClr val="52616B"/>
              </a:solidFill>
            </a:ln>
          </p:spPr>
        </p:sp>
        <p:sp>
          <p:nvSpPr>
            <p:cNvPr id="50" name="TextBox 50"/>
            <p:cNvSpPr txBox="1"/>
            <p:nvPr/>
          </p:nvSpPr>
          <p:spPr>
            <a:xfrm>
              <a:off x="9800425" y="1677352"/>
              <a:ext cx="872909" cy="205359"/>
            </a:xfrm>
            <a:prstGeom prst="rect">
              <a:avLst/>
            </a:prstGeom>
            <a:noFill/>
            <a:ln>
              <a:noFill/>
            </a:ln>
          </p:spPr>
          <p:txBody>
            <a:bodyPr wrap="none" lIns="0" tIns="0" rIns="0" bIns="0" anchor="t" anchorCtr="0">
              <a:spAutoFit/>
            </a:bodyPr>
            <a:lstStyle/>
            <a:p>
              <a:pPr algn="r"/>
              <a:r>
                <a:rPr lang="tr-TR" sz="1050" dirty="0">
                  <a:solidFill>
                    <a:srgbClr val="52616B"/>
                  </a:solidFill>
                  <a:latin typeface="+mn-lt"/>
                  <a:ea typeface="+mn-ea"/>
                  <a:cs typeface="+mn-cs"/>
                </a:rPr>
                <a:t>gürültü (-1)</a:t>
              </a:r>
            </a:p>
          </p:txBody>
        </p:sp>
        <p:sp>
          <p:nvSpPr>
            <p:cNvPr id="51" name="Ellipse 51"/>
            <p:cNvSpPr/>
            <p:nvPr/>
          </p:nvSpPr>
          <p:spPr>
            <a:xfrm>
              <a:off x="10801350" y="5276850"/>
              <a:ext cx="114300" cy="114300"/>
            </a:xfrm>
            <a:prstGeom prst="ellipse">
              <a:avLst/>
            </a:prstGeom>
            <a:solidFill>
              <a:srgbClr val="F7FAFC"/>
            </a:solidFill>
            <a:ln w="19050">
              <a:solidFill>
                <a:srgbClr val="52616B"/>
              </a:solidFill>
            </a:ln>
          </p:spPr>
        </p:sp>
        <p:sp>
          <p:nvSpPr>
            <p:cNvPr id="52" name="TextBox 52"/>
            <p:cNvSpPr txBox="1"/>
            <p:nvPr/>
          </p:nvSpPr>
          <p:spPr>
            <a:xfrm>
              <a:off x="9705175" y="5268278"/>
              <a:ext cx="872909" cy="205359"/>
            </a:xfrm>
            <a:prstGeom prst="rect">
              <a:avLst/>
            </a:prstGeom>
            <a:noFill/>
            <a:ln>
              <a:noFill/>
            </a:ln>
          </p:spPr>
          <p:txBody>
            <a:bodyPr wrap="none" lIns="0" tIns="0" rIns="0" bIns="0" anchor="t" anchorCtr="0">
              <a:spAutoFit/>
            </a:bodyPr>
            <a:lstStyle/>
            <a:p>
              <a:pPr algn="r"/>
              <a:r>
                <a:rPr lang="tr-TR" sz="1050" dirty="0">
                  <a:solidFill>
                    <a:srgbClr val="52616B"/>
                  </a:solidFill>
                  <a:latin typeface="+mn-lt"/>
                  <a:ea typeface="+mn-ea"/>
                  <a:cs typeface="+mn-cs"/>
                </a:rPr>
                <a:t>gürültü (-1)</a:t>
              </a:r>
            </a:p>
          </p:txBody>
        </p:sp>
        <p:grpSp>
          <p:nvGrpSpPr>
            <p:cNvPr id="59" name="density-legend"/>
            <p:cNvGrpSpPr/>
            <p:nvPr/>
          </p:nvGrpSpPr>
          <p:grpSpPr>
            <a:xfrm>
              <a:off x="7086600" y="5725478"/>
              <a:ext cx="2419198" cy="205359"/>
              <a:chOff x="7086600" y="5725478"/>
              <a:chExt cx="2419198" cy="205359"/>
            </a:xfrm>
          </p:grpSpPr>
          <p:sp>
            <p:nvSpPr>
              <p:cNvPr id="53" name="Ellipse 53"/>
              <p:cNvSpPr/>
              <p:nvPr/>
            </p:nvSpPr>
            <p:spPr>
              <a:xfrm>
                <a:off x="7086600" y="5734050"/>
                <a:ext cx="114300" cy="114300"/>
              </a:xfrm>
              <a:prstGeom prst="ellipse">
                <a:avLst/>
              </a:prstGeom>
              <a:solidFill>
                <a:srgbClr val="12355B"/>
              </a:solidFill>
              <a:ln>
                <a:noFill/>
              </a:ln>
            </p:spPr>
          </p:sp>
          <p:sp>
            <p:nvSpPr>
              <p:cNvPr id="54" name="TextBox 54"/>
              <p:cNvSpPr txBox="1"/>
              <p:nvPr/>
            </p:nvSpPr>
            <p:spPr>
              <a:xfrm>
                <a:off x="7271766" y="5725478"/>
                <a:ext cx="59727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çekirdek</a:t>
                </a:r>
              </a:p>
            </p:txBody>
          </p:sp>
          <p:sp>
            <p:nvSpPr>
              <p:cNvPr id="55" name="Ellipse 55"/>
              <p:cNvSpPr/>
              <p:nvPr/>
            </p:nvSpPr>
            <p:spPr>
              <a:xfrm>
                <a:off x="8039100" y="5734050"/>
                <a:ext cx="114300" cy="114300"/>
              </a:xfrm>
              <a:prstGeom prst="ellipse">
                <a:avLst/>
              </a:prstGeom>
              <a:solidFill>
                <a:srgbClr val="FFFFFF"/>
              </a:solidFill>
              <a:ln w="19050">
                <a:solidFill>
                  <a:srgbClr val="2E86AB"/>
                </a:solidFill>
              </a:ln>
            </p:spPr>
          </p:sp>
          <p:sp>
            <p:nvSpPr>
              <p:cNvPr id="56" name="TextBox 56"/>
              <p:cNvSpPr txBox="1"/>
              <p:nvPr/>
            </p:nvSpPr>
            <p:spPr>
              <a:xfrm>
                <a:off x="8224266" y="5725478"/>
                <a:ext cx="39938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sınır</a:t>
                </a:r>
              </a:p>
            </p:txBody>
          </p:sp>
          <p:sp>
            <p:nvSpPr>
              <p:cNvPr id="57" name="Ellipse 57"/>
              <p:cNvSpPr/>
              <p:nvPr/>
            </p:nvSpPr>
            <p:spPr>
              <a:xfrm>
                <a:off x="8801100" y="5734050"/>
                <a:ext cx="114300" cy="114300"/>
              </a:xfrm>
              <a:prstGeom prst="ellipse">
                <a:avLst/>
              </a:prstGeom>
              <a:solidFill>
                <a:srgbClr val="F7FAFC"/>
              </a:solidFill>
              <a:ln w="19050">
                <a:solidFill>
                  <a:srgbClr val="52616B"/>
                </a:solidFill>
              </a:ln>
            </p:spPr>
          </p:sp>
          <p:sp>
            <p:nvSpPr>
              <p:cNvPr id="58" name="TextBox 58"/>
              <p:cNvSpPr txBox="1"/>
              <p:nvPr/>
            </p:nvSpPr>
            <p:spPr>
              <a:xfrm>
                <a:off x="8986266" y="5725478"/>
                <a:ext cx="519532"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gürültü</a:t>
                </a:r>
              </a:p>
            </p:txBody>
          </p:sp>
        </p:grpSp>
      </p:grpSp>
      <p:sp>
        <p:nvSpPr>
          <p:cNvPr id="61" name="TextBox 6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23</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046970" cy="668845"/>
            <a:chOff x="609600" y="171450"/>
            <a:chExt cx="8046970"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735659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DBSCAN ve K-Means: küme şekli farkı</a:t>
              </a:r>
            </a:p>
          </p:txBody>
        </p:sp>
      </p:grpSp>
      <p:grpSp>
        <p:nvGrpSpPr>
          <p:cNvPr id="15" name="intro"/>
          <p:cNvGrpSpPr/>
          <p:nvPr/>
        </p:nvGrpSpPr>
        <p:grpSpPr>
          <a:xfrm>
            <a:off x="602742" y="1283018"/>
            <a:ext cx="7659377" cy="511683"/>
            <a:chOff x="602742" y="1283018"/>
            <a:chExt cx="7659377" cy="511683"/>
          </a:xfrm>
        </p:grpSpPr>
        <p:sp>
          <p:nvSpPr>
            <p:cNvPr id="13" name="TextBox 13"/>
            <p:cNvSpPr txBox="1"/>
            <p:nvPr/>
          </p:nvSpPr>
          <p:spPr>
            <a:xfrm>
              <a:off x="602742" y="1283018"/>
              <a:ext cx="765937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make_moons veri setinde (iki iç içe geçmiş hilal) K-Means'in küresel varsayımı çöker;</a:t>
              </a:r>
            </a:p>
          </p:txBody>
        </p:sp>
        <p:sp>
          <p:nvSpPr>
            <p:cNvPr id="14" name="TextBox 14"/>
            <p:cNvSpPr txBox="1"/>
            <p:nvPr/>
          </p:nvSpPr>
          <p:spPr>
            <a:xfrm>
              <a:off x="602742" y="1530668"/>
              <a:ext cx="568173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DBSCAN ise yoğunluğu takip ederek hilal şekillerini doğru ayırır.</a:t>
              </a:r>
            </a:p>
          </p:txBody>
        </p:sp>
      </p:grpSp>
      <p:grpSp>
        <p:nvGrpSpPr>
          <p:cNvPr id="41" name="kmeans-panel"/>
          <p:cNvGrpSpPr/>
          <p:nvPr/>
        </p:nvGrpSpPr>
        <p:grpSpPr>
          <a:xfrm>
            <a:off x="609600" y="2000250"/>
            <a:ext cx="5257800" cy="3238500"/>
            <a:chOff x="609600" y="2000250"/>
            <a:chExt cx="5257800" cy="3238500"/>
          </a:xfrm>
        </p:grpSpPr>
        <p:sp>
          <p:nvSpPr>
            <p:cNvPr id="16" name="Rectangle 16"/>
            <p:cNvSpPr/>
            <p:nvPr/>
          </p:nvSpPr>
          <p:spPr>
            <a:xfrm>
              <a:off x="609600" y="2000250"/>
              <a:ext cx="5257800" cy="3238500"/>
            </a:xfrm>
            <a:prstGeom prst="roundRect">
              <a:avLst>
                <a:gd name="adj" fmla="val 2941"/>
              </a:avLst>
            </a:prstGeom>
            <a:solidFill>
              <a:srgbClr val="FFFFFF"/>
            </a:solidFill>
            <a:ln w="14288">
              <a:solidFill>
                <a:srgbClr val="B8CBD3"/>
              </a:solidFill>
            </a:ln>
          </p:spPr>
        </p:sp>
        <p:sp>
          <p:nvSpPr>
            <p:cNvPr id="17" name="TextBox 17"/>
            <p:cNvSpPr txBox="1"/>
            <p:nvPr/>
          </p:nvSpPr>
          <p:spPr>
            <a:xfrm>
              <a:off x="2466013" y="2124075"/>
              <a:ext cx="1544974" cy="293370"/>
            </a:xfrm>
            <a:prstGeom prst="rect">
              <a:avLst/>
            </a:prstGeom>
            <a:noFill/>
            <a:ln>
              <a:noFill/>
            </a:ln>
          </p:spPr>
          <p:txBody>
            <a:bodyPr wrap="none" lIns="0" tIns="0" rIns="0" bIns="0" anchor="t" anchorCtr="0">
              <a:spAutoFit/>
            </a:bodyPr>
            <a:lstStyle/>
            <a:p>
              <a:pPr algn="ctr"/>
              <a:r>
                <a:rPr lang="tr-TR" sz="1500" b="1" dirty="0">
                  <a:solidFill>
                    <a:srgbClr val="12355B"/>
                  </a:solidFill>
                  <a:latin typeface="+mn-lt"/>
                  <a:ea typeface="+mn-ea"/>
                  <a:cs typeface="+mn-cs"/>
                </a:rPr>
                <a:t>K-Means (k=2)</a:t>
              </a:r>
            </a:p>
          </p:txBody>
        </p:sp>
        <p:sp>
          <p:nvSpPr>
            <p:cNvPr id="18" name="Line 18"/>
            <p:cNvSpPr/>
            <p:nvPr/>
          </p:nvSpPr>
          <p:spPr>
            <a:xfrm>
              <a:off x="857250" y="2095500"/>
              <a:ext cx="2286000" cy="1524000"/>
            </a:xfrm>
            <a:custGeom>
              <a:avLst/>
              <a:gdLst/>
              <a:ahLst/>
              <a:cxnLst/>
              <a:rect l="l" t="t" r="r" b="b"/>
              <a:pathLst>
                <a:path w="2286000" h="1524000">
                  <a:moveTo>
                    <a:pt x="0" y="1524000"/>
                  </a:moveTo>
                  <a:lnTo>
                    <a:pt x="2286000" y="0"/>
                  </a:lnTo>
                </a:path>
              </a:pathLst>
            </a:custGeom>
            <a:noFill/>
            <a:ln w="14288">
              <a:solidFill>
                <a:srgbClr val="2E86AB"/>
              </a:solidFill>
              <a:prstDash val="dash"/>
            </a:ln>
          </p:spPr>
        </p:sp>
        <p:sp>
          <p:nvSpPr>
            <p:cNvPr id="19" name="Ellipse 19"/>
            <p:cNvSpPr/>
            <p:nvPr/>
          </p:nvSpPr>
          <p:spPr>
            <a:xfrm>
              <a:off x="1390650" y="3105150"/>
              <a:ext cx="76200" cy="76200"/>
            </a:xfrm>
            <a:prstGeom prst="ellipse">
              <a:avLst/>
            </a:prstGeom>
            <a:solidFill>
              <a:srgbClr val="2E86AB"/>
            </a:solidFill>
            <a:ln>
              <a:noFill/>
            </a:ln>
          </p:spPr>
        </p:sp>
        <p:sp>
          <p:nvSpPr>
            <p:cNvPr id="20" name="Ellipse 20"/>
            <p:cNvSpPr/>
            <p:nvPr/>
          </p:nvSpPr>
          <p:spPr>
            <a:xfrm>
              <a:off x="1628775" y="2819400"/>
              <a:ext cx="76200" cy="76200"/>
            </a:xfrm>
            <a:prstGeom prst="ellipse">
              <a:avLst/>
            </a:prstGeom>
            <a:solidFill>
              <a:srgbClr val="12355B"/>
            </a:solidFill>
            <a:ln>
              <a:noFill/>
            </a:ln>
          </p:spPr>
        </p:sp>
        <p:sp>
          <p:nvSpPr>
            <p:cNvPr id="21" name="Ellipse 21"/>
            <p:cNvSpPr/>
            <p:nvPr/>
          </p:nvSpPr>
          <p:spPr>
            <a:xfrm>
              <a:off x="1866900" y="3438525"/>
              <a:ext cx="76200" cy="76200"/>
            </a:xfrm>
            <a:prstGeom prst="ellipse">
              <a:avLst/>
            </a:prstGeom>
            <a:solidFill>
              <a:srgbClr val="2E86AB"/>
            </a:solidFill>
            <a:ln>
              <a:noFill/>
            </a:ln>
          </p:spPr>
        </p:sp>
        <p:sp>
          <p:nvSpPr>
            <p:cNvPr id="22" name="Ellipse 22"/>
            <p:cNvSpPr/>
            <p:nvPr/>
          </p:nvSpPr>
          <p:spPr>
            <a:xfrm>
              <a:off x="2152650" y="2724150"/>
              <a:ext cx="76200" cy="76200"/>
            </a:xfrm>
            <a:prstGeom prst="ellipse">
              <a:avLst/>
            </a:prstGeom>
            <a:solidFill>
              <a:srgbClr val="12355B"/>
            </a:solidFill>
            <a:ln>
              <a:noFill/>
            </a:ln>
          </p:spPr>
        </p:sp>
        <p:sp>
          <p:nvSpPr>
            <p:cNvPr id="23" name="Ellipse 23"/>
            <p:cNvSpPr/>
            <p:nvPr/>
          </p:nvSpPr>
          <p:spPr>
            <a:xfrm>
              <a:off x="2438400" y="3771900"/>
              <a:ext cx="76200" cy="76200"/>
            </a:xfrm>
            <a:prstGeom prst="ellipse">
              <a:avLst/>
            </a:prstGeom>
            <a:solidFill>
              <a:srgbClr val="2E86AB"/>
            </a:solidFill>
            <a:ln>
              <a:noFill/>
            </a:ln>
          </p:spPr>
        </p:sp>
        <p:sp>
          <p:nvSpPr>
            <p:cNvPr id="24" name="Ellipse 24"/>
            <p:cNvSpPr/>
            <p:nvPr/>
          </p:nvSpPr>
          <p:spPr>
            <a:xfrm>
              <a:off x="2819400" y="2533650"/>
              <a:ext cx="76200" cy="76200"/>
            </a:xfrm>
            <a:prstGeom prst="ellipse">
              <a:avLst/>
            </a:prstGeom>
            <a:solidFill>
              <a:srgbClr val="12355B"/>
            </a:solidFill>
            <a:ln>
              <a:noFill/>
            </a:ln>
          </p:spPr>
        </p:sp>
        <p:sp>
          <p:nvSpPr>
            <p:cNvPr id="25" name="Ellipse 25"/>
            <p:cNvSpPr/>
            <p:nvPr/>
          </p:nvSpPr>
          <p:spPr>
            <a:xfrm>
              <a:off x="3105150" y="3962400"/>
              <a:ext cx="76200" cy="76200"/>
            </a:xfrm>
            <a:prstGeom prst="ellipse">
              <a:avLst/>
            </a:prstGeom>
            <a:solidFill>
              <a:srgbClr val="2E86AB"/>
            </a:solidFill>
            <a:ln>
              <a:noFill/>
            </a:ln>
          </p:spPr>
        </p:sp>
        <p:sp>
          <p:nvSpPr>
            <p:cNvPr id="26" name="Ellipse 26"/>
            <p:cNvSpPr/>
            <p:nvPr/>
          </p:nvSpPr>
          <p:spPr>
            <a:xfrm>
              <a:off x="3486150" y="2438400"/>
              <a:ext cx="76200" cy="76200"/>
            </a:xfrm>
            <a:prstGeom prst="ellipse">
              <a:avLst/>
            </a:prstGeom>
            <a:solidFill>
              <a:srgbClr val="12355B"/>
            </a:solidFill>
            <a:ln>
              <a:noFill/>
            </a:ln>
          </p:spPr>
        </p:sp>
        <p:sp>
          <p:nvSpPr>
            <p:cNvPr id="27" name="Ellipse 27"/>
            <p:cNvSpPr/>
            <p:nvPr/>
          </p:nvSpPr>
          <p:spPr>
            <a:xfrm>
              <a:off x="3867150" y="4057650"/>
              <a:ext cx="76200" cy="76200"/>
            </a:xfrm>
            <a:prstGeom prst="ellipse">
              <a:avLst/>
            </a:prstGeom>
            <a:solidFill>
              <a:srgbClr val="2E86AB"/>
            </a:solidFill>
            <a:ln>
              <a:noFill/>
            </a:ln>
          </p:spPr>
        </p:sp>
        <p:sp>
          <p:nvSpPr>
            <p:cNvPr id="28" name="Ellipse 28"/>
            <p:cNvSpPr/>
            <p:nvPr/>
          </p:nvSpPr>
          <p:spPr>
            <a:xfrm>
              <a:off x="4248150" y="2533650"/>
              <a:ext cx="76200" cy="76200"/>
            </a:xfrm>
            <a:prstGeom prst="ellipse">
              <a:avLst/>
            </a:prstGeom>
            <a:solidFill>
              <a:srgbClr val="12355B"/>
            </a:solidFill>
            <a:ln>
              <a:noFill/>
            </a:ln>
          </p:spPr>
        </p:sp>
        <p:sp>
          <p:nvSpPr>
            <p:cNvPr id="29" name="Ellipse 29"/>
            <p:cNvSpPr/>
            <p:nvPr/>
          </p:nvSpPr>
          <p:spPr>
            <a:xfrm>
              <a:off x="4629150" y="4152900"/>
              <a:ext cx="76200" cy="76200"/>
            </a:xfrm>
            <a:prstGeom prst="ellipse">
              <a:avLst/>
            </a:prstGeom>
            <a:solidFill>
              <a:srgbClr val="2E86AB"/>
            </a:solidFill>
            <a:ln>
              <a:noFill/>
            </a:ln>
          </p:spPr>
        </p:sp>
        <p:sp>
          <p:nvSpPr>
            <p:cNvPr id="30" name="Ellipse 30"/>
            <p:cNvSpPr/>
            <p:nvPr/>
          </p:nvSpPr>
          <p:spPr>
            <a:xfrm>
              <a:off x="5010150" y="2724150"/>
              <a:ext cx="76200" cy="76200"/>
            </a:xfrm>
            <a:prstGeom prst="ellipse">
              <a:avLst/>
            </a:prstGeom>
            <a:solidFill>
              <a:srgbClr val="12355B"/>
            </a:solidFill>
            <a:ln>
              <a:noFill/>
            </a:ln>
          </p:spPr>
        </p:sp>
        <p:sp>
          <p:nvSpPr>
            <p:cNvPr id="31" name="Ellipse 31"/>
            <p:cNvSpPr/>
            <p:nvPr/>
          </p:nvSpPr>
          <p:spPr>
            <a:xfrm>
              <a:off x="5295900" y="4248150"/>
              <a:ext cx="76200" cy="76200"/>
            </a:xfrm>
            <a:prstGeom prst="ellipse">
              <a:avLst/>
            </a:prstGeom>
            <a:solidFill>
              <a:srgbClr val="2E86AB"/>
            </a:solidFill>
            <a:ln>
              <a:noFill/>
            </a:ln>
          </p:spPr>
        </p:sp>
        <p:sp>
          <p:nvSpPr>
            <p:cNvPr id="32" name="Ellipse 32"/>
            <p:cNvSpPr/>
            <p:nvPr/>
          </p:nvSpPr>
          <p:spPr>
            <a:xfrm>
              <a:off x="1771650" y="2438400"/>
              <a:ext cx="76200" cy="76200"/>
            </a:xfrm>
            <a:prstGeom prst="ellipse">
              <a:avLst/>
            </a:prstGeom>
            <a:solidFill>
              <a:srgbClr val="2E86AB"/>
            </a:solidFill>
            <a:ln>
              <a:noFill/>
            </a:ln>
          </p:spPr>
        </p:sp>
        <p:sp>
          <p:nvSpPr>
            <p:cNvPr id="33" name="Ellipse 33"/>
            <p:cNvSpPr/>
            <p:nvPr/>
          </p:nvSpPr>
          <p:spPr>
            <a:xfrm>
              <a:off x="2247900" y="2247900"/>
              <a:ext cx="76200" cy="76200"/>
            </a:xfrm>
            <a:prstGeom prst="ellipse">
              <a:avLst/>
            </a:prstGeom>
            <a:solidFill>
              <a:srgbClr val="12355B"/>
            </a:solidFill>
            <a:ln>
              <a:noFill/>
            </a:ln>
          </p:spPr>
        </p:sp>
        <p:sp>
          <p:nvSpPr>
            <p:cNvPr id="34" name="Ellipse 34"/>
            <p:cNvSpPr/>
            <p:nvPr/>
          </p:nvSpPr>
          <p:spPr>
            <a:xfrm>
              <a:off x="2724150" y="2152650"/>
              <a:ext cx="76200" cy="76200"/>
            </a:xfrm>
            <a:prstGeom prst="ellipse">
              <a:avLst/>
            </a:prstGeom>
            <a:solidFill>
              <a:srgbClr val="2E86AB"/>
            </a:solidFill>
            <a:ln>
              <a:noFill/>
            </a:ln>
          </p:spPr>
        </p:sp>
        <p:sp>
          <p:nvSpPr>
            <p:cNvPr id="35" name="Ellipse 35"/>
            <p:cNvSpPr/>
            <p:nvPr/>
          </p:nvSpPr>
          <p:spPr>
            <a:xfrm>
              <a:off x="3295650" y="4533900"/>
              <a:ext cx="76200" cy="76200"/>
            </a:xfrm>
            <a:prstGeom prst="ellipse">
              <a:avLst/>
            </a:prstGeom>
            <a:solidFill>
              <a:srgbClr val="12355B"/>
            </a:solidFill>
            <a:ln>
              <a:noFill/>
            </a:ln>
          </p:spPr>
        </p:sp>
        <p:sp>
          <p:nvSpPr>
            <p:cNvPr id="36" name="Ellipse 36"/>
            <p:cNvSpPr/>
            <p:nvPr/>
          </p:nvSpPr>
          <p:spPr>
            <a:xfrm>
              <a:off x="3962400" y="4629150"/>
              <a:ext cx="76200" cy="76200"/>
            </a:xfrm>
            <a:prstGeom prst="ellipse">
              <a:avLst/>
            </a:prstGeom>
            <a:solidFill>
              <a:srgbClr val="2E86AB"/>
            </a:solidFill>
            <a:ln>
              <a:noFill/>
            </a:ln>
          </p:spPr>
        </p:sp>
        <p:sp>
          <p:nvSpPr>
            <p:cNvPr id="37" name="Ellipse 37"/>
            <p:cNvSpPr/>
            <p:nvPr/>
          </p:nvSpPr>
          <p:spPr>
            <a:xfrm>
              <a:off x="4533900" y="4533900"/>
              <a:ext cx="76200" cy="76200"/>
            </a:xfrm>
            <a:prstGeom prst="ellipse">
              <a:avLst/>
            </a:prstGeom>
            <a:solidFill>
              <a:srgbClr val="12355B"/>
            </a:solidFill>
            <a:ln>
              <a:noFill/>
            </a:ln>
          </p:spPr>
        </p:sp>
        <p:sp>
          <p:nvSpPr>
            <p:cNvPr id="38" name="Ellipse 38"/>
            <p:cNvSpPr/>
            <p:nvPr/>
          </p:nvSpPr>
          <p:spPr>
            <a:xfrm>
              <a:off x="2514600" y="3086100"/>
              <a:ext cx="114300" cy="114300"/>
            </a:xfrm>
            <a:prstGeom prst="ellipse">
              <a:avLst/>
            </a:prstGeom>
            <a:solidFill>
              <a:srgbClr val="12355B"/>
            </a:solidFill>
            <a:ln w="14288">
              <a:solidFill>
                <a:srgbClr val="FFFFFF"/>
              </a:solidFill>
            </a:ln>
          </p:spPr>
        </p:sp>
        <p:sp>
          <p:nvSpPr>
            <p:cNvPr id="39" name="Ellipse 39"/>
            <p:cNvSpPr/>
            <p:nvPr/>
          </p:nvSpPr>
          <p:spPr>
            <a:xfrm>
              <a:off x="3276600" y="3181350"/>
              <a:ext cx="114300" cy="114300"/>
            </a:xfrm>
            <a:prstGeom prst="ellipse">
              <a:avLst/>
            </a:prstGeom>
            <a:solidFill>
              <a:srgbClr val="2E86AB"/>
            </a:solidFill>
            <a:ln w="14288">
              <a:solidFill>
                <a:srgbClr val="FFFFFF"/>
              </a:solidFill>
            </a:ln>
          </p:spPr>
        </p:sp>
        <p:sp>
          <p:nvSpPr>
            <p:cNvPr id="40" name="TextBox 40"/>
            <p:cNvSpPr txBox="1"/>
            <p:nvPr/>
          </p:nvSpPr>
          <p:spPr>
            <a:xfrm>
              <a:off x="1178271" y="4842510"/>
              <a:ext cx="4120459"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Doğrusal sınır hilalleri ikiye böler — yanlış gruplama</a:t>
              </a:r>
            </a:p>
          </p:txBody>
        </p:sp>
      </p:grpSp>
      <p:grpSp>
        <p:nvGrpSpPr>
          <p:cNvPr id="65" name="dbscan-panel"/>
          <p:cNvGrpSpPr/>
          <p:nvPr/>
        </p:nvGrpSpPr>
        <p:grpSpPr>
          <a:xfrm>
            <a:off x="6324600" y="2000250"/>
            <a:ext cx="5524500" cy="3238500"/>
            <a:chOff x="6324600" y="2000250"/>
            <a:chExt cx="5524500" cy="3238500"/>
          </a:xfrm>
        </p:grpSpPr>
        <p:sp>
          <p:nvSpPr>
            <p:cNvPr id="42" name="Rectangle 42"/>
            <p:cNvSpPr/>
            <p:nvPr/>
          </p:nvSpPr>
          <p:spPr>
            <a:xfrm>
              <a:off x="6324600" y="2000250"/>
              <a:ext cx="5257800" cy="3238500"/>
            </a:xfrm>
            <a:prstGeom prst="roundRect">
              <a:avLst>
                <a:gd name="adj" fmla="val 2941"/>
              </a:avLst>
            </a:prstGeom>
            <a:solidFill>
              <a:srgbClr val="FFFFFF"/>
            </a:solidFill>
            <a:ln w="14288">
              <a:solidFill>
                <a:srgbClr val="00A6A6"/>
              </a:solidFill>
            </a:ln>
          </p:spPr>
        </p:sp>
        <p:sp>
          <p:nvSpPr>
            <p:cNvPr id="43" name="TextBox 43"/>
            <p:cNvSpPr txBox="1"/>
            <p:nvPr/>
          </p:nvSpPr>
          <p:spPr>
            <a:xfrm>
              <a:off x="8005262" y="2124075"/>
              <a:ext cx="1896475" cy="293370"/>
            </a:xfrm>
            <a:prstGeom prst="rect">
              <a:avLst/>
            </a:prstGeom>
            <a:noFill/>
            <a:ln>
              <a:noFill/>
            </a:ln>
          </p:spPr>
          <p:txBody>
            <a:bodyPr wrap="none" lIns="0" tIns="0" rIns="0" bIns="0" anchor="t" anchorCtr="0">
              <a:spAutoFit/>
            </a:bodyPr>
            <a:lstStyle/>
            <a:p>
              <a:pPr algn="ctr"/>
              <a:r>
                <a:rPr lang="tr-TR" sz="1500" b="1" dirty="0">
                  <a:solidFill>
                    <a:srgbClr val="12355B"/>
                  </a:solidFill>
                  <a:latin typeface="+mn-lt"/>
                  <a:ea typeface="+mn-ea"/>
                  <a:cs typeface="+mn-cs"/>
                </a:rPr>
                <a:t>DBSCAN (eps=0,3)</a:t>
              </a:r>
            </a:p>
          </p:txBody>
        </p:sp>
        <p:sp>
          <p:nvSpPr>
            <p:cNvPr id="44" name="Ellipse 44"/>
            <p:cNvSpPr/>
            <p:nvPr/>
          </p:nvSpPr>
          <p:spPr>
            <a:xfrm>
              <a:off x="7105650" y="3105150"/>
              <a:ext cx="76200" cy="76200"/>
            </a:xfrm>
            <a:prstGeom prst="ellipse">
              <a:avLst/>
            </a:prstGeom>
            <a:solidFill>
              <a:srgbClr val="00A6A6"/>
            </a:solidFill>
            <a:ln>
              <a:noFill/>
            </a:ln>
          </p:spPr>
        </p:sp>
        <p:sp>
          <p:nvSpPr>
            <p:cNvPr id="45" name="Ellipse 45"/>
            <p:cNvSpPr/>
            <p:nvPr/>
          </p:nvSpPr>
          <p:spPr>
            <a:xfrm>
              <a:off x="7343775" y="2819400"/>
              <a:ext cx="76200" cy="76200"/>
            </a:xfrm>
            <a:prstGeom prst="ellipse">
              <a:avLst/>
            </a:prstGeom>
            <a:solidFill>
              <a:srgbClr val="00A6A6"/>
            </a:solidFill>
            <a:ln>
              <a:noFill/>
            </a:ln>
          </p:spPr>
        </p:sp>
        <p:sp>
          <p:nvSpPr>
            <p:cNvPr id="46" name="Ellipse 46"/>
            <p:cNvSpPr/>
            <p:nvPr/>
          </p:nvSpPr>
          <p:spPr>
            <a:xfrm>
              <a:off x="7581900" y="3438525"/>
              <a:ext cx="76200" cy="76200"/>
            </a:xfrm>
            <a:prstGeom prst="ellipse">
              <a:avLst/>
            </a:prstGeom>
            <a:solidFill>
              <a:srgbClr val="00A6A6"/>
            </a:solidFill>
            <a:ln>
              <a:noFill/>
            </a:ln>
          </p:spPr>
        </p:sp>
        <p:sp>
          <p:nvSpPr>
            <p:cNvPr id="47" name="Ellipse 47"/>
            <p:cNvSpPr/>
            <p:nvPr/>
          </p:nvSpPr>
          <p:spPr>
            <a:xfrm>
              <a:off x="7867650" y="2724150"/>
              <a:ext cx="76200" cy="76200"/>
            </a:xfrm>
            <a:prstGeom prst="ellipse">
              <a:avLst/>
            </a:prstGeom>
            <a:solidFill>
              <a:srgbClr val="00A6A6"/>
            </a:solidFill>
            <a:ln>
              <a:noFill/>
            </a:ln>
          </p:spPr>
        </p:sp>
        <p:sp>
          <p:nvSpPr>
            <p:cNvPr id="48" name="Ellipse 48"/>
            <p:cNvSpPr/>
            <p:nvPr/>
          </p:nvSpPr>
          <p:spPr>
            <a:xfrm>
              <a:off x="8153400" y="3771900"/>
              <a:ext cx="76200" cy="76200"/>
            </a:xfrm>
            <a:prstGeom prst="ellipse">
              <a:avLst/>
            </a:prstGeom>
            <a:solidFill>
              <a:srgbClr val="00A6A6"/>
            </a:solidFill>
            <a:ln>
              <a:noFill/>
            </a:ln>
          </p:spPr>
        </p:sp>
        <p:sp>
          <p:nvSpPr>
            <p:cNvPr id="49" name="Ellipse 49"/>
            <p:cNvSpPr/>
            <p:nvPr/>
          </p:nvSpPr>
          <p:spPr>
            <a:xfrm>
              <a:off x="8534400" y="2533650"/>
              <a:ext cx="76200" cy="76200"/>
            </a:xfrm>
            <a:prstGeom prst="ellipse">
              <a:avLst/>
            </a:prstGeom>
            <a:solidFill>
              <a:srgbClr val="00A6A6"/>
            </a:solidFill>
            <a:ln>
              <a:noFill/>
            </a:ln>
          </p:spPr>
        </p:sp>
        <p:sp>
          <p:nvSpPr>
            <p:cNvPr id="50" name="Ellipse 50"/>
            <p:cNvSpPr/>
            <p:nvPr/>
          </p:nvSpPr>
          <p:spPr>
            <a:xfrm>
              <a:off x="8820150" y="3962400"/>
              <a:ext cx="76200" cy="76200"/>
            </a:xfrm>
            <a:prstGeom prst="ellipse">
              <a:avLst/>
            </a:prstGeom>
            <a:solidFill>
              <a:srgbClr val="00A6A6"/>
            </a:solidFill>
            <a:ln>
              <a:noFill/>
            </a:ln>
          </p:spPr>
        </p:sp>
        <p:sp>
          <p:nvSpPr>
            <p:cNvPr id="51" name="Ellipse 51"/>
            <p:cNvSpPr/>
            <p:nvPr/>
          </p:nvSpPr>
          <p:spPr>
            <a:xfrm>
              <a:off x="9201150" y="2438400"/>
              <a:ext cx="76200" cy="76200"/>
            </a:xfrm>
            <a:prstGeom prst="ellipse">
              <a:avLst/>
            </a:prstGeom>
            <a:solidFill>
              <a:srgbClr val="00A6A6"/>
            </a:solidFill>
            <a:ln>
              <a:noFill/>
            </a:ln>
          </p:spPr>
        </p:sp>
        <p:sp>
          <p:nvSpPr>
            <p:cNvPr id="52" name="Ellipse 52"/>
            <p:cNvSpPr/>
            <p:nvPr/>
          </p:nvSpPr>
          <p:spPr>
            <a:xfrm>
              <a:off x="9582150" y="4057650"/>
              <a:ext cx="76200" cy="76200"/>
            </a:xfrm>
            <a:prstGeom prst="ellipse">
              <a:avLst/>
            </a:prstGeom>
            <a:solidFill>
              <a:srgbClr val="00A6A6"/>
            </a:solidFill>
            <a:ln>
              <a:noFill/>
            </a:ln>
          </p:spPr>
        </p:sp>
        <p:sp>
          <p:nvSpPr>
            <p:cNvPr id="53" name="Ellipse 53"/>
            <p:cNvSpPr/>
            <p:nvPr/>
          </p:nvSpPr>
          <p:spPr>
            <a:xfrm>
              <a:off x="9963150" y="2533650"/>
              <a:ext cx="76200" cy="76200"/>
            </a:xfrm>
            <a:prstGeom prst="ellipse">
              <a:avLst/>
            </a:prstGeom>
            <a:solidFill>
              <a:srgbClr val="00A6A6"/>
            </a:solidFill>
            <a:ln>
              <a:noFill/>
            </a:ln>
          </p:spPr>
        </p:sp>
        <p:sp>
          <p:nvSpPr>
            <p:cNvPr id="54" name="Ellipse 54"/>
            <p:cNvSpPr/>
            <p:nvPr/>
          </p:nvSpPr>
          <p:spPr>
            <a:xfrm>
              <a:off x="10344150" y="4152900"/>
              <a:ext cx="76200" cy="76200"/>
            </a:xfrm>
            <a:prstGeom prst="ellipse">
              <a:avLst/>
            </a:prstGeom>
            <a:solidFill>
              <a:srgbClr val="00A6A6"/>
            </a:solidFill>
            <a:ln>
              <a:noFill/>
            </a:ln>
          </p:spPr>
        </p:sp>
        <p:sp>
          <p:nvSpPr>
            <p:cNvPr id="55" name="Ellipse 55"/>
            <p:cNvSpPr/>
            <p:nvPr/>
          </p:nvSpPr>
          <p:spPr>
            <a:xfrm>
              <a:off x="10725150" y="2724150"/>
              <a:ext cx="76200" cy="76200"/>
            </a:xfrm>
            <a:prstGeom prst="ellipse">
              <a:avLst/>
            </a:prstGeom>
            <a:solidFill>
              <a:srgbClr val="00A6A6"/>
            </a:solidFill>
            <a:ln>
              <a:noFill/>
            </a:ln>
          </p:spPr>
        </p:sp>
        <p:sp>
          <p:nvSpPr>
            <p:cNvPr id="56" name="Ellipse 56"/>
            <p:cNvSpPr/>
            <p:nvPr/>
          </p:nvSpPr>
          <p:spPr>
            <a:xfrm>
              <a:off x="11010900" y="4248150"/>
              <a:ext cx="76200" cy="76200"/>
            </a:xfrm>
            <a:prstGeom prst="ellipse">
              <a:avLst/>
            </a:prstGeom>
            <a:solidFill>
              <a:srgbClr val="00A6A6"/>
            </a:solidFill>
            <a:ln>
              <a:noFill/>
            </a:ln>
          </p:spPr>
        </p:sp>
        <p:sp>
          <p:nvSpPr>
            <p:cNvPr id="57" name="Ellipse 57"/>
            <p:cNvSpPr/>
            <p:nvPr/>
          </p:nvSpPr>
          <p:spPr>
            <a:xfrm>
              <a:off x="7486650" y="2438400"/>
              <a:ext cx="76200" cy="76200"/>
            </a:xfrm>
            <a:prstGeom prst="ellipse">
              <a:avLst/>
            </a:prstGeom>
            <a:solidFill>
              <a:srgbClr val="12355B"/>
            </a:solidFill>
            <a:ln>
              <a:noFill/>
            </a:ln>
          </p:spPr>
        </p:sp>
        <p:sp>
          <p:nvSpPr>
            <p:cNvPr id="58" name="Ellipse 58"/>
            <p:cNvSpPr/>
            <p:nvPr/>
          </p:nvSpPr>
          <p:spPr>
            <a:xfrm>
              <a:off x="7962900" y="2247900"/>
              <a:ext cx="76200" cy="76200"/>
            </a:xfrm>
            <a:prstGeom prst="ellipse">
              <a:avLst/>
            </a:prstGeom>
            <a:solidFill>
              <a:srgbClr val="12355B"/>
            </a:solidFill>
            <a:ln>
              <a:noFill/>
            </a:ln>
          </p:spPr>
        </p:sp>
        <p:sp>
          <p:nvSpPr>
            <p:cNvPr id="59" name="Ellipse 59"/>
            <p:cNvSpPr/>
            <p:nvPr/>
          </p:nvSpPr>
          <p:spPr>
            <a:xfrm>
              <a:off x="8439150" y="2152650"/>
              <a:ext cx="76200" cy="76200"/>
            </a:xfrm>
            <a:prstGeom prst="ellipse">
              <a:avLst/>
            </a:prstGeom>
            <a:solidFill>
              <a:srgbClr val="12355B"/>
            </a:solidFill>
            <a:ln>
              <a:noFill/>
            </a:ln>
          </p:spPr>
        </p:sp>
        <p:sp>
          <p:nvSpPr>
            <p:cNvPr id="60" name="Ellipse 60"/>
            <p:cNvSpPr/>
            <p:nvPr/>
          </p:nvSpPr>
          <p:spPr>
            <a:xfrm>
              <a:off x="9010650" y="4533900"/>
              <a:ext cx="76200" cy="76200"/>
            </a:xfrm>
            <a:prstGeom prst="ellipse">
              <a:avLst/>
            </a:prstGeom>
            <a:solidFill>
              <a:srgbClr val="12355B"/>
            </a:solidFill>
            <a:ln>
              <a:noFill/>
            </a:ln>
          </p:spPr>
        </p:sp>
        <p:sp>
          <p:nvSpPr>
            <p:cNvPr id="61" name="Ellipse 61"/>
            <p:cNvSpPr/>
            <p:nvPr/>
          </p:nvSpPr>
          <p:spPr>
            <a:xfrm>
              <a:off x="9677400" y="4629150"/>
              <a:ext cx="76200" cy="76200"/>
            </a:xfrm>
            <a:prstGeom prst="ellipse">
              <a:avLst/>
            </a:prstGeom>
            <a:solidFill>
              <a:srgbClr val="12355B"/>
            </a:solidFill>
            <a:ln>
              <a:noFill/>
            </a:ln>
          </p:spPr>
        </p:sp>
        <p:sp>
          <p:nvSpPr>
            <p:cNvPr id="62" name="Ellipse 62"/>
            <p:cNvSpPr/>
            <p:nvPr/>
          </p:nvSpPr>
          <p:spPr>
            <a:xfrm>
              <a:off x="10248900" y="4533900"/>
              <a:ext cx="76200" cy="76200"/>
            </a:xfrm>
            <a:prstGeom prst="ellipse">
              <a:avLst/>
            </a:prstGeom>
            <a:solidFill>
              <a:srgbClr val="12355B"/>
            </a:solidFill>
            <a:ln>
              <a:noFill/>
            </a:ln>
          </p:spPr>
        </p:sp>
        <p:sp>
          <p:nvSpPr>
            <p:cNvPr id="63" name="Ellipse 63"/>
            <p:cNvSpPr/>
            <p:nvPr/>
          </p:nvSpPr>
          <p:spPr>
            <a:xfrm>
              <a:off x="11772900" y="4724400"/>
              <a:ext cx="76200" cy="76200"/>
            </a:xfrm>
            <a:prstGeom prst="ellipse">
              <a:avLst/>
            </a:prstGeom>
            <a:solidFill>
              <a:srgbClr val="F7FAFC"/>
            </a:solidFill>
            <a:ln w="14288">
              <a:solidFill>
                <a:srgbClr val="52616B"/>
              </a:solidFill>
            </a:ln>
          </p:spPr>
        </p:sp>
        <p:sp>
          <p:nvSpPr>
            <p:cNvPr id="64" name="TextBox 64"/>
            <p:cNvSpPr txBox="1"/>
            <p:nvPr/>
          </p:nvSpPr>
          <p:spPr>
            <a:xfrm>
              <a:off x="7361851" y="4842510"/>
              <a:ext cx="318329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Yoğunluk takibiyle iki hilal doğru ayrışır</a:t>
              </a:r>
            </a:p>
          </p:txBody>
        </p:sp>
      </p:grpSp>
      <p:grpSp>
        <p:nvGrpSpPr>
          <p:cNvPr id="69" name="result-note"/>
          <p:cNvGrpSpPr/>
          <p:nvPr/>
        </p:nvGrpSpPr>
        <p:grpSpPr>
          <a:xfrm>
            <a:off x="609600" y="5467350"/>
            <a:ext cx="10972800" cy="628650"/>
            <a:chOff x="609600" y="5467350"/>
            <a:chExt cx="10972800" cy="628650"/>
          </a:xfrm>
        </p:grpSpPr>
        <p:sp>
          <p:nvSpPr>
            <p:cNvPr id="66" name="Rectangle 66"/>
            <p:cNvSpPr/>
            <p:nvPr/>
          </p:nvSpPr>
          <p:spPr>
            <a:xfrm>
              <a:off x="609600" y="5467350"/>
              <a:ext cx="10972800" cy="628650"/>
            </a:xfrm>
            <a:prstGeom prst="roundRect">
              <a:avLst>
                <a:gd name="adj" fmla="val 12121"/>
              </a:avLst>
            </a:prstGeom>
            <a:solidFill>
              <a:srgbClr val="EAF4F6"/>
            </a:solidFill>
            <a:ln>
              <a:noFill/>
            </a:ln>
          </p:spPr>
        </p:sp>
        <p:sp>
          <p:nvSpPr>
            <p:cNvPr id="67" name="TextBox 67"/>
            <p:cNvSpPr txBox="1"/>
            <p:nvPr/>
          </p:nvSpPr>
          <p:spPr>
            <a:xfrm>
              <a:off x="907542" y="5569268"/>
              <a:ext cx="714425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Sonuç: 300 noktalık örnekte K-Means %100 küme içi karışıklık gösterirken,</a:t>
              </a:r>
            </a:p>
          </p:txBody>
        </p:sp>
        <p:sp>
          <p:nvSpPr>
            <p:cNvPr id="68" name="TextBox 68"/>
            <p:cNvSpPr txBox="1"/>
            <p:nvPr/>
          </p:nvSpPr>
          <p:spPr>
            <a:xfrm>
              <a:off x="907542" y="5797868"/>
              <a:ext cx="789265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DBSCAN hilalleri doğru ayırır ve yalnızca birkaç kenar noktasını gürültü (-1) işaretler.</a:t>
              </a:r>
            </a:p>
          </p:txBody>
        </p:sp>
      </p:grpSp>
      <p:sp>
        <p:nvSpPr>
          <p:cNvPr id="70" name="TextBox 7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23</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74357" cy="668845"/>
            <a:chOff x="609600" y="171450"/>
            <a:chExt cx="857435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8398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DBSCAN parametre seçimi ve sık hatalar</a:t>
              </a:r>
            </a:p>
          </p:txBody>
        </p:sp>
      </p:grpSp>
      <p:grpSp>
        <p:nvGrpSpPr>
          <p:cNvPr id="23" name="eps-guide"/>
          <p:cNvGrpSpPr/>
          <p:nvPr/>
        </p:nvGrpSpPr>
        <p:grpSpPr>
          <a:xfrm>
            <a:off x="43063" y="1219200"/>
            <a:ext cx="5824337" cy="3619500"/>
            <a:chOff x="43063" y="1219200"/>
            <a:chExt cx="5824337" cy="3619500"/>
          </a:xfrm>
        </p:grpSpPr>
        <p:sp>
          <p:nvSpPr>
            <p:cNvPr id="12" name="Rectangle 12"/>
            <p:cNvSpPr/>
            <p:nvPr/>
          </p:nvSpPr>
          <p:spPr>
            <a:xfrm>
              <a:off x="609600" y="1219200"/>
              <a:ext cx="5257800" cy="3619500"/>
            </a:xfrm>
            <a:prstGeom prst="roundRect">
              <a:avLst>
                <a:gd name="adj" fmla="val 2632"/>
              </a:avLst>
            </a:prstGeom>
            <a:solidFill>
              <a:srgbClr val="FFFFFF"/>
            </a:solidFill>
            <a:ln w="14288">
              <a:solidFill>
                <a:srgbClr val="B8CBD3"/>
              </a:solidFill>
            </a:ln>
          </p:spPr>
        </p:sp>
        <p:sp>
          <p:nvSpPr>
            <p:cNvPr id="13" name="TextBox 13"/>
            <p:cNvSpPr txBox="1"/>
            <p:nvPr/>
          </p:nvSpPr>
          <p:spPr>
            <a:xfrm>
              <a:off x="830199" y="1353979"/>
              <a:ext cx="315385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eps seçimi: k-mesafe grafiği</a:t>
              </a:r>
            </a:p>
          </p:txBody>
        </p:sp>
        <p:sp>
          <p:nvSpPr>
            <p:cNvPr id="14" name="Line 14"/>
            <p:cNvSpPr/>
            <p:nvPr/>
          </p:nvSpPr>
          <p:spPr>
            <a:xfrm>
              <a:off x="1238250" y="1905000"/>
              <a:ext cx="9525" cy="2000250"/>
            </a:xfrm>
            <a:custGeom>
              <a:avLst/>
              <a:gdLst/>
              <a:ahLst/>
              <a:cxnLst/>
              <a:rect l="l" t="t" r="r" b="b"/>
              <a:pathLst>
                <a:path w="9525" h="2000250">
                  <a:moveTo>
                    <a:pt x="0" y="2000250"/>
                  </a:moveTo>
                  <a:lnTo>
                    <a:pt x="0" y="0"/>
                  </a:lnTo>
                </a:path>
              </a:pathLst>
            </a:custGeom>
            <a:noFill/>
            <a:ln w="14288">
              <a:solidFill>
                <a:srgbClr val="52616B"/>
              </a:solidFill>
            </a:ln>
          </p:spPr>
        </p:sp>
        <p:sp>
          <p:nvSpPr>
            <p:cNvPr id="15" name="Line 15"/>
            <p:cNvSpPr/>
            <p:nvPr/>
          </p:nvSpPr>
          <p:spPr>
            <a:xfrm>
              <a:off x="1238250" y="3905250"/>
              <a:ext cx="4095750" cy="9525"/>
            </a:xfrm>
            <a:custGeom>
              <a:avLst/>
              <a:gdLst/>
              <a:ahLst/>
              <a:cxnLst/>
              <a:rect l="l" t="t" r="r" b="b"/>
              <a:pathLst>
                <a:path w="4095750" h="9525">
                  <a:moveTo>
                    <a:pt x="0" y="0"/>
                  </a:moveTo>
                  <a:lnTo>
                    <a:pt x="4095750" y="0"/>
                  </a:lnTo>
                </a:path>
              </a:pathLst>
            </a:custGeom>
            <a:noFill/>
            <a:ln w="14288">
              <a:solidFill>
                <a:srgbClr val="52616B"/>
              </a:solidFill>
            </a:ln>
          </p:spPr>
        </p:sp>
        <p:sp>
          <p:nvSpPr>
            <p:cNvPr id="16" name="TextBox 16"/>
            <p:cNvSpPr txBox="1"/>
            <p:nvPr/>
          </p:nvSpPr>
          <p:spPr>
            <a:xfrm>
              <a:off x="2147521" y="4077652"/>
              <a:ext cx="2277208"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Noktalar (mesafeye göre sıralı)</a:t>
              </a:r>
            </a:p>
          </p:txBody>
        </p:sp>
        <p:sp>
          <p:nvSpPr>
            <p:cNvPr id="17" name="TextBox 17"/>
            <p:cNvSpPr txBox="1"/>
            <p:nvPr/>
          </p:nvSpPr>
          <p:spPr>
            <a:xfrm rot="-5400000">
              <a:off x="43063" y="2802446"/>
              <a:ext cx="1911839"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k. en yakın komşu mesafesi</a:t>
              </a:r>
            </a:p>
          </p:txBody>
        </p:sp>
        <p:sp>
          <p:nvSpPr>
            <p:cNvPr id="18" name="Polyline 18"/>
            <p:cNvSpPr/>
            <p:nvPr/>
          </p:nvSpPr>
          <p:spPr>
            <a:xfrm>
              <a:off x="1238250" y="1952625"/>
              <a:ext cx="4095750" cy="1905000"/>
            </a:xfrm>
            <a:custGeom>
              <a:avLst/>
              <a:gdLst/>
              <a:ahLst/>
              <a:cxnLst/>
              <a:rect l="l" t="t" r="r" b="b"/>
              <a:pathLst>
                <a:path w="4095750" h="1905000">
                  <a:moveTo>
                    <a:pt x="0" y="1905000"/>
                  </a:moveTo>
                  <a:lnTo>
                    <a:pt x="666750" y="1857375"/>
                  </a:lnTo>
                  <a:lnTo>
                    <a:pt x="1238250" y="1781175"/>
                  </a:lnTo>
                  <a:lnTo>
                    <a:pt x="1714500" y="1666875"/>
                  </a:lnTo>
                  <a:lnTo>
                    <a:pt x="2095500" y="1457325"/>
                  </a:lnTo>
                  <a:lnTo>
                    <a:pt x="2428875" y="1095375"/>
                  </a:lnTo>
                  <a:lnTo>
                    <a:pt x="2714625" y="619125"/>
                  </a:lnTo>
                  <a:lnTo>
                    <a:pt x="3048000" y="190500"/>
                  </a:lnTo>
                  <a:lnTo>
                    <a:pt x="3524250" y="47625"/>
                  </a:lnTo>
                  <a:lnTo>
                    <a:pt x="4095750" y="0"/>
                  </a:lnTo>
                </a:path>
              </a:pathLst>
            </a:custGeom>
            <a:noFill/>
            <a:ln w="23812">
              <a:solidFill>
                <a:srgbClr val="2E86AB"/>
              </a:solidFill>
            </a:ln>
          </p:spPr>
        </p:sp>
        <p:sp>
          <p:nvSpPr>
            <p:cNvPr id="19" name="Line 19"/>
            <p:cNvSpPr/>
            <p:nvPr/>
          </p:nvSpPr>
          <p:spPr>
            <a:xfrm>
              <a:off x="1238250" y="3143250"/>
              <a:ext cx="4095750" cy="9525"/>
            </a:xfrm>
            <a:custGeom>
              <a:avLst/>
              <a:gdLst/>
              <a:ahLst/>
              <a:cxnLst/>
              <a:rect l="l" t="t" r="r" b="b"/>
              <a:pathLst>
                <a:path w="4095750" h="9525">
                  <a:moveTo>
                    <a:pt x="0" y="0"/>
                  </a:moveTo>
                  <a:lnTo>
                    <a:pt x="4095750" y="0"/>
                  </a:lnTo>
                </a:path>
              </a:pathLst>
            </a:custGeom>
            <a:noFill/>
            <a:ln w="19050">
              <a:solidFill>
                <a:srgbClr val="00A6A6"/>
              </a:solidFill>
              <a:custDash>
                <a:ds d="300000" sp="200000"/>
              </a:custDash>
            </a:ln>
          </p:spPr>
        </p:sp>
        <p:sp>
          <p:nvSpPr>
            <p:cNvPr id="20" name="TextBox 20"/>
            <p:cNvSpPr txBox="1"/>
            <p:nvPr/>
          </p:nvSpPr>
          <p:spPr>
            <a:xfrm>
              <a:off x="4050912" y="2953702"/>
              <a:ext cx="1042177" cy="205359"/>
            </a:xfrm>
            <a:prstGeom prst="rect">
              <a:avLst/>
            </a:prstGeom>
            <a:noFill/>
            <a:ln>
              <a:noFill/>
            </a:ln>
          </p:spPr>
          <p:txBody>
            <a:bodyPr wrap="none" lIns="0" tIns="0" rIns="0" bIns="0" anchor="t" anchorCtr="0">
              <a:spAutoFit/>
            </a:bodyPr>
            <a:lstStyle/>
            <a:p>
              <a:pPr algn="ctr"/>
              <a:r>
                <a:rPr lang="tr-TR" sz="1050" b="1" dirty="0">
                  <a:solidFill>
                    <a:srgbClr val="12355B"/>
                  </a:solidFill>
                  <a:latin typeface="+mn-lt"/>
                  <a:ea typeface="+mn-ea"/>
                  <a:cs typeface="+mn-cs"/>
                </a:rPr>
                <a:t>"dirsek" → eps</a:t>
              </a:r>
            </a:p>
          </p:txBody>
        </p:sp>
        <p:sp>
          <p:nvSpPr>
            <p:cNvPr id="21" name="TextBox 21"/>
            <p:cNvSpPr txBox="1"/>
            <p:nvPr/>
          </p:nvSpPr>
          <p:spPr>
            <a:xfrm>
              <a:off x="832104" y="4347210"/>
              <a:ext cx="322402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Eğrinin en keskin büküldüğü nokta, iyi bir</a:t>
              </a:r>
            </a:p>
          </p:txBody>
        </p:sp>
        <p:sp>
          <p:nvSpPr>
            <p:cNvPr id="22" name="TextBox 22"/>
            <p:cNvSpPr txBox="1"/>
            <p:nvPr/>
          </p:nvSpPr>
          <p:spPr>
            <a:xfrm>
              <a:off x="832104" y="4537710"/>
              <a:ext cx="21688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eps başlangıç değeri verir.</a:t>
              </a:r>
            </a:p>
          </p:txBody>
        </p:sp>
      </p:grpSp>
      <p:grpSp>
        <p:nvGrpSpPr>
          <p:cNvPr id="29" name="min-samples"/>
          <p:cNvGrpSpPr/>
          <p:nvPr/>
        </p:nvGrpSpPr>
        <p:grpSpPr>
          <a:xfrm>
            <a:off x="6324600" y="1219200"/>
            <a:ext cx="5257800" cy="1428750"/>
            <a:chOff x="6324600" y="1219200"/>
            <a:chExt cx="5257800" cy="1428750"/>
          </a:xfrm>
        </p:grpSpPr>
        <p:sp>
          <p:nvSpPr>
            <p:cNvPr id="24" name="Rectangle 24"/>
            <p:cNvSpPr/>
            <p:nvPr/>
          </p:nvSpPr>
          <p:spPr>
            <a:xfrm>
              <a:off x="6324600" y="1219200"/>
              <a:ext cx="5257800" cy="1428750"/>
            </a:xfrm>
            <a:prstGeom prst="roundRect">
              <a:avLst>
                <a:gd name="adj" fmla="val 6667"/>
              </a:avLst>
            </a:prstGeom>
            <a:solidFill>
              <a:srgbClr val="EAF4F6"/>
            </a:solidFill>
            <a:ln>
              <a:noFill/>
            </a:ln>
          </p:spPr>
        </p:sp>
        <p:sp>
          <p:nvSpPr>
            <p:cNvPr id="25" name="TextBox 25"/>
            <p:cNvSpPr txBox="1"/>
            <p:nvPr/>
          </p:nvSpPr>
          <p:spPr>
            <a:xfrm>
              <a:off x="6545199" y="1353979"/>
              <a:ext cx="209301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min_samples kuralı</a:t>
              </a:r>
            </a:p>
          </p:txBody>
        </p:sp>
        <p:sp>
          <p:nvSpPr>
            <p:cNvPr id="26" name="TextBox 26"/>
            <p:cNvSpPr txBox="1"/>
            <p:nvPr/>
          </p:nvSpPr>
          <p:spPr>
            <a:xfrm>
              <a:off x="6546342" y="1683068"/>
              <a:ext cx="402870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 xml:space="preserve">Genel kural: </a:t>
              </a:r>
              <a:r>
                <a:rPr lang="tr-TR" sz="1350" b="1" dirty="0">
                  <a:solidFill>
                    <a:srgbClr val="172B3A"/>
                  </a:solidFill>
                  <a:latin typeface="+mn-lt"/>
                  <a:ea typeface="+mn-ea"/>
                  <a:cs typeface="+mn-cs"/>
                </a:rPr>
                <a:t>min_samples ≥ 2 × boyut sayısı</a:t>
              </a:r>
            </a:p>
          </p:txBody>
        </p:sp>
        <p:sp>
          <p:nvSpPr>
            <p:cNvPr id="27" name="TextBox 27"/>
            <p:cNvSpPr txBox="1"/>
            <p:nvPr/>
          </p:nvSpPr>
          <p:spPr>
            <a:xfrm>
              <a:off x="6547104" y="1965960"/>
              <a:ext cx="33292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Gürültülü veride daha yüksek, temiz düşük</a:t>
              </a:r>
            </a:p>
          </p:txBody>
        </p:sp>
        <p:sp>
          <p:nvSpPr>
            <p:cNvPr id="28" name="TextBox 28"/>
            <p:cNvSpPr txBox="1"/>
            <p:nvPr/>
          </p:nvSpPr>
          <p:spPr>
            <a:xfrm>
              <a:off x="6547104" y="2175510"/>
              <a:ext cx="38892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boyutlu veride 4-5 gibi küçük değerler yeterlidir.</a:t>
              </a:r>
            </a:p>
          </p:txBody>
        </p:sp>
      </p:grpSp>
      <p:grpSp>
        <p:nvGrpSpPr>
          <p:cNvPr id="42" name="mistakes"/>
          <p:cNvGrpSpPr/>
          <p:nvPr/>
        </p:nvGrpSpPr>
        <p:grpSpPr>
          <a:xfrm>
            <a:off x="6324600" y="2838450"/>
            <a:ext cx="5257800" cy="2029206"/>
            <a:chOff x="6324600" y="2838450"/>
            <a:chExt cx="5257800" cy="2029206"/>
          </a:xfrm>
        </p:grpSpPr>
        <p:sp>
          <p:nvSpPr>
            <p:cNvPr id="30" name="Rectangle 30"/>
            <p:cNvSpPr/>
            <p:nvPr/>
          </p:nvSpPr>
          <p:spPr>
            <a:xfrm>
              <a:off x="6324600" y="2838450"/>
              <a:ext cx="5257800" cy="2000250"/>
            </a:xfrm>
            <a:prstGeom prst="roundRect">
              <a:avLst>
                <a:gd name="adj" fmla="val 4762"/>
              </a:avLst>
            </a:prstGeom>
            <a:solidFill>
              <a:srgbClr val="12355B"/>
            </a:solidFill>
            <a:ln>
              <a:noFill/>
            </a:ln>
          </p:spPr>
        </p:sp>
        <p:sp>
          <p:nvSpPr>
            <p:cNvPr id="31" name="TextBox 31"/>
            <p:cNvSpPr txBox="1"/>
            <p:nvPr/>
          </p:nvSpPr>
          <p:spPr>
            <a:xfrm>
              <a:off x="6545199" y="2973229"/>
              <a:ext cx="2133541"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Sık yapılan hatalar</a:t>
              </a:r>
            </a:p>
          </p:txBody>
        </p:sp>
        <p:sp>
          <p:nvSpPr>
            <p:cNvPr id="32" name="Rectangle 32"/>
            <p:cNvSpPr/>
            <p:nvPr/>
          </p:nvSpPr>
          <p:spPr>
            <a:xfrm>
              <a:off x="6553200" y="3295650"/>
              <a:ext cx="57150" cy="228600"/>
            </a:xfrm>
            <a:prstGeom prst="rect">
              <a:avLst/>
            </a:prstGeom>
            <a:solidFill>
              <a:srgbClr val="00A6A6"/>
            </a:solidFill>
            <a:ln>
              <a:noFill/>
            </a:ln>
          </p:spPr>
        </p:sp>
        <p:sp>
          <p:nvSpPr>
            <p:cNvPr id="33" name="TextBox 33"/>
            <p:cNvSpPr txBox="1"/>
            <p:nvPr/>
          </p:nvSpPr>
          <p:spPr>
            <a:xfrm>
              <a:off x="6699504" y="3337560"/>
              <a:ext cx="356616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eps çok küçük → her nokta gürültü işaretlenir</a:t>
              </a:r>
            </a:p>
          </p:txBody>
        </p:sp>
        <p:sp>
          <p:nvSpPr>
            <p:cNvPr id="34" name="Rectangle 34"/>
            <p:cNvSpPr/>
            <p:nvPr/>
          </p:nvSpPr>
          <p:spPr>
            <a:xfrm>
              <a:off x="6553200" y="3600450"/>
              <a:ext cx="57150" cy="228600"/>
            </a:xfrm>
            <a:prstGeom prst="rect">
              <a:avLst/>
            </a:prstGeom>
            <a:solidFill>
              <a:srgbClr val="00A6A6"/>
            </a:solidFill>
            <a:ln>
              <a:noFill/>
            </a:ln>
          </p:spPr>
        </p:sp>
        <p:sp>
          <p:nvSpPr>
            <p:cNvPr id="35" name="TextBox 35"/>
            <p:cNvSpPr txBox="1"/>
            <p:nvPr/>
          </p:nvSpPr>
          <p:spPr>
            <a:xfrm>
              <a:off x="6699504" y="3642360"/>
              <a:ext cx="350154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eps çok büyük → tüm veri tek kümeye birleşir</a:t>
              </a:r>
            </a:p>
          </p:txBody>
        </p:sp>
        <p:sp>
          <p:nvSpPr>
            <p:cNvPr id="36" name="Rectangle 36"/>
            <p:cNvSpPr/>
            <p:nvPr/>
          </p:nvSpPr>
          <p:spPr>
            <a:xfrm>
              <a:off x="6553200" y="3905250"/>
              <a:ext cx="57150" cy="228600"/>
            </a:xfrm>
            <a:prstGeom prst="rect">
              <a:avLst/>
            </a:prstGeom>
            <a:solidFill>
              <a:srgbClr val="00A6A6"/>
            </a:solidFill>
            <a:ln>
              <a:noFill/>
            </a:ln>
          </p:spPr>
        </p:sp>
        <p:sp>
          <p:nvSpPr>
            <p:cNvPr id="37" name="TextBox 37"/>
            <p:cNvSpPr txBox="1"/>
            <p:nvPr/>
          </p:nvSpPr>
          <p:spPr>
            <a:xfrm>
              <a:off x="6699504" y="3947160"/>
              <a:ext cx="350648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Ölçeklendirme atlanırsa mesafe bir öznitelik</a:t>
              </a:r>
            </a:p>
          </p:txBody>
        </p:sp>
        <p:sp>
          <p:nvSpPr>
            <p:cNvPr id="38" name="TextBox 38"/>
            <p:cNvSpPr txBox="1"/>
            <p:nvPr/>
          </p:nvSpPr>
          <p:spPr>
            <a:xfrm>
              <a:off x="6699504" y="4137660"/>
              <a:ext cx="179725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tarafından baskılanır</a:t>
              </a:r>
            </a:p>
          </p:txBody>
        </p:sp>
        <p:sp>
          <p:nvSpPr>
            <p:cNvPr id="39" name="Rectangle 39"/>
            <p:cNvSpPr/>
            <p:nvPr/>
          </p:nvSpPr>
          <p:spPr>
            <a:xfrm>
              <a:off x="6553200" y="4400550"/>
              <a:ext cx="57150" cy="228600"/>
            </a:xfrm>
            <a:prstGeom prst="rect">
              <a:avLst/>
            </a:prstGeom>
            <a:solidFill>
              <a:srgbClr val="00A6A6"/>
            </a:solidFill>
            <a:ln>
              <a:noFill/>
            </a:ln>
          </p:spPr>
        </p:sp>
        <p:sp>
          <p:nvSpPr>
            <p:cNvPr id="40" name="TextBox 40"/>
            <p:cNvSpPr txBox="1"/>
            <p:nvPr/>
          </p:nvSpPr>
          <p:spPr>
            <a:xfrm>
              <a:off x="6699504" y="4442460"/>
              <a:ext cx="372474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Gürültü oranı kontrol edilmezse model sessizce</a:t>
              </a:r>
            </a:p>
          </p:txBody>
        </p:sp>
        <p:sp>
          <p:nvSpPr>
            <p:cNvPr id="41" name="TextBox 41"/>
            <p:cNvSpPr txBox="1"/>
            <p:nvPr/>
          </p:nvSpPr>
          <p:spPr>
            <a:xfrm>
              <a:off x="6699504" y="4632960"/>
              <a:ext cx="238688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verinin büyük kısmını atabilir</a:t>
              </a:r>
            </a:p>
          </p:txBody>
        </p:sp>
      </p:grpSp>
      <p:grpSp>
        <p:nvGrpSpPr>
          <p:cNvPr id="47" name="noise-check"/>
          <p:cNvGrpSpPr/>
          <p:nvPr/>
        </p:nvGrpSpPr>
        <p:grpSpPr>
          <a:xfrm>
            <a:off x="6324600" y="5029200"/>
            <a:ext cx="5257800" cy="876300"/>
            <a:chOff x="6324600" y="5029200"/>
            <a:chExt cx="5257800" cy="876300"/>
          </a:xfrm>
        </p:grpSpPr>
        <p:sp>
          <p:nvSpPr>
            <p:cNvPr id="43" name="Rectangle 43"/>
            <p:cNvSpPr/>
            <p:nvPr/>
          </p:nvSpPr>
          <p:spPr>
            <a:xfrm>
              <a:off x="6324600" y="5029200"/>
              <a:ext cx="5257800" cy="876300"/>
            </a:xfrm>
            <a:prstGeom prst="roundRect">
              <a:avLst>
                <a:gd name="adj" fmla="val 8696"/>
              </a:avLst>
            </a:prstGeom>
            <a:solidFill>
              <a:srgbClr val="FFFFFF"/>
            </a:solidFill>
            <a:ln w="14288">
              <a:solidFill>
                <a:srgbClr val="00A6A6"/>
              </a:solidFill>
            </a:ln>
          </p:spPr>
        </p:sp>
        <p:sp>
          <p:nvSpPr>
            <p:cNvPr id="44" name="TextBox 44"/>
            <p:cNvSpPr txBox="1"/>
            <p:nvPr/>
          </p:nvSpPr>
          <p:spPr>
            <a:xfrm>
              <a:off x="6546342" y="5169218"/>
              <a:ext cx="213785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Gürültü oranı kontrolü</a:t>
              </a:r>
            </a:p>
          </p:txBody>
        </p:sp>
        <p:sp>
          <p:nvSpPr>
            <p:cNvPr id="45" name="TextBox 45"/>
            <p:cNvSpPr txBox="1"/>
            <p:nvPr/>
          </p:nvSpPr>
          <p:spPr>
            <a:xfrm>
              <a:off x="6547104" y="5433060"/>
              <a:ext cx="41621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Etiketlerin %20'den fazlası -1 ise, eps/min_samples</a:t>
              </a:r>
            </a:p>
          </p:txBody>
        </p:sp>
        <p:sp>
          <p:nvSpPr>
            <p:cNvPr id="46" name="TextBox 46"/>
            <p:cNvSpPr txBox="1"/>
            <p:nvPr/>
          </p:nvSpPr>
          <p:spPr>
            <a:xfrm>
              <a:off x="6547104" y="5623560"/>
              <a:ext cx="23465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yeniden gözden geçirilmelidir.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23</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8" name="page-title"/>
          <p:cNvGrpSpPr/>
          <p:nvPr/>
        </p:nvGrpSpPr>
        <p:grpSpPr>
          <a:xfrm>
            <a:off x="609600" y="171450"/>
            <a:ext cx="7258242" cy="668845"/>
            <a:chOff x="609600" y="171450"/>
            <a:chExt cx="7258242" cy="668845"/>
          </a:xfrm>
        </p:grpSpPr>
        <p:grpSp>
          <p:nvGrpSpPr>
            <p:cNvPr id="1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5" name="Group 15"/>
              <p:cNvGrpSpPr/>
              <p:nvPr/>
            </p:nvGrpSpPr>
            <p:grpSpPr>
              <a:xfrm>
                <a:off x="762476" y="324326"/>
                <a:ext cx="265748" cy="265748"/>
                <a:chOff x="762476" y="324326"/>
                <a:chExt cx="265748" cy="265748"/>
              </a:xfrm>
            </p:grpSpPr>
            <p:sp>
              <p:nvSpPr>
                <p:cNvPr id="5" name="Freeform 5"/>
                <p:cNvSpPr/>
                <p:nvPr/>
              </p:nvSpPr>
              <p:spPr>
                <a:xfrm>
                  <a:off x="792004" y="353854"/>
                  <a:ext cx="206693" cy="206692"/>
                </a:xfrm>
                <a:custGeom>
                  <a:avLst/>
                  <a:gdLst/>
                  <a:ahLst/>
                  <a:cxnLst/>
                  <a:rect l="l" t="t" r="r" b="b"/>
                  <a:pathLst>
                    <a:path w="206693" h="206692">
                      <a:moveTo>
                        <a:pt x="0" y="14764"/>
                      </a:moveTo>
                      <a:cubicBezTo>
                        <a:pt x="0" y="6610"/>
                        <a:pt x="6610" y="0"/>
                        <a:pt x="14764" y="0"/>
                      </a:cubicBezTo>
                      <a:lnTo>
                        <a:pt x="191929" y="0"/>
                      </a:lnTo>
                      <a:cubicBezTo>
                        <a:pt x="200083" y="0"/>
                        <a:pt x="206693" y="6610"/>
                        <a:pt x="206693" y="14764"/>
                      </a:cubicBezTo>
                      <a:lnTo>
                        <a:pt x="206693" y="191929"/>
                      </a:lnTo>
                      <a:cubicBezTo>
                        <a:pt x="206693" y="200083"/>
                        <a:pt x="200083" y="206692"/>
                        <a:pt x="191929" y="206692"/>
                      </a:cubicBezTo>
                      <a:lnTo>
                        <a:pt x="14764" y="206692"/>
                      </a:lnTo>
                      <a:cubicBezTo>
                        <a:pt x="6610" y="206692"/>
                        <a:pt x="0" y="200083"/>
                        <a:pt x="0" y="191929"/>
                      </a:cubicBezTo>
                      <a:lnTo>
                        <a:pt x="0" y="14764"/>
                      </a:ln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0"/>
                      </a:moveTo>
                      <a:lnTo>
                        <a:pt x="88582" y="0"/>
                      </a:lnTo>
                      <a:lnTo>
                        <a:pt x="88582" y="88582"/>
                      </a:lnTo>
                      <a:lnTo>
                        <a:pt x="0" y="88582"/>
                      </a:lnTo>
                      <a:lnTo>
                        <a:pt x="0" y="0"/>
                      </a:lnTo>
                    </a:path>
                  </a:pathLst>
                </a:custGeom>
                <a:noFill/>
                <a:ln w="24759" cap="rnd">
                  <a:solidFill>
                    <a:srgbClr val="FFFFFF"/>
                  </a:solidFill>
                  <a:round/>
                </a:ln>
              </p:spPr>
            </p:sp>
            <p:sp>
              <p:nvSpPr>
                <p:cNvPr id="7" name="Freeform 7"/>
                <p:cNvSpPr/>
                <p:nvPr/>
              </p:nvSpPr>
              <p:spPr>
                <a:xfrm>
                  <a:off x="762476" y="427672"/>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8" name="Freeform 8"/>
                <p:cNvSpPr/>
                <p:nvPr/>
              </p:nvSpPr>
              <p:spPr>
                <a:xfrm>
                  <a:off x="762476" y="486727"/>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9" name="Freeform 9"/>
                <p:cNvSpPr/>
                <p:nvPr/>
              </p:nvSpPr>
              <p:spPr>
                <a:xfrm>
                  <a:off x="865822"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0" name="Freeform 10"/>
                <p:cNvSpPr/>
                <p:nvPr/>
              </p:nvSpPr>
              <p:spPr>
                <a:xfrm>
                  <a:off x="924878"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1" name="Freeform 11"/>
                <p:cNvSpPr/>
                <p:nvPr/>
              </p:nvSpPr>
              <p:spPr>
                <a:xfrm>
                  <a:off x="998696" y="427672"/>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2" name="Freeform 12"/>
                <p:cNvSpPr/>
                <p:nvPr/>
              </p:nvSpPr>
              <p:spPr>
                <a:xfrm>
                  <a:off x="998696" y="486727"/>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3" name="Freeform 13"/>
                <p:cNvSpPr/>
                <p:nvPr/>
              </p:nvSpPr>
              <p:spPr>
                <a:xfrm>
                  <a:off x="924878"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sp>
              <p:nvSpPr>
                <p:cNvPr id="14" name="Freeform 14"/>
                <p:cNvSpPr/>
                <p:nvPr/>
              </p:nvSpPr>
              <p:spPr>
                <a:xfrm>
                  <a:off x="865822"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grpSp>
        </p:grpSp>
        <p:sp>
          <p:nvSpPr>
            <p:cNvPr id="17" name="TextBox 17"/>
            <p:cNvSpPr txBox="1"/>
            <p:nvPr/>
          </p:nvSpPr>
          <p:spPr>
            <a:xfrm>
              <a:off x="1299972" y="282892"/>
              <a:ext cx="656787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Üç algoritmanın karşılaştırması</a:t>
              </a:r>
            </a:p>
          </p:txBody>
        </p:sp>
      </p:grpSp>
      <p:grpSp>
        <p:nvGrpSpPr>
          <p:cNvPr id="24" name="table-header"/>
          <p:cNvGrpSpPr/>
          <p:nvPr/>
        </p:nvGrpSpPr>
        <p:grpSpPr>
          <a:xfrm>
            <a:off x="609600" y="1123950"/>
            <a:ext cx="10972800" cy="419100"/>
            <a:chOff x="609600" y="1123950"/>
            <a:chExt cx="10972800" cy="419100"/>
          </a:xfrm>
        </p:grpSpPr>
        <p:sp>
          <p:nvSpPr>
            <p:cNvPr id="19" name="Rectangle 19"/>
            <p:cNvSpPr/>
            <p:nvPr/>
          </p:nvSpPr>
          <p:spPr>
            <a:xfrm>
              <a:off x="609600" y="1123950"/>
              <a:ext cx="10972800" cy="419100"/>
            </a:xfrm>
            <a:prstGeom prst="rect">
              <a:avLst/>
            </a:prstGeom>
            <a:solidFill>
              <a:srgbClr val="12355B"/>
            </a:solidFill>
            <a:ln>
              <a:noFill/>
            </a:ln>
          </p:spPr>
        </p:sp>
        <p:sp>
          <p:nvSpPr>
            <p:cNvPr id="20" name="TextBox 20"/>
            <p:cNvSpPr txBox="1"/>
            <p:nvPr/>
          </p:nvSpPr>
          <p:spPr>
            <a:xfrm>
              <a:off x="755904" y="1261110"/>
              <a:ext cx="76620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ÖZELLİK</a:t>
              </a:r>
            </a:p>
          </p:txBody>
        </p:sp>
        <p:sp>
          <p:nvSpPr>
            <p:cNvPr id="21" name="TextBox 21"/>
            <p:cNvSpPr txBox="1"/>
            <p:nvPr/>
          </p:nvSpPr>
          <p:spPr>
            <a:xfrm>
              <a:off x="3422904" y="1261110"/>
              <a:ext cx="802051"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K-MEANS</a:t>
              </a:r>
            </a:p>
          </p:txBody>
        </p:sp>
        <p:sp>
          <p:nvSpPr>
            <p:cNvPr id="22" name="TextBox 22"/>
            <p:cNvSpPr txBox="1"/>
            <p:nvPr/>
          </p:nvSpPr>
          <p:spPr>
            <a:xfrm>
              <a:off x="6147054" y="1261110"/>
              <a:ext cx="1093927"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HİYERARŞİK</a:t>
              </a:r>
            </a:p>
          </p:txBody>
        </p:sp>
        <p:sp>
          <p:nvSpPr>
            <p:cNvPr id="23" name="TextBox 23"/>
            <p:cNvSpPr txBox="1"/>
            <p:nvPr/>
          </p:nvSpPr>
          <p:spPr>
            <a:xfrm>
              <a:off x="8871204" y="1261110"/>
              <a:ext cx="656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DBSCAN</a:t>
              </a:r>
            </a:p>
          </p:txBody>
        </p:sp>
      </p:grpSp>
      <p:grpSp>
        <p:nvGrpSpPr>
          <p:cNvPr id="30" name="row1"/>
          <p:cNvGrpSpPr/>
          <p:nvPr/>
        </p:nvGrpSpPr>
        <p:grpSpPr>
          <a:xfrm>
            <a:off x="609600" y="1721168"/>
            <a:ext cx="10972800" cy="364807"/>
            <a:chOff x="609600" y="1721168"/>
            <a:chExt cx="10972800" cy="364807"/>
          </a:xfrm>
        </p:grpSpPr>
        <p:sp>
          <p:nvSpPr>
            <p:cNvPr id="25" name="TextBox 25"/>
            <p:cNvSpPr txBox="1"/>
            <p:nvPr/>
          </p:nvSpPr>
          <p:spPr>
            <a:xfrm>
              <a:off x="755142" y="1721168"/>
              <a:ext cx="96423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Küme şekli</a:t>
              </a:r>
            </a:p>
          </p:txBody>
        </p:sp>
        <p:sp>
          <p:nvSpPr>
            <p:cNvPr id="26" name="TextBox 26"/>
            <p:cNvSpPr txBox="1"/>
            <p:nvPr/>
          </p:nvSpPr>
          <p:spPr>
            <a:xfrm>
              <a:off x="3422523" y="1729264"/>
              <a:ext cx="159557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Küresel / dışbükey</a:t>
              </a:r>
            </a:p>
          </p:txBody>
        </p:sp>
        <p:sp>
          <p:nvSpPr>
            <p:cNvPr id="27" name="TextBox 27"/>
            <p:cNvSpPr txBox="1"/>
            <p:nvPr/>
          </p:nvSpPr>
          <p:spPr>
            <a:xfrm>
              <a:off x="6146673" y="1729264"/>
              <a:ext cx="1983506"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Esnek (linkage'a bağlı)</a:t>
              </a:r>
            </a:p>
          </p:txBody>
        </p:sp>
        <p:sp>
          <p:nvSpPr>
            <p:cNvPr id="28" name="TextBox 28"/>
            <p:cNvSpPr txBox="1"/>
            <p:nvPr/>
          </p:nvSpPr>
          <p:spPr>
            <a:xfrm>
              <a:off x="8870823" y="1729264"/>
              <a:ext cx="1371505"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Rastgele / iç içe</a:t>
              </a:r>
            </a:p>
          </p:txBody>
        </p:sp>
        <p:sp>
          <p:nvSpPr>
            <p:cNvPr id="29" name="Line 29"/>
            <p:cNvSpPr/>
            <p:nvPr/>
          </p:nvSpPr>
          <p:spPr>
            <a:xfrm>
              <a:off x="609600" y="20764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6" name="row2"/>
          <p:cNvGrpSpPr/>
          <p:nvPr/>
        </p:nvGrpSpPr>
        <p:grpSpPr>
          <a:xfrm>
            <a:off x="609600" y="2076450"/>
            <a:ext cx="10972800" cy="533400"/>
            <a:chOff x="609600" y="2076450"/>
            <a:chExt cx="10972800" cy="533400"/>
          </a:xfrm>
        </p:grpSpPr>
        <p:sp>
          <p:nvSpPr>
            <p:cNvPr id="31" name="Rectangle 31"/>
            <p:cNvSpPr/>
            <p:nvPr/>
          </p:nvSpPr>
          <p:spPr>
            <a:xfrm>
              <a:off x="609600" y="2076450"/>
              <a:ext cx="10972800" cy="533400"/>
            </a:xfrm>
            <a:prstGeom prst="rect">
              <a:avLst/>
            </a:prstGeom>
            <a:solidFill>
              <a:srgbClr val="EAF4F6"/>
            </a:solidFill>
            <a:ln>
              <a:noFill/>
            </a:ln>
          </p:spPr>
        </p:sp>
        <p:sp>
          <p:nvSpPr>
            <p:cNvPr id="32" name="TextBox 32"/>
            <p:cNvSpPr txBox="1"/>
            <p:nvPr/>
          </p:nvSpPr>
          <p:spPr>
            <a:xfrm>
              <a:off x="755142" y="2254568"/>
              <a:ext cx="202366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Gürültü/aykırı değer</a:t>
              </a:r>
            </a:p>
          </p:txBody>
        </p:sp>
        <p:sp>
          <p:nvSpPr>
            <p:cNvPr id="33" name="TextBox 33"/>
            <p:cNvSpPr txBox="1"/>
            <p:nvPr/>
          </p:nvSpPr>
          <p:spPr>
            <a:xfrm>
              <a:off x="3422523" y="2262664"/>
              <a:ext cx="238836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Yönetmez, her noktayı atar</a:t>
              </a:r>
            </a:p>
          </p:txBody>
        </p:sp>
        <p:sp>
          <p:nvSpPr>
            <p:cNvPr id="34" name="TextBox 34"/>
            <p:cNvSpPr txBox="1"/>
            <p:nvPr/>
          </p:nvSpPr>
          <p:spPr>
            <a:xfrm>
              <a:off x="6146673" y="2262664"/>
              <a:ext cx="811205"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Yönetmez</a:t>
              </a:r>
            </a:p>
          </p:txBody>
        </p:sp>
        <p:sp>
          <p:nvSpPr>
            <p:cNvPr id="35" name="TextBox 35"/>
            <p:cNvSpPr txBox="1"/>
            <p:nvPr/>
          </p:nvSpPr>
          <p:spPr>
            <a:xfrm>
              <a:off x="8870823" y="2262664"/>
              <a:ext cx="227665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Doğal olarak işaretler (-1)</a:t>
              </a:r>
            </a:p>
          </p:txBody>
        </p:sp>
      </p:grpSp>
      <p:grpSp>
        <p:nvGrpSpPr>
          <p:cNvPr id="42" name="row3"/>
          <p:cNvGrpSpPr/>
          <p:nvPr/>
        </p:nvGrpSpPr>
        <p:grpSpPr>
          <a:xfrm>
            <a:off x="609600" y="2787968"/>
            <a:ext cx="10972800" cy="364807"/>
            <a:chOff x="609600" y="2787968"/>
            <a:chExt cx="10972800" cy="364807"/>
          </a:xfrm>
        </p:grpSpPr>
        <p:sp>
          <p:nvSpPr>
            <p:cNvPr id="37" name="TextBox 37"/>
            <p:cNvSpPr txBox="1"/>
            <p:nvPr/>
          </p:nvSpPr>
          <p:spPr>
            <a:xfrm>
              <a:off x="755142" y="2787968"/>
              <a:ext cx="116514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Küme sayısı</a:t>
              </a:r>
            </a:p>
          </p:txBody>
        </p:sp>
        <p:sp>
          <p:nvSpPr>
            <p:cNvPr id="38" name="TextBox 38"/>
            <p:cNvSpPr txBox="1"/>
            <p:nvPr/>
          </p:nvSpPr>
          <p:spPr>
            <a:xfrm>
              <a:off x="3422523" y="2796064"/>
              <a:ext cx="178504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Önceden verilmeli (k)</a:t>
              </a:r>
            </a:p>
          </p:txBody>
        </p:sp>
        <p:sp>
          <p:nvSpPr>
            <p:cNvPr id="39" name="TextBox 39"/>
            <p:cNvSpPr txBox="1"/>
            <p:nvPr/>
          </p:nvSpPr>
          <p:spPr>
            <a:xfrm>
              <a:off x="6146673" y="2796064"/>
              <a:ext cx="226673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Sonradan kesimle belirlenir</a:t>
              </a:r>
            </a:p>
          </p:txBody>
        </p:sp>
        <p:sp>
          <p:nvSpPr>
            <p:cNvPr id="40" name="TextBox 40"/>
            <p:cNvSpPr txBox="1"/>
            <p:nvPr/>
          </p:nvSpPr>
          <p:spPr>
            <a:xfrm>
              <a:off x="8870823" y="2796064"/>
              <a:ext cx="2449125"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Otomatik (eps/min_samples)</a:t>
              </a:r>
            </a:p>
          </p:txBody>
        </p:sp>
        <p:sp>
          <p:nvSpPr>
            <p:cNvPr id="41" name="Line 41"/>
            <p:cNvSpPr/>
            <p:nvPr/>
          </p:nvSpPr>
          <p:spPr>
            <a:xfrm>
              <a:off x="609600" y="31432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8" name="row4"/>
          <p:cNvGrpSpPr/>
          <p:nvPr/>
        </p:nvGrpSpPr>
        <p:grpSpPr>
          <a:xfrm>
            <a:off x="609600" y="3143250"/>
            <a:ext cx="10972800" cy="533400"/>
            <a:chOff x="609600" y="3143250"/>
            <a:chExt cx="10972800" cy="533400"/>
          </a:xfrm>
        </p:grpSpPr>
        <p:sp>
          <p:nvSpPr>
            <p:cNvPr id="43" name="Rectangle 43"/>
            <p:cNvSpPr/>
            <p:nvPr/>
          </p:nvSpPr>
          <p:spPr>
            <a:xfrm>
              <a:off x="609600" y="3143250"/>
              <a:ext cx="10972800" cy="533400"/>
            </a:xfrm>
            <a:prstGeom prst="rect">
              <a:avLst/>
            </a:prstGeom>
            <a:solidFill>
              <a:srgbClr val="EAF4F6"/>
            </a:solidFill>
            <a:ln>
              <a:noFill/>
            </a:ln>
          </p:spPr>
        </p:sp>
        <p:sp>
          <p:nvSpPr>
            <p:cNvPr id="44" name="TextBox 44"/>
            <p:cNvSpPr txBox="1"/>
            <p:nvPr/>
          </p:nvSpPr>
          <p:spPr>
            <a:xfrm>
              <a:off x="755142" y="3321368"/>
              <a:ext cx="1468806"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Ölçeklenebilirlik</a:t>
              </a:r>
            </a:p>
          </p:txBody>
        </p:sp>
        <p:sp>
          <p:nvSpPr>
            <p:cNvPr id="45" name="TextBox 45"/>
            <p:cNvSpPr txBox="1"/>
            <p:nvPr/>
          </p:nvSpPr>
          <p:spPr>
            <a:xfrm>
              <a:off x="3422523" y="3329464"/>
              <a:ext cx="240563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Yüksek (büyük veriye uygun)</a:t>
              </a:r>
            </a:p>
          </p:txBody>
        </p:sp>
        <p:sp>
          <p:nvSpPr>
            <p:cNvPr id="46" name="TextBox 46"/>
            <p:cNvSpPr txBox="1"/>
            <p:nvPr/>
          </p:nvSpPr>
          <p:spPr>
            <a:xfrm>
              <a:off x="6146673" y="3329464"/>
              <a:ext cx="183005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Düşük — O(n²)/O(n³)</a:t>
              </a:r>
            </a:p>
          </p:txBody>
        </p:sp>
        <p:sp>
          <p:nvSpPr>
            <p:cNvPr id="47" name="TextBox 47"/>
            <p:cNvSpPr txBox="1"/>
            <p:nvPr/>
          </p:nvSpPr>
          <p:spPr>
            <a:xfrm>
              <a:off x="8870823" y="3329464"/>
              <a:ext cx="241376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Orta — indeks yapılarıyla iyi</a:t>
              </a:r>
            </a:p>
          </p:txBody>
        </p:sp>
      </p:grpSp>
      <p:grpSp>
        <p:nvGrpSpPr>
          <p:cNvPr id="54" name="row5"/>
          <p:cNvGrpSpPr/>
          <p:nvPr/>
        </p:nvGrpSpPr>
        <p:grpSpPr>
          <a:xfrm>
            <a:off x="609600" y="3854768"/>
            <a:ext cx="10972800" cy="364807"/>
            <a:chOff x="609600" y="3854768"/>
            <a:chExt cx="10972800" cy="364807"/>
          </a:xfrm>
        </p:grpSpPr>
        <p:sp>
          <p:nvSpPr>
            <p:cNvPr id="49" name="TextBox 49"/>
            <p:cNvSpPr txBox="1"/>
            <p:nvPr/>
          </p:nvSpPr>
          <p:spPr>
            <a:xfrm>
              <a:off x="755142" y="3854768"/>
              <a:ext cx="115496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Determinizm</a:t>
              </a:r>
            </a:p>
          </p:txBody>
        </p:sp>
        <p:sp>
          <p:nvSpPr>
            <p:cNvPr id="50" name="TextBox 50"/>
            <p:cNvSpPr txBox="1"/>
            <p:nvPr/>
          </p:nvSpPr>
          <p:spPr>
            <a:xfrm>
              <a:off x="3422523" y="3862864"/>
              <a:ext cx="226743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Hayır — başlangıca duyarlı</a:t>
              </a:r>
            </a:p>
          </p:txBody>
        </p:sp>
        <p:sp>
          <p:nvSpPr>
            <p:cNvPr id="51" name="TextBox 51"/>
            <p:cNvSpPr txBox="1"/>
            <p:nvPr/>
          </p:nvSpPr>
          <p:spPr>
            <a:xfrm>
              <a:off x="6146673" y="3862864"/>
              <a:ext cx="239729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Evet — her zaman aynı sonuç</a:t>
              </a:r>
            </a:p>
          </p:txBody>
        </p:sp>
        <p:sp>
          <p:nvSpPr>
            <p:cNvPr id="52" name="TextBox 52"/>
            <p:cNvSpPr txBox="1"/>
            <p:nvPr/>
          </p:nvSpPr>
          <p:spPr>
            <a:xfrm>
              <a:off x="8870823" y="3862864"/>
              <a:ext cx="236244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Evet (sınır noktalar hariç)</a:t>
              </a:r>
            </a:p>
          </p:txBody>
        </p:sp>
        <p:sp>
          <p:nvSpPr>
            <p:cNvPr id="53" name="Line 53"/>
            <p:cNvSpPr/>
            <p:nvPr/>
          </p:nvSpPr>
          <p:spPr>
            <a:xfrm>
              <a:off x="609600" y="42100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60" name="row6"/>
          <p:cNvGrpSpPr/>
          <p:nvPr/>
        </p:nvGrpSpPr>
        <p:grpSpPr>
          <a:xfrm>
            <a:off x="609600" y="4210050"/>
            <a:ext cx="10972800" cy="533400"/>
            <a:chOff x="609600" y="4210050"/>
            <a:chExt cx="10972800" cy="533400"/>
          </a:xfrm>
        </p:grpSpPr>
        <p:sp>
          <p:nvSpPr>
            <p:cNvPr id="55" name="Rectangle 55"/>
            <p:cNvSpPr/>
            <p:nvPr/>
          </p:nvSpPr>
          <p:spPr>
            <a:xfrm>
              <a:off x="609600" y="4210050"/>
              <a:ext cx="10972800" cy="533400"/>
            </a:xfrm>
            <a:prstGeom prst="rect">
              <a:avLst/>
            </a:prstGeom>
            <a:solidFill>
              <a:srgbClr val="EAF4F6"/>
            </a:solidFill>
            <a:ln>
              <a:noFill/>
            </a:ln>
          </p:spPr>
        </p:sp>
        <p:sp>
          <p:nvSpPr>
            <p:cNvPr id="56" name="TextBox 56"/>
            <p:cNvSpPr txBox="1"/>
            <p:nvPr/>
          </p:nvSpPr>
          <p:spPr>
            <a:xfrm>
              <a:off x="755142" y="4388168"/>
              <a:ext cx="155496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Yorumlanabilirlik</a:t>
              </a:r>
            </a:p>
          </p:txBody>
        </p:sp>
        <p:sp>
          <p:nvSpPr>
            <p:cNvPr id="57" name="TextBox 57"/>
            <p:cNvSpPr txBox="1"/>
            <p:nvPr/>
          </p:nvSpPr>
          <p:spPr>
            <a:xfrm>
              <a:off x="3422523" y="4396264"/>
              <a:ext cx="233603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Merkezler kolay yorumlanır</a:t>
              </a:r>
            </a:p>
          </p:txBody>
        </p:sp>
        <p:sp>
          <p:nvSpPr>
            <p:cNvPr id="58" name="TextBox 58"/>
            <p:cNvSpPr txBox="1"/>
            <p:nvPr/>
          </p:nvSpPr>
          <p:spPr>
            <a:xfrm>
              <a:off x="6146673" y="4396264"/>
              <a:ext cx="2826965"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Dendrogram yapıyı görselleştirir</a:t>
              </a:r>
            </a:p>
          </p:txBody>
        </p:sp>
        <p:sp>
          <p:nvSpPr>
            <p:cNvPr id="59" name="TextBox 59"/>
            <p:cNvSpPr txBox="1"/>
            <p:nvPr/>
          </p:nvSpPr>
          <p:spPr>
            <a:xfrm>
              <a:off x="8870823" y="4396264"/>
              <a:ext cx="218059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Yoğunluk bölgeleri görülür</a:t>
              </a:r>
            </a:p>
          </p:txBody>
        </p:sp>
      </p:grpSp>
      <p:grpSp>
        <p:nvGrpSpPr>
          <p:cNvPr id="65" name="synthesis"/>
          <p:cNvGrpSpPr/>
          <p:nvPr/>
        </p:nvGrpSpPr>
        <p:grpSpPr>
          <a:xfrm>
            <a:off x="609600" y="4972050"/>
            <a:ext cx="10972800" cy="1123950"/>
            <a:chOff x="609600" y="4972050"/>
            <a:chExt cx="10972800" cy="1123950"/>
          </a:xfrm>
        </p:grpSpPr>
        <p:sp>
          <p:nvSpPr>
            <p:cNvPr id="61" name="Rectangle 61"/>
            <p:cNvSpPr/>
            <p:nvPr/>
          </p:nvSpPr>
          <p:spPr>
            <a:xfrm>
              <a:off x="609600" y="4972050"/>
              <a:ext cx="10972800" cy="1123950"/>
            </a:xfrm>
            <a:prstGeom prst="roundRect">
              <a:avLst>
                <a:gd name="adj" fmla="val 8475"/>
              </a:avLst>
            </a:prstGeom>
            <a:solidFill>
              <a:srgbClr val="FFFFFF"/>
            </a:solidFill>
            <a:ln w="14288">
              <a:solidFill>
                <a:srgbClr val="00A6A6"/>
              </a:solidFill>
            </a:ln>
          </p:spPr>
        </p:sp>
        <p:sp>
          <p:nvSpPr>
            <p:cNvPr id="62" name="TextBox 62"/>
            <p:cNvSpPr txBox="1"/>
            <p:nvPr/>
          </p:nvSpPr>
          <p:spPr>
            <a:xfrm>
              <a:off x="906780" y="5114925"/>
              <a:ext cx="72152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Sentez</a:t>
              </a:r>
            </a:p>
          </p:txBody>
        </p:sp>
        <p:sp>
          <p:nvSpPr>
            <p:cNvPr id="63" name="TextBox 63"/>
            <p:cNvSpPr txBox="1"/>
            <p:nvPr/>
          </p:nvSpPr>
          <p:spPr>
            <a:xfrm>
              <a:off x="907923" y="5405914"/>
              <a:ext cx="731617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Tek "en iyi" algoritma yoktur — veri şekli, gürültü toleransı, ölçek ve yorumlanabilirlik</a:t>
              </a:r>
            </a:p>
          </p:txBody>
        </p:sp>
        <p:sp>
          <p:nvSpPr>
            <p:cNvPr id="64" name="TextBox 64"/>
            <p:cNvSpPr txBox="1"/>
            <p:nvPr/>
          </p:nvSpPr>
          <p:spPr>
            <a:xfrm>
              <a:off x="907923" y="5634514"/>
              <a:ext cx="460511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ihtiyacı birlikte değerlendirilerek seçim yapılmalıdır.</a:t>
              </a:r>
            </a:p>
          </p:txBody>
        </p:sp>
      </p:grpSp>
      <p:sp>
        <p:nvSpPr>
          <p:cNvPr id="66" name="TextBox 6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23</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5829121" cy="668845"/>
            <a:chOff x="609600" y="171450"/>
            <a:chExt cx="5829121"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513874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Hangi algoritma ne zaman?</a:t>
              </a:r>
            </a:p>
          </p:txBody>
        </p:sp>
      </p:grpSp>
      <p:grpSp>
        <p:nvGrpSpPr>
          <p:cNvPr id="13" name="start-node"/>
          <p:cNvGrpSpPr/>
          <p:nvPr/>
        </p:nvGrpSpPr>
        <p:grpSpPr>
          <a:xfrm>
            <a:off x="5143500" y="1162050"/>
            <a:ext cx="1905000" cy="571500"/>
            <a:chOff x="5143500" y="1162050"/>
            <a:chExt cx="1905000" cy="571500"/>
          </a:xfrm>
        </p:grpSpPr>
        <p:sp>
          <p:nvSpPr>
            <p:cNvPr id="11" name="Rectangle 11"/>
            <p:cNvSpPr/>
            <p:nvPr/>
          </p:nvSpPr>
          <p:spPr>
            <a:xfrm>
              <a:off x="5143500" y="1162050"/>
              <a:ext cx="1905000" cy="571500"/>
            </a:xfrm>
            <a:prstGeom prst="roundRect">
              <a:avLst>
                <a:gd name="adj" fmla="val 16667"/>
              </a:avLst>
            </a:prstGeom>
            <a:solidFill>
              <a:srgbClr val="12355B"/>
            </a:solidFill>
            <a:ln>
              <a:noFill/>
            </a:ln>
          </p:spPr>
        </p:sp>
        <p:sp>
          <p:nvSpPr>
            <p:cNvPr id="12" name="TextBox 12"/>
            <p:cNvSpPr txBox="1"/>
            <p:nvPr/>
          </p:nvSpPr>
          <p:spPr>
            <a:xfrm>
              <a:off x="5251334" y="1359218"/>
              <a:ext cx="1689332"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Kümeleme ihtiyacı</a:t>
              </a:r>
            </a:p>
          </p:txBody>
        </p:sp>
      </p:grpSp>
      <p:sp>
        <p:nvSpPr>
          <p:cNvPr id="14" name="Line 14"/>
          <p:cNvSpPr/>
          <p:nvPr/>
        </p:nvSpPr>
        <p:spPr>
          <a:xfrm>
            <a:off x="6096000" y="1733550"/>
            <a:ext cx="1" cy="285750"/>
          </a:xfrm>
          <a:prstGeom prst="line">
            <a:avLst/>
          </a:prstGeom>
          <a:noFill/>
          <a:ln w="19050">
            <a:solidFill>
              <a:srgbClr val="00A6A6"/>
            </a:solidFill>
            <a:tailEnd type="triangle" w="lg" len="lg"/>
          </a:ln>
        </p:spPr>
      </p:sp>
      <p:grpSp>
        <p:nvGrpSpPr>
          <p:cNvPr id="18" name="q1"/>
          <p:cNvGrpSpPr/>
          <p:nvPr/>
        </p:nvGrpSpPr>
        <p:grpSpPr>
          <a:xfrm>
            <a:off x="4667250" y="2019300"/>
            <a:ext cx="2857500" cy="628650"/>
            <a:chOff x="4667250" y="2019300"/>
            <a:chExt cx="2857500" cy="628650"/>
          </a:xfrm>
        </p:grpSpPr>
        <p:sp>
          <p:nvSpPr>
            <p:cNvPr id="15" name="Rectangle 15"/>
            <p:cNvSpPr/>
            <p:nvPr/>
          </p:nvSpPr>
          <p:spPr>
            <a:xfrm>
              <a:off x="4667250" y="2019300"/>
              <a:ext cx="2857500" cy="628650"/>
            </a:xfrm>
            <a:prstGeom prst="roundRect">
              <a:avLst>
                <a:gd name="adj" fmla="val 15152"/>
              </a:avLst>
            </a:prstGeom>
            <a:solidFill>
              <a:srgbClr val="EAF4F6"/>
            </a:solidFill>
            <a:ln w="14288">
              <a:solidFill>
                <a:srgbClr val="2E86AB"/>
              </a:solidFill>
            </a:ln>
          </p:spPr>
        </p:sp>
        <p:sp>
          <p:nvSpPr>
            <p:cNvPr id="16" name="TextBox 16"/>
            <p:cNvSpPr txBox="1"/>
            <p:nvPr/>
          </p:nvSpPr>
          <p:spPr>
            <a:xfrm>
              <a:off x="5136657" y="2148364"/>
              <a:ext cx="1918686" cy="249364"/>
            </a:xfrm>
            <a:prstGeom prst="rect">
              <a:avLst/>
            </a:prstGeom>
            <a:noFill/>
            <a:ln>
              <a:noFill/>
            </a:ln>
          </p:spPr>
          <p:txBody>
            <a:bodyPr wrap="none" lIns="0" tIns="0" rIns="0" bIns="0" anchor="t" anchorCtr="0">
              <a:spAutoFit/>
            </a:bodyPr>
            <a:lstStyle/>
            <a:p>
              <a:pPr algn="ctr"/>
              <a:r>
                <a:rPr lang="tr-TR" sz="1280" b="1" dirty="0">
                  <a:solidFill>
                    <a:srgbClr val="12355B"/>
                  </a:solidFill>
                  <a:latin typeface="+mn-lt"/>
                  <a:ea typeface="+mn-ea"/>
                  <a:cs typeface="+mn-cs"/>
                </a:rPr>
                <a:t>Veri büyüklüğü çok mu</a:t>
              </a:r>
            </a:p>
          </p:txBody>
        </p:sp>
        <p:sp>
          <p:nvSpPr>
            <p:cNvPr id="17" name="TextBox 17"/>
            <p:cNvSpPr txBox="1"/>
            <p:nvPr/>
          </p:nvSpPr>
          <p:spPr>
            <a:xfrm>
              <a:off x="5139644" y="2357914"/>
              <a:ext cx="1912711" cy="249364"/>
            </a:xfrm>
            <a:prstGeom prst="rect">
              <a:avLst/>
            </a:prstGeom>
            <a:noFill/>
            <a:ln>
              <a:noFill/>
            </a:ln>
          </p:spPr>
          <p:txBody>
            <a:bodyPr wrap="none" lIns="0" tIns="0" rIns="0" bIns="0" anchor="t" anchorCtr="0">
              <a:spAutoFit/>
            </a:bodyPr>
            <a:lstStyle/>
            <a:p>
              <a:pPr algn="ctr"/>
              <a:r>
                <a:rPr lang="tr-TR" sz="1280" b="1" dirty="0">
                  <a:solidFill>
                    <a:srgbClr val="12355B"/>
                  </a:solidFill>
                  <a:latin typeface="+mn-lt"/>
                  <a:ea typeface="+mn-ea"/>
                  <a:cs typeface="+mn-cs"/>
                </a:rPr>
                <a:t>büyük (100b+ satır)?</a:t>
              </a:r>
            </a:p>
          </p:txBody>
        </p:sp>
      </p:grpSp>
      <p:sp>
        <p:nvSpPr>
          <p:cNvPr id="19" name="Line 19"/>
          <p:cNvSpPr/>
          <p:nvPr/>
        </p:nvSpPr>
        <p:spPr>
          <a:xfrm flipH="1">
            <a:off x="2571750" y="2333625"/>
            <a:ext cx="2095500" cy="1"/>
          </a:xfrm>
          <a:prstGeom prst="line">
            <a:avLst/>
          </a:prstGeom>
          <a:noFill/>
          <a:ln w="19050">
            <a:solidFill>
              <a:srgbClr val="00A6A6"/>
            </a:solidFill>
            <a:tailEnd type="triangle" w="lg" len="lg"/>
          </a:ln>
        </p:spPr>
      </p:sp>
      <p:sp>
        <p:nvSpPr>
          <p:cNvPr id="20" name="TextBox 20"/>
          <p:cNvSpPr txBox="1"/>
          <p:nvPr/>
        </p:nvSpPr>
        <p:spPr>
          <a:xfrm>
            <a:off x="3456480" y="2125028"/>
            <a:ext cx="326041"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Evet</a:t>
            </a:r>
          </a:p>
        </p:txBody>
      </p:sp>
      <p:sp>
        <p:nvSpPr>
          <p:cNvPr id="21" name="Line 21"/>
          <p:cNvSpPr/>
          <p:nvPr/>
        </p:nvSpPr>
        <p:spPr>
          <a:xfrm>
            <a:off x="7524750" y="2333625"/>
            <a:ext cx="1619250" cy="1"/>
          </a:xfrm>
          <a:prstGeom prst="line">
            <a:avLst/>
          </a:prstGeom>
          <a:noFill/>
          <a:ln w="19050">
            <a:solidFill>
              <a:srgbClr val="B8CBD3"/>
            </a:solidFill>
            <a:custDash>
              <a:ds d="250000" sp="200000"/>
            </a:custDash>
            <a:tailEnd type="triangle" w="lg" len="lg"/>
          </a:ln>
        </p:spPr>
      </p:sp>
      <p:sp>
        <p:nvSpPr>
          <p:cNvPr id="22" name="TextBox 22"/>
          <p:cNvSpPr txBox="1"/>
          <p:nvPr/>
        </p:nvSpPr>
        <p:spPr>
          <a:xfrm>
            <a:off x="8132483" y="2125028"/>
            <a:ext cx="403784"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Hayır</a:t>
            </a:r>
          </a:p>
        </p:txBody>
      </p:sp>
      <p:grpSp>
        <p:nvGrpSpPr>
          <p:cNvPr id="25" name="node-kmeans"/>
          <p:cNvGrpSpPr/>
          <p:nvPr/>
        </p:nvGrpSpPr>
        <p:grpSpPr>
          <a:xfrm>
            <a:off x="952500" y="2076450"/>
            <a:ext cx="1619250" cy="533400"/>
            <a:chOff x="952500" y="2076450"/>
            <a:chExt cx="1619250" cy="533400"/>
          </a:xfrm>
        </p:grpSpPr>
        <p:sp>
          <p:nvSpPr>
            <p:cNvPr id="23" name="Rectangle 23"/>
            <p:cNvSpPr/>
            <p:nvPr/>
          </p:nvSpPr>
          <p:spPr>
            <a:xfrm>
              <a:off x="952500" y="2076450"/>
              <a:ext cx="1619250" cy="533400"/>
            </a:xfrm>
            <a:prstGeom prst="roundRect">
              <a:avLst>
                <a:gd name="adj" fmla="val 17857"/>
              </a:avLst>
            </a:prstGeom>
            <a:solidFill>
              <a:srgbClr val="00A6A6"/>
            </a:solidFill>
            <a:ln>
              <a:noFill/>
            </a:ln>
          </p:spPr>
        </p:sp>
        <p:sp>
          <p:nvSpPr>
            <p:cNvPr id="24" name="TextBox 24"/>
            <p:cNvSpPr txBox="1"/>
            <p:nvPr/>
          </p:nvSpPr>
          <p:spPr>
            <a:xfrm>
              <a:off x="1382353" y="2262664"/>
              <a:ext cx="759543" cy="249364"/>
            </a:xfrm>
            <a:prstGeom prst="rect">
              <a:avLst/>
            </a:prstGeom>
            <a:noFill/>
            <a:ln>
              <a:noFill/>
            </a:ln>
          </p:spPr>
          <p:txBody>
            <a:bodyPr wrap="none" lIns="0" tIns="0" rIns="0" bIns="0" anchor="t" anchorCtr="0">
              <a:spAutoFit/>
            </a:bodyPr>
            <a:lstStyle/>
            <a:p>
              <a:pPr algn="ctr"/>
              <a:r>
                <a:rPr lang="tr-TR" sz="1280" b="1" dirty="0">
                  <a:solidFill>
                    <a:srgbClr val="FFFFFF"/>
                  </a:solidFill>
                  <a:latin typeface="+mn-lt"/>
                  <a:ea typeface="+mn-ea"/>
                  <a:cs typeface="+mn-cs"/>
                </a:rPr>
                <a:t>K-Means</a:t>
              </a:r>
            </a:p>
          </p:txBody>
        </p:sp>
      </p:grpSp>
      <p:grpSp>
        <p:nvGrpSpPr>
          <p:cNvPr id="29" name="q2"/>
          <p:cNvGrpSpPr/>
          <p:nvPr/>
        </p:nvGrpSpPr>
        <p:grpSpPr>
          <a:xfrm>
            <a:off x="9144000" y="2019300"/>
            <a:ext cx="2857500" cy="628650"/>
            <a:chOff x="9144000" y="2019300"/>
            <a:chExt cx="2857500" cy="628650"/>
          </a:xfrm>
        </p:grpSpPr>
        <p:sp>
          <p:nvSpPr>
            <p:cNvPr id="26" name="Rectangle 26"/>
            <p:cNvSpPr/>
            <p:nvPr/>
          </p:nvSpPr>
          <p:spPr>
            <a:xfrm>
              <a:off x="9144000" y="2019300"/>
              <a:ext cx="2857500" cy="628650"/>
            </a:xfrm>
            <a:prstGeom prst="roundRect">
              <a:avLst>
                <a:gd name="adj" fmla="val 15152"/>
              </a:avLst>
            </a:prstGeom>
            <a:solidFill>
              <a:srgbClr val="EAF4F6"/>
            </a:solidFill>
            <a:ln w="14288">
              <a:solidFill>
                <a:srgbClr val="2E86AB"/>
              </a:solidFill>
            </a:ln>
          </p:spPr>
        </p:sp>
        <p:sp>
          <p:nvSpPr>
            <p:cNvPr id="27" name="TextBox 27"/>
            <p:cNvSpPr txBox="1"/>
            <p:nvPr/>
          </p:nvSpPr>
          <p:spPr>
            <a:xfrm>
              <a:off x="9410010" y="2148364"/>
              <a:ext cx="2325480" cy="249364"/>
            </a:xfrm>
            <a:prstGeom prst="rect">
              <a:avLst/>
            </a:prstGeom>
            <a:noFill/>
            <a:ln>
              <a:noFill/>
            </a:ln>
          </p:spPr>
          <p:txBody>
            <a:bodyPr wrap="none" lIns="0" tIns="0" rIns="0" bIns="0" anchor="t" anchorCtr="0">
              <a:spAutoFit/>
            </a:bodyPr>
            <a:lstStyle/>
            <a:p>
              <a:pPr algn="ctr"/>
              <a:r>
                <a:rPr lang="tr-TR" sz="1280" b="1" dirty="0">
                  <a:solidFill>
                    <a:srgbClr val="12355B"/>
                  </a:solidFill>
                  <a:latin typeface="+mn-lt"/>
                  <a:ea typeface="+mn-ea"/>
                  <a:cs typeface="+mn-cs"/>
                </a:rPr>
                <a:t>Kümeler küresel şekilli mi,</a:t>
              </a:r>
            </a:p>
          </p:txBody>
        </p:sp>
        <p:sp>
          <p:nvSpPr>
            <p:cNvPr id="28" name="TextBox 28"/>
            <p:cNvSpPr txBox="1"/>
            <p:nvPr/>
          </p:nvSpPr>
          <p:spPr>
            <a:xfrm>
              <a:off x="9688766" y="2357914"/>
              <a:ext cx="1767968" cy="249364"/>
            </a:xfrm>
            <a:prstGeom prst="rect">
              <a:avLst/>
            </a:prstGeom>
            <a:noFill/>
            <a:ln>
              <a:noFill/>
            </a:ln>
          </p:spPr>
          <p:txBody>
            <a:bodyPr wrap="none" lIns="0" tIns="0" rIns="0" bIns="0" anchor="t" anchorCtr="0">
              <a:spAutoFit/>
            </a:bodyPr>
            <a:lstStyle/>
            <a:p>
              <a:pPr algn="ctr"/>
              <a:r>
                <a:rPr lang="tr-TR" sz="1280" b="1" dirty="0">
                  <a:solidFill>
                    <a:srgbClr val="12355B"/>
                  </a:solidFill>
                  <a:latin typeface="+mn-lt"/>
                  <a:ea typeface="+mn-ea"/>
                  <a:cs typeface="+mn-cs"/>
                </a:rPr>
                <a:t>sayısı biliniyor mu?</a:t>
              </a:r>
            </a:p>
          </p:txBody>
        </p:sp>
      </p:grpSp>
      <p:sp>
        <p:nvSpPr>
          <p:cNvPr id="30" name="Line 30"/>
          <p:cNvSpPr/>
          <p:nvPr/>
        </p:nvSpPr>
        <p:spPr>
          <a:xfrm>
            <a:off x="10572750" y="2647950"/>
            <a:ext cx="1" cy="495300"/>
          </a:xfrm>
          <a:prstGeom prst="line">
            <a:avLst/>
          </a:prstGeom>
          <a:noFill/>
          <a:ln w="19050">
            <a:solidFill>
              <a:srgbClr val="B8CBD3"/>
            </a:solidFill>
            <a:custDash>
              <a:ds d="250000" sp="200000"/>
            </a:custDash>
            <a:tailEnd type="triangle" w="lg" len="lg"/>
          </a:ln>
        </p:spPr>
      </p:sp>
      <p:sp>
        <p:nvSpPr>
          <p:cNvPr id="31" name="TextBox 31"/>
          <p:cNvSpPr txBox="1"/>
          <p:nvPr/>
        </p:nvSpPr>
        <p:spPr>
          <a:xfrm>
            <a:off x="10751858" y="2839402"/>
            <a:ext cx="403784"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Hayır</a:t>
            </a:r>
          </a:p>
        </p:txBody>
      </p:sp>
      <p:grpSp>
        <p:nvGrpSpPr>
          <p:cNvPr id="34" name="node-kmeans2"/>
          <p:cNvGrpSpPr/>
          <p:nvPr/>
        </p:nvGrpSpPr>
        <p:grpSpPr>
          <a:xfrm>
            <a:off x="9763125" y="3143250"/>
            <a:ext cx="1619250" cy="533400"/>
            <a:chOff x="9763125" y="3143250"/>
            <a:chExt cx="1619250" cy="533400"/>
          </a:xfrm>
        </p:grpSpPr>
        <p:sp>
          <p:nvSpPr>
            <p:cNvPr id="32" name="Rectangle 32"/>
            <p:cNvSpPr/>
            <p:nvPr/>
          </p:nvSpPr>
          <p:spPr>
            <a:xfrm>
              <a:off x="9763125" y="3143250"/>
              <a:ext cx="1619250" cy="533400"/>
            </a:xfrm>
            <a:prstGeom prst="roundRect">
              <a:avLst>
                <a:gd name="adj" fmla="val 17857"/>
              </a:avLst>
            </a:prstGeom>
            <a:solidFill>
              <a:srgbClr val="00A6A6"/>
            </a:solidFill>
            <a:ln>
              <a:noFill/>
            </a:ln>
          </p:spPr>
        </p:sp>
        <p:sp>
          <p:nvSpPr>
            <p:cNvPr id="33" name="TextBox 33"/>
            <p:cNvSpPr txBox="1"/>
            <p:nvPr/>
          </p:nvSpPr>
          <p:spPr>
            <a:xfrm>
              <a:off x="10192978" y="3329464"/>
              <a:ext cx="759543" cy="249364"/>
            </a:xfrm>
            <a:prstGeom prst="rect">
              <a:avLst/>
            </a:prstGeom>
            <a:noFill/>
            <a:ln>
              <a:noFill/>
            </a:ln>
          </p:spPr>
          <p:txBody>
            <a:bodyPr wrap="none" lIns="0" tIns="0" rIns="0" bIns="0" anchor="t" anchorCtr="0">
              <a:spAutoFit/>
            </a:bodyPr>
            <a:lstStyle/>
            <a:p>
              <a:pPr algn="ctr"/>
              <a:r>
                <a:rPr lang="tr-TR" sz="1280" b="1" dirty="0">
                  <a:solidFill>
                    <a:srgbClr val="FFFFFF"/>
                  </a:solidFill>
                  <a:latin typeface="+mn-lt"/>
                  <a:ea typeface="+mn-ea"/>
                  <a:cs typeface="+mn-cs"/>
                </a:rPr>
                <a:t>K-Means</a:t>
              </a:r>
            </a:p>
          </p:txBody>
        </p:sp>
      </p:grpSp>
      <p:grpSp>
        <p:nvGrpSpPr>
          <p:cNvPr id="39" name="q3"/>
          <p:cNvGrpSpPr/>
          <p:nvPr/>
        </p:nvGrpSpPr>
        <p:grpSpPr>
          <a:xfrm>
            <a:off x="9144000" y="3829050"/>
            <a:ext cx="2857500" cy="759428"/>
            <a:chOff x="9144000" y="3829050"/>
            <a:chExt cx="2857500" cy="759428"/>
          </a:xfrm>
        </p:grpSpPr>
        <p:sp>
          <p:nvSpPr>
            <p:cNvPr id="35" name="Rectangle 35"/>
            <p:cNvSpPr/>
            <p:nvPr/>
          </p:nvSpPr>
          <p:spPr>
            <a:xfrm>
              <a:off x="9144000" y="3829050"/>
              <a:ext cx="2857500" cy="723900"/>
            </a:xfrm>
            <a:prstGeom prst="roundRect">
              <a:avLst>
                <a:gd name="adj" fmla="val 13158"/>
              </a:avLst>
            </a:prstGeom>
            <a:solidFill>
              <a:srgbClr val="EAF4F6"/>
            </a:solidFill>
            <a:ln w="14288">
              <a:solidFill>
                <a:srgbClr val="2E86AB"/>
              </a:solidFill>
            </a:ln>
          </p:spPr>
        </p:sp>
        <p:sp>
          <p:nvSpPr>
            <p:cNvPr id="36" name="TextBox 36"/>
            <p:cNvSpPr txBox="1"/>
            <p:nvPr/>
          </p:nvSpPr>
          <p:spPr>
            <a:xfrm>
              <a:off x="9509766" y="3958114"/>
              <a:ext cx="2125968" cy="249364"/>
            </a:xfrm>
            <a:prstGeom prst="rect">
              <a:avLst/>
            </a:prstGeom>
            <a:noFill/>
            <a:ln>
              <a:noFill/>
            </a:ln>
          </p:spPr>
          <p:txBody>
            <a:bodyPr wrap="none" lIns="0" tIns="0" rIns="0" bIns="0" anchor="t" anchorCtr="0">
              <a:spAutoFit/>
            </a:bodyPr>
            <a:lstStyle/>
            <a:p>
              <a:pPr algn="ctr"/>
              <a:r>
                <a:rPr lang="tr-TR" sz="1280" b="1" dirty="0">
                  <a:solidFill>
                    <a:srgbClr val="12355B"/>
                  </a:solidFill>
                  <a:latin typeface="+mn-lt"/>
                  <a:ea typeface="+mn-ea"/>
                  <a:cs typeface="+mn-cs"/>
                </a:rPr>
                <a:t>Yorumlanabilir hiyerarşi</a:t>
              </a:r>
            </a:p>
          </p:txBody>
        </p:sp>
        <p:sp>
          <p:nvSpPr>
            <p:cNvPr id="37" name="TextBox 37"/>
            <p:cNvSpPr txBox="1"/>
            <p:nvPr/>
          </p:nvSpPr>
          <p:spPr>
            <a:xfrm>
              <a:off x="9562115" y="4167664"/>
              <a:ext cx="2021269" cy="249364"/>
            </a:xfrm>
            <a:prstGeom prst="rect">
              <a:avLst/>
            </a:prstGeom>
            <a:noFill/>
            <a:ln>
              <a:noFill/>
            </a:ln>
          </p:spPr>
          <p:txBody>
            <a:bodyPr wrap="none" lIns="0" tIns="0" rIns="0" bIns="0" anchor="t" anchorCtr="0">
              <a:spAutoFit/>
            </a:bodyPr>
            <a:lstStyle/>
            <a:p>
              <a:pPr algn="ctr"/>
              <a:r>
                <a:rPr lang="tr-TR" sz="1280" b="1" dirty="0">
                  <a:solidFill>
                    <a:srgbClr val="12355B"/>
                  </a:solidFill>
                  <a:latin typeface="+mn-lt"/>
                  <a:ea typeface="+mn-ea"/>
                  <a:cs typeface="+mn-cs"/>
                </a:rPr>
                <a:t>/ iç içe yapı önemli mi,</a:t>
              </a:r>
            </a:p>
          </p:txBody>
        </p:sp>
        <p:sp>
          <p:nvSpPr>
            <p:cNvPr id="38" name="TextBox 38"/>
            <p:cNvSpPr txBox="1"/>
            <p:nvPr/>
          </p:nvSpPr>
          <p:spPr>
            <a:xfrm>
              <a:off x="9670673" y="4339114"/>
              <a:ext cx="1804154" cy="249364"/>
            </a:xfrm>
            <a:prstGeom prst="rect">
              <a:avLst/>
            </a:prstGeom>
            <a:noFill/>
            <a:ln>
              <a:noFill/>
            </a:ln>
          </p:spPr>
          <p:txBody>
            <a:bodyPr wrap="none" lIns="0" tIns="0" rIns="0" bIns="0" anchor="t" anchorCtr="0">
              <a:spAutoFit/>
            </a:bodyPr>
            <a:lstStyle/>
            <a:p>
              <a:pPr algn="ctr"/>
              <a:r>
                <a:rPr lang="tr-TR" sz="1280" b="1" dirty="0">
                  <a:solidFill>
                    <a:srgbClr val="12355B"/>
                  </a:solidFill>
                  <a:latin typeface="+mn-lt"/>
                  <a:ea typeface="+mn-ea"/>
                  <a:cs typeface="+mn-cs"/>
                </a:rPr>
                <a:t>veri küçük-orta mı?</a:t>
              </a:r>
            </a:p>
          </p:txBody>
        </p:sp>
      </p:grpSp>
      <p:sp>
        <p:nvSpPr>
          <p:cNvPr id="40" name="Line 40"/>
          <p:cNvSpPr/>
          <p:nvPr/>
        </p:nvSpPr>
        <p:spPr>
          <a:xfrm>
            <a:off x="10572750" y="3676650"/>
            <a:ext cx="1" cy="152400"/>
          </a:xfrm>
          <a:prstGeom prst="line">
            <a:avLst/>
          </a:prstGeom>
          <a:noFill/>
          <a:ln w="19050">
            <a:solidFill>
              <a:srgbClr val="B8CBD3"/>
            </a:solidFill>
            <a:custDash>
              <a:ds d="250000" sp="200000"/>
            </a:custDash>
            <a:tailEnd type="triangle" w="lg" len="lg"/>
          </a:ln>
        </p:spPr>
      </p:sp>
      <p:sp>
        <p:nvSpPr>
          <p:cNvPr id="41" name="TextBox 41"/>
          <p:cNvSpPr txBox="1"/>
          <p:nvPr/>
        </p:nvSpPr>
        <p:spPr>
          <a:xfrm>
            <a:off x="10751858" y="3677602"/>
            <a:ext cx="403784"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Hayır</a:t>
            </a:r>
          </a:p>
        </p:txBody>
      </p:sp>
      <p:sp>
        <p:nvSpPr>
          <p:cNvPr id="42" name="Line 42"/>
          <p:cNvSpPr/>
          <p:nvPr/>
        </p:nvSpPr>
        <p:spPr>
          <a:xfrm flipH="1">
            <a:off x="7524750" y="4191000"/>
            <a:ext cx="1619250" cy="1"/>
          </a:xfrm>
          <a:prstGeom prst="line">
            <a:avLst/>
          </a:prstGeom>
          <a:noFill/>
          <a:ln w="19050">
            <a:solidFill>
              <a:srgbClr val="00A6A6"/>
            </a:solidFill>
            <a:tailEnd type="triangle" w="lg" len="lg"/>
          </a:ln>
        </p:spPr>
      </p:sp>
      <p:sp>
        <p:nvSpPr>
          <p:cNvPr id="43" name="TextBox 43"/>
          <p:cNvSpPr txBox="1"/>
          <p:nvPr/>
        </p:nvSpPr>
        <p:spPr>
          <a:xfrm>
            <a:off x="8171355" y="3982402"/>
            <a:ext cx="326041"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Evet</a:t>
            </a:r>
          </a:p>
        </p:txBody>
      </p:sp>
      <p:grpSp>
        <p:nvGrpSpPr>
          <p:cNvPr id="46" name="node-hier"/>
          <p:cNvGrpSpPr/>
          <p:nvPr/>
        </p:nvGrpSpPr>
        <p:grpSpPr>
          <a:xfrm>
            <a:off x="5715000" y="3924300"/>
            <a:ext cx="1809750" cy="533400"/>
            <a:chOff x="5715000" y="3924300"/>
            <a:chExt cx="1809750" cy="533400"/>
          </a:xfrm>
        </p:grpSpPr>
        <p:sp>
          <p:nvSpPr>
            <p:cNvPr id="44" name="Rectangle 44"/>
            <p:cNvSpPr/>
            <p:nvPr/>
          </p:nvSpPr>
          <p:spPr>
            <a:xfrm>
              <a:off x="5715000" y="3924300"/>
              <a:ext cx="1809750" cy="533400"/>
            </a:xfrm>
            <a:prstGeom prst="roundRect">
              <a:avLst>
                <a:gd name="adj" fmla="val 17857"/>
              </a:avLst>
            </a:prstGeom>
            <a:solidFill>
              <a:srgbClr val="2E86AB"/>
            </a:solidFill>
            <a:ln>
              <a:noFill/>
            </a:ln>
          </p:spPr>
        </p:sp>
        <p:sp>
          <p:nvSpPr>
            <p:cNvPr id="45" name="TextBox 45"/>
            <p:cNvSpPr txBox="1"/>
            <p:nvPr/>
          </p:nvSpPr>
          <p:spPr>
            <a:xfrm>
              <a:off x="5716717" y="4110514"/>
              <a:ext cx="1806316" cy="249364"/>
            </a:xfrm>
            <a:prstGeom prst="rect">
              <a:avLst/>
            </a:prstGeom>
            <a:noFill/>
            <a:ln>
              <a:noFill/>
            </a:ln>
          </p:spPr>
          <p:txBody>
            <a:bodyPr wrap="none" lIns="0" tIns="0" rIns="0" bIns="0" anchor="t" anchorCtr="0">
              <a:spAutoFit/>
            </a:bodyPr>
            <a:lstStyle/>
            <a:p>
              <a:pPr algn="ctr"/>
              <a:r>
                <a:rPr lang="tr-TR" sz="1280" b="1" dirty="0">
                  <a:solidFill>
                    <a:srgbClr val="FFFFFF"/>
                  </a:solidFill>
                  <a:latin typeface="+mn-lt"/>
                  <a:ea typeface="+mn-ea"/>
                  <a:cs typeface="+mn-cs"/>
                </a:rPr>
                <a:t>Hiyerarşik Kümeleme</a:t>
              </a:r>
            </a:p>
          </p:txBody>
        </p:sp>
      </p:grpSp>
      <p:sp>
        <p:nvSpPr>
          <p:cNvPr id="47" name="Line 47"/>
          <p:cNvSpPr/>
          <p:nvPr/>
        </p:nvSpPr>
        <p:spPr>
          <a:xfrm>
            <a:off x="10572750" y="4552950"/>
            <a:ext cx="1" cy="495300"/>
          </a:xfrm>
          <a:prstGeom prst="line">
            <a:avLst/>
          </a:prstGeom>
          <a:noFill/>
          <a:ln w="19050">
            <a:solidFill>
              <a:srgbClr val="B8CBD3"/>
            </a:solidFill>
            <a:custDash>
              <a:ds d="250000" sp="200000"/>
            </a:custDash>
            <a:tailEnd type="triangle" w="lg" len="lg"/>
          </a:ln>
        </p:spPr>
      </p:sp>
      <p:sp>
        <p:nvSpPr>
          <p:cNvPr id="48" name="TextBox 48"/>
          <p:cNvSpPr txBox="1"/>
          <p:nvPr/>
        </p:nvSpPr>
        <p:spPr>
          <a:xfrm>
            <a:off x="10751858" y="4744402"/>
            <a:ext cx="403784"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Hayır</a:t>
            </a:r>
          </a:p>
        </p:txBody>
      </p:sp>
      <p:grpSp>
        <p:nvGrpSpPr>
          <p:cNvPr id="51" name="node-dbscan"/>
          <p:cNvGrpSpPr/>
          <p:nvPr/>
        </p:nvGrpSpPr>
        <p:grpSpPr>
          <a:xfrm>
            <a:off x="9763125" y="5048250"/>
            <a:ext cx="1619250" cy="533400"/>
            <a:chOff x="9763125" y="5048250"/>
            <a:chExt cx="1619250" cy="533400"/>
          </a:xfrm>
        </p:grpSpPr>
        <p:sp>
          <p:nvSpPr>
            <p:cNvPr id="49" name="Rectangle 49"/>
            <p:cNvSpPr/>
            <p:nvPr/>
          </p:nvSpPr>
          <p:spPr>
            <a:xfrm>
              <a:off x="9763125" y="5048250"/>
              <a:ext cx="1619250" cy="533400"/>
            </a:xfrm>
            <a:prstGeom prst="roundRect">
              <a:avLst>
                <a:gd name="adj" fmla="val 17857"/>
              </a:avLst>
            </a:prstGeom>
            <a:solidFill>
              <a:srgbClr val="12355B"/>
            </a:solidFill>
            <a:ln>
              <a:noFill/>
            </a:ln>
          </p:spPr>
        </p:sp>
        <p:sp>
          <p:nvSpPr>
            <p:cNvPr id="50" name="TextBox 50"/>
            <p:cNvSpPr txBox="1"/>
            <p:nvPr/>
          </p:nvSpPr>
          <p:spPr>
            <a:xfrm>
              <a:off x="10250842" y="5234464"/>
              <a:ext cx="643817" cy="249364"/>
            </a:xfrm>
            <a:prstGeom prst="rect">
              <a:avLst/>
            </a:prstGeom>
            <a:noFill/>
            <a:ln>
              <a:noFill/>
            </a:ln>
          </p:spPr>
          <p:txBody>
            <a:bodyPr wrap="none" lIns="0" tIns="0" rIns="0" bIns="0" anchor="t" anchorCtr="0">
              <a:spAutoFit/>
            </a:bodyPr>
            <a:lstStyle/>
            <a:p>
              <a:pPr algn="ctr"/>
              <a:r>
                <a:rPr lang="tr-TR" sz="1280" b="1" dirty="0">
                  <a:solidFill>
                    <a:srgbClr val="FFFFFF"/>
                  </a:solidFill>
                  <a:latin typeface="+mn-lt"/>
                  <a:ea typeface="+mn-ea"/>
                  <a:cs typeface="+mn-cs"/>
                </a:rPr>
                <a:t>DBSCAN</a:t>
              </a:r>
            </a:p>
          </p:txBody>
        </p:sp>
      </p:grpSp>
      <p:grpSp>
        <p:nvGrpSpPr>
          <p:cNvPr id="54" name="note"/>
          <p:cNvGrpSpPr/>
          <p:nvPr/>
        </p:nvGrpSpPr>
        <p:grpSpPr>
          <a:xfrm>
            <a:off x="603504" y="5795010"/>
            <a:ext cx="7943349" cy="444246"/>
            <a:chOff x="603504" y="5795010"/>
            <a:chExt cx="7943349" cy="444246"/>
          </a:xfrm>
        </p:grpSpPr>
        <p:sp>
          <p:nvSpPr>
            <p:cNvPr id="52" name="TextBox 52"/>
            <p:cNvSpPr txBox="1"/>
            <p:nvPr/>
          </p:nvSpPr>
          <p:spPr>
            <a:xfrm>
              <a:off x="603504" y="5795010"/>
              <a:ext cx="743224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Kural: rastgele şekilli kümeler, farklı yoğunluklar veya gürültü/aykırı değer beklentisi varsa</a:t>
              </a:r>
            </a:p>
          </p:txBody>
        </p:sp>
        <p:sp>
          <p:nvSpPr>
            <p:cNvPr id="53" name="TextBox 53"/>
            <p:cNvSpPr txBox="1"/>
            <p:nvPr/>
          </p:nvSpPr>
          <p:spPr>
            <a:xfrm>
              <a:off x="603504" y="6004560"/>
              <a:ext cx="794334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DBSCAN; küresel ve dengeli kümeler için K-Means; keşifsel ve iç içe yapı için Hiyerarşik tercih edilir.</a:t>
              </a:r>
            </a:p>
          </p:txBody>
        </p:sp>
      </p:grpSp>
      <p:sp>
        <p:nvSpPr>
          <p:cNvPr id="55" name="TextBox 5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23</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582558" cy="557403"/>
            <a:chOff x="595122" y="282892"/>
            <a:chExt cx="8582558" cy="557403"/>
          </a:xfrm>
        </p:grpSpPr>
        <p:sp>
          <p:nvSpPr>
            <p:cNvPr id="4" name="TextBox 4"/>
            <p:cNvSpPr txBox="1"/>
            <p:nvPr/>
          </p:nvSpPr>
          <p:spPr>
            <a:xfrm>
              <a:off x="595122" y="282892"/>
              <a:ext cx="858255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Uzaklık ölçüleri: Öklid, Manhattan, Kosinüs</a:t>
              </a:r>
            </a:p>
          </p:txBody>
        </p:sp>
      </p:grpSp>
      <p:grpSp>
        <p:nvGrpSpPr>
          <p:cNvPr id="7" name="intro"/>
          <p:cNvGrpSpPr/>
          <p:nvPr/>
        </p:nvGrpSpPr>
        <p:grpSpPr>
          <a:xfrm>
            <a:off x="602742" y="1283018"/>
            <a:ext cx="11369140" cy="264033"/>
            <a:chOff x="602742" y="1283018"/>
            <a:chExt cx="11369140" cy="264033"/>
          </a:xfrm>
        </p:grpSpPr>
        <p:sp>
          <p:nvSpPr>
            <p:cNvPr id="6" name="TextBox 6"/>
            <p:cNvSpPr txBox="1"/>
            <p:nvPr/>
          </p:nvSpPr>
          <p:spPr>
            <a:xfrm>
              <a:off x="602742" y="1283018"/>
              <a:ext cx="1136914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Tüm kümeleme algoritmaları "benzerlik" kavramını bir uzaklık fonksiyonuyla tanımlar; seçilen ölçü sonucu doğrudan değiştirir.</a:t>
              </a:r>
            </a:p>
          </p:txBody>
        </p:sp>
      </p:grpSp>
      <p:grpSp>
        <p:nvGrpSpPr>
          <p:cNvPr id="25" name="worked-example"/>
          <p:cNvGrpSpPr/>
          <p:nvPr/>
        </p:nvGrpSpPr>
        <p:grpSpPr>
          <a:xfrm>
            <a:off x="609600" y="1790700"/>
            <a:ext cx="5257800" cy="4114800"/>
            <a:chOff x="609600" y="1790700"/>
            <a:chExt cx="5257800" cy="4114800"/>
          </a:xfrm>
        </p:grpSpPr>
        <p:sp>
          <p:nvSpPr>
            <p:cNvPr id="8" name="Rectangle 8"/>
            <p:cNvSpPr/>
            <p:nvPr/>
          </p:nvSpPr>
          <p:spPr>
            <a:xfrm>
              <a:off x="609600" y="1790700"/>
              <a:ext cx="5257800" cy="4114800"/>
            </a:xfrm>
            <a:prstGeom prst="roundRect">
              <a:avLst>
                <a:gd name="adj" fmla="val 2315"/>
              </a:avLst>
            </a:prstGeom>
            <a:solidFill>
              <a:srgbClr val="FFFFFF"/>
            </a:solidFill>
            <a:ln w="14288">
              <a:solidFill>
                <a:srgbClr val="B8CBD3"/>
              </a:solidFill>
            </a:ln>
          </p:spPr>
        </p:sp>
        <p:sp>
          <p:nvSpPr>
            <p:cNvPr id="9" name="TextBox 9"/>
            <p:cNvSpPr txBox="1"/>
            <p:nvPr/>
          </p:nvSpPr>
          <p:spPr>
            <a:xfrm>
              <a:off x="830580" y="1933575"/>
              <a:ext cx="2653856"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Örnek: A=(1,1), B=(4,5)</a:t>
              </a:r>
            </a:p>
          </p:txBody>
        </p:sp>
        <p:sp>
          <p:nvSpPr>
            <p:cNvPr id="10" name="Line 10"/>
            <p:cNvSpPr/>
            <p:nvPr/>
          </p:nvSpPr>
          <p:spPr>
            <a:xfrm>
              <a:off x="1238250" y="2476500"/>
              <a:ext cx="9525" cy="2095500"/>
            </a:xfrm>
            <a:custGeom>
              <a:avLst/>
              <a:gdLst/>
              <a:ahLst/>
              <a:cxnLst/>
              <a:rect l="l" t="t" r="r" b="b"/>
              <a:pathLst>
                <a:path w="9525" h="2095500">
                  <a:moveTo>
                    <a:pt x="0" y="2095500"/>
                  </a:moveTo>
                  <a:lnTo>
                    <a:pt x="0" y="0"/>
                  </a:lnTo>
                </a:path>
              </a:pathLst>
            </a:custGeom>
            <a:noFill/>
            <a:ln w="14288">
              <a:solidFill>
                <a:srgbClr val="52616B"/>
              </a:solidFill>
            </a:ln>
          </p:spPr>
        </p:sp>
        <p:sp>
          <p:nvSpPr>
            <p:cNvPr id="11" name="Line 11"/>
            <p:cNvSpPr/>
            <p:nvPr/>
          </p:nvSpPr>
          <p:spPr>
            <a:xfrm>
              <a:off x="1238250" y="4572000"/>
              <a:ext cx="4095750" cy="9525"/>
            </a:xfrm>
            <a:custGeom>
              <a:avLst/>
              <a:gdLst/>
              <a:ahLst/>
              <a:cxnLst/>
              <a:rect l="l" t="t" r="r" b="b"/>
              <a:pathLst>
                <a:path w="4095750" h="9525">
                  <a:moveTo>
                    <a:pt x="0" y="0"/>
                  </a:moveTo>
                  <a:lnTo>
                    <a:pt x="4095750" y="0"/>
                  </a:lnTo>
                </a:path>
              </a:pathLst>
            </a:custGeom>
            <a:noFill/>
            <a:ln w="14288">
              <a:solidFill>
                <a:srgbClr val="52616B"/>
              </a:solidFill>
            </a:ln>
          </p:spPr>
        </p:sp>
        <p:sp>
          <p:nvSpPr>
            <p:cNvPr id="12" name="Ellipse 12"/>
            <p:cNvSpPr/>
            <p:nvPr/>
          </p:nvSpPr>
          <p:spPr>
            <a:xfrm>
              <a:off x="1657350" y="4133850"/>
              <a:ext cx="114300" cy="114300"/>
            </a:xfrm>
            <a:prstGeom prst="ellipse">
              <a:avLst/>
            </a:prstGeom>
            <a:solidFill>
              <a:srgbClr val="12355B"/>
            </a:solidFill>
            <a:ln>
              <a:noFill/>
            </a:ln>
          </p:spPr>
        </p:sp>
        <p:sp>
          <p:nvSpPr>
            <p:cNvPr id="13" name="TextBox 13"/>
            <p:cNvSpPr txBox="1"/>
            <p:nvPr/>
          </p:nvSpPr>
          <p:spPr>
            <a:xfrm>
              <a:off x="1823085" y="4031456"/>
              <a:ext cx="613617"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A (1,1)</a:t>
              </a:r>
            </a:p>
          </p:txBody>
        </p:sp>
        <p:sp>
          <p:nvSpPr>
            <p:cNvPr id="14" name="Ellipse 14"/>
            <p:cNvSpPr/>
            <p:nvPr/>
          </p:nvSpPr>
          <p:spPr>
            <a:xfrm>
              <a:off x="3943350" y="2800350"/>
              <a:ext cx="114300" cy="114300"/>
            </a:xfrm>
            <a:prstGeom prst="ellipse">
              <a:avLst/>
            </a:prstGeom>
            <a:solidFill>
              <a:srgbClr val="00A6A6"/>
            </a:solidFill>
            <a:ln>
              <a:noFill/>
            </a:ln>
          </p:spPr>
        </p:sp>
        <p:sp>
          <p:nvSpPr>
            <p:cNvPr id="15" name="TextBox 15"/>
            <p:cNvSpPr txBox="1"/>
            <p:nvPr/>
          </p:nvSpPr>
          <p:spPr>
            <a:xfrm>
              <a:off x="4109085" y="2697956"/>
              <a:ext cx="613617"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B (4,5)</a:t>
              </a:r>
            </a:p>
          </p:txBody>
        </p:sp>
        <p:sp>
          <p:nvSpPr>
            <p:cNvPr id="16" name="Line 16"/>
            <p:cNvSpPr/>
            <p:nvPr/>
          </p:nvSpPr>
          <p:spPr>
            <a:xfrm>
              <a:off x="1714500" y="2857500"/>
              <a:ext cx="2286000" cy="1333500"/>
            </a:xfrm>
            <a:custGeom>
              <a:avLst/>
              <a:gdLst/>
              <a:ahLst/>
              <a:cxnLst/>
              <a:rect l="l" t="t" r="r" b="b"/>
              <a:pathLst>
                <a:path w="2286000" h="1333500">
                  <a:moveTo>
                    <a:pt x="0" y="1333500"/>
                  </a:moveTo>
                  <a:lnTo>
                    <a:pt x="2286000" y="0"/>
                  </a:lnTo>
                </a:path>
              </a:pathLst>
            </a:custGeom>
            <a:noFill/>
            <a:ln w="19050">
              <a:solidFill>
                <a:srgbClr val="2E86AB"/>
              </a:solidFill>
              <a:custDash>
                <a:ds d="300000" sp="200000"/>
              </a:custDash>
            </a:ln>
          </p:spPr>
        </p:sp>
        <p:sp>
          <p:nvSpPr>
            <p:cNvPr id="17" name="Line 17"/>
            <p:cNvSpPr/>
            <p:nvPr/>
          </p:nvSpPr>
          <p:spPr>
            <a:xfrm>
              <a:off x="1714500" y="4191000"/>
              <a:ext cx="2286000" cy="9525"/>
            </a:xfrm>
            <a:custGeom>
              <a:avLst/>
              <a:gdLst/>
              <a:ahLst/>
              <a:cxnLst/>
              <a:rect l="l" t="t" r="r" b="b"/>
              <a:pathLst>
                <a:path w="2286000" h="9525">
                  <a:moveTo>
                    <a:pt x="0" y="0"/>
                  </a:moveTo>
                  <a:lnTo>
                    <a:pt x="2286000" y="0"/>
                  </a:lnTo>
                </a:path>
              </a:pathLst>
            </a:custGeom>
            <a:noFill/>
            <a:ln w="19050">
              <a:solidFill>
                <a:srgbClr val="B8CBD3"/>
              </a:solidFill>
            </a:ln>
          </p:spPr>
        </p:sp>
        <p:sp>
          <p:nvSpPr>
            <p:cNvPr id="18" name="Line 18"/>
            <p:cNvSpPr/>
            <p:nvPr/>
          </p:nvSpPr>
          <p:spPr>
            <a:xfrm>
              <a:off x="4000500" y="2857500"/>
              <a:ext cx="9525" cy="1333500"/>
            </a:xfrm>
            <a:custGeom>
              <a:avLst/>
              <a:gdLst/>
              <a:ahLst/>
              <a:cxnLst/>
              <a:rect l="l" t="t" r="r" b="b"/>
              <a:pathLst>
                <a:path w="9525" h="1333500">
                  <a:moveTo>
                    <a:pt x="0" y="1333500"/>
                  </a:moveTo>
                  <a:lnTo>
                    <a:pt x="0" y="0"/>
                  </a:lnTo>
                </a:path>
              </a:pathLst>
            </a:custGeom>
            <a:noFill/>
            <a:ln w="19050">
              <a:solidFill>
                <a:srgbClr val="B8CBD3"/>
              </a:solidFill>
            </a:ln>
          </p:spPr>
        </p:sp>
        <p:sp>
          <p:nvSpPr>
            <p:cNvPr id="19" name="TextBox 19"/>
            <p:cNvSpPr txBox="1"/>
            <p:nvPr/>
          </p:nvSpPr>
          <p:spPr>
            <a:xfrm>
              <a:off x="2692279" y="4268152"/>
              <a:ext cx="330441" cy="205359"/>
            </a:xfrm>
            <a:prstGeom prst="rect">
              <a:avLst/>
            </a:prstGeom>
            <a:noFill/>
            <a:ln>
              <a:noFill/>
            </a:ln>
          </p:spPr>
          <p:txBody>
            <a:bodyPr wrap="none" lIns="0" tIns="0" rIns="0" bIns="0" anchor="t" anchorCtr="0">
              <a:spAutoFit/>
            </a:bodyPr>
            <a:lstStyle/>
            <a:p>
              <a:pPr algn="ctr"/>
              <a:r>
                <a:rPr lang="el-GR" sz="1050" dirty="0">
                  <a:solidFill>
                    <a:srgbClr val="52616B"/>
                  </a:solidFill>
                  <a:latin typeface="+mn-lt"/>
                  <a:ea typeface="+mn-ea"/>
                  <a:cs typeface="+mn-cs"/>
                </a:rPr>
                <a:t>Δx=3</a:t>
              </a:r>
            </a:p>
          </p:txBody>
        </p:sp>
        <p:sp>
          <p:nvSpPr>
            <p:cNvPr id="20" name="TextBox 20"/>
            <p:cNvSpPr txBox="1"/>
            <p:nvPr/>
          </p:nvSpPr>
          <p:spPr>
            <a:xfrm>
              <a:off x="4185666" y="3458528"/>
              <a:ext cx="330441" cy="205359"/>
            </a:xfrm>
            <a:prstGeom prst="rect">
              <a:avLst/>
            </a:prstGeom>
            <a:noFill/>
            <a:ln>
              <a:noFill/>
            </a:ln>
          </p:spPr>
          <p:txBody>
            <a:bodyPr wrap="none" lIns="0" tIns="0" rIns="0" bIns="0" anchor="t" anchorCtr="0">
              <a:spAutoFit/>
            </a:bodyPr>
            <a:lstStyle/>
            <a:p>
              <a:pPr algn="l"/>
              <a:r>
                <a:rPr lang="el-GR" sz="1050" dirty="0">
                  <a:solidFill>
                    <a:srgbClr val="52616B"/>
                  </a:solidFill>
                  <a:latin typeface="+mn-lt"/>
                  <a:ea typeface="+mn-ea"/>
                  <a:cs typeface="+mn-cs"/>
                </a:rPr>
                <a:t>Δy=4</a:t>
              </a:r>
            </a:p>
          </p:txBody>
        </p:sp>
        <p:sp>
          <p:nvSpPr>
            <p:cNvPr id="21" name="Rectangle 21"/>
            <p:cNvSpPr/>
            <p:nvPr/>
          </p:nvSpPr>
          <p:spPr>
            <a:xfrm>
              <a:off x="838200" y="4762500"/>
              <a:ext cx="4762500" cy="990600"/>
            </a:xfrm>
            <a:prstGeom prst="roundRect">
              <a:avLst>
                <a:gd name="adj" fmla="val 5769"/>
              </a:avLst>
            </a:prstGeom>
            <a:solidFill>
              <a:srgbClr val="EAF4F6"/>
            </a:solidFill>
            <a:ln>
              <a:noFill/>
            </a:ln>
          </p:spPr>
        </p:sp>
        <p:sp>
          <p:nvSpPr>
            <p:cNvPr id="22" name="TextBox 22"/>
            <p:cNvSpPr txBox="1"/>
            <p:nvPr/>
          </p:nvSpPr>
          <p:spPr>
            <a:xfrm>
              <a:off x="984123" y="4853464"/>
              <a:ext cx="210804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Öklid: √(3² + 4²) = 5,00</a:t>
              </a:r>
            </a:p>
          </p:txBody>
        </p:sp>
        <p:sp>
          <p:nvSpPr>
            <p:cNvPr id="23" name="TextBox 23"/>
            <p:cNvSpPr txBox="1"/>
            <p:nvPr/>
          </p:nvSpPr>
          <p:spPr>
            <a:xfrm>
              <a:off x="984123" y="5101114"/>
              <a:ext cx="2343414"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Manhattan: |3| + |4| = 7,00</a:t>
              </a:r>
            </a:p>
          </p:txBody>
        </p:sp>
        <p:sp>
          <p:nvSpPr>
            <p:cNvPr id="24" name="TextBox 24"/>
            <p:cNvSpPr txBox="1"/>
            <p:nvPr/>
          </p:nvSpPr>
          <p:spPr>
            <a:xfrm>
              <a:off x="984123" y="5348764"/>
              <a:ext cx="390304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Kosinüs benzerliği ≈ 0,970 (uzaklık ≈ 0,030)</a:t>
              </a:r>
            </a:p>
          </p:txBody>
        </p:sp>
      </p:grpSp>
      <p:grpSp>
        <p:nvGrpSpPr>
          <p:cNvPr id="41" name="theory"/>
          <p:cNvGrpSpPr/>
          <p:nvPr/>
        </p:nvGrpSpPr>
        <p:grpSpPr>
          <a:xfrm>
            <a:off x="6324600" y="1790700"/>
            <a:ext cx="5257800" cy="4000500"/>
            <a:chOff x="6324600" y="1790700"/>
            <a:chExt cx="5257800" cy="4000500"/>
          </a:xfrm>
        </p:grpSpPr>
        <p:sp>
          <p:nvSpPr>
            <p:cNvPr id="26" name="Rectangle 26"/>
            <p:cNvSpPr/>
            <p:nvPr/>
          </p:nvSpPr>
          <p:spPr>
            <a:xfrm>
              <a:off x="6324600" y="1790700"/>
              <a:ext cx="5257800" cy="1238250"/>
            </a:xfrm>
            <a:prstGeom prst="roundRect">
              <a:avLst>
                <a:gd name="adj" fmla="val 7692"/>
              </a:avLst>
            </a:prstGeom>
            <a:solidFill>
              <a:srgbClr val="EAF4F6"/>
            </a:solidFill>
            <a:ln>
              <a:noFill/>
            </a:ln>
          </p:spPr>
        </p:sp>
        <p:sp>
          <p:nvSpPr>
            <p:cNvPr id="27" name="TextBox 27"/>
            <p:cNvSpPr txBox="1"/>
            <p:nvPr/>
          </p:nvSpPr>
          <p:spPr>
            <a:xfrm>
              <a:off x="6545961" y="1941671"/>
              <a:ext cx="1365147"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Öklid uzaklığı</a:t>
              </a:r>
            </a:p>
          </p:txBody>
        </p:sp>
        <p:sp>
          <p:nvSpPr>
            <p:cNvPr id="28" name="TextBox 28"/>
            <p:cNvSpPr txBox="1"/>
            <p:nvPr/>
          </p:nvSpPr>
          <p:spPr>
            <a:xfrm>
              <a:off x="6547104" y="2232660"/>
              <a:ext cx="34099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Doğrudan geometrik uzaklık; ölçek ve birim</a:t>
              </a:r>
            </a:p>
          </p:txBody>
        </p:sp>
        <p:sp>
          <p:nvSpPr>
            <p:cNvPr id="29" name="TextBox 29"/>
            <p:cNvSpPr txBox="1"/>
            <p:nvPr/>
          </p:nvSpPr>
          <p:spPr>
            <a:xfrm>
              <a:off x="6547104" y="2423160"/>
              <a:ext cx="43608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farklarına duyarlıdır — K-Means'in varsayılan ölçüsü.</a:t>
              </a:r>
            </a:p>
          </p:txBody>
        </p:sp>
        <p:sp>
          <p:nvSpPr>
            <p:cNvPr id="30" name="TextBox 30"/>
            <p:cNvSpPr txBox="1"/>
            <p:nvPr/>
          </p:nvSpPr>
          <p:spPr>
            <a:xfrm>
              <a:off x="6547104" y="2651760"/>
              <a:ext cx="43302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Genellikle standartlaştırılmış öznitelikler gerektirir.</a:t>
              </a:r>
            </a:p>
          </p:txBody>
        </p:sp>
        <p:sp>
          <p:nvSpPr>
            <p:cNvPr id="31" name="Rectangle 31"/>
            <p:cNvSpPr/>
            <p:nvPr/>
          </p:nvSpPr>
          <p:spPr>
            <a:xfrm>
              <a:off x="6324600" y="3162300"/>
              <a:ext cx="5257800" cy="1238250"/>
            </a:xfrm>
            <a:prstGeom prst="roundRect">
              <a:avLst>
                <a:gd name="adj" fmla="val 7692"/>
              </a:avLst>
            </a:prstGeom>
            <a:solidFill>
              <a:srgbClr val="FFFFFF"/>
            </a:solidFill>
            <a:ln w="14288">
              <a:solidFill>
                <a:srgbClr val="B8CBD3"/>
              </a:solidFill>
            </a:ln>
          </p:spPr>
        </p:sp>
        <p:sp>
          <p:nvSpPr>
            <p:cNvPr id="32" name="TextBox 32"/>
            <p:cNvSpPr txBox="1"/>
            <p:nvPr/>
          </p:nvSpPr>
          <p:spPr>
            <a:xfrm>
              <a:off x="6545961" y="3313271"/>
              <a:ext cx="1947791"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Manhattan uzaklığı</a:t>
              </a:r>
            </a:p>
          </p:txBody>
        </p:sp>
        <p:sp>
          <p:nvSpPr>
            <p:cNvPr id="33" name="TextBox 33"/>
            <p:cNvSpPr txBox="1"/>
            <p:nvPr/>
          </p:nvSpPr>
          <p:spPr>
            <a:xfrm>
              <a:off x="6547104" y="3604260"/>
              <a:ext cx="365220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Izgara/şehir bloğu uzaklığı; aykırı değerlere</a:t>
              </a:r>
            </a:p>
          </p:txBody>
        </p:sp>
        <p:sp>
          <p:nvSpPr>
            <p:cNvPr id="34" name="TextBox 34"/>
            <p:cNvSpPr txBox="1"/>
            <p:nvPr/>
          </p:nvSpPr>
          <p:spPr>
            <a:xfrm>
              <a:off x="6547104" y="3794760"/>
              <a:ext cx="23520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Öklid'den daha az duyarlıdır.</a:t>
              </a:r>
            </a:p>
          </p:txBody>
        </p:sp>
        <p:sp>
          <p:nvSpPr>
            <p:cNvPr id="35" name="TextBox 35"/>
            <p:cNvSpPr txBox="1"/>
            <p:nvPr/>
          </p:nvSpPr>
          <p:spPr>
            <a:xfrm>
              <a:off x="6547104" y="4023360"/>
              <a:ext cx="37086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Yüksek boyutlu, seyrek verilerde tercih edilir.</a:t>
              </a:r>
            </a:p>
          </p:txBody>
        </p:sp>
        <p:sp>
          <p:nvSpPr>
            <p:cNvPr id="36" name="Rectangle 36"/>
            <p:cNvSpPr/>
            <p:nvPr/>
          </p:nvSpPr>
          <p:spPr>
            <a:xfrm>
              <a:off x="6324600" y="4533900"/>
              <a:ext cx="5257800" cy="1257300"/>
            </a:xfrm>
            <a:prstGeom prst="roundRect">
              <a:avLst>
                <a:gd name="adj" fmla="val 7576"/>
              </a:avLst>
            </a:prstGeom>
            <a:solidFill>
              <a:srgbClr val="FFFFFF"/>
            </a:solidFill>
            <a:ln w="14288">
              <a:solidFill>
                <a:srgbClr val="B8CBD3"/>
              </a:solidFill>
            </a:ln>
          </p:spPr>
        </p:sp>
        <p:sp>
          <p:nvSpPr>
            <p:cNvPr id="37" name="TextBox 37"/>
            <p:cNvSpPr txBox="1"/>
            <p:nvPr/>
          </p:nvSpPr>
          <p:spPr>
            <a:xfrm>
              <a:off x="6545961" y="4684871"/>
              <a:ext cx="1756473"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Kosinüs benzerliği</a:t>
              </a:r>
            </a:p>
          </p:txBody>
        </p:sp>
        <p:sp>
          <p:nvSpPr>
            <p:cNvPr id="38" name="TextBox 38"/>
            <p:cNvSpPr txBox="1"/>
            <p:nvPr/>
          </p:nvSpPr>
          <p:spPr>
            <a:xfrm>
              <a:off x="6547104" y="4975860"/>
              <a:ext cx="41447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Vektörlerin büyüklüğünü değil yönünü karşılaştırır;</a:t>
              </a:r>
            </a:p>
          </p:txBody>
        </p:sp>
        <p:sp>
          <p:nvSpPr>
            <p:cNvPr id="39" name="TextBox 39"/>
            <p:cNvSpPr txBox="1"/>
            <p:nvPr/>
          </p:nvSpPr>
          <p:spPr>
            <a:xfrm>
              <a:off x="6547104" y="5166360"/>
              <a:ext cx="41073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metin/doküman ve yüksek boyutlu temsillerde tercih</a:t>
              </a:r>
            </a:p>
          </p:txBody>
        </p:sp>
        <p:sp>
          <p:nvSpPr>
            <p:cNvPr id="40" name="TextBox 40"/>
            <p:cNvSpPr txBox="1"/>
            <p:nvPr/>
          </p:nvSpPr>
          <p:spPr>
            <a:xfrm>
              <a:off x="6547104" y="5356860"/>
              <a:ext cx="327847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edilir. K-Means'te doğrudan kullanılmaz.</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23</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9823966" cy="668845"/>
            <a:chOff x="609600" y="171450"/>
            <a:chExt cx="9823966"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806768" y="324326"/>
                <a:ext cx="177165" cy="265748"/>
                <a:chOff x="806768" y="324326"/>
                <a:chExt cx="177165" cy="265748"/>
              </a:xfrm>
            </p:grpSpPr>
            <p:sp>
              <p:nvSpPr>
                <p:cNvPr id="5" name="Freeform 5"/>
                <p:cNvSpPr/>
                <p:nvPr/>
              </p:nvSpPr>
              <p:spPr>
                <a:xfrm>
                  <a:off x="836295" y="324326"/>
                  <a:ext cx="118110" cy="118110"/>
                </a:xfrm>
                <a:custGeom>
                  <a:avLst/>
                  <a:gdLst/>
                  <a:ahLst/>
                  <a:cxnLst/>
                  <a:rect l="l" t="t" r="r" b="b"/>
                  <a:pathLst>
                    <a:path w="118110" h="118110">
                      <a:moveTo>
                        <a:pt x="0" y="59055"/>
                      </a:moveTo>
                      <a:cubicBezTo>
                        <a:pt x="0" y="91670"/>
                        <a:pt x="26440" y="118110"/>
                        <a:pt x="59055" y="118110"/>
                      </a:cubicBezTo>
                      <a:cubicBezTo>
                        <a:pt x="91670" y="118110"/>
                        <a:pt x="118110" y="91670"/>
                        <a:pt x="118110" y="59055"/>
                      </a:cubicBezTo>
                      <a:cubicBezTo>
                        <a:pt x="118110" y="26440"/>
                        <a:pt x="91670" y="0"/>
                        <a:pt x="59055" y="0"/>
                      </a:cubicBezTo>
                      <a:cubicBezTo>
                        <a:pt x="26440" y="0"/>
                        <a:pt x="0" y="26440"/>
                        <a:pt x="0" y="59055"/>
                      </a:cubicBezTo>
                    </a:path>
                  </a:pathLst>
                </a:custGeom>
                <a:noFill/>
                <a:ln w="24759" cap="rnd">
                  <a:solidFill>
                    <a:srgbClr val="FFFFFF"/>
                  </a:solidFill>
                  <a:round/>
                </a:ln>
              </p:spPr>
            </p:sp>
            <p:sp>
              <p:nvSpPr>
                <p:cNvPr id="6" name="Freeform 6"/>
                <p:cNvSpPr/>
                <p:nvPr/>
              </p:nvSpPr>
              <p:spPr>
                <a:xfrm>
                  <a:off x="806768" y="501491"/>
                  <a:ext cx="177165" cy="88583"/>
                </a:xfrm>
                <a:custGeom>
                  <a:avLst/>
                  <a:gdLst/>
                  <a:ahLst/>
                  <a:cxnLst/>
                  <a:rect l="l" t="t" r="r" b="b"/>
                  <a:pathLst>
                    <a:path w="177165" h="88583">
                      <a:moveTo>
                        <a:pt x="0" y="88583"/>
                      </a:moveTo>
                      <a:lnTo>
                        <a:pt x="0" y="59055"/>
                      </a:lnTo>
                      <a:cubicBezTo>
                        <a:pt x="0" y="26440"/>
                        <a:pt x="26440" y="0"/>
                        <a:pt x="59055" y="0"/>
                      </a:cubicBezTo>
                      <a:lnTo>
                        <a:pt x="118110" y="0"/>
                      </a:lnTo>
                      <a:cubicBezTo>
                        <a:pt x="150725" y="0"/>
                        <a:pt x="177165" y="26440"/>
                        <a:pt x="177165" y="59055"/>
                      </a:cubicBezTo>
                      <a:lnTo>
                        <a:pt x="177165" y="88583"/>
                      </a:lnTo>
                    </a:path>
                  </a:pathLst>
                </a:custGeom>
                <a:noFill/>
                <a:ln w="24759" cap="rnd">
                  <a:solidFill>
                    <a:srgbClr val="FFFFFF"/>
                  </a:solidFill>
                  <a:round/>
                </a:ln>
              </p:spPr>
            </p:sp>
          </p:grpSp>
        </p:grpSp>
        <p:sp>
          <p:nvSpPr>
            <p:cNvPr id="9" name="TextBox 9"/>
            <p:cNvSpPr txBox="1"/>
            <p:nvPr/>
          </p:nvSpPr>
          <p:spPr>
            <a:xfrm>
              <a:off x="1299972" y="282892"/>
              <a:ext cx="91335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Uygulama: Telco Churn müşteri segmentasyonu</a:t>
              </a:r>
            </a:p>
          </p:txBody>
        </p:sp>
      </p:grpSp>
      <p:grpSp>
        <p:nvGrpSpPr>
          <p:cNvPr id="32" name="pipeline"/>
          <p:cNvGrpSpPr/>
          <p:nvPr/>
        </p:nvGrpSpPr>
        <p:grpSpPr>
          <a:xfrm>
            <a:off x="609600" y="1143000"/>
            <a:ext cx="10972800" cy="1238250"/>
            <a:chOff x="609600" y="1143000"/>
            <a:chExt cx="10972800" cy="1238250"/>
          </a:xfrm>
        </p:grpSpPr>
        <p:sp>
          <p:nvSpPr>
            <p:cNvPr id="11" name="Rectangle 11"/>
            <p:cNvSpPr/>
            <p:nvPr/>
          </p:nvSpPr>
          <p:spPr>
            <a:xfrm>
              <a:off x="609600" y="1143000"/>
              <a:ext cx="10972800" cy="1238250"/>
            </a:xfrm>
            <a:prstGeom prst="roundRect">
              <a:avLst>
                <a:gd name="adj" fmla="val 7692"/>
              </a:avLst>
            </a:prstGeom>
            <a:solidFill>
              <a:srgbClr val="EAF4F6"/>
            </a:solidFill>
            <a:ln>
              <a:noFill/>
            </a:ln>
          </p:spPr>
        </p:sp>
        <p:sp>
          <p:nvSpPr>
            <p:cNvPr id="12" name="TextBox 12"/>
            <p:cNvSpPr txBox="1"/>
            <p:nvPr/>
          </p:nvSpPr>
          <p:spPr>
            <a:xfrm>
              <a:off x="830961" y="1255871"/>
              <a:ext cx="752284"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Pipeline</a:t>
              </a:r>
            </a:p>
          </p:txBody>
        </p:sp>
        <p:sp>
          <p:nvSpPr>
            <p:cNvPr id="13" name="Rectangle 13"/>
            <p:cNvSpPr/>
            <p:nvPr/>
          </p:nvSpPr>
          <p:spPr>
            <a:xfrm>
              <a:off x="838200" y="1562100"/>
              <a:ext cx="1809750" cy="571500"/>
            </a:xfrm>
            <a:prstGeom prst="roundRect">
              <a:avLst>
                <a:gd name="adj" fmla="val 13333"/>
              </a:avLst>
            </a:prstGeom>
            <a:solidFill>
              <a:srgbClr val="FFFFFF"/>
            </a:solidFill>
            <a:ln w="14288">
              <a:solidFill>
                <a:srgbClr val="2E86AB"/>
              </a:solidFill>
            </a:ln>
          </p:spPr>
        </p:sp>
        <p:sp>
          <p:nvSpPr>
            <p:cNvPr id="14" name="TextBox 14"/>
            <p:cNvSpPr txBox="1"/>
            <p:nvPr/>
          </p:nvSpPr>
          <p:spPr>
            <a:xfrm>
              <a:off x="980365" y="1669256"/>
              <a:ext cx="1525420"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ColumnTransformer</a:t>
              </a:r>
            </a:p>
          </p:txBody>
        </p:sp>
        <p:sp>
          <p:nvSpPr>
            <p:cNvPr id="15" name="TextBox 15"/>
            <p:cNvSpPr txBox="1"/>
            <p:nvPr/>
          </p:nvSpPr>
          <p:spPr>
            <a:xfrm>
              <a:off x="725604" y="1875949"/>
              <a:ext cx="2034942"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sayısal ölçekle + kategorik OHE</a:t>
              </a:r>
            </a:p>
          </p:txBody>
        </p:sp>
        <p:sp>
          <p:nvSpPr>
            <p:cNvPr id="16" name="Line 16"/>
            <p:cNvSpPr/>
            <p:nvPr/>
          </p:nvSpPr>
          <p:spPr>
            <a:xfrm>
              <a:off x="2647950" y="1847850"/>
              <a:ext cx="495300" cy="1"/>
            </a:xfrm>
            <a:prstGeom prst="line">
              <a:avLst/>
            </a:prstGeom>
            <a:noFill/>
            <a:ln w="19050">
              <a:solidFill>
                <a:srgbClr val="00A6A6"/>
              </a:solidFill>
              <a:tailEnd type="triangle" w="lg" len="lg"/>
            </a:ln>
          </p:spPr>
        </p:sp>
        <p:sp>
          <p:nvSpPr>
            <p:cNvPr id="17" name="Rectangle 17"/>
            <p:cNvSpPr/>
            <p:nvPr/>
          </p:nvSpPr>
          <p:spPr>
            <a:xfrm>
              <a:off x="3143250" y="1562100"/>
              <a:ext cx="1809750" cy="571500"/>
            </a:xfrm>
            <a:prstGeom prst="roundRect">
              <a:avLst>
                <a:gd name="adj" fmla="val 13333"/>
              </a:avLst>
            </a:prstGeom>
            <a:solidFill>
              <a:srgbClr val="FFFFFF"/>
            </a:solidFill>
            <a:ln w="14288">
              <a:solidFill>
                <a:srgbClr val="2E86AB"/>
              </a:solidFill>
            </a:ln>
          </p:spPr>
        </p:sp>
        <p:sp>
          <p:nvSpPr>
            <p:cNvPr id="18" name="TextBox 18"/>
            <p:cNvSpPr txBox="1"/>
            <p:nvPr/>
          </p:nvSpPr>
          <p:spPr>
            <a:xfrm>
              <a:off x="3169513" y="1669256"/>
              <a:ext cx="1757224"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KMeans(n_clusters=k)</a:t>
              </a:r>
            </a:p>
          </p:txBody>
        </p:sp>
        <p:sp>
          <p:nvSpPr>
            <p:cNvPr id="19" name="TextBox 19"/>
            <p:cNvSpPr txBox="1"/>
            <p:nvPr/>
          </p:nvSpPr>
          <p:spPr>
            <a:xfrm>
              <a:off x="3285749" y="1875949"/>
              <a:ext cx="1524752"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k'yı Silhouette ile tara</a:t>
              </a:r>
            </a:p>
          </p:txBody>
        </p:sp>
        <p:sp>
          <p:nvSpPr>
            <p:cNvPr id="20" name="Line 20"/>
            <p:cNvSpPr/>
            <p:nvPr/>
          </p:nvSpPr>
          <p:spPr>
            <a:xfrm>
              <a:off x="4953000" y="1847850"/>
              <a:ext cx="495300" cy="1"/>
            </a:xfrm>
            <a:prstGeom prst="line">
              <a:avLst/>
            </a:prstGeom>
            <a:noFill/>
            <a:ln w="19050">
              <a:solidFill>
                <a:srgbClr val="00A6A6"/>
              </a:solidFill>
              <a:tailEnd type="triangle" w="lg" len="lg"/>
            </a:ln>
          </p:spPr>
        </p:sp>
        <p:sp>
          <p:nvSpPr>
            <p:cNvPr id="21" name="Rectangle 21"/>
            <p:cNvSpPr/>
            <p:nvPr/>
          </p:nvSpPr>
          <p:spPr>
            <a:xfrm>
              <a:off x="5448300" y="1562100"/>
              <a:ext cx="1809750" cy="571500"/>
            </a:xfrm>
            <a:prstGeom prst="roundRect">
              <a:avLst>
                <a:gd name="adj" fmla="val 13333"/>
              </a:avLst>
            </a:prstGeom>
            <a:solidFill>
              <a:srgbClr val="FFFFFF"/>
            </a:solidFill>
            <a:ln w="14288">
              <a:solidFill>
                <a:srgbClr val="2E86AB"/>
              </a:solidFill>
            </a:ln>
          </p:spPr>
        </p:sp>
        <p:sp>
          <p:nvSpPr>
            <p:cNvPr id="22" name="TextBox 22"/>
            <p:cNvSpPr txBox="1"/>
            <p:nvPr/>
          </p:nvSpPr>
          <p:spPr>
            <a:xfrm>
              <a:off x="5690461" y="1669256"/>
              <a:ext cx="1325429"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silhouette_score</a:t>
              </a:r>
            </a:p>
          </p:txBody>
        </p:sp>
        <p:sp>
          <p:nvSpPr>
            <p:cNvPr id="23" name="TextBox 23"/>
            <p:cNvSpPr txBox="1"/>
            <p:nvPr/>
          </p:nvSpPr>
          <p:spPr>
            <a:xfrm>
              <a:off x="5886475" y="1875949"/>
              <a:ext cx="933399"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en iyi k'yı seç</a:t>
              </a:r>
            </a:p>
          </p:txBody>
        </p:sp>
        <p:sp>
          <p:nvSpPr>
            <p:cNvPr id="24" name="Line 24"/>
            <p:cNvSpPr/>
            <p:nvPr/>
          </p:nvSpPr>
          <p:spPr>
            <a:xfrm>
              <a:off x="7258050" y="1847850"/>
              <a:ext cx="495300" cy="1"/>
            </a:xfrm>
            <a:prstGeom prst="line">
              <a:avLst/>
            </a:prstGeom>
            <a:noFill/>
            <a:ln w="19050">
              <a:solidFill>
                <a:srgbClr val="00A6A6"/>
              </a:solidFill>
              <a:tailEnd type="triangle" w="lg" len="lg"/>
            </a:ln>
          </p:spPr>
        </p:sp>
        <p:sp>
          <p:nvSpPr>
            <p:cNvPr id="25" name="Rectangle 25"/>
            <p:cNvSpPr/>
            <p:nvPr/>
          </p:nvSpPr>
          <p:spPr>
            <a:xfrm>
              <a:off x="7753350" y="1562100"/>
              <a:ext cx="1809750" cy="571500"/>
            </a:xfrm>
            <a:prstGeom prst="roundRect">
              <a:avLst>
                <a:gd name="adj" fmla="val 13333"/>
              </a:avLst>
            </a:prstGeom>
            <a:solidFill>
              <a:srgbClr val="FFFFFF"/>
            </a:solidFill>
            <a:ln w="14288">
              <a:solidFill>
                <a:srgbClr val="2E86AB"/>
              </a:solidFill>
            </a:ln>
          </p:spPr>
        </p:sp>
        <p:sp>
          <p:nvSpPr>
            <p:cNvPr id="26" name="TextBox 26"/>
            <p:cNvSpPr txBox="1"/>
            <p:nvPr/>
          </p:nvSpPr>
          <p:spPr>
            <a:xfrm>
              <a:off x="7949642" y="1669256"/>
              <a:ext cx="1417166"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Segment profilleri</a:t>
              </a:r>
            </a:p>
          </p:txBody>
        </p:sp>
        <p:sp>
          <p:nvSpPr>
            <p:cNvPr id="27" name="TextBox 27"/>
            <p:cNvSpPr txBox="1"/>
            <p:nvPr/>
          </p:nvSpPr>
          <p:spPr>
            <a:xfrm>
              <a:off x="8059598" y="1875949"/>
              <a:ext cx="1197254"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groupby().mean()</a:t>
              </a:r>
            </a:p>
          </p:txBody>
        </p:sp>
        <p:sp>
          <p:nvSpPr>
            <p:cNvPr id="28" name="Line 28"/>
            <p:cNvSpPr/>
            <p:nvPr/>
          </p:nvSpPr>
          <p:spPr>
            <a:xfrm>
              <a:off x="9563100" y="1847850"/>
              <a:ext cx="495300" cy="1"/>
            </a:xfrm>
            <a:prstGeom prst="line">
              <a:avLst/>
            </a:prstGeom>
            <a:noFill/>
            <a:ln w="19050">
              <a:solidFill>
                <a:srgbClr val="00A6A6"/>
              </a:solidFill>
              <a:tailEnd type="triangle" w="lg" len="lg"/>
            </a:ln>
          </p:spPr>
        </p:sp>
        <p:sp>
          <p:nvSpPr>
            <p:cNvPr id="29" name="Rectangle 29"/>
            <p:cNvSpPr/>
            <p:nvPr/>
          </p:nvSpPr>
          <p:spPr>
            <a:xfrm>
              <a:off x="10058400" y="1562100"/>
              <a:ext cx="1428750" cy="571500"/>
            </a:xfrm>
            <a:prstGeom prst="roundRect">
              <a:avLst>
                <a:gd name="adj" fmla="val 13333"/>
              </a:avLst>
            </a:prstGeom>
            <a:solidFill>
              <a:srgbClr val="00A6A6"/>
            </a:solidFill>
            <a:ln>
              <a:noFill/>
            </a:ln>
          </p:spPr>
        </p:sp>
        <p:sp>
          <p:nvSpPr>
            <p:cNvPr id="30" name="TextBox 30"/>
            <p:cNvSpPr txBox="1"/>
            <p:nvPr/>
          </p:nvSpPr>
          <p:spPr>
            <a:xfrm>
              <a:off x="10392392" y="1669256"/>
              <a:ext cx="760766" cy="220028"/>
            </a:xfrm>
            <a:prstGeom prst="rect">
              <a:avLst/>
            </a:prstGeom>
            <a:noFill/>
            <a:ln>
              <a:noFill/>
            </a:ln>
          </p:spPr>
          <p:txBody>
            <a:bodyPr wrap="none" lIns="0" tIns="0" rIns="0" bIns="0" anchor="t" anchorCtr="0">
              <a:spAutoFit/>
            </a:bodyPr>
            <a:lstStyle/>
            <a:p>
              <a:pPr algn="ctr"/>
              <a:r>
                <a:rPr lang="tr-TR" sz="1120" b="1" dirty="0">
                  <a:solidFill>
                    <a:srgbClr val="FFFFFF"/>
                  </a:solidFill>
                  <a:latin typeface="+mn-lt"/>
                  <a:ea typeface="+mn-ea"/>
                  <a:cs typeface="+mn-cs"/>
                </a:rPr>
                <a:t>İş kararı</a:t>
              </a:r>
            </a:p>
          </p:txBody>
        </p:sp>
        <p:sp>
          <p:nvSpPr>
            <p:cNvPr id="31" name="TextBox 31"/>
            <p:cNvSpPr txBox="1"/>
            <p:nvPr/>
          </p:nvSpPr>
          <p:spPr>
            <a:xfrm>
              <a:off x="10289584" y="1875949"/>
              <a:ext cx="966381" cy="190690"/>
            </a:xfrm>
            <a:prstGeom prst="rect">
              <a:avLst/>
            </a:prstGeom>
            <a:noFill/>
            <a:ln>
              <a:noFill/>
            </a:ln>
          </p:spPr>
          <p:txBody>
            <a:bodyPr wrap="none" lIns="0" tIns="0" rIns="0" bIns="0" anchor="t" anchorCtr="0">
              <a:spAutoFit/>
            </a:bodyPr>
            <a:lstStyle/>
            <a:p>
              <a:pPr algn="ctr"/>
              <a:r>
                <a:rPr lang="tr-TR" sz="980" dirty="0">
                  <a:solidFill>
                    <a:srgbClr val="FFFFFF"/>
                  </a:solidFill>
                  <a:latin typeface="+mn-lt"/>
                  <a:ea typeface="+mn-ea"/>
                  <a:cs typeface="+mn-cs"/>
                </a:rPr>
                <a:t>hedefli aksiyon</a:t>
              </a:r>
            </a:p>
          </p:txBody>
        </p:sp>
      </p:grpSp>
      <p:grpSp>
        <p:nvGrpSpPr>
          <p:cNvPr id="47" name="segment0"/>
          <p:cNvGrpSpPr/>
          <p:nvPr/>
        </p:nvGrpSpPr>
        <p:grpSpPr>
          <a:xfrm>
            <a:off x="609600" y="2609850"/>
            <a:ext cx="5257800" cy="2609850"/>
            <a:chOff x="609600" y="2609850"/>
            <a:chExt cx="5257800" cy="2609850"/>
          </a:xfrm>
        </p:grpSpPr>
        <p:sp>
          <p:nvSpPr>
            <p:cNvPr id="33" name="Rectangle 33"/>
            <p:cNvSpPr/>
            <p:nvPr/>
          </p:nvSpPr>
          <p:spPr>
            <a:xfrm>
              <a:off x="609600" y="2609850"/>
              <a:ext cx="5257800" cy="2609850"/>
            </a:xfrm>
            <a:prstGeom prst="roundRect">
              <a:avLst>
                <a:gd name="adj" fmla="val 3650"/>
              </a:avLst>
            </a:prstGeom>
            <a:solidFill>
              <a:srgbClr val="FFFFFF"/>
            </a:solidFill>
            <a:ln w="14288">
              <a:solidFill>
                <a:srgbClr val="B8CBD3"/>
              </a:solidFill>
            </a:ln>
          </p:spPr>
        </p:sp>
        <p:sp>
          <p:nvSpPr>
            <p:cNvPr id="34" name="Rectangle 34"/>
            <p:cNvSpPr/>
            <p:nvPr/>
          </p:nvSpPr>
          <p:spPr>
            <a:xfrm>
              <a:off x="609600" y="2609850"/>
              <a:ext cx="5257800" cy="419100"/>
            </a:xfrm>
            <a:prstGeom prst="roundRect">
              <a:avLst>
                <a:gd name="adj" fmla="val 22727"/>
              </a:avLst>
            </a:prstGeom>
            <a:solidFill>
              <a:srgbClr val="12355B"/>
            </a:solidFill>
            <a:ln>
              <a:noFill/>
            </a:ln>
          </p:spPr>
        </p:sp>
        <p:sp>
          <p:nvSpPr>
            <p:cNvPr id="35" name="Rectangle 35"/>
            <p:cNvSpPr/>
            <p:nvPr/>
          </p:nvSpPr>
          <p:spPr>
            <a:xfrm>
              <a:off x="609600" y="2838450"/>
              <a:ext cx="5257800" cy="190500"/>
            </a:xfrm>
            <a:prstGeom prst="rect">
              <a:avLst/>
            </a:prstGeom>
            <a:solidFill>
              <a:srgbClr val="12355B"/>
            </a:solidFill>
            <a:ln>
              <a:noFill/>
            </a:ln>
          </p:spPr>
        </p:sp>
        <p:sp>
          <p:nvSpPr>
            <p:cNvPr id="36" name="TextBox 36"/>
            <p:cNvSpPr txBox="1"/>
            <p:nvPr/>
          </p:nvSpPr>
          <p:spPr>
            <a:xfrm>
              <a:off x="830961" y="2722721"/>
              <a:ext cx="2970855"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Segment 0 — Düşük risk, sadık</a:t>
              </a:r>
            </a:p>
          </p:txBody>
        </p:sp>
        <p:sp>
          <p:nvSpPr>
            <p:cNvPr id="37" name="Rectangle 37"/>
            <p:cNvSpPr/>
            <p:nvPr/>
          </p:nvSpPr>
          <p:spPr>
            <a:xfrm>
              <a:off x="838200" y="3181350"/>
              <a:ext cx="57150" cy="228600"/>
            </a:xfrm>
            <a:prstGeom prst="rect">
              <a:avLst/>
            </a:prstGeom>
            <a:solidFill>
              <a:srgbClr val="00A6A6"/>
            </a:solidFill>
            <a:ln>
              <a:noFill/>
            </a:ln>
          </p:spPr>
        </p:sp>
        <p:sp>
          <p:nvSpPr>
            <p:cNvPr id="38" name="TextBox 38"/>
            <p:cNvSpPr txBox="1"/>
            <p:nvPr/>
          </p:nvSpPr>
          <p:spPr>
            <a:xfrm>
              <a:off x="984123" y="3215164"/>
              <a:ext cx="400907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Uzun tenure (ort. 52 ay), uzun dönem sözleşme</a:t>
              </a:r>
            </a:p>
          </p:txBody>
        </p:sp>
        <p:sp>
          <p:nvSpPr>
            <p:cNvPr id="39" name="Rectangle 39"/>
            <p:cNvSpPr/>
            <p:nvPr/>
          </p:nvSpPr>
          <p:spPr>
            <a:xfrm>
              <a:off x="838200" y="3486150"/>
              <a:ext cx="57150" cy="228600"/>
            </a:xfrm>
            <a:prstGeom prst="rect">
              <a:avLst/>
            </a:prstGeom>
            <a:solidFill>
              <a:srgbClr val="00A6A6"/>
            </a:solidFill>
            <a:ln>
              <a:noFill/>
            </a:ln>
          </p:spPr>
        </p:sp>
        <p:sp>
          <p:nvSpPr>
            <p:cNvPr id="40" name="TextBox 40"/>
            <p:cNvSpPr txBox="1"/>
            <p:nvPr/>
          </p:nvSpPr>
          <p:spPr>
            <a:xfrm>
              <a:off x="984123" y="3519964"/>
              <a:ext cx="376666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Düşük aylık ücret varyansı, otomatik ödeme</a:t>
              </a:r>
            </a:p>
          </p:txBody>
        </p:sp>
        <p:sp>
          <p:nvSpPr>
            <p:cNvPr id="41" name="Rectangle 41"/>
            <p:cNvSpPr/>
            <p:nvPr/>
          </p:nvSpPr>
          <p:spPr>
            <a:xfrm>
              <a:off x="838200" y="3790950"/>
              <a:ext cx="57150" cy="228600"/>
            </a:xfrm>
            <a:prstGeom prst="rect">
              <a:avLst/>
            </a:prstGeom>
            <a:solidFill>
              <a:srgbClr val="00A6A6"/>
            </a:solidFill>
            <a:ln>
              <a:noFill/>
            </a:ln>
          </p:spPr>
        </p:sp>
        <p:sp>
          <p:nvSpPr>
            <p:cNvPr id="42" name="TextBox 42"/>
            <p:cNvSpPr txBox="1"/>
            <p:nvPr/>
          </p:nvSpPr>
          <p:spPr>
            <a:xfrm>
              <a:off x="984123" y="3824764"/>
              <a:ext cx="381412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Çoklu hizmet paketi (internet + TV + telefon)</a:t>
              </a:r>
            </a:p>
          </p:txBody>
        </p:sp>
        <p:sp>
          <p:nvSpPr>
            <p:cNvPr id="43" name="Rectangle 43"/>
            <p:cNvSpPr/>
            <p:nvPr/>
          </p:nvSpPr>
          <p:spPr>
            <a:xfrm>
              <a:off x="838200" y="4095750"/>
              <a:ext cx="57150" cy="228600"/>
            </a:xfrm>
            <a:prstGeom prst="rect">
              <a:avLst/>
            </a:prstGeom>
            <a:solidFill>
              <a:srgbClr val="00A6A6"/>
            </a:solidFill>
            <a:ln>
              <a:noFill/>
            </a:ln>
          </p:spPr>
        </p:sp>
        <p:sp>
          <p:nvSpPr>
            <p:cNvPr id="44" name="TextBox 44"/>
            <p:cNvSpPr txBox="1"/>
            <p:nvPr/>
          </p:nvSpPr>
          <p:spPr>
            <a:xfrm>
              <a:off x="984123" y="4129564"/>
              <a:ext cx="277647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Gerçek churn oranı: yaklaşık %7</a:t>
              </a:r>
            </a:p>
          </p:txBody>
        </p:sp>
        <p:sp>
          <p:nvSpPr>
            <p:cNvPr id="45" name="TextBox 45"/>
            <p:cNvSpPr txBox="1"/>
            <p:nvPr/>
          </p:nvSpPr>
          <p:spPr>
            <a:xfrm>
              <a:off x="984504" y="4537710"/>
              <a:ext cx="3478400"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Aksiyon: sadakat programı, çapraz satış</a:t>
              </a:r>
            </a:p>
          </p:txBody>
        </p:sp>
        <p:sp>
          <p:nvSpPr>
            <p:cNvPr id="46" name="TextBox 46"/>
            <p:cNvSpPr txBox="1"/>
            <p:nvPr/>
          </p:nvSpPr>
          <p:spPr>
            <a:xfrm>
              <a:off x="984504" y="4747260"/>
              <a:ext cx="1810177"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fırsatları sunulabilir</a:t>
              </a:r>
            </a:p>
          </p:txBody>
        </p:sp>
      </p:grpSp>
      <p:grpSp>
        <p:nvGrpSpPr>
          <p:cNvPr id="61" name="segment1"/>
          <p:cNvGrpSpPr/>
          <p:nvPr/>
        </p:nvGrpSpPr>
        <p:grpSpPr>
          <a:xfrm>
            <a:off x="6324600" y="2609850"/>
            <a:ext cx="5257800" cy="2609850"/>
            <a:chOff x="6324600" y="2609850"/>
            <a:chExt cx="5257800" cy="2609850"/>
          </a:xfrm>
        </p:grpSpPr>
        <p:sp>
          <p:nvSpPr>
            <p:cNvPr id="48" name="Rectangle 48"/>
            <p:cNvSpPr/>
            <p:nvPr/>
          </p:nvSpPr>
          <p:spPr>
            <a:xfrm>
              <a:off x="6324600" y="2609850"/>
              <a:ext cx="5257800" cy="2609850"/>
            </a:xfrm>
            <a:prstGeom prst="roundRect">
              <a:avLst>
                <a:gd name="adj" fmla="val 3650"/>
              </a:avLst>
            </a:prstGeom>
            <a:solidFill>
              <a:srgbClr val="FFFFFF"/>
            </a:solidFill>
            <a:ln w="14288">
              <a:solidFill>
                <a:srgbClr val="B8CBD3"/>
              </a:solidFill>
            </a:ln>
          </p:spPr>
        </p:sp>
        <p:sp>
          <p:nvSpPr>
            <p:cNvPr id="49" name="Rectangle 49"/>
            <p:cNvSpPr/>
            <p:nvPr/>
          </p:nvSpPr>
          <p:spPr>
            <a:xfrm>
              <a:off x="6324600" y="2609850"/>
              <a:ext cx="5257800" cy="419100"/>
            </a:xfrm>
            <a:prstGeom prst="roundRect">
              <a:avLst>
                <a:gd name="adj" fmla="val 22727"/>
              </a:avLst>
            </a:prstGeom>
            <a:solidFill>
              <a:srgbClr val="12355B"/>
            </a:solidFill>
            <a:ln>
              <a:noFill/>
            </a:ln>
          </p:spPr>
        </p:sp>
        <p:sp>
          <p:nvSpPr>
            <p:cNvPr id="50" name="TextBox 50"/>
            <p:cNvSpPr txBox="1"/>
            <p:nvPr/>
          </p:nvSpPr>
          <p:spPr>
            <a:xfrm>
              <a:off x="6545961" y="2722721"/>
              <a:ext cx="3029988"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Segment 1 — Yüksek churn riski</a:t>
              </a:r>
            </a:p>
          </p:txBody>
        </p:sp>
        <p:sp>
          <p:nvSpPr>
            <p:cNvPr id="51" name="Rectangle 51"/>
            <p:cNvSpPr/>
            <p:nvPr/>
          </p:nvSpPr>
          <p:spPr>
            <a:xfrm>
              <a:off x="6553200" y="3181350"/>
              <a:ext cx="57150" cy="228600"/>
            </a:xfrm>
            <a:prstGeom prst="rect">
              <a:avLst/>
            </a:prstGeom>
            <a:solidFill>
              <a:srgbClr val="00A6A6"/>
            </a:solidFill>
            <a:ln>
              <a:noFill/>
            </a:ln>
          </p:spPr>
        </p:sp>
        <p:sp>
          <p:nvSpPr>
            <p:cNvPr id="52" name="TextBox 52"/>
            <p:cNvSpPr txBox="1"/>
            <p:nvPr/>
          </p:nvSpPr>
          <p:spPr>
            <a:xfrm>
              <a:off x="6699123" y="3215164"/>
              <a:ext cx="378488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Kısa tenure (ort. 9 ay), aydan aya sözleşme</a:t>
              </a:r>
            </a:p>
          </p:txBody>
        </p:sp>
        <p:sp>
          <p:nvSpPr>
            <p:cNvPr id="53" name="Rectangle 53"/>
            <p:cNvSpPr/>
            <p:nvPr/>
          </p:nvSpPr>
          <p:spPr>
            <a:xfrm>
              <a:off x="6553200" y="3486150"/>
              <a:ext cx="57150" cy="228600"/>
            </a:xfrm>
            <a:prstGeom prst="rect">
              <a:avLst/>
            </a:prstGeom>
            <a:solidFill>
              <a:srgbClr val="00A6A6"/>
            </a:solidFill>
            <a:ln>
              <a:noFill/>
            </a:ln>
          </p:spPr>
        </p:sp>
        <p:sp>
          <p:nvSpPr>
            <p:cNvPr id="54" name="TextBox 54"/>
            <p:cNvSpPr txBox="1"/>
            <p:nvPr/>
          </p:nvSpPr>
          <p:spPr>
            <a:xfrm>
              <a:off x="6699123" y="3519964"/>
              <a:ext cx="349948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Yüksek aylık ücret, elektronik çek ödeme</a:t>
              </a:r>
            </a:p>
          </p:txBody>
        </p:sp>
        <p:sp>
          <p:nvSpPr>
            <p:cNvPr id="55" name="Rectangle 55"/>
            <p:cNvSpPr/>
            <p:nvPr/>
          </p:nvSpPr>
          <p:spPr>
            <a:xfrm>
              <a:off x="6553200" y="3790950"/>
              <a:ext cx="57150" cy="228600"/>
            </a:xfrm>
            <a:prstGeom prst="rect">
              <a:avLst/>
            </a:prstGeom>
            <a:solidFill>
              <a:srgbClr val="00A6A6"/>
            </a:solidFill>
            <a:ln>
              <a:noFill/>
            </a:ln>
          </p:spPr>
        </p:sp>
        <p:sp>
          <p:nvSpPr>
            <p:cNvPr id="56" name="TextBox 56"/>
            <p:cNvSpPr txBox="1"/>
            <p:nvPr/>
          </p:nvSpPr>
          <p:spPr>
            <a:xfrm>
              <a:off x="6699123" y="3824764"/>
              <a:ext cx="312045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Tek hizmet (yalnızca fiber internet)</a:t>
              </a:r>
            </a:p>
          </p:txBody>
        </p:sp>
        <p:sp>
          <p:nvSpPr>
            <p:cNvPr id="57" name="Rectangle 57"/>
            <p:cNvSpPr/>
            <p:nvPr/>
          </p:nvSpPr>
          <p:spPr>
            <a:xfrm>
              <a:off x="6553200" y="4095750"/>
              <a:ext cx="57150" cy="228600"/>
            </a:xfrm>
            <a:prstGeom prst="rect">
              <a:avLst/>
            </a:prstGeom>
            <a:solidFill>
              <a:srgbClr val="00A6A6"/>
            </a:solidFill>
            <a:ln>
              <a:noFill/>
            </a:ln>
          </p:spPr>
        </p:sp>
        <p:sp>
          <p:nvSpPr>
            <p:cNvPr id="58" name="TextBox 58"/>
            <p:cNvSpPr txBox="1"/>
            <p:nvPr/>
          </p:nvSpPr>
          <p:spPr>
            <a:xfrm>
              <a:off x="6699123" y="4129564"/>
              <a:ext cx="287147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Gerçek churn oranı: yaklaşık %41</a:t>
              </a:r>
            </a:p>
          </p:txBody>
        </p:sp>
        <p:sp>
          <p:nvSpPr>
            <p:cNvPr id="59" name="TextBox 59"/>
            <p:cNvSpPr txBox="1"/>
            <p:nvPr/>
          </p:nvSpPr>
          <p:spPr>
            <a:xfrm>
              <a:off x="6699504" y="4537710"/>
              <a:ext cx="2867802"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Aksiyon: erken uyarı kampanyası,</a:t>
              </a:r>
            </a:p>
          </p:txBody>
        </p:sp>
        <p:sp>
          <p:nvSpPr>
            <p:cNvPr id="60" name="TextBox 60"/>
            <p:cNvSpPr txBox="1"/>
            <p:nvPr/>
          </p:nvSpPr>
          <p:spPr>
            <a:xfrm>
              <a:off x="6699504" y="4747260"/>
              <a:ext cx="2208787"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sözleşme yükseltme teklifi</a:t>
              </a:r>
            </a:p>
          </p:txBody>
        </p:sp>
      </p:grpSp>
      <p:grpSp>
        <p:nvGrpSpPr>
          <p:cNvPr id="65" name="caveat"/>
          <p:cNvGrpSpPr/>
          <p:nvPr/>
        </p:nvGrpSpPr>
        <p:grpSpPr>
          <a:xfrm>
            <a:off x="609600" y="5467350"/>
            <a:ext cx="10972800" cy="628650"/>
            <a:chOff x="609600" y="5467350"/>
            <a:chExt cx="10972800" cy="628650"/>
          </a:xfrm>
        </p:grpSpPr>
        <p:sp>
          <p:nvSpPr>
            <p:cNvPr id="62" name="Rectangle 62"/>
            <p:cNvSpPr/>
            <p:nvPr/>
          </p:nvSpPr>
          <p:spPr>
            <a:xfrm>
              <a:off x="609600" y="5467350"/>
              <a:ext cx="10972800" cy="628650"/>
            </a:xfrm>
            <a:prstGeom prst="roundRect">
              <a:avLst>
                <a:gd name="adj" fmla="val 12121"/>
              </a:avLst>
            </a:prstGeom>
            <a:solidFill>
              <a:srgbClr val="EAF4F6"/>
            </a:solidFill>
            <a:ln>
              <a:noFill/>
            </a:ln>
          </p:spPr>
        </p:sp>
        <p:sp>
          <p:nvSpPr>
            <p:cNvPr id="63" name="TextBox 63"/>
            <p:cNvSpPr txBox="1"/>
            <p:nvPr/>
          </p:nvSpPr>
          <p:spPr>
            <a:xfrm>
              <a:off x="907923" y="5577364"/>
              <a:ext cx="4008548"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Not: churn etiketi kümelemede kullanılmadı —</a:t>
              </a:r>
            </a:p>
          </p:txBody>
        </p:sp>
        <p:sp>
          <p:nvSpPr>
            <p:cNvPr id="64" name="TextBox 64"/>
            <p:cNvSpPr txBox="1"/>
            <p:nvPr/>
          </p:nvSpPr>
          <p:spPr>
            <a:xfrm>
              <a:off x="907923" y="5805964"/>
              <a:ext cx="936096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segmentler yalnızca davranışsal/demografik özniteliklerden oluşturuldu, sonradan churn oranıyla doğrulandı.</a:t>
              </a:r>
            </a:p>
          </p:txBody>
        </p:sp>
      </p:grpSp>
      <p:sp>
        <p:nvSpPr>
          <p:cNvPr id="66" name="TextBox 6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23</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756273" cy="668845"/>
            <a:chOff x="609600" y="171450"/>
            <a:chExt cx="975627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906590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gerçek dünya tuzakları</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512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DOĞRU YAKLAŞIM</a:t>
              </a:r>
            </a:p>
          </p:txBody>
        </p:sp>
      </p:grpSp>
      <p:grpSp>
        <p:nvGrpSpPr>
          <p:cNvPr id="23" name="fallacy-shape"/>
          <p:cNvGrpSpPr/>
          <p:nvPr/>
        </p:nvGrpSpPr>
        <p:grpSpPr>
          <a:xfrm>
            <a:off x="609600" y="1849279"/>
            <a:ext cx="10972800" cy="1313021"/>
            <a:chOff x="609600" y="1849279"/>
            <a:chExt cx="10972800" cy="1313021"/>
          </a:xfrm>
        </p:grpSpPr>
        <p:sp>
          <p:nvSpPr>
            <p:cNvPr id="17" name="TextBox 17"/>
            <p:cNvSpPr txBox="1"/>
            <p:nvPr/>
          </p:nvSpPr>
          <p:spPr>
            <a:xfrm>
              <a:off x="753999" y="1849279"/>
              <a:ext cx="1870100"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"K-Means her veri</a:t>
              </a:r>
              <a:br/>
              <a:r>
                <a:rPr lang="tr-TR" sz="1580" b="1" dirty="0">
                  <a:solidFill>
                    <a:srgbClr val="12355B"/>
                  </a:solidFill>
                  <a:latin typeface="+mn-lt"/>
                  <a:ea typeface="+mn-ea"/>
                  <a:cs typeface="+mn-cs"/>
                </a:rPr>
                <a:t>şeklinde doğru</a:t>
              </a:r>
              <a:br/>
              <a:r>
                <a:rPr lang="tr-TR" sz="1580" b="1" dirty="0">
                  <a:solidFill>
                    <a:srgbClr val="12355B"/>
                  </a:solidFill>
                  <a:latin typeface="+mn-lt"/>
                  <a:ea typeface="+mn-ea"/>
                  <a:cs typeface="+mn-cs"/>
                </a:rPr>
                <a:t>kümeleri bulur."</a:t>
              </a:r>
            </a:p>
          </p:txBody>
        </p:sp>
        <p:sp>
          <p:nvSpPr>
            <p:cNvPr id="18" name="TextBox 18"/>
            <p:cNvSpPr txBox="1"/>
            <p:nvPr/>
          </p:nvSpPr>
          <p:spPr>
            <a:xfrm>
              <a:off x="4375404" y="1889760"/>
              <a:ext cx="30754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K-Means küresel, benzer boyutlu ve eşit</a:t>
              </a:r>
              <a:br/>
              <a:r>
                <a:rPr lang="tr-TR" sz="1200" dirty="0">
                  <a:solidFill>
                    <a:srgbClr val="172B3A"/>
                  </a:solidFill>
                  <a:latin typeface="+mn-lt"/>
                  <a:ea typeface="+mn-ea"/>
                  <a:cs typeface="+mn-cs"/>
                </a:rPr>
                <a:t>yoğunluklu kümeler varsayar. Hilal, iç içe</a:t>
              </a:r>
              <a:br/>
              <a:r>
                <a:rPr lang="tr-TR" sz="1200" dirty="0">
                  <a:solidFill>
                    <a:srgbClr val="172B3A"/>
                  </a:solidFill>
                  <a:latin typeface="+mn-lt"/>
                  <a:ea typeface="+mn-ea"/>
                  <a:cs typeface="+mn-cs"/>
                </a:rPr>
                <a:t>halka veya farklı yoğunluklu veri şeklinde</a:t>
              </a:r>
              <a:br/>
              <a:r>
                <a:rPr lang="tr-TR" sz="1200" dirty="0">
                  <a:solidFill>
                    <a:srgbClr val="172B3A"/>
                  </a:solidFill>
                  <a:latin typeface="+mn-lt"/>
                  <a:ea typeface="+mn-ea"/>
                  <a:cs typeface="+mn-cs"/>
                </a:rPr>
                <a:t>sistematik olarak yanılır.</a:t>
              </a:r>
            </a:p>
          </p:txBody>
        </p:sp>
        <p:sp>
          <p:nvSpPr>
            <p:cNvPr id="19" name="TextBox 19"/>
            <p:cNvSpPr txBox="1"/>
            <p:nvPr/>
          </p:nvSpPr>
          <p:spPr>
            <a:xfrm>
              <a:off x="8185404" y="1889760"/>
              <a:ext cx="29242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 şeklini önce görselleştirin (PCA/</a:t>
              </a:r>
            </a:p>
          </p:txBody>
        </p:sp>
        <p:sp>
          <p:nvSpPr>
            <p:cNvPr id="20" name="TextBox 20"/>
            <p:cNvSpPr txBox="1"/>
            <p:nvPr/>
          </p:nvSpPr>
          <p:spPr>
            <a:xfrm>
              <a:off x="8185404" y="2099310"/>
              <a:ext cx="28906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t-SNE); küresel değilse DBSCAN veya</a:t>
              </a:r>
            </a:p>
          </p:txBody>
        </p:sp>
        <p:sp>
          <p:nvSpPr>
            <p:cNvPr id="21" name="TextBox 21"/>
            <p:cNvSpPr txBox="1"/>
            <p:nvPr/>
          </p:nvSpPr>
          <p:spPr>
            <a:xfrm>
              <a:off x="8185404" y="2308860"/>
              <a:ext cx="27745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spektral kümelemeyi değerlendirin.</a:t>
              </a:r>
            </a:p>
          </p:txBody>
        </p:sp>
        <p:sp>
          <p:nvSpPr>
            <p:cNvPr id="22" name="Line 22"/>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noise"/>
          <p:cNvGrpSpPr/>
          <p:nvPr/>
        </p:nvGrpSpPr>
        <p:grpSpPr>
          <a:xfrm>
            <a:off x="609600" y="3162300"/>
            <a:ext cx="10972800" cy="1447800"/>
            <a:chOff x="609600" y="3162300"/>
            <a:chExt cx="10972800" cy="1447800"/>
          </a:xfrm>
        </p:grpSpPr>
        <p:sp>
          <p:nvSpPr>
            <p:cNvPr id="24" name="Rectangle 24"/>
            <p:cNvSpPr/>
            <p:nvPr/>
          </p:nvSpPr>
          <p:spPr>
            <a:xfrm>
              <a:off x="609600" y="3162300"/>
              <a:ext cx="10972800" cy="1447800"/>
            </a:xfrm>
            <a:prstGeom prst="rect">
              <a:avLst/>
            </a:prstGeom>
            <a:solidFill>
              <a:srgbClr val="EAF4F6"/>
            </a:solidFill>
            <a:ln>
              <a:noFill/>
            </a:ln>
          </p:spPr>
        </p:sp>
        <p:sp>
          <p:nvSpPr>
            <p:cNvPr id="25" name="TextBox 25"/>
            <p:cNvSpPr txBox="1"/>
            <p:nvPr/>
          </p:nvSpPr>
          <p:spPr>
            <a:xfrm>
              <a:off x="753999" y="3297079"/>
              <a:ext cx="2575922"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"DBSCAN'da -1 etiketi</a:t>
              </a:r>
              <a:br/>
              <a:r>
                <a:rPr lang="tr-TR" sz="1580" b="1" dirty="0">
                  <a:solidFill>
                    <a:srgbClr val="12355B"/>
                  </a:solidFill>
                  <a:latin typeface="+mn-lt"/>
                  <a:ea typeface="+mn-ea"/>
                  <a:cs typeface="+mn-cs"/>
                </a:rPr>
                <a:t>algoritmanın hata</a:t>
              </a:r>
              <a:br/>
              <a:r>
                <a:rPr lang="tr-TR" sz="1580" b="1" dirty="0">
                  <a:solidFill>
                    <a:srgbClr val="12355B"/>
                  </a:solidFill>
                  <a:latin typeface="+mn-lt"/>
                  <a:ea typeface="+mn-ea"/>
                  <a:cs typeface="+mn-cs"/>
                </a:rPr>
                <a:t>yaptığı anlamına gelir."</a:t>
              </a:r>
            </a:p>
          </p:txBody>
        </p:sp>
        <p:sp>
          <p:nvSpPr>
            <p:cNvPr id="26" name="TextBox 26"/>
            <p:cNvSpPr txBox="1"/>
            <p:nvPr/>
          </p:nvSpPr>
          <p:spPr>
            <a:xfrm>
              <a:off x="4375404" y="3337560"/>
              <a:ext cx="32049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 DBSCAN'ın kasıtlı tasarım kararıdır:</a:t>
              </a:r>
              <a:br/>
              <a:r>
                <a:rPr lang="tr-TR" sz="1200" dirty="0">
                  <a:solidFill>
                    <a:srgbClr val="172B3A"/>
                  </a:solidFill>
                  <a:latin typeface="+mn-lt"/>
                  <a:ea typeface="+mn-ea"/>
                  <a:cs typeface="+mn-cs"/>
                </a:rPr>
                <a:t>yoğunluk kriterini karşılamayan noktayı</a:t>
              </a:r>
              <a:br/>
              <a:r>
                <a:rPr lang="tr-TR" sz="1200" dirty="0">
                  <a:solidFill>
                    <a:srgbClr val="172B3A"/>
                  </a:solidFill>
                  <a:latin typeface="+mn-lt"/>
                  <a:ea typeface="+mn-ea"/>
                  <a:cs typeface="+mn-cs"/>
                </a:rPr>
                <a:t>zorla bir kümeye sokmak yerine "gürültü"</a:t>
              </a:r>
              <a:br/>
              <a:r>
                <a:rPr lang="tr-TR" sz="1200" dirty="0">
                  <a:solidFill>
                    <a:srgbClr val="172B3A"/>
                  </a:solidFill>
                  <a:latin typeface="+mn-lt"/>
                  <a:ea typeface="+mn-ea"/>
                  <a:cs typeface="+mn-cs"/>
                </a:rPr>
                <a:t>olarak dürüstçe işaretler.</a:t>
              </a:r>
            </a:p>
          </p:txBody>
        </p:sp>
        <p:sp>
          <p:nvSpPr>
            <p:cNvPr id="27" name="TextBox 27"/>
            <p:cNvSpPr txBox="1"/>
            <p:nvPr/>
          </p:nvSpPr>
          <p:spPr>
            <a:xfrm>
              <a:off x="8185404" y="3337560"/>
              <a:ext cx="275036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 oranını izleyin; aşırı yüksekse</a:t>
              </a:r>
            </a:p>
          </p:txBody>
        </p:sp>
        <p:sp>
          <p:nvSpPr>
            <p:cNvPr id="28" name="TextBox 28"/>
            <p:cNvSpPr txBox="1"/>
            <p:nvPr/>
          </p:nvSpPr>
          <p:spPr>
            <a:xfrm>
              <a:off x="8185404" y="3547110"/>
              <a:ext cx="308152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parametreyi gözden geçirin, ama düşük</a:t>
              </a:r>
            </a:p>
          </p:txBody>
        </p:sp>
        <p:sp>
          <p:nvSpPr>
            <p:cNvPr id="29" name="TextBox 29"/>
            <p:cNvSpPr txBox="1"/>
            <p:nvPr/>
          </p:nvSpPr>
          <p:spPr>
            <a:xfrm>
              <a:off x="8185404" y="3756660"/>
              <a:ext cx="30734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oranları normal ve bilgilendirici sayın.</a:t>
              </a:r>
            </a:p>
          </p:txBody>
        </p:sp>
        <p:sp>
          <p:nvSpPr>
            <p:cNvPr id="30" name="Line 30"/>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fallacy-encoding"/>
          <p:cNvGrpSpPr/>
          <p:nvPr/>
        </p:nvGrpSpPr>
        <p:grpSpPr>
          <a:xfrm>
            <a:off x="753999" y="4744879"/>
            <a:ext cx="10903717" cy="903827"/>
            <a:chOff x="753999" y="4744879"/>
            <a:chExt cx="10903717" cy="903827"/>
          </a:xfrm>
        </p:grpSpPr>
        <p:sp>
          <p:nvSpPr>
            <p:cNvPr id="32" name="TextBox 32"/>
            <p:cNvSpPr txBox="1"/>
            <p:nvPr/>
          </p:nvSpPr>
          <p:spPr>
            <a:xfrm>
              <a:off x="753999" y="4744879"/>
              <a:ext cx="2586457"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"Kategorik sütunlarda da</a:t>
              </a:r>
              <a:br/>
              <a:r>
                <a:rPr lang="tr-TR" sz="1580" b="1" dirty="0">
                  <a:solidFill>
                    <a:srgbClr val="12355B"/>
                  </a:solidFill>
                  <a:latin typeface="+mn-lt"/>
                  <a:ea typeface="+mn-ea"/>
                  <a:cs typeface="+mn-cs"/>
                </a:rPr>
                <a:t>doğrudan Öklid uzaklığı</a:t>
              </a:r>
              <a:br/>
              <a:r>
                <a:rPr lang="tr-TR" sz="1580" b="1" dirty="0">
                  <a:solidFill>
                    <a:srgbClr val="12355B"/>
                  </a:solidFill>
                  <a:latin typeface="+mn-lt"/>
                  <a:ea typeface="+mn-ea"/>
                  <a:cs typeface="+mn-cs"/>
                </a:rPr>
                <a:t>kullanılabilir."</a:t>
              </a:r>
            </a:p>
          </p:txBody>
        </p:sp>
        <p:sp>
          <p:nvSpPr>
            <p:cNvPr id="33" name="TextBox 33"/>
            <p:cNvSpPr txBox="1"/>
            <p:nvPr/>
          </p:nvSpPr>
          <p:spPr>
            <a:xfrm>
              <a:off x="4375404" y="4785360"/>
              <a:ext cx="33345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Kategorileri ham sayılara (1,2,3…) çevirmek</a:t>
              </a:r>
              <a:br/>
              <a:r>
                <a:rPr lang="tr-TR" sz="1200" dirty="0">
                  <a:solidFill>
                    <a:srgbClr val="172B3A"/>
                  </a:solidFill>
                  <a:latin typeface="+mn-lt"/>
                  <a:ea typeface="+mn-ea"/>
                  <a:cs typeface="+mn-cs"/>
                </a:rPr>
                <a:t>yapay bir sıralama/uzaklık varsayımı</a:t>
              </a:r>
              <a:br/>
              <a:r>
                <a:rPr lang="tr-TR" sz="1200" dirty="0">
                  <a:solidFill>
                    <a:srgbClr val="172B3A"/>
                  </a:solidFill>
                  <a:latin typeface="+mn-lt"/>
                  <a:ea typeface="+mn-ea"/>
                  <a:cs typeface="+mn-cs"/>
                </a:rPr>
                <a:t>üretir; ölçeklenmemiş sayısal sütunlar da</a:t>
              </a:r>
              <a:br/>
              <a:r>
                <a:rPr lang="tr-TR" sz="1200" dirty="0">
                  <a:solidFill>
                    <a:srgbClr val="172B3A"/>
                  </a:solidFill>
                  <a:latin typeface="+mn-lt"/>
                  <a:ea typeface="+mn-ea"/>
                  <a:cs typeface="+mn-cs"/>
                </a:rPr>
                <a:t>tek başına mesafeyi domine edebilir.</a:t>
              </a:r>
            </a:p>
          </p:txBody>
        </p:sp>
        <p:sp>
          <p:nvSpPr>
            <p:cNvPr id="34" name="TextBox 34"/>
            <p:cNvSpPr txBox="1"/>
            <p:nvPr/>
          </p:nvSpPr>
          <p:spPr>
            <a:xfrm>
              <a:off x="8185404" y="4785360"/>
              <a:ext cx="275570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Kategorikleri one-hot encode edin,</a:t>
              </a:r>
            </a:p>
          </p:txBody>
        </p:sp>
        <p:sp>
          <p:nvSpPr>
            <p:cNvPr id="35" name="TextBox 35"/>
            <p:cNvSpPr txBox="1"/>
            <p:nvPr/>
          </p:nvSpPr>
          <p:spPr>
            <a:xfrm>
              <a:off x="8185404" y="4994910"/>
              <a:ext cx="24757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sayısalları standartlaştırın —</a:t>
              </a:r>
            </a:p>
          </p:txBody>
        </p:sp>
        <p:sp>
          <p:nvSpPr>
            <p:cNvPr id="36" name="TextBox 36"/>
            <p:cNvSpPr txBox="1"/>
            <p:nvPr/>
          </p:nvSpPr>
          <p:spPr>
            <a:xfrm>
              <a:off x="8185404" y="5204460"/>
              <a:ext cx="34723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ColumnTransformer bunu tek adımda yapar.</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23</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kmeans"/>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06817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K-Means</a:t>
              </a:r>
            </a:p>
          </p:txBody>
        </p:sp>
        <p:sp>
          <p:nvSpPr>
            <p:cNvPr id="8" name="TextBox 8"/>
            <p:cNvSpPr txBox="1"/>
            <p:nvPr/>
          </p:nvSpPr>
          <p:spPr>
            <a:xfrm>
              <a:off x="832104" y="1908810"/>
              <a:ext cx="27249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Merkez atama ve güncelleme</a:t>
              </a:r>
              <a:br/>
              <a:r>
                <a:rPr lang="tr-TR" sz="1200" dirty="0">
                  <a:solidFill>
                    <a:srgbClr val="172B3A"/>
                  </a:solidFill>
                  <a:latin typeface="+mn-lt"/>
                  <a:ea typeface="+mn-ea"/>
                  <a:cs typeface="+mn-cs"/>
                </a:rPr>
                <a:t>döngüsüyle WCSS'yi azaltır;</a:t>
              </a:r>
              <a:br/>
              <a:r>
                <a:rPr lang="tr-TR" sz="1200" dirty="0">
                  <a:solidFill>
                    <a:srgbClr val="172B3A"/>
                  </a:solidFill>
                  <a:latin typeface="+mn-lt"/>
                  <a:ea typeface="+mn-ea"/>
                  <a:cs typeface="+mn-cs"/>
                </a:rPr>
                <a:t>küresel kümelerde hızlı ve etkilidir.</a:t>
              </a:r>
            </a:p>
          </p:txBody>
        </p:sp>
      </p:grpSp>
      <p:grpSp>
        <p:nvGrpSpPr>
          <p:cNvPr id="13" name="summary-elbow-silhouette"/>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251460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Dirsek ve Silhouette</a:t>
              </a:r>
            </a:p>
          </p:txBody>
        </p:sp>
        <p:sp>
          <p:nvSpPr>
            <p:cNvPr id="12" name="TextBox 12"/>
            <p:cNvSpPr txBox="1"/>
            <p:nvPr/>
          </p:nvSpPr>
          <p:spPr>
            <a:xfrm>
              <a:off x="4565904" y="1908810"/>
              <a:ext cx="20010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Uygun k sayısını görsel ve</a:t>
              </a:r>
              <a:br/>
              <a:r>
                <a:rPr lang="tr-TR" sz="1200" dirty="0">
                  <a:solidFill>
                    <a:srgbClr val="172B3A"/>
                  </a:solidFill>
                  <a:latin typeface="+mn-lt"/>
                  <a:ea typeface="+mn-ea"/>
                  <a:cs typeface="+mn-cs"/>
                </a:rPr>
                <a:t>sayısal olarak birlikte</a:t>
              </a:r>
              <a:br/>
              <a:r>
                <a:rPr lang="tr-TR" sz="1200" dirty="0">
                  <a:solidFill>
                    <a:srgbClr val="172B3A"/>
                  </a:solidFill>
                  <a:latin typeface="+mn-lt"/>
                  <a:ea typeface="+mn-ea"/>
                  <a:cs typeface="+mn-cs"/>
                </a:rPr>
                <a:t>değerlendirmeyi sağlar.</a:t>
              </a:r>
            </a:p>
          </p:txBody>
        </p:sp>
      </p:grpSp>
      <p:grpSp>
        <p:nvGrpSpPr>
          <p:cNvPr id="17" name="summary-hierarchical"/>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253232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Hiyerarşik kümeleme</a:t>
              </a:r>
            </a:p>
          </p:txBody>
        </p:sp>
        <p:sp>
          <p:nvSpPr>
            <p:cNvPr id="16" name="TextBox 16"/>
            <p:cNvSpPr txBox="1"/>
            <p:nvPr/>
          </p:nvSpPr>
          <p:spPr>
            <a:xfrm>
              <a:off x="8299704" y="1908810"/>
              <a:ext cx="20848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Dendrogram ile iç içe yapıyı</a:t>
              </a:r>
              <a:br/>
              <a:r>
                <a:rPr lang="tr-TR" sz="1200" dirty="0">
                  <a:solidFill>
                    <a:srgbClr val="172B3A"/>
                  </a:solidFill>
                  <a:latin typeface="+mn-lt"/>
                  <a:ea typeface="+mn-ea"/>
                  <a:cs typeface="+mn-cs"/>
                </a:rPr>
                <a:t>gösterir; küme sayısı</a:t>
              </a:r>
              <a:br/>
              <a:r>
                <a:rPr lang="tr-TR" sz="1200" dirty="0">
                  <a:solidFill>
                    <a:srgbClr val="172B3A"/>
                  </a:solidFill>
                  <a:latin typeface="+mn-lt"/>
                  <a:ea typeface="+mn-ea"/>
                  <a:cs typeface="+mn-cs"/>
                </a:rPr>
                <a:t>sonradan kesimle belirlenir.</a:t>
              </a:r>
            </a:p>
          </p:txBody>
        </p:sp>
      </p:grpSp>
      <p:grpSp>
        <p:nvGrpSpPr>
          <p:cNvPr id="21" name="summary-dbscan"/>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90543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DBSCAN</a:t>
              </a:r>
            </a:p>
          </p:txBody>
        </p:sp>
        <p:sp>
          <p:nvSpPr>
            <p:cNvPr id="20" name="TextBox 20"/>
            <p:cNvSpPr txBox="1"/>
            <p:nvPr/>
          </p:nvSpPr>
          <p:spPr>
            <a:xfrm>
              <a:off x="832104" y="3718560"/>
              <a:ext cx="22981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Yoğunluğa dayanır; rastgele</a:t>
              </a:r>
              <a:br/>
              <a:r>
                <a:rPr lang="tr-TR" sz="1200" dirty="0">
                  <a:solidFill>
                    <a:srgbClr val="172B3A"/>
                  </a:solidFill>
                  <a:latin typeface="+mn-lt"/>
                  <a:ea typeface="+mn-ea"/>
                  <a:cs typeface="+mn-cs"/>
                </a:rPr>
                <a:t>şekilli kümeleri bulur ve</a:t>
              </a:r>
              <a:br/>
              <a:r>
                <a:rPr lang="tr-TR" sz="1200" dirty="0">
                  <a:solidFill>
                    <a:srgbClr val="172B3A"/>
                  </a:solidFill>
                  <a:latin typeface="+mn-lt"/>
                  <a:ea typeface="+mn-ea"/>
                  <a:cs typeface="+mn-cs"/>
                </a:rPr>
                <a:t>gürültüyü doğal olarak ayırır.</a:t>
              </a:r>
            </a:p>
          </p:txBody>
        </p:sp>
      </p:grpSp>
      <p:grpSp>
        <p:nvGrpSpPr>
          <p:cNvPr id="25" name="summary-distance"/>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194649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Uzaklık ölçüleri</a:t>
              </a:r>
            </a:p>
          </p:txBody>
        </p:sp>
        <p:sp>
          <p:nvSpPr>
            <p:cNvPr id="24" name="TextBox 24"/>
            <p:cNvSpPr txBox="1"/>
            <p:nvPr/>
          </p:nvSpPr>
          <p:spPr>
            <a:xfrm>
              <a:off x="4565904" y="3718560"/>
              <a:ext cx="21610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Öklid, Manhattan ve Kosinüs</a:t>
              </a:r>
              <a:br/>
              <a:r>
                <a:rPr lang="tr-TR" sz="1200" dirty="0">
                  <a:solidFill>
                    <a:srgbClr val="172B3A"/>
                  </a:solidFill>
                  <a:latin typeface="+mn-lt"/>
                  <a:ea typeface="+mn-ea"/>
                  <a:cs typeface="+mn-cs"/>
                </a:rPr>
                <a:t>farklı benzerlik anlamları</a:t>
              </a:r>
              <a:br/>
              <a:r>
                <a:rPr lang="tr-TR" sz="1200" dirty="0">
                  <a:solidFill>
                    <a:srgbClr val="172B3A"/>
                  </a:solidFill>
                  <a:latin typeface="+mn-lt"/>
                  <a:ea typeface="+mn-ea"/>
                  <a:cs typeface="+mn-cs"/>
                </a:rPr>
                <a:t>taşır; seçim sonucu etkiler.</a:t>
              </a:r>
            </a:p>
          </p:txBody>
        </p:sp>
      </p:grpSp>
      <p:grpSp>
        <p:nvGrpSpPr>
          <p:cNvPr id="29" name="summary-pitfalls"/>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91426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Gerçek dünya tuzakları</a:t>
              </a:r>
            </a:p>
          </p:txBody>
        </p:sp>
        <p:sp>
          <p:nvSpPr>
            <p:cNvPr id="28" name="TextBox 28"/>
            <p:cNvSpPr txBox="1"/>
            <p:nvPr/>
          </p:nvSpPr>
          <p:spPr>
            <a:xfrm>
              <a:off x="8299704" y="3718560"/>
              <a:ext cx="22296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Ölçeklendirme, kategorik</a:t>
              </a:r>
              <a:br/>
              <a:r>
                <a:rPr lang="tr-TR" sz="1200" dirty="0">
                  <a:solidFill>
                    <a:srgbClr val="172B3A"/>
                  </a:solidFill>
                  <a:latin typeface="+mn-lt"/>
                  <a:ea typeface="+mn-ea"/>
                  <a:cs typeface="+mn-cs"/>
                </a:rPr>
                <a:t>kodlama ve varsayım kontrolü</a:t>
              </a:r>
              <a:br/>
              <a:r>
                <a:rPr lang="tr-TR" sz="1200" dirty="0">
                  <a:solidFill>
                    <a:srgbClr val="172B3A"/>
                  </a:solidFill>
                  <a:latin typeface="+mn-lt"/>
                  <a:ea typeface="+mn-ea"/>
                  <a:cs typeface="+mn-cs"/>
                </a:rPr>
                <a:t>sonucu belirler.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880460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Kümeleme, etiketsiz veriden yapı çıkarmanın tek bir formülü değildir.</a:t>
              </a:r>
            </a:p>
          </p:txBody>
        </p:sp>
        <p:sp>
          <p:nvSpPr>
            <p:cNvPr id="32" name="TextBox 32"/>
            <p:cNvSpPr txBox="1"/>
            <p:nvPr/>
          </p:nvSpPr>
          <p:spPr>
            <a:xfrm>
              <a:off x="906399" y="5583079"/>
              <a:ext cx="656350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Doğru algoritma seçimi, veriyi ve iş sorusunu anlamakla başlar.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23</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10606850" cy="724281"/>
            <a:chOff x="599694" y="1484948"/>
            <a:chExt cx="10606850" cy="724281"/>
          </a:xfrm>
        </p:grpSpPr>
        <p:sp>
          <p:nvSpPr>
            <p:cNvPr id="7" name="TextBox 7"/>
            <p:cNvSpPr txBox="1"/>
            <p:nvPr/>
          </p:nvSpPr>
          <p:spPr>
            <a:xfrm>
              <a:off x="599694" y="1484948"/>
              <a:ext cx="10606850"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Kümeleme, gözetimsiz öğrenmede "hangi noktalar birbirine benzer" sorusunu yanıtladı.</a:t>
              </a:r>
              <a:br/>
              <a:r>
                <a:rPr lang="tr-TR" sz="1950" dirty="0">
                  <a:solidFill>
                    <a:srgbClr val="172B3A"/>
                  </a:solidFill>
                  <a:latin typeface="+mn-lt"/>
                  <a:ea typeface="+mn-ea"/>
                  <a:cs typeface="+mn-cs"/>
                </a:rPr>
                <a:t>Sıradaki soru ise "hangi öğeler birlikte ortaya çıkıyor" sorusudur.</a:t>
              </a:r>
            </a:p>
          </p:txBody>
        </p:sp>
      </p:grpSp>
      <p:grpSp>
        <p:nvGrpSpPr>
          <p:cNvPr id="14" name="bridge-now"/>
          <p:cNvGrpSpPr/>
          <p:nvPr/>
        </p:nvGrpSpPr>
        <p:grpSpPr>
          <a:xfrm>
            <a:off x="599694" y="2799398"/>
            <a:ext cx="3044698" cy="1834419"/>
            <a:chOff x="599694" y="2799398"/>
            <a:chExt cx="3044698"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233295"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Doğru algoritmayı veri</a:t>
              </a:r>
              <a:br/>
              <a:r>
                <a:rPr lang="tr-TR" sz="1580" dirty="0">
                  <a:solidFill>
                    <a:srgbClr val="172B3A"/>
                  </a:solidFill>
                  <a:latin typeface="+mn-lt"/>
                  <a:ea typeface="+mn-ea"/>
                  <a:cs typeface="+mn-cs"/>
                </a:rPr>
                <a:t>şekline göre seçmek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79514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Küme sayısını Silhouette ile</a:t>
              </a:r>
              <a:br/>
              <a:r>
                <a:rPr lang="tr-TR" sz="1580" dirty="0">
                  <a:solidFill>
                    <a:srgbClr val="172B3A"/>
                  </a:solidFill>
                  <a:latin typeface="+mn-lt"/>
                  <a:ea typeface="+mn-ea"/>
                  <a:cs typeface="+mn-cs"/>
                </a:rPr>
                <a:t>nesnel biçimde doğrulamak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2468166"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Birliktelik kuralı</a:t>
              </a:r>
              <a:br/>
              <a:r>
                <a:rPr lang="tr-TR" sz="2250" b="1" dirty="0">
                  <a:solidFill>
                    <a:srgbClr val="FFFFFF"/>
                  </a:solidFill>
                  <a:latin typeface="+mn-lt"/>
                  <a:ea typeface="+mn-ea"/>
                  <a:cs typeface="+mn-cs"/>
                </a:rPr>
                <a:t>madenciliği</a:t>
              </a:r>
            </a:p>
          </p:txBody>
        </p:sp>
        <p:sp>
          <p:nvSpPr>
            <p:cNvPr id="18" name="TextBox 18"/>
            <p:cNvSpPr txBox="1"/>
            <p:nvPr/>
          </p:nvSpPr>
          <p:spPr>
            <a:xfrm>
              <a:off x="7307199" y="4135279"/>
              <a:ext cx="3567684"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Apriori ve FP-Growth ile "sepet</a:t>
              </a:r>
              <a:br/>
              <a:r>
                <a:rPr lang="tr-TR" sz="1580" dirty="0">
                  <a:solidFill>
                    <a:srgbClr val="EAF4F6"/>
                  </a:solidFill>
                  <a:latin typeface="+mn-lt"/>
                  <a:ea typeface="+mn-ea"/>
                  <a:cs typeface="+mn-cs"/>
                </a:rPr>
                <a:t>analizi" mantığını keşfedeceksiniz.</a:t>
              </a:r>
            </a:p>
          </p:txBody>
        </p:sp>
      </p:grpSp>
      <p:grpSp>
        <p:nvGrpSpPr>
          <p:cNvPr id="23" name="bridge-closing"/>
          <p:cNvGrpSpPr/>
          <p:nvPr/>
        </p:nvGrpSpPr>
        <p:grpSpPr>
          <a:xfrm>
            <a:off x="609600" y="5429250"/>
            <a:ext cx="10972800" cy="666750"/>
            <a:chOff x="609600" y="5429250"/>
            <a:chExt cx="10972800" cy="666750"/>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687041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Segmentleri belirledikten sonra, bu segmentler içindeki</a:t>
              </a:r>
            </a:p>
          </p:txBody>
        </p:sp>
        <p:sp>
          <p:nvSpPr>
            <p:cNvPr id="22" name="TextBox 22"/>
            <p:cNvSpPr txBox="1"/>
            <p:nvPr/>
          </p:nvSpPr>
          <p:spPr>
            <a:xfrm>
              <a:off x="906399" y="5773579"/>
              <a:ext cx="589714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birlikte satın alma örüntülerini keşfetmeye hazırsınız.</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23</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07_kumeleme_analizi-20260916">
  <a:themeElements>
    <a:clrScheme name="ch07_kumeleme_analiz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7_kumeleme_analiz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7_kumeleme_analiz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07_kumeleme_analizi-20260916">
  <a:themeElements>
    <a:clrScheme name="ch07_kumeleme_analiz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7_kumeleme_analiz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7_kumeleme_analiz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2026-09-19T21:22:24Z</dcterms:created>
  <dcterms:modified xsi:type="dcterms:W3CDTF">2026-09-19T21:22:24Z</dcterms:modified>
  <cp:category/>
  <cp:contentStatus/>
</cp:coreProperties>
</file>