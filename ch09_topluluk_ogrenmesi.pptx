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  <Relationship Id="rId3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topluluk öğrenmesini, özellikle bagging ve Random Forest yöntemlerini ele alacağız. Ders, Mehmet Akif Ersoy Üniversitesi Bilgisayar Mühendisliği bölümünde Prof. Dr. İsmail Kırbaş tarafından yürütülen Modern Veri Madenciliğine Giriş dersinin dokuzuncu bölümüdür. Önceki bölümlerde tekil sınıflandırma modellerini incelemiştik; bu bölümde birden çok modeli bir araya getirerek daha kararlı tahminler üretme fikrine geçiyoruz.</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Bölüme, tekil bir karar ağacıyla kurulan bir müşteri kaybı modelinin eğitim verisindeki küçük değişikliklerde kökten farklı dallanabildiği somut bir gözlemle başlıyoruz. Bu kararsızlık, dört yol gösterici soruyla çerçeveleniyor: tek ağacın neden bu kadar hassas olduğu, bootstrap örneklemenin aynı veriden nasıl farklı eğitim kümeleri ürettiği, bagging ve Random Forest'ın varyansı hangi mekanizmayla azalttığı ve çoğunluk oylamasının neden tekil modelden daha güvenilir sonuç verdiği. Görselde soldaki tek, kararsız ağaç ile sağdaki üç ağaçtan oluşan ve ortak bir çoğunluk oyu kutusuna yakınsayan topluluk karşılaştırılıyor; bu karşılaştırma, bölümün geri kalanında işleyeceğimiz temel mantığı önceden özetliyor.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 tamamladığınızda beş temel yetkinliğe sahip olacaksınız: bootstrap örneklemenin mantığını kurmak, bagging'in varyans azaltma mekanizmasını açıklamak, Random Forest modelini kurup hiperparametrelerini ayarlamak, OOB skorunu ek bir doğrulama seti olmadan yorumlamak ve öznitelik önemini hesaplayıp iş kararına bağlamak. Her hedefin yanında somut bir başarı ölçütü var; örneğin bagging hedefinde tekil ağaç ile bagging tahmininin kararlılığını karşılaştırmanız, Random Forest hedefinde ise n_estimators ve max_features parametrelerinin etkisini yorumlamanız bekleniyor. Bu ölçütler, bölüm boyunca yapacağımız deneylerin ve kod örneklerinin doğrudan karşılığı.</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kavram haritası, bölümün beş temel yapı taşını ve aralarındaki ilişkileri gösteriyor. Merkezdeki topluluk öğrenmesi kavramından bootstrap örnekleme, bagging, Random Forest ve öznitelik önemine doğru düz oklar uzanıyor; bu, her bir kavramın topluluk öğrenmesi fikrinden türediğini belirtiyor. Kesikli çizgiler ise kavramlar arası tamamlayıcı ilişkileri gösteriyor: bootstrap örnekleme ile OOB skoru arasındaki bağ, OOB skorunun bootstrap'ın "dışarıda kalan" kısmından beslendiğini; bootstrap örnekleme ile öznitelik önemi arasındaki uzun bağ ise, öznitelik önem hesaplamasının da aynı ağaç topluluğu üzerinden yapıldığını hatırlatıyor. Öznitelik önemi kutusunun genişletilmiş ve vurgulanmış olması, bunun bölümün iş değerine en çok bağlanan çıktısı olduğunu işaret ediyor.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Topluluk öğrenmesi, birden çok temel modelin tahminini bir kuralla — sınıflandırmada çoğunluk oylaması, regresyonda ortalama — birleştirip tek modelden daha kararlı bir nihai tahmin üreten stratejidir. Bu fikrin arkasındaki mantık "kalabalığın bilgeliği" olarak adlandırılıyor: bağımsız ve farklı hata yapan tahminciler bir araya geldiğinde, ortak hata azalır. Bunu sınıfta dört öğrencinin aynı vaka çalışmasını birbirinden habersiz, farklı kaynaklarla incelemesi ve ortak rapor için oylama yapması örneğiyle somutlaştırıyoruz; her öğrenci farklı bilgiye maruz kaldığından farklı hatalar yapar, ama çoğunluk kararı bireysel hatalardan daha güvenilirdir. Topluluk öğrenmesinin üç ana ailesi var: bagging paralel ve bağımsız modeller kullanır ve bu bölümün konusu; boosting sıralı modellerle bir öncekinin hatasına ağırlık verir; stacking ise farklı algoritmaların çıktısını bir meta-modelin girdisi yapar. Bu üçlü ayrım, ilerleyen bölümlerde boosting'e geçerken referans noktamız olacak.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Tek bir karar ağacının neden topluluk yöntemlerine ihtiyaç duyduğunu, yanlılık-varyans dengesi üzerinden açıklıyoruz. Sığ bir ağaç yanlılık (bias) kaynaklı underfitting yaşar; veriyi yeterince öğrenemez ve hem eğitim hem test setinde kötü performans gösterir. Budanmamış, derin bir ağaç ise varyans (variance) kaynaklı overfitting yaşar; eğitim verisindeki gürültüyü ezberler ve küçük veri değişiminde kökten farklı dallanır — tam olarak bölüm açılışında gördüğümüz kararsızlık. Budama tek başına çözüm değildir, çünkü varyansı azaltırken öğrenme kapasitesini kısıtlayıp yanlılığı artırır; bu ikilem, bagging ve Random Forest'ın neden geliştirildiğini açıklıyor. Tarihsel çizgi, 1979'da Efron'un bootstrap yeniden örneklemeyi istatistiksel belirsizlik ölçmek için önermesinden, 1996'da Breiman'ın bunu model eğitimine uyarlayıp bagging'i tanımlamasına, 2001'de yine Breiman'ın öznitelik-düzeyi rastgelelik ekleyerek Random Forest'ı yayımlamasına ve günümüzde XGBoost/LightGBM gibi boosting yöntemlerinin kavramsal atası olmasına uzanıyor.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karşılaştırma tablosu, dört yaklaşımı model eğitimi biçimi, ana hedef, hesaplama maliyeti ve yorumlanabilirlik boyutlarında karşılaştırıyor. Bagging paralel ve bağımsız modellerle varyans azaltmayı hedefler, hesaplama maliyeti paralelleştirilebilir olduğu için orta düzeydedir. Boosting sıralı ve bağımlı modellerle yanlılık azaltmayı hedefler; paralelleştirilemediği için hesaplama maliyeti yüksektir ve yorumlanabilirliği düşüktür. Stacking, farklı algoritmaların çıktısını birleştiren bir meta-model kullanır; en yüksek performans potansiyeline sahip olsa da en düşük yorumlanabilirliğe ve en yüksek maliyete sahiptir. Tekil model ise basitlik ve hız açısından en avantajlısı ama performans tavanı en düşük olanıdır. Sık yapılan bir hata, yüksek korelasyonlu temel modellerin çeşitlilik sağladığını varsaymaktır; oysa bagging ile boosting tamamen farklı problemleri — sırasıyla varyans ve yanlılığı — hedefler ve birbirinin yerine kullanılamaz.</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Bootstrap örnekleme, orijinal veri setinden yerine koyarak (with replacement) rastgele örnekleme yapıp orijinaliyle aynı boyutta yeni bir veri kümesi üretme tekniğidir. Bagging'in çalışabilmesi için aynı veriden "farklı ama temsil gücü yüksek" eğitim kümeleri üretmek gerekir; bootstrap bu ihtiyacı karşılar. Bunu, içinde 100 farklı renkte top olan bir torbadan her çektiğiniz topu not edip tekrar torbaya attığınız bir benzetmeyle açıklıyoruz: 100 çekiliş sonunda bazı toplar hiç çıkmamış, bazıları iki-üç kez çıkmış olur. Bu durumun matematiksel karşılığı önemlidir: n gözlemli bir veriden n boyutunda bootstrap örneği çekildiğinde, bir gözlemin hiç seçilmeme olasılığı n sonsuza giderken 1/e değerine, yani yaklaşık yüzde 36.8'e yakınsar. Bu "dışarıda kalan" kısım rastgele değildir, tam tersine ilerleyen bölümde işleyeceğimiz OOB skorunun matematiksel temelini oluşturur. Yöntem, 1979'da Bradley Efron tarafından istatistiksel tahmin belirsizliğini ölçmek amacıyla önerilmiştir.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 örneği, bootstrap örneklemeyi ve OOB oranını on gözlemlik küçük bir veri kümesi üzerinde somutlaştırıyor. NumPy'ın rastgele üreteci, replace=True parametresiyle on müşteri kimliğinden yerine koyarak on örnek çekiyor; replace=True olmadan bu işlem sıradan bir alt küme haline dönerdi. Küme farkı alma işlemi (set çıkarma), orijinal kimlikler ile bootstrap örneğinde seçilmeyenleri tek satırda hesaplayarak OOB gözlemleri buluyor. Çıktıda orijinal veri [0..9] iken bootstrap örneğinde 0 numaralı müşteri üç kez seçilirken, 1, 3, 5 ve 9 numaralı müşteriler hiç seçilmemiş; bu da yüzde 40.0'lık bir OOB oranına karşılık geliyor — teorik yüzde 36.8 beklentisine yakın ama küçük örneklem boyutu nedeniyle ondan sapan somut bir sonuç. Bu OOB gözlemler eğitimde hiç kullanılmadığından, modelin performansını test etmek için "bedava" bir doğrulama kümesi işlevi görür; bu fikri birkaç sayfa sonra OOB skoru başlığı altında derinleştireceğiz.</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Bagging (Bootstrap Aggregating), aynı algoritmanın — genellikle karar ağacının — birden çok bootstrap örneği üzerinde bağımsız olarak eğitilip tahminlerin oylama veya ortalama ile birleştirildiği bir topluluk öğrenmesi yöntemidir. İsmi, iki adımdan geliyor: "bootstrap" yeniden örneklemeyi, "aggregating" ise toplulaştırmayı ifade ediyor. Regresyon problemlerinde nihai tahmin, M ağacın çıktılarının basit ortalaması olarak hesaplanır; sınıflandırma problemlerinde ise en sık tahmin edilen sınıf, yani mod, seçilir. Bu birleştirmenin arkasındaki istatistiksel gerekçe önemlidir: tam bağımsız n tahmincinin ortalamasının varyansı, tekil bir tahmincinin varyansının 1/n'ine iner. Pratikte ağaçlar aynı orijinal veriden türediği için tam bağımsızlık sağlanamaz ve azaltım 1/n kadar dramatik olmaz, ama yine de kayda değer bir kararlılık iyileşmesi elde edilir — bunu bir sonraki sayfadaki deneyle sayısal olarak göreceğiz.</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Bagging'in gerçekten varyansı azaltıp azaltmadığını sınamak için 500 gözlemlik sentetik bir churn benzeri veri seti, 10 farklı random_state ile bölünüp her defasında hem tek bir karar ağacı hem de 50 ağaçlık bir bagging modeli eğitiliyor. Ölçüt olarak on doğruluk değerinin standart sapması kullanılıyor; bu, modelin farklı veri bölünmelerinde ne kadar kararlı sonuç verdiğinin somut göstergesi. Sonuçlar açık bir fark ortaya koyuyor: tek ağacın ortalama doğruluğu 0.749 ve standart sapması 0.033 iken, 50 ağaçlık bagging modelinin ortalama doğruluğu 0.835'e yükseliyor ve standart sapması 0.028'e düşüyor. Sağdaki nokta grafiğinde bagging'in on çalıştırmadaki sonuçları tek ağaca göre belirgin biçimde daha sıkı kümeleniyor; bu görsel kanıt, bagging'in farklı veri bölünmelerinde daha kararlı sonuç verdiğini doğruluyor ve teorik beklentiyle örtüşüyor.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diyagram, bootstrap örneklemeden nihai tahmine kadar olan uçtan uca akışı görselleştiriyor. Orijinal veri setinden üç farklı bootstrap örneği çekiliyor; her örnek, kendi bağımsız karar ağacını (Ağaç 1, Ağaç 2, Ağaç 3) eğitmek için kullanılıyor. Üç ağacın tahminleri bir oylama veya ortalama adımında birleştirilerek nihai tahmin elde ediliyor. Sağdaki not kutusu, bootstrap sürecinin bir yan ürününü hatırlatıyor: yaklaşık yüzde 36.8'lik OOB veri, ek bir test kümesi oluşturmaya gerek kalmadan doğrulama için kullanılabiliyor. Alttaki ipucu önemlidir: Random Forest, bu akışa tek bir ek adım katar — her düğümde tüm özniteliklere değil, rastgele seçilmiş bir alt kümesine bakılır; bu fark, bir sonraki sayfalarda ele alacağımız Random Forest'ın bagging'den ayrılan temel noktasıdır.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Random Forest, bagging'in tüm mekanizmasını miras alan, buna ek olarak her düğümde tüm özniteliklere değil rastgele seçilmiş bir alt kümeye bakan karar ağaçları topluluğudur. Bu ek katman önemlidir: öznitelik alt kümesi seçimi, ağaçlar arası korelasyonu bagging'e göre daha da azaltır. Bunu bir restoran zinciri benzetmesiyle açıklıyoruz: her şubeye farklı bir şef atanır ve her şef menüyü kendi yorumuyla, yani elindeki malzeme alt kümesiyle hazırlar; ortak bir tarif tabanı (bootstrap) ile bireysel yorum farkı (rastgele öznitelik) birleşince, zincirin genel memnuniyeti tek bir şefe bağlı kalmaktan daha istikrarlı olur. Breiman'ın 2001'deki önerisine göre, her düğümde değerlendirilecek öznitelik sayısı sınıflandırmada toplam öznitelik sayısının karekökü, regresyonda ise üçte biri kadar olmalıdır; bu basit kural, Random Forest'ın varsayılan davranışının temelini oluşturur.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Random Forest'ın öznitelik alt kümesi adımına neden ihtiyaç duyduğunu açıklıyor. Sıradan bagging'in zayıf noktası şudur: bir öznitelik, örneğin sözleşme tipi, çok güçlüyse neredeyse tüm bootstrap örneklerinde kök düğümde seçilir ve ağaçlar yapısal olarak birbirine benzeyerek tahminleri arasında korelasyon yükselir. Sonuç olarak, yüksek korelasyonlu tahminciler ortalandığında varyans azaltımı beklenenin çok altında kalır — bagging'in teorik faydası pratikte sınırlanır. Sağdaki tablo, dört model ailesini bu korelasyon ekseninde karşılaştırıyor: Random Forest bootstrap'a öznitelik alt kümesi ekleyerek düşük korelasyon sağlarken, sıradan bagging yalnızca bootstrap kullandığı için orta-yüksek korelasyonda kalır; Extra Trees rastgele eşik seçimiyle korelasyonu daha da düşürür; Gradient Boosting ise tamamen farklı bir mekanizmayla, sıralı ağırlıklandırmayla çalışır ve overfitting riski daha fazladır. Bu karşılaştırmadan çıkan sonuç, Random Forest'ın tipik olarak en yüksek ve en dengeli performansı verdiğidir.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deneyde, 800 gözlemlik, yüzde 75-25 oranında dengesiz sentetik bir churn benzeri veri üzerinde üç aday hiperparametre seti deneniyor: n_estimators, max_features ve max_depth kombinasyonları. Eğitim ve test kümelerinde stratify=etiketler kullanılması, sınıf oranlarının korunmasını sağlıyor; bu, dengesiz veri setlerinde özellikle kritik bir adımdır. Üç konfigürasyonun doğrulukları birbirine oldukça yakın çıkıyor: 50 ağaç ve sqrt öznitelik seçimiyle 0.905, 200 ağaç ve max_depth=10 ile 0.900, 200 ağaç ve log2 öznitelik seçimiyle yine 0.900. Sağdaki sınıf bazlı rapor, en iyi konfigürasyonun churn olmayan sınıfta yüzde 90 precision ve yüzde 98 recall, churn sınıfında ise yüzde 92 precision ama yalnızca yüzde 67 recall verdiğini gösteriyor; azınlık sınıfındaki bu recall düşüklüğü dengesiz veri yönetimiyle doğrudan ilişkilidir. Son olarak önemli bir sınav notu: sqrt(p) önerisi yalnızca sınıflandırma içindir, regresyonda geleneksel öneri p/3'tür ve bu ayrımın karıştırılması sık yapılan bir hatadır.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OOB skoru, her ağacın eğitiminde kullanılmayan, yani bootstrap örneğine dahil edilmeyen gözlemler üzerinden hesaplanan, ayrı bir test kümesi gerektirmeyen bir performans tahmin yöntemidir. Bu yöntemin var olma nedeni pratiktir: ayrı bir test kümesi ayırmak eğitim verisini azaltır, çapraz doğrulama ise hesaplama açısından pahalıdır. Bunu bir sürpriz kısa sınav benzetmesiyle açıklıyoruz: her öğrenci, yani her ağaç, dersin yalnızca kendine atanmış bölümünü çalışmıştır; geri kalan konulardan, yani OOB gözlemlerden sorulan sorular, o öğrencinin gerçekten ne öğrendiğini ayrı bir sınava gerek kalmadan ölçer. OOB skoru, 1996'da Breiman'ın orijinal bagging makalesinde tanıtılmıştır ve k-katlamalı çapraz doğrulamaya yakın, bazı durumlarda daha az yanlı bir tahmin sağlar.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 OOB skorunu 5-katlamalı çapraz doğrulamayla doğrudan karşılaştırıyoruz. OOB skoru 0.899 iken 5-katlamalı CV'nin ortalama skoru 0.896 çıkıyor — birbirine çok yakın iki değer. Asıl fark hesaplama süresinde: OOB skoru yalnızca bir kez eğitilen modelden 0.28 saniyede hesaplanırken, 5-katlamalı CV modeli beş kez yeniden eğittiği için 1.35 saniye sürüyor, yani yaklaşık beş kat daha yavaş. Sağdaki yakınsama grafiği, ağaç sayısı arttıkça OOB skorunun nasıl davrandığını gösteriyor: n_estimators 10 iken skor yalnızca 0.798 iken, yaklaşık 100-150 ağaca ulaşıldığında skor 0.90 civarına yakınsıyor ve sonrasında küçük dalgalanmalarla sabit kalıyor. Buradan çıkan pratik ders şu: "daha fazla ağaç her zaman daha iyi" sezgisi bir noktadan sonra geçerliliğini yitiriyor, dolayısıyla hızlı iterasyonlarda OOB skoru tercih edilirken, kritik nihai kararlarda k-katlamalı CV veya ayrı bir holdout kümesi daha güvenilir bir tercih olarak kalıyor.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Öznitelik önemi, bir özniteliğin ormandaki tüm ağaçlarda düğüm bölünmelerinde sağladığı ortalama saflık (Gini) azalmasının toplamıdır; buna MDI, yani mean decrease in impurity denir. Bunu acil serviste hangi belirtinin teşhise en sık katkı sağladığını izlemeye benzetiyoruz. Gini tabanlı önem hızlı hesaplanır ama yüksek kardinaliteli özniteliklere yanlı olabilir; buna alternatif olarak izin (permutation) tabanlı önem, değerleri karıştırıp performans düşüşünü ölçerek daha güvenilir ama daha yavaş bir tahmin sunar. Sağdaki sıralamada sekiz özniteliğin önem skorları görülüyor: hizmetSayisi 0.176 ve faturaOdemeGecikmesi 0.174 ile en önde, internetHizi 0.150, destekCagriSayisi 0.142, musteriSuresi_ay 0.135, toplamUcret 0.121 onları izliyor, aylikUcret 0.055 ve sozlesmeTipi 0.048 ise en düşük katkıyı sağlıyor. Burada sık yapılan bir yanlış anlamayı vurgulamak gerekiyor: destekCagriSayisi'nin önemli çıkması, destek aramalarının churn'e neden olduğu anlamına gelmez; öznitelik önemi katkıyı ölçer, nedenselliği kanıtlamaz.</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l-GR" dirty="0"/>
              <a:t>Çoğunluk oylamasının neden işe yaradığını basit bir olasılık hesabıyla gösteriyoruz: üç bağımsız sınıflandırıcının her biri yüzde 80 doğrulukla çalıştığında, çoğunluk oyu yalnızca en az ikisi yanılırsa yanılır. Bu olasılık 3(0.2)²(0.8) + (0.2)³ formülüyle 0.104 çıkıyor, yani topluluk doğruluğu yaklaşık yüzde 89.6'ya yükseliyor — tekil modellerin yüzde 80'lik doğruluğunun belirgin biçimde üzerinde. Ancak bu kazanç yalnızca modeller birbirinden bağımsız hata yaptığında geçerlidir; modeller birbirinin kopyası gibi hata yapıyorsa, yani korelasyon yüksekse, daha fazla ağaç eklemek yüzde 89.6'yı geçmeye yardımcı olmaz — bu, sık yapılan bir hatadır. Sağdaki hata korelasyonu formülü Var(f̄) = σ²[ρ + (1-ρ)/M] bu ilişkiyi matematiksel olarak açıklıyor: ρ ağaçlar arası korelasyonu, M ağaç sayısını temsil ediyor; ρ sıfıra yaklaştıkça M'nin artması varyansı 1/M oranında azaltıyor, ama ρ yüksekse bu kazanç sınırlı kalıyor. Bu yüzden Random Forest'ın öznitelik alt kümesi seçimi, doğrudan bu formülü hedefleyen bir tasarım kararıdır; bootstrap, öznitelik alt kümesi ve farklı rastgele tohumlar gibi çeşitliliği artıran her adım, topluluk performansına doğrudan katkı sağlar.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 bölümde işlenen tüm zinciri tek bir Python sınıfında birleştiren çalışan bir uygulama görüyoruz: TopluluklaChurnAnalizi. Sınıfın beş metodu var — _veriHazirla eğitim ve test bölünmesini yapıyor, bootstrap_ornegi_goster tek bir bootstrap örneğini ve OOB oranını gösteriyor, bagging_vs_tek_agac tekil ağaç ile bagging'i karşılaştırıyor, random_forest_egit_ve_dogrula Random Forest'ı eğitip test ve OOB skorlarını hesaplıyor, oznitelik_onemi_raporla ise önem sıralamasının ilk beşini yazdırıyor. Konsol çıktısı somut sonuçlar veriyor: eğitim seti 490 gözlem, OOB gözlem sayısı 179, yani yaklaşık yüzde 36.5 — teorik yüzde 36.8'e yakın; tekil ağaç 0.848 doğruluk verirken 60 ağaçlık bagging 0.895'e çıkıyor; Random Forest test doğruluğu 0.914 ve OOB skoru 0.891 ile birbirine yakın iki değer sunuyor; öznitelik önemi sıralamasında faturaOdemeGecikmesi, sozlesmeTipi, destekCagriSayisi, musteriSuresi_ay ve toplamUcret ilk beşi oluşturuyor. Bu bölümün kapanış katkısı, tek bir sınıfın bootstrap örneklemeden öznitelik önemine kadar tüm zinciri tekrar üretilebilir şekilde birleştirmesidir.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EnsembleDebug.py örneği, ensemble modelleriyle çalışırken karşılaşılabilecek beş farklı hatayı gösteriyor. test_size=1.5 geçersiz bir oran olduğu için ValueError fırlatır; bootstrap=False ile oob_score=True birlikte kullanılamaz çünkü OOB, bootstrap gerektirir, bu da ValueError'a yol açar; max_features="square" yazım hatasıdır, doğrusu "sqrt" olmalıdır ve yine ValueError verir; feature_importances_ özniteliğine model fit() edilmeden erişmek NotFittedError üretir; son olarak ormanModel ile ormanModeli arasındaki bir yazım farkı NameError'a neden olur. Ancak en tehlikeli hata, istisna fırlatmayandır: test_size=0.99 gibi bazı geçersiz-benzeri parametreler hata vermez, sessizce eğitim verisini neredeyse yok eder ve performansı düşürür — bu "sessiz başarısızlık" fark edilmesi en zor hata türüdür. Bu riski azaltmak için veri şekillerini (shape) günlüklemek ve OOB skoru ile test skoru arasındaki farkı örneğin yüzde 5 gibi bir eşikle izleyip aşıldığında uyarı üretmek öneriliyor. Dersin özü: istisna fırlatmayan hata, en çok güvenilen hatadır.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 boyunca sık karşılaşılan üç kavram yanılgısını ele alıyor. Birincisi, bagging'de her ağacın farklı ve tamamen bağımsız bir alt bölüm gördüğü yanılgısıdır; oysa bootstrap örneklemesi yerine koyarak yapıldığından aynı gözlem birden fazla ağacın örnek kümesinde yer alabilir ve örtüşme normaldir, istisna değildir — çeşitlilik, örneklerin ayrık olmasından değil rastgele örneklemenin istatistiksel varyasyonundan gelir. İkincisi, ağaç sayısını artırmanın overfitting riskini artırdığı yanılgısıdır; bagging ve Random Forest'ta ağaçlar bağımsız ve paralel eğitildiği için sayının artması varyansı azaltmaya devam eder ya da bir platoda sabitlenir, artırmaz — asıl bedel hesaplama süresi ve bellektir, dolayısıyla n_estimators'ı OOB veya CV eğrisi platoya ulaşana kadar artırmak güvenlidir. Üçüncüsü, feature_importances_ değerinin yüksek çıkmasının nedensellik anlamına geldiği yanılgısıdır; önem skoru düğüm bölünmelerindeki istatistiksel katkıyı ölçer, korelasyon ve yapısal ilişkiyi yansıtır ama nedensellik kanıtı sunmaz — nedensel iddialar için ayrı bir nedensel çıkarım tasarımı, örneğin deney veya karşı olgusal analiz gerekir.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altı temel kavramı işledik. Topluluk öğrenmesi, çok sayıda zayıf veya orta modeli birleştirerek tekil modelden daha kararlı tahminler üretir. Bootstrap, yerine koyarak örnekleme yapan ve her ağaca ortalama yüzde 63.2 veri, yüzde 36.8 OOB gözlem bırakan temel mekanizmadır. Bagging, bağımsız ağaçları oylama veya ortalama ile birleştirip varyansı azaltır; Random Forest ise bootstrap'a öznitelik alt kümesi ekleyerek ağaç korelasyonunu daha da düşürür. OOB skoru, ayrı bir test kümesi gerektirmeden, hızlı ve k-katlamalı CV'ye yakın bir performans tahmini sunar; öznitelik önemi ise modelin hangi değişkenlere dayandığını gösterir, ama nedensellik değil katkı payı ölçer. Bölümü kapatan önemli bir hatırlatma: OOB skoru ve k-katlamalı CV birbirinin yerine geçmez, birbirini tamamlar — hızlı iterasyonda OOB, kritik kararlarda ise k-katlamalı veya holdout değerlendirme tercih edilmelidir.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Bagging ve Random Forest, ağaçları paralel ve bağımsız şekilde eğitip oylatarak varyansı azaltıyordu. Sıradaki bölümde bambaşka bir strateji göreceğiz: ağaçları sırayla ve her seferinde bir öncekinin hatasından öğreterek eğitmek, yani boosting ve özellikle XGBoost. Bu bölümde artık bootstrap örneklemesiyle bagging modeli kurabiliyor, OOB skorunu ve öznitelik önemini yorumlayabiliyorsunuz; bir sonraki bölümde paralel varyans azaltmadan sıralı yanlılık azaltmaya geçeceksiniz. Devam etmeden önce bir kontrol listesi öneriyoruz: bootstrap mekanizmasını, OOB oranının anlamını, bagging'in tekil ağaca göre farkını, sqrt(p) kuralının ne zaman geçerli olduğunu ve öznitelik önemi yorumunu tekrar gözden geçirin.</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09_topluluk_ogrenmesi-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09_topluluk_ogrenmesi-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09</a:t>
              </a:r>
            </a:p>
          </p:txBody>
        </p:sp>
      </p:grpSp>
      <p:grpSp>
        <p:nvGrpSpPr>
          <p:cNvPr id="8" name="cover-title"/>
          <p:cNvGrpSpPr/>
          <p:nvPr/>
        </p:nvGrpSpPr>
        <p:grpSpPr>
          <a:xfrm>
            <a:off x="4934712" y="1992630"/>
            <a:ext cx="4789170" cy="1847088"/>
            <a:chOff x="4934712" y="1992630"/>
            <a:chExt cx="4789170" cy="1847088"/>
          </a:xfrm>
        </p:grpSpPr>
        <p:sp>
          <p:nvSpPr>
            <p:cNvPr id="7" name="TextBox 7"/>
            <p:cNvSpPr txBox="1"/>
            <p:nvPr/>
          </p:nvSpPr>
          <p:spPr>
            <a:xfrm>
              <a:off x="4934712" y="1992630"/>
              <a:ext cx="4789170" cy="1847088"/>
            </a:xfrm>
            <a:prstGeom prst="rect">
              <a:avLst/>
            </a:prstGeom>
            <a:noFill/>
            <a:ln>
              <a:noFill/>
            </a:ln>
          </p:spPr>
          <p:txBody>
            <a:bodyPr wrap="none" lIns="0" tIns="0" rIns="0" bIns="0" anchor="t" anchorCtr="0">
              <a:spAutoFit/>
            </a:bodyPr>
            <a:lstStyle/>
            <a:p>
              <a:pPr algn="l">
                <a:lnSpc>
                  <a:spcPts val="4500"/>
                </a:lnSpc>
              </a:pPr>
              <a:r>
                <a:rPr lang="tr-TR" sz="3600" b="1" dirty="0">
                  <a:solidFill>
                    <a:srgbClr val="12355B"/>
                  </a:solidFill>
                  <a:latin typeface="+mj-lt"/>
                  <a:ea typeface="+mj-ea"/>
                  <a:cs typeface="+mj-cs"/>
                </a:rPr>
                <a:t>Topluluk Öğrenmesi</a:t>
              </a:r>
              <a:br/>
              <a:r>
                <a:rPr lang="tr-TR" sz="3600" b="1" dirty="0">
                  <a:solidFill>
                    <a:srgbClr val="12355B"/>
                  </a:solidFill>
                  <a:latin typeface="+mj-lt"/>
                  <a:ea typeface="+mj-ea"/>
                  <a:cs typeface="+mj-cs"/>
                </a:rPr>
                <a:t>(Ensemble): Bagging</a:t>
              </a:r>
              <a:br/>
              <a:r>
                <a:rPr lang="tr-TR" sz="3600" b="1" dirty="0">
                  <a:solidFill>
                    <a:srgbClr val="12355B"/>
                  </a:solidFill>
                  <a:latin typeface="+mj-lt"/>
                  <a:ea typeface="+mj-ea"/>
                  <a:cs typeface="+mj-cs"/>
                </a:rPr>
                <a:t>ve Random Forest</a:t>
              </a:r>
            </a:p>
          </p:txBody>
        </p:sp>
      </p:grpSp>
      <p:grpSp>
        <p:nvGrpSpPr>
          <p:cNvPr id="12" name="cover-subtitle"/>
          <p:cNvGrpSpPr/>
          <p:nvPr/>
        </p:nvGrpSpPr>
        <p:grpSpPr>
          <a:xfrm>
            <a:off x="4943094" y="4095750"/>
            <a:ext cx="3976056" cy="900018"/>
            <a:chOff x="4943094" y="4095750"/>
            <a:chExt cx="3976056"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306743" cy="557403"/>
            <a:chOff x="595122" y="282892"/>
            <a:chExt cx="7306743" cy="557403"/>
          </a:xfrm>
        </p:grpSpPr>
        <p:sp>
          <p:nvSpPr>
            <p:cNvPr id="4" name="TextBox 4"/>
            <p:cNvSpPr txBox="1"/>
            <p:nvPr/>
          </p:nvSpPr>
          <p:spPr>
            <a:xfrm>
              <a:off x="595122" y="282892"/>
              <a:ext cx="730674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açılışı: Tek ağaçtan topluluğa</a:t>
              </a:r>
            </a:p>
          </p:txBody>
        </p:sp>
      </p:grpSp>
      <p:grpSp>
        <p:nvGrpSpPr>
          <p:cNvPr id="7" name="motivation-intro"/>
          <p:cNvGrpSpPr/>
          <p:nvPr/>
        </p:nvGrpSpPr>
        <p:grpSpPr>
          <a:xfrm>
            <a:off x="601599" y="1334929"/>
            <a:ext cx="5734014" cy="308039"/>
            <a:chOff x="601599" y="1334929"/>
            <a:chExt cx="5734014" cy="308039"/>
          </a:xfrm>
        </p:grpSpPr>
        <p:sp>
          <p:nvSpPr>
            <p:cNvPr id="6" name="TextBox 6"/>
            <p:cNvSpPr txBox="1"/>
            <p:nvPr/>
          </p:nvSpPr>
          <p:spPr>
            <a:xfrm>
              <a:off x="601599" y="1334929"/>
              <a:ext cx="573401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aşağıdaki soruları aklınızda tutun:</a:t>
              </a:r>
            </a:p>
          </p:txBody>
        </p:sp>
      </p:grpSp>
      <p:grpSp>
        <p:nvGrpSpPr>
          <p:cNvPr id="16" name="guiding-questions"/>
          <p:cNvGrpSpPr/>
          <p:nvPr/>
        </p:nvGrpSpPr>
        <p:grpSpPr>
          <a:xfrm>
            <a:off x="609600" y="1866900"/>
            <a:ext cx="4314444" cy="2900934"/>
            <a:chOff x="609600" y="1866900"/>
            <a:chExt cx="4314444" cy="2900934"/>
          </a:xfrm>
        </p:grpSpPr>
        <p:sp>
          <p:nvSpPr>
            <p:cNvPr id="8" name="Rectangle 8"/>
            <p:cNvSpPr/>
            <p:nvPr/>
          </p:nvSpPr>
          <p:spPr>
            <a:xfrm>
              <a:off x="609600" y="1866900"/>
              <a:ext cx="57150" cy="476250"/>
            </a:xfrm>
            <a:prstGeom prst="rect">
              <a:avLst/>
            </a:prstGeom>
            <a:solidFill>
              <a:srgbClr val="00A6A6"/>
            </a:solidFill>
            <a:ln>
              <a:noFill/>
            </a:ln>
          </p:spPr>
        </p:sp>
        <p:sp>
          <p:nvSpPr>
            <p:cNvPr id="9" name="TextBox 9"/>
            <p:cNvSpPr txBox="1"/>
            <p:nvPr/>
          </p:nvSpPr>
          <p:spPr>
            <a:xfrm>
              <a:off x="848106" y="1882140"/>
              <a:ext cx="3950208" cy="599694"/>
            </a:xfrm>
            <a:prstGeom prst="rect">
              <a:avLst/>
            </a:prstGeom>
            <a:noFill/>
            <a:ln>
              <a:noFill/>
            </a:ln>
          </p:spPr>
          <p:txBody>
            <a:bodyPr wrap="none" lIns="0" tIns="0" rIns="0" bIns="0" anchor="t" anchorCtr="0">
              <a:spAutoFit/>
            </a:bodyPr>
            <a:lstStyle/>
            <a:p>
              <a:pPr algn="l">
                <a:lnSpc>
                  <a:spcPts val="1950"/>
                </a:lnSpc>
              </a:pPr>
              <a:r>
                <a:rPr lang="tr-TR" sz="1800" dirty="0">
                  <a:solidFill>
                    <a:srgbClr val="172B3A"/>
                  </a:solidFill>
                  <a:latin typeface="+mn-lt"/>
                  <a:ea typeface="+mn-ea"/>
                  <a:cs typeface="+mn-cs"/>
                </a:rPr>
                <a:t>Tek karar ağacı neden küçük veri</a:t>
              </a:r>
              <a:br/>
              <a:r>
                <a:rPr lang="tr-TR" sz="1800" dirty="0">
                  <a:solidFill>
                    <a:srgbClr val="172B3A"/>
                  </a:solidFill>
                  <a:latin typeface="+mn-lt"/>
                  <a:ea typeface="+mn-ea"/>
                  <a:cs typeface="+mn-cs"/>
                </a:rPr>
                <a:t>değişiminde kökten farklı dallanır?</a:t>
              </a:r>
            </a:p>
          </p:txBody>
        </p:sp>
        <p:sp>
          <p:nvSpPr>
            <p:cNvPr id="10" name="Rectangle 10"/>
            <p:cNvSpPr/>
            <p:nvPr/>
          </p:nvSpPr>
          <p:spPr>
            <a:xfrm>
              <a:off x="609600" y="2628900"/>
              <a:ext cx="57150" cy="476250"/>
            </a:xfrm>
            <a:prstGeom prst="rect">
              <a:avLst/>
            </a:prstGeom>
            <a:solidFill>
              <a:srgbClr val="00A6A6"/>
            </a:solidFill>
            <a:ln>
              <a:noFill/>
            </a:ln>
          </p:spPr>
        </p:sp>
        <p:sp>
          <p:nvSpPr>
            <p:cNvPr id="11" name="TextBox 11"/>
            <p:cNvSpPr txBox="1"/>
            <p:nvPr/>
          </p:nvSpPr>
          <p:spPr>
            <a:xfrm>
              <a:off x="848106" y="2644140"/>
              <a:ext cx="3813048" cy="599694"/>
            </a:xfrm>
            <a:prstGeom prst="rect">
              <a:avLst/>
            </a:prstGeom>
            <a:noFill/>
            <a:ln>
              <a:noFill/>
            </a:ln>
          </p:spPr>
          <p:txBody>
            <a:bodyPr wrap="none" lIns="0" tIns="0" rIns="0" bIns="0" anchor="t" anchorCtr="0">
              <a:spAutoFit/>
            </a:bodyPr>
            <a:lstStyle/>
            <a:p>
              <a:pPr algn="l">
                <a:lnSpc>
                  <a:spcPts val="1950"/>
                </a:lnSpc>
              </a:pPr>
              <a:r>
                <a:rPr lang="tr-TR" sz="1800" dirty="0">
                  <a:solidFill>
                    <a:srgbClr val="172B3A"/>
                  </a:solidFill>
                  <a:latin typeface="+mn-lt"/>
                  <a:ea typeface="+mn-ea"/>
                  <a:cs typeface="+mn-cs"/>
                </a:rPr>
                <a:t>Bootstrap örnekleme aynı veriden</a:t>
              </a:r>
              <a:br/>
              <a:r>
                <a:rPr lang="tr-TR" sz="1800" dirty="0">
                  <a:solidFill>
                    <a:srgbClr val="172B3A"/>
                  </a:solidFill>
                  <a:latin typeface="+mn-lt"/>
                  <a:ea typeface="+mn-ea"/>
                  <a:cs typeface="+mn-cs"/>
                </a:rPr>
                <a:t>nasıl farklı eğitim kümesi üretir?</a:t>
              </a:r>
            </a:p>
          </p:txBody>
        </p:sp>
        <p:sp>
          <p:nvSpPr>
            <p:cNvPr id="12" name="Rectangle 12"/>
            <p:cNvSpPr/>
            <p:nvPr/>
          </p:nvSpPr>
          <p:spPr>
            <a:xfrm>
              <a:off x="609600" y="3390900"/>
              <a:ext cx="57150" cy="476250"/>
            </a:xfrm>
            <a:prstGeom prst="rect">
              <a:avLst/>
            </a:prstGeom>
            <a:solidFill>
              <a:srgbClr val="00A6A6"/>
            </a:solidFill>
            <a:ln>
              <a:noFill/>
            </a:ln>
          </p:spPr>
        </p:sp>
        <p:sp>
          <p:nvSpPr>
            <p:cNvPr id="13" name="TextBox 13"/>
            <p:cNvSpPr txBox="1"/>
            <p:nvPr/>
          </p:nvSpPr>
          <p:spPr>
            <a:xfrm>
              <a:off x="848106" y="3406140"/>
              <a:ext cx="3927348" cy="599694"/>
            </a:xfrm>
            <a:prstGeom prst="rect">
              <a:avLst/>
            </a:prstGeom>
            <a:noFill/>
            <a:ln>
              <a:noFill/>
            </a:ln>
          </p:spPr>
          <p:txBody>
            <a:bodyPr wrap="none" lIns="0" tIns="0" rIns="0" bIns="0" anchor="t" anchorCtr="0">
              <a:spAutoFit/>
            </a:bodyPr>
            <a:lstStyle/>
            <a:p>
              <a:pPr algn="l">
                <a:lnSpc>
                  <a:spcPts val="1950"/>
                </a:lnSpc>
              </a:pPr>
              <a:r>
                <a:rPr lang="tr-TR" sz="1800" dirty="0">
                  <a:solidFill>
                    <a:srgbClr val="172B3A"/>
                  </a:solidFill>
                  <a:latin typeface="+mn-lt"/>
                  <a:ea typeface="+mn-ea"/>
                  <a:cs typeface="+mn-cs"/>
                </a:rPr>
                <a:t>Bagging ve Random Forest varyansı</a:t>
              </a:r>
              <a:br/>
              <a:r>
                <a:rPr lang="tr-TR" sz="1800" dirty="0">
                  <a:solidFill>
                    <a:srgbClr val="172B3A"/>
                  </a:solidFill>
                  <a:latin typeface="+mn-lt"/>
                  <a:ea typeface="+mn-ea"/>
                  <a:cs typeface="+mn-cs"/>
                </a:rPr>
                <a:t>hangi mekanizmayla azaltır?</a:t>
              </a:r>
            </a:p>
          </p:txBody>
        </p:sp>
        <p:sp>
          <p:nvSpPr>
            <p:cNvPr id="14" name="Rectangle 14"/>
            <p:cNvSpPr/>
            <p:nvPr/>
          </p:nvSpPr>
          <p:spPr>
            <a:xfrm>
              <a:off x="609600" y="4152900"/>
              <a:ext cx="57150" cy="476250"/>
            </a:xfrm>
            <a:prstGeom prst="rect">
              <a:avLst/>
            </a:prstGeom>
            <a:solidFill>
              <a:srgbClr val="00A6A6"/>
            </a:solidFill>
            <a:ln>
              <a:noFill/>
            </a:ln>
          </p:spPr>
        </p:sp>
        <p:sp>
          <p:nvSpPr>
            <p:cNvPr id="15" name="TextBox 15"/>
            <p:cNvSpPr txBox="1"/>
            <p:nvPr/>
          </p:nvSpPr>
          <p:spPr>
            <a:xfrm>
              <a:off x="848106" y="4168140"/>
              <a:ext cx="4075938" cy="599694"/>
            </a:xfrm>
            <a:prstGeom prst="rect">
              <a:avLst/>
            </a:prstGeom>
            <a:noFill/>
            <a:ln>
              <a:noFill/>
            </a:ln>
          </p:spPr>
          <p:txBody>
            <a:bodyPr wrap="none" lIns="0" tIns="0" rIns="0" bIns="0" anchor="t" anchorCtr="0">
              <a:spAutoFit/>
            </a:bodyPr>
            <a:lstStyle/>
            <a:p>
              <a:pPr algn="l">
                <a:lnSpc>
                  <a:spcPts val="1950"/>
                </a:lnSpc>
              </a:pPr>
              <a:r>
                <a:rPr lang="tr-TR" sz="1800" dirty="0">
                  <a:solidFill>
                    <a:srgbClr val="172B3A"/>
                  </a:solidFill>
                  <a:latin typeface="+mn-lt"/>
                  <a:ea typeface="+mn-ea"/>
                  <a:cs typeface="+mn-cs"/>
                </a:rPr>
                <a:t>Çoğunluk oylaması neden tekil</a:t>
              </a:r>
              <a:br/>
              <a:r>
                <a:rPr lang="tr-TR" sz="1800" dirty="0">
                  <a:solidFill>
                    <a:srgbClr val="172B3A"/>
                  </a:solidFill>
                  <a:latin typeface="+mn-lt"/>
                  <a:ea typeface="+mn-ea"/>
                  <a:cs typeface="+mn-cs"/>
                </a:rPr>
                <a:t>modelden daha güvenilir sonuç verir?</a:t>
              </a:r>
            </a:p>
          </p:txBody>
        </p:sp>
      </p:grpSp>
      <p:grpSp>
        <p:nvGrpSpPr>
          <p:cNvPr id="22" name="p02-tree-unstable"/>
          <p:cNvGrpSpPr/>
          <p:nvPr/>
        </p:nvGrpSpPr>
        <p:grpSpPr>
          <a:xfrm>
            <a:off x="6686017" y="1905000"/>
            <a:ext cx="1296467" cy="1591056"/>
            <a:chOff x="6686017" y="1905000"/>
            <a:chExt cx="1296467" cy="1591056"/>
          </a:xfrm>
        </p:grpSpPr>
        <p:sp>
          <p:nvSpPr>
            <p:cNvPr id="17" name="Freeform 17"/>
            <p:cNvSpPr/>
            <p:nvPr/>
          </p:nvSpPr>
          <p:spPr>
            <a:xfrm>
              <a:off x="6953250" y="1905000"/>
              <a:ext cx="762000" cy="762000"/>
            </a:xfrm>
            <a:prstGeom prst="triangle">
              <a:avLst/>
            </a:prstGeom>
            <a:solidFill>
              <a:srgbClr val="B8CBD3"/>
            </a:solidFill>
            <a:ln w="14288">
              <a:solidFill>
                <a:srgbClr val="52616B"/>
              </a:solidFill>
            </a:ln>
          </p:spPr>
        </p:sp>
        <p:sp>
          <p:nvSpPr>
            <p:cNvPr id="18" name="Freeform 18"/>
            <p:cNvSpPr/>
            <p:nvPr/>
          </p:nvSpPr>
          <p:spPr>
            <a:xfrm>
              <a:off x="7029450" y="2266950"/>
              <a:ext cx="609600" cy="228600"/>
            </a:xfrm>
            <a:custGeom>
              <a:avLst/>
              <a:gdLst/>
              <a:ahLst/>
              <a:cxnLst/>
              <a:rect l="l" t="t" r="r" b="b"/>
              <a:pathLst>
                <a:path w="609600" h="228600">
                  <a:moveTo>
                    <a:pt x="0" y="114300"/>
                  </a:moveTo>
                  <a:cubicBezTo>
                    <a:pt x="101600" y="0"/>
                    <a:pt x="203200" y="0"/>
                    <a:pt x="304800" y="114300"/>
                  </a:cubicBezTo>
                  <a:cubicBezTo>
                    <a:pt x="406400" y="228600"/>
                    <a:pt x="508000" y="228600"/>
                    <a:pt x="609600" y="114300"/>
                  </a:cubicBezTo>
                </a:path>
              </a:pathLst>
            </a:custGeom>
            <a:noFill/>
            <a:ln w="19050">
              <a:solidFill>
                <a:srgbClr val="52616B"/>
              </a:solidFill>
              <a:custDash>
                <a:ds d="200000" sp="150000"/>
              </a:custDash>
            </a:ln>
          </p:spPr>
        </p:sp>
        <p:sp>
          <p:nvSpPr>
            <p:cNvPr id="19" name="Freeform 19"/>
            <p:cNvSpPr/>
            <p:nvPr/>
          </p:nvSpPr>
          <p:spPr>
            <a:xfrm>
              <a:off x="7258050" y="2667000"/>
              <a:ext cx="152400" cy="190500"/>
            </a:xfrm>
            <a:prstGeom prst="rect">
              <a:avLst/>
            </a:prstGeom>
            <a:solidFill>
              <a:srgbClr val="52616B"/>
            </a:solidFill>
            <a:ln>
              <a:noFill/>
            </a:ln>
          </p:spPr>
        </p:sp>
        <p:sp>
          <p:nvSpPr>
            <p:cNvPr id="20" name="TextBox 20"/>
            <p:cNvSpPr txBox="1"/>
            <p:nvPr/>
          </p:nvSpPr>
          <p:spPr>
            <a:xfrm>
              <a:off x="6859082" y="2992279"/>
              <a:ext cx="950335"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Tek ağaç</a:t>
              </a:r>
            </a:p>
          </p:txBody>
        </p:sp>
        <p:sp>
          <p:nvSpPr>
            <p:cNvPr id="21" name="TextBox 21"/>
            <p:cNvSpPr txBox="1"/>
            <p:nvPr/>
          </p:nvSpPr>
          <p:spPr>
            <a:xfrm>
              <a:off x="6686017" y="3261360"/>
              <a:ext cx="1296467"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kararsız tahmin</a:t>
              </a:r>
            </a:p>
          </p:txBody>
        </p:sp>
      </p:grpSp>
      <p:grpSp>
        <p:nvGrpSpPr>
          <p:cNvPr id="37" name="p02-tree-ensemble"/>
          <p:cNvGrpSpPr/>
          <p:nvPr/>
        </p:nvGrpSpPr>
        <p:grpSpPr>
          <a:xfrm>
            <a:off x="8953500" y="1809750"/>
            <a:ext cx="2133600" cy="2562225"/>
            <a:chOff x="8953500" y="1809750"/>
            <a:chExt cx="2133600" cy="2562225"/>
          </a:xfrm>
        </p:grpSpPr>
        <p:sp>
          <p:nvSpPr>
            <p:cNvPr id="23" name="Freeform 23"/>
            <p:cNvSpPr/>
            <p:nvPr/>
          </p:nvSpPr>
          <p:spPr>
            <a:xfrm>
              <a:off x="8953500" y="2095500"/>
              <a:ext cx="609600" cy="609600"/>
            </a:xfrm>
            <a:prstGeom prst="triangle">
              <a:avLst/>
            </a:prstGeom>
            <a:solidFill>
              <a:srgbClr val="00A6A6"/>
            </a:solidFill>
            <a:ln>
              <a:noFill/>
            </a:ln>
          </p:spPr>
        </p:sp>
        <p:sp>
          <p:nvSpPr>
            <p:cNvPr id="24" name="Freeform 24"/>
            <p:cNvSpPr/>
            <p:nvPr/>
          </p:nvSpPr>
          <p:spPr>
            <a:xfrm>
              <a:off x="9191625" y="2705100"/>
              <a:ext cx="133350" cy="247650"/>
            </a:xfrm>
            <a:prstGeom prst="rect">
              <a:avLst/>
            </a:prstGeom>
            <a:solidFill>
              <a:srgbClr val="00A6A6"/>
            </a:solidFill>
            <a:ln>
              <a:noFill/>
            </a:ln>
          </p:spPr>
        </p:sp>
        <p:sp>
          <p:nvSpPr>
            <p:cNvPr id="25" name="Freeform 25"/>
            <p:cNvSpPr/>
            <p:nvPr/>
          </p:nvSpPr>
          <p:spPr>
            <a:xfrm>
              <a:off x="9715500" y="1809750"/>
              <a:ext cx="609600" cy="609600"/>
            </a:xfrm>
            <a:prstGeom prst="triangle">
              <a:avLst/>
            </a:prstGeom>
            <a:solidFill>
              <a:srgbClr val="00A6A6"/>
            </a:solidFill>
            <a:ln>
              <a:noFill/>
            </a:ln>
          </p:spPr>
        </p:sp>
        <p:sp>
          <p:nvSpPr>
            <p:cNvPr id="26" name="Freeform 26"/>
            <p:cNvSpPr/>
            <p:nvPr/>
          </p:nvSpPr>
          <p:spPr>
            <a:xfrm>
              <a:off x="9953625" y="2419350"/>
              <a:ext cx="133350" cy="247650"/>
            </a:xfrm>
            <a:prstGeom prst="rect">
              <a:avLst/>
            </a:prstGeom>
            <a:solidFill>
              <a:srgbClr val="00A6A6"/>
            </a:solidFill>
            <a:ln>
              <a:noFill/>
            </a:ln>
          </p:spPr>
        </p:sp>
        <p:sp>
          <p:nvSpPr>
            <p:cNvPr id="27" name="Freeform 27"/>
            <p:cNvSpPr/>
            <p:nvPr/>
          </p:nvSpPr>
          <p:spPr>
            <a:xfrm>
              <a:off x="10477500" y="2095500"/>
              <a:ext cx="609600" cy="609600"/>
            </a:xfrm>
            <a:prstGeom prst="triangle">
              <a:avLst/>
            </a:prstGeom>
            <a:solidFill>
              <a:srgbClr val="00A6A6"/>
            </a:solidFill>
            <a:ln>
              <a:noFill/>
            </a:ln>
          </p:spPr>
        </p:sp>
        <p:sp>
          <p:nvSpPr>
            <p:cNvPr id="28" name="Freeform 28"/>
            <p:cNvSpPr/>
            <p:nvPr/>
          </p:nvSpPr>
          <p:spPr>
            <a:xfrm>
              <a:off x="10715625" y="2705100"/>
              <a:ext cx="133350" cy="247650"/>
            </a:xfrm>
            <a:prstGeom prst="rect">
              <a:avLst/>
            </a:prstGeom>
            <a:solidFill>
              <a:srgbClr val="00A6A6"/>
            </a:solidFill>
            <a:ln>
              <a:noFill/>
            </a:ln>
          </p:spPr>
        </p:sp>
        <p:sp>
          <p:nvSpPr>
            <p:cNvPr id="29" name="TextBox 29"/>
            <p:cNvSpPr txBox="1"/>
            <p:nvPr/>
          </p:nvSpPr>
          <p:spPr>
            <a:xfrm>
              <a:off x="9573715" y="3087529"/>
              <a:ext cx="893170"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Topluluk</a:t>
              </a:r>
            </a:p>
          </p:txBody>
        </p:sp>
        <p:sp>
          <p:nvSpPr>
            <p:cNvPr id="30" name="TextBox 30"/>
            <p:cNvSpPr txBox="1"/>
            <p:nvPr/>
          </p:nvSpPr>
          <p:spPr>
            <a:xfrm>
              <a:off x="9048501" y="3356610"/>
              <a:ext cx="1943597"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Bagging / Random Forest</a:t>
              </a:r>
            </a:p>
          </p:txBody>
        </p:sp>
        <p:sp>
          <p:nvSpPr>
            <p:cNvPr id="31" name="Line 31"/>
            <p:cNvSpPr/>
            <p:nvPr/>
          </p:nvSpPr>
          <p:spPr>
            <a:xfrm>
              <a:off x="9258300" y="2971800"/>
              <a:ext cx="647700" cy="771525"/>
            </a:xfrm>
            <a:prstGeom prst="line">
              <a:avLst/>
            </a:prstGeom>
            <a:noFill/>
            <a:ln w="19050">
              <a:solidFill>
                <a:srgbClr val="12355B"/>
              </a:solidFill>
              <a:tailEnd type="arrow" w="lg" len="lg"/>
            </a:ln>
          </p:spPr>
        </p:sp>
        <p:sp>
          <p:nvSpPr>
            <p:cNvPr id="32" name="Line 32"/>
            <p:cNvSpPr/>
            <p:nvPr/>
          </p:nvSpPr>
          <p:spPr>
            <a:xfrm>
              <a:off x="10020300" y="3619500"/>
              <a:ext cx="1" cy="123825"/>
            </a:xfrm>
            <a:prstGeom prst="line">
              <a:avLst/>
            </a:prstGeom>
            <a:noFill/>
            <a:ln w="19050">
              <a:solidFill>
                <a:srgbClr val="12355B"/>
              </a:solidFill>
              <a:tailEnd type="arrow" w="lg" len="lg"/>
            </a:ln>
          </p:spPr>
        </p:sp>
        <p:sp>
          <p:nvSpPr>
            <p:cNvPr id="33" name="Line 33"/>
            <p:cNvSpPr/>
            <p:nvPr/>
          </p:nvSpPr>
          <p:spPr>
            <a:xfrm flipH="1">
              <a:off x="10134600" y="2971800"/>
              <a:ext cx="647700" cy="771525"/>
            </a:xfrm>
            <a:prstGeom prst="line">
              <a:avLst/>
            </a:prstGeom>
            <a:noFill/>
            <a:ln w="19050">
              <a:solidFill>
                <a:srgbClr val="12355B"/>
              </a:solidFill>
              <a:tailEnd type="arrow" w="lg" len="lg"/>
            </a:ln>
          </p:spPr>
        </p:sp>
        <p:sp>
          <p:nvSpPr>
            <p:cNvPr id="34" name="Freeform 34"/>
            <p:cNvSpPr/>
            <p:nvPr/>
          </p:nvSpPr>
          <p:spPr>
            <a:xfrm>
              <a:off x="8953500" y="3762375"/>
              <a:ext cx="2133600" cy="609600"/>
            </a:xfrm>
            <a:prstGeom prst="roundRect">
              <a:avLst/>
            </a:prstGeom>
            <a:solidFill>
              <a:srgbClr val="12355B"/>
            </a:solidFill>
            <a:ln>
              <a:noFill/>
            </a:ln>
          </p:spPr>
        </p:sp>
        <p:sp>
          <p:nvSpPr>
            <p:cNvPr id="35" name="Freeform 35"/>
            <p:cNvSpPr/>
            <p:nvPr/>
          </p:nvSpPr>
          <p:spPr>
            <a:xfrm>
              <a:off x="9182100" y="3905250"/>
              <a:ext cx="438150" cy="323850"/>
            </a:xfrm>
            <a:custGeom>
              <a:avLst/>
              <a:gdLst/>
              <a:ahLst/>
              <a:cxnLst/>
              <a:rect l="l" t="t" r="r" b="b"/>
              <a:pathLst>
                <a:path w="438150" h="323850">
                  <a:moveTo>
                    <a:pt x="0" y="171450"/>
                  </a:moveTo>
                  <a:lnTo>
                    <a:pt x="152400" y="323850"/>
                  </a:lnTo>
                  <a:lnTo>
                    <a:pt x="438150" y="0"/>
                  </a:lnTo>
                </a:path>
              </a:pathLst>
            </a:custGeom>
            <a:noFill/>
            <a:ln w="38100" cap="rnd">
              <a:solidFill>
                <a:srgbClr val="00A6A6"/>
              </a:solidFill>
              <a:round/>
            </a:ln>
          </p:spPr>
        </p:sp>
        <p:sp>
          <p:nvSpPr>
            <p:cNvPr id="36" name="TextBox 36"/>
            <p:cNvSpPr txBox="1"/>
            <p:nvPr/>
          </p:nvSpPr>
          <p:spPr>
            <a:xfrm>
              <a:off x="9803511" y="3970496"/>
              <a:ext cx="1245161"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Çoğunluk oyu</a:t>
              </a:r>
            </a:p>
          </p:txBody>
        </p:sp>
      </p:grpSp>
      <p:grpSp>
        <p:nvGrpSpPr>
          <p:cNvPr id="40" name="motivation-takeaway"/>
          <p:cNvGrpSpPr/>
          <p:nvPr/>
        </p:nvGrpSpPr>
        <p:grpSpPr>
          <a:xfrm>
            <a:off x="609600" y="5429250"/>
            <a:ext cx="10972800" cy="857250"/>
            <a:chOff x="609600" y="5429250"/>
            <a:chExt cx="10972800" cy="857250"/>
          </a:xfrm>
        </p:grpSpPr>
        <p:sp>
          <p:nvSpPr>
            <p:cNvPr id="38" name="Rectangle 38"/>
            <p:cNvSpPr/>
            <p:nvPr/>
          </p:nvSpPr>
          <p:spPr>
            <a:xfrm>
              <a:off x="609600" y="5429250"/>
              <a:ext cx="10972800" cy="857250"/>
            </a:xfrm>
            <a:prstGeom prst="roundRect">
              <a:avLst>
                <a:gd name="adj" fmla="val 8889"/>
              </a:avLst>
            </a:prstGeom>
            <a:solidFill>
              <a:srgbClr val="EAF4F6"/>
            </a:solidFill>
            <a:ln>
              <a:noFill/>
            </a:ln>
          </p:spPr>
        </p:sp>
        <p:sp>
          <p:nvSpPr>
            <p:cNvPr id="39" name="TextBox 39"/>
            <p:cNvSpPr txBox="1"/>
            <p:nvPr/>
          </p:nvSpPr>
          <p:spPr>
            <a:xfrm>
              <a:off x="905256" y="5577840"/>
              <a:ext cx="7987284"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Tek karar ağacıyla kurulan bir müşteri kaybı (churn) modeli, eğitim</a:t>
              </a:r>
              <a:br/>
              <a:r>
                <a:rPr lang="tr-TR" sz="1800" b="1" dirty="0">
                  <a:solidFill>
                    <a:srgbClr val="12355B"/>
                  </a:solidFill>
                  <a:latin typeface="+mn-lt"/>
                  <a:ea typeface="+mn-ea"/>
                  <a:cs typeface="+mn-cs"/>
                </a:rPr>
                <a:t>verisindeki küçük değişikliklerde kökten farklı dallanabiliyordu.</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2" name="objective-1"/>
          <p:cNvGrpSpPr/>
          <p:nvPr/>
        </p:nvGrpSpPr>
        <p:grpSpPr>
          <a:xfrm>
            <a:off x="685800" y="1520190"/>
            <a:ext cx="7445314" cy="637128"/>
            <a:chOff x="685800" y="1520190"/>
            <a:chExt cx="7445314" cy="637128"/>
          </a:xfrm>
        </p:grpSpPr>
        <p:sp>
          <p:nvSpPr>
            <p:cNvPr id="9" name="Rectangle 9"/>
            <p:cNvSpPr/>
            <p:nvPr/>
          </p:nvSpPr>
          <p:spPr>
            <a:xfrm>
              <a:off x="685800" y="1524000"/>
              <a:ext cx="57150" cy="495300"/>
            </a:xfrm>
            <a:prstGeom prst="rect">
              <a:avLst/>
            </a:prstGeom>
            <a:solidFill>
              <a:srgbClr val="00A6A6"/>
            </a:solidFill>
            <a:ln>
              <a:noFill/>
            </a:ln>
          </p:spPr>
        </p:sp>
        <p:sp>
          <p:nvSpPr>
            <p:cNvPr id="10" name="TextBox 10"/>
            <p:cNvSpPr txBox="1"/>
            <p:nvPr/>
          </p:nvSpPr>
          <p:spPr>
            <a:xfrm>
              <a:off x="981456" y="1520190"/>
              <a:ext cx="531879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Bootstrap örneklemenin mantığını kurmak</a:t>
              </a:r>
            </a:p>
          </p:txBody>
        </p:sp>
        <p:sp>
          <p:nvSpPr>
            <p:cNvPr id="11" name="TextBox 11"/>
            <p:cNvSpPr txBox="1"/>
            <p:nvPr/>
          </p:nvSpPr>
          <p:spPr>
            <a:xfrm>
              <a:off x="982599" y="1849279"/>
              <a:ext cx="714851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aynı veri setinden yerine koyarak birden çok altküme üretmek</a:t>
              </a:r>
            </a:p>
          </p:txBody>
        </p:sp>
      </p:grpSp>
      <p:grpSp>
        <p:nvGrpSpPr>
          <p:cNvPr id="16" name="objective-2"/>
          <p:cNvGrpSpPr/>
          <p:nvPr/>
        </p:nvGrpSpPr>
        <p:grpSpPr>
          <a:xfrm>
            <a:off x="685800" y="2510790"/>
            <a:ext cx="7466139" cy="637128"/>
            <a:chOff x="685800" y="2510790"/>
            <a:chExt cx="7466139" cy="637128"/>
          </a:xfrm>
        </p:grpSpPr>
        <p:sp>
          <p:nvSpPr>
            <p:cNvPr id="13" name="Rectangle 13"/>
            <p:cNvSpPr/>
            <p:nvPr/>
          </p:nvSpPr>
          <p:spPr>
            <a:xfrm>
              <a:off x="685800" y="2514600"/>
              <a:ext cx="57150" cy="495300"/>
            </a:xfrm>
            <a:prstGeom prst="rect">
              <a:avLst/>
            </a:prstGeom>
            <a:solidFill>
              <a:srgbClr val="00A6A6"/>
            </a:solidFill>
            <a:ln>
              <a:noFill/>
            </a:ln>
          </p:spPr>
        </p:sp>
        <p:sp>
          <p:nvSpPr>
            <p:cNvPr id="14" name="TextBox 14"/>
            <p:cNvSpPr txBox="1"/>
            <p:nvPr/>
          </p:nvSpPr>
          <p:spPr>
            <a:xfrm>
              <a:off x="981456" y="2510790"/>
              <a:ext cx="66545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Bagging'in varyans azaltma mekanizmasını açıklamak</a:t>
              </a:r>
            </a:p>
          </p:txBody>
        </p:sp>
        <p:sp>
          <p:nvSpPr>
            <p:cNvPr id="15" name="TextBox 15"/>
            <p:cNvSpPr txBox="1"/>
            <p:nvPr/>
          </p:nvSpPr>
          <p:spPr>
            <a:xfrm>
              <a:off x="982599" y="2839879"/>
              <a:ext cx="716934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tekil ağaç ile bagging tahmininin kararlılığını karşılaştırmak</a:t>
              </a:r>
            </a:p>
          </p:txBody>
        </p:sp>
      </p:grpSp>
      <p:grpSp>
        <p:nvGrpSpPr>
          <p:cNvPr id="20" name="objective-3"/>
          <p:cNvGrpSpPr/>
          <p:nvPr/>
        </p:nvGrpSpPr>
        <p:grpSpPr>
          <a:xfrm>
            <a:off x="685800" y="3501390"/>
            <a:ext cx="7962900" cy="637128"/>
            <a:chOff x="685800" y="3501390"/>
            <a:chExt cx="7962900" cy="637128"/>
          </a:xfrm>
        </p:grpSpPr>
        <p:sp>
          <p:nvSpPr>
            <p:cNvPr id="17" name="Rectangle 17"/>
            <p:cNvSpPr/>
            <p:nvPr/>
          </p:nvSpPr>
          <p:spPr>
            <a:xfrm>
              <a:off x="685800" y="3505200"/>
              <a:ext cx="57150" cy="495300"/>
            </a:xfrm>
            <a:prstGeom prst="rect">
              <a:avLst/>
            </a:prstGeom>
            <a:solidFill>
              <a:srgbClr val="00A6A6"/>
            </a:solidFill>
            <a:ln>
              <a:noFill/>
            </a:ln>
          </p:spPr>
        </p:sp>
        <p:sp>
          <p:nvSpPr>
            <p:cNvPr id="18" name="TextBox 18"/>
            <p:cNvSpPr txBox="1"/>
            <p:nvPr/>
          </p:nvSpPr>
          <p:spPr>
            <a:xfrm>
              <a:off x="981456" y="3501390"/>
              <a:ext cx="766724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Random Forest modelini kurup hiperparametrelerini ayarlamak</a:t>
              </a:r>
            </a:p>
          </p:txBody>
        </p:sp>
        <p:sp>
          <p:nvSpPr>
            <p:cNvPr id="19" name="TextBox 19"/>
            <p:cNvSpPr txBox="1"/>
            <p:nvPr/>
          </p:nvSpPr>
          <p:spPr>
            <a:xfrm>
              <a:off x="982599" y="3830479"/>
              <a:ext cx="735053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n_estimators ve max_features değerlerinin etkisini yorumlamak</a:t>
              </a:r>
            </a:p>
          </p:txBody>
        </p:sp>
      </p:grpSp>
      <p:grpSp>
        <p:nvGrpSpPr>
          <p:cNvPr id="24" name="objective-4"/>
          <p:cNvGrpSpPr/>
          <p:nvPr/>
        </p:nvGrpSpPr>
        <p:grpSpPr>
          <a:xfrm>
            <a:off x="685800" y="4491990"/>
            <a:ext cx="6998739" cy="637128"/>
            <a:chOff x="685800" y="4491990"/>
            <a:chExt cx="6998739" cy="637128"/>
          </a:xfrm>
        </p:grpSpPr>
        <p:sp>
          <p:nvSpPr>
            <p:cNvPr id="21" name="Rectangle 21"/>
            <p:cNvSpPr/>
            <p:nvPr/>
          </p:nvSpPr>
          <p:spPr>
            <a:xfrm>
              <a:off x="685800" y="4495800"/>
              <a:ext cx="57150" cy="495300"/>
            </a:xfrm>
            <a:prstGeom prst="rect">
              <a:avLst/>
            </a:prstGeom>
            <a:solidFill>
              <a:srgbClr val="00A6A6"/>
            </a:solidFill>
            <a:ln>
              <a:noFill/>
            </a:ln>
          </p:spPr>
        </p:sp>
        <p:sp>
          <p:nvSpPr>
            <p:cNvPr id="22" name="TextBox 22"/>
            <p:cNvSpPr txBox="1"/>
            <p:nvPr/>
          </p:nvSpPr>
          <p:spPr>
            <a:xfrm>
              <a:off x="981456" y="4491990"/>
              <a:ext cx="64303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OOB skorunu ek doğrulama seti olmadan yorumlamak</a:t>
              </a:r>
            </a:p>
          </p:txBody>
        </p:sp>
        <p:sp>
          <p:nvSpPr>
            <p:cNvPr id="23" name="TextBox 23"/>
            <p:cNvSpPr txBox="1"/>
            <p:nvPr/>
          </p:nvSpPr>
          <p:spPr>
            <a:xfrm>
              <a:off x="982599" y="4821079"/>
              <a:ext cx="670194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OOB skorunu çapraz doğrulama sonucuyla karşılaştırmak</a:t>
              </a:r>
            </a:p>
          </p:txBody>
        </p:sp>
      </p:grpSp>
      <p:grpSp>
        <p:nvGrpSpPr>
          <p:cNvPr id="28" name="objective-5"/>
          <p:cNvGrpSpPr/>
          <p:nvPr/>
        </p:nvGrpSpPr>
        <p:grpSpPr>
          <a:xfrm>
            <a:off x="685800" y="5482590"/>
            <a:ext cx="7210994" cy="637128"/>
            <a:chOff x="685800" y="5482590"/>
            <a:chExt cx="7210994" cy="637128"/>
          </a:xfrm>
        </p:grpSpPr>
        <p:sp>
          <p:nvSpPr>
            <p:cNvPr id="25" name="Rectangle 25"/>
            <p:cNvSpPr/>
            <p:nvPr/>
          </p:nvSpPr>
          <p:spPr>
            <a:xfrm>
              <a:off x="685800" y="5486400"/>
              <a:ext cx="57150" cy="495300"/>
            </a:xfrm>
            <a:prstGeom prst="rect">
              <a:avLst/>
            </a:prstGeom>
            <a:solidFill>
              <a:srgbClr val="00A6A6"/>
            </a:solidFill>
            <a:ln>
              <a:noFill/>
            </a:ln>
          </p:spPr>
        </p:sp>
        <p:sp>
          <p:nvSpPr>
            <p:cNvPr id="26" name="TextBox 26"/>
            <p:cNvSpPr txBox="1"/>
            <p:nvPr/>
          </p:nvSpPr>
          <p:spPr>
            <a:xfrm>
              <a:off x="981456" y="5482590"/>
              <a:ext cx="615798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Öznitelik önemini hesaplayıp iş kararına bağlamak</a:t>
              </a:r>
            </a:p>
          </p:txBody>
        </p:sp>
        <p:sp>
          <p:nvSpPr>
            <p:cNvPr id="27" name="TextBox 27"/>
            <p:cNvSpPr txBox="1"/>
            <p:nvPr/>
          </p:nvSpPr>
          <p:spPr>
            <a:xfrm>
              <a:off x="982599" y="5811679"/>
              <a:ext cx="691419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churn modelinde en etkili değişkenleri sıralayıp yorumlamak</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682545" cy="668845"/>
            <a:chOff x="609600" y="171450"/>
            <a:chExt cx="7682545"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699217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beş temel kavram</a:t>
              </a:r>
            </a:p>
          </p:txBody>
        </p:sp>
      </p:grpSp>
      <p:grpSp>
        <p:nvGrpSpPr>
          <p:cNvPr id="51" name="concept-map"/>
          <p:cNvGrpSpPr/>
          <p:nvPr/>
        </p:nvGrpSpPr>
        <p:grpSpPr>
          <a:xfrm>
            <a:off x="685800" y="1219200"/>
            <a:ext cx="10896600" cy="4886706"/>
            <a:chOff x="685800" y="1219200"/>
            <a:chExt cx="10896600" cy="4886706"/>
          </a:xfrm>
        </p:grpSpPr>
        <p:grpSp>
          <p:nvGrpSpPr>
            <p:cNvPr id="22" name="Group 22"/>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20" name="Line 20"/>
              <p:cNvSpPr/>
              <p:nvPr/>
            </p:nvSpPr>
            <p:spPr>
              <a:xfrm flipV="1">
                <a:off x="6477000" y="3981450"/>
                <a:ext cx="1" cy="190500"/>
              </a:xfrm>
              <a:prstGeom prst="line">
                <a:avLst/>
              </a:prstGeom>
              <a:noFill/>
              <a:ln w="19050">
                <a:solidFill>
                  <a:srgbClr val="52616B"/>
                </a:solidFill>
                <a:custDash>
                  <a:ds d="300000" sp="200000"/>
                </a:custDash>
                <a:tailEnd type="arrow" w="lg" len="lg"/>
              </a:ln>
            </p:spPr>
          </p:sp>
          <p:sp>
            <p:nvSpPr>
              <p:cNvPr id="21" name="Line 21"/>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5" name="map-hub"/>
            <p:cNvGrpSpPr/>
            <p:nvPr/>
          </p:nvGrpSpPr>
          <p:grpSpPr>
            <a:xfrm>
              <a:off x="685800" y="2381250"/>
              <a:ext cx="2381250" cy="1428750"/>
              <a:chOff x="685800" y="2381250"/>
              <a:chExt cx="2381250" cy="1428750"/>
            </a:xfrm>
          </p:grpSpPr>
          <p:sp>
            <p:nvSpPr>
              <p:cNvPr id="23" name="Rectangle 23"/>
              <p:cNvSpPr/>
              <p:nvPr/>
            </p:nvSpPr>
            <p:spPr>
              <a:xfrm>
                <a:off x="685800" y="2381250"/>
                <a:ext cx="2381250" cy="1428750"/>
              </a:xfrm>
              <a:prstGeom prst="roundRect">
                <a:avLst>
                  <a:gd name="adj" fmla="val 6667"/>
                </a:avLst>
              </a:prstGeom>
              <a:solidFill>
                <a:srgbClr val="12355B"/>
              </a:solidFill>
              <a:ln>
                <a:noFill/>
              </a:ln>
            </p:spPr>
          </p:sp>
          <p:sp>
            <p:nvSpPr>
              <p:cNvPr id="24" name="TextBox 24"/>
              <p:cNvSpPr txBox="1"/>
              <p:nvPr/>
            </p:nvSpPr>
            <p:spPr>
              <a:xfrm>
                <a:off x="941832" y="2630805"/>
                <a:ext cx="1547527" cy="1134618"/>
              </a:xfrm>
              <a:prstGeom prst="rect">
                <a:avLst/>
              </a:prstGeom>
              <a:noFill/>
              <a:ln>
                <a:noFill/>
              </a:ln>
            </p:spPr>
            <p:txBody>
              <a:bodyPr wrap="none" lIns="0" tIns="0" rIns="0" bIns="0" anchor="t" anchorCtr="0">
                <a:spAutoFit/>
              </a:bodyPr>
              <a:lstStyle/>
              <a:p>
                <a:pPr algn="l">
                  <a:lnSpc>
                    <a:spcPts val="2850"/>
                  </a:lnSpc>
                </a:pPr>
                <a:r>
                  <a:rPr lang="tr-TR" sz="2100" b="1" dirty="0">
                    <a:solidFill>
                      <a:srgbClr val="FFFFFF"/>
                    </a:solidFill>
                    <a:latin typeface="+mn-lt"/>
                    <a:ea typeface="+mn-ea"/>
                    <a:cs typeface="+mn-cs"/>
                  </a:rPr>
                  <a:t>Topluluk</a:t>
                </a:r>
                <a:br/>
                <a:r>
                  <a:rPr lang="tr-TR" sz="2100" b="1" dirty="0">
                    <a:solidFill>
                      <a:srgbClr val="FFFFFF"/>
                    </a:solidFill>
                    <a:latin typeface="+mn-lt"/>
                    <a:ea typeface="+mn-ea"/>
                    <a:cs typeface="+mn-cs"/>
                  </a:rPr>
                  <a:t>öğrenmesi</a:t>
                </a:r>
                <a:br/>
                <a:r>
                  <a:rPr lang="tr-TR" sz="2100" b="1" dirty="0">
                    <a:solidFill>
                      <a:srgbClr val="FFFFFF"/>
                    </a:solidFill>
                    <a:latin typeface="+mn-lt"/>
                    <a:ea typeface="+mn-ea"/>
                    <a:cs typeface="+mn-cs"/>
                  </a:rPr>
                  <a:t>(Ensemble)</a:t>
                </a:r>
              </a:p>
            </p:txBody>
          </p:sp>
        </p:grpSp>
        <p:grpSp>
          <p:nvGrpSpPr>
            <p:cNvPr id="29" name="map-node-bootstrap"/>
            <p:cNvGrpSpPr/>
            <p:nvPr/>
          </p:nvGrpSpPr>
          <p:grpSpPr>
            <a:xfrm>
              <a:off x="4572000" y="1219200"/>
              <a:ext cx="3810000" cy="723900"/>
              <a:chOff x="4572000" y="1219200"/>
              <a:chExt cx="3810000" cy="723900"/>
            </a:xfrm>
          </p:grpSpPr>
          <p:sp>
            <p:nvSpPr>
              <p:cNvPr id="26" name="Rectangle 26"/>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7" name="TextBox 27"/>
              <p:cNvSpPr txBox="1"/>
              <p:nvPr/>
            </p:nvSpPr>
            <p:spPr>
              <a:xfrm>
                <a:off x="4791456" y="1329690"/>
                <a:ext cx="26088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Bootstrap örnekleme</a:t>
                </a:r>
              </a:p>
            </p:txBody>
          </p:sp>
          <p:sp>
            <p:nvSpPr>
              <p:cNvPr id="28" name="TextBox 28"/>
              <p:cNvSpPr txBox="1"/>
              <p:nvPr/>
            </p:nvSpPr>
            <p:spPr>
              <a:xfrm>
                <a:off x="4792599" y="1601629"/>
                <a:ext cx="327030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yerine koyarak alt örnek üretir</a:t>
                </a:r>
              </a:p>
            </p:txBody>
          </p:sp>
        </p:grpSp>
        <p:grpSp>
          <p:nvGrpSpPr>
            <p:cNvPr id="33" name="map-node-bagging"/>
            <p:cNvGrpSpPr/>
            <p:nvPr/>
          </p:nvGrpSpPr>
          <p:grpSpPr>
            <a:xfrm>
              <a:off x="4572000" y="2209800"/>
              <a:ext cx="3810000" cy="723900"/>
              <a:chOff x="4572000" y="2209800"/>
              <a:chExt cx="3810000" cy="723900"/>
            </a:xfrm>
          </p:grpSpPr>
          <p:sp>
            <p:nvSpPr>
              <p:cNvPr id="30" name="Rectangle 30"/>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1" name="TextBox 31"/>
              <p:cNvSpPr txBox="1"/>
              <p:nvPr/>
            </p:nvSpPr>
            <p:spPr>
              <a:xfrm>
                <a:off x="4791456" y="2320290"/>
                <a:ext cx="9416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Bagging</a:t>
                </a:r>
              </a:p>
            </p:txBody>
          </p:sp>
          <p:sp>
            <p:nvSpPr>
              <p:cNvPr id="32" name="TextBox 32"/>
              <p:cNvSpPr txBox="1"/>
              <p:nvPr/>
            </p:nvSpPr>
            <p:spPr>
              <a:xfrm>
                <a:off x="4792599" y="2592229"/>
                <a:ext cx="345110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çoklu ağacın tahminini birleştirir</a:t>
                </a:r>
              </a:p>
            </p:txBody>
          </p:sp>
        </p:grpSp>
        <p:grpSp>
          <p:nvGrpSpPr>
            <p:cNvPr id="37" name="map-node-rf"/>
            <p:cNvGrpSpPr/>
            <p:nvPr/>
          </p:nvGrpSpPr>
          <p:grpSpPr>
            <a:xfrm>
              <a:off x="4572000" y="3200400"/>
              <a:ext cx="3841859" cy="723900"/>
              <a:chOff x="4572000" y="3200400"/>
              <a:chExt cx="3841859" cy="723900"/>
            </a:xfrm>
          </p:grpSpPr>
          <p:sp>
            <p:nvSpPr>
              <p:cNvPr id="34" name="Rectangle 34"/>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5" name="TextBox 35"/>
              <p:cNvSpPr txBox="1"/>
              <p:nvPr/>
            </p:nvSpPr>
            <p:spPr>
              <a:xfrm>
                <a:off x="4791456" y="3310890"/>
                <a:ext cx="18417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Random Forest</a:t>
                </a:r>
              </a:p>
            </p:txBody>
          </p:sp>
          <p:sp>
            <p:nvSpPr>
              <p:cNvPr id="36" name="TextBox 36"/>
              <p:cNvSpPr txBox="1"/>
              <p:nvPr/>
            </p:nvSpPr>
            <p:spPr>
              <a:xfrm>
                <a:off x="4792599" y="3582829"/>
                <a:ext cx="362126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rastgele öznitelik alt kümesi seçer</a:t>
                </a:r>
              </a:p>
            </p:txBody>
          </p:sp>
        </p:grpSp>
        <p:grpSp>
          <p:nvGrpSpPr>
            <p:cNvPr id="41" name="map-node-oob"/>
            <p:cNvGrpSpPr/>
            <p:nvPr/>
          </p:nvGrpSpPr>
          <p:grpSpPr>
            <a:xfrm>
              <a:off x="4572000" y="4191000"/>
              <a:ext cx="3810000" cy="723900"/>
              <a:chOff x="4572000" y="4191000"/>
              <a:chExt cx="3810000" cy="723900"/>
            </a:xfrm>
          </p:grpSpPr>
          <p:sp>
            <p:nvSpPr>
              <p:cNvPr id="38" name="Rectangle 38"/>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9" name="TextBox 39"/>
              <p:cNvSpPr txBox="1"/>
              <p:nvPr/>
            </p:nvSpPr>
            <p:spPr>
              <a:xfrm>
                <a:off x="4791456" y="4301490"/>
                <a:ext cx="13434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OOB skoru</a:t>
                </a:r>
              </a:p>
            </p:txBody>
          </p:sp>
          <p:sp>
            <p:nvSpPr>
              <p:cNvPr id="40" name="TextBox 40"/>
              <p:cNvSpPr txBox="1"/>
              <p:nvPr/>
            </p:nvSpPr>
            <p:spPr>
              <a:xfrm>
                <a:off x="4792599" y="4573429"/>
                <a:ext cx="332348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dışarıda kalan örnekle doğrular</a:t>
                </a:r>
              </a:p>
            </p:txBody>
          </p:sp>
        </p:grpSp>
        <p:grpSp>
          <p:nvGrpSpPr>
            <p:cNvPr id="45" name="map-node-importance"/>
            <p:cNvGrpSpPr/>
            <p:nvPr/>
          </p:nvGrpSpPr>
          <p:grpSpPr>
            <a:xfrm>
              <a:off x="4572000" y="5334000"/>
              <a:ext cx="7010400" cy="723900"/>
              <a:chOff x="4572000" y="5334000"/>
              <a:chExt cx="7010400" cy="723900"/>
            </a:xfrm>
          </p:grpSpPr>
          <p:sp>
            <p:nvSpPr>
              <p:cNvPr id="42" name="Rectangle 42"/>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3" name="TextBox 43"/>
              <p:cNvSpPr txBox="1"/>
              <p:nvPr/>
            </p:nvSpPr>
            <p:spPr>
              <a:xfrm>
                <a:off x="4791456" y="5444490"/>
                <a:ext cx="185760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Öznitelik önemi</a:t>
                </a:r>
              </a:p>
            </p:txBody>
          </p:sp>
          <p:sp>
            <p:nvSpPr>
              <p:cNvPr id="44" name="TextBox 44"/>
              <p:cNvSpPr txBox="1"/>
              <p:nvPr/>
            </p:nvSpPr>
            <p:spPr>
              <a:xfrm>
                <a:off x="4792599" y="5716429"/>
                <a:ext cx="530158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hangi değişkenin kararı en çok etkilediğini gösterir</a:t>
                </a:r>
              </a:p>
            </p:txBody>
          </p:sp>
        </p:grpSp>
        <p:grpSp>
          <p:nvGrpSpPr>
            <p:cNvPr id="50" name="map-legend"/>
            <p:cNvGrpSpPr/>
            <p:nvPr/>
          </p:nvGrpSpPr>
          <p:grpSpPr>
            <a:xfrm>
              <a:off x="685800" y="5528310"/>
              <a:ext cx="3496626" cy="577596"/>
              <a:chOff x="685800" y="5528310"/>
              <a:chExt cx="3496626" cy="577596"/>
            </a:xfrm>
          </p:grpSpPr>
          <p:sp>
            <p:nvSpPr>
              <p:cNvPr id="46" name="Line 46"/>
              <p:cNvSpPr/>
              <p:nvPr/>
            </p:nvSpPr>
            <p:spPr>
              <a:xfrm>
                <a:off x="685800" y="5600700"/>
                <a:ext cx="304800" cy="1"/>
              </a:xfrm>
              <a:prstGeom prst="line">
                <a:avLst/>
              </a:prstGeom>
              <a:noFill/>
              <a:ln w="23812">
                <a:solidFill>
                  <a:srgbClr val="00A6A6"/>
                </a:solidFill>
                <a:tailEnd type="arrow" w="lg" len="lg"/>
              </a:ln>
            </p:spPr>
          </p:sp>
          <p:sp>
            <p:nvSpPr>
              <p:cNvPr id="47" name="TextBox 47"/>
              <p:cNvSpPr txBox="1"/>
              <p:nvPr/>
            </p:nvSpPr>
            <p:spPr>
              <a:xfrm>
                <a:off x="1079754" y="5528310"/>
                <a:ext cx="310267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Topluluk öğrenmesinden türeyen bileşen</a:t>
                </a:r>
              </a:p>
            </p:txBody>
          </p:sp>
          <p:sp>
            <p:nvSpPr>
              <p:cNvPr id="48" name="Line 48"/>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9" name="TextBox 49"/>
              <p:cNvSpPr txBox="1"/>
              <p:nvPr/>
            </p:nvSpPr>
            <p:spPr>
              <a:xfrm>
                <a:off x="1079754" y="5871210"/>
                <a:ext cx="27715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Kavramlar arası tamamlayıcı ilişki</a:t>
                </a:r>
              </a:p>
            </p:txBody>
          </p:sp>
        </p:gr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630031" cy="557403"/>
            <a:chOff x="595122" y="282892"/>
            <a:chExt cx="9630031" cy="557403"/>
          </a:xfrm>
        </p:grpSpPr>
        <p:sp>
          <p:nvSpPr>
            <p:cNvPr id="4" name="TextBox 4"/>
            <p:cNvSpPr txBox="1"/>
            <p:nvPr/>
          </p:nvSpPr>
          <p:spPr>
            <a:xfrm>
              <a:off x="595122" y="282892"/>
              <a:ext cx="963003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Topluluk öğrenmesi: tek model yerine çoklu karar</a:t>
              </a:r>
            </a:p>
          </p:txBody>
        </p:sp>
      </p:grpSp>
      <p:grpSp>
        <p:nvGrpSpPr>
          <p:cNvPr id="11" name="definition-block"/>
          <p:cNvGrpSpPr/>
          <p:nvPr/>
        </p:nvGrpSpPr>
        <p:grpSpPr>
          <a:xfrm>
            <a:off x="600456" y="1329690"/>
            <a:ext cx="3679190" cy="2852166"/>
            <a:chOff x="600456" y="1329690"/>
            <a:chExt cx="3679190" cy="2852166"/>
          </a:xfrm>
        </p:grpSpPr>
        <p:sp>
          <p:nvSpPr>
            <p:cNvPr id="6" name="TextBox 6"/>
            <p:cNvSpPr txBox="1"/>
            <p:nvPr/>
          </p:nvSpPr>
          <p:spPr>
            <a:xfrm>
              <a:off x="600456" y="13296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7" name="TextBox 7"/>
            <p:cNvSpPr txBox="1"/>
            <p:nvPr/>
          </p:nvSpPr>
          <p:spPr>
            <a:xfrm>
              <a:off x="601599" y="1658779"/>
              <a:ext cx="3678047" cy="13748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Birden çok temel modelin tahminini bir</a:t>
              </a:r>
              <a:br/>
              <a:r>
                <a:rPr lang="tr-TR" sz="1580" dirty="0">
                  <a:solidFill>
                    <a:srgbClr val="172B3A"/>
                  </a:solidFill>
                  <a:latin typeface="+mn-lt"/>
                  <a:ea typeface="+mn-ea"/>
                  <a:cs typeface="+mn-cs"/>
                </a:rPr>
                <a:t>kuralla — sınıflandırmada çoğunluk</a:t>
              </a:r>
              <a:br/>
              <a:r>
                <a:rPr lang="tr-TR" sz="1580" dirty="0">
                  <a:solidFill>
                    <a:srgbClr val="172B3A"/>
                  </a:solidFill>
                  <a:latin typeface="+mn-lt"/>
                  <a:ea typeface="+mn-ea"/>
                  <a:cs typeface="+mn-cs"/>
                </a:rPr>
                <a:t>oylaması, regresyonda ortalama —</a:t>
              </a:r>
              <a:br/>
              <a:r>
                <a:rPr lang="tr-TR" sz="1580" dirty="0">
                  <a:solidFill>
                    <a:srgbClr val="172B3A"/>
                  </a:solidFill>
                  <a:latin typeface="+mn-lt"/>
                  <a:ea typeface="+mn-ea"/>
                  <a:cs typeface="+mn-cs"/>
                </a:rPr>
                <a:t>birleştirip tek modelden daha kararlı</a:t>
              </a:r>
              <a:br/>
              <a:r>
                <a:rPr lang="tr-TR" sz="1580" dirty="0">
                  <a:solidFill>
                    <a:srgbClr val="172B3A"/>
                  </a:solidFill>
                  <a:latin typeface="+mn-lt"/>
                  <a:ea typeface="+mn-ea"/>
                  <a:cs typeface="+mn-cs"/>
                </a:rPr>
                <a:t>bir nihai tahmin üreten stratejidir.</a:t>
              </a:r>
            </a:p>
          </p:txBody>
        </p:sp>
        <p:sp>
          <p:nvSpPr>
            <p:cNvPr id="8" name="Rectangle 8"/>
            <p:cNvSpPr/>
            <p:nvPr/>
          </p:nvSpPr>
          <p:spPr>
            <a:xfrm>
              <a:off x="609600" y="3390900"/>
              <a:ext cx="57150" cy="628650"/>
            </a:xfrm>
            <a:prstGeom prst="rect">
              <a:avLst/>
            </a:prstGeom>
            <a:solidFill>
              <a:srgbClr val="00A6A6"/>
            </a:solidFill>
            <a:ln>
              <a:noFill/>
            </a:ln>
          </p:spPr>
        </p:sp>
        <p:sp>
          <p:nvSpPr>
            <p:cNvPr id="9" name="TextBox 9"/>
            <p:cNvSpPr txBox="1"/>
            <p:nvPr/>
          </p:nvSpPr>
          <p:spPr>
            <a:xfrm>
              <a:off x="849249" y="3449479"/>
              <a:ext cx="215488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Kalabalığın bilgeliği</a:t>
              </a:r>
            </a:p>
          </p:txBody>
        </p:sp>
        <p:sp>
          <p:nvSpPr>
            <p:cNvPr id="10" name="TextBox 10"/>
            <p:cNvSpPr txBox="1"/>
            <p:nvPr/>
          </p:nvSpPr>
          <p:spPr>
            <a:xfrm>
              <a:off x="851154" y="3737610"/>
              <a:ext cx="31668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Bağımsız ve farklı hata yapan tahminciler</a:t>
              </a:r>
              <a:br/>
              <a:r>
                <a:rPr lang="tr-TR" sz="1200" dirty="0">
                  <a:solidFill>
                    <a:srgbClr val="52616B"/>
                  </a:solidFill>
                  <a:latin typeface="+mn-lt"/>
                  <a:ea typeface="+mn-ea"/>
                  <a:cs typeface="+mn-cs"/>
                </a:rPr>
                <a:t>bir araya geldiğinde ortak hata azalır.</a:t>
              </a:r>
            </a:p>
          </p:txBody>
        </p:sp>
      </p:grpSp>
      <p:grpSp>
        <p:nvGrpSpPr>
          <p:cNvPr id="15" name="analogy-card"/>
          <p:cNvGrpSpPr/>
          <p:nvPr/>
        </p:nvGrpSpPr>
        <p:grpSpPr>
          <a:xfrm>
            <a:off x="6781800" y="1257300"/>
            <a:ext cx="4800600" cy="2857500"/>
            <a:chOff x="6781800" y="1257300"/>
            <a:chExt cx="4800600" cy="2857500"/>
          </a:xfrm>
        </p:grpSpPr>
        <p:sp>
          <p:nvSpPr>
            <p:cNvPr id="12" name="Rectangle 12"/>
            <p:cNvSpPr/>
            <p:nvPr/>
          </p:nvSpPr>
          <p:spPr>
            <a:xfrm>
              <a:off x="6781800" y="1257300"/>
              <a:ext cx="4800600" cy="2857500"/>
            </a:xfrm>
            <a:prstGeom prst="roundRect">
              <a:avLst>
                <a:gd name="adj" fmla="val 3333"/>
              </a:avLst>
            </a:prstGeom>
            <a:solidFill>
              <a:srgbClr val="EAF4F6"/>
            </a:solidFill>
            <a:ln w="14288">
              <a:solidFill>
                <a:srgbClr val="00A6A6"/>
              </a:solidFill>
            </a:ln>
          </p:spPr>
        </p:sp>
        <p:sp>
          <p:nvSpPr>
            <p:cNvPr id="13" name="TextBox 13"/>
            <p:cNvSpPr txBox="1"/>
            <p:nvPr/>
          </p:nvSpPr>
          <p:spPr>
            <a:xfrm>
              <a:off x="7040499" y="1468279"/>
              <a:ext cx="273649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Sınıf projesi benzetmesi</a:t>
              </a:r>
            </a:p>
          </p:txBody>
        </p:sp>
        <p:sp>
          <p:nvSpPr>
            <p:cNvPr id="14" name="TextBox 14"/>
            <p:cNvSpPr txBox="1"/>
            <p:nvPr/>
          </p:nvSpPr>
          <p:spPr>
            <a:xfrm>
              <a:off x="7042404" y="1870710"/>
              <a:ext cx="3052572" cy="16062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Elif, Yasemin, İsmail ve Bahar aynı vaka</a:t>
              </a:r>
              <a:br/>
              <a:r>
                <a:rPr lang="tr-TR" sz="1200" dirty="0">
                  <a:solidFill>
                    <a:srgbClr val="172B3A"/>
                  </a:solidFill>
                  <a:latin typeface="+mn-lt"/>
                  <a:ea typeface="+mn-ea"/>
                  <a:cs typeface="+mn-cs"/>
                </a:rPr>
                <a:t>çalışmasını birbirinden habersiz, farklı</a:t>
              </a:r>
              <a:br/>
              <a:r>
                <a:rPr lang="tr-TR" sz="1200" dirty="0">
                  <a:solidFill>
                    <a:srgbClr val="172B3A"/>
                  </a:solidFill>
                  <a:latin typeface="+mn-lt"/>
                  <a:ea typeface="+mn-ea"/>
                  <a:cs typeface="+mn-cs"/>
                </a:rPr>
                <a:t>kaynaklarla inceler ve ortak rapor için</a:t>
              </a:r>
              <a:br/>
              <a:r>
                <a:rPr lang="tr-TR" sz="1200" dirty="0">
                  <a:solidFill>
                    <a:srgbClr val="172B3A"/>
                  </a:solidFill>
                  <a:latin typeface="+mn-lt"/>
                  <a:ea typeface="+mn-ea"/>
                  <a:cs typeface="+mn-cs"/>
                </a:rPr>
                <a:t>oylama yapar. Her öğrenci biraz farklı</a:t>
              </a:r>
              <a:br/>
              <a:r>
                <a:rPr lang="tr-TR" sz="1200" dirty="0">
                  <a:solidFill>
                    <a:srgbClr val="172B3A"/>
                  </a:solidFill>
                  <a:latin typeface="+mn-lt"/>
                  <a:ea typeface="+mn-ea"/>
                  <a:cs typeface="+mn-cs"/>
                </a:rPr>
                <a:t>bilgiye maruz kaldığından farklı hatalar</a:t>
              </a:r>
              <a:br/>
              <a:r>
                <a:rPr lang="tr-TR" sz="1200" dirty="0">
                  <a:solidFill>
                    <a:srgbClr val="172B3A"/>
                  </a:solidFill>
                  <a:latin typeface="+mn-lt"/>
                  <a:ea typeface="+mn-ea"/>
                  <a:cs typeface="+mn-cs"/>
                </a:rPr>
                <a:t>yapar; ama çoğunluk kararı bireysel</a:t>
              </a:r>
              <a:br/>
              <a:r>
                <a:rPr lang="tr-TR" sz="1200" dirty="0">
                  <a:solidFill>
                    <a:srgbClr val="172B3A"/>
                  </a:solidFill>
                  <a:latin typeface="+mn-lt"/>
                  <a:ea typeface="+mn-ea"/>
                  <a:cs typeface="+mn-cs"/>
                </a:rPr>
                <a:t>hatalardan daha güvenilirdir.</a:t>
              </a:r>
            </a:p>
          </p:txBody>
        </p:sp>
      </p:grpSp>
      <p:grpSp>
        <p:nvGrpSpPr>
          <p:cNvPr id="19" name="family-bagging"/>
          <p:cNvGrpSpPr/>
          <p:nvPr/>
        </p:nvGrpSpPr>
        <p:grpSpPr>
          <a:xfrm>
            <a:off x="609600" y="4476750"/>
            <a:ext cx="3505200" cy="1524000"/>
            <a:chOff x="609600" y="4476750"/>
            <a:chExt cx="3505200" cy="1524000"/>
          </a:xfrm>
        </p:grpSpPr>
        <p:sp>
          <p:nvSpPr>
            <p:cNvPr id="16" name="Rectangle 16"/>
            <p:cNvSpPr/>
            <p:nvPr/>
          </p:nvSpPr>
          <p:spPr>
            <a:xfrm>
              <a:off x="609600" y="4476750"/>
              <a:ext cx="3505200" cy="1524000"/>
            </a:xfrm>
            <a:prstGeom prst="roundRect">
              <a:avLst>
                <a:gd name="adj" fmla="val 6250"/>
              </a:avLst>
            </a:prstGeom>
            <a:solidFill>
              <a:srgbClr val="FFFFFF"/>
            </a:solidFill>
            <a:ln w="14288">
              <a:solidFill>
                <a:srgbClr val="B8CBD3"/>
              </a:solidFill>
            </a:ln>
          </p:spPr>
        </p:sp>
        <p:sp>
          <p:nvSpPr>
            <p:cNvPr id="17" name="TextBox 17"/>
            <p:cNvSpPr txBox="1"/>
            <p:nvPr/>
          </p:nvSpPr>
          <p:spPr>
            <a:xfrm>
              <a:off x="829056" y="4663440"/>
              <a:ext cx="9416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Bagging</a:t>
              </a:r>
            </a:p>
          </p:txBody>
        </p:sp>
        <p:sp>
          <p:nvSpPr>
            <p:cNvPr id="18" name="TextBox 18"/>
            <p:cNvSpPr txBox="1"/>
            <p:nvPr/>
          </p:nvSpPr>
          <p:spPr>
            <a:xfrm>
              <a:off x="832104" y="5052060"/>
              <a:ext cx="21076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Paralel, bağımsız modeller;</a:t>
              </a:r>
              <a:br/>
              <a:r>
                <a:rPr lang="tr-TR" sz="1200" dirty="0">
                  <a:solidFill>
                    <a:srgbClr val="172B3A"/>
                  </a:solidFill>
                  <a:latin typeface="+mn-lt"/>
                  <a:ea typeface="+mn-ea"/>
                  <a:cs typeface="+mn-cs"/>
                </a:rPr>
                <a:t>bootstrap örneği üzerinde</a:t>
              </a:r>
              <a:br/>
              <a:r>
                <a:rPr lang="tr-TR" sz="1200" dirty="0">
                  <a:solidFill>
                    <a:srgbClr val="172B3A"/>
                  </a:solidFill>
                  <a:latin typeface="+mn-lt"/>
                  <a:ea typeface="+mn-ea"/>
                  <a:cs typeface="+mn-cs"/>
                </a:rPr>
                <a:t>eğitilip oylanır. (bu bölüm)</a:t>
              </a:r>
            </a:p>
          </p:txBody>
        </p:sp>
      </p:grpSp>
      <p:grpSp>
        <p:nvGrpSpPr>
          <p:cNvPr id="23" name="family-boosting"/>
          <p:cNvGrpSpPr/>
          <p:nvPr/>
        </p:nvGrpSpPr>
        <p:grpSpPr>
          <a:xfrm>
            <a:off x="4343400" y="4476750"/>
            <a:ext cx="3505200" cy="1524000"/>
            <a:chOff x="4343400" y="4476750"/>
            <a:chExt cx="3505200" cy="1524000"/>
          </a:xfrm>
        </p:grpSpPr>
        <p:sp>
          <p:nvSpPr>
            <p:cNvPr id="20" name="Rectangle 20"/>
            <p:cNvSpPr/>
            <p:nvPr/>
          </p:nvSpPr>
          <p:spPr>
            <a:xfrm>
              <a:off x="4343400" y="4476750"/>
              <a:ext cx="3505200" cy="1524000"/>
            </a:xfrm>
            <a:prstGeom prst="roundRect">
              <a:avLst>
                <a:gd name="adj" fmla="val 6250"/>
              </a:avLst>
            </a:prstGeom>
            <a:solidFill>
              <a:srgbClr val="FFFFFF"/>
            </a:solidFill>
            <a:ln w="14288">
              <a:solidFill>
                <a:srgbClr val="B8CBD3"/>
              </a:solidFill>
            </a:ln>
          </p:spPr>
        </p:sp>
        <p:sp>
          <p:nvSpPr>
            <p:cNvPr id="21" name="TextBox 21"/>
            <p:cNvSpPr txBox="1"/>
            <p:nvPr/>
          </p:nvSpPr>
          <p:spPr>
            <a:xfrm>
              <a:off x="4562856" y="4663440"/>
              <a:ext cx="10816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Boosting</a:t>
              </a:r>
            </a:p>
          </p:txBody>
        </p:sp>
        <p:sp>
          <p:nvSpPr>
            <p:cNvPr id="22" name="TextBox 22"/>
            <p:cNvSpPr txBox="1"/>
            <p:nvPr/>
          </p:nvSpPr>
          <p:spPr>
            <a:xfrm>
              <a:off x="4565904" y="5052060"/>
              <a:ext cx="21229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Sıralı modeller; her yeni</a:t>
              </a:r>
              <a:br/>
              <a:r>
                <a:rPr lang="tr-TR" sz="1200" dirty="0">
                  <a:solidFill>
                    <a:srgbClr val="172B3A"/>
                  </a:solidFill>
                  <a:latin typeface="+mn-lt"/>
                  <a:ea typeface="+mn-ea"/>
                  <a:cs typeface="+mn-cs"/>
                </a:rPr>
                <a:t>model bir öncekinin hatasına</a:t>
              </a:r>
              <a:br/>
              <a:r>
                <a:rPr lang="tr-TR" sz="1200" dirty="0">
                  <a:solidFill>
                    <a:srgbClr val="172B3A"/>
                  </a:solidFill>
                  <a:latin typeface="+mn-lt"/>
                  <a:ea typeface="+mn-ea"/>
                  <a:cs typeface="+mn-cs"/>
                </a:rPr>
                <a:t>daha çok ağırlık verir.</a:t>
              </a:r>
            </a:p>
          </p:txBody>
        </p:sp>
      </p:grpSp>
      <p:grpSp>
        <p:nvGrpSpPr>
          <p:cNvPr id="27" name="family-stacking"/>
          <p:cNvGrpSpPr/>
          <p:nvPr/>
        </p:nvGrpSpPr>
        <p:grpSpPr>
          <a:xfrm>
            <a:off x="8077200" y="4476750"/>
            <a:ext cx="3505200" cy="1524000"/>
            <a:chOff x="8077200" y="4476750"/>
            <a:chExt cx="3505200" cy="1524000"/>
          </a:xfrm>
        </p:grpSpPr>
        <p:sp>
          <p:nvSpPr>
            <p:cNvPr id="24" name="Rectangle 24"/>
            <p:cNvSpPr/>
            <p:nvPr/>
          </p:nvSpPr>
          <p:spPr>
            <a:xfrm>
              <a:off x="8077200" y="4476750"/>
              <a:ext cx="3505200" cy="1524000"/>
            </a:xfrm>
            <a:prstGeom prst="roundRect">
              <a:avLst>
                <a:gd name="adj" fmla="val 6250"/>
              </a:avLst>
            </a:prstGeom>
            <a:solidFill>
              <a:srgbClr val="FFFFFF"/>
            </a:solidFill>
            <a:ln w="14288">
              <a:solidFill>
                <a:srgbClr val="B8CBD3"/>
              </a:solidFill>
            </a:ln>
          </p:spPr>
        </p:sp>
        <p:sp>
          <p:nvSpPr>
            <p:cNvPr id="25" name="TextBox 25"/>
            <p:cNvSpPr txBox="1"/>
            <p:nvPr/>
          </p:nvSpPr>
          <p:spPr>
            <a:xfrm>
              <a:off x="8296656" y="4663440"/>
              <a:ext cx="10816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Stacking</a:t>
              </a:r>
            </a:p>
          </p:txBody>
        </p:sp>
        <p:sp>
          <p:nvSpPr>
            <p:cNvPr id="26" name="TextBox 26"/>
            <p:cNvSpPr txBox="1"/>
            <p:nvPr/>
          </p:nvSpPr>
          <p:spPr>
            <a:xfrm>
              <a:off x="8299704" y="5052060"/>
              <a:ext cx="23286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Farklı algoritmaların çıktısı,</a:t>
              </a:r>
              <a:br/>
              <a:r>
                <a:rPr lang="tr-TR" sz="1200" dirty="0">
                  <a:solidFill>
                    <a:srgbClr val="172B3A"/>
                  </a:solidFill>
                  <a:latin typeface="+mn-lt"/>
                  <a:ea typeface="+mn-ea"/>
                  <a:cs typeface="+mn-cs"/>
                </a:rPr>
                <a:t>bir meta-modelin girdisi olur;</a:t>
              </a:r>
              <a:br/>
              <a:r>
                <a:rPr lang="tr-TR" sz="1200" dirty="0">
                  <a:solidFill>
                    <a:srgbClr val="172B3A"/>
                  </a:solidFill>
                  <a:latin typeface="+mn-lt"/>
                  <a:ea typeface="+mn-ea"/>
                  <a:cs typeface="+mn-cs"/>
                </a:rPr>
                <a:t>nihai kararı meta-model verir.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341611" cy="557403"/>
            <a:chOff x="595122" y="282892"/>
            <a:chExt cx="9341611" cy="557403"/>
          </a:xfrm>
        </p:grpSpPr>
        <p:sp>
          <p:nvSpPr>
            <p:cNvPr id="4" name="TextBox 4"/>
            <p:cNvSpPr txBox="1"/>
            <p:nvPr/>
          </p:nvSpPr>
          <p:spPr>
            <a:xfrm>
              <a:off x="595122" y="282892"/>
              <a:ext cx="934161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Neden var? Yanlılık-varyans dengesi ve tarihçe</a:t>
              </a:r>
            </a:p>
          </p:txBody>
        </p:sp>
      </p:grpSp>
      <p:grpSp>
        <p:nvGrpSpPr>
          <p:cNvPr id="9" name="bias-card"/>
          <p:cNvGrpSpPr/>
          <p:nvPr/>
        </p:nvGrpSpPr>
        <p:grpSpPr>
          <a:xfrm>
            <a:off x="609600" y="1333500"/>
            <a:ext cx="5105400" cy="1600200"/>
            <a:chOff x="609600" y="1333500"/>
            <a:chExt cx="5105400" cy="1600200"/>
          </a:xfrm>
        </p:grpSpPr>
        <p:sp>
          <p:nvSpPr>
            <p:cNvPr id="6" name="Rectangle 6"/>
            <p:cNvSpPr/>
            <p:nvPr/>
          </p:nvSpPr>
          <p:spPr>
            <a:xfrm>
              <a:off x="609600" y="1333500"/>
              <a:ext cx="5105400" cy="1600200"/>
            </a:xfrm>
            <a:prstGeom prst="roundRect">
              <a:avLst>
                <a:gd name="adj" fmla="val 5952"/>
              </a:avLst>
            </a:prstGeom>
            <a:solidFill>
              <a:srgbClr val="FFFFFF"/>
            </a:solidFill>
            <a:ln w="14288">
              <a:solidFill>
                <a:srgbClr val="B8CBD3"/>
              </a:solidFill>
            </a:ln>
          </p:spPr>
        </p:sp>
        <p:sp>
          <p:nvSpPr>
            <p:cNvPr id="7" name="TextBox 7"/>
            <p:cNvSpPr txBox="1"/>
            <p:nvPr/>
          </p:nvSpPr>
          <p:spPr>
            <a:xfrm>
              <a:off x="829056" y="1482090"/>
              <a:ext cx="37249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Yanlılık (Bias) → underfitting</a:t>
              </a:r>
            </a:p>
          </p:txBody>
        </p:sp>
        <p:sp>
          <p:nvSpPr>
            <p:cNvPr id="8" name="TextBox 8"/>
            <p:cNvSpPr txBox="1"/>
            <p:nvPr/>
          </p:nvSpPr>
          <p:spPr>
            <a:xfrm>
              <a:off x="832104" y="1851660"/>
              <a:ext cx="30144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Sığ bir karar ağacı veriyi yeterince</a:t>
              </a:r>
              <a:br/>
              <a:r>
                <a:rPr lang="tr-TR" sz="1200" dirty="0">
                  <a:solidFill>
                    <a:srgbClr val="172B3A"/>
                  </a:solidFill>
                  <a:latin typeface="+mn-lt"/>
                  <a:ea typeface="+mn-ea"/>
                  <a:cs typeface="+mn-cs"/>
                </a:rPr>
                <a:t>öğrenemez; hem eğitim hem test setinde</a:t>
              </a:r>
              <a:br/>
              <a:r>
                <a:rPr lang="tr-TR" sz="1200" dirty="0">
                  <a:solidFill>
                    <a:srgbClr val="172B3A"/>
                  </a:solidFill>
                  <a:latin typeface="+mn-lt"/>
                  <a:ea typeface="+mn-ea"/>
                  <a:cs typeface="+mn-cs"/>
                </a:rPr>
                <a:t>kötü performans gösterir.</a:t>
              </a:r>
            </a:p>
          </p:txBody>
        </p:sp>
      </p:grpSp>
      <p:grpSp>
        <p:nvGrpSpPr>
          <p:cNvPr id="13" name="variance-card"/>
          <p:cNvGrpSpPr/>
          <p:nvPr/>
        </p:nvGrpSpPr>
        <p:grpSpPr>
          <a:xfrm>
            <a:off x="609600" y="3124200"/>
            <a:ext cx="5105400" cy="1600200"/>
            <a:chOff x="609600" y="3124200"/>
            <a:chExt cx="5105400" cy="1600200"/>
          </a:xfrm>
        </p:grpSpPr>
        <p:sp>
          <p:nvSpPr>
            <p:cNvPr id="10" name="Rectangle 10"/>
            <p:cNvSpPr/>
            <p:nvPr/>
          </p:nvSpPr>
          <p:spPr>
            <a:xfrm>
              <a:off x="609600" y="3124200"/>
              <a:ext cx="5105400" cy="1600200"/>
            </a:xfrm>
            <a:prstGeom prst="roundRect">
              <a:avLst>
                <a:gd name="adj" fmla="val 5952"/>
              </a:avLst>
            </a:prstGeom>
            <a:solidFill>
              <a:srgbClr val="FFFFFF"/>
            </a:solidFill>
            <a:ln w="14288">
              <a:solidFill>
                <a:srgbClr val="00A6A6"/>
              </a:solidFill>
            </a:ln>
          </p:spPr>
        </p:sp>
        <p:sp>
          <p:nvSpPr>
            <p:cNvPr id="11" name="TextBox 11"/>
            <p:cNvSpPr txBox="1"/>
            <p:nvPr/>
          </p:nvSpPr>
          <p:spPr>
            <a:xfrm>
              <a:off x="829056" y="3272790"/>
              <a:ext cx="413247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Varyans (Variance) → overfitting</a:t>
              </a:r>
            </a:p>
          </p:txBody>
        </p:sp>
        <p:sp>
          <p:nvSpPr>
            <p:cNvPr id="12" name="TextBox 12"/>
            <p:cNvSpPr txBox="1"/>
            <p:nvPr/>
          </p:nvSpPr>
          <p:spPr>
            <a:xfrm>
              <a:off x="832104" y="3642360"/>
              <a:ext cx="29763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Budanmamış, derin bir ağaç eğitim</a:t>
              </a:r>
              <a:br/>
              <a:r>
                <a:rPr lang="tr-TR" sz="1200" dirty="0">
                  <a:solidFill>
                    <a:srgbClr val="172B3A"/>
                  </a:solidFill>
                  <a:latin typeface="+mn-lt"/>
                  <a:ea typeface="+mn-ea"/>
                  <a:cs typeface="+mn-cs"/>
                </a:rPr>
                <a:t>verisindeki gürültüyü ezberler; küçük</a:t>
              </a:r>
              <a:br/>
              <a:r>
                <a:rPr lang="tr-TR" sz="1200" dirty="0">
                  <a:solidFill>
                    <a:srgbClr val="172B3A"/>
                  </a:solidFill>
                  <a:latin typeface="+mn-lt"/>
                  <a:ea typeface="+mn-ea"/>
                  <a:cs typeface="+mn-cs"/>
                </a:rPr>
                <a:t>veri değişiminde kökten farklı dallanır.</a:t>
              </a:r>
            </a:p>
          </p:txBody>
        </p:sp>
      </p:grpSp>
      <p:grpSp>
        <p:nvGrpSpPr>
          <p:cNvPr id="17" name="tradeoff-note"/>
          <p:cNvGrpSpPr/>
          <p:nvPr/>
        </p:nvGrpSpPr>
        <p:grpSpPr>
          <a:xfrm>
            <a:off x="609600" y="4914900"/>
            <a:ext cx="5105400" cy="952500"/>
            <a:chOff x="609600" y="4914900"/>
            <a:chExt cx="5105400" cy="952500"/>
          </a:xfrm>
        </p:grpSpPr>
        <p:sp>
          <p:nvSpPr>
            <p:cNvPr id="14" name="Rectangle 14"/>
            <p:cNvSpPr/>
            <p:nvPr/>
          </p:nvSpPr>
          <p:spPr>
            <a:xfrm>
              <a:off x="609600" y="4914900"/>
              <a:ext cx="5105400" cy="952500"/>
            </a:xfrm>
            <a:prstGeom prst="roundRect">
              <a:avLst>
                <a:gd name="adj" fmla="val 8000"/>
              </a:avLst>
            </a:prstGeom>
            <a:solidFill>
              <a:srgbClr val="EAF4F6"/>
            </a:solidFill>
            <a:ln>
              <a:noFill/>
            </a:ln>
          </p:spPr>
        </p:sp>
        <p:sp>
          <p:nvSpPr>
            <p:cNvPr id="15" name="TextBox 15"/>
            <p:cNvSpPr txBox="1"/>
            <p:nvPr/>
          </p:nvSpPr>
          <p:spPr>
            <a:xfrm>
              <a:off x="830961" y="5084921"/>
              <a:ext cx="300189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Budama tek başına çözüm değil</a:t>
              </a:r>
            </a:p>
          </p:txBody>
        </p:sp>
        <p:sp>
          <p:nvSpPr>
            <p:cNvPr id="16" name="TextBox 16"/>
            <p:cNvSpPr txBox="1"/>
            <p:nvPr/>
          </p:nvSpPr>
          <p:spPr>
            <a:xfrm>
              <a:off x="832104" y="5375910"/>
              <a:ext cx="38526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Ağacı budamak varyansı azaltır ama</a:t>
              </a:r>
              <a:br/>
              <a:r>
                <a:rPr lang="tr-TR" sz="1200" dirty="0">
                  <a:solidFill>
                    <a:srgbClr val="52616B"/>
                  </a:solidFill>
                  <a:latin typeface="+mn-lt"/>
                  <a:ea typeface="+mn-ea"/>
                  <a:cs typeface="+mn-cs"/>
                </a:rPr>
                <a:t>öğrenme kapasitesini kısıtlayıp yanlılığı artırır.</a:t>
              </a:r>
            </a:p>
          </p:txBody>
        </p:sp>
      </p:grpSp>
      <p:grpSp>
        <p:nvGrpSpPr>
          <p:cNvPr id="31" name="timeline"/>
          <p:cNvGrpSpPr/>
          <p:nvPr/>
        </p:nvGrpSpPr>
        <p:grpSpPr>
          <a:xfrm>
            <a:off x="6324600" y="1563529"/>
            <a:ext cx="3153156" cy="4066127"/>
            <a:chOff x="6324600" y="1563529"/>
            <a:chExt cx="3153156" cy="4066127"/>
          </a:xfrm>
        </p:grpSpPr>
        <p:sp>
          <p:nvSpPr>
            <p:cNvPr id="18" name="Line 18"/>
            <p:cNvSpPr/>
            <p:nvPr/>
          </p:nvSpPr>
          <p:spPr>
            <a:xfrm>
              <a:off x="6400800" y="1619250"/>
              <a:ext cx="9525" cy="3714750"/>
            </a:xfrm>
            <a:custGeom>
              <a:avLst/>
              <a:gdLst/>
              <a:ahLst/>
              <a:cxnLst/>
              <a:rect l="l" t="t" r="r" b="b"/>
              <a:pathLst>
                <a:path w="9525" h="3714750">
                  <a:moveTo>
                    <a:pt x="0" y="0"/>
                  </a:moveTo>
                  <a:lnTo>
                    <a:pt x="0" y="3714750"/>
                  </a:lnTo>
                </a:path>
              </a:pathLst>
            </a:custGeom>
            <a:noFill/>
            <a:ln w="19050">
              <a:solidFill>
                <a:srgbClr val="B8CBD3"/>
              </a:solidFill>
            </a:ln>
          </p:spPr>
        </p:sp>
        <p:sp>
          <p:nvSpPr>
            <p:cNvPr id="19" name="Ellipse 19"/>
            <p:cNvSpPr/>
            <p:nvPr/>
          </p:nvSpPr>
          <p:spPr>
            <a:xfrm>
              <a:off x="6324600" y="1733550"/>
              <a:ext cx="152400" cy="152400"/>
            </a:xfrm>
            <a:prstGeom prst="ellipse">
              <a:avLst/>
            </a:prstGeom>
            <a:solidFill>
              <a:srgbClr val="00A6A6"/>
            </a:solidFill>
            <a:ln>
              <a:noFill/>
            </a:ln>
          </p:spPr>
        </p:sp>
        <p:sp>
          <p:nvSpPr>
            <p:cNvPr id="20" name="TextBox 20"/>
            <p:cNvSpPr txBox="1"/>
            <p:nvPr/>
          </p:nvSpPr>
          <p:spPr>
            <a:xfrm>
              <a:off x="6659499" y="1563529"/>
              <a:ext cx="139376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1979 — Efron</a:t>
              </a:r>
            </a:p>
          </p:txBody>
        </p:sp>
        <p:sp>
          <p:nvSpPr>
            <p:cNvPr id="21" name="TextBox 21"/>
            <p:cNvSpPr txBox="1"/>
            <p:nvPr/>
          </p:nvSpPr>
          <p:spPr>
            <a:xfrm>
              <a:off x="6661404" y="1851660"/>
              <a:ext cx="24429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Bootstrap yeniden örnekleme,</a:t>
              </a:r>
              <a:br/>
              <a:r>
                <a:rPr lang="tr-TR" sz="1200" dirty="0">
                  <a:solidFill>
                    <a:srgbClr val="172B3A"/>
                  </a:solidFill>
                  <a:latin typeface="+mn-lt"/>
                  <a:ea typeface="+mn-ea"/>
                  <a:cs typeface="+mn-cs"/>
                </a:rPr>
                <a:t>istatistiksel tahmin belirsizliğini</a:t>
              </a:r>
              <a:br/>
              <a:r>
                <a:rPr lang="tr-TR" sz="1200" dirty="0">
                  <a:solidFill>
                    <a:srgbClr val="172B3A"/>
                  </a:solidFill>
                  <a:latin typeface="+mn-lt"/>
                  <a:ea typeface="+mn-ea"/>
                  <a:cs typeface="+mn-cs"/>
                </a:rPr>
                <a:t>ölçmek için önerildi.</a:t>
              </a:r>
            </a:p>
          </p:txBody>
        </p:sp>
        <p:sp>
          <p:nvSpPr>
            <p:cNvPr id="22" name="Ellipse 22"/>
            <p:cNvSpPr/>
            <p:nvPr/>
          </p:nvSpPr>
          <p:spPr>
            <a:xfrm>
              <a:off x="6324600" y="3067050"/>
              <a:ext cx="152400" cy="152400"/>
            </a:xfrm>
            <a:prstGeom prst="ellipse">
              <a:avLst/>
            </a:prstGeom>
            <a:solidFill>
              <a:srgbClr val="00A6A6"/>
            </a:solidFill>
            <a:ln>
              <a:noFill/>
            </a:ln>
          </p:spPr>
        </p:sp>
        <p:sp>
          <p:nvSpPr>
            <p:cNvPr id="23" name="TextBox 23"/>
            <p:cNvSpPr txBox="1"/>
            <p:nvPr/>
          </p:nvSpPr>
          <p:spPr>
            <a:xfrm>
              <a:off x="6659499" y="2897029"/>
              <a:ext cx="162575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1996 — Breiman</a:t>
              </a:r>
            </a:p>
          </p:txBody>
        </p:sp>
        <p:sp>
          <p:nvSpPr>
            <p:cNvPr id="24" name="TextBox 24"/>
            <p:cNvSpPr txBox="1"/>
            <p:nvPr/>
          </p:nvSpPr>
          <p:spPr>
            <a:xfrm>
              <a:off x="6661404" y="3185160"/>
              <a:ext cx="27858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Bootstrap, model eğitimine uyarlanıp</a:t>
              </a:r>
              <a:br/>
              <a:r>
                <a:rPr lang="tr-TR" sz="1200" dirty="0">
                  <a:solidFill>
                    <a:srgbClr val="172B3A"/>
                  </a:solidFill>
                  <a:latin typeface="+mn-lt"/>
                  <a:ea typeface="+mn-ea"/>
                  <a:cs typeface="+mn-cs"/>
                </a:rPr>
                <a:t>bagging tanımlandı.</a:t>
              </a:r>
            </a:p>
          </p:txBody>
        </p:sp>
        <p:sp>
          <p:nvSpPr>
            <p:cNvPr id="25" name="Ellipse 25"/>
            <p:cNvSpPr/>
            <p:nvPr/>
          </p:nvSpPr>
          <p:spPr>
            <a:xfrm>
              <a:off x="6324600" y="4114800"/>
              <a:ext cx="152400" cy="152400"/>
            </a:xfrm>
            <a:prstGeom prst="ellipse">
              <a:avLst/>
            </a:prstGeom>
            <a:solidFill>
              <a:srgbClr val="00A6A6"/>
            </a:solidFill>
            <a:ln>
              <a:noFill/>
            </a:ln>
          </p:spPr>
        </p:sp>
        <p:sp>
          <p:nvSpPr>
            <p:cNvPr id="26" name="TextBox 26"/>
            <p:cNvSpPr txBox="1"/>
            <p:nvPr/>
          </p:nvSpPr>
          <p:spPr>
            <a:xfrm>
              <a:off x="6659499" y="3944779"/>
              <a:ext cx="162575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2001 — Breiman</a:t>
              </a:r>
            </a:p>
          </p:txBody>
        </p:sp>
        <p:sp>
          <p:nvSpPr>
            <p:cNvPr id="27" name="TextBox 27"/>
            <p:cNvSpPr txBox="1"/>
            <p:nvPr/>
          </p:nvSpPr>
          <p:spPr>
            <a:xfrm>
              <a:off x="6661404" y="4232910"/>
              <a:ext cx="28163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Random Forest yayımlandı; bagging'e</a:t>
              </a:r>
              <a:br/>
              <a:r>
                <a:rPr lang="tr-TR" sz="1200" dirty="0">
                  <a:solidFill>
                    <a:srgbClr val="172B3A"/>
                  </a:solidFill>
                  <a:latin typeface="+mn-lt"/>
                  <a:ea typeface="+mn-ea"/>
                  <a:cs typeface="+mn-cs"/>
                </a:rPr>
                <a:t>öznitelik-düzeyi rastgelelik eklendi.</a:t>
              </a:r>
            </a:p>
          </p:txBody>
        </p:sp>
        <p:sp>
          <p:nvSpPr>
            <p:cNvPr id="28" name="Ellipse 28"/>
            <p:cNvSpPr/>
            <p:nvPr/>
          </p:nvSpPr>
          <p:spPr>
            <a:xfrm>
              <a:off x="6324600" y="5067300"/>
              <a:ext cx="152400" cy="152400"/>
            </a:xfrm>
            <a:prstGeom prst="ellipse">
              <a:avLst/>
            </a:prstGeom>
            <a:solidFill>
              <a:srgbClr val="2E86AB"/>
            </a:solidFill>
            <a:ln>
              <a:noFill/>
            </a:ln>
          </p:spPr>
        </p:sp>
        <p:sp>
          <p:nvSpPr>
            <p:cNvPr id="29" name="TextBox 29"/>
            <p:cNvSpPr txBox="1"/>
            <p:nvPr/>
          </p:nvSpPr>
          <p:spPr>
            <a:xfrm>
              <a:off x="6659499" y="4897279"/>
              <a:ext cx="92782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Günümüz</a:t>
              </a:r>
            </a:p>
          </p:txBody>
        </p:sp>
        <p:sp>
          <p:nvSpPr>
            <p:cNvPr id="30" name="TextBox 30"/>
            <p:cNvSpPr txBox="1"/>
            <p:nvPr/>
          </p:nvSpPr>
          <p:spPr>
            <a:xfrm>
              <a:off x="6661404" y="5185410"/>
              <a:ext cx="23591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XGBoost/LightGBM gibi boosting</a:t>
              </a:r>
              <a:br/>
              <a:r>
                <a:rPr lang="tr-TR" sz="1200" dirty="0">
                  <a:solidFill>
                    <a:srgbClr val="172B3A"/>
                  </a:solidFill>
                  <a:latin typeface="+mn-lt"/>
                  <a:ea typeface="+mn-ea"/>
                  <a:cs typeface="+mn-cs"/>
                </a:rPr>
                <a:t>yöntemlerinin kavramsal atası.</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9999061" cy="668845"/>
            <a:chOff x="609600" y="171450"/>
            <a:chExt cx="9999061"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930868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Bagging, boosting, stacking: hangisi ne zaman?</a:t>
              </a:r>
            </a:p>
          </p:txBody>
        </p:sp>
      </p:grpSp>
      <p:grpSp>
        <p:nvGrpSpPr>
          <p:cNvPr id="17" name="compare-header"/>
          <p:cNvGrpSpPr/>
          <p:nvPr/>
        </p:nvGrpSpPr>
        <p:grpSpPr>
          <a:xfrm>
            <a:off x="609600" y="1333500"/>
            <a:ext cx="10972800" cy="381000"/>
            <a:chOff x="609600" y="1333500"/>
            <a:chExt cx="10972800" cy="381000"/>
          </a:xfrm>
        </p:grpSpPr>
        <p:sp>
          <p:nvSpPr>
            <p:cNvPr id="11" name="Rectangle 11"/>
            <p:cNvSpPr/>
            <p:nvPr/>
          </p:nvSpPr>
          <p:spPr>
            <a:xfrm>
              <a:off x="609600" y="1333500"/>
              <a:ext cx="10972800" cy="381000"/>
            </a:xfrm>
            <a:prstGeom prst="rect">
              <a:avLst/>
            </a:prstGeom>
            <a:solidFill>
              <a:srgbClr val="12355B"/>
            </a:solidFill>
            <a:ln>
              <a:noFill/>
            </a:ln>
          </p:spPr>
        </p:sp>
        <p:sp>
          <p:nvSpPr>
            <p:cNvPr id="12" name="TextBox 12"/>
            <p:cNvSpPr txBox="1"/>
            <p:nvPr/>
          </p:nvSpPr>
          <p:spPr>
            <a:xfrm>
              <a:off x="755904" y="1451610"/>
              <a:ext cx="86648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YAKLAŞIM</a:t>
              </a:r>
            </a:p>
          </p:txBody>
        </p:sp>
        <p:sp>
          <p:nvSpPr>
            <p:cNvPr id="13" name="TextBox 13"/>
            <p:cNvSpPr txBox="1"/>
            <p:nvPr/>
          </p:nvSpPr>
          <p:spPr>
            <a:xfrm>
              <a:off x="3137154" y="1451610"/>
              <a:ext cx="148437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MODEL EĞİTİMİ</a:t>
              </a:r>
            </a:p>
          </p:txBody>
        </p:sp>
        <p:sp>
          <p:nvSpPr>
            <p:cNvPr id="14" name="TextBox 14"/>
            <p:cNvSpPr txBox="1"/>
            <p:nvPr/>
          </p:nvSpPr>
          <p:spPr>
            <a:xfrm>
              <a:off x="5518404" y="1451610"/>
              <a:ext cx="93988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ANA HEDEF</a:t>
              </a:r>
            </a:p>
          </p:txBody>
        </p:sp>
        <p:sp>
          <p:nvSpPr>
            <p:cNvPr id="15" name="TextBox 15"/>
            <p:cNvSpPr txBox="1"/>
            <p:nvPr/>
          </p:nvSpPr>
          <p:spPr>
            <a:xfrm>
              <a:off x="7899654" y="1451610"/>
              <a:ext cx="199473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HESAPLAMA MALİYETİ</a:t>
              </a:r>
            </a:p>
          </p:txBody>
        </p:sp>
        <p:sp>
          <p:nvSpPr>
            <p:cNvPr id="16" name="TextBox 16"/>
            <p:cNvSpPr txBox="1"/>
            <p:nvPr/>
          </p:nvSpPr>
          <p:spPr>
            <a:xfrm>
              <a:off x="9518904" y="1451610"/>
              <a:ext cx="1930298"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YORUMLANABİLİRLİK</a:t>
              </a:r>
            </a:p>
          </p:txBody>
        </p:sp>
      </p:grpSp>
      <p:grpSp>
        <p:nvGrpSpPr>
          <p:cNvPr id="25" name="row-bagging"/>
          <p:cNvGrpSpPr/>
          <p:nvPr/>
        </p:nvGrpSpPr>
        <p:grpSpPr>
          <a:xfrm>
            <a:off x="609600" y="1714500"/>
            <a:ext cx="10972800" cy="752475"/>
            <a:chOff x="609600" y="1714500"/>
            <a:chExt cx="10972800" cy="752475"/>
          </a:xfrm>
        </p:grpSpPr>
        <p:sp>
          <p:nvSpPr>
            <p:cNvPr id="18" name="Rectangle 18"/>
            <p:cNvSpPr/>
            <p:nvPr/>
          </p:nvSpPr>
          <p:spPr>
            <a:xfrm>
              <a:off x="609600" y="1714500"/>
              <a:ext cx="10972800" cy="742950"/>
            </a:xfrm>
            <a:prstGeom prst="rect">
              <a:avLst/>
            </a:prstGeom>
            <a:solidFill>
              <a:srgbClr val="EAF4F6"/>
            </a:solidFill>
            <a:ln>
              <a:noFill/>
            </a:ln>
          </p:spPr>
        </p:sp>
        <p:sp>
          <p:nvSpPr>
            <p:cNvPr id="19" name="TextBox 19"/>
            <p:cNvSpPr txBox="1"/>
            <p:nvPr/>
          </p:nvSpPr>
          <p:spPr>
            <a:xfrm>
              <a:off x="753999" y="1849279"/>
              <a:ext cx="8265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Bagging</a:t>
              </a:r>
            </a:p>
          </p:txBody>
        </p:sp>
        <p:sp>
          <p:nvSpPr>
            <p:cNvPr id="20" name="TextBox 20"/>
            <p:cNvSpPr txBox="1"/>
            <p:nvPr/>
          </p:nvSpPr>
          <p:spPr>
            <a:xfrm>
              <a:off x="3137154" y="1889760"/>
              <a:ext cx="14391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Paralel, bağımsız</a:t>
              </a:r>
            </a:p>
          </p:txBody>
        </p:sp>
        <p:sp>
          <p:nvSpPr>
            <p:cNvPr id="21" name="TextBox 21"/>
            <p:cNvSpPr txBox="1"/>
            <p:nvPr/>
          </p:nvSpPr>
          <p:spPr>
            <a:xfrm>
              <a:off x="5518404" y="1889760"/>
              <a:ext cx="13016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Varyans azaltma</a:t>
              </a:r>
            </a:p>
          </p:txBody>
        </p:sp>
        <p:sp>
          <p:nvSpPr>
            <p:cNvPr id="22" name="TextBox 22"/>
            <p:cNvSpPr txBox="1"/>
            <p:nvPr/>
          </p:nvSpPr>
          <p:spPr>
            <a:xfrm>
              <a:off x="7899654" y="1889760"/>
              <a:ext cx="21332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 (paralelleştirilebilir)</a:t>
              </a:r>
            </a:p>
          </p:txBody>
        </p:sp>
        <p:sp>
          <p:nvSpPr>
            <p:cNvPr id="23" name="TextBox 23"/>
            <p:cNvSpPr txBox="1"/>
            <p:nvPr/>
          </p:nvSpPr>
          <p:spPr>
            <a:xfrm>
              <a:off x="10090404" y="1889760"/>
              <a:ext cx="4053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a:t>
              </a:r>
            </a:p>
          </p:txBody>
        </p:sp>
        <p:sp>
          <p:nvSpPr>
            <p:cNvPr id="24" name="Line 24"/>
            <p:cNvSpPr/>
            <p:nvPr/>
          </p:nvSpPr>
          <p:spPr>
            <a:xfrm>
              <a:off x="609600" y="24574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2" name="row-boosting"/>
          <p:cNvGrpSpPr/>
          <p:nvPr/>
        </p:nvGrpSpPr>
        <p:grpSpPr>
          <a:xfrm>
            <a:off x="609600" y="2592229"/>
            <a:ext cx="10972800" cy="617696"/>
            <a:chOff x="609600" y="2592229"/>
            <a:chExt cx="10972800" cy="617696"/>
          </a:xfrm>
        </p:grpSpPr>
        <p:sp>
          <p:nvSpPr>
            <p:cNvPr id="26" name="TextBox 26"/>
            <p:cNvSpPr txBox="1"/>
            <p:nvPr/>
          </p:nvSpPr>
          <p:spPr>
            <a:xfrm>
              <a:off x="753999" y="2592229"/>
              <a:ext cx="9493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Boosting</a:t>
              </a:r>
            </a:p>
          </p:txBody>
        </p:sp>
        <p:sp>
          <p:nvSpPr>
            <p:cNvPr id="27" name="TextBox 27"/>
            <p:cNvSpPr txBox="1"/>
            <p:nvPr/>
          </p:nvSpPr>
          <p:spPr>
            <a:xfrm>
              <a:off x="3137154" y="2632710"/>
              <a:ext cx="12614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Sıralı, bağımlı</a:t>
              </a:r>
            </a:p>
          </p:txBody>
        </p:sp>
        <p:sp>
          <p:nvSpPr>
            <p:cNvPr id="28" name="TextBox 28"/>
            <p:cNvSpPr txBox="1"/>
            <p:nvPr/>
          </p:nvSpPr>
          <p:spPr>
            <a:xfrm>
              <a:off x="5518404" y="2632710"/>
              <a:ext cx="13094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Yanlılık azaltma</a:t>
              </a:r>
            </a:p>
          </p:txBody>
        </p:sp>
        <p:sp>
          <p:nvSpPr>
            <p:cNvPr id="29" name="TextBox 29"/>
            <p:cNvSpPr txBox="1"/>
            <p:nvPr/>
          </p:nvSpPr>
          <p:spPr>
            <a:xfrm>
              <a:off x="7899654" y="2632710"/>
              <a:ext cx="22546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Yüksek (paralelleştirilemez)</a:t>
              </a:r>
            </a:p>
          </p:txBody>
        </p:sp>
        <p:sp>
          <p:nvSpPr>
            <p:cNvPr id="30" name="TextBox 30"/>
            <p:cNvSpPr txBox="1"/>
            <p:nvPr/>
          </p:nvSpPr>
          <p:spPr>
            <a:xfrm>
              <a:off x="10090404" y="2632710"/>
              <a:ext cx="4614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Düşük</a:t>
              </a:r>
            </a:p>
          </p:txBody>
        </p:sp>
        <p:sp>
          <p:nvSpPr>
            <p:cNvPr id="31" name="Line 31"/>
            <p:cNvSpPr/>
            <p:nvPr/>
          </p:nvSpPr>
          <p:spPr>
            <a:xfrm>
              <a:off x="609600" y="32004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0" name="row-stacking"/>
          <p:cNvGrpSpPr/>
          <p:nvPr/>
        </p:nvGrpSpPr>
        <p:grpSpPr>
          <a:xfrm>
            <a:off x="609600" y="3200400"/>
            <a:ext cx="10972800" cy="752475"/>
            <a:chOff x="609600" y="3200400"/>
            <a:chExt cx="10972800" cy="752475"/>
          </a:xfrm>
        </p:grpSpPr>
        <p:sp>
          <p:nvSpPr>
            <p:cNvPr id="33" name="Rectangle 33"/>
            <p:cNvSpPr/>
            <p:nvPr/>
          </p:nvSpPr>
          <p:spPr>
            <a:xfrm>
              <a:off x="609600" y="3200400"/>
              <a:ext cx="10972800" cy="742950"/>
            </a:xfrm>
            <a:prstGeom prst="rect">
              <a:avLst/>
            </a:prstGeom>
            <a:solidFill>
              <a:srgbClr val="EAF4F6"/>
            </a:solidFill>
            <a:ln>
              <a:noFill/>
            </a:ln>
          </p:spPr>
        </p:sp>
        <p:sp>
          <p:nvSpPr>
            <p:cNvPr id="34" name="TextBox 34"/>
            <p:cNvSpPr txBox="1"/>
            <p:nvPr/>
          </p:nvSpPr>
          <p:spPr>
            <a:xfrm>
              <a:off x="753999" y="3335179"/>
              <a:ext cx="9493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Stacking</a:t>
              </a:r>
            </a:p>
          </p:txBody>
        </p:sp>
        <p:sp>
          <p:nvSpPr>
            <p:cNvPr id="35" name="TextBox 35"/>
            <p:cNvSpPr txBox="1"/>
            <p:nvPr/>
          </p:nvSpPr>
          <p:spPr>
            <a:xfrm>
              <a:off x="3137154" y="3375660"/>
              <a:ext cx="165766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Paralel + meta-model</a:t>
              </a:r>
            </a:p>
          </p:txBody>
        </p:sp>
        <p:sp>
          <p:nvSpPr>
            <p:cNvPr id="36" name="TextBox 36"/>
            <p:cNvSpPr txBox="1"/>
            <p:nvPr/>
          </p:nvSpPr>
          <p:spPr>
            <a:xfrm>
              <a:off x="5518404" y="3375660"/>
              <a:ext cx="287642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Farklı modellerin gücünü birleştirme</a:t>
              </a:r>
            </a:p>
          </p:txBody>
        </p:sp>
        <p:sp>
          <p:nvSpPr>
            <p:cNvPr id="37" name="TextBox 37"/>
            <p:cNvSpPr txBox="1"/>
            <p:nvPr/>
          </p:nvSpPr>
          <p:spPr>
            <a:xfrm>
              <a:off x="7899654" y="3375660"/>
              <a:ext cx="7768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 yüksek</a:t>
              </a:r>
            </a:p>
          </p:txBody>
        </p:sp>
        <p:sp>
          <p:nvSpPr>
            <p:cNvPr id="38" name="TextBox 38"/>
            <p:cNvSpPr txBox="1"/>
            <p:nvPr/>
          </p:nvSpPr>
          <p:spPr>
            <a:xfrm>
              <a:off x="10090404" y="3375660"/>
              <a:ext cx="6880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 düşük</a:t>
              </a:r>
            </a:p>
          </p:txBody>
        </p:sp>
        <p:sp>
          <p:nvSpPr>
            <p:cNvPr id="39" name="Line 39"/>
            <p:cNvSpPr/>
            <p:nvPr/>
          </p:nvSpPr>
          <p:spPr>
            <a:xfrm>
              <a:off x="609600" y="39433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6" name="row-single"/>
          <p:cNvGrpSpPr/>
          <p:nvPr/>
        </p:nvGrpSpPr>
        <p:grpSpPr>
          <a:xfrm>
            <a:off x="753999" y="4078129"/>
            <a:ext cx="10113226" cy="308039"/>
            <a:chOff x="753999" y="4078129"/>
            <a:chExt cx="10113226" cy="308039"/>
          </a:xfrm>
        </p:grpSpPr>
        <p:sp>
          <p:nvSpPr>
            <p:cNvPr id="41" name="TextBox 41"/>
            <p:cNvSpPr txBox="1"/>
            <p:nvPr/>
          </p:nvSpPr>
          <p:spPr>
            <a:xfrm>
              <a:off x="753999" y="4078129"/>
              <a:ext cx="119514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Tekil model</a:t>
              </a:r>
            </a:p>
          </p:txBody>
        </p:sp>
        <p:sp>
          <p:nvSpPr>
            <p:cNvPr id="42" name="TextBox 42"/>
            <p:cNvSpPr txBox="1"/>
            <p:nvPr/>
          </p:nvSpPr>
          <p:spPr>
            <a:xfrm>
              <a:off x="3137154" y="4118610"/>
              <a:ext cx="1010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t>
              </a:r>
            </a:p>
          </p:txBody>
        </p:sp>
        <p:sp>
          <p:nvSpPr>
            <p:cNvPr id="43" name="TextBox 43"/>
            <p:cNvSpPr txBox="1"/>
            <p:nvPr/>
          </p:nvSpPr>
          <p:spPr>
            <a:xfrm>
              <a:off x="5518404" y="4118610"/>
              <a:ext cx="10108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Basitlik, hız</a:t>
              </a:r>
            </a:p>
          </p:txBody>
        </p:sp>
        <p:sp>
          <p:nvSpPr>
            <p:cNvPr id="44" name="TextBox 44"/>
            <p:cNvSpPr txBox="1"/>
            <p:nvPr/>
          </p:nvSpPr>
          <p:spPr>
            <a:xfrm>
              <a:off x="7899654" y="4118610"/>
              <a:ext cx="6880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 düşük</a:t>
              </a:r>
            </a:p>
          </p:txBody>
        </p:sp>
        <p:sp>
          <p:nvSpPr>
            <p:cNvPr id="45" name="TextBox 45"/>
            <p:cNvSpPr txBox="1"/>
            <p:nvPr/>
          </p:nvSpPr>
          <p:spPr>
            <a:xfrm>
              <a:off x="10090404" y="4118610"/>
              <a:ext cx="7768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En yüksek</a:t>
              </a:r>
            </a:p>
          </p:txBody>
        </p:sp>
      </p:grpSp>
      <p:grpSp>
        <p:nvGrpSpPr>
          <p:cNvPr id="50" name="mistake-note"/>
          <p:cNvGrpSpPr/>
          <p:nvPr/>
        </p:nvGrpSpPr>
        <p:grpSpPr>
          <a:xfrm>
            <a:off x="609600" y="4953000"/>
            <a:ext cx="10972800" cy="952500"/>
            <a:chOff x="609600" y="4953000"/>
            <a:chExt cx="10972800" cy="952500"/>
          </a:xfrm>
        </p:grpSpPr>
        <p:sp>
          <p:nvSpPr>
            <p:cNvPr id="47" name="Rectangle 47"/>
            <p:cNvSpPr/>
            <p:nvPr/>
          </p:nvSpPr>
          <p:spPr>
            <a:xfrm>
              <a:off x="609600" y="4953000"/>
              <a:ext cx="10972800" cy="952500"/>
            </a:xfrm>
            <a:prstGeom prst="roundRect">
              <a:avLst>
                <a:gd name="adj" fmla="val 8000"/>
              </a:avLst>
            </a:prstGeom>
            <a:solidFill>
              <a:srgbClr val="EAF4F6"/>
            </a:solidFill>
            <a:ln>
              <a:noFill/>
            </a:ln>
          </p:spPr>
        </p:sp>
        <p:sp>
          <p:nvSpPr>
            <p:cNvPr id="48" name="TextBox 48"/>
            <p:cNvSpPr txBox="1"/>
            <p:nvPr/>
          </p:nvSpPr>
          <p:spPr>
            <a:xfrm>
              <a:off x="905256" y="5101590"/>
              <a:ext cx="81301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Sık hata: yüksek korelasyonlu temel modeller çeşitlilik sağlamaz.</a:t>
              </a:r>
            </a:p>
          </p:txBody>
        </p:sp>
        <p:sp>
          <p:nvSpPr>
            <p:cNvPr id="49" name="TextBox 49"/>
            <p:cNvSpPr txBox="1"/>
            <p:nvPr/>
          </p:nvSpPr>
          <p:spPr>
            <a:xfrm>
              <a:off x="906399" y="5430679"/>
              <a:ext cx="1044514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Bagging ile boosting farklı problemleri (varyans / yanlılık) hedefler; birbirinin yerine kullanılamaz.</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130745" cy="557403"/>
            <a:chOff x="595122" y="282892"/>
            <a:chExt cx="4130745" cy="557403"/>
          </a:xfrm>
        </p:grpSpPr>
        <p:sp>
          <p:nvSpPr>
            <p:cNvPr id="4" name="TextBox 4"/>
            <p:cNvSpPr txBox="1"/>
            <p:nvPr/>
          </p:nvSpPr>
          <p:spPr>
            <a:xfrm>
              <a:off x="595122" y="282892"/>
              <a:ext cx="413074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Bootstrap örnekleme</a:t>
              </a:r>
            </a:p>
          </p:txBody>
        </p:sp>
      </p:grpSp>
      <p:grpSp>
        <p:nvGrpSpPr>
          <p:cNvPr id="11" name="definition-block"/>
          <p:cNvGrpSpPr/>
          <p:nvPr/>
        </p:nvGrpSpPr>
        <p:grpSpPr>
          <a:xfrm>
            <a:off x="600456" y="1329690"/>
            <a:ext cx="3889883" cy="2680716"/>
            <a:chOff x="600456" y="1329690"/>
            <a:chExt cx="3889883" cy="2680716"/>
          </a:xfrm>
        </p:grpSpPr>
        <p:sp>
          <p:nvSpPr>
            <p:cNvPr id="6" name="TextBox 6"/>
            <p:cNvSpPr txBox="1"/>
            <p:nvPr/>
          </p:nvSpPr>
          <p:spPr>
            <a:xfrm>
              <a:off x="600456" y="13296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7" name="TextBox 7"/>
            <p:cNvSpPr txBox="1"/>
            <p:nvPr/>
          </p:nvSpPr>
          <p:spPr>
            <a:xfrm>
              <a:off x="601599" y="1658779"/>
              <a:ext cx="3888740"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Orijinal veri setinden yerine koyarak</a:t>
              </a:r>
              <a:br/>
              <a:r>
                <a:rPr lang="tr-TR" sz="1580" dirty="0">
                  <a:solidFill>
                    <a:srgbClr val="172B3A"/>
                  </a:solidFill>
                  <a:latin typeface="+mn-lt"/>
                  <a:ea typeface="+mn-ea"/>
                  <a:cs typeface="+mn-cs"/>
                </a:rPr>
                <a:t>(with replacement) rastgele örnekleme</a:t>
              </a:r>
              <a:br/>
              <a:r>
                <a:rPr lang="tr-TR" sz="1580" dirty="0">
                  <a:solidFill>
                    <a:srgbClr val="172B3A"/>
                  </a:solidFill>
                  <a:latin typeface="+mn-lt"/>
                  <a:ea typeface="+mn-ea"/>
                  <a:cs typeface="+mn-cs"/>
                </a:rPr>
                <a:t>yapıp, orijinaliyle aynı boyutta yeni bir</a:t>
              </a:r>
              <a:br/>
              <a:r>
                <a:rPr lang="tr-TR" sz="1580" dirty="0">
                  <a:solidFill>
                    <a:srgbClr val="172B3A"/>
                  </a:solidFill>
                  <a:latin typeface="+mn-lt"/>
                  <a:ea typeface="+mn-ea"/>
                  <a:cs typeface="+mn-cs"/>
                </a:rPr>
                <a:t>veri kümesi üretme tekniğidir.</a:t>
              </a:r>
            </a:p>
          </p:txBody>
        </p:sp>
        <p:sp>
          <p:nvSpPr>
            <p:cNvPr id="8" name="Rectangle 8"/>
            <p:cNvSpPr/>
            <p:nvPr/>
          </p:nvSpPr>
          <p:spPr>
            <a:xfrm>
              <a:off x="609600" y="3009900"/>
              <a:ext cx="57150" cy="762000"/>
            </a:xfrm>
            <a:prstGeom prst="rect">
              <a:avLst/>
            </a:prstGeom>
            <a:solidFill>
              <a:srgbClr val="00A6A6"/>
            </a:solidFill>
            <a:ln>
              <a:noFill/>
            </a:ln>
          </p:spPr>
        </p:sp>
        <p:sp>
          <p:nvSpPr>
            <p:cNvPr id="9" name="TextBox 9"/>
            <p:cNvSpPr txBox="1"/>
            <p:nvPr/>
          </p:nvSpPr>
          <p:spPr>
            <a:xfrm>
              <a:off x="849249" y="3068479"/>
              <a:ext cx="11968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a:t>
              </a:r>
            </a:p>
          </p:txBody>
        </p:sp>
        <p:sp>
          <p:nvSpPr>
            <p:cNvPr id="10" name="TextBox 10"/>
            <p:cNvSpPr txBox="1"/>
            <p:nvPr/>
          </p:nvSpPr>
          <p:spPr>
            <a:xfrm>
              <a:off x="851154" y="3356610"/>
              <a:ext cx="29077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Bagging'in çalışması için aynı veriden</a:t>
              </a:r>
              <a:br/>
              <a:r>
                <a:rPr lang="tr-TR" sz="1200" dirty="0">
                  <a:solidFill>
                    <a:srgbClr val="52616B"/>
                  </a:solidFill>
                  <a:latin typeface="+mn-lt"/>
                  <a:ea typeface="+mn-ea"/>
                  <a:cs typeface="+mn-cs"/>
                </a:rPr>
                <a:t>"farklı ama temsil gücü yüksek" eğitim</a:t>
              </a:r>
              <a:br/>
              <a:r>
                <a:rPr lang="tr-TR" sz="1200" dirty="0">
                  <a:solidFill>
                    <a:srgbClr val="52616B"/>
                  </a:solidFill>
                  <a:latin typeface="+mn-lt"/>
                  <a:ea typeface="+mn-ea"/>
                  <a:cs typeface="+mn-cs"/>
                </a:rPr>
                <a:t>kümeleri üretmek gerekir.</a:t>
              </a:r>
            </a:p>
          </p:txBody>
        </p:sp>
      </p:grpSp>
      <p:grpSp>
        <p:nvGrpSpPr>
          <p:cNvPr id="15" name="analogy-card"/>
          <p:cNvGrpSpPr/>
          <p:nvPr/>
        </p:nvGrpSpPr>
        <p:grpSpPr>
          <a:xfrm>
            <a:off x="6781800" y="1257300"/>
            <a:ext cx="4800600" cy="1905000"/>
            <a:chOff x="6781800" y="1257300"/>
            <a:chExt cx="4800600" cy="1905000"/>
          </a:xfrm>
        </p:grpSpPr>
        <p:sp>
          <p:nvSpPr>
            <p:cNvPr id="12" name="Rectangle 12"/>
            <p:cNvSpPr/>
            <p:nvPr/>
          </p:nvSpPr>
          <p:spPr>
            <a:xfrm>
              <a:off x="6781800" y="1257300"/>
              <a:ext cx="4800600" cy="1905000"/>
            </a:xfrm>
            <a:prstGeom prst="roundRect">
              <a:avLst>
                <a:gd name="adj" fmla="val 5000"/>
              </a:avLst>
            </a:prstGeom>
            <a:solidFill>
              <a:srgbClr val="EAF4F6"/>
            </a:solidFill>
            <a:ln w="14288">
              <a:solidFill>
                <a:srgbClr val="00A6A6"/>
              </a:solidFill>
            </a:ln>
          </p:spPr>
        </p:sp>
        <p:sp>
          <p:nvSpPr>
            <p:cNvPr id="13" name="TextBox 13"/>
            <p:cNvSpPr txBox="1"/>
            <p:nvPr/>
          </p:nvSpPr>
          <p:spPr>
            <a:xfrm>
              <a:off x="7040499" y="1468279"/>
              <a:ext cx="192150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Torba benzetmesi</a:t>
              </a:r>
            </a:p>
          </p:txBody>
        </p:sp>
        <p:sp>
          <p:nvSpPr>
            <p:cNvPr id="14" name="TextBox 14"/>
            <p:cNvSpPr txBox="1"/>
            <p:nvPr/>
          </p:nvSpPr>
          <p:spPr>
            <a:xfrm>
              <a:off x="7042404" y="1813560"/>
              <a:ext cx="3364992" cy="9204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100 farklı renkte top olan bir torbadan</a:t>
              </a:r>
              <a:br/>
              <a:r>
                <a:rPr lang="tr-TR" sz="1200" dirty="0">
                  <a:solidFill>
                    <a:srgbClr val="172B3A"/>
                  </a:solidFill>
                  <a:latin typeface="+mn-lt"/>
                  <a:ea typeface="+mn-ea"/>
                  <a:cs typeface="+mn-cs"/>
                </a:rPr>
                <a:t>her çektiğiniz topu not edip tekrar torbaya</a:t>
              </a:r>
              <a:br/>
              <a:r>
                <a:rPr lang="tr-TR" sz="1200" dirty="0">
                  <a:solidFill>
                    <a:srgbClr val="172B3A"/>
                  </a:solidFill>
                  <a:latin typeface="+mn-lt"/>
                  <a:ea typeface="+mn-ea"/>
                  <a:cs typeface="+mn-cs"/>
                </a:rPr>
                <a:t>attığınızda, 100 çekiliş sonunda bazı toplar</a:t>
              </a:r>
              <a:br/>
              <a:r>
                <a:rPr lang="tr-TR" sz="1200" dirty="0">
                  <a:solidFill>
                    <a:srgbClr val="172B3A"/>
                  </a:solidFill>
                  <a:latin typeface="+mn-lt"/>
                  <a:ea typeface="+mn-ea"/>
                  <a:cs typeface="+mn-cs"/>
                </a:rPr>
                <a:t>hiç çıkmamış, bazıları 2-3 kez çıkmış olur.</a:t>
              </a:r>
            </a:p>
          </p:txBody>
        </p:sp>
      </p:grpSp>
      <p:grpSp>
        <p:nvGrpSpPr>
          <p:cNvPr id="21" name="oob-math-card"/>
          <p:cNvGrpSpPr/>
          <p:nvPr/>
        </p:nvGrpSpPr>
        <p:grpSpPr>
          <a:xfrm>
            <a:off x="6781800" y="3390900"/>
            <a:ext cx="4800600" cy="2228850"/>
            <a:chOff x="6781800" y="3390900"/>
            <a:chExt cx="4800600" cy="2228850"/>
          </a:xfrm>
        </p:grpSpPr>
        <p:sp>
          <p:nvSpPr>
            <p:cNvPr id="16" name="Rectangle 16"/>
            <p:cNvSpPr/>
            <p:nvPr/>
          </p:nvSpPr>
          <p:spPr>
            <a:xfrm>
              <a:off x="6781800" y="3390900"/>
              <a:ext cx="4800600" cy="2228850"/>
            </a:xfrm>
            <a:prstGeom prst="roundRect">
              <a:avLst>
                <a:gd name="adj" fmla="val 4274"/>
              </a:avLst>
            </a:prstGeom>
            <a:solidFill>
              <a:srgbClr val="12355B"/>
            </a:solidFill>
            <a:ln>
              <a:noFill/>
            </a:ln>
          </p:spPr>
        </p:sp>
        <p:sp>
          <p:nvSpPr>
            <p:cNvPr id="17" name="TextBox 17"/>
            <p:cNvSpPr txBox="1"/>
            <p:nvPr/>
          </p:nvSpPr>
          <p:spPr>
            <a:xfrm>
              <a:off x="7042404" y="3642360"/>
              <a:ext cx="2211934" cy="234696"/>
            </a:xfrm>
            <a:prstGeom prst="rect">
              <a:avLst/>
            </a:prstGeom>
            <a:noFill/>
            <a:ln>
              <a:noFill/>
            </a:ln>
          </p:spPr>
          <p:txBody>
            <a:bodyPr wrap="none" lIns="0" tIns="0" rIns="0" bIns="0" anchor="t" anchorCtr="0">
              <a:spAutoFit/>
            </a:bodyPr>
            <a:lstStyle/>
            <a:p>
              <a:pPr algn="l"/>
              <a:r>
                <a:rPr lang="tr-TR" sz="1200" b="1" spc="150" dirty="0">
                  <a:solidFill>
                    <a:srgbClr val="00A6A6"/>
                  </a:solidFill>
                  <a:latin typeface="+mn-lt"/>
                  <a:ea typeface="+mn-ea"/>
                  <a:cs typeface="+mn-cs"/>
                </a:rPr>
                <a:t>MATEMATİKSEL SONUÇ</a:t>
              </a:r>
            </a:p>
          </p:txBody>
        </p:sp>
        <p:sp>
          <p:nvSpPr>
            <p:cNvPr id="18" name="TextBox 18"/>
            <p:cNvSpPr txBox="1"/>
            <p:nvPr/>
          </p:nvSpPr>
          <p:spPr>
            <a:xfrm>
              <a:off x="7039356" y="3958590"/>
              <a:ext cx="3685282"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P(hiç seçilmez) → 1/e ≈ %36.8</a:t>
              </a:r>
            </a:p>
          </p:txBody>
        </p:sp>
        <p:sp>
          <p:nvSpPr>
            <p:cNvPr id="19" name="TextBox 19"/>
            <p:cNvSpPr txBox="1"/>
            <p:nvPr/>
          </p:nvSpPr>
          <p:spPr>
            <a:xfrm>
              <a:off x="7042404" y="4347210"/>
              <a:ext cx="30525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EAF4F6"/>
                  </a:solidFill>
                  <a:latin typeface="+mn-lt"/>
                  <a:ea typeface="+mn-ea"/>
                  <a:cs typeface="+mn-cs"/>
                </a:rPr>
                <a:t>n gözlemli veriden n boyutunda bootstrap</a:t>
              </a:r>
              <a:br/>
              <a:r>
                <a:rPr lang="tr-TR" sz="1200" dirty="0">
                  <a:solidFill>
                    <a:srgbClr val="EAF4F6"/>
                  </a:solidFill>
                  <a:latin typeface="+mn-lt"/>
                  <a:ea typeface="+mn-ea"/>
                  <a:cs typeface="+mn-cs"/>
                </a:rPr>
                <a:t>örneği çekildiğinde, bir gözlemin hiç</a:t>
              </a:r>
              <a:br/>
              <a:r>
                <a:rPr lang="tr-TR" sz="1200" dirty="0">
                  <a:solidFill>
                    <a:srgbClr val="EAF4F6"/>
                  </a:solidFill>
                  <a:latin typeface="+mn-lt"/>
                  <a:ea typeface="+mn-ea"/>
                  <a:cs typeface="+mn-cs"/>
                </a:rPr>
                <a:t>seçilmeme olasılığı yaklaşık %36.8'dir.</a:t>
              </a:r>
            </a:p>
          </p:txBody>
        </p:sp>
        <p:sp>
          <p:nvSpPr>
            <p:cNvPr id="20" name="TextBox 20"/>
            <p:cNvSpPr txBox="1"/>
            <p:nvPr/>
          </p:nvSpPr>
          <p:spPr>
            <a:xfrm>
              <a:off x="7042404" y="5166360"/>
              <a:ext cx="33802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00A6A6"/>
                  </a:solidFill>
                  <a:latin typeface="+mn-lt"/>
                  <a:ea typeface="+mn-ea"/>
                  <a:cs typeface="+mn-cs"/>
                </a:rPr>
                <a:t>Bu "dışarıda kalan" kısım, ilerleyen bölümde</a:t>
              </a:r>
              <a:br/>
              <a:r>
                <a:rPr lang="tr-TR" sz="1200" dirty="0">
                  <a:solidFill>
                    <a:srgbClr val="00A6A6"/>
                  </a:solidFill>
                  <a:latin typeface="+mn-lt"/>
                  <a:ea typeface="+mn-ea"/>
                  <a:cs typeface="+mn-cs"/>
                </a:rPr>
                <a:t>OOB skorunun temelini oluşturur.</a:t>
              </a:r>
            </a:p>
          </p:txBody>
        </p:sp>
      </p:grpSp>
      <p:grpSp>
        <p:nvGrpSpPr>
          <p:cNvPr id="23" name="footnote"/>
          <p:cNvGrpSpPr/>
          <p:nvPr/>
        </p:nvGrpSpPr>
        <p:grpSpPr>
          <a:xfrm>
            <a:off x="603504" y="5966460"/>
            <a:ext cx="8824498" cy="234696"/>
            <a:chOff x="603504" y="5966460"/>
            <a:chExt cx="8824498" cy="234696"/>
          </a:xfrm>
        </p:grpSpPr>
        <p:sp>
          <p:nvSpPr>
            <p:cNvPr id="22" name="TextBox 22"/>
            <p:cNvSpPr txBox="1"/>
            <p:nvPr/>
          </p:nvSpPr>
          <p:spPr>
            <a:xfrm>
              <a:off x="603504" y="5966460"/>
              <a:ext cx="88244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Kaynak: Bradley Efron, 1979 — istatistiksel tahmin belirsizliğini ölçmek için önerilen yeniden örnekleme yöntemi.</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8" name="page-title"/>
          <p:cNvGrpSpPr/>
          <p:nvPr/>
        </p:nvGrpSpPr>
        <p:grpSpPr>
          <a:xfrm>
            <a:off x="609600" y="171450"/>
            <a:ext cx="10241272" cy="668845"/>
            <a:chOff x="609600" y="171450"/>
            <a:chExt cx="10241272" cy="668845"/>
          </a:xfrm>
        </p:grpSpPr>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955090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Uygulamada bootstrap: OOB oranını hesaplamak</a:t>
              </a:r>
            </a:p>
          </p:txBody>
        </p:sp>
      </p:grpSp>
      <p:grpSp>
        <p:nvGrpSpPr>
          <p:cNvPr id="29" name="code-card"/>
          <p:cNvGrpSpPr/>
          <p:nvPr/>
        </p:nvGrpSpPr>
        <p:grpSpPr>
          <a:xfrm>
            <a:off x="609600" y="1257300"/>
            <a:ext cx="5943600" cy="4191000"/>
            <a:chOff x="609600" y="1257300"/>
            <a:chExt cx="5943600" cy="4191000"/>
          </a:xfrm>
        </p:grpSpPr>
        <p:sp>
          <p:nvSpPr>
            <p:cNvPr id="19" name="Rectangle 19"/>
            <p:cNvSpPr/>
            <p:nvPr/>
          </p:nvSpPr>
          <p:spPr>
            <a:xfrm>
              <a:off x="609600" y="1257300"/>
              <a:ext cx="5943600" cy="4191000"/>
            </a:xfrm>
            <a:prstGeom prst="roundRect">
              <a:avLst>
                <a:gd name="adj" fmla="val 2273"/>
              </a:avLst>
            </a:prstGeom>
            <a:solidFill>
              <a:srgbClr val="12355B"/>
            </a:solidFill>
            <a:ln>
              <a:noFill/>
            </a:ln>
          </p:spPr>
        </p:sp>
        <p:sp>
          <p:nvSpPr>
            <p:cNvPr id="20" name="TextBox 20"/>
            <p:cNvSpPr txBox="1"/>
            <p:nvPr/>
          </p:nvSpPr>
          <p:spPr>
            <a:xfrm>
              <a:off x="851154" y="1451610"/>
              <a:ext cx="2480180" cy="234696"/>
            </a:xfrm>
            <a:prstGeom prst="rect">
              <a:avLst/>
            </a:prstGeom>
            <a:noFill/>
            <a:ln>
              <a:noFill/>
            </a:ln>
          </p:spPr>
          <p:txBody>
            <a:bodyPr wrap="none" lIns="0" tIns="0" rIns="0" bIns="0" anchor="t" anchorCtr="0">
              <a:spAutoFit/>
            </a:bodyPr>
            <a:lstStyle/>
            <a:p>
              <a:pPr algn="l"/>
              <a:r>
                <a:rPr lang="tr-TR" sz="1200" b="1" spc="150" dirty="0">
                  <a:solidFill>
                    <a:srgbClr val="00A6A6"/>
                  </a:solidFill>
                  <a:latin typeface="+mn-lt"/>
                  <a:ea typeface="+mn-ea"/>
                  <a:cs typeface="+mn-cs"/>
                </a:rPr>
                <a:t>bootstrap_ornekleme.py</a:t>
              </a:r>
            </a:p>
          </p:txBody>
        </p:sp>
        <p:sp>
          <p:nvSpPr>
            <p:cNvPr id="21" name="TextBox 21"/>
            <p:cNvSpPr txBox="1"/>
            <p:nvPr/>
          </p:nvSpPr>
          <p:spPr>
            <a:xfrm>
              <a:off x="851154" y="1813560"/>
              <a:ext cx="269179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musteriKimlikleri = np.arange(10)</a:t>
              </a:r>
            </a:p>
          </p:txBody>
        </p:sp>
        <p:sp>
          <p:nvSpPr>
            <p:cNvPr id="22" name="TextBox 22"/>
            <p:cNvSpPr txBox="1"/>
            <p:nvPr/>
          </p:nvSpPr>
          <p:spPr>
            <a:xfrm>
              <a:off x="851154" y="2099310"/>
              <a:ext cx="246535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bootstrapOrnegi = rng.choice(</a:t>
              </a:r>
            </a:p>
          </p:txBody>
        </p:sp>
        <p:sp>
          <p:nvSpPr>
            <p:cNvPr id="23" name="TextBox 23"/>
            <p:cNvSpPr txBox="1"/>
            <p:nvPr/>
          </p:nvSpPr>
          <p:spPr>
            <a:xfrm>
              <a:off x="851154" y="2327910"/>
              <a:ext cx="3327454"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musteriKimlikleri, size=10, replace=True)</a:t>
              </a:r>
            </a:p>
          </p:txBody>
        </p:sp>
        <p:sp>
          <p:nvSpPr>
            <p:cNvPr id="24" name="TextBox 24"/>
            <p:cNvSpPr txBox="1"/>
            <p:nvPr/>
          </p:nvSpPr>
          <p:spPr>
            <a:xfrm>
              <a:off x="851154" y="2689860"/>
              <a:ext cx="336473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tekrarSayaci = Counter(bootstrapOrnegi)</a:t>
              </a:r>
            </a:p>
          </p:txBody>
        </p:sp>
        <p:sp>
          <p:nvSpPr>
            <p:cNvPr id="25" name="TextBox 25"/>
            <p:cNvSpPr txBox="1"/>
            <p:nvPr/>
          </p:nvSpPr>
          <p:spPr>
            <a:xfrm>
              <a:off x="851154" y="3051810"/>
              <a:ext cx="2953512" cy="463296"/>
            </a:xfrm>
            <a:prstGeom prst="rect">
              <a:avLst/>
            </a:prstGeom>
            <a:noFill/>
            <a:ln>
              <a:noFill/>
            </a:ln>
          </p:spPr>
          <p:txBody>
            <a:bodyPr wrap="none" lIns="0" tIns="0" rIns="0" bIns="0" anchor="t" anchorCtr="0">
              <a:spAutoFit/>
            </a:bodyPr>
            <a:lstStyle/>
            <a:p>
              <a:pPr algn="l">
                <a:lnSpc>
                  <a:spcPts val="1800"/>
                </a:lnSpc>
              </a:pPr>
              <a:r>
                <a:rPr lang="tr-TR" sz="1200" dirty="0">
                  <a:solidFill>
                    <a:srgbClr val="EAF4F6"/>
                  </a:solidFill>
                  <a:latin typeface="+mn-lt"/>
                  <a:ea typeface="+mn-ea"/>
                  <a:cs typeface="+mn-cs"/>
                </a:rPr>
                <a:t>oobGozlemler = set(musteriKimlikleri) -</a:t>
              </a:r>
              <a:br/>
              <a:r>
                <a:rPr lang="tr-TR" sz="1200" dirty="0">
                  <a:solidFill>
                    <a:srgbClr val="EAF4F6"/>
                  </a:solidFill>
                  <a:latin typeface="+mn-lt"/>
                  <a:ea typeface="+mn-ea"/>
                  <a:cs typeface="+mn-cs"/>
                </a:rPr>
                <a:t>set(bootstrapOrnegi)</a:t>
              </a:r>
            </a:p>
          </p:txBody>
        </p:sp>
        <p:sp>
          <p:nvSpPr>
            <p:cNvPr id="26" name="TextBox 26"/>
            <p:cNvSpPr txBox="1"/>
            <p:nvPr/>
          </p:nvSpPr>
          <p:spPr>
            <a:xfrm>
              <a:off x="851154" y="3642360"/>
              <a:ext cx="3105912" cy="463296"/>
            </a:xfrm>
            <a:prstGeom prst="rect">
              <a:avLst/>
            </a:prstGeom>
            <a:noFill/>
            <a:ln>
              <a:noFill/>
            </a:ln>
          </p:spPr>
          <p:txBody>
            <a:bodyPr wrap="none" lIns="0" tIns="0" rIns="0" bIns="0" anchor="t" anchorCtr="0">
              <a:spAutoFit/>
            </a:bodyPr>
            <a:lstStyle/>
            <a:p>
              <a:pPr algn="l">
                <a:lnSpc>
                  <a:spcPts val="1800"/>
                </a:lnSpc>
              </a:pPr>
              <a:r>
                <a:rPr lang="tr-TR" sz="1200" dirty="0">
                  <a:solidFill>
                    <a:srgbClr val="EAF4F6"/>
                  </a:solidFill>
                  <a:latin typeface="+mn-lt"/>
                  <a:ea typeface="+mn-ea"/>
                  <a:cs typeface="+mn-cs"/>
                </a:rPr>
                <a:t>print(f"OOB oranı: {len(oobGozlemler) /</a:t>
              </a:r>
              <a:br/>
              <a:r>
                <a:rPr lang="tr-TR" sz="1200" dirty="0">
                  <a:solidFill>
                    <a:srgbClr val="EAF4F6"/>
                  </a:solidFill>
                  <a:latin typeface="+mn-lt"/>
                  <a:ea typeface="+mn-ea"/>
                  <a:cs typeface="+mn-cs"/>
                </a:rPr>
                <a:t>len(musteriKimlikleri):.1%}")</a:t>
              </a:r>
            </a:p>
          </p:txBody>
        </p:sp>
        <p:sp>
          <p:nvSpPr>
            <p:cNvPr id="27" name="TextBox 27"/>
            <p:cNvSpPr txBox="1"/>
            <p:nvPr/>
          </p:nvSpPr>
          <p:spPr>
            <a:xfrm>
              <a:off x="851154" y="4347210"/>
              <a:ext cx="29992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replace=True olmadan bootstrap örneği,</a:t>
              </a:r>
              <a:br/>
              <a:r>
                <a:rPr lang="tr-TR" sz="1200" dirty="0">
                  <a:solidFill>
                    <a:srgbClr val="52616B"/>
                  </a:solidFill>
                  <a:latin typeface="+mn-lt"/>
                  <a:ea typeface="+mn-ea"/>
                  <a:cs typeface="+mn-cs"/>
                </a:rPr>
                <a:t>sıradan bir alt küme haline döner.</a:t>
              </a:r>
            </a:p>
          </p:txBody>
        </p:sp>
        <p:sp>
          <p:nvSpPr>
            <p:cNvPr id="28" name="TextBox 28"/>
            <p:cNvSpPr txBox="1"/>
            <p:nvPr/>
          </p:nvSpPr>
          <p:spPr>
            <a:xfrm>
              <a:off x="851154" y="4975860"/>
              <a:ext cx="32125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Küme farkı (set çıkarma), OOB gözlemleri</a:t>
              </a:r>
              <a:br/>
              <a:r>
                <a:rPr lang="tr-TR" sz="1200" dirty="0">
                  <a:solidFill>
                    <a:srgbClr val="52616B"/>
                  </a:solidFill>
                  <a:latin typeface="+mn-lt"/>
                  <a:ea typeface="+mn-ea"/>
                  <a:cs typeface="+mn-cs"/>
                </a:rPr>
                <a:t>tek satırda hesaplar.</a:t>
              </a:r>
            </a:p>
          </p:txBody>
        </p:sp>
      </p:grpSp>
      <p:grpSp>
        <p:nvGrpSpPr>
          <p:cNvPr id="38" name="output-card"/>
          <p:cNvGrpSpPr/>
          <p:nvPr/>
        </p:nvGrpSpPr>
        <p:grpSpPr>
          <a:xfrm>
            <a:off x="6781800" y="1257300"/>
            <a:ext cx="4800600" cy="2905506"/>
            <a:chOff x="6781800" y="1257300"/>
            <a:chExt cx="4800600" cy="2905506"/>
          </a:xfrm>
        </p:grpSpPr>
        <p:sp>
          <p:nvSpPr>
            <p:cNvPr id="30" name="Rectangle 30"/>
            <p:cNvSpPr/>
            <p:nvPr/>
          </p:nvSpPr>
          <p:spPr>
            <a:xfrm>
              <a:off x="6781800" y="1257300"/>
              <a:ext cx="4800600" cy="2857500"/>
            </a:xfrm>
            <a:prstGeom prst="roundRect">
              <a:avLst>
                <a:gd name="adj" fmla="val 3333"/>
              </a:avLst>
            </a:prstGeom>
            <a:solidFill>
              <a:srgbClr val="FFFFFF"/>
            </a:solidFill>
            <a:ln w="14288">
              <a:solidFill>
                <a:srgbClr val="B8CBD3"/>
              </a:solidFill>
            </a:ln>
          </p:spPr>
        </p:sp>
        <p:sp>
          <p:nvSpPr>
            <p:cNvPr id="31" name="TextBox 31"/>
            <p:cNvSpPr txBox="1"/>
            <p:nvPr/>
          </p:nvSpPr>
          <p:spPr>
            <a:xfrm>
              <a:off x="7042404" y="1470660"/>
              <a:ext cx="500786" cy="234696"/>
            </a:xfrm>
            <a:prstGeom prst="rect">
              <a:avLst/>
            </a:prstGeom>
            <a:noFill/>
            <a:ln>
              <a:noFill/>
            </a:ln>
          </p:spPr>
          <p:txBody>
            <a:bodyPr wrap="none" lIns="0" tIns="0" rIns="0" bIns="0" anchor="t" anchorCtr="0">
              <a:spAutoFit/>
            </a:bodyPr>
            <a:lstStyle/>
            <a:p>
              <a:pPr algn="l"/>
              <a:r>
                <a:rPr lang="tr-TR" sz="1200" b="1" spc="150" dirty="0">
                  <a:solidFill>
                    <a:srgbClr val="52616B"/>
                  </a:solidFill>
                  <a:latin typeface="+mn-lt"/>
                  <a:ea typeface="+mn-ea"/>
                  <a:cs typeface="+mn-cs"/>
                </a:rPr>
                <a:t>ÇIKTI</a:t>
              </a:r>
            </a:p>
          </p:txBody>
        </p:sp>
        <p:sp>
          <p:nvSpPr>
            <p:cNvPr id="32" name="TextBox 32"/>
            <p:cNvSpPr txBox="1"/>
            <p:nvPr/>
          </p:nvSpPr>
          <p:spPr>
            <a:xfrm>
              <a:off x="7042404" y="1775460"/>
              <a:ext cx="260908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Orijinal veri: [0 1 2 3 4 5 6 7 8 9]</a:t>
              </a:r>
            </a:p>
          </p:txBody>
        </p:sp>
        <p:sp>
          <p:nvSpPr>
            <p:cNvPr id="33" name="TextBox 33"/>
            <p:cNvSpPr txBox="1"/>
            <p:nvPr/>
          </p:nvSpPr>
          <p:spPr>
            <a:xfrm>
              <a:off x="7042404" y="2042160"/>
              <a:ext cx="30039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Bootstrap örneği: [0 7 6 4 4 8 0 6 2 0]</a:t>
              </a:r>
            </a:p>
          </p:txBody>
        </p:sp>
        <p:sp>
          <p:nvSpPr>
            <p:cNvPr id="34" name="TextBox 34"/>
            <p:cNvSpPr txBox="1"/>
            <p:nvPr/>
          </p:nvSpPr>
          <p:spPr>
            <a:xfrm>
              <a:off x="7042404" y="2308860"/>
              <a:ext cx="38805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Tekrar sayıları: {0:3, 2:1, 4:2, 6:2, 7:1, 8:1}</a:t>
              </a:r>
            </a:p>
          </p:txBody>
        </p:sp>
        <p:sp>
          <p:nvSpPr>
            <p:cNvPr id="35" name="TextBox 35"/>
            <p:cNvSpPr txBox="1"/>
            <p:nvPr/>
          </p:nvSpPr>
          <p:spPr>
            <a:xfrm>
              <a:off x="7040499" y="2611279"/>
              <a:ext cx="39319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OOB (dışarıda kalan): [1, 3, 5, 9]</a:t>
              </a:r>
            </a:p>
          </p:txBody>
        </p:sp>
        <p:sp>
          <p:nvSpPr>
            <p:cNvPr id="36" name="TextBox 36"/>
            <p:cNvSpPr txBox="1"/>
            <p:nvPr/>
          </p:nvSpPr>
          <p:spPr>
            <a:xfrm>
              <a:off x="7037070" y="2900362"/>
              <a:ext cx="2913496" cy="440055"/>
            </a:xfrm>
            <a:prstGeom prst="rect">
              <a:avLst/>
            </a:prstGeom>
            <a:noFill/>
            <a:ln>
              <a:noFill/>
            </a:ln>
          </p:spPr>
          <p:txBody>
            <a:bodyPr wrap="none" lIns="0" tIns="0" rIns="0" bIns="0" anchor="t" anchorCtr="0">
              <a:spAutoFit/>
            </a:bodyPr>
            <a:lstStyle/>
            <a:p>
              <a:pPr algn="l"/>
              <a:r>
                <a:rPr lang="tr-TR" sz="2250" b="1" dirty="0">
                  <a:solidFill>
                    <a:srgbClr val="00A6A6"/>
                  </a:solidFill>
                  <a:latin typeface="+mn-lt"/>
                  <a:ea typeface="+mn-ea"/>
                  <a:cs typeface="+mn-cs"/>
                </a:rPr>
                <a:t>OOB oranı: %40.0</a:t>
              </a:r>
            </a:p>
          </p:txBody>
        </p:sp>
        <p:sp>
          <p:nvSpPr>
            <p:cNvPr id="37" name="TextBox 37"/>
            <p:cNvSpPr txBox="1"/>
            <p:nvPr/>
          </p:nvSpPr>
          <p:spPr>
            <a:xfrm>
              <a:off x="7042404" y="3718560"/>
              <a:ext cx="28620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0 numaralı müşteri üç kez, 1 numaralı</a:t>
              </a:r>
              <a:br/>
              <a:r>
                <a:rPr lang="tr-TR" sz="1200" dirty="0">
                  <a:solidFill>
                    <a:srgbClr val="52616B"/>
                  </a:solidFill>
                  <a:latin typeface="+mn-lt"/>
                  <a:ea typeface="+mn-ea"/>
                  <a:cs typeface="+mn-cs"/>
                </a:rPr>
                <a:t>müşteri hiç seçilmemiştir.</a:t>
              </a:r>
            </a:p>
          </p:txBody>
        </p:sp>
      </p:grpSp>
      <p:grpSp>
        <p:nvGrpSpPr>
          <p:cNvPr id="42" name="oob-usage-note"/>
          <p:cNvGrpSpPr/>
          <p:nvPr/>
        </p:nvGrpSpPr>
        <p:grpSpPr>
          <a:xfrm>
            <a:off x="6781800" y="4343400"/>
            <a:ext cx="4800600" cy="1104900"/>
            <a:chOff x="6781800" y="4343400"/>
            <a:chExt cx="4800600" cy="1104900"/>
          </a:xfrm>
        </p:grpSpPr>
        <p:sp>
          <p:nvSpPr>
            <p:cNvPr id="39" name="Rectangle 39"/>
            <p:cNvSpPr/>
            <p:nvPr/>
          </p:nvSpPr>
          <p:spPr>
            <a:xfrm>
              <a:off x="6781800" y="4343400"/>
              <a:ext cx="4800600" cy="1104900"/>
            </a:xfrm>
            <a:prstGeom prst="roundRect">
              <a:avLst>
                <a:gd name="adj" fmla="val 6897"/>
              </a:avLst>
            </a:prstGeom>
            <a:solidFill>
              <a:srgbClr val="EAF4F6"/>
            </a:solidFill>
            <a:ln>
              <a:noFill/>
            </a:ln>
          </p:spPr>
        </p:sp>
        <p:sp>
          <p:nvSpPr>
            <p:cNvPr id="40" name="TextBox 40"/>
            <p:cNvSpPr txBox="1"/>
            <p:nvPr/>
          </p:nvSpPr>
          <p:spPr>
            <a:xfrm>
              <a:off x="7041261" y="4532471"/>
              <a:ext cx="266104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"Bedava" doğrulama kümesi</a:t>
              </a:r>
            </a:p>
          </p:txBody>
        </p:sp>
        <p:sp>
          <p:nvSpPr>
            <p:cNvPr id="41" name="TextBox 41"/>
            <p:cNvSpPr txBox="1"/>
            <p:nvPr/>
          </p:nvSpPr>
          <p:spPr>
            <a:xfrm>
              <a:off x="7042404" y="4823460"/>
              <a:ext cx="37536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OOB gözlemler eğitimde hiç kullanılmadığından,</a:t>
              </a:r>
              <a:br/>
              <a:r>
                <a:rPr lang="tr-TR" sz="1200" dirty="0">
                  <a:solidFill>
                    <a:srgbClr val="52616B"/>
                  </a:solidFill>
                  <a:latin typeface="+mn-lt"/>
                  <a:ea typeface="+mn-ea"/>
                  <a:cs typeface="+mn-cs"/>
                </a:rPr>
                <a:t>modelin performansını test etmek için kullanılır.</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535369" cy="557403"/>
            <a:chOff x="595122" y="282892"/>
            <a:chExt cx="6535369" cy="557403"/>
          </a:xfrm>
        </p:grpSpPr>
        <p:sp>
          <p:nvSpPr>
            <p:cNvPr id="4" name="TextBox 4"/>
            <p:cNvSpPr txBox="1"/>
            <p:nvPr/>
          </p:nvSpPr>
          <p:spPr>
            <a:xfrm>
              <a:off x="595122" y="282892"/>
              <a:ext cx="653536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Bagging (Bootstrap Aggregating)</a:t>
              </a:r>
            </a:p>
          </p:txBody>
        </p:sp>
      </p:grpSp>
      <p:grpSp>
        <p:nvGrpSpPr>
          <p:cNvPr id="11" name="definition-block"/>
          <p:cNvGrpSpPr/>
          <p:nvPr/>
        </p:nvGrpSpPr>
        <p:grpSpPr>
          <a:xfrm>
            <a:off x="600456" y="1329690"/>
            <a:ext cx="3849751" cy="2918460"/>
            <a:chOff x="600456" y="1329690"/>
            <a:chExt cx="3849751" cy="2918460"/>
          </a:xfrm>
        </p:grpSpPr>
        <p:sp>
          <p:nvSpPr>
            <p:cNvPr id="6" name="TextBox 6"/>
            <p:cNvSpPr txBox="1"/>
            <p:nvPr/>
          </p:nvSpPr>
          <p:spPr>
            <a:xfrm>
              <a:off x="600456" y="13296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7" name="TextBox 7"/>
            <p:cNvSpPr txBox="1"/>
            <p:nvPr/>
          </p:nvSpPr>
          <p:spPr>
            <a:xfrm>
              <a:off x="601599" y="1658779"/>
              <a:ext cx="3848608" cy="13748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Aynı algoritmanın (genellikle karar</a:t>
              </a:r>
              <a:br/>
              <a:r>
                <a:rPr lang="tr-TR" sz="1580" dirty="0">
                  <a:solidFill>
                    <a:srgbClr val="172B3A"/>
                  </a:solidFill>
                  <a:latin typeface="+mn-lt"/>
                  <a:ea typeface="+mn-ea"/>
                  <a:cs typeface="+mn-cs"/>
                </a:rPr>
                <a:t>ağacı) birden çok bootstrap örneği</a:t>
              </a:r>
              <a:br/>
              <a:r>
                <a:rPr lang="tr-TR" sz="1580" dirty="0">
                  <a:solidFill>
                    <a:srgbClr val="172B3A"/>
                  </a:solidFill>
                  <a:latin typeface="+mn-lt"/>
                  <a:ea typeface="+mn-ea"/>
                  <a:cs typeface="+mn-cs"/>
                </a:rPr>
                <a:t>üzerinde bağımsız eğitilip, tahminlerin</a:t>
              </a:r>
              <a:br/>
              <a:r>
                <a:rPr lang="tr-TR" sz="1580" dirty="0">
                  <a:solidFill>
                    <a:srgbClr val="172B3A"/>
                  </a:solidFill>
                  <a:latin typeface="+mn-lt"/>
                  <a:ea typeface="+mn-ea"/>
                  <a:cs typeface="+mn-cs"/>
                </a:rPr>
                <a:t>oylama / ortalama ile birleştirildiği</a:t>
              </a:r>
              <a:br/>
              <a:r>
                <a:rPr lang="tr-TR" sz="1580" dirty="0">
                  <a:solidFill>
                    <a:srgbClr val="172B3A"/>
                  </a:solidFill>
                  <a:latin typeface="+mn-lt"/>
                  <a:ea typeface="+mn-ea"/>
                  <a:cs typeface="+mn-cs"/>
                </a:rPr>
                <a:t>bir topluluk öğrenmesi yöntemidir.</a:t>
              </a:r>
            </a:p>
          </p:txBody>
        </p:sp>
        <p:sp>
          <p:nvSpPr>
            <p:cNvPr id="8" name="Rectangle 8"/>
            <p:cNvSpPr/>
            <p:nvPr/>
          </p:nvSpPr>
          <p:spPr>
            <a:xfrm>
              <a:off x="609600" y="3429000"/>
              <a:ext cx="57150" cy="819150"/>
            </a:xfrm>
            <a:prstGeom prst="rect">
              <a:avLst/>
            </a:prstGeom>
            <a:solidFill>
              <a:srgbClr val="00A6A6"/>
            </a:solidFill>
            <a:ln>
              <a:noFill/>
            </a:ln>
          </p:spPr>
        </p:sp>
        <p:sp>
          <p:nvSpPr>
            <p:cNvPr id="9" name="TextBox 9"/>
            <p:cNvSpPr txBox="1"/>
            <p:nvPr/>
          </p:nvSpPr>
          <p:spPr>
            <a:xfrm>
              <a:off x="849249" y="3487579"/>
              <a:ext cx="167587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İsmin iki adımı</a:t>
              </a:r>
            </a:p>
          </p:txBody>
        </p:sp>
        <p:sp>
          <p:nvSpPr>
            <p:cNvPr id="10" name="TextBox 10"/>
            <p:cNvSpPr txBox="1"/>
            <p:nvPr/>
          </p:nvSpPr>
          <p:spPr>
            <a:xfrm>
              <a:off x="851154" y="3775710"/>
              <a:ext cx="26182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"Bootstrap" (yeniden örnekleme) +</a:t>
              </a:r>
              <a:br/>
              <a:r>
                <a:rPr lang="tr-TR" sz="1200" dirty="0">
                  <a:solidFill>
                    <a:srgbClr val="52616B"/>
                  </a:solidFill>
                  <a:latin typeface="+mn-lt"/>
                  <a:ea typeface="+mn-ea"/>
                  <a:cs typeface="+mn-cs"/>
                </a:rPr>
                <a:t>"Aggregating" (toplulaştırma).</a:t>
              </a:r>
            </a:p>
          </p:txBody>
        </p:sp>
      </p:grpSp>
      <p:grpSp>
        <p:nvGrpSpPr>
          <p:cNvPr id="20" name="formula-card"/>
          <p:cNvGrpSpPr/>
          <p:nvPr/>
        </p:nvGrpSpPr>
        <p:grpSpPr>
          <a:xfrm>
            <a:off x="6781800" y="1257300"/>
            <a:ext cx="4800600" cy="2857500"/>
            <a:chOff x="6781800" y="1257300"/>
            <a:chExt cx="4800600" cy="2857500"/>
          </a:xfrm>
        </p:grpSpPr>
        <p:sp>
          <p:nvSpPr>
            <p:cNvPr id="12" name="Rectangle 12"/>
            <p:cNvSpPr/>
            <p:nvPr/>
          </p:nvSpPr>
          <p:spPr>
            <a:xfrm>
              <a:off x="6781800" y="1257300"/>
              <a:ext cx="4800600" cy="2857500"/>
            </a:xfrm>
            <a:prstGeom prst="roundRect">
              <a:avLst>
                <a:gd name="adj" fmla="val 3333"/>
              </a:avLst>
            </a:prstGeom>
            <a:solidFill>
              <a:srgbClr val="12355B"/>
            </a:solidFill>
            <a:ln>
              <a:noFill/>
            </a:ln>
          </p:spPr>
        </p:sp>
        <p:sp>
          <p:nvSpPr>
            <p:cNvPr id="13" name="TextBox 13"/>
            <p:cNvSpPr txBox="1"/>
            <p:nvPr/>
          </p:nvSpPr>
          <p:spPr>
            <a:xfrm>
              <a:off x="7042404" y="1470660"/>
              <a:ext cx="1420795" cy="234696"/>
            </a:xfrm>
            <a:prstGeom prst="rect">
              <a:avLst/>
            </a:prstGeom>
            <a:noFill/>
            <a:ln>
              <a:noFill/>
            </a:ln>
          </p:spPr>
          <p:txBody>
            <a:bodyPr wrap="none" lIns="0" tIns="0" rIns="0" bIns="0" anchor="t" anchorCtr="0">
              <a:spAutoFit/>
            </a:bodyPr>
            <a:lstStyle/>
            <a:p>
              <a:pPr algn="l"/>
              <a:r>
                <a:rPr lang="tr-TR" sz="1200" b="1" spc="150" dirty="0">
                  <a:solidFill>
                    <a:srgbClr val="00A6A6"/>
                  </a:solidFill>
                  <a:latin typeface="+mn-lt"/>
                  <a:ea typeface="+mn-ea"/>
                  <a:cs typeface="+mn-cs"/>
                </a:rPr>
                <a:t>NİHAİ TAHMİN</a:t>
              </a:r>
            </a:p>
          </p:txBody>
        </p:sp>
        <p:sp>
          <p:nvSpPr>
            <p:cNvPr id="14" name="TextBox 14"/>
            <p:cNvSpPr txBox="1"/>
            <p:nvPr/>
          </p:nvSpPr>
          <p:spPr>
            <a:xfrm>
              <a:off x="7040499" y="1849279"/>
              <a:ext cx="2413639"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Regresyon (ortalama)</a:t>
              </a:r>
            </a:p>
          </p:txBody>
        </p:sp>
        <p:sp>
          <p:nvSpPr>
            <p:cNvPr id="15" name="TextBox 15"/>
            <p:cNvSpPr txBox="1"/>
            <p:nvPr/>
          </p:nvSpPr>
          <p:spPr>
            <a:xfrm>
              <a:off x="7038594" y="2151698"/>
              <a:ext cx="2315082" cy="381381"/>
            </a:xfrm>
            <a:prstGeom prst="rect">
              <a:avLst/>
            </a:prstGeom>
            <a:noFill/>
            <a:ln>
              <a:noFill/>
            </a:ln>
          </p:spPr>
          <p:txBody>
            <a:bodyPr wrap="none" lIns="0" tIns="0" rIns="0" bIns="0" anchor="t" anchorCtr="0">
              <a:spAutoFit/>
            </a:bodyPr>
            <a:lstStyle/>
            <a:p>
              <a:pPr algn="l"/>
              <a:r>
                <a:rPr lang="el-GR" sz="1950" dirty="0">
                  <a:solidFill>
                    <a:srgbClr val="FFFFFF"/>
                  </a:solidFill>
                  <a:latin typeface="+mn-lt"/>
                  <a:ea typeface="+mn-ea"/>
                  <a:cs typeface="+mn-cs"/>
                </a:rPr>
                <a:t>ŷ = (1/M) Σ fₘ(x)</a:t>
              </a:r>
            </a:p>
          </p:txBody>
        </p:sp>
        <p:sp>
          <p:nvSpPr>
            <p:cNvPr id="16" name="Line 16"/>
            <p:cNvSpPr/>
            <p:nvPr/>
          </p:nvSpPr>
          <p:spPr>
            <a:xfrm>
              <a:off x="7048500" y="2628900"/>
              <a:ext cx="4267200" cy="9525"/>
            </a:xfrm>
            <a:custGeom>
              <a:avLst/>
              <a:gdLst/>
              <a:ahLst/>
              <a:cxnLst/>
              <a:rect l="l" t="t" r="r" b="b"/>
              <a:pathLst>
                <a:path w="4267200" h="9525">
                  <a:moveTo>
                    <a:pt x="0" y="0"/>
                  </a:moveTo>
                  <a:lnTo>
                    <a:pt x="4267200" y="0"/>
                  </a:lnTo>
                </a:path>
              </a:pathLst>
            </a:custGeom>
            <a:noFill/>
            <a:ln w="9525">
              <a:solidFill>
                <a:srgbClr val="2E86AB"/>
              </a:solidFill>
            </a:ln>
          </p:spPr>
        </p:sp>
        <p:sp>
          <p:nvSpPr>
            <p:cNvPr id="17" name="TextBox 17"/>
            <p:cNvSpPr txBox="1"/>
            <p:nvPr/>
          </p:nvSpPr>
          <p:spPr>
            <a:xfrm>
              <a:off x="7040499" y="2801779"/>
              <a:ext cx="2848799"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Sınıflandırma (çoğunluk)</a:t>
              </a:r>
            </a:p>
          </p:txBody>
        </p:sp>
        <p:sp>
          <p:nvSpPr>
            <p:cNvPr id="18" name="TextBox 18"/>
            <p:cNvSpPr txBox="1"/>
            <p:nvPr/>
          </p:nvSpPr>
          <p:spPr>
            <a:xfrm>
              <a:off x="7038594" y="3104198"/>
              <a:ext cx="3493516" cy="381381"/>
            </a:xfrm>
            <a:prstGeom prst="rect">
              <a:avLst/>
            </a:prstGeom>
            <a:noFill/>
            <a:ln>
              <a:noFill/>
            </a:ln>
          </p:spPr>
          <p:txBody>
            <a:bodyPr wrap="none" lIns="0" tIns="0" rIns="0" bIns="0" anchor="t" anchorCtr="0">
              <a:spAutoFit/>
            </a:bodyPr>
            <a:lstStyle/>
            <a:p>
              <a:pPr algn="l"/>
              <a:r>
                <a:rPr lang="tr-TR" sz="1950" dirty="0">
                  <a:solidFill>
                    <a:srgbClr val="FFFFFF"/>
                  </a:solidFill>
                  <a:latin typeface="+mn-lt"/>
                  <a:ea typeface="+mn-ea"/>
                  <a:cs typeface="+mn-cs"/>
                </a:rPr>
                <a:t>ŷ = mod{f₁(x), …, f_M(x)}</a:t>
              </a:r>
            </a:p>
          </p:txBody>
        </p:sp>
        <p:sp>
          <p:nvSpPr>
            <p:cNvPr id="19" name="TextBox 19"/>
            <p:cNvSpPr txBox="1"/>
            <p:nvPr/>
          </p:nvSpPr>
          <p:spPr>
            <a:xfrm>
              <a:off x="7042404" y="3642360"/>
              <a:ext cx="25496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EAF4F6"/>
                  </a:solidFill>
                  <a:latin typeface="+mn-lt"/>
                  <a:ea typeface="+mn-ea"/>
                  <a:cs typeface="+mn-cs"/>
                </a:rPr>
                <a:t>M ağaç, her biri kendi bootstrap</a:t>
              </a:r>
              <a:br/>
              <a:r>
                <a:rPr lang="tr-TR" sz="1200" dirty="0">
                  <a:solidFill>
                    <a:srgbClr val="EAF4F6"/>
                  </a:solidFill>
                  <a:latin typeface="+mn-lt"/>
                  <a:ea typeface="+mn-ea"/>
                  <a:cs typeface="+mn-cs"/>
                </a:rPr>
                <a:t>örneği üzerinde bağımsız eğitilir.</a:t>
              </a:r>
            </a:p>
          </p:txBody>
        </p:sp>
      </p:grpSp>
      <p:grpSp>
        <p:nvGrpSpPr>
          <p:cNvPr id="25" name="mechanism-strip"/>
          <p:cNvGrpSpPr/>
          <p:nvPr/>
        </p:nvGrpSpPr>
        <p:grpSpPr>
          <a:xfrm>
            <a:off x="609600" y="4762500"/>
            <a:ext cx="10972800" cy="1238250"/>
            <a:chOff x="609600" y="4762500"/>
            <a:chExt cx="10972800" cy="1238250"/>
          </a:xfrm>
        </p:grpSpPr>
        <p:sp>
          <p:nvSpPr>
            <p:cNvPr id="21" name="Rectangle 21"/>
            <p:cNvSpPr/>
            <p:nvPr/>
          </p:nvSpPr>
          <p:spPr>
            <a:xfrm>
              <a:off x="609600" y="4762500"/>
              <a:ext cx="10972800" cy="1238250"/>
            </a:xfrm>
            <a:prstGeom prst="roundRect">
              <a:avLst>
                <a:gd name="adj" fmla="val 6154"/>
              </a:avLst>
            </a:prstGeom>
            <a:solidFill>
              <a:srgbClr val="EAF4F6"/>
            </a:solidFill>
            <a:ln>
              <a:noFill/>
            </a:ln>
          </p:spPr>
        </p:sp>
        <p:sp>
          <p:nvSpPr>
            <p:cNvPr id="22" name="TextBox 22"/>
            <p:cNvSpPr txBox="1"/>
            <p:nvPr/>
          </p:nvSpPr>
          <p:spPr>
            <a:xfrm>
              <a:off x="905256" y="4911090"/>
              <a:ext cx="97969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Bağımsız n tahmincinin ortalamasının varyansı, tekil tahmincinin 1/n'ine iner</a:t>
              </a:r>
            </a:p>
          </p:txBody>
        </p:sp>
        <p:sp>
          <p:nvSpPr>
            <p:cNvPr id="23" name="TextBox 23"/>
            <p:cNvSpPr txBox="1"/>
            <p:nvPr/>
          </p:nvSpPr>
          <p:spPr>
            <a:xfrm>
              <a:off x="906399" y="5240179"/>
              <a:ext cx="766964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(tam bağımsızlıkta). Pratikte ağaçlar aynı veriden türediği için azaltım</a:t>
              </a:r>
            </a:p>
          </p:txBody>
        </p:sp>
        <p:sp>
          <p:nvSpPr>
            <p:cNvPr id="24" name="TextBox 24"/>
            <p:cNvSpPr txBox="1"/>
            <p:nvPr/>
          </p:nvSpPr>
          <p:spPr>
            <a:xfrm>
              <a:off x="906399" y="5506879"/>
              <a:ext cx="676921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1/n kadar dramatik olmaz, ama yine de önemli bir iyileşme sağlar.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10396163" cy="557403"/>
            <a:chOff x="595122" y="282892"/>
            <a:chExt cx="10396163" cy="557403"/>
          </a:xfrm>
        </p:grpSpPr>
        <p:sp>
          <p:nvSpPr>
            <p:cNvPr id="4" name="TextBox 4"/>
            <p:cNvSpPr txBox="1"/>
            <p:nvPr/>
          </p:nvSpPr>
          <p:spPr>
            <a:xfrm>
              <a:off x="595122" y="282892"/>
              <a:ext cx="103961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Deney: bagging tek ağacın varyansını azaltıyor mu?</a:t>
              </a:r>
            </a:p>
          </p:txBody>
        </p:sp>
      </p:grpSp>
      <p:grpSp>
        <p:nvGrpSpPr>
          <p:cNvPr id="11" name="experiment-setup"/>
          <p:cNvGrpSpPr/>
          <p:nvPr/>
        </p:nvGrpSpPr>
        <p:grpSpPr>
          <a:xfrm>
            <a:off x="600456" y="1329690"/>
            <a:ext cx="3578860" cy="2632710"/>
            <a:chOff x="600456" y="1329690"/>
            <a:chExt cx="3578860" cy="2632710"/>
          </a:xfrm>
        </p:grpSpPr>
        <p:sp>
          <p:nvSpPr>
            <p:cNvPr id="6" name="TextBox 6"/>
            <p:cNvSpPr txBox="1"/>
            <p:nvPr/>
          </p:nvSpPr>
          <p:spPr>
            <a:xfrm>
              <a:off x="600456" y="1329690"/>
              <a:ext cx="197316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Deney tasarımı</a:t>
              </a:r>
            </a:p>
          </p:txBody>
        </p:sp>
        <p:sp>
          <p:nvSpPr>
            <p:cNvPr id="7" name="TextBox 7"/>
            <p:cNvSpPr txBox="1"/>
            <p:nvPr/>
          </p:nvSpPr>
          <p:spPr>
            <a:xfrm>
              <a:off x="601599" y="1696879"/>
              <a:ext cx="3577717"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500 gözlemlik sentetik churn benzeri</a:t>
              </a:r>
              <a:br/>
              <a:r>
                <a:rPr lang="tr-TR" sz="1580" dirty="0">
                  <a:solidFill>
                    <a:srgbClr val="172B3A"/>
                  </a:solidFill>
                  <a:latin typeface="+mn-lt"/>
                  <a:ea typeface="+mn-ea"/>
                  <a:cs typeface="+mn-cs"/>
                </a:rPr>
                <a:t>veri, 10 farklı random_state ile</a:t>
              </a:r>
              <a:br/>
              <a:r>
                <a:rPr lang="tr-TR" sz="1580" dirty="0">
                  <a:solidFill>
                    <a:srgbClr val="172B3A"/>
                  </a:solidFill>
                  <a:latin typeface="+mn-lt"/>
                  <a:ea typeface="+mn-ea"/>
                  <a:cs typeface="+mn-cs"/>
                </a:rPr>
                <a:t>bölünüp her defasında tek ağaç ve</a:t>
              </a:r>
              <a:br/>
              <a:r>
                <a:rPr lang="tr-TR" sz="1580" dirty="0">
                  <a:solidFill>
                    <a:srgbClr val="172B3A"/>
                  </a:solidFill>
                  <a:latin typeface="+mn-lt"/>
                  <a:ea typeface="+mn-ea"/>
                  <a:cs typeface="+mn-cs"/>
                </a:rPr>
                <a:t>50 ağaçlık bagging eğitiliyor.</a:t>
              </a:r>
            </a:p>
          </p:txBody>
        </p:sp>
        <p:sp>
          <p:nvSpPr>
            <p:cNvPr id="8" name="Rectangle 8"/>
            <p:cNvSpPr/>
            <p:nvPr/>
          </p:nvSpPr>
          <p:spPr>
            <a:xfrm>
              <a:off x="609600" y="3143250"/>
              <a:ext cx="57150" cy="819150"/>
            </a:xfrm>
            <a:prstGeom prst="rect">
              <a:avLst/>
            </a:prstGeom>
            <a:solidFill>
              <a:srgbClr val="00A6A6"/>
            </a:solidFill>
            <a:ln>
              <a:noFill/>
            </a:ln>
          </p:spPr>
        </p:sp>
        <p:sp>
          <p:nvSpPr>
            <p:cNvPr id="9" name="TextBox 9"/>
            <p:cNvSpPr txBox="1"/>
            <p:nvPr/>
          </p:nvSpPr>
          <p:spPr>
            <a:xfrm>
              <a:off x="849249" y="3201829"/>
              <a:ext cx="24804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Ölçüt: standart sapma</a:t>
              </a:r>
            </a:p>
          </p:txBody>
        </p:sp>
        <p:sp>
          <p:nvSpPr>
            <p:cNvPr id="10" name="TextBox 10"/>
            <p:cNvSpPr txBox="1"/>
            <p:nvPr/>
          </p:nvSpPr>
          <p:spPr>
            <a:xfrm>
              <a:off x="851154" y="3489960"/>
              <a:ext cx="26258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10 doğruluk değerinin std sapması,</a:t>
              </a:r>
              <a:br/>
              <a:r>
                <a:rPr lang="tr-TR" sz="1200" dirty="0">
                  <a:solidFill>
                    <a:srgbClr val="52616B"/>
                  </a:solidFill>
                  <a:latin typeface="+mn-lt"/>
                  <a:ea typeface="+mn-ea"/>
                  <a:cs typeface="+mn-cs"/>
                </a:rPr>
                <a:t>kararlılığın somut göstergesidir.</a:t>
              </a:r>
            </a:p>
          </p:txBody>
        </p:sp>
      </p:grpSp>
      <p:grpSp>
        <p:nvGrpSpPr>
          <p:cNvPr id="20" name="stats-cards"/>
          <p:cNvGrpSpPr/>
          <p:nvPr/>
        </p:nvGrpSpPr>
        <p:grpSpPr>
          <a:xfrm>
            <a:off x="609600" y="4476750"/>
            <a:ext cx="5943600" cy="1428750"/>
            <a:chOff x="609600" y="4476750"/>
            <a:chExt cx="5943600" cy="1428750"/>
          </a:xfrm>
        </p:grpSpPr>
        <p:sp>
          <p:nvSpPr>
            <p:cNvPr id="12" name="Rectangle 12"/>
            <p:cNvSpPr/>
            <p:nvPr/>
          </p:nvSpPr>
          <p:spPr>
            <a:xfrm>
              <a:off x="609600" y="4476750"/>
              <a:ext cx="2743200" cy="1428750"/>
            </a:xfrm>
            <a:prstGeom prst="roundRect">
              <a:avLst>
                <a:gd name="adj" fmla="val 6667"/>
              </a:avLst>
            </a:prstGeom>
            <a:solidFill>
              <a:srgbClr val="FFFFFF"/>
            </a:solidFill>
            <a:ln w="14288">
              <a:solidFill>
                <a:srgbClr val="B8CBD3"/>
              </a:solidFill>
            </a:ln>
          </p:spPr>
        </p:sp>
        <p:sp>
          <p:nvSpPr>
            <p:cNvPr id="13" name="TextBox 13"/>
            <p:cNvSpPr txBox="1"/>
            <p:nvPr/>
          </p:nvSpPr>
          <p:spPr>
            <a:xfrm>
              <a:off x="830199" y="4649629"/>
              <a:ext cx="95033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Tek ağaç</a:t>
              </a:r>
            </a:p>
          </p:txBody>
        </p:sp>
        <p:sp>
          <p:nvSpPr>
            <p:cNvPr id="14" name="TextBox 14"/>
            <p:cNvSpPr txBox="1"/>
            <p:nvPr/>
          </p:nvSpPr>
          <p:spPr>
            <a:xfrm>
              <a:off x="828294" y="4932998"/>
              <a:ext cx="777807" cy="381381"/>
            </a:xfrm>
            <a:prstGeom prst="rect">
              <a:avLst/>
            </a:prstGeom>
            <a:noFill/>
            <a:ln>
              <a:noFill/>
            </a:ln>
          </p:spPr>
          <p:txBody>
            <a:bodyPr wrap="none" lIns="0" tIns="0" rIns="0" bIns="0" anchor="t" anchorCtr="0">
              <a:spAutoFit/>
            </a:bodyPr>
            <a:lstStyle/>
            <a:p>
              <a:pPr algn="l"/>
              <a:r>
                <a:rPr lang="tr-TR" sz="1950" b="1" dirty="0">
                  <a:solidFill>
                    <a:srgbClr val="52616B"/>
                  </a:solidFill>
                  <a:latin typeface="+mn-lt"/>
                  <a:ea typeface="+mn-ea"/>
                  <a:cs typeface="+mn-cs"/>
                </a:rPr>
                <a:t>0.749</a:t>
              </a:r>
            </a:p>
          </p:txBody>
        </p:sp>
        <p:sp>
          <p:nvSpPr>
            <p:cNvPr id="15" name="TextBox 15"/>
            <p:cNvSpPr txBox="1"/>
            <p:nvPr/>
          </p:nvSpPr>
          <p:spPr>
            <a:xfrm>
              <a:off x="832104" y="5261610"/>
              <a:ext cx="138531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std sapma: 0.033</a:t>
              </a:r>
            </a:p>
          </p:txBody>
        </p:sp>
        <p:sp>
          <p:nvSpPr>
            <p:cNvPr id="16" name="Rectangle 16"/>
            <p:cNvSpPr/>
            <p:nvPr/>
          </p:nvSpPr>
          <p:spPr>
            <a:xfrm>
              <a:off x="3810000" y="4476750"/>
              <a:ext cx="2743200" cy="1428750"/>
            </a:xfrm>
            <a:prstGeom prst="roundRect">
              <a:avLst>
                <a:gd name="adj" fmla="val 6667"/>
              </a:avLst>
            </a:prstGeom>
            <a:solidFill>
              <a:srgbClr val="FFFFFF"/>
            </a:solidFill>
            <a:ln w="14288">
              <a:solidFill>
                <a:srgbClr val="00A6A6"/>
              </a:solidFill>
            </a:ln>
          </p:spPr>
        </p:sp>
        <p:sp>
          <p:nvSpPr>
            <p:cNvPr id="17" name="TextBox 17"/>
            <p:cNvSpPr txBox="1"/>
            <p:nvPr/>
          </p:nvSpPr>
          <p:spPr>
            <a:xfrm>
              <a:off x="4030599" y="4649629"/>
              <a:ext cx="138935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Bagging (50)</a:t>
              </a:r>
            </a:p>
          </p:txBody>
        </p:sp>
        <p:sp>
          <p:nvSpPr>
            <p:cNvPr id="18" name="TextBox 18"/>
            <p:cNvSpPr txBox="1"/>
            <p:nvPr/>
          </p:nvSpPr>
          <p:spPr>
            <a:xfrm>
              <a:off x="4028694" y="4932998"/>
              <a:ext cx="777807" cy="381381"/>
            </a:xfrm>
            <a:prstGeom prst="rect">
              <a:avLst/>
            </a:prstGeom>
            <a:noFill/>
            <a:ln>
              <a:noFill/>
            </a:ln>
          </p:spPr>
          <p:txBody>
            <a:bodyPr wrap="none" lIns="0" tIns="0" rIns="0" bIns="0" anchor="t" anchorCtr="0">
              <a:spAutoFit/>
            </a:bodyPr>
            <a:lstStyle/>
            <a:p>
              <a:pPr algn="l"/>
              <a:r>
                <a:rPr lang="tr-TR" sz="1950" b="1" dirty="0">
                  <a:solidFill>
                    <a:srgbClr val="00A6A6"/>
                  </a:solidFill>
                  <a:latin typeface="+mn-lt"/>
                  <a:ea typeface="+mn-ea"/>
                  <a:cs typeface="+mn-cs"/>
                </a:rPr>
                <a:t>0.835</a:t>
              </a:r>
            </a:p>
          </p:txBody>
        </p:sp>
        <p:sp>
          <p:nvSpPr>
            <p:cNvPr id="19" name="TextBox 19"/>
            <p:cNvSpPr txBox="1"/>
            <p:nvPr/>
          </p:nvSpPr>
          <p:spPr>
            <a:xfrm>
              <a:off x="4032504" y="5261610"/>
              <a:ext cx="138531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std sapma: 0.028</a:t>
              </a:r>
            </a:p>
          </p:txBody>
        </p:sp>
      </p:grpSp>
      <p:grpSp>
        <p:nvGrpSpPr>
          <p:cNvPr id="48" name="dot-chart"/>
          <p:cNvGrpSpPr/>
          <p:nvPr/>
        </p:nvGrpSpPr>
        <p:grpSpPr>
          <a:xfrm>
            <a:off x="6774561" y="1546860"/>
            <a:ext cx="4273982" cy="2863596"/>
            <a:chOff x="6774561" y="1546860"/>
            <a:chExt cx="4273982" cy="2863596"/>
          </a:xfrm>
        </p:grpSpPr>
        <p:sp>
          <p:nvSpPr>
            <p:cNvPr id="21" name="TextBox 21"/>
            <p:cNvSpPr txBox="1"/>
            <p:nvPr/>
          </p:nvSpPr>
          <p:spPr>
            <a:xfrm>
              <a:off x="6775704" y="1546860"/>
              <a:ext cx="3117433" cy="234696"/>
            </a:xfrm>
            <a:prstGeom prst="rect">
              <a:avLst/>
            </a:prstGeom>
            <a:noFill/>
            <a:ln>
              <a:noFill/>
            </a:ln>
          </p:spPr>
          <p:txBody>
            <a:bodyPr wrap="none" lIns="0" tIns="0" rIns="0" bIns="0" anchor="t" anchorCtr="0">
              <a:spAutoFit/>
            </a:bodyPr>
            <a:lstStyle/>
            <a:p>
              <a:pPr algn="l"/>
              <a:r>
                <a:rPr lang="tr-TR" sz="1200" b="1" spc="75" dirty="0">
                  <a:solidFill>
                    <a:srgbClr val="52616B"/>
                  </a:solidFill>
                  <a:latin typeface="+mn-lt"/>
                  <a:ea typeface="+mn-ea"/>
                  <a:cs typeface="+mn-cs"/>
                </a:rPr>
                <a:t>10 BÖLÜNMEDE DOĞRULUK DAĞILIMI</a:t>
              </a:r>
            </a:p>
          </p:txBody>
        </p:sp>
        <p:sp>
          <p:nvSpPr>
            <p:cNvPr id="22" name="TextBox 22"/>
            <p:cNvSpPr txBox="1"/>
            <p:nvPr/>
          </p:nvSpPr>
          <p:spPr>
            <a:xfrm>
              <a:off x="6774561" y="2589371"/>
              <a:ext cx="81420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Tek ağaç</a:t>
              </a:r>
            </a:p>
          </p:txBody>
        </p:sp>
        <p:sp>
          <p:nvSpPr>
            <p:cNvPr id="23" name="Ellipse 23"/>
            <p:cNvSpPr/>
            <p:nvPr/>
          </p:nvSpPr>
          <p:spPr>
            <a:xfrm>
              <a:off x="7848600" y="2800350"/>
              <a:ext cx="114300" cy="114300"/>
            </a:xfrm>
            <a:prstGeom prst="ellipse">
              <a:avLst/>
            </a:prstGeom>
            <a:solidFill>
              <a:srgbClr val="52616B"/>
            </a:solidFill>
            <a:ln>
              <a:noFill/>
            </a:ln>
          </p:spPr>
        </p:sp>
        <p:sp>
          <p:nvSpPr>
            <p:cNvPr id="24" name="Ellipse 24"/>
            <p:cNvSpPr/>
            <p:nvPr/>
          </p:nvSpPr>
          <p:spPr>
            <a:xfrm>
              <a:off x="8153400" y="2800350"/>
              <a:ext cx="114300" cy="114300"/>
            </a:xfrm>
            <a:prstGeom prst="ellipse">
              <a:avLst/>
            </a:prstGeom>
            <a:solidFill>
              <a:srgbClr val="52616B"/>
            </a:solidFill>
            <a:ln>
              <a:noFill/>
            </a:ln>
          </p:spPr>
        </p:sp>
        <p:sp>
          <p:nvSpPr>
            <p:cNvPr id="25" name="Ellipse 25"/>
            <p:cNvSpPr/>
            <p:nvPr/>
          </p:nvSpPr>
          <p:spPr>
            <a:xfrm>
              <a:off x="8610600" y="2800350"/>
              <a:ext cx="114300" cy="114300"/>
            </a:xfrm>
            <a:prstGeom prst="ellipse">
              <a:avLst/>
            </a:prstGeom>
            <a:solidFill>
              <a:srgbClr val="52616B"/>
            </a:solidFill>
            <a:ln>
              <a:noFill/>
            </a:ln>
          </p:spPr>
        </p:sp>
        <p:sp>
          <p:nvSpPr>
            <p:cNvPr id="26" name="Ellipse 26"/>
            <p:cNvSpPr/>
            <p:nvPr/>
          </p:nvSpPr>
          <p:spPr>
            <a:xfrm>
              <a:off x="9067800" y="2800350"/>
              <a:ext cx="114300" cy="114300"/>
            </a:xfrm>
            <a:prstGeom prst="ellipse">
              <a:avLst/>
            </a:prstGeom>
            <a:solidFill>
              <a:srgbClr val="52616B"/>
            </a:solidFill>
            <a:ln>
              <a:noFill/>
            </a:ln>
          </p:spPr>
        </p:sp>
        <p:sp>
          <p:nvSpPr>
            <p:cNvPr id="27" name="Ellipse 27"/>
            <p:cNvSpPr/>
            <p:nvPr/>
          </p:nvSpPr>
          <p:spPr>
            <a:xfrm>
              <a:off x="8305800" y="2800350"/>
              <a:ext cx="114300" cy="114300"/>
            </a:xfrm>
            <a:prstGeom prst="ellipse">
              <a:avLst/>
            </a:prstGeom>
            <a:solidFill>
              <a:srgbClr val="52616B"/>
            </a:solidFill>
            <a:ln>
              <a:noFill/>
            </a:ln>
          </p:spPr>
        </p:sp>
        <p:sp>
          <p:nvSpPr>
            <p:cNvPr id="28" name="Ellipse 28"/>
            <p:cNvSpPr/>
            <p:nvPr/>
          </p:nvSpPr>
          <p:spPr>
            <a:xfrm>
              <a:off x="8763000" y="2800350"/>
              <a:ext cx="114300" cy="114300"/>
            </a:xfrm>
            <a:prstGeom prst="ellipse">
              <a:avLst/>
            </a:prstGeom>
            <a:solidFill>
              <a:srgbClr val="52616B"/>
            </a:solidFill>
            <a:ln>
              <a:noFill/>
            </a:ln>
          </p:spPr>
        </p:sp>
        <p:sp>
          <p:nvSpPr>
            <p:cNvPr id="29" name="Ellipse 29"/>
            <p:cNvSpPr/>
            <p:nvPr/>
          </p:nvSpPr>
          <p:spPr>
            <a:xfrm>
              <a:off x="9372600" y="2800350"/>
              <a:ext cx="114300" cy="114300"/>
            </a:xfrm>
            <a:prstGeom prst="ellipse">
              <a:avLst/>
            </a:prstGeom>
            <a:solidFill>
              <a:srgbClr val="52616B"/>
            </a:solidFill>
            <a:ln>
              <a:noFill/>
            </a:ln>
          </p:spPr>
        </p:sp>
        <p:sp>
          <p:nvSpPr>
            <p:cNvPr id="30" name="Ellipse 30"/>
            <p:cNvSpPr/>
            <p:nvPr/>
          </p:nvSpPr>
          <p:spPr>
            <a:xfrm>
              <a:off x="8001000" y="2800350"/>
              <a:ext cx="114300" cy="114300"/>
            </a:xfrm>
            <a:prstGeom prst="ellipse">
              <a:avLst/>
            </a:prstGeom>
            <a:solidFill>
              <a:srgbClr val="52616B"/>
            </a:solidFill>
            <a:ln>
              <a:noFill/>
            </a:ln>
          </p:spPr>
        </p:sp>
        <p:sp>
          <p:nvSpPr>
            <p:cNvPr id="31" name="Ellipse 31"/>
            <p:cNvSpPr/>
            <p:nvPr/>
          </p:nvSpPr>
          <p:spPr>
            <a:xfrm>
              <a:off x="8915400" y="2800350"/>
              <a:ext cx="114300" cy="114300"/>
            </a:xfrm>
            <a:prstGeom prst="ellipse">
              <a:avLst/>
            </a:prstGeom>
            <a:solidFill>
              <a:srgbClr val="52616B"/>
            </a:solidFill>
            <a:ln>
              <a:noFill/>
            </a:ln>
          </p:spPr>
        </p:sp>
        <p:sp>
          <p:nvSpPr>
            <p:cNvPr id="32" name="Ellipse 32"/>
            <p:cNvSpPr/>
            <p:nvPr/>
          </p:nvSpPr>
          <p:spPr>
            <a:xfrm>
              <a:off x="8458200" y="2800350"/>
              <a:ext cx="114300" cy="114300"/>
            </a:xfrm>
            <a:prstGeom prst="ellipse">
              <a:avLst/>
            </a:prstGeom>
            <a:solidFill>
              <a:srgbClr val="52616B"/>
            </a:solidFill>
            <a:ln>
              <a:noFill/>
            </a:ln>
          </p:spPr>
        </p:sp>
        <p:sp>
          <p:nvSpPr>
            <p:cNvPr id="33" name="TextBox 33"/>
            <p:cNvSpPr txBox="1"/>
            <p:nvPr/>
          </p:nvSpPr>
          <p:spPr>
            <a:xfrm>
              <a:off x="6774561" y="3351371"/>
              <a:ext cx="708220"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Bagging</a:t>
              </a:r>
            </a:p>
          </p:txBody>
        </p:sp>
        <p:sp>
          <p:nvSpPr>
            <p:cNvPr id="34" name="Ellipse 34"/>
            <p:cNvSpPr/>
            <p:nvPr/>
          </p:nvSpPr>
          <p:spPr>
            <a:xfrm>
              <a:off x="9525000" y="3562350"/>
              <a:ext cx="114300" cy="114300"/>
            </a:xfrm>
            <a:prstGeom prst="ellipse">
              <a:avLst/>
            </a:prstGeom>
            <a:solidFill>
              <a:srgbClr val="00A6A6"/>
            </a:solidFill>
            <a:ln>
              <a:noFill/>
            </a:ln>
          </p:spPr>
        </p:sp>
        <p:sp>
          <p:nvSpPr>
            <p:cNvPr id="35" name="Ellipse 35"/>
            <p:cNvSpPr/>
            <p:nvPr/>
          </p:nvSpPr>
          <p:spPr>
            <a:xfrm>
              <a:off x="9829800" y="3562350"/>
              <a:ext cx="114300" cy="114300"/>
            </a:xfrm>
            <a:prstGeom prst="ellipse">
              <a:avLst/>
            </a:prstGeom>
            <a:solidFill>
              <a:srgbClr val="00A6A6"/>
            </a:solidFill>
            <a:ln>
              <a:noFill/>
            </a:ln>
          </p:spPr>
        </p:sp>
        <p:sp>
          <p:nvSpPr>
            <p:cNvPr id="36" name="Ellipse 36"/>
            <p:cNvSpPr/>
            <p:nvPr/>
          </p:nvSpPr>
          <p:spPr>
            <a:xfrm>
              <a:off x="9982200" y="3562350"/>
              <a:ext cx="114300" cy="114300"/>
            </a:xfrm>
            <a:prstGeom prst="ellipse">
              <a:avLst/>
            </a:prstGeom>
            <a:solidFill>
              <a:srgbClr val="00A6A6"/>
            </a:solidFill>
            <a:ln>
              <a:noFill/>
            </a:ln>
          </p:spPr>
        </p:sp>
        <p:sp>
          <p:nvSpPr>
            <p:cNvPr id="37" name="Ellipse 37"/>
            <p:cNvSpPr/>
            <p:nvPr/>
          </p:nvSpPr>
          <p:spPr>
            <a:xfrm>
              <a:off x="10287000" y="3562350"/>
              <a:ext cx="114300" cy="114300"/>
            </a:xfrm>
            <a:prstGeom prst="ellipse">
              <a:avLst/>
            </a:prstGeom>
            <a:solidFill>
              <a:srgbClr val="00A6A6"/>
            </a:solidFill>
            <a:ln>
              <a:noFill/>
            </a:ln>
          </p:spPr>
        </p:sp>
        <p:sp>
          <p:nvSpPr>
            <p:cNvPr id="38" name="Ellipse 38"/>
            <p:cNvSpPr/>
            <p:nvPr/>
          </p:nvSpPr>
          <p:spPr>
            <a:xfrm>
              <a:off x="9677400" y="3562350"/>
              <a:ext cx="114300" cy="114300"/>
            </a:xfrm>
            <a:prstGeom prst="ellipse">
              <a:avLst/>
            </a:prstGeom>
            <a:solidFill>
              <a:srgbClr val="00A6A6"/>
            </a:solidFill>
            <a:ln>
              <a:noFill/>
            </a:ln>
          </p:spPr>
        </p:sp>
        <p:sp>
          <p:nvSpPr>
            <p:cNvPr id="39" name="Ellipse 39"/>
            <p:cNvSpPr/>
            <p:nvPr/>
          </p:nvSpPr>
          <p:spPr>
            <a:xfrm>
              <a:off x="10134600" y="3562350"/>
              <a:ext cx="114300" cy="114300"/>
            </a:xfrm>
            <a:prstGeom prst="ellipse">
              <a:avLst/>
            </a:prstGeom>
            <a:solidFill>
              <a:srgbClr val="00A6A6"/>
            </a:solidFill>
            <a:ln>
              <a:noFill/>
            </a:ln>
          </p:spPr>
        </p:sp>
        <p:sp>
          <p:nvSpPr>
            <p:cNvPr id="40" name="Ellipse 40"/>
            <p:cNvSpPr/>
            <p:nvPr/>
          </p:nvSpPr>
          <p:spPr>
            <a:xfrm>
              <a:off x="10439400" y="3562350"/>
              <a:ext cx="114300" cy="114300"/>
            </a:xfrm>
            <a:prstGeom prst="ellipse">
              <a:avLst/>
            </a:prstGeom>
            <a:solidFill>
              <a:srgbClr val="00A6A6"/>
            </a:solidFill>
            <a:ln>
              <a:noFill/>
            </a:ln>
          </p:spPr>
        </p:sp>
        <p:sp>
          <p:nvSpPr>
            <p:cNvPr id="41" name="Ellipse 41"/>
            <p:cNvSpPr/>
            <p:nvPr/>
          </p:nvSpPr>
          <p:spPr>
            <a:xfrm>
              <a:off x="9372600" y="3562350"/>
              <a:ext cx="114300" cy="114300"/>
            </a:xfrm>
            <a:prstGeom prst="ellipse">
              <a:avLst/>
            </a:prstGeom>
            <a:solidFill>
              <a:srgbClr val="00A6A6"/>
            </a:solidFill>
            <a:ln>
              <a:noFill/>
            </a:ln>
          </p:spPr>
        </p:sp>
        <p:sp>
          <p:nvSpPr>
            <p:cNvPr id="42" name="Ellipse 42"/>
            <p:cNvSpPr/>
            <p:nvPr/>
          </p:nvSpPr>
          <p:spPr>
            <a:xfrm>
              <a:off x="9982200" y="3562350"/>
              <a:ext cx="114300" cy="114300"/>
            </a:xfrm>
            <a:prstGeom prst="ellipse">
              <a:avLst/>
            </a:prstGeom>
            <a:solidFill>
              <a:srgbClr val="00A6A6"/>
            </a:solidFill>
            <a:ln>
              <a:noFill/>
            </a:ln>
          </p:spPr>
        </p:sp>
        <p:sp>
          <p:nvSpPr>
            <p:cNvPr id="43" name="Ellipse 43"/>
            <p:cNvSpPr/>
            <p:nvPr/>
          </p:nvSpPr>
          <p:spPr>
            <a:xfrm>
              <a:off x="9829800" y="3562350"/>
              <a:ext cx="114300" cy="114300"/>
            </a:xfrm>
            <a:prstGeom prst="ellipse">
              <a:avLst/>
            </a:prstGeom>
            <a:solidFill>
              <a:srgbClr val="00A6A6"/>
            </a:solidFill>
            <a:ln>
              <a:noFill/>
            </a:ln>
          </p:spPr>
        </p:sp>
        <p:sp>
          <p:nvSpPr>
            <p:cNvPr id="44" name="Line 44"/>
            <p:cNvSpPr/>
            <p:nvPr/>
          </p:nvSpPr>
          <p:spPr>
            <a:xfrm>
              <a:off x="7143750" y="4095750"/>
              <a:ext cx="3810000" cy="9525"/>
            </a:xfrm>
            <a:custGeom>
              <a:avLst/>
              <a:gdLst/>
              <a:ahLst/>
              <a:cxnLst/>
              <a:rect l="l" t="t" r="r" b="b"/>
              <a:pathLst>
                <a:path w="3810000" h="9525">
                  <a:moveTo>
                    <a:pt x="0" y="0"/>
                  </a:moveTo>
                  <a:lnTo>
                    <a:pt x="3810000" y="0"/>
                  </a:lnTo>
                </a:path>
              </a:pathLst>
            </a:custGeom>
            <a:noFill/>
            <a:ln w="14288">
              <a:solidFill>
                <a:srgbClr val="B8CBD3"/>
              </a:solidFill>
            </a:ln>
          </p:spPr>
        </p:sp>
        <p:sp>
          <p:nvSpPr>
            <p:cNvPr id="45" name="TextBox 45"/>
            <p:cNvSpPr txBox="1"/>
            <p:nvPr/>
          </p:nvSpPr>
          <p:spPr>
            <a:xfrm>
              <a:off x="7137654" y="4175760"/>
              <a:ext cx="3675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0.65</a:t>
              </a:r>
            </a:p>
          </p:txBody>
        </p:sp>
        <p:sp>
          <p:nvSpPr>
            <p:cNvPr id="46" name="TextBox 46"/>
            <p:cNvSpPr txBox="1"/>
            <p:nvPr/>
          </p:nvSpPr>
          <p:spPr>
            <a:xfrm>
              <a:off x="8890254" y="4175760"/>
              <a:ext cx="3675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0.77</a:t>
              </a:r>
            </a:p>
          </p:txBody>
        </p:sp>
        <p:sp>
          <p:nvSpPr>
            <p:cNvPr id="47" name="TextBox 47"/>
            <p:cNvSpPr txBox="1"/>
            <p:nvPr/>
          </p:nvSpPr>
          <p:spPr>
            <a:xfrm>
              <a:off x="10680954" y="4175760"/>
              <a:ext cx="3675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0.90</a:t>
              </a:r>
            </a:p>
          </p:txBody>
        </p:sp>
      </p:grpSp>
      <p:grpSp>
        <p:nvGrpSpPr>
          <p:cNvPr id="52" name="finding-note"/>
          <p:cNvGrpSpPr/>
          <p:nvPr/>
        </p:nvGrpSpPr>
        <p:grpSpPr>
          <a:xfrm>
            <a:off x="6781800" y="4876800"/>
            <a:ext cx="4800600" cy="1028700"/>
            <a:chOff x="6781800" y="4876800"/>
            <a:chExt cx="4800600" cy="1028700"/>
          </a:xfrm>
        </p:grpSpPr>
        <p:sp>
          <p:nvSpPr>
            <p:cNvPr id="49" name="Rectangle 49"/>
            <p:cNvSpPr/>
            <p:nvPr/>
          </p:nvSpPr>
          <p:spPr>
            <a:xfrm>
              <a:off x="6781800" y="4876800"/>
              <a:ext cx="4800600" cy="1028700"/>
            </a:xfrm>
            <a:prstGeom prst="roundRect">
              <a:avLst>
                <a:gd name="adj" fmla="val 7407"/>
              </a:avLst>
            </a:prstGeom>
            <a:solidFill>
              <a:srgbClr val="EAF4F6"/>
            </a:solidFill>
            <a:ln>
              <a:noFill/>
            </a:ln>
          </p:spPr>
        </p:sp>
        <p:sp>
          <p:nvSpPr>
            <p:cNvPr id="50" name="TextBox 50"/>
            <p:cNvSpPr txBox="1"/>
            <p:nvPr/>
          </p:nvSpPr>
          <p:spPr>
            <a:xfrm>
              <a:off x="7041261" y="5046821"/>
              <a:ext cx="3744191"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Bagging noktaları daha sıkı kümelenir</a:t>
              </a:r>
            </a:p>
          </p:txBody>
        </p:sp>
        <p:sp>
          <p:nvSpPr>
            <p:cNvPr id="51" name="TextBox 51"/>
            <p:cNvSpPr txBox="1"/>
            <p:nvPr/>
          </p:nvSpPr>
          <p:spPr>
            <a:xfrm>
              <a:off x="7042404" y="5337810"/>
              <a:ext cx="26334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Bu, farklı veri bölünmelerinde daha</a:t>
              </a:r>
              <a:br/>
              <a:r>
                <a:rPr lang="tr-TR" sz="1200" dirty="0">
                  <a:solidFill>
                    <a:srgbClr val="52616B"/>
                  </a:solidFill>
                  <a:latin typeface="+mn-lt"/>
                  <a:ea typeface="+mn-ea"/>
                  <a:cs typeface="+mn-cs"/>
                </a:rPr>
                <a:t>kararlı sonuç verdiğini kanıtlar.</a:t>
              </a:r>
            </a:p>
          </p:txBody>
        </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1267116" cy="668845"/>
            <a:chOff x="609600" y="171450"/>
            <a:chExt cx="1126711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1057674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Bootstrap örneklemeden nihai tahmine: çalışma akışı</a:t>
              </a:r>
            </a:p>
          </p:txBody>
        </p:sp>
      </p:grpSp>
      <p:grpSp>
        <p:nvGrpSpPr>
          <p:cNvPr id="15" name="flow-original"/>
          <p:cNvGrpSpPr/>
          <p:nvPr/>
        </p:nvGrpSpPr>
        <p:grpSpPr>
          <a:xfrm>
            <a:off x="609600" y="2952750"/>
            <a:ext cx="1333500" cy="952500"/>
            <a:chOff x="609600" y="2952750"/>
            <a:chExt cx="1333500" cy="952500"/>
          </a:xfrm>
        </p:grpSpPr>
        <p:sp>
          <p:nvSpPr>
            <p:cNvPr id="12" name="Rectangle 12"/>
            <p:cNvSpPr/>
            <p:nvPr/>
          </p:nvSpPr>
          <p:spPr>
            <a:xfrm>
              <a:off x="609600" y="2952750"/>
              <a:ext cx="1333500" cy="952500"/>
            </a:xfrm>
            <a:prstGeom prst="roundRect">
              <a:avLst>
                <a:gd name="adj" fmla="val 8000"/>
              </a:avLst>
            </a:prstGeom>
            <a:solidFill>
              <a:srgbClr val="12355B"/>
            </a:solidFill>
            <a:ln>
              <a:noFill/>
            </a:ln>
          </p:spPr>
        </p:sp>
        <p:sp>
          <p:nvSpPr>
            <p:cNvPr id="13" name="TextBox 13"/>
            <p:cNvSpPr txBox="1"/>
            <p:nvPr/>
          </p:nvSpPr>
          <p:spPr>
            <a:xfrm>
              <a:off x="792861" y="3179921"/>
              <a:ext cx="742177"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Orijinal</a:t>
              </a:r>
            </a:p>
          </p:txBody>
        </p:sp>
        <p:sp>
          <p:nvSpPr>
            <p:cNvPr id="14" name="TextBox 14"/>
            <p:cNvSpPr txBox="1"/>
            <p:nvPr/>
          </p:nvSpPr>
          <p:spPr>
            <a:xfrm>
              <a:off x="792861" y="3408521"/>
              <a:ext cx="857495"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veri seti</a:t>
              </a:r>
            </a:p>
          </p:txBody>
        </p:sp>
      </p:grpSp>
      <p:grpSp>
        <p:nvGrpSpPr>
          <p:cNvPr id="25" name="flow-bootstrap-samples"/>
          <p:cNvGrpSpPr/>
          <p:nvPr/>
        </p:nvGrpSpPr>
        <p:grpSpPr>
          <a:xfrm>
            <a:off x="2381250" y="1619250"/>
            <a:ext cx="1428750" cy="3619500"/>
            <a:chOff x="2381250" y="1619250"/>
            <a:chExt cx="1428750" cy="3619500"/>
          </a:xfrm>
        </p:grpSpPr>
        <p:sp>
          <p:nvSpPr>
            <p:cNvPr id="16" name="Rectangle 16"/>
            <p:cNvSpPr/>
            <p:nvPr/>
          </p:nvSpPr>
          <p:spPr>
            <a:xfrm>
              <a:off x="2381250" y="1619250"/>
              <a:ext cx="1428750" cy="666750"/>
            </a:xfrm>
            <a:prstGeom prst="roundRect">
              <a:avLst>
                <a:gd name="adj" fmla="val 11429"/>
              </a:avLst>
            </a:prstGeom>
            <a:solidFill>
              <a:srgbClr val="FFFFFF"/>
            </a:solidFill>
            <a:ln w="14288">
              <a:solidFill>
                <a:srgbClr val="2E86AB"/>
              </a:solidFill>
            </a:ln>
          </p:spPr>
        </p:sp>
        <p:sp>
          <p:nvSpPr>
            <p:cNvPr id="17" name="TextBox 17"/>
            <p:cNvSpPr txBox="1"/>
            <p:nvPr/>
          </p:nvSpPr>
          <p:spPr>
            <a:xfrm>
              <a:off x="2527554" y="1851660"/>
              <a:ext cx="85709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Bootstrap</a:t>
              </a:r>
            </a:p>
          </p:txBody>
        </p:sp>
        <p:sp>
          <p:nvSpPr>
            <p:cNvPr id="18" name="TextBox 18"/>
            <p:cNvSpPr txBox="1"/>
            <p:nvPr/>
          </p:nvSpPr>
          <p:spPr>
            <a:xfrm>
              <a:off x="2527554" y="2042160"/>
              <a:ext cx="59375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örnek 1</a:t>
              </a:r>
            </a:p>
          </p:txBody>
        </p:sp>
        <p:sp>
          <p:nvSpPr>
            <p:cNvPr id="19" name="Rectangle 19"/>
            <p:cNvSpPr/>
            <p:nvPr/>
          </p:nvSpPr>
          <p:spPr>
            <a:xfrm>
              <a:off x="2381250" y="3095625"/>
              <a:ext cx="1428750" cy="666750"/>
            </a:xfrm>
            <a:prstGeom prst="roundRect">
              <a:avLst>
                <a:gd name="adj" fmla="val 11429"/>
              </a:avLst>
            </a:prstGeom>
            <a:solidFill>
              <a:srgbClr val="FFFFFF"/>
            </a:solidFill>
            <a:ln w="14288">
              <a:solidFill>
                <a:srgbClr val="2E86AB"/>
              </a:solidFill>
            </a:ln>
          </p:spPr>
        </p:sp>
        <p:sp>
          <p:nvSpPr>
            <p:cNvPr id="20" name="TextBox 20"/>
            <p:cNvSpPr txBox="1"/>
            <p:nvPr/>
          </p:nvSpPr>
          <p:spPr>
            <a:xfrm>
              <a:off x="2527554" y="3328035"/>
              <a:ext cx="85709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Bootstrap</a:t>
              </a:r>
            </a:p>
          </p:txBody>
        </p:sp>
        <p:sp>
          <p:nvSpPr>
            <p:cNvPr id="21" name="TextBox 21"/>
            <p:cNvSpPr txBox="1"/>
            <p:nvPr/>
          </p:nvSpPr>
          <p:spPr>
            <a:xfrm>
              <a:off x="2527554" y="3518535"/>
              <a:ext cx="59375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örnek 2</a:t>
              </a:r>
            </a:p>
          </p:txBody>
        </p:sp>
        <p:sp>
          <p:nvSpPr>
            <p:cNvPr id="22" name="Rectangle 22"/>
            <p:cNvSpPr/>
            <p:nvPr/>
          </p:nvSpPr>
          <p:spPr>
            <a:xfrm>
              <a:off x="2381250" y="4572000"/>
              <a:ext cx="1428750" cy="666750"/>
            </a:xfrm>
            <a:prstGeom prst="roundRect">
              <a:avLst>
                <a:gd name="adj" fmla="val 11429"/>
              </a:avLst>
            </a:prstGeom>
            <a:solidFill>
              <a:srgbClr val="FFFFFF"/>
            </a:solidFill>
            <a:ln w="14288">
              <a:solidFill>
                <a:srgbClr val="2E86AB"/>
              </a:solidFill>
            </a:ln>
          </p:spPr>
        </p:sp>
        <p:sp>
          <p:nvSpPr>
            <p:cNvPr id="23" name="TextBox 23"/>
            <p:cNvSpPr txBox="1"/>
            <p:nvPr/>
          </p:nvSpPr>
          <p:spPr>
            <a:xfrm>
              <a:off x="2527554" y="4804410"/>
              <a:ext cx="85709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Bootstrap</a:t>
              </a:r>
            </a:p>
          </p:txBody>
        </p:sp>
        <p:sp>
          <p:nvSpPr>
            <p:cNvPr id="24" name="TextBox 24"/>
            <p:cNvSpPr txBox="1"/>
            <p:nvPr/>
          </p:nvSpPr>
          <p:spPr>
            <a:xfrm>
              <a:off x="2527554" y="4994910"/>
              <a:ext cx="59375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örnek 3</a:t>
              </a:r>
            </a:p>
          </p:txBody>
        </p:sp>
      </p:grpSp>
      <p:grpSp>
        <p:nvGrpSpPr>
          <p:cNvPr id="29" name="flow-arrows-1"/>
          <p:cNvGrpSpPr/>
          <p:nvPr/>
        </p:nvGrpSpPr>
        <p:grpSpPr>
          <a:xfrm>
            <a:off x="1943100" y="1952625"/>
            <a:ext cx="419100" cy="2952750"/>
            <a:chOff x="1943100" y="1952625"/>
            <a:chExt cx="419100" cy="2952750"/>
          </a:xfrm>
        </p:grpSpPr>
        <p:sp>
          <p:nvSpPr>
            <p:cNvPr id="26" name="Line 26"/>
            <p:cNvSpPr/>
            <p:nvPr/>
          </p:nvSpPr>
          <p:spPr>
            <a:xfrm flipV="1">
              <a:off x="1943100" y="1952625"/>
              <a:ext cx="419100" cy="1476375"/>
            </a:xfrm>
            <a:prstGeom prst="line">
              <a:avLst/>
            </a:prstGeom>
            <a:noFill/>
            <a:ln w="19050">
              <a:solidFill>
                <a:srgbClr val="12355B"/>
              </a:solidFill>
              <a:tailEnd type="arrow" w="lg" len="lg"/>
            </a:ln>
          </p:spPr>
        </p:sp>
        <p:sp>
          <p:nvSpPr>
            <p:cNvPr id="27" name="Line 27"/>
            <p:cNvSpPr/>
            <p:nvPr/>
          </p:nvSpPr>
          <p:spPr>
            <a:xfrm>
              <a:off x="1943100" y="3429000"/>
              <a:ext cx="419100" cy="1"/>
            </a:xfrm>
            <a:prstGeom prst="line">
              <a:avLst/>
            </a:prstGeom>
            <a:noFill/>
            <a:ln w="19050">
              <a:solidFill>
                <a:srgbClr val="12355B"/>
              </a:solidFill>
              <a:tailEnd type="arrow" w="lg" len="lg"/>
            </a:ln>
          </p:spPr>
        </p:sp>
        <p:sp>
          <p:nvSpPr>
            <p:cNvPr id="28" name="Line 28"/>
            <p:cNvSpPr/>
            <p:nvPr/>
          </p:nvSpPr>
          <p:spPr>
            <a:xfrm>
              <a:off x="1943100" y="3429000"/>
              <a:ext cx="419100" cy="1476375"/>
            </a:xfrm>
            <a:prstGeom prst="line">
              <a:avLst/>
            </a:prstGeom>
            <a:noFill/>
            <a:ln w="19050">
              <a:solidFill>
                <a:srgbClr val="12355B"/>
              </a:solidFill>
              <a:tailEnd type="arrow" w="lg" len="lg"/>
            </a:ln>
          </p:spPr>
        </p:sp>
      </p:grpSp>
      <p:grpSp>
        <p:nvGrpSpPr>
          <p:cNvPr id="39" name="flow-trees"/>
          <p:cNvGrpSpPr/>
          <p:nvPr/>
        </p:nvGrpSpPr>
        <p:grpSpPr>
          <a:xfrm>
            <a:off x="4514850" y="1685925"/>
            <a:ext cx="533400" cy="4025836"/>
            <a:chOff x="4514850" y="1685925"/>
            <a:chExt cx="533400" cy="4025836"/>
          </a:xfrm>
        </p:grpSpPr>
        <p:sp>
          <p:nvSpPr>
            <p:cNvPr id="30" name="Freeform 30"/>
            <p:cNvSpPr/>
            <p:nvPr/>
          </p:nvSpPr>
          <p:spPr>
            <a:xfrm>
              <a:off x="4514850" y="1685925"/>
              <a:ext cx="533400" cy="533400"/>
            </a:xfrm>
            <a:prstGeom prst="triangle">
              <a:avLst/>
            </a:prstGeom>
            <a:solidFill>
              <a:srgbClr val="00A6A6"/>
            </a:solidFill>
            <a:ln>
              <a:noFill/>
            </a:ln>
          </p:spPr>
        </p:sp>
        <p:sp>
          <p:nvSpPr>
            <p:cNvPr id="31" name="Freeform 31"/>
            <p:cNvSpPr/>
            <p:nvPr/>
          </p:nvSpPr>
          <p:spPr>
            <a:xfrm>
              <a:off x="4705350" y="2219325"/>
              <a:ext cx="114300" cy="152400"/>
            </a:xfrm>
            <a:prstGeom prst="rect">
              <a:avLst/>
            </a:prstGeom>
            <a:solidFill>
              <a:srgbClr val="00A6A6"/>
            </a:solidFill>
            <a:ln>
              <a:noFill/>
            </a:ln>
          </p:spPr>
        </p:sp>
        <p:sp>
          <p:nvSpPr>
            <p:cNvPr id="32" name="Freeform 32"/>
            <p:cNvSpPr/>
            <p:nvPr/>
          </p:nvSpPr>
          <p:spPr>
            <a:xfrm>
              <a:off x="4514850" y="3162300"/>
              <a:ext cx="533400" cy="533400"/>
            </a:xfrm>
            <a:prstGeom prst="triangle">
              <a:avLst/>
            </a:prstGeom>
            <a:solidFill>
              <a:srgbClr val="00A6A6"/>
            </a:solidFill>
            <a:ln>
              <a:noFill/>
            </a:ln>
          </p:spPr>
        </p:sp>
        <p:sp>
          <p:nvSpPr>
            <p:cNvPr id="33" name="Freeform 33"/>
            <p:cNvSpPr/>
            <p:nvPr/>
          </p:nvSpPr>
          <p:spPr>
            <a:xfrm>
              <a:off x="4705350" y="3695700"/>
              <a:ext cx="114300" cy="152400"/>
            </a:xfrm>
            <a:prstGeom prst="rect">
              <a:avLst/>
            </a:prstGeom>
            <a:solidFill>
              <a:srgbClr val="00A6A6"/>
            </a:solidFill>
            <a:ln>
              <a:noFill/>
            </a:ln>
          </p:spPr>
        </p:sp>
        <p:sp>
          <p:nvSpPr>
            <p:cNvPr id="34" name="Freeform 34"/>
            <p:cNvSpPr/>
            <p:nvPr/>
          </p:nvSpPr>
          <p:spPr>
            <a:xfrm>
              <a:off x="4514850" y="4638675"/>
              <a:ext cx="533400" cy="533400"/>
            </a:xfrm>
            <a:prstGeom prst="triangle">
              <a:avLst/>
            </a:prstGeom>
            <a:solidFill>
              <a:srgbClr val="00A6A6"/>
            </a:solidFill>
            <a:ln>
              <a:noFill/>
            </a:ln>
          </p:spPr>
        </p:sp>
        <p:sp>
          <p:nvSpPr>
            <p:cNvPr id="35" name="Freeform 35"/>
            <p:cNvSpPr/>
            <p:nvPr/>
          </p:nvSpPr>
          <p:spPr>
            <a:xfrm>
              <a:off x="4705350" y="5172075"/>
              <a:ext cx="114300" cy="152400"/>
            </a:xfrm>
            <a:prstGeom prst="rect">
              <a:avLst/>
            </a:prstGeom>
            <a:solidFill>
              <a:srgbClr val="00A6A6"/>
            </a:solidFill>
            <a:ln>
              <a:noFill/>
            </a:ln>
          </p:spPr>
        </p:sp>
        <p:sp>
          <p:nvSpPr>
            <p:cNvPr id="36" name="TextBox 36"/>
            <p:cNvSpPr txBox="1"/>
            <p:nvPr/>
          </p:nvSpPr>
          <p:spPr>
            <a:xfrm>
              <a:off x="4557605" y="2553652"/>
              <a:ext cx="447889"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Ağaç 1</a:t>
              </a:r>
            </a:p>
          </p:txBody>
        </p:sp>
        <p:sp>
          <p:nvSpPr>
            <p:cNvPr id="37" name="TextBox 37"/>
            <p:cNvSpPr txBox="1"/>
            <p:nvPr/>
          </p:nvSpPr>
          <p:spPr>
            <a:xfrm>
              <a:off x="4557605" y="4030028"/>
              <a:ext cx="447889"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Ağaç 2</a:t>
              </a:r>
            </a:p>
          </p:txBody>
        </p:sp>
        <p:sp>
          <p:nvSpPr>
            <p:cNvPr id="38" name="TextBox 38"/>
            <p:cNvSpPr txBox="1"/>
            <p:nvPr/>
          </p:nvSpPr>
          <p:spPr>
            <a:xfrm>
              <a:off x="4557605" y="5506402"/>
              <a:ext cx="447889"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Ağaç 3</a:t>
              </a:r>
            </a:p>
          </p:txBody>
        </p:sp>
      </p:grpSp>
      <p:grpSp>
        <p:nvGrpSpPr>
          <p:cNvPr id="43" name="flow-arrows-2"/>
          <p:cNvGrpSpPr/>
          <p:nvPr/>
        </p:nvGrpSpPr>
        <p:grpSpPr>
          <a:xfrm>
            <a:off x="3810000" y="1952625"/>
            <a:ext cx="666750" cy="2952751"/>
            <a:chOff x="3810000" y="1952625"/>
            <a:chExt cx="666750" cy="2952751"/>
          </a:xfrm>
        </p:grpSpPr>
        <p:sp>
          <p:nvSpPr>
            <p:cNvPr id="40" name="Line 40"/>
            <p:cNvSpPr/>
            <p:nvPr/>
          </p:nvSpPr>
          <p:spPr>
            <a:xfrm>
              <a:off x="3810000" y="1952625"/>
              <a:ext cx="666750" cy="1"/>
            </a:xfrm>
            <a:prstGeom prst="line">
              <a:avLst/>
            </a:prstGeom>
            <a:noFill/>
            <a:ln w="19050">
              <a:solidFill>
                <a:srgbClr val="12355B"/>
              </a:solidFill>
              <a:tailEnd type="arrow" w="lg" len="lg"/>
            </a:ln>
          </p:spPr>
        </p:sp>
        <p:sp>
          <p:nvSpPr>
            <p:cNvPr id="41" name="Line 41"/>
            <p:cNvSpPr/>
            <p:nvPr/>
          </p:nvSpPr>
          <p:spPr>
            <a:xfrm>
              <a:off x="3810000" y="3429000"/>
              <a:ext cx="666750" cy="1"/>
            </a:xfrm>
            <a:prstGeom prst="line">
              <a:avLst/>
            </a:prstGeom>
            <a:noFill/>
            <a:ln w="19050">
              <a:solidFill>
                <a:srgbClr val="12355B"/>
              </a:solidFill>
              <a:tailEnd type="arrow" w="lg" len="lg"/>
            </a:ln>
          </p:spPr>
        </p:sp>
        <p:sp>
          <p:nvSpPr>
            <p:cNvPr id="42" name="Line 42"/>
            <p:cNvSpPr/>
            <p:nvPr/>
          </p:nvSpPr>
          <p:spPr>
            <a:xfrm>
              <a:off x="3810000" y="4905375"/>
              <a:ext cx="666750" cy="1"/>
            </a:xfrm>
            <a:prstGeom prst="line">
              <a:avLst/>
            </a:prstGeom>
            <a:noFill/>
            <a:ln w="19050">
              <a:solidFill>
                <a:srgbClr val="12355B"/>
              </a:solidFill>
              <a:tailEnd type="arrow" w="lg" len="lg"/>
            </a:ln>
          </p:spPr>
        </p:sp>
      </p:grpSp>
      <p:grpSp>
        <p:nvGrpSpPr>
          <p:cNvPr id="48" name="flow-vote"/>
          <p:cNvGrpSpPr/>
          <p:nvPr/>
        </p:nvGrpSpPr>
        <p:grpSpPr>
          <a:xfrm>
            <a:off x="7239000" y="2762250"/>
            <a:ext cx="2095500" cy="1333500"/>
            <a:chOff x="7239000" y="2762250"/>
            <a:chExt cx="2095500" cy="1333500"/>
          </a:xfrm>
        </p:grpSpPr>
        <p:sp>
          <p:nvSpPr>
            <p:cNvPr id="44" name="Rectangle 44"/>
            <p:cNvSpPr/>
            <p:nvPr/>
          </p:nvSpPr>
          <p:spPr>
            <a:xfrm>
              <a:off x="7239000" y="2762250"/>
              <a:ext cx="2095500" cy="1333500"/>
            </a:xfrm>
            <a:prstGeom prst="roundRect">
              <a:avLst>
                <a:gd name="adj" fmla="val 7143"/>
              </a:avLst>
            </a:prstGeom>
            <a:solidFill>
              <a:srgbClr val="12355B"/>
            </a:solidFill>
            <a:ln>
              <a:noFill/>
            </a:ln>
          </p:spPr>
        </p:sp>
        <p:sp>
          <p:nvSpPr>
            <p:cNvPr id="45" name="TextBox 45"/>
            <p:cNvSpPr txBox="1"/>
            <p:nvPr/>
          </p:nvSpPr>
          <p:spPr>
            <a:xfrm>
              <a:off x="7535799" y="3068479"/>
              <a:ext cx="985400"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Oylama /</a:t>
              </a:r>
            </a:p>
          </p:txBody>
        </p:sp>
        <p:sp>
          <p:nvSpPr>
            <p:cNvPr id="46" name="TextBox 46"/>
            <p:cNvSpPr txBox="1"/>
            <p:nvPr/>
          </p:nvSpPr>
          <p:spPr>
            <a:xfrm>
              <a:off x="7535799" y="3316129"/>
              <a:ext cx="1039364"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Ortalama</a:t>
              </a:r>
            </a:p>
          </p:txBody>
        </p:sp>
        <p:sp>
          <p:nvSpPr>
            <p:cNvPr id="47" name="TextBox 47"/>
            <p:cNvSpPr txBox="1"/>
            <p:nvPr/>
          </p:nvSpPr>
          <p:spPr>
            <a:xfrm>
              <a:off x="7537704" y="3680460"/>
              <a:ext cx="1091988"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Nihai tahmin</a:t>
              </a:r>
            </a:p>
          </p:txBody>
        </p:sp>
      </p:grpSp>
      <p:grpSp>
        <p:nvGrpSpPr>
          <p:cNvPr id="52" name="flow-arrows-3"/>
          <p:cNvGrpSpPr/>
          <p:nvPr/>
        </p:nvGrpSpPr>
        <p:grpSpPr>
          <a:xfrm>
            <a:off x="5048250" y="1952625"/>
            <a:ext cx="2171700" cy="2952750"/>
            <a:chOff x="5048250" y="1952625"/>
            <a:chExt cx="2171700" cy="2952750"/>
          </a:xfrm>
        </p:grpSpPr>
        <p:sp>
          <p:nvSpPr>
            <p:cNvPr id="49" name="Line 49"/>
            <p:cNvSpPr/>
            <p:nvPr/>
          </p:nvSpPr>
          <p:spPr>
            <a:xfrm>
              <a:off x="5048250" y="1952625"/>
              <a:ext cx="2171700" cy="1190625"/>
            </a:xfrm>
            <a:prstGeom prst="line">
              <a:avLst/>
            </a:prstGeom>
            <a:noFill/>
            <a:ln w="19050">
              <a:solidFill>
                <a:srgbClr val="12355B"/>
              </a:solidFill>
              <a:tailEnd type="arrow" w="lg" len="lg"/>
            </a:ln>
          </p:spPr>
        </p:sp>
        <p:sp>
          <p:nvSpPr>
            <p:cNvPr id="50" name="Line 50"/>
            <p:cNvSpPr/>
            <p:nvPr/>
          </p:nvSpPr>
          <p:spPr>
            <a:xfrm>
              <a:off x="5048250" y="3429000"/>
              <a:ext cx="2171700" cy="1"/>
            </a:xfrm>
            <a:prstGeom prst="line">
              <a:avLst/>
            </a:prstGeom>
            <a:noFill/>
            <a:ln w="19050">
              <a:solidFill>
                <a:srgbClr val="12355B"/>
              </a:solidFill>
              <a:tailEnd type="arrow" w="lg" len="lg"/>
            </a:ln>
          </p:spPr>
        </p:sp>
        <p:sp>
          <p:nvSpPr>
            <p:cNvPr id="51" name="Line 51"/>
            <p:cNvSpPr/>
            <p:nvPr/>
          </p:nvSpPr>
          <p:spPr>
            <a:xfrm flipV="1">
              <a:off x="5048250" y="3714750"/>
              <a:ext cx="2171700" cy="1190625"/>
            </a:xfrm>
            <a:prstGeom prst="line">
              <a:avLst/>
            </a:prstGeom>
            <a:noFill/>
            <a:ln w="19050">
              <a:solidFill>
                <a:srgbClr val="12355B"/>
              </a:solidFill>
              <a:tailEnd type="arrow" w="lg" len="lg"/>
            </a:ln>
          </p:spPr>
        </p:sp>
      </p:grpSp>
      <p:grpSp>
        <p:nvGrpSpPr>
          <p:cNvPr id="58" name="flow-oob-note"/>
          <p:cNvGrpSpPr/>
          <p:nvPr/>
        </p:nvGrpSpPr>
        <p:grpSpPr>
          <a:xfrm>
            <a:off x="9715500" y="2762250"/>
            <a:ext cx="1866900" cy="1333500"/>
            <a:chOff x="9715500" y="2762250"/>
            <a:chExt cx="1866900" cy="1333500"/>
          </a:xfrm>
        </p:grpSpPr>
        <p:sp>
          <p:nvSpPr>
            <p:cNvPr id="53" name="Rectangle 53"/>
            <p:cNvSpPr/>
            <p:nvPr/>
          </p:nvSpPr>
          <p:spPr>
            <a:xfrm>
              <a:off x="9715500" y="2762250"/>
              <a:ext cx="1866900" cy="1333500"/>
            </a:xfrm>
            <a:prstGeom prst="roundRect">
              <a:avLst>
                <a:gd name="adj" fmla="val 5714"/>
              </a:avLst>
            </a:prstGeom>
            <a:solidFill>
              <a:srgbClr val="EAF4F6"/>
            </a:solidFill>
            <a:ln>
              <a:noFill/>
            </a:ln>
          </p:spPr>
        </p:sp>
        <p:sp>
          <p:nvSpPr>
            <p:cNvPr id="54" name="TextBox 54"/>
            <p:cNvSpPr txBox="1"/>
            <p:nvPr/>
          </p:nvSpPr>
          <p:spPr>
            <a:xfrm>
              <a:off x="9938004" y="2937510"/>
              <a:ext cx="121634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OOB gözlemler</a:t>
              </a:r>
            </a:p>
          </p:txBody>
        </p:sp>
        <p:sp>
          <p:nvSpPr>
            <p:cNvPr id="55" name="TextBox 55"/>
            <p:cNvSpPr txBox="1"/>
            <p:nvPr/>
          </p:nvSpPr>
          <p:spPr>
            <a:xfrm>
              <a:off x="9938004" y="3204210"/>
              <a:ext cx="135244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~%36.8 OOB veri</a:t>
              </a:r>
            </a:p>
          </p:txBody>
        </p:sp>
        <p:sp>
          <p:nvSpPr>
            <p:cNvPr id="56" name="TextBox 56"/>
            <p:cNvSpPr txBox="1"/>
            <p:nvPr/>
          </p:nvSpPr>
          <p:spPr>
            <a:xfrm>
              <a:off x="9938004" y="3432810"/>
              <a:ext cx="116723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ek test kümesi</a:t>
              </a:r>
            </a:p>
          </p:txBody>
        </p:sp>
        <p:sp>
          <p:nvSpPr>
            <p:cNvPr id="57" name="TextBox 57"/>
            <p:cNvSpPr txBox="1"/>
            <p:nvPr/>
          </p:nvSpPr>
          <p:spPr>
            <a:xfrm>
              <a:off x="9938004" y="3661410"/>
              <a:ext cx="107030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gerektirmez.</a:t>
              </a:r>
            </a:p>
          </p:txBody>
        </p:sp>
      </p:grpSp>
      <p:grpSp>
        <p:nvGrpSpPr>
          <p:cNvPr id="60" name="flow-note-bottom"/>
          <p:cNvGrpSpPr/>
          <p:nvPr/>
        </p:nvGrpSpPr>
        <p:grpSpPr>
          <a:xfrm>
            <a:off x="603504" y="5795010"/>
            <a:ext cx="9729718" cy="234696"/>
            <a:chOff x="603504" y="5795010"/>
            <a:chExt cx="9729718" cy="234696"/>
          </a:xfrm>
        </p:grpSpPr>
        <p:sp>
          <p:nvSpPr>
            <p:cNvPr id="59" name="TextBox 59"/>
            <p:cNvSpPr txBox="1"/>
            <p:nvPr/>
          </p:nvSpPr>
          <p:spPr>
            <a:xfrm>
              <a:off x="603504" y="5795010"/>
              <a:ext cx="972971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İpucu: Random Forest bu akışa tek ek adım katar — her düğümde tüm özniteliklere değil, rastgele bir alt kümesine bakılır.</a:t>
              </a:r>
            </a:p>
          </p:txBody>
        </p:sp>
      </p:grpSp>
      <p:sp>
        <p:nvSpPr>
          <p:cNvPr id="61" name="TextBox 6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573587" cy="557403"/>
            <a:chOff x="595122" y="282892"/>
            <a:chExt cx="6573587" cy="557403"/>
          </a:xfrm>
        </p:grpSpPr>
        <p:sp>
          <p:nvSpPr>
            <p:cNvPr id="4" name="TextBox 4"/>
            <p:cNvSpPr txBox="1"/>
            <p:nvPr/>
          </p:nvSpPr>
          <p:spPr>
            <a:xfrm>
              <a:off x="595122" y="282892"/>
              <a:ext cx="657358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Rastgele Orman (Random Forest)</a:t>
              </a:r>
            </a:p>
          </p:txBody>
        </p:sp>
      </p:grpSp>
      <p:grpSp>
        <p:nvGrpSpPr>
          <p:cNvPr id="11" name="definition-block"/>
          <p:cNvGrpSpPr/>
          <p:nvPr/>
        </p:nvGrpSpPr>
        <p:grpSpPr>
          <a:xfrm>
            <a:off x="600456" y="1329690"/>
            <a:ext cx="4140708" cy="2975610"/>
            <a:chOff x="600456" y="1329690"/>
            <a:chExt cx="4140708" cy="2975610"/>
          </a:xfrm>
        </p:grpSpPr>
        <p:sp>
          <p:nvSpPr>
            <p:cNvPr id="6" name="TextBox 6"/>
            <p:cNvSpPr txBox="1"/>
            <p:nvPr/>
          </p:nvSpPr>
          <p:spPr>
            <a:xfrm>
              <a:off x="600456" y="13296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7" name="TextBox 7"/>
            <p:cNvSpPr txBox="1"/>
            <p:nvPr/>
          </p:nvSpPr>
          <p:spPr>
            <a:xfrm>
              <a:off x="601599" y="1658779"/>
              <a:ext cx="4139565" cy="13748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Bagging'in tüm mekanizmasını miras alan,</a:t>
              </a:r>
              <a:br/>
              <a:r>
                <a:rPr lang="tr-TR" sz="1580" dirty="0">
                  <a:solidFill>
                    <a:srgbClr val="172B3A"/>
                  </a:solidFill>
                  <a:latin typeface="+mn-lt"/>
                  <a:ea typeface="+mn-ea"/>
                  <a:cs typeface="+mn-cs"/>
                </a:rPr>
                <a:t>buna ek olarak her düğümde tüm</a:t>
              </a:r>
              <a:br/>
              <a:r>
                <a:rPr lang="tr-TR" sz="1580" dirty="0">
                  <a:solidFill>
                    <a:srgbClr val="172B3A"/>
                  </a:solidFill>
                  <a:latin typeface="+mn-lt"/>
                  <a:ea typeface="+mn-ea"/>
                  <a:cs typeface="+mn-cs"/>
                </a:rPr>
                <a:t>özniteliklere değil, rastgele seçilmiş bir</a:t>
              </a:r>
              <a:br/>
              <a:r>
                <a:rPr lang="tr-TR" sz="1580" dirty="0">
                  <a:solidFill>
                    <a:srgbClr val="172B3A"/>
                  </a:solidFill>
                  <a:latin typeface="+mn-lt"/>
                  <a:ea typeface="+mn-ea"/>
                  <a:cs typeface="+mn-cs"/>
                </a:rPr>
                <a:t>alt kümeye bakan karar ağaçları</a:t>
              </a:r>
              <a:br/>
              <a:r>
                <a:rPr lang="tr-TR" sz="1580" dirty="0">
                  <a:solidFill>
                    <a:srgbClr val="172B3A"/>
                  </a:solidFill>
                  <a:latin typeface="+mn-lt"/>
                  <a:ea typeface="+mn-ea"/>
                  <a:cs typeface="+mn-cs"/>
                </a:rPr>
                <a:t>topluluğudur.</a:t>
              </a:r>
            </a:p>
          </p:txBody>
        </p:sp>
        <p:sp>
          <p:nvSpPr>
            <p:cNvPr id="8" name="Rectangle 8"/>
            <p:cNvSpPr/>
            <p:nvPr/>
          </p:nvSpPr>
          <p:spPr>
            <a:xfrm>
              <a:off x="609600" y="3486150"/>
              <a:ext cx="57150" cy="819150"/>
            </a:xfrm>
            <a:prstGeom prst="rect">
              <a:avLst/>
            </a:prstGeom>
            <a:solidFill>
              <a:srgbClr val="00A6A6"/>
            </a:solidFill>
            <a:ln>
              <a:noFill/>
            </a:ln>
          </p:spPr>
        </p:sp>
        <p:sp>
          <p:nvSpPr>
            <p:cNvPr id="9" name="TextBox 9"/>
            <p:cNvSpPr txBox="1"/>
            <p:nvPr/>
          </p:nvSpPr>
          <p:spPr>
            <a:xfrm>
              <a:off x="849249" y="3544729"/>
              <a:ext cx="111808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Ek katman</a:t>
              </a:r>
            </a:p>
          </p:txBody>
        </p:sp>
        <p:sp>
          <p:nvSpPr>
            <p:cNvPr id="10" name="TextBox 10"/>
            <p:cNvSpPr txBox="1"/>
            <p:nvPr/>
          </p:nvSpPr>
          <p:spPr>
            <a:xfrm>
              <a:off x="851154" y="3832860"/>
              <a:ext cx="26334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Öznitelik alt kümesi seçimi, ağaçlar</a:t>
              </a:r>
              <a:br/>
              <a:r>
                <a:rPr lang="tr-TR" sz="1200" dirty="0">
                  <a:solidFill>
                    <a:srgbClr val="52616B"/>
                  </a:solidFill>
                  <a:latin typeface="+mn-lt"/>
                  <a:ea typeface="+mn-ea"/>
                  <a:cs typeface="+mn-cs"/>
                </a:rPr>
                <a:t>arası korelasyonu daha da azaltır.</a:t>
              </a:r>
            </a:p>
          </p:txBody>
        </p:sp>
      </p:grpSp>
      <p:grpSp>
        <p:nvGrpSpPr>
          <p:cNvPr id="15" name="analogy-card"/>
          <p:cNvGrpSpPr/>
          <p:nvPr/>
        </p:nvGrpSpPr>
        <p:grpSpPr>
          <a:xfrm>
            <a:off x="6781800" y="1257300"/>
            <a:ext cx="4800600" cy="2857500"/>
            <a:chOff x="6781800" y="1257300"/>
            <a:chExt cx="4800600" cy="2857500"/>
          </a:xfrm>
        </p:grpSpPr>
        <p:sp>
          <p:nvSpPr>
            <p:cNvPr id="12" name="Rectangle 12"/>
            <p:cNvSpPr/>
            <p:nvPr/>
          </p:nvSpPr>
          <p:spPr>
            <a:xfrm>
              <a:off x="6781800" y="1257300"/>
              <a:ext cx="4800600" cy="2857500"/>
            </a:xfrm>
            <a:prstGeom prst="roundRect">
              <a:avLst>
                <a:gd name="adj" fmla="val 3333"/>
              </a:avLst>
            </a:prstGeom>
            <a:solidFill>
              <a:srgbClr val="EAF4F6"/>
            </a:solidFill>
            <a:ln w="14288">
              <a:solidFill>
                <a:srgbClr val="00A6A6"/>
              </a:solidFill>
            </a:ln>
          </p:spPr>
        </p:sp>
        <p:sp>
          <p:nvSpPr>
            <p:cNvPr id="13" name="TextBox 13"/>
            <p:cNvSpPr txBox="1"/>
            <p:nvPr/>
          </p:nvSpPr>
          <p:spPr>
            <a:xfrm>
              <a:off x="7040499" y="1468279"/>
              <a:ext cx="30490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Restoran zinciri benzetmesi</a:t>
              </a:r>
            </a:p>
          </p:txBody>
        </p:sp>
        <p:sp>
          <p:nvSpPr>
            <p:cNvPr id="14" name="TextBox 14"/>
            <p:cNvSpPr txBox="1"/>
            <p:nvPr/>
          </p:nvSpPr>
          <p:spPr>
            <a:xfrm>
              <a:off x="7042404" y="1870710"/>
              <a:ext cx="3471672" cy="13776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Her şubeye farklı bir şef atanır; her şef</a:t>
              </a:r>
              <a:br/>
              <a:r>
                <a:rPr lang="tr-TR" sz="1200" dirty="0">
                  <a:solidFill>
                    <a:srgbClr val="172B3A"/>
                  </a:solidFill>
                  <a:latin typeface="+mn-lt"/>
                  <a:ea typeface="+mn-ea"/>
                  <a:cs typeface="+mn-cs"/>
                </a:rPr>
                <a:t>menüyü kendi yorumuyla (elindeki</a:t>
              </a:r>
              <a:br/>
              <a:r>
                <a:rPr lang="tr-TR" sz="1200" dirty="0">
                  <a:solidFill>
                    <a:srgbClr val="172B3A"/>
                  </a:solidFill>
                  <a:latin typeface="+mn-lt"/>
                  <a:ea typeface="+mn-ea"/>
                  <a:cs typeface="+mn-cs"/>
                </a:rPr>
                <a:t>malzeme alt kümesiyle) hazırlar. Ortak bir</a:t>
              </a:r>
              <a:br/>
              <a:r>
                <a:rPr lang="tr-TR" sz="1200" dirty="0">
                  <a:solidFill>
                    <a:srgbClr val="172B3A"/>
                  </a:solidFill>
                  <a:latin typeface="+mn-lt"/>
                  <a:ea typeface="+mn-ea"/>
                  <a:cs typeface="+mn-cs"/>
                </a:rPr>
                <a:t>tarif tabanı (bootstrap) ile bireysel yorum</a:t>
              </a:r>
              <a:br/>
              <a:r>
                <a:rPr lang="tr-TR" sz="1200" dirty="0">
                  <a:solidFill>
                    <a:srgbClr val="172B3A"/>
                  </a:solidFill>
                  <a:latin typeface="+mn-lt"/>
                  <a:ea typeface="+mn-ea"/>
                  <a:cs typeface="+mn-cs"/>
                </a:rPr>
                <a:t>farkı (rastgele öznitelik) birleşince,</a:t>
              </a:r>
              <a:br/>
              <a:r>
                <a:rPr lang="tr-TR" sz="1200" dirty="0">
                  <a:solidFill>
                    <a:srgbClr val="172B3A"/>
                  </a:solidFill>
                  <a:latin typeface="+mn-lt"/>
                  <a:ea typeface="+mn-ea"/>
                  <a:cs typeface="+mn-cs"/>
                </a:rPr>
                <a:t>zincirin memnuniyeti tek şeften istikrarlıdır.</a:t>
              </a:r>
            </a:p>
          </p:txBody>
        </p:sp>
      </p:grpSp>
      <p:grpSp>
        <p:nvGrpSpPr>
          <p:cNvPr id="20" name="hyperparam-note"/>
          <p:cNvGrpSpPr/>
          <p:nvPr/>
        </p:nvGrpSpPr>
        <p:grpSpPr>
          <a:xfrm>
            <a:off x="609600" y="4762500"/>
            <a:ext cx="10972800" cy="1143000"/>
            <a:chOff x="609600" y="4762500"/>
            <a:chExt cx="10972800" cy="1143000"/>
          </a:xfrm>
        </p:grpSpPr>
        <p:sp>
          <p:nvSpPr>
            <p:cNvPr id="16" name="Rectangle 16"/>
            <p:cNvSpPr/>
            <p:nvPr/>
          </p:nvSpPr>
          <p:spPr>
            <a:xfrm>
              <a:off x="609600" y="4762500"/>
              <a:ext cx="10972800" cy="1143000"/>
            </a:xfrm>
            <a:prstGeom prst="roundRect">
              <a:avLst>
                <a:gd name="adj" fmla="val 6667"/>
              </a:avLst>
            </a:prstGeom>
            <a:solidFill>
              <a:srgbClr val="12355B"/>
            </a:solidFill>
            <a:ln>
              <a:noFill/>
            </a:ln>
          </p:spPr>
        </p:sp>
        <p:sp>
          <p:nvSpPr>
            <p:cNvPr id="17" name="TextBox 17"/>
            <p:cNvSpPr txBox="1"/>
            <p:nvPr/>
          </p:nvSpPr>
          <p:spPr>
            <a:xfrm>
              <a:off x="908304" y="4975860"/>
              <a:ext cx="2530267" cy="234696"/>
            </a:xfrm>
            <a:prstGeom prst="rect">
              <a:avLst/>
            </a:prstGeom>
            <a:noFill/>
            <a:ln>
              <a:noFill/>
            </a:ln>
          </p:spPr>
          <p:txBody>
            <a:bodyPr wrap="none" lIns="0" tIns="0" rIns="0" bIns="0" anchor="t" anchorCtr="0">
              <a:spAutoFit/>
            </a:bodyPr>
            <a:lstStyle/>
            <a:p>
              <a:pPr algn="l"/>
              <a:r>
                <a:rPr lang="tr-TR" sz="1200" b="1" spc="150" dirty="0">
                  <a:solidFill>
                    <a:srgbClr val="00A6A6"/>
                  </a:solidFill>
                  <a:latin typeface="+mn-lt"/>
                  <a:ea typeface="+mn-ea"/>
                  <a:cs typeface="+mn-cs"/>
                </a:rPr>
                <a:t>BREIMAN (2001) ÖNERİSİ</a:t>
              </a:r>
            </a:p>
          </p:txBody>
        </p:sp>
        <p:sp>
          <p:nvSpPr>
            <p:cNvPr id="18" name="TextBox 18"/>
            <p:cNvSpPr txBox="1"/>
            <p:nvPr/>
          </p:nvSpPr>
          <p:spPr>
            <a:xfrm>
              <a:off x="905256" y="5253990"/>
              <a:ext cx="6817172"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Sınıflandırma: √p öznitelik · Regresyon: p/3 öznitelik</a:t>
              </a:r>
            </a:p>
          </p:txBody>
        </p:sp>
        <p:sp>
          <p:nvSpPr>
            <p:cNvPr id="19" name="TextBox 19"/>
            <p:cNvSpPr txBox="1"/>
            <p:nvPr/>
          </p:nvSpPr>
          <p:spPr>
            <a:xfrm>
              <a:off x="908304" y="5585460"/>
              <a:ext cx="602162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p = toplam öznitelik sayısı; her düğümde bu kadarı rastgele değerlendirilir.</a:t>
              </a:r>
            </a:p>
          </p:txBody>
        </p:sp>
      </p:grpSp>
      <p:sp>
        <p:nvSpPr>
          <p:cNvPr id="21" name="TextBox 2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462134" cy="557403"/>
            <a:chOff x="595122" y="282892"/>
            <a:chExt cx="9462134" cy="557403"/>
          </a:xfrm>
        </p:grpSpPr>
        <p:sp>
          <p:nvSpPr>
            <p:cNvPr id="4" name="TextBox 4"/>
            <p:cNvSpPr txBox="1"/>
            <p:nvPr/>
          </p:nvSpPr>
          <p:spPr>
            <a:xfrm>
              <a:off x="595122" y="282892"/>
              <a:ext cx="946213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Neden var? Baskın öznitelik ve ağaç korelasyonu</a:t>
              </a:r>
            </a:p>
          </p:txBody>
        </p:sp>
      </p:grpSp>
      <p:grpSp>
        <p:nvGrpSpPr>
          <p:cNvPr id="11" name="problem-block"/>
          <p:cNvGrpSpPr/>
          <p:nvPr/>
        </p:nvGrpSpPr>
        <p:grpSpPr>
          <a:xfrm>
            <a:off x="600456" y="1329690"/>
            <a:ext cx="4186658" cy="3290316"/>
            <a:chOff x="600456" y="1329690"/>
            <a:chExt cx="4186658" cy="3290316"/>
          </a:xfrm>
        </p:grpSpPr>
        <p:sp>
          <p:nvSpPr>
            <p:cNvPr id="6" name="TextBox 6"/>
            <p:cNvSpPr txBox="1"/>
            <p:nvPr/>
          </p:nvSpPr>
          <p:spPr>
            <a:xfrm>
              <a:off x="600456" y="1329690"/>
              <a:ext cx="418665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Sıradan bagging'in zayıf noktası</a:t>
              </a:r>
            </a:p>
          </p:txBody>
        </p:sp>
        <p:sp>
          <p:nvSpPr>
            <p:cNvPr id="7" name="TextBox 7"/>
            <p:cNvSpPr txBox="1"/>
            <p:nvPr/>
          </p:nvSpPr>
          <p:spPr>
            <a:xfrm>
              <a:off x="601599" y="1696879"/>
              <a:ext cx="4019169" cy="13748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Bir öznitelik (örn. "sözleşme tipi")</a:t>
              </a:r>
              <a:br/>
              <a:r>
                <a:rPr lang="tr-TR" sz="1580" dirty="0">
                  <a:solidFill>
                    <a:srgbClr val="172B3A"/>
                  </a:solidFill>
                  <a:latin typeface="+mn-lt"/>
                  <a:ea typeface="+mn-ea"/>
                  <a:cs typeface="+mn-cs"/>
                </a:rPr>
                <a:t>çok güçlüyse, bootstrap örneklerinin</a:t>
              </a:r>
              <a:br/>
              <a:r>
                <a:rPr lang="tr-TR" sz="1580" dirty="0">
                  <a:solidFill>
                    <a:srgbClr val="172B3A"/>
                  </a:solidFill>
                  <a:latin typeface="+mn-lt"/>
                  <a:ea typeface="+mn-ea"/>
                  <a:cs typeface="+mn-cs"/>
                </a:rPr>
                <a:t>çoğunda kök düğümde seçilir. Ağaçlar</a:t>
              </a:r>
              <a:br/>
              <a:r>
                <a:rPr lang="tr-TR" sz="1580" dirty="0">
                  <a:solidFill>
                    <a:srgbClr val="172B3A"/>
                  </a:solidFill>
                  <a:latin typeface="+mn-lt"/>
                  <a:ea typeface="+mn-ea"/>
                  <a:cs typeface="+mn-cs"/>
                </a:rPr>
                <a:t>yapısal olarak birbirine benzer, yani</a:t>
              </a:r>
              <a:br/>
              <a:r>
                <a:rPr lang="tr-TR" sz="1580" dirty="0">
                  <a:solidFill>
                    <a:srgbClr val="172B3A"/>
                  </a:solidFill>
                  <a:latin typeface="+mn-lt"/>
                  <a:ea typeface="+mn-ea"/>
                  <a:cs typeface="+mn-cs"/>
                </a:rPr>
                <a:t>tahminleri arasında korelasyon yükselir.</a:t>
              </a:r>
            </a:p>
          </p:txBody>
        </p:sp>
        <p:sp>
          <p:nvSpPr>
            <p:cNvPr id="8" name="Rectangle 8"/>
            <p:cNvSpPr/>
            <p:nvPr/>
          </p:nvSpPr>
          <p:spPr>
            <a:xfrm>
              <a:off x="609600" y="3619500"/>
              <a:ext cx="57150" cy="819150"/>
            </a:xfrm>
            <a:prstGeom prst="rect">
              <a:avLst/>
            </a:prstGeom>
            <a:solidFill>
              <a:srgbClr val="00A6A6"/>
            </a:solidFill>
            <a:ln>
              <a:noFill/>
            </a:ln>
          </p:spPr>
        </p:sp>
        <p:sp>
          <p:nvSpPr>
            <p:cNvPr id="9" name="TextBox 9"/>
            <p:cNvSpPr txBox="1"/>
            <p:nvPr/>
          </p:nvSpPr>
          <p:spPr>
            <a:xfrm>
              <a:off x="849249" y="3678079"/>
              <a:ext cx="6371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Sonuç</a:t>
              </a:r>
            </a:p>
          </p:txBody>
        </p:sp>
        <p:sp>
          <p:nvSpPr>
            <p:cNvPr id="10" name="TextBox 10"/>
            <p:cNvSpPr txBox="1"/>
            <p:nvPr/>
          </p:nvSpPr>
          <p:spPr>
            <a:xfrm>
              <a:off x="851154" y="3966210"/>
              <a:ext cx="24886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Yüksek korelasyonlu tahminciler</a:t>
              </a:r>
              <a:br/>
              <a:r>
                <a:rPr lang="tr-TR" sz="1200" dirty="0">
                  <a:solidFill>
                    <a:srgbClr val="52616B"/>
                  </a:solidFill>
                  <a:latin typeface="+mn-lt"/>
                  <a:ea typeface="+mn-ea"/>
                  <a:cs typeface="+mn-cs"/>
                </a:rPr>
                <a:t>ortalandığında varyans azaltımı</a:t>
              </a:r>
              <a:br/>
              <a:r>
                <a:rPr lang="tr-TR" sz="1200" dirty="0">
                  <a:solidFill>
                    <a:srgbClr val="52616B"/>
                  </a:solidFill>
                  <a:latin typeface="+mn-lt"/>
                  <a:ea typeface="+mn-ea"/>
                  <a:cs typeface="+mn-cs"/>
                </a:rPr>
                <a:t>beklenenin çok altında kalır.</a:t>
              </a:r>
            </a:p>
          </p:txBody>
        </p:sp>
      </p:grpSp>
      <p:grpSp>
        <p:nvGrpSpPr>
          <p:cNvPr id="27" name="alt-table"/>
          <p:cNvGrpSpPr/>
          <p:nvPr/>
        </p:nvGrpSpPr>
        <p:grpSpPr>
          <a:xfrm>
            <a:off x="6781800" y="1257300"/>
            <a:ext cx="4800600" cy="3810000"/>
            <a:chOff x="6781800" y="1257300"/>
            <a:chExt cx="4800600" cy="3810000"/>
          </a:xfrm>
        </p:grpSpPr>
        <p:sp>
          <p:nvSpPr>
            <p:cNvPr id="12" name="Rectangle 12"/>
            <p:cNvSpPr/>
            <p:nvPr/>
          </p:nvSpPr>
          <p:spPr>
            <a:xfrm>
              <a:off x="6781800" y="1257300"/>
              <a:ext cx="4800600" cy="3810000"/>
            </a:xfrm>
            <a:prstGeom prst="roundRect">
              <a:avLst>
                <a:gd name="adj" fmla="val 2500"/>
              </a:avLst>
            </a:prstGeom>
            <a:solidFill>
              <a:srgbClr val="FFFFFF"/>
            </a:solidFill>
            <a:ln w="14288">
              <a:solidFill>
                <a:srgbClr val="B8CBD3"/>
              </a:solidFill>
            </a:ln>
          </p:spPr>
        </p:sp>
        <p:sp>
          <p:nvSpPr>
            <p:cNvPr id="13" name="TextBox 13"/>
            <p:cNvSpPr txBox="1"/>
            <p:nvPr/>
          </p:nvSpPr>
          <p:spPr>
            <a:xfrm>
              <a:off x="7041261" y="1446371"/>
              <a:ext cx="2840711"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Model ailesi karşılaştırması</a:t>
              </a:r>
            </a:p>
          </p:txBody>
        </p:sp>
        <p:sp>
          <p:nvSpPr>
            <p:cNvPr id="14" name="Line 14"/>
            <p:cNvSpPr/>
            <p:nvPr/>
          </p:nvSpPr>
          <p:spPr>
            <a:xfrm>
              <a:off x="7048500" y="1752600"/>
              <a:ext cx="4267200" cy="9525"/>
            </a:xfrm>
            <a:custGeom>
              <a:avLst/>
              <a:gdLst/>
              <a:ahLst/>
              <a:cxnLst/>
              <a:rect l="l" t="t" r="r" b="b"/>
              <a:pathLst>
                <a:path w="4267200" h="9525">
                  <a:moveTo>
                    <a:pt x="0" y="0"/>
                  </a:moveTo>
                  <a:lnTo>
                    <a:pt x="4267200" y="0"/>
                  </a:lnTo>
                </a:path>
              </a:pathLst>
            </a:custGeom>
            <a:noFill/>
            <a:ln w="9525">
              <a:solidFill>
                <a:srgbClr val="B8CBD3"/>
              </a:solidFill>
            </a:ln>
          </p:spPr>
        </p:sp>
        <p:sp>
          <p:nvSpPr>
            <p:cNvPr id="15" name="TextBox 15"/>
            <p:cNvSpPr txBox="1"/>
            <p:nvPr/>
          </p:nvSpPr>
          <p:spPr>
            <a:xfrm>
              <a:off x="7042404" y="1927860"/>
              <a:ext cx="122786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Random Forest</a:t>
              </a:r>
            </a:p>
          </p:txBody>
        </p:sp>
        <p:sp>
          <p:nvSpPr>
            <p:cNvPr id="16" name="TextBox 16"/>
            <p:cNvSpPr txBox="1"/>
            <p:nvPr/>
          </p:nvSpPr>
          <p:spPr>
            <a:xfrm>
              <a:off x="7042404" y="2137410"/>
              <a:ext cx="405623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Bootstrap + öznitelik alt kümesi → düşük korelasyon</a:t>
              </a:r>
            </a:p>
          </p:txBody>
        </p:sp>
        <p:sp>
          <p:nvSpPr>
            <p:cNvPr id="17" name="Line 17"/>
            <p:cNvSpPr/>
            <p:nvPr/>
          </p:nvSpPr>
          <p:spPr>
            <a:xfrm>
              <a:off x="7048500" y="2438400"/>
              <a:ext cx="4267200" cy="9525"/>
            </a:xfrm>
            <a:custGeom>
              <a:avLst/>
              <a:gdLst/>
              <a:ahLst/>
              <a:cxnLst/>
              <a:rect l="l" t="t" r="r" b="b"/>
              <a:pathLst>
                <a:path w="4267200" h="9525">
                  <a:moveTo>
                    <a:pt x="0" y="0"/>
                  </a:moveTo>
                  <a:lnTo>
                    <a:pt x="4267200" y="0"/>
                  </a:lnTo>
                </a:path>
              </a:pathLst>
            </a:custGeom>
            <a:noFill/>
            <a:ln w="9525">
              <a:solidFill>
                <a:srgbClr val="B8CBD3"/>
              </a:solidFill>
            </a:ln>
          </p:spPr>
        </p:sp>
        <p:sp>
          <p:nvSpPr>
            <p:cNvPr id="18" name="TextBox 18"/>
            <p:cNvSpPr txBox="1"/>
            <p:nvPr/>
          </p:nvSpPr>
          <p:spPr>
            <a:xfrm>
              <a:off x="7042404" y="2575560"/>
              <a:ext cx="151940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Bagging (sıradan)</a:t>
              </a:r>
            </a:p>
          </p:txBody>
        </p:sp>
        <p:sp>
          <p:nvSpPr>
            <p:cNvPr id="19" name="TextBox 19"/>
            <p:cNvSpPr txBox="1"/>
            <p:nvPr/>
          </p:nvSpPr>
          <p:spPr>
            <a:xfrm>
              <a:off x="7042404" y="2785110"/>
              <a:ext cx="359586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Yalnızca bootstrap → orta-yüksek korelasyon</a:t>
              </a:r>
            </a:p>
          </p:txBody>
        </p:sp>
        <p:sp>
          <p:nvSpPr>
            <p:cNvPr id="20" name="Line 20"/>
            <p:cNvSpPr/>
            <p:nvPr/>
          </p:nvSpPr>
          <p:spPr>
            <a:xfrm>
              <a:off x="7048500" y="3086100"/>
              <a:ext cx="4267200" cy="9525"/>
            </a:xfrm>
            <a:custGeom>
              <a:avLst/>
              <a:gdLst/>
              <a:ahLst/>
              <a:cxnLst/>
              <a:rect l="l" t="t" r="r" b="b"/>
              <a:pathLst>
                <a:path w="4267200" h="9525">
                  <a:moveTo>
                    <a:pt x="0" y="0"/>
                  </a:moveTo>
                  <a:lnTo>
                    <a:pt x="4267200" y="0"/>
                  </a:lnTo>
                </a:path>
              </a:pathLst>
            </a:custGeom>
            <a:noFill/>
            <a:ln w="9525">
              <a:solidFill>
                <a:srgbClr val="B8CBD3"/>
              </a:solidFill>
            </a:ln>
          </p:spPr>
        </p:sp>
        <p:sp>
          <p:nvSpPr>
            <p:cNvPr id="21" name="TextBox 21"/>
            <p:cNvSpPr txBox="1"/>
            <p:nvPr/>
          </p:nvSpPr>
          <p:spPr>
            <a:xfrm>
              <a:off x="7042404" y="3223260"/>
              <a:ext cx="100713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Extra Trees</a:t>
              </a:r>
            </a:p>
          </p:txBody>
        </p:sp>
        <p:sp>
          <p:nvSpPr>
            <p:cNvPr id="22" name="TextBox 22"/>
            <p:cNvSpPr txBox="1"/>
            <p:nvPr/>
          </p:nvSpPr>
          <p:spPr>
            <a:xfrm>
              <a:off x="7042404" y="3432810"/>
              <a:ext cx="33399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rastgele eşik → daha da düşük korelasyon</a:t>
              </a:r>
            </a:p>
          </p:txBody>
        </p:sp>
        <p:sp>
          <p:nvSpPr>
            <p:cNvPr id="23" name="Line 23"/>
            <p:cNvSpPr/>
            <p:nvPr/>
          </p:nvSpPr>
          <p:spPr>
            <a:xfrm>
              <a:off x="7048500" y="3733800"/>
              <a:ext cx="4267200" cy="9525"/>
            </a:xfrm>
            <a:custGeom>
              <a:avLst/>
              <a:gdLst/>
              <a:ahLst/>
              <a:cxnLst/>
              <a:rect l="l" t="t" r="r" b="b"/>
              <a:pathLst>
                <a:path w="4267200" h="9525">
                  <a:moveTo>
                    <a:pt x="0" y="0"/>
                  </a:moveTo>
                  <a:lnTo>
                    <a:pt x="4267200" y="0"/>
                  </a:lnTo>
                </a:path>
              </a:pathLst>
            </a:custGeom>
            <a:noFill/>
            <a:ln w="9525">
              <a:solidFill>
                <a:srgbClr val="B8CBD3"/>
              </a:solidFill>
            </a:ln>
          </p:spPr>
        </p:sp>
        <p:sp>
          <p:nvSpPr>
            <p:cNvPr id="24" name="TextBox 24"/>
            <p:cNvSpPr txBox="1"/>
            <p:nvPr/>
          </p:nvSpPr>
          <p:spPr>
            <a:xfrm>
              <a:off x="7042404" y="3870960"/>
              <a:ext cx="148125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Gradient Boosting</a:t>
              </a:r>
            </a:p>
          </p:txBody>
        </p:sp>
        <p:sp>
          <p:nvSpPr>
            <p:cNvPr id="25" name="TextBox 25"/>
            <p:cNvSpPr txBox="1"/>
            <p:nvPr/>
          </p:nvSpPr>
          <p:spPr>
            <a:xfrm>
              <a:off x="7042404" y="4080510"/>
              <a:ext cx="37408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Sıralı ağırlıklandırma; overfitting riski fazla</a:t>
              </a:r>
            </a:p>
          </p:txBody>
        </p:sp>
        <p:sp>
          <p:nvSpPr>
            <p:cNvPr id="26" name="TextBox 26"/>
            <p:cNvSpPr txBox="1"/>
            <p:nvPr/>
          </p:nvSpPr>
          <p:spPr>
            <a:xfrm>
              <a:off x="7042404" y="4537710"/>
              <a:ext cx="30525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00A6A6"/>
                  </a:solidFill>
                  <a:latin typeface="+mn-lt"/>
                  <a:ea typeface="+mn-ea"/>
                  <a:cs typeface="+mn-cs"/>
                </a:rPr>
                <a:t>Random Forest, tipik olarak en yüksek ve</a:t>
              </a:r>
              <a:br/>
              <a:r>
                <a:rPr lang="tr-TR" sz="1200" dirty="0">
                  <a:solidFill>
                    <a:srgbClr val="00A6A6"/>
                  </a:solidFill>
                  <a:latin typeface="+mn-lt"/>
                  <a:ea typeface="+mn-ea"/>
                  <a:cs typeface="+mn-cs"/>
                </a:rPr>
                <a:t>en dengeli performansı verir.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10380914" cy="668845"/>
            <a:chOff x="609600" y="171450"/>
            <a:chExt cx="10380914"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55995" y="317845"/>
                <a:ext cx="278710" cy="278710"/>
                <a:chOff x="755995" y="317845"/>
                <a:chExt cx="278710" cy="278710"/>
              </a:xfrm>
            </p:grpSpPr>
            <p:sp>
              <p:nvSpPr>
                <p:cNvPr id="5" name="Freeform 5"/>
                <p:cNvSpPr/>
                <p:nvPr/>
              </p:nvSpPr>
              <p:spPr>
                <a:xfrm>
                  <a:off x="755995" y="317845"/>
                  <a:ext cx="278710" cy="278710"/>
                </a:xfrm>
                <a:custGeom>
                  <a:avLst/>
                  <a:gdLst/>
                  <a:ahLst/>
                  <a:cxnLst/>
                  <a:rect l="l" t="t" r="r" b="b"/>
                  <a:pathLst>
                    <a:path w="278710" h="278710">
                      <a:moveTo>
                        <a:pt x="114626" y="25925"/>
                      </a:moveTo>
                      <a:cubicBezTo>
                        <a:pt x="120915" y="0"/>
                        <a:pt x="157795" y="0"/>
                        <a:pt x="164084" y="25925"/>
                      </a:cubicBezTo>
                      <a:cubicBezTo>
                        <a:pt x="165998" y="33825"/>
                        <a:pt x="171570" y="40335"/>
                        <a:pt x="179079" y="43446"/>
                      </a:cubicBezTo>
                      <a:cubicBezTo>
                        <a:pt x="186588" y="46557"/>
                        <a:pt x="195132" y="45895"/>
                        <a:pt x="202071" y="41663"/>
                      </a:cubicBezTo>
                      <a:cubicBezTo>
                        <a:pt x="224852" y="27785"/>
                        <a:pt x="250939" y="53858"/>
                        <a:pt x="237062" y="76653"/>
                      </a:cubicBezTo>
                      <a:cubicBezTo>
                        <a:pt x="232836" y="83590"/>
                        <a:pt x="232176" y="92127"/>
                        <a:pt x="235283" y="99631"/>
                      </a:cubicBezTo>
                      <a:cubicBezTo>
                        <a:pt x="238390" y="107136"/>
                        <a:pt x="244893" y="112706"/>
                        <a:pt x="252785" y="114626"/>
                      </a:cubicBezTo>
                      <a:cubicBezTo>
                        <a:pt x="278710" y="120915"/>
                        <a:pt x="278710" y="157795"/>
                        <a:pt x="252785" y="164084"/>
                      </a:cubicBezTo>
                      <a:cubicBezTo>
                        <a:pt x="244885" y="165998"/>
                        <a:pt x="238375" y="171570"/>
                        <a:pt x="235264" y="179079"/>
                      </a:cubicBezTo>
                      <a:cubicBezTo>
                        <a:pt x="232153" y="186588"/>
                        <a:pt x="232815" y="195132"/>
                        <a:pt x="237047" y="202071"/>
                      </a:cubicBezTo>
                      <a:cubicBezTo>
                        <a:pt x="250925" y="224852"/>
                        <a:pt x="224852" y="250939"/>
                        <a:pt x="202057" y="237062"/>
                      </a:cubicBezTo>
                      <a:cubicBezTo>
                        <a:pt x="195120" y="232836"/>
                        <a:pt x="186583" y="232176"/>
                        <a:pt x="179079" y="235283"/>
                      </a:cubicBezTo>
                      <a:cubicBezTo>
                        <a:pt x="171574" y="238390"/>
                        <a:pt x="166004" y="244893"/>
                        <a:pt x="164084" y="252785"/>
                      </a:cubicBezTo>
                      <a:cubicBezTo>
                        <a:pt x="157795" y="278710"/>
                        <a:pt x="120915" y="278710"/>
                        <a:pt x="114626" y="252785"/>
                      </a:cubicBezTo>
                      <a:cubicBezTo>
                        <a:pt x="112712" y="244885"/>
                        <a:pt x="107140" y="238375"/>
                        <a:pt x="99631" y="235264"/>
                      </a:cubicBezTo>
                      <a:cubicBezTo>
                        <a:pt x="92122" y="232153"/>
                        <a:pt x="83578" y="232815"/>
                        <a:pt x="76639" y="237047"/>
                      </a:cubicBezTo>
                      <a:cubicBezTo>
                        <a:pt x="53858" y="250925"/>
                        <a:pt x="27771" y="224852"/>
                        <a:pt x="41649" y="202057"/>
                      </a:cubicBezTo>
                      <a:cubicBezTo>
                        <a:pt x="45874" y="195120"/>
                        <a:pt x="46535" y="186583"/>
                        <a:pt x="43427" y="179079"/>
                      </a:cubicBezTo>
                      <a:cubicBezTo>
                        <a:pt x="40320" y="171574"/>
                        <a:pt x="33817" y="166004"/>
                        <a:pt x="25925" y="164084"/>
                      </a:cubicBezTo>
                      <a:cubicBezTo>
                        <a:pt x="0" y="157795"/>
                        <a:pt x="0" y="120915"/>
                        <a:pt x="25925" y="114626"/>
                      </a:cubicBezTo>
                      <a:cubicBezTo>
                        <a:pt x="33825" y="112712"/>
                        <a:pt x="40335" y="107140"/>
                        <a:pt x="43446" y="99631"/>
                      </a:cubicBezTo>
                      <a:cubicBezTo>
                        <a:pt x="46557" y="92122"/>
                        <a:pt x="45895" y="83578"/>
                        <a:pt x="41663" y="76639"/>
                      </a:cubicBezTo>
                      <a:cubicBezTo>
                        <a:pt x="27785" y="53858"/>
                        <a:pt x="53858" y="27771"/>
                        <a:pt x="76653" y="41649"/>
                      </a:cubicBezTo>
                      <a:cubicBezTo>
                        <a:pt x="91417" y="50625"/>
                        <a:pt x="110551" y="42682"/>
                        <a:pt x="114626" y="25925"/>
                      </a:cubicBez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44291"/>
                      </a:moveTo>
                      <a:cubicBezTo>
                        <a:pt x="0" y="68753"/>
                        <a:pt x="19830" y="88582"/>
                        <a:pt x="44291" y="88582"/>
                      </a:cubicBezTo>
                      <a:cubicBezTo>
                        <a:pt x="68753" y="88582"/>
                        <a:pt x="88582" y="68753"/>
                        <a:pt x="88582" y="44291"/>
                      </a:cubicBezTo>
                      <a:cubicBezTo>
                        <a:pt x="88582" y="19830"/>
                        <a:pt x="68753" y="0"/>
                        <a:pt x="44291" y="0"/>
                      </a:cubicBezTo>
                      <a:cubicBezTo>
                        <a:pt x="19830" y="0"/>
                        <a:pt x="0" y="19830"/>
                        <a:pt x="0" y="44291"/>
                      </a:cubicBezTo>
                    </a:path>
                  </a:pathLst>
                </a:custGeom>
                <a:noFill/>
                <a:ln w="24759" cap="rnd">
                  <a:solidFill>
                    <a:srgbClr val="FFFFFF"/>
                  </a:solidFill>
                  <a:round/>
                </a:ln>
              </p:spPr>
            </p:sp>
          </p:grpSp>
        </p:grpSp>
        <p:sp>
          <p:nvSpPr>
            <p:cNvPr id="9" name="TextBox 9"/>
            <p:cNvSpPr txBox="1"/>
            <p:nvPr/>
          </p:nvSpPr>
          <p:spPr>
            <a:xfrm>
              <a:off x="1299972" y="282892"/>
              <a:ext cx="969054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Deney: dengesiz veride hiperparametre taraması</a:t>
              </a:r>
            </a:p>
          </p:txBody>
        </p:sp>
      </p:grpSp>
      <p:grpSp>
        <p:nvGrpSpPr>
          <p:cNvPr id="16" name="experiment-setup"/>
          <p:cNvGrpSpPr/>
          <p:nvPr/>
        </p:nvGrpSpPr>
        <p:grpSpPr>
          <a:xfrm>
            <a:off x="600456" y="1329690"/>
            <a:ext cx="3809619" cy="2689860"/>
            <a:chOff x="600456" y="1329690"/>
            <a:chExt cx="3809619" cy="2689860"/>
          </a:xfrm>
        </p:grpSpPr>
        <p:sp>
          <p:nvSpPr>
            <p:cNvPr id="11" name="TextBox 11"/>
            <p:cNvSpPr txBox="1"/>
            <p:nvPr/>
          </p:nvSpPr>
          <p:spPr>
            <a:xfrm>
              <a:off x="600456" y="1329690"/>
              <a:ext cx="197316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Deney tasarımı</a:t>
              </a:r>
            </a:p>
          </p:txBody>
        </p:sp>
        <p:sp>
          <p:nvSpPr>
            <p:cNvPr id="12" name="TextBox 12"/>
            <p:cNvSpPr txBox="1"/>
            <p:nvPr/>
          </p:nvSpPr>
          <p:spPr>
            <a:xfrm>
              <a:off x="601599" y="1696879"/>
              <a:ext cx="3808476"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800 gözlemlik, %75/%25 dengesiz</a:t>
              </a:r>
              <a:br/>
              <a:r>
                <a:rPr lang="tr-TR" sz="1580" dirty="0">
                  <a:solidFill>
                    <a:srgbClr val="172B3A"/>
                  </a:solidFill>
                  <a:latin typeface="+mn-lt"/>
                  <a:ea typeface="+mn-ea"/>
                  <a:cs typeface="+mn-cs"/>
                </a:rPr>
                <a:t>sentetik churn benzeri veri; üç aday</a:t>
              </a:r>
              <a:br/>
              <a:r>
                <a:rPr lang="tr-TR" sz="1580" dirty="0">
                  <a:solidFill>
                    <a:srgbClr val="172B3A"/>
                  </a:solidFill>
                  <a:latin typeface="+mn-lt"/>
                  <a:ea typeface="+mn-ea"/>
                  <a:cs typeface="+mn-cs"/>
                </a:rPr>
                <a:t>hiperparametre seti (n_estimators,</a:t>
              </a:r>
              <a:br/>
              <a:r>
                <a:rPr lang="tr-TR" sz="1580" dirty="0">
                  <a:solidFill>
                    <a:srgbClr val="172B3A"/>
                  </a:solidFill>
                  <a:latin typeface="+mn-lt"/>
                  <a:ea typeface="+mn-ea"/>
                  <a:cs typeface="+mn-cs"/>
                </a:rPr>
                <a:t>max_features, max_depth) deneniyor.</a:t>
              </a:r>
            </a:p>
          </p:txBody>
        </p:sp>
        <p:sp>
          <p:nvSpPr>
            <p:cNvPr id="13" name="Rectangle 13"/>
            <p:cNvSpPr/>
            <p:nvPr/>
          </p:nvSpPr>
          <p:spPr>
            <a:xfrm>
              <a:off x="609600" y="3200400"/>
              <a:ext cx="57150" cy="819150"/>
            </a:xfrm>
            <a:prstGeom prst="rect">
              <a:avLst/>
            </a:prstGeom>
            <a:solidFill>
              <a:srgbClr val="00A6A6"/>
            </a:solidFill>
            <a:ln>
              <a:noFill/>
            </a:ln>
          </p:spPr>
        </p:sp>
        <p:sp>
          <p:nvSpPr>
            <p:cNvPr id="14" name="TextBox 14"/>
            <p:cNvSpPr txBox="1"/>
            <p:nvPr/>
          </p:nvSpPr>
          <p:spPr>
            <a:xfrm>
              <a:off x="849249" y="3258979"/>
              <a:ext cx="205951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stratify=etiketler</a:t>
              </a:r>
            </a:p>
          </p:txBody>
        </p:sp>
        <p:sp>
          <p:nvSpPr>
            <p:cNvPr id="15" name="TextBox 15"/>
            <p:cNvSpPr txBox="1"/>
            <p:nvPr/>
          </p:nvSpPr>
          <p:spPr>
            <a:xfrm>
              <a:off x="851154" y="3547110"/>
              <a:ext cx="24886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Eğitim/test kümelerinde sınıf</a:t>
              </a:r>
              <a:br/>
              <a:r>
                <a:rPr lang="tr-TR" sz="1200" dirty="0">
                  <a:solidFill>
                    <a:srgbClr val="52616B"/>
                  </a:solidFill>
                  <a:latin typeface="+mn-lt"/>
                  <a:ea typeface="+mn-ea"/>
                  <a:cs typeface="+mn-cs"/>
                </a:rPr>
                <a:t>oranlarının korunmasını sağlar.</a:t>
              </a:r>
            </a:p>
          </p:txBody>
        </p:sp>
      </p:grpSp>
      <p:grpSp>
        <p:nvGrpSpPr>
          <p:cNvPr id="28" name="param-table"/>
          <p:cNvGrpSpPr/>
          <p:nvPr/>
        </p:nvGrpSpPr>
        <p:grpSpPr>
          <a:xfrm>
            <a:off x="6781800" y="1257300"/>
            <a:ext cx="4800600" cy="2095500"/>
            <a:chOff x="6781800" y="1257300"/>
            <a:chExt cx="4800600" cy="2095500"/>
          </a:xfrm>
        </p:grpSpPr>
        <p:sp>
          <p:nvSpPr>
            <p:cNvPr id="17" name="Rectangle 17"/>
            <p:cNvSpPr/>
            <p:nvPr/>
          </p:nvSpPr>
          <p:spPr>
            <a:xfrm>
              <a:off x="6781800" y="1257300"/>
              <a:ext cx="4800600" cy="2095500"/>
            </a:xfrm>
            <a:prstGeom prst="roundRect">
              <a:avLst>
                <a:gd name="adj" fmla="val 4545"/>
              </a:avLst>
            </a:prstGeom>
            <a:solidFill>
              <a:srgbClr val="FFFFFF"/>
            </a:solidFill>
            <a:ln w="14288">
              <a:solidFill>
                <a:srgbClr val="B8CBD3"/>
              </a:solidFill>
            </a:ln>
          </p:spPr>
        </p:sp>
        <p:sp>
          <p:nvSpPr>
            <p:cNvPr id="18" name="TextBox 18"/>
            <p:cNvSpPr txBox="1"/>
            <p:nvPr/>
          </p:nvSpPr>
          <p:spPr>
            <a:xfrm>
              <a:off x="7042404" y="1451610"/>
              <a:ext cx="30169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n_estimators=50, max_features=sqrt</a:t>
              </a:r>
            </a:p>
          </p:txBody>
        </p:sp>
        <p:sp>
          <p:nvSpPr>
            <p:cNvPr id="19" name="TextBox 19"/>
            <p:cNvSpPr txBox="1"/>
            <p:nvPr/>
          </p:nvSpPr>
          <p:spPr>
            <a:xfrm>
              <a:off x="10279761" y="1427321"/>
              <a:ext cx="566454"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0.905</a:t>
              </a:r>
            </a:p>
          </p:txBody>
        </p:sp>
        <p:sp>
          <p:nvSpPr>
            <p:cNvPr id="20" name="Line 20"/>
            <p:cNvSpPr/>
            <p:nvPr/>
          </p:nvSpPr>
          <p:spPr>
            <a:xfrm>
              <a:off x="7048500" y="1752600"/>
              <a:ext cx="4267200" cy="9525"/>
            </a:xfrm>
            <a:custGeom>
              <a:avLst/>
              <a:gdLst/>
              <a:ahLst/>
              <a:cxnLst/>
              <a:rect l="l" t="t" r="r" b="b"/>
              <a:pathLst>
                <a:path w="4267200" h="9525">
                  <a:moveTo>
                    <a:pt x="0" y="0"/>
                  </a:moveTo>
                  <a:lnTo>
                    <a:pt x="4267200" y="0"/>
                  </a:lnTo>
                </a:path>
              </a:pathLst>
            </a:custGeom>
            <a:noFill/>
            <a:ln w="9525">
              <a:solidFill>
                <a:srgbClr val="B8CBD3"/>
              </a:solidFill>
            </a:ln>
          </p:spPr>
        </p:sp>
        <p:sp>
          <p:nvSpPr>
            <p:cNvPr id="21" name="TextBox 21"/>
            <p:cNvSpPr txBox="1"/>
            <p:nvPr/>
          </p:nvSpPr>
          <p:spPr>
            <a:xfrm>
              <a:off x="7042404" y="1889760"/>
              <a:ext cx="31542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n_estimators=200, sqrt, max_depth=10</a:t>
              </a:r>
            </a:p>
          </p:txBody>
        </p:sp>
        <p:sp>
          <p:nvSpPr>
            <p:cNvPr id="22" name="TextBox 22"/>
            <p:cNvSpPr txBox="1"/>
            <p:nvPr/>
          </p:nvSpPr>
          <p:spPr>
            <a:xfrm>
              <a:off x="10279761" y="1865471"/>
              <a:ext cx="566454"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0.900</a:t>
              </a:r>
            </a:p>
          </p:txBody>
        </p:sp>
        <p:sp>
          <p:nvSpPr>
            <p:cNvPr id="23" name="Line 23"/>
            <p:cNvSpPr/>
            <p:nvPr/>
          </p:nvSpPr>
          <p:spPr>
            <a:xfrm>
              <a:off x="7048500" y="2190750"/>
              <a:ext cx="4267200" cy="9525"/>
            </a:xfrm>
            <a:custGeom>
              <a:avLst/>
              <a:gdLst/>
              <a:ahLst/>
              <a:cxnLst/>
              <a:rect l="l" t="t" r="r" b="b"/>
              <a:pathLst>
                <a:path w="4267200" h="9525">
                  <a:moveTo>
                    <a:pt x="0" y="0"/>
                  </a:moveTo>
                  <a:lnTo>
                    <a:pt x="4267200" y="0"/>
                  </a:lnTo>
                </a:path>
              </a:pathLst>
            </a:custGeom>
            <a:noFill/>
            <a:ln w="9525">
              <a:solidFill>
                <a:srgbClr val="B8CBD3"/>
              </a:solidFill>
            </a:ln>
          </p:spPr>
        </p:sp>
        <p:sp>
          <p:nvSpPr>
            <p:cNvPr id="24" name="TextBox 24"/>
            <p:cNvSpPr txBox="1"/>
            <p:nvPr/>
          </p:nvSpPr>
          <p:spPr>
            <a:xfrm>
              <a:off x="7042404" y="2327910"/>
              <a:ext cx="30653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n_estimators=200, max_features=log2</a:t>
              </a:r>
            </a:p>
          </p:txBody>
        </p:sp>
        <p:sp>
          <p:nvSpPr>
            <p:cNvPr id="25" name="TextBox 25"/>
            <p:cNvSpPr txBox="1"/>
            <p:nvPr/>
          </p:nvSpPr>
          <p:spPr>
            <a:xfrm>
              <a:off x="10279761" y="2303621"/>
              <a:ext cx="566454"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0.900</a:t>
              </a:r>
            </a:p>
          </p:txBody>
        </p:sp>
        <p:sp>
          <p:nvSpPr>
            <p:cNvPr id="26" name="Line 26"/>
            <p:cNvSpPr/>
            <p:nvPr/>
          </p:nvSpPr>
          <p:spPr>
            <a:xfrm>
              <a:off x="7048500" y="2628900"/>
              <a:ext cx="4267200" cy="9525"/>
            </a:xfrm>
            <a:custGeom>
              <a:avLst/>
              <a:gdLst/>
              <a:ahLst/>
              <a:cxnLst/>
              <a:rect l="l" t="t" r="r" b="b"/>
              <a:pathLst>
                <a:path w="4267200" h="9525">
                  <a:moveTo>
                    <a:pt x="0" y="0"/>
                  </a:moveTo>
                  <a:lnTo>
                    <a:pt x="4267200" y="0"/>
                  </a:lnTo>
                </a:path>
              </a:pathLst>
            </a:custGeom>
            <a:noFill/>
            <a:ln w="9525">
              <a:solidFill>
                <a:srgbClr val="B8CBD3"/>
              </a:solidFill>
            </a:ln>
          </p:spPr>
        </p:sp>
        <p:sp>
          <p:nvSpPr>
            <p:cNvPr id="27" name="TextBox 27"/>
            <p:cNvSpPr txBox="1"/>
            <p:nvPr/>
          </p:nvSpPr>
          <p:spPr>
            <a:xfrm>
              <a:off x="7042404" y="2880360"/>
              <a:ext cx="35402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max_features="sqrt" — Random Forest'ı</a:t>
              </a:r>
              <a:br/>
              <a:r>
                <a:rPr lang="tr-TR" sz="1200" dirty="0">
                  <a:solidFill>
                    <a:srgbClr val="52616B"/>
                  </a:solidFill>
                  <a:latin typeface="+mn-lt"/>
                  <a:ea typeface="+mn-ea"/>
                  <a:cs typeface="+mn-cs"/>
                </a:rPr>
                <a:t>BaggingClassifier'dan ayıran temel parametre.</a:t>
              </a:r>
            </a:p>
          </p:txBody>
        </p:sp>
      </p:grpSp>
      <p:grpSp>
        <p:nvGrpSpPr>
          <p:cNvPr id="35" name="report-card"/>
          <p:cNvGrpSpPr/>
          <p:nvPr/>
        </p:nvGrpSpPr>
        <p:grpSpPr>
          <a:xfrm>
            <a:off x="6781800" y="3543300"/>
            <a:ext cx="4800600" cy="1905000"/>
            <a:chOff x="6781800" y="3543300"/>
            <a:chExt cx="4800600" cy="1905000"/>
          </a:xfrm>
        </p:grpSpPr>
        <p:sp>
          <p:nvSpPr>
            <p:cNvPr id="29" name="Rectangle 29"/>
            <p:cNvSpPr/>
            <p:nvPr/>
          </p:nvSpPr>
          <p:spPr>
            <a:xfrm>
              <a:off x="6781800" y="3543300"/>
              <a:ext cx="4800600" cy="1905000"/>
            </a:xfrm>
            <a:prstGeom prst="roundRect">
              <a:avLst>
                <a:gd name="adj" fmla="val 5000"/>
              </a:avLst>
            </a:prstGeom>
            <a:solidFill>
              <a:srgbClr val="12355B"/>
            </a:solidFill>
            <a:ln>
              <a:noFill/>
            </a:ln>
          </p:spPr>
        </p:sp>
        <p:sp>
          <p:nvSpPr>
            <p:cNvPr id="30" name="TextBox 30"/>
            <p:cNvSpPr txBox="1"/>
            <p:nvPr/>
          </p:nvSpPr>
          <p:spPr>
            <a:xfrm>
              <a:off x="7042404" y="3718560"/>
              <a:ext cx="3780983" cy="234696"/>
            </a:xfrm>
            <a:prstGeom prst="rect">
              <a:avLst/>
            </a:prstGeom>
            <a:noFill/>
            <a:ln>
              <a:noFill/>
            </a:ln>
          </p:spPr>
          <p:txBody>
            <a:bodyPr wrap="none" lIns="0" tIns="0" rIns="0" bIns="0" anchor="t" anchorCtr="0">
              <a:spAutoFit/>
            </a:bodyPr>
            <a:lstStyle/>
            <a:p>
              <a:pPr algn="l"/>
              <a:r>
                <a:rPr lang="tr-TR" sz="1200" b="1" spc="150" dirty="0">
                  <a:solidFill>
                    <a:srgbClr val="00A6A6"/>
                  </a:solidFill>
                  <a:latin typeface="+mn-lt"/>
                  <a:ea typeface="+mn-ea"/>
                  <a:cs typeface="+mn-cs"/>
                </a:rPr>
                <a:t>EN İYİ KONFİGÜRASYON — SINIF BAZLI</a:t>
              </a:r>
            </a:p>
          </p:txBody>
        </p:sp>
        <p:sp>
          <p:nvSpPr>
            <p:cNvPr id="31" name="TextBox 31"/>
            <p:cNvSpPr txBox="1"/>
            <p:nvPr/>
          </p:nvSpPr>
          <p:spPr>
            <a:xfrm>
              <a:off x="7042404" y="4023360"/>
              <a:ext cx="393702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mn-lt"/>
                  <a:ea typeface="+mn-ea"/>
                  <a:cs typeface="+mn-cs"/>
                </a:rPr>
                <a:t>Sınıf 0 (churn değil): precision 0.90, recall 0.98</a:t>
              </a:r>
            </a:p>
          </p:txBody>
        </p:sp>
        <p:sp>
          <p:nvSpPr>
            <p:cNvPr id="32" name="TextBox 32"/>
            <p:cNvSpPr txBox="1"/>
            <p:nvPr/>
          </p:nvSpPr>
          <p:spPr>
            <a:xfrm>
              <a:off x="7042404" y="4271010"/>
              <a:ext cx="3525634"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mn-lt"/>
                  <a:ea typeface="+mn-ea"/>
                  <a:cs typeface="+mn-cs"/>
                </a:rPr>
                <a:t>Sınıf 1 (churn): precision 0.92, recall 0.67</a:t>
              </a:r>
            </a:p>
          </p:txBody>
        </p:sp>
        <p:sp>
          <p:nvSpPr>
            <p:cNvPr id="33" name="TextBox 33"/>
            <p:cNvSpPr txBox="1"/>
            <p:nvPr/>
          </p:nvSpPr>
          <p:spPr>
            <a:xfrm>
              <a:off x="7040499" y="4554379"/>
              <a:ext cx="2259072"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Genel doğruluk: 0.90</a:t>
              </a:r>
            </a:p>
          </p:txBody>
        </p:sp>
        <p:sp>
          <p:nvSpPr>
            <p:cNvPr id="34" name="TextBox 34"/>
            <p:cNvSpPr txBox="1"/>
            <p:nvPr/>
          </p:nvSpPr>
          <p:spPr>
            <a:xfrm>
              <a:off x="7042404" y="4975860"/>
              <a:ext cx="33116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00A6A6"/>
                  </a:solidFill>
                  <a:latin typeface="+mn-lt"/>
                  <a:ea typeface="+mn-ea"/>
                  <a:cs typeface="+mn-cs"/>
                </a:rPr>
                <a:t>Azınlık sınıfında (churn) recall düşüklüğü,</a:t>
              </a:r>
              <a:br/>
              <a:r>
                <a:rPr lang="tr-TR" sz="1200" dirty="0">
                  <a:solidFill>
                    <a:srgbClr val="00A6A6"/>
                  </a:solidFill>
                  <a:latin typeface="+mn-lt"/>
                  <a:ea typeface="+mn-ea"/>
                  <a:cs typeface="+mn-cs"/>
                </a:rPr>
                <a:t>dengesiz veri yönetimiyle ilişkilidir.</a:t>
              </a:r>
            </a:p>
          </p:txBody>
        </p:sp>
      </p:grpSp>
      <p:grpSp>
        <p:nvGrpSpPr>
          <p:cNvPr id="39" name="sinav-note"/>
          <p:cNvGrpSpPr/>
          <p:nvPr/>
        </p:nvGrpSpPr>
        <p:grpSpPr>
          <a:xfrm>
            <a:off x="609600" y="4476750"/>
            <a:ext cx="5943600" cy="1428750"/>
            <a:chOff x="609600" y="4476750"/>
            <a:chExt cx="5943600" cy="1428750"/>
          </a:xfrm>
        </p:grpSpPr>
        <p:sp>
          <p:nvSpPr>
            <p:cNvPr id="36" name="Rectangle 36"/>
            <p:cNvSpPr/>
            <p:nvPr/>
          </p:nvSpPr>
          <p:spPr>
            <a:xfrm>
              <a:off x="609600" y="4476750"/>
              <a:ext cx="5943600" cy="1428750"/>
            </a:xfrm>
            <a:prstGeom prst="roundRect">
              <a:avLst>
                <a:gd name="adj" fmla="val 5333"/>
              </a:avLst>
            </a:prstGeom>
            <a:solidFill>
              <a:srgbClr val="EAF4F6"/>
            </a:solidFill>
            <a:ln>
              <a:noFill/>
            </a:ln>
          </p:spPr>
        </p:sp>
        <p:sp>
          <p:nvSpPr>
            <p:cNvPr id="37" name="TextBox 37"/>
            <p:cNvSpPr txBox="1"/>
            <p:nvPr/>
          </p:nvSpPr>
          <p:spPr>
            <a:xfrm>
              <a:off x="907161" y="4665821"/>
              <a:ext cx="107487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Sınav notu</a:t>
              </a:r>
            </a:p>
          </p:txBody>
        </p:sp>
        <p:sp>
          <p:nvSpPr>
            <p:cNvPr id="38" name="TextBox 38"/>
            <p:cNvSpPr txBox="1"/>
            <p:nvPr/>
          </p:nvSpPr>
          <p:spPr>
            <a:xfrm>
              <a:off x="908304" y="4975860"/>
              <a:ext cx="35326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sqrt(p) önerisi yalnızca sınıflandırma</a:t>
              </a:r>
              <a:br/>
              <a:r>
                <a:rPr lang="tr-TR" sz="1200" dirty="0">
                  <a:solidFill>
                    <a:srgbClr val="52616B"/>
                  </a:solidFill>
                  <a:latin typeface="+mn-lt"/>
                  <a:ea typeface="+mn-ea"/>
                  <a:cs typeface="+mn-cs"/>
                </a:rPr>
                <a:t>içindir; regresyonda geleneksel öneri</a:t>
              </a:r>
              <a:br/>
              <a:r>
                <a:rPr lang="tr-TR" sz="1200" dirty="0">
                  <a:solidFill>
                    <a:srgbClr val="52616B"/>
                  </a:solidFill>
                  <a:latin typeface="+mn-lt"/>
                  <a:ea typeface="+mn-ea"/>
                  <a:cs typeface="+mn-cs"/>
                </a:rPr>
                <a:t>p/3'tür. Bu ayrımın karıştırılması sık hata.</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24</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6962151" cy="668845"/>
            <a:chOff x="609600" y="171450"/>
            <a:chExt cx="6962151"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62717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OOB skoru (Out-of-Bag Score)</a:t>
              </a:r>
            </a:p>
          </p:txBody>
        </p:sp>
      </p:grpSp>
      <p:grpSp>
        <p:nvGrpSpPr>
          <p:cNvPr id="14" name="definition-block"/>
          <p:cNvGrpSpPr/>
          <p:nvPr/>
        </p:nvGrpSpPr>
        <p:grpSpPr>
          <a:xfrm>
            <a:off x="600456" y="1329690"/>
            <a:ext cx="3679190" cy="2975610"/>
            <a:chOff x="600456" y="1329690"/>
            <a:chExt cx="3679190" cy="2975610"/>
          </a:xfrm>
        </p:grpSpPr>
        <p:sp>
          <p:nvSpPr>
            <p:cNvPr id="9" name="TextBox 9"/>
            <p:cNvSpPr txBox="1"/>
            <p:nvPr/>
          </p:nvSpPr>
          <p:spPr>
            <a:xfrm>
              <a:off x="600456" y="13296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10" name="TextBox 10"/>
            <p:cNvSpPr txBox="1"/>
            <p:nvPr/>
          </p:nvSpPr>
          <p:spPr>
            <a:xfrm>
              <a:off x="601599" y="1658779"/>
              <a:ext cx="3678047" cy="13748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Her ağacın eğitiminde kullanılmayan</a:t>
              </a:r>
              <a:br/>
              <a:r>
                <a:rPr lang="tr-TR" sz="1580" dirty="0">
                  <a:solidFill>
                    <a:srgbClr val="172B3A"/>
                  </a:solidFill>
                  <a:latin typeface="+mn-lt"/>
                  <a:ea typeface="+mn-ea"/>
                  <a:cs typeface="+mn-cs"/>
                </a:rPr>
                <a:t>(bootstrap örneğine dahil edilmeyen)</a:t>
              </a:r>
              <a:br/>
              <a:r>
                <a:rPr lang="tr-TR" sz="1580" dirty="0">
                  <a:solidFill>
                    <a:srgbClr val="172B3A"/>
                  </a:solidFill>
                  <a:latin typeface="+mn-lt"/>
                  <a:ea typeface="+mn-ea"/>
                  <a:cs typeface="+mn-cs"/>
                </a:rPr>
                <a:t>gözlemler üzerinden hesaplanan, ayrı</a:t>
              </a:r>
              <a:br/>
              <a:r>
                <a:rPr lang="tr-TR" sz="1580" dirty="0">
                  <a:solidFill>
                    <a:srgbClr val="172B3A"/>
                  </a:solidFill>
                  <a:latin typeface="+mn-lt"/>
                  <a:ea typeface="+mn-ea"/>
                  <a:cs typeface="+mn-cs"/>
                </a:rPr>
                <a:t>bir test kümesi gerektirmeyen bir</a:t>
              </a:r>
              <a:br/>
              <a:r>
                <a:rPr lang="tr-TR" sz="1580" dirty="0">
                  <a:solidFill>
                    <a:srgbClr val="172B3A"/>
                  </a:solidFill>
                  <a:latin typeface="+mn-lt"/>
                  <a:ea typeface="+mn-ea"/>
                  <a:cs typeface="+mn-cs"/>
                </a:rPr>
                <a:t>performans tahmin yöntemidir.</a:t>
              </a:r>
            </a:p>
          </p:txBody>
        </p:sp>
        <p:sp>
          <p:nvSpPr>
            <p:cNvPr id="11" name="Rectangle 11"/>
            <p:cNvSpPr/>
            <p:nvPr/>
          </p:nvSpPr>
          <p:spPr>
            <a:xfrm>
              <a:off x="609600" y="3486150"/>
              <a:ext cx="57150" cy="819150"/>
            </a:xfrm>
            <a:prstGeom prst="rect">
              <a:avLst/>
            </a:prstGeom>
            <a:solidFill>
              <a:srgbClr val="00A6A6"/>
            </a:solidFill>
            <a:ln>
              <a:noFill/>
            </a:ln>
          </p:spPr>
        </p:sp>
        <p:sp>
          <p:nvSpPr>
            <p:cNvPr id="12" name="TextBox 12"/>
            <p:cNvSpPr txBox="1"/>
            <p:nvPr/>
          </p:nvSpPr>
          <p:spPr>
            <a:xfrm>
              <a:off x="849249" y="3544729"/>
              <a:ext cx="11968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a:t>
              </a:r>
            </a:p>
          </p:txBody>
        </p:sp>
        <p:sp>
          <p:nvSpPr>
            <p:cNvPr id="13" name="TextBox 13"/>
            <p:cNvSpPr txBox="1"/>
            <p:nvPr/>
          </p:nvSpPr>
          <p:spPr>
            <a:xfrm>
              <a:off x="851154" y="3832860"/>
              <a:ext cx="30373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Ayrı test kümesi ayırmak eğitim verisini</a:t>
              </a:r>
              <a:br/>
              <a:r>
                <a:rPr lang="tr-TR" sz="1200" dirty="0">
                  <a:solidFill>
                    <a:srgbClr val="52616B"/>
                  </a:solidFill>
                  <a:latin typeface="+mn-lt"/>
                  <a:ea typeface="+mn-ea"/>
                  <a:cs typeface="+mn-cs"/>
                </a:rPr>
                <a:t>azaltır; çapraz doğrulama pahalıdır.</a:t>
              </a:r>
            </a:p>
          </p:txBody>
        </p:sp>
      </p:grpSp>
      <p:grpSp>
        <p:nvGrpSpPr>
          <p:cNvPr id="18" name="analogy-card"/>
          <p:cNvGrpSpPr/>
          <p:nvPr/>
        </p:nvGrpSpPr>
        <p:grpSpPr>
          <a:xfrm>
            <a:off x="6781800" y="1257300"/>
            <a:ext cx="4800600" cy="2857500"/>
            <a:chOff x="6781800" y="1257300"/>
            <a:chExt cx="4800600" cy="2857500"/>
          </a:xfrm>
        </p:grpSpPr>
        <p:sp>
          <p:nvSpPr>
            <p:cNvPr id="15" name="Rectangle 15"/>
            <p:cNvSpPr/>
            <p:nvPr/>
          </p:nvSpPr>
          <p:spPr>
            <a:xfrm>
              <a:off x="6781800" y="1257300"/>
              <a:ext cx="4800600" cy="2857500"/>
            </a:xfrm>
            <a:prstGeom prst="roundRect">
              <a:avLst>
                <a:gd name="adj" fmla="val 3333"/>
              </a:avLst>
            </a:prstGeom>
            <a:solidFill>
              <a:srgbClr val="EAF4F6"/>
            </a:solidFill>
            <a:ln w="14288">
              <a:solidFill>
                <a:srgbClr val="00A6A6"/>
              </a:solidFill>
            </a:ln>
          </p:spPr>
        </p:sp>
        <p:sp>
          <p:nvSpPr>
            <p:cNvPr id="16" name="TextBox 16"/>
            <p:cNvSpPr txBox="1"/>
            <p:nvPr/>
          </p:nvSpPr>
          <p:spPr>
            <a:xfrm>
              <a:off x="7040499" y="1468279"/>
              <a:ext cx="335093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Sürpriz kısa sınav benzetmesi</a:t>
              </a:r>
            </a:p>
          </p:txBody>
        </p:sp>
        <p:sp>
          <p:nvSpPr>
            <p:cNvPr id="17" name="TextBox 17"/>
            <p:cNvSpPr txBox="1"/>
            <p:nvPr/>
          </p:nvSpPr>
          <p:spPr>
            <a:xfrm>
              <a:off x="7042404" y="1870710"/>
              <a:ext cx="3265932" cy="13776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Her öğrenci (ağaç) dersin yalnızca kendine</a:t>
              </a:r>
              <a:br/>
              <a:r>
                <a:rPr lang="tr-TR" sz="1200" dirty="0">
                  <a:solidFill>
                    <a:srgbClr val="172B3A"/>
                  </a:solidFill>
                  <a:latin typeface="+mn-lt"/>
                  <a:ea typeface="+mn-ea"/>
                  <a:cs typeface="+mn-cs"/>
                </a:rPr>
                <a:t>atanmış bölümünü (bootstrap örneğini)</a:t>
              </a:r>
              <a:br/>
              <a:r>
                <a:rPr lang="tr-TR" sz="1200" dirty="0">
                  <a:solidFill>
                    <a:srgbClr val="172B3A"/>
                  </a:solidFill>
                  <a:latin typeface="+mn-lt"/>
                  <a:ea typeface="+mn-ea"/>
                  <a:cs typeface="+mn-cs"/>
                </a:rPr>
                <a:t>çalışmıştır. Geri kalan konulardan (OOB</a:t>
              </a:r>
              <a:br/>
              <a:r>
                <a:rPr lang="tr-TR" sz="1200" dirty="0">
                  <a:solidFill>
                    <a:srgbClr val="172B3A"/>
                  </a:solidFill>
                  <a:latin typeface="+mn-lt"/>
                  <a:ea typeface="+mn-ea"/>
                  <a:cs typeface="+mn-cs"/>
                </a:rPr>
                <a:t>gözlemlerden) sorulan sorular, o öğrencinin</a:t>
              </a:r>
              <a:br/>
              <a:r>
                <a:rPr lang="tr-TR" sz="1200" dirty="0">
                  <a:solidFill>
                    <a:srgbClr val="172B3A"/>
                  </a:solidFill>
                  <a:latin typeface="+mn-lt"/>
                  <a:ea typeface="+mn-ea"/>
                  <a:cs typeface="+mn-cs"/>
                </a:rPr>
                <a:t>gerçekten ne öğrendiğini, ayrı bir sınava</a:t>
              </a:r>
              <a:br/>
              <a:r>
                <a:rPr lang="tr-TR" sz="1200" dirty="0">
                  <a:solidFill>
                    <a:srgbClr val="172B3A"/>
                  </a:solidFill>
                  <a:latin typeface="+mn-lt"/>
                  <a:ea typeface="+mn-ea"/>
                  <a:cs typeface="+mn-cs"/>
                </a:rPr>
                <a:t>gerek kalmadan ölçer.</a:t>
              </a:r>
            </a:p>
          </p:txBody>
        </p:sp>
      </p:grpSp>
      <p:grpSp>
        <p:nvGrpSpPr>
          <p:cNvPr id="23" name="origin-note"/>
          <p:cNvGrpSpPr/>
          <p:nvPr/>
        </p:nvGrpSpPr>
        <p:grpSpPr>
          <a:xfrm>
            <a:off x="609600" y="4762500"/>
            <a:ext cx="10972800" cy="1143000"/>
            <a:chOff x="609600" y="4762500"/>
            <a:chExt cx="10972800" cy="1143000"/>
          </a:xfrm>
        </p:grpSpPr>
        <p:sp>
          <p:nvSpPr>
            <p:cNvPr id="19" name="Rectangle 19"/>
            <p:cNvSpPr/>
            <p:nvPr/>
          </p:nvSpPr>
          <p:spPr>
            <a:xfrm>
              <a:off x="609600" y="4762500"/>
              <a:ext cx="10972800" cy="1143000"/>
            </a:xfrm>
            <a:prstGeom prst="roundRect">
              <a:avLst>
                <a:gd name="adj" fmla="val 6667"/>
              </a:avLst>
            </a:prstGeom>
            <a:solidFill>
              <a:srgbClr val="12355B"/>
            </a:solidFill>
            <a:ln>
              <a:noFill/>
            </a:ln>
          </p:spPr>
        </p:sp>
        <p:sp>
          <p:nvSpPr>
            <p:cNvPr id="20" name="TextBox 20"/>
            <p:cNvSpPr txBox="1"/>
            <p:nvPr/>
          </p:nvSpPr>
          <p:spPr>
            <a:xfrm>
              <a:off x="908304" y="4975860"/>
              <a:ext cx="1571000" cy="234696"/>
            </a:xfrm>
            <a:prstGeom prst="rect">
              <a:avLst/>
            </a:prstGeom>
            <a:noFill/>
            <a:ln>
              <a:noFill/>
            </a:ln>
          </p:spPr>
          <p:txBody>
            <a:bodyPr wrap="none" lIns="0" tIns="0" rIns="0" bIns="0" anchor="t" anchorCtr="0">
              <a:spAutoFit/>
            </a:bodyPr>
            <a:lstStyle/>
            <a:p>
              <a:pPr algn="l"/>
              <a:r>
                <a:rPr lang="tr-TR" sz="1200" b="1" spc="150" dirty="0">
                  <a:solidFill>
                    <a:srgbClr val="00A6A6"/>
                  </a:solidFill>
                  <a:latin typeface="+mn-lt"/>
                  <a:ea typeface="+mn-ea"/>
                  <a:cs typeface="+mn-cs"/>
                </a:rPr>
                <a:t>1996 — BREIMAN</a:t>
              </a:r>
            </a:p>
          </p:txBody>
        </p:sp>
        <p:sp>
          <p:nvSpPr>
            <p:cNvPr id="21" name="TextBox 21"/>
            <p:cNvSpPr txBox="1"/>
            <p:nvPr/>
          </p:nvSpPr>
          <p:spPr>
            <a:xfrm>
              <a:off x="905256" y="5253990"/>
              <a:ext cx="4745631"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Orijinal bagging makalesinde tanıtıldı</a:t>
              </a:r>
            </a:p>
          </p:txBody>
        </p:sp>
        <p:sp>
          <p:nvSpPr>
            <p:cNvPr id="22" name="TextBox 22"/>
            <p:cNvSpPr txBox="1"/>
            <p:nvPr/>
          </p:nvSpPr>
          <p:spPr>
            <a:xfrm>
              <a:off x="908304" y="5585460"/>
              <a:ext cx="692627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k-katlamalı çapraz doğrulamaya yakın, bazı durumlarda daha az yanlı bir tahmin verir.</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24</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9983089" cy="668845"/>
            <a:chOff x="609600" y="171450"/>
            <a:chExt cx="9983089"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929271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OOB skoru: 5-katlamalı CV'ye ne kadar yakın?</a:t>
              </a:r>
            </a:p>
          </p:txBody>
        </p:sp>
      </p:grpSp>
      <p:grpSp>
        <p:nvGrpSpPr>
          <p:cNvPr id="21" name="compare-cards"/>
          <p:cNvGrpSpPr/>
          <p:nvPr/>
        </p:nvGrpSpPr>
        <p:grpSpPr>
          <a:xfrm>
            <a:off x="609600" y="1257300"/>
            <a:ext cx="5943600" cy="2286000"/>
            <a:chOff x="609600" y="1257300"/>
            <a:chExt cx="5943600" cy="2286000"/>
          </a:xfrm>
        </p:grpSpPr>
        <p:sp>
          <p:nvSpPr>
            <p:cNvPr id="9" name="Rectangle 9"/>
            <p:cNvSpPr/>
            <p:nvPr/>
          </p:nvSpPr>
          <p:spPr>
            <a:xfrm>
              <a:off x="609600" y="1257300"/>
              <a:ext cx="2743200" cy="2286000"/>
            </a:xfrm>
            <a:prstGeom prst="roundRect">
              <a:avLst>
                <a:gd name="adj" fmla="val 4167"/>
              </a:avLst>
            </a:prstGeom>
            <a:solidFill>
              <a:srgbClr val="FFFFFF"/>
            </a:solidFill>
            <a:ln w="14288">
              <a:solidFill>
                <a:srgbClr val="00A6A6"/>
              </a:solidFill>
            </a:ln>
          </p:spPr>
        </p:sp>
        <p:sp>
          <p:nvSpPr>
            <p:cNvPr id="10" name="TextBox 10"/>
            <p:cNvSpPr txBox="1"/>
            <p:nvPr/>
          </p:nvSpPr>
          <p:spPr>
            <a:xfrm>
              <a:off x="830199" y="1430179"/>
              <a:ext cx="117918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OOB skoru</a:t>
              </a:r>
            </a:p>
          </p:txBody>
        </p:sp>
        <p:sp>
          <p:nvSpPr>
            <p:cNvPr id="11" name="TextBox 11"/>
            <p:cNvSpPr txBox="1"/>
            <p:nvPr/>
          </p:nvSpPr>
          <p:spPr>
            <a:xfrm>
              <a:off x="823722" y="1749742"/>
              <a:ext cx="1136794" cy="557403"/>
            </a:xfrm>
            <a:prstGeom prst="rect">
              <a:avLst/>
            </a:prstGeom>
            <a:noFill/>
            <a:ln>
              <a:noFill/>
            </a:ln>
          </p:spPr>
          <p:txBody>
            <a:bodyPr wrap="none" lIns="0" tIns="0" rIns="0" bIns="0" anchor="t" anchorCtr="0">
              <a:spAutoFit/>
            </a:bodyPr>
            <a:lstStyle/>
            <a:p>
              <a:pPr algn="l"/>
              <a:r>
                <a:rPr lang="tr-TR" sz="2850" b="1" dirty="0">
                  <a:solidFill>
                    <a:srgbClr val="00A6A6"/>
                  </a:solidFill>
                  <a:latin typeface="+mn-lt"/>
                  <a:ea typeface="+mn-ea"/>
                  <a:cs typeface="+mn-cs"/>
                </a:rPr>
                <a:t>0.899</a:t>
              </a:r>
            </a:p>
          </p:txBody>
        </p:sp>
        <p:sp>
          <p:nvSpPr>
            <p:cNvPr id="12" name="TextBox 12"/>
            <p:cNvSpPr txBox="1"/>
            <p:nvPr/>
          </p:nvSpPr>
          <p:spPr>
            <a:xfrm>
              <a:off x="832104" y="2232660"/>
              <a:ext cx="143914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Hesaplama süresi:</a:t>
              </a:r>
            </a:p>
          </p:txBody>
        </p:sp>
        <p:sp>
          <p:nvSpPr>
            <p:cNvPr id="13" name="TextBox 13"/>
            <p:cNvSpPr txBox="1"/>
            <p:nvPr/>
          </p:nvSpPr>
          <p:spPr>
            <a:xfrm>
              <a:off x="830199" y="2401729"/>
              <a:ext cx="1255509" cy="308039"/>
            </a:xfrm>
            <a:prstGeom prst="rect">
              <a:avLst/>
            </a:prstGeom>
            <a:noFill/>
            <a:ln>
              <a:noFill/>
            </a:ln>
          </p:spPr>
          <p:txBody>
            <a:bodyPr wrap="none" lIns="0" tIns="0" rIns="0" bIns="0" anchor="t" anchorCtr="0">
              <a:spAutoFit/>
            </a:bodyPr>
            <a:lstStyle/>
            <a:p>
              <a:pPr algn="l"/>
              <a:r>
                <a:rPr lang="tr-TR" sz="1580" b="1" dirty="0">
                  <a:solidFill>
                    <a:srgbClr val="172B3A"/>
                  </a:solidFill>
                  <a:latin typeface="+mn-lt"/>
                  <a:ea typeface="+mn-ea"/>
                  <a:cs typeface="+mn-cs"/>
                </a:rPr>
                <a:t>0.28 saniye</a:t>
              </a:r>
            </a:p>
          </p:txBody>
        </p:sp>
        <p:sp>
          <p:nvSpPr>
            <p:cNvPr id="14" name="TextBox 14"/>
            <p:cNvSpPr txBox="1"/>
            <p:nvPr/>
          </p:nvSpPr>
          <p:spPr>
            <a:xfrm>
              <a:off x="832104" y="3032760"/>
              <a:ext cx="24485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Model yalnızca bir kez eğitilir.</a:t>
              </a:r>
            </a:p>
          </p:txBody>
        </p:sp>
        <p:sp>
          <p:nvSpPr>
            <p:cNvPr id="15" name="Rectangle 15"/>
            <p:cNvSpPr/>
            <p:nvPr/>
          </p:nvSpPr>
          <p:spPr>
            <a:xfrm>
              <a:off x="3810000" y="1257300"/>
              <a:ext cx="2743200" cy="2286000"/>
            </a:xfrm>
            <a:prstGeom prst="roundRect">
              <a:avLst>
                <a:gd name="adj" fmla="val 4167"/>
              </a:avLst>
            </a:prstGeom>
            <a:solidFill>
              <a:srgbClr val="FFFFFF"/>
            </a:solidFill>
            <a:ln w="14288">
              <a:solidFill>
                <a:srgbClr val="B8CBD3"/>
              </a:solidFill>
            </a:ln>
          </p:spPr>
        </p:sp>
        <p:sp>
          <p:nvSpPr>
            <p:cNvPr id="16" name="TextBox 16"/>
            <p:cNvSpPr txBox="1"/>
            <p:nvPr/>
          </p:nvSpPr>
          <p:spPr>
            <a:xfrm>
              <a:off x="4030599" y="1430179"/>
              <a:ext cx="162927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5-katlamalı CV</a:t>
              </a:r>
            </a:p>
          </p:txBody>
        </p:sp>
        <p:sp>
          <p:nvSpPr>
            <p:cNvPr id="17" name="TextBox 17"/>
            <p:cNvSpPr txBox="1"/>
            <p:nvPr/>
          </p:nvSpPr>
          <p:spPr>
            <a:xfrm>
              <a:off x="4024122" y="1749742"/>
              <a:ext cx="1136794" cy="557403"/>
            </a:xfrm>
            <a:prstGeom prst="rect">
              <a:avLst/>
            </a:prstGeom>
            <a:noFill/>
            <a:ln>
              <a:noFill/>
            </a:ln>
          </p:spPr>
          <p:txBody>
            <a:bodyPr wrap="none" lIns="0" tIns="0" rIns="0" bIns="0" anchor="t" anchorCtr="0">
              <a:spAutoFit/>
            </a:bodyPr>
            <a:lstStyle/>
            <a:p>
              <a:pPr algn="l"/>
              <a:r>
                <a:rPr lang="tr-TR" sz="2850" b="1" dirty="0">
                  <a:solidFill>
                    <a:srgbClr val="52616B"/>
                  </a:solidFill>
                  <a:latin typeface="+mn-lt"/>
                  <a:ea typeface="+mn-ea"/>
                  <a:cs typeface="+mn-cs"/>
                </a:rPr>
                <a:t>0.896</a:t>
              </a:r>
            </a:p>
          </p:txBody>
        </p:sp>
        <p:sp>
          <p:nvSpPr>
            <p:cNvPr id="18" name="TextBox 18"/>
            <p:cNvSpPr txBox="1"/>
            <p:nvPr/>
          </p:nvSpPr>
          <p:spPr>
            <a:xfrm>
              <a:off x="4032504" y="2232660"/>
              <a:ext cx="143914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Hesaplama süresi:</a:t>
              </a:r>
            </a:p>
          </p:txBody>
        </p:sp>
        <p:sp>
          <p:nvSpPr>
            <p:cNvPr id="19" name="TextBox 19"/>
            <p:cNvSpPr txBox="1"/>
            <p:nvPr/>
          </p:nvSpPr>
          <p:spPr>
            <a:xfrm>
              <a:off x="4030599" y="2401729"/>
              <a:ext cx="1255509" cy="308039"/>
            </a:xfrm>
            <a:prstGeom prst="rect">
              <a:avLst/>
            </a:prstGeom>
            <a:noFill/>
            <a:ln>
              <a:noFill/>
            </a:ln>
          </p:spPr>
          <p:txBody>
            <a:bodyPr wrap="none" lIns="0" tIns="0" rIns="0" bIns="0" anchor="t" anchorCtr="0">
              <a:spAutoFit/>
            </a:bodyPr>
            <a:lstStyle/>
            <a:p>
              <a:pPr algn="l"/>
              <a:r>
                <a:rPr lang="tr-TR" sz="1580" b="1" dirty="0">
                  <a:solidFill>
                    <a:srgbClr val="172B3A"/>
                  </a:solidFill>
                  <a:latin typeface="+mn-lt"/>
                  <a:ea typeface="+mn-ea"/>
                  <a:cs typeface="+mn-cs"/>
                </a:rPr>
                <a:t>1.35 saniye</a:t>
              </a:r>
            </a:p>
          </p:txBody>
        </p:sp>
        <p:sp>
          <p:nvSpPr>
            <p:cNvPr id="20" name="TextBox 20"/>
            <p:cNvSpPr txBox="1"/>
            <p:nvPr/>
          </p:nvSpPr>
          <p:spPr>
            <a:xfrm>
              <a:off x="4032504" y="3032760"/>
              <a:ext cx="240015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Model beş kez yeniden eğitilir.</a:t>
              </a:r>
            </a:p>
          </p:txBody>
        </p:sp>
      </p:grpSp>
      <p:grpSp>
        <p:nvGrpSpPr>
          <p:cNvPr id="25" name="speed-note"/>
          <p:cNvGrpSpPr/>
          <p:nvPr/>
        </p:nvGrpSpPr>
        <p:grpSpPr>
          <a:xfrm>
            <a:off x="609600" y="3924300"/>
            <a:ext cx="5943600" cy="1028700"/>
            <a:chOff x="609600" y="3924300"/>
            <a:chExt cx="5943600" cy="1028700"/>
          </a:xfrm>
        </p:grpSpPr>
        <p:sp>
          <p:nvSpPr>
            <p:cNvPr id="22" name="Rectangle 22"/>
            <p:cNvSpPr/>
            <p:nvPr/>
          </p:nvSpPr>
          <p:spPr>
            <a:xfrm>
              <a:off x="609600" y="3924300"/>
              <a:ext cx="5943600" cy="1028700"/>
            </a:xfrm>
            <a:prstGeom prst="roundRect">
              <a:avLst>
                <a:gd name="adj" fmla="val 7407"/>
              </a:avLst>
            </a:prstGeom>
            <a:solidFill>
              <a:srgbClr val="EAF4F6"/>
            </a:solidFill>
            <a:ln>
              <a:noFill/>
            </a:ln>
          </p:spPr>
        </p:sp>
        <p:sp>
          <p:nvSpPr>
            <p:cNvPr id="23" name="TextBox 23"/>
            <p:cNvSpPr txBox="1"/>
            <p:nvPr/>
          </p:nvSpPr>
          <p:spPr>
            <a:xfrm>
              <a:off x="905256" y="4072890"/>
              <a:ext cx="343571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İki skor birbirine çok yakın</a:t>
              </a:r>
            </a:p>
          </p:txBody>
        </p:sp>
        <p:sp>
          <p:nvSpPr>
            <p:cNvPr id="24" name="TextBox 24"/>
            <p:cNvSpPr txBox="1"/>
            <p:nvPr/>
          </p:nvSpPr>
          <p:spPr>
            <a:xfrm>
              <a:off x="908304" y="4423410"/>
              <a:ext cx="29611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Ama OOB, temsilî olarak yaklaşık 5 kat</a:t>
              </a:r>
              <a:br/>
              <a:r>
                <a:rPr lang="tr-TR" sz="1200" dirty="0">
                  <a:solidFill>
                    <a:srgbClr val="52616B"/>
                  </a:solidFill>
                  <a:latin typeface="+mn-lt"/>
                  <a:ea typeface="+mn-ea"/>
                  <a:cs typeface="+mn-cs"/>
                </a:rPr>
                <a:t>daha hızlıdır (donanıma göre değişir).</a:t>
              </a:r>
            </a:p>
          </p:txBody>
        </p:sp>
      </p:grpSp>
      <p:grpSp>
        <p:nvGrpSpPr>
          <p:cNvPr id="40" name="convergence-chart"/>
          <p:cNvGrpSpPr/>
          <p:nvPr/>
        </p:nvGrpSpPr>
        <p:grpSpPr>
          <a:xfrm>
            <a:off x="6775704" y="1375410"/>
            <a:ext cx="4260190" cy="3492246"/>
            <a:chOff x="6775704" y="1375410"/>
            <a:chExt cx="4260190" cy="3492246"/>
          </a:xfrm>
        </p:grpSpPr>
        <p:sp>
          <p:nvSpPr>
            <p:cNvPr id="26" name="TextBox 26"/>
            <p:cNvSpPr txBox="1"/>
            <p:nvPr/>
          </p:nvSpPr>
          <p:spPr>
            <a:xfrm>
              <a:off x="6775704" y="1375410"/>
              <a:ext cx="3464784" cy="234696"/>
            </a:xfrm>
            <a:prstGeom prst="rect">
              <a:avLst/>
            </a:prstGeom>
            <a:noFill/>
            <a:ln>
              <a:noFill/>
            </a:ln>
          </p:spPr>
          <p:txBody>
            <a:bodyPr wrap="none" lIns="0" tIns="0" rIns="0" bIns="0" anchor="t" anchorCtr="0">
              <a:spAutoFit/>
            </a:bodyPr>
            <a:lstStyle/>
            <a:p>
              <a:pPr algn="l"/>
              <a:r>
                <a:rPr lang="tr-TR" sz="1200" b="1" spc="75" dirty="0">
                  <a:solidFill>
                    <a:srgbClr val="52616B"/>
                  </a:solidFill>
                  <a:latin typeface="+mn-lt"/>
                  <a:ea typeface="+mn-ea"/>
                  <a:cs typeface="+mn-cs"/>
                </a:rPr>
                <a:t>AĞAÇ SAYISINA GÖRE OOB YAKINSAMASI</a:t>
              </a:r>
            </a:p>
          </p:txBody>
        </p:sp>
        <p:sp>
          <p:nvSpPr>
            <p:cNvPr id="27" name="Line 27"/>
            <p:cNvSpPr/>
            <p:nvPr/>
          </p:nvSpPr>
          <p:spPr>
            <a:xfrm>
              <a:off x="7143750" y="4000500"/>
              <a:ext cx="3810000" cy="9525"/>
            </a:xfrm>
            <a:custGeom>
              <a:avLst/>
              <a:gdLst/>
              <a:ahLst/>
              <a:cxnLst/>
              <a:rect l="l" t="t" r="r" b="b"/>
              <a:pathLst>
                <a:path w="3810000" h="9525">
                  <a:moveTo>
                    <a:pt x="0" y="0"/>
                  </a:moveTo>
                  <a:lnTo>
                    <a:pt x="3810000" y="0"/>
                  </a:lnTo>
                </a:path>
              </a:pathLst>
            </a:custGeom>
            <a:noFill/>
            <a:ln w="14288">
              <a:solidFill>
                <a:srgbClr val="B8CBD3"/>
              </a:solidFill>
            </a:ln>
          </p:spPr>
        </p:sp>
        <p:sp>
          <p:nvSpPr>
            <p:cNvPr id="28" name="Line 28"/>
            <p:cNvSpPr/>
            <p:nvPr/>
          </p:nvSpPr>
          <p:spPr>
            <a:xfrm>
              <a:off x="7143750" y="1905000"/>
              <a:ext cx="9525" cy="2095500"/>
            </a:xfrm>
            <a:custGeom>
              <a:avLst/>
              <a:gdLst/>
              <a:ahLst/>
              <a:cxnLst/>
              <a:rect l="l" t="t" r="r" b="b"/>
              <a:pathLst>
                <a:path w="9525" h="2095500">
                  <a:moveTo>
                    <a:pt x="0" y="0"/>
                  </a:moveTo>
                  <a:lnTo>
                    <a:pt x="0" y="2095500"/>
                  </a:lnTo>
                </a:path>
              </a:pathLst>
            </a:custGeom>
            <a:noFill/>
            <a:ln w="14288">
              <a:solidFill>
                <a:srgbClr val="B8CBD3"/>
              </a:solidFill>
            </a:ln>
          </p:spPr>
        </p:sp>
        <p:sp>
          <p:nvSpPr>
            <p:cNvPr id="29" name="Line 29"/>
            <p:cNvSpPr/>
            <p:nvPr/>
          </p:nvSpPr>
          <p:spPr>
            <a:xfrm>
              <a:off x="7143750" y="2190750"/>
              <a:ext cx="3810000" cy="9525"/>
            </a:xfrm>
            <a:custGeom>
              <a:avLst/>
              <a:gdLst/>
              <a:ahLst/>
              <a:cxnLst/>
              <a:rect l="l" t="t" r="r" b="b"/>
              <a:pathLst>
                <a:path w="3810000" h="9525">
                  <a:moveTo>
                    <a:pt x="0" y="0"/>
                  </a:moveTo>
                  <a:lnTo>
                    <a:pt x="3810000" y="0"/>
                  </a:lnTo>
                </a:path>
              </a:pathLst>
            </a:custGeom>
            <a:noFill/>
            <a:ln w="14288">
              <a:solidFill>
                <a:srgbClr val="00A6A6"/>
              </a:solidFill>
              <a:custDash>
                <a:ds d="333333" sp="266667"/>
              </a:custDash>
            </a:ln>
          </p:spPr>
        </p:sp>
        <p:sp>
          <p:nvSpPr>
            <p:cNvPr id="30" name="TextBox 30"/>
            <p:cNvSpPr txBox="1"/>
            <p:nvPr/>
          </p:nvSpPr>
          <p:spPr>
            <a:xfrm>
              <a:off x="10376154" y="1985010"/>
              <a:ext cx="50490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 0.90</a:t>
              </a:r>
            </a:p>
          </p:txBody>
        </p:sp>
        <p:sp>
          <p:nvSpPr>
            <p:cNvPr id="31" name="Polyline 31"/>
            <p:cNvSpPr/>
            <p:nvPr/>
          </p:nvSpPr>
          <p:spPr>
            <a:xfrm>
              <a:off x="7143750" y="2171700"/>
              <a:ext cx="3810000" cy="1562100"/>
            </a:xfrm>
            <a:custGeom>
              <a:avLst/>
              <a:gdLst/>
              <a:ahLst/>
              <a:cxnLst/>
              <a:rect l="l" t="t" r="r" b="b"/>
              <a:pathLst>
                <a:path w="3810000" h="1562100">
                  <a:moveTo>
                    <a:pt x="0" y="1562100"/>
                  </a:moveTo>
                  <a:lnTo>
                    <a:pt x="314325" y="485775"/>
                  </a:lnTo>
                  <a:lnTo>
                    <a:pt x="695325" y="104775"/>
                  </a:lnTo>
                  <a:lnTo>
                    <a:pt x="1085850" y="28575"/>
                  </a:lnTo>
                  <a:lnTo>
                    <a:pt x="2257425" y="0"/>
                  </a:lnTo>
                  <a:lnTo>
                    <a:pt x="3810000" y="19050"/>
                  </a:lnTo>
                </a:path>
              </a:pathLst>
            </a:custGeom>
            <a:noFill/>
            <a:ln w="23812">
              <a:solidFill>
                <a:srgbClr val="12355B"/>
              </a:solidFill>
            </a:ln>
          </p:spPr>
        </p:sp>
        <p:sp>
          <p:nvSpPr>
            <p:cNvPr id="32" name="Ellipse 32"/>
            <p:cNvSpPr/>
            <p:nvPr/>
          </p:nvSpPr>
          <p:spPr>
            <a:xfrm>
              <a:off x="7096125" y="3686175"/>
              <a:ext cx="95250" cy="95250"/>
            </a:xfrm>
            <a:prstGeom prst="ellipse">
              <a:avLst/>
            </a:prstGeom>
            <a:solidFill>
              <a:srgbClr val="12355B"/>
            </a:solidFill>
            <a:ln>
              <a:noFill/>
            </a:ln>
          </p:spPr>
        </p:sp>
        <p:sp>
          <p:nvSpPr>
            <p:cNvPr id="33" name="Ellipse 33"/>
            <p:cNvSpPr/>
            <p:nvPr/>
          </p:nvSpPr>
          <p:spPr>
            <a:xfrm>
              <a:off x="8181975" y="2152650"/>
              <a:ext cx="95250" cy="95250"/>
            </a:xfrm>
            <a:prstGeom prst="ellipse">
              <a:avLst/>
            </a:prstGeom>
            <a:solidFill>
              <a:srgbClr val="12355B"/>
            </a:solidFill>
            <a:ln>
              <a:noFill/>
            </a:ln>
          </p:spPr>
        </p:sp>
        <p:sp>
          <p:nvSpPr>
            <p:cNvPr id="34" name="Ellipse 34"/>
            <p:cNvSpPr/>
            <p:nvPr/>
          </p:nvSpPr>
          <p:spPr>
            <a:xfrm>
              <a:off x="10906125" y="2143125"/>
              <a:ext cx="95250" cy="95250"/>
            </a:xfrm>
            <a:prstGeom prst="ellipse">
              <a:avLst/>
            </a:prstGeom>
            <a:solidFill>
              <a:srgbClr val="12355B"/>
            </a:solidFill>
            <a:ln>
              <a:noFill/>
            </a:ln>
          </p:spPr>
        </p:sp>
        <p:sp>
          <p:nvSpPr>
            <p:cNvPr id="35" name="TextBox 35"/>
            <p:cNvSpPr txBox="1"/>
            <p:nvPr/>
          </p:nvSpPr>
          <p:spPr>
            <a:xfrm>
              <a:off x="7061454" y="4080510"/>
              <a:ext cx="18989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10</a:t>
              </a:r>
            </a:p>
          </p:txBody>
        </p:sp>
        <p:sp>
          <p:nvSpPr>
            <p:cNvPr id="36" name="TextBox 36"/>
            <p:cNvSpPr txBox="1"/>
            <p:nvPr/>
          </p:nvSpPr>
          <p:spPr>
            <a:xfrm>
              <a:off x="8090154" y="4080510"/>
              <a:ext cx="2787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150</a:t>
              </a:r>
            </a:p>
          </p:txBody>
        </p:sp>
        <p:sp>
          <p:nvSpPr>
            <p:cNvPr id="37" name="TextBox 37"/>
            <p:cNvSpPr txBox="1"/>
            <p:nvPr/>
          </p:nvSpPr>
          <p:spPr>
            <a:xfrm>
              <a:off x="10757154" y="4080510"/>
              <a:ext cx="27874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500</a:t>
              </a:r>
            </a:p>
          </p:txBody>
        </p:sp>
        <p:sp>
          <p:nvSpPr>
            <p:cNvPr id="38" name="TextBox 38"/>
            <p:cNvSpPr txBox="1"/>
            <p:nvPr/>
          </p:nvSpPr>
          <p:spPr>
            <a:xfrm>
              <a:off x="7137654" y="4156710"/>
              <a:ext cx="107030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n_estimators</a:t>
              </a:r>
            </a:p>
          </p:txBody>
        </p:sp>
        <p:sp>
          <p:nvSpPr>
            <p:cNvPr id="39" name="TextBox 39"/>
            <p:cNvSpPr txBox="1"/>
            <p:nvPr/>
          </p:nvSpPr>
          <p:spPr>
            <a:xfrm>
              <a:off x="6951345" y="4632960"/>
              <a:ext cx="2556510"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100-150 ağaçta 0.90'a yakınsar</a:t>
              </a:r>
            </a:p>
          </p:txBody>
        </p:sp>
      </p:grpSp>
      <p:grpSp>
        <p:nvGrpSpPr>
          <p:cNvPr id="44" name="doyum-note"/>
          <p:cNvGrpSpPr/>
          <p:nvPr/>
        </p:nvGrpSpPr>
        <p:grpSpPr>
          <a:xfrm>
            <a:off x="6781800" y="5238750"/>
            <a:ext cx="4800600" cy="666750"/>
            <a:chOff x="6781800" y="5238750"/>
            <a:chExt cx="4800600" cy="666750"/>
          </a:xfrm>
        </p:grpSpPr>
        <p:sp>
          <p:nvSpPr>
            <p:cNvPr id="41" name="Rectangle 41"/>
            <p:cNvSpPr/>
            <p:nvPr/>
          </p:nvSpPr>
          <p:spPr>
            <a:xfrm>
              <a:off x="6781800" y="5238750"/>
              <a:ext cx="4800600" cy="666750"/>
            </a:xfrm>
            <a:prstGeom prst="roundRect">
              <a:avLst>
                <a:gd name="adj" fmla="val 11429"/>
              </a:avLst>
            </a:prstGeom>
            <a:solidFill>
              <a:srgbClr val="EAF4F6"/>
            </a:solidFill>
            <a:ln>
              <a:noFill/>
            </a:ln>
          </p:spPr>
        </p:sp>
        <p:sp>
          <p:nvSpPr>
            <p:cNvPr id="42" name="TextBox 42"/>
            <p:cNvSpPr txBox="1"/>
            <p:nvPr/>
          </p:nvSpPr>
          <p:spPr>
            <a:xfrm>
              <a:off x="7042404" y="5433060"/>
              <a:ext cx="364795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"Daha fazla ağaç her zaman daha iyi" sezgisi</a:t>
              </a:r>
            </a:p>
          </p:txBody>
        </p:sp>
        <p:sp>
          <p:nvSpPr>
            <p:cNvPr id="43" name="TextBox 43"/>
            <p:cNvSpPr txBox="1"/>
            <p:nvPr/>
          </p:nvSpPr>
          <p:spPr>
            <a:xfrm>
              <a:off x="7042404" y="5661660"/>
              <a:ext cx="308960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bir noktadan sonra geçerliliğini yitirir.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24</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00995" cy="557403"/>
            <a:chOff x="595122" y="282892"/>
            <a:chExt cx="7400995" cy="557403"/>
          </a:xfrm>
        </p:grpSpPr>
        <p:sp>
          <p:nvSpPr>
            <p:cNvPr id="4" name="TextBox 4"/>
            <p:cNvSpPr txBox="1"/>
            <p:nvPr/>
          </p:nvSpPr>
          <p:spPr>
            <a:xfrm>
              <a:off x="595122" y="282892"/>
              <a:ext cx="740099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Öznitelik önemi (Feature Importance)</a:t>
              </a:r>
            </a:p>
          </p:txBody>
        </p:sp>
      </p:grpSp>
      <p:grpSp>
        <p:nvGrpSpPr>
          <p:cNvPr id="11" name="definition-block"/>
          <p:cNvGrpSpPr/>
          <p:nvPr/>
        </p:nvGrpSpPr>
        <p:grpSpPr>
          <a:xfrm>
            <a:off x="600456" y="1329690"/>
            <a:ext cx="3425190" cy="2880360"/>
            <a:chOff x="600456" y="1329690"/>
            <a:chExt cx="3425190" cy="2880360"/>
          </a:xfrm>
        </p:grpSpPr>
        <p:sp>
          <p:nvSpPr>
            <p:cNvPr id="6" name="TextBox 6"/>
            <p:cNvSpPr txBox="1"/>
            <p:nvPr/>
          </p:nvSpPr>
          <p:spPr>
            <a:xfrm>
              <a:off x="600456" y="13296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7" name="TextBox 7"/>
            <p:cNvSpPr txBox="1"/>
            <p:nvPr/>
          </p:nvSpPr>
          <p:spPr>
            <a:xfrm>
              <a:off x="601599" y="1658779"/>
              <a:ext cx="3186430"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Bir özniteliğin, ormandaki tüm</a:t>
              </a:r>
              <a:br/>
              <a:r>
                <a:rPr lang="tr-TR" sz="1580" dirty="0">
                  <a:solidFill>
                    <a:srgbClr val="172B3A"/>
                  </a:solidFill>
                  <a:latin typeface="+mn-lt"/>
                  <a:ea typeface="+mn-ea"/>
                  <a:cs typeface="+mn-cs"/>
                </a:rPr>
                <a:t>ağaçlarda düğüm bölünmelerinde</a:t>
              </a:r>
              <a:br/>
              <a:r>
                <a:rPr lang="tr-TR" sz="1580" dirty="0">
                  <a:solidFill>
                    <a:srgbClr val="172B3A"/>
                  </a:solidFill>
                  <a:latin typeface="+mn-lt"/>
                  <a:ea typeface="+mn-ea"/>
                  <a:cs typeface="+mn-cs"/>
                </a:rPr>
                <a:t>sağladığı ortalama saflık (Gini)</a:t>
              </a:r>
              <a:br/>
              <a:r>
                <a:rPr lang="tr-TR" sz="1580" dirty="0">
                  <a:solidFill>
                    <a:srgbClr val="172B3A"/>
                  </a:solidFill>
                  <a:latin typeface="+mn-lt"/>
                  <a:ea typeface="+mn-ea"/>
                  <a:cs typeface="+mn-cs"/>
                </a:rPr>
                <a:t>azalmasının toplamıdır (MDI).</a:t>
              </a:r>
            </a:p>
          </p:txBody>
        </p:sp>
        <p:sp>
          <p:nvSpPr>
            <p:cNvPr id="8" name="Rectangle 8"/>
            <p:cNvSpPr/>
            <p:nvPr/>
          </p:nvSpPr>
          <p:spPr>
            <a:xfrm>
              <a:off x="609600" y="3390900"/>
              <a:ext cx="57150" cy="819150"/>
            </a:xfrm>
            <a:prstGeom prst="rect">
              <a:avLst/>
            </a:prstGeom>
            <a:solidFill>
              <a:srgbClr val="00A6A6"/>
            </a:solidFill>
            <a:ln>
              <a:noFill/>
            </a:ln>
          </p:spPr>
        </p:sp>
        <p:sp>
          <p:nvSpPr>
            <p:cNvPr id="9" name="TextBox 9"/>
            <p:cNvSpPr txBox="1"/>
            <p:nvPr/>
          </p:nvSpPr>
          <p:spPr>
            <a:xfrm>
              <a:off x="849249" y="3449479"/>
              <a:ext cx="193226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Triyaj benzetmesi</a:t>
              </a:r>
            </a:p>
          </p:txBody>
        </p:sp>
        <p:sp>
          <p:nvSpPr>
            <p:cNvPr id="10" name="TextBox 10"/>
            <p:cNvSpPr txBox="1"/>
            <p:nvPr/>
          </p:nvSpPr>
          <p:spPr>
            <a:xfrm>
              <a:off x="851154" y="3737610"/>
              <a:ext cx="31744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Acil serviste hangi belirtinin teşhise</a:t>
              </a:r>
              <a:br/>
              <a:r>
                <a:rPr lang="tr-TR" sz="1200" dirty="0">
                  <a:solidFill>
                    <a:srgbClr val="52616B"/>
                  </a:solidFill>
                  <a:latin typeface="+mn-lt"/>
                  <a:ea typeface="+mn-ea"/>
                  <a:cs typeface="+mn-cs"/>
                </a:rPr>
                <a:t>en sık katkı sağladığını izlemeye benzer.</a:t>
              </a:r>
            </a:p>
          </p:txBody>
        </p:sp>
      </p:grpSp>
      <p:grpSp>
        <p:nvGrpSpPr>
          <p:cNvPr id="15" name="gini-vs-perm"/>
          <p:cNvGrpSpPr/>
          <p:nvPr/>
        </p:nvGrpSpPr>
        <p:grpSpPr>
          <a:xfrm>
            <a:off x="609600" y="4457700"/>
            <a:ext cx="5943600" cy="1447800"/>
            <a:chOff x="609600" y="4457700"/>
            <a:chExt cx="5943600" cy="1447800"/>
          </a:xfrm>
        </p:grpSpPr>
        <p:sp>
          <p:nvSpPr>
            <p:cNvPr id="12" name="Rectangle 12"/>
            <p:cNvSpPr/>
            <p:nvPr/>
          </p:nvSpPr>
          <p:spPr>
            <a:xfrm>
              <a:off x="609600" y="4457700"/>
              <a:ext cx="5943600" cy="1447800"/>
            </a:xfrm>
            <a:prstGeom prst="roundRect">
              <a:avLst>
                <a:gd name="adj" fmla="val 5263"/>
              </a:avLst>
            </a:prstGeom>
            <a:solidFill>
              <a:srgbClr val="EAF4F6"/>
            </a:solidFill>
            <a:ln>
              <a:noFill/>
            </a:ln>
          </p:spPr>
        </p:sp>
        <p:sp>
          <p:nvSpPr>
            <p:cNvPr id="13" name="TextBox 13"/>
            <p:cNvSpPr txBox="1"/>
            <p:nvPr/>
          </p:nvSpPr>
          <p:spPr>
            <a:xfrm>
              <a:off x="907161" y="4608671"/>
              <a:ext cx="3776017"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Gini (MDI) ile izin (permutation) farkı</a:t>
              </a:r>
            </a:p>
          </p:txBody>
        </p:sp>
        <p:sp>
          <p:nvSpPr>
            <p:cNvPr id="14" name="TextBox 14"/>
            <p:cNvSpPr txBox="1"/>
            <p:nvPr/>
          </p:nvSpPr>
          <p:spPr>
            <a:xfrm>
              <a:off x="908304" y="4899660"/>
              <a:ext cx="37155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Gini önemi hızlıdır ama yüksek kardinaliteli</a:t>
              </a:r>
              <a:br/>
              <a:r>
                <a:rPr lang="tr-TR" sz="1200" dirty="0">
                  <a:solidFill>
                    <a:srgbClr val="52616B"/>
                  </a:solidFill>
                  <a:latin typeface="+mn-lt"/>
                  <a:ea typeface="+mn-ea"/>
                  <a:cs typeface="+mn-cs"/>
                </a:rPr>
                <a:t>özniteliklere yanlı olabilir; izin tabanlı önem,</a:t>
              </a:r>
              <a:br/>
              <a:r>
                <a:rPr lang="tr-TR" sz="1200" dirty="0">
                  <a:solidFill>
                    <a:srgbClr val="52616B"/>
                  </a:solidFill>
                  <a:latin typeface="+mn-lt"/>
                  <a:ea typeface="+mn-ea"/>
                  <a:cs typeface="+mn-cs"/>
                </a:rPr>
                <a:t>değerleri karıştırıp performans düşüşünü ölçer.</a:t>
              </a:r>
            </a:p>
          </p:txBody>
        </p:sp>
      </p:grpSp>
      <p:grpSp>
        <p:nvGrpSpPr>
          <p:cNvPr id="43" name="importance-chart"/>
          <p:cNvGrpSpPr/>
          <p:nvPr/>
        </p:nvGrpSpPr>
        <p:grpSpPr>
          <a:xfrm>
            <a:off x="6775704" y="1257300"/>
            <a:ext cx="4041000" cy="3038856"/>
            <a:chOff x="6775704" y="1257300"/>
            <a:chExt cx="4041000" cy="3038856"/>
          </a:xfrm>
        </p:grpSpPr>
        <p:sp>
          <p:nvSpPr>
            <p:cNvPr id="16" name="TextBox 16"/>
            <p:cNvSpPr txBox="1"/>
            <p:nvPr/>
          </p:nvSpPr>
          <p:spPr>
            <a:xfrm>
              <a:off x="6775704" y="1375410"/>
              <a:ext cx="3454116" cy="234696"/>
            </a:xfrm>
            <a:prstGeom prst="rect">
              <a:avLst/>
            </a:prstGeom>
            <a:noFill/>
            <a:ln>
              <a:noFill/>
            </a:ln>
          </p:spPr>
          <p:txBody>
            <a:bodyPr wrap="none" lIns="0" tIns="0" rIns="0" bIns="0" anchor="t" anchorCtr="0">
              <a:spAutoFit/>
            </a:bodyPr>
            <a:lstStyle/>
            <a:p>
              <a:pPr algn="l"/>
              <a:r>
                <a:rPr lang="tr-TR" sz="1200" b="1" spc="75" dirty="0">
                  <a:solidFill>
                    <a:srgbClr val="52616B"/>
                  </a:solidFill>
                  <a:latin typeface="+mn-lt"/>
                  <a:ea typeface="+mn-ea"/>
                  <a:cs typeface="+mn-cs"/>
                </a:rPr>
                <a:t>SEKİZ ÖZNİTELİĞİN ÖNEM SIRALAMASI</a:t>
              </a:r>
            </a:p>
          </p:txBody>
        </p:sp>
        <p:sp>
          <p:nvSpPr>
            <p:cNvPr id="17" name="TextBox 17"/>
            <p:cNvSpPr txBox="1"/>
            <p:nvPr/>
          </p:nvSpPr>
          <p:spPr>
            <a:xfrm>
              <a:off x="6775704" y="1699260"/>
              <a:ext cx="9941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hizmetSayisi</a:t>
              </a:r>
            </a:p>
          </p:txBody>
        </p:sp>
        <p:sp>
          <p:nvSpPr>
            <p:cNvPr id="18" name="Rectangle 18"/>
            <p:cNvSpPr/>
            <p:nvPr/>
          </p:nvSpPr>
          <p:spPr>
            <a:xfrm>
              <a:off x="8572500" y="1695450"/>
              <a:ext cx="1676400" cy="171450"/>
            </a:xfrm>
            <a:prstGeom prst="rect">
              <a:avLst/>
            </a:prstGeom>
            <a:solidFill>
              <a:srgbClr val="00A6A6"/>
            </a:solidFill>
            <a:ln>
              <a:noFill/>
            </a:ln>
          </p:spPr>
        </p:sp>
        <p:sp>
          <p:nvSpPr>
            <p:cNvPr id="19" name="TextBox 19"/>
            <p:cNvSpPr txBox="1"/>
            <p:nvPr/>
          </p:nvSpPr>
          <p:spPr>
            <a:xfrm>
              <a:off x="10338054" y="1699260"/>
              <a:ext cx="4786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0.176</a:t>
              </a:r>
            </a:p>
          </p:txBody>
        </p:sp>
        <p:sp>
          <p:nvSpPr>
            <p:cNvPr id="20" name="TextBox 20"/>
            <p:cNvSpPr txBox="1"/>
            <p:nvPr/>
          </p:nvSpPr>
          <p:spPr>
            <a:xfrm>
              <a:off x="6775704" y="1985010"/>
              <a:ext cx="18154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faturaOdemeGecikmesi</a:t>
              </a:r>
            </a:p>
          </p:txBody>
        </p:sp>
        <p:sp>
          <p:nvSpPr>
            <p:cNvPr id="21" name="Rectangle 21"/>
            <p:cNvSpPr/>
            <p:nvPr/>
          </p:nvSpPr>
          <p:spPr>
            <a:xfrm>
              <a:off x="8572500" y="1981200"/>
              <a:ext cx="1657350" cy="171450"/>
            </a:xfrm>
            <a:prstGeom prst="rect">
              <a:avLst/>
            </a:prstGeom>
            <a:solidFill>
              <a:srgbClr val="00A6A6"/>
            </a:solidFill>
            <a:ln>
              <a:noFill/>
            </a:ln>
          </p:spPr>
        </p:sp>
        <p:sp>
          <p:nvSpPr>
            <p:cNvPr id="22" name="TextBox 22"/>
            <p:cNvSpPr txBox="1"/>
            <p:nvPr/>
          </p:nvSpPr>
          <p:spPr>
            <a:xfrm>
              <a:off x="10338054" y="1985010"/>
              <a:ext cx="4786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0.174</a:t>
              </a:r>
            </a:p>
          </p:txBody>
        </p:sp>
        <p:sp>
          <p:nvSpPr>
            <p:cNvPr id="23" name="TextBox 23"/>
            <p:cNvSpPr txBox="1"/>
            <p:nvPr/>
          </p:nvSpPr>
          <p:spPr>
            <a:xfrm>
              <a:off x="6775704" y="2270760"/>
              <a:ext cx="9616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internetHizi</a:t>
              </a:r>
            </a:p>
          </p:txBody>
        </p:sp>
        <p:sp>
          <p:nvSpPr>
            <p:cNvPr id="24" name="Rectangle 24"/>
            <p:cNvSpPr/>
            <p:nvPr/>
          </p:nvSpPr>
          <p:spPr>
            <a:xfrm>
              <a:off x="8572500" y="2266950"/>
              <a:ext cx="1428750" cy="171450"/>
            </a:xfrm>
            <a:prstGeom prst="rect">
              <a:avLst/>
            </a:prstGeom>
            <a:solidFill>
              <a:srgbClr val="2E86AB"/>
            </a:solidFill>
            <a:ln>
              <a:noFill/>
            </a:ln>
          </p:spPr>
        </p:sp>
        <p:sp>
          <p:nvSpPr>
            <p:cNvPr id="25" name="TextBox 25"/>
            <p:cNvSpPr txBox="1"/>
            <p:nvPr/>
          </p:nvSpPr>
          <p:spPr>
            <a:xfrm>
              <a:off x="10338054" y="2270760"/>
              <a:ext cx="4786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0.150</a:t>
              </a:r>
            </a:p>
          </p:txBody>
        </p:sp>
        <p:sp>
          <p:nvSpPr>
            <p:cNvPr id="26" name="TextBox 26"/>
            <p:cNvSpPr txBox="1"/>
            <p:nvPr/>
          </p:nvSpPr>
          <p:spPr>
            <a:xfrm>
              <a:off x="6775704" y="2556510"/>
              <a:ext cx="141072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destekCagriSayisi</a:t>
              </a:r>
            </a:p>
          </p:txBody>
        </p:sp>
        <p:sp>
          <p:nvSpPr>
            <p:cNvPr id="27" name="Rectangle 27"/>
            <p:cNvSpPr/>
            <p:nvPr/>
          </p:nvSpPr>
          <p:spPr>
            <a:xfrm>
              <a:off x="8572500" y="2552700"/>
              <a:ext cx="1352550" cy="171450"/>
            </a:xfrm>
            <a:prstGeom prst="rect">
              <a:avLst/>
            </a:prstGeom>
            <a:solidFill>
              <a:srgbClr val="2E86AB"/>
            </a:solidFill>
            <a:ln>
              <a:noFill/>
            </a:ln>
          </p:spPr>
        </p:sp>
        <p:sp>
          <p:nvSpPr>
            <p:cNvPr id="28" name="TextBox 28"/>
            <p:cNvSpPr txBox="1"/>
            <p:nvPr/>
          </p:nvSpPr>
          <p:spPr>
            <a:xfrm>
              <a:off x="10338054" y="2556510"/>
              <a:ext cx="4786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0.142</a:t>
              </a:r>
            </a:p>
          </p:txBody>
        </p:sp>
        <p:sp>
          <p:nvSpPr>
            <p:cNvPr id="29" name="TextBox 29"/>
            <p:cNvSpPr txBox="1"/>
            <p:nvPr/>
          </p:nvSpPr>
          <p:spPr>
            <a:xfrm>
              <a:off x="6775704" y="2842260"/>
              <a:ext cx="13904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musteriSuresi_ay</a:t>
              </a:r>
            </a:p>
          </p:txBody>
        </p:sp>
        <p:sp>
          <p:nvSpPr>
            <p:cNvPr id="30" name="Rectangle 30"/>
            <p:cNvSpPr/>
            <p:nvPr/>
          </p:nvSpPr>
          <p:spPr>
            <a:xfrm>
              <a:off x="8572500" y="2838450"/>
              <a:ext cx="1285875" cy="171450"/>
            </a:xfrm>
            <a:prstGeom prst="rect">
              <a:avLst/>
            </a:prstGeom>
            <a:solidFill>
              <a:srgbClr val="2E86AB"/>
            </a:solidFill>
            <a:ln>
              <a:noFill/>
            </a:ln>
          </p:spPr>
        </p:sp>
        <p:sp>
          <p:nvSpPr>
            <p:cNvPr id="31" name="TextBox 31"/>
            <p:cNvSpPr txBox="1"/>
            <p:nvPr/>
          </p:nvSpPr>
          <p:spPr>
            <a:xfrm>
              <a:off x="10338054" y="2842260"/>
              <a:ext cx="4786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0.135</a:t>
              </a:r>
            </a:p>
          </p:txBody>
        </p:sp>
        <p:sp>
          <p:nvSpPr>
            <p:cNvPr id="32" name="TextBox 32"/>
            <p:cNvSpPr txBox="1"/>
            <p:nvPr/>
          </p:nvSpPr>
          <p:spPr>
            <a:xfrm>
              <a:off x="6775704" y="3128010"/>
              <a:ext cx="9864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toplamUcret</a:t>
              </a:r>
            </a:p>
          </p:txBody>
        </p:sp>
        <p:sp>
          <p:nvSpPr>
            <p:cNvPr id="33" name="Rectangle 33"/>
            <p:cNvSpPr/>
            <p:nvPr/>
          </p:nvSpPr>
          <p:spPr>
            <a:xfrm>
              <a:off x="8572500" y="3124200"/>
              <a:ext cx="1152525" cy="171450"/>
            </a:xfrm>
            <a:prstGeom prst="rect">
              <a:avLst/>
            </a:prstGeom>
            <a:solidFill>
              <a:srgbClr val="B8CBD3"/>
            </a:solidFill>
            <a:ln>
              <a:noFill/>
            </a:ln>
          </p:spPr>
        </p:sp>
        <p:sp>
          <p:nvSpPr>
            <p:cNvPr id="34" name="TextBox 34"/>
            <p:cNvSpPr txBox="1"/>
            <p:nvPr/>
          </p:nvSpPr>
          <p:spPr>
            <a:xfrm>
              <a:off x="10338054" y="3128010"/>
              <a:ext cx="478650"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0.121</a:t>
              </a:r>
            </a:p>
          </p:txBody>
        </p:sp>
        <p:sp>
          <p:nvSpPr>
            <p:cNvPr id="35" name="TextBox 35"/>
            <p:cNvSpPr txBox="1"/>
            <p:nvPr/>
          </p:nvSpPr>
          <p:spPr>
            <a:xfrm>
              <a:off x="6775704" y="3413760"/>
              <a:ext cx="8244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aylikUcret</a:t>
              </a:r>
            </a:p>
          </p:txBody>
        </p:sp>
        <p:sp>
          <p:nvSpPr>
            <p:cNvPr id="36" name="Rectangle 36"/>
            <p:cNvSpPr/>
            <p:nvPr/>
          </p:nvSpPr>
          <p:spPr>
            <a:xfrm>
              <a:off x="8572500" y="3409950"/>
              <a:ext cx="523875" cy="171450"/>
            </a:xfrm>
            <a:prstGeom prst="rect">
              <a:avLst/>
            </a:prstGeom>
            <a:solidFill>
              <a:srgbClr val="B8CBD3"/>
            </a:solidFill>
            <a:ln>
              <a:noFill/>
            </a:ln>
          </p:spPr>
        </p:sp>
        <p:sp>
          <p:nvSpPr>
            <p:cNvPr id="37" name="TextBox 37"/>
            <p:cNvSpPr txBox="1"/>
            <p:nvPr/>
          </p:nvSpPr>
          <p:spPr>
            <a:xfrm>
              <a:off x="10338054" y="3413760"/>
              <a:ext cx="478650"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0.055</a:t>
              </a:r>
            </a:p>
          </p:txBody>
        </p:sp>
        <p:sp>
          <p:nvSpPr>
            <p:cNvPr id="38" name="TextBox 38"/>
            <p:cNvSpPr txBox="1"/>
            <p:nvPr/>
          </p:nvSpPr>
          <p:spPr>
            <a:xfrm>
              <a:off x="6775704" y="3699510"/>
              <a:ext cx="9941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sozlesmeTipi</a:t>
              </a:r>
            </a:p>
          </p:txBody>
        </p:sp>
        <p:sp>
          <p:nvSpPr>
            <p:cNvPr id="39" name="Rectangle 39"/>
            <p:cNvSpPr/>
            <p:nvPr/>
          </p:nvSpPr>
          <p:spPr>
            <a:xfrm>
              <a:off x="8572500" y="3695700"/>
              <a:ext cx="457200" cy="171450"/>
            </a:xfrm>
            <a:prstGeom prst="rect">
              <a:avLst/>
            </a:prstGeom>
            <a:solidFill>
              <a:srgbClr val="B8CBD3"/>
            </a:solidFill>
            <a:ln>
              <a:noFill/>
            </a:ln>
          </p:spPr>
        </p:sp>
        <p:sp>
          <p:nvSpPr>
            <p:cNvPr id="40" name="TextBox 40"/>
            <p:cNvSpPr txBox="1"/>
            <p:nvPr/>
          </p:nvSpPr>
          <p:spPr>
            <a:xfrm>
              <a:off x="10338054" y="3699510"/>
              <a:ext cx="478650"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0.048</a:t>
              </a:r>
            </a:p>
          </p:txBody>
        </p:sp>
        <p:sp>
          <p:nvSpPr>
            <p:cNvPr id="41" name="TextBox 41"/>
            <p:cNvSpPr txBox="1"/>
            <p:nvPr/>
          </p:nvSpPr>
          <p:spPr>
            <a:xfrm>
              <a:off x="6775704" y="4061460"/>
              <a:ext cx="372529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Katkı payı — birim yok, göreli sıralama önemli.</a:t>
              </a:r>
            </a:p>
          </p:txBody>
        </p:sp>
        <p:sp>
          <p:nvSpPr>
            <p:cNvPr id="42" name="Line 42"/>
            <p:cNvSpPr/>
            <p:nvPr/>
          </p:nvSpPr>
          <p:spPr>
            <a:xfrm>
              <a:off x="8572500" y="1257300"/>
              <a:ext cx="9525" cy="3028950"/>
            </a:xfrm>
            <a:custGeom>
              <a:avLst/>
              <a:gdLst/>
              <a:ahLst/>
              <a:cxnLst/>
              <a:rect l="l" t="t" r="r" b="b"/>
              <a:pathLst>
                <a:path w="9525" h="3028950">
                  <a:moveTo>
                    <a:pt x="0" y="0"/>
                  </a:moveTo>
                  <a:lnTo>
                    <a:pt x="0" y="3028950"/>
                  </a:lnTo>
                </a:path>
              </a:pathLst>
            </a:custGeom>
            <a:noFill/>
            <a:ln w="9525">
              <a:solidFill>
                <a:srgbClr val="B8CBD3"/>
              </a:solidFill>
            </a:ln>
          </p:spPr>
        </p:sp>
      </p:grpSp>
      <p:grpSp>
        <p:nvGrpSpPr>
          <p:cNvPr id="47" name="misconception-note"/>
          <p:cNvGrpSpPr/>
          <p:nvPr/>
        </p:nvGrpSpPr>
        <p:grpSpPr>
          <a:xfrm>
            <a:off x="6781800" y="5238750"/>
            <a:ext cx="4800600" cy="857250"/>
            <a:chOff x="6781800" y="5238750"/>
            <a:chExt cx="4800600" cy="857250"/>
          </a:xfrm>
        </p:grpSpPr>
        <p:sp>
          <p:nvSpPr>
            <p:cNvPr id="44" name="Rectangle 44"/>
            <p:cNvSpPr/>
            <p:nvPr/>
          </p:nvSpPr>
          <p:spPr>
            <a:xfrm>
              <a:off x="6781800" y="5238750"/>
              <a:ext cx="4800600" cy="857250"/>
            </a:xfrm>
            <a:prstGeom prst="roundRect">
              <a:avLst>
                <a:gd name="adj" fmla="val 8889"/>
              </a:avLst>
            </a:prstGeom>
            <a:solidFill>
              <a:srgbClr val="12355B"/>
            </a:solidFill>
            <a:ln>
              <a:noFill/>
            </a:ln>
          </p:spPr>
        </p:sp>
        <p:sp>
          <p:nvSpPr>
            <p:cNvPr id="45" name="TextBox 45"/>
            <p:cNvSpPr txBox="1"/>
            <p:nvPr/>
          </p:nvSpPr>
          <p:spPr>
            <a:xfrm>
              <a:off x="7042404" y="5394960"/>
              <a:ext cx="1478871"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Sık Yanlış Anlama</a:t>
              </a:r>
            </a:p>
          </p:txBody>
        </p:sp>
        <p:sp>
          <p:nvSpPr>
            <p:cNvPr id="46" name="TextBox 46"/>
            <p:cNvSpPr txBox="1"/>
            <p:nvPr/>
          </p:nvSpPr>
          <p:spPr>
            <a:xfrm>
              <a:off x="7042404" y="5642610"/>
              <a:ext cx="34488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FFFFFF"/>
                  </a:solidFill>
                  <a:latin typeface="+mn-lt"/>
                  <a:ea typeface="+mn-ea"/>
                  <a:cs typeface="+mn-cs"/>
                </a:rPr>
                <a:t>destekCagriSayisi önemli çıkması, aramaların</a:t>
              </a:r>
              <a:br/>
              <a:r>
                <a:rPr lang="tr-TR" sz="1200" dirty="0">
                  <a:solidFill>
                    <a:srgbClr val="FFFFFF"/>
                  </a:solidFill>
                  <a:latin typeface="+mn-lt"/>
                  <a:ea typeface="+mn-ea"/>
                  <a:cs typeface="+mn-cs"/>
                </a:rPr>
                <a:t>churn'e neden olduğu anlamına gelmez.</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24</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863873" cy="557403"/>
            <a:chOff x="595122" y="282892"/>
            <a:chExt cx="5863873" cy="557403"/>
          </a:xfrm>
        </p:grpSpPr>
        <p:sp>
          <p:nvSpPr>
            <p:cNvPr id="4" name="TextBox 4"/>
            <p:cNvSpPr txBox="1"/>
            <p:nvPr/>
          </p:nvSpPr>
          <p:spPr>
            <a:xfrm>
              <a:off x="595122" y="282892"/>
              <a:ext cx="586387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Çoğunluk oyu neden işe yarar?</a:t>
              </a:r>
            </a:p>
          </p:txBody>
        </p:sp>
      </p:grpSp>
      <p:grpSp>
        <p:nvGrpSpPr>
          <p:cNvPr id="14" name="vote-math"/>
          <p:cNvGrpSpPr/>
          <p:nvPr/>
        </p:nvGrpSpPr>
        <p:grpSpPr>
          <a:xfrm>
            <a:off x="600456" y="1329690"/>
            <a:ext cx="6172465" cy="3070860"/>
            <a:chOff x="600456" y="1329690"/>
            <a:chExt cx="6172465" cy="3070860"/>
          </a:xfrm>
        </p:grpSpPr>
        <p:sp>
          <p:nvSpPr>
            <p:cNvPr id="6" name="TextBox 6"/>
            <p:cNvSpPr txBox="1"/>
            <p:nvPr/>
          </p:nvSpPr>
          <p:spPr>
            <a:xfrm>
              <a:off x="600456" y="1329690"/>
              <a:ext cx="225296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Kavramdan karara</a:t>
              </a:r>
            </a:p>
          </p:txBody>
        </p:sp>
        <p:sp>
          <p:nvSpPr>
            <p:cNvPr id="7" name="TextBox 7"/>
            <p:cNvSpPr txBox="1"/>
            <p:nvPr/>
          </p:nvSpPr>
          <p:spPr>
            <a:xfrm>
              <a:off x="601599" y="1696879"/>
              <a:ext cx="4159631"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Üç bağımsız sınıflandırıcı, her biri</a:t>
              </a:r>
              <a:br/>
              <a:r>
                <a:rPr lang="tr-TR" sz="1580" dirty="0">
                  <a:solidFill>
                    <a:srgbClr val="172B3A"/>
                  </a:solidFill>
                  <a:latin typeface="+mn-lt"/>
                  <a:ea typeface="+mn-ea"/>
                  <a:cs typeface="+mn-cs"/>
                </a:rPr>
                <a:t>p=0.80 doğrulukla çalışsın. Çoğunluk</a:t>
              </a:r>
              <a:br/>
              <a:r>
                <a:rPr lang="tr-TR" sz="1580" dirty="0">
                  <a:solidFill>
                    <a:srgbClr val="172B3A"/>
                  </a:solidFill>
                  <a:latin typeface="+mn-lt"/>
                  <a:ea typeface="+mn-ea"/>
                  <a:cs typeface="+mn-cs"/>
                </a:rPr>
                <a:t>oyu yalnızca en az ikisi yanılırsa yanılır.</a:t>
              </a:r>
            </a:p>
          </p:txBody>
        </p:sp>
        <p:sp>
          <p:nvSpPr>
            <p:cNvPr id="8" name="Rectangle 8"/>
            <p:cNvSpPr/>
            <p:nvPr/>
          </p:nvSpPr>
          <p:spPr>
            <a:xfrm>
              <a:off x="609600" y="2743200"/>
              <a:ext cx="5943600" cy="857250"/>
            </a:xfrm>
            <a:prstGeom prst="roundRect">
              <a:avLst>
                <a:gd name="adj" fmla="val 8889"/>
              </a:avLst>
            </a:prstGeom>
            <a:solidFill>
              <a:srgbClr val="12355B"/>
            </a:solidFill>
            <a:ln>
              <a:noFill/>
            </a:ln>
          </p:spPr>
        </p:sp>
        <p:sp>
          <p:nvSpPr>
            <p:cNvPr id="9" name="TextBox 9"/>
            <p:cNvSpPr txBox="1"/>
            <p:nvPr/>
          </p:nvSpPr>
          <p:spPr>
            <a:xfrm>
              <a:off x="848106" y="2853690"/>
              <a:ext cx="5470905"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j-lt"/>
                  <a:ea typeface="+mj-ea"/>
                  <a:cs typeface="+mj-cs"/>
                </a:rPr>
                <a:t>P(çoğunluk yanlış) = 3(0.2)²(0.8) + (0.2)³</a:t>
              </a:r>
            </a:p>
          </p:txBody>
        </p:sp>
        <p:sp>
          <p:nvSpPr>
            <p:cNvPr id="10" name="TextBox 10"/>
            <p:cNvSpPr txBox="1"/>
            <p:nvPr/>
          </p:nvSpPr>
          <p:spPr>
            <a:xfrm>
              <a:off x="849249" y="3182779"/>
              <a:ext cx="3980191"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 0.104 → topluluk doğruluğu ≈ %89.6</a:t>
              </a:r>
            </a:p>
          </p:txBody>
        </p:sp>
        <p:sp>
          <p:nvSpPr>
            <p:cNvPr id="11" name="Rectangle 11"/>
            <p:cNvSpPr/>
            <p:nvPr/>
          </p:nvSpPr>
          <p:spPr>
            <a:xfrm>
              <a:off x="609600" y="3790950"/>
              <a:ext cx="57150" cy="609600"/>
            </a:xfrm>
            <a:prstGeom prst="rect">
              <a:avLst/>
            </a:prstGeom>
            <a:solidFill>
              <a:srgbClr val="00A6A6"/>
            </a:solidFill>
            <a:ln>
              <a:noFill/>
            </a:ln>
          </p:spPr>
        </p:sp>
        <p:sp>
          <p:nvSpPr>
            <p:cNvPr id="12" name="TextBox 12"/>
            <p:cNvSpPr txBox="1"/>
            <p:nvPr/>
          </p:nvSpPr>
          <p:spPr>
            <a:xfrm>
              <a:off x="849249" y="3849529"/>
              <a:ext cx="211113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Bağımsızlık koşulu</a:t>
              </a:r>
            </a:p>
          </p:txBody>
        </p:sp>
        <p:sp>
          <p:nvSpPr>
            <p:cNvPr id="13" name="TextBox 13"/>
            <p:cNvSpPr txBox="1"/>
            <p:nvPr/>
          </p:nvSpPr>
          <p:spPr>
            <a:xfrm>
              <a:off x="851154" y="4137660"/>
              <a:ext cx="592176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Kazanç yalnızca modeller birbirinden bağımsız hata yaptığında geçerlidir.</a:t>
              </a:r>
            </a:p>
          </p:txBody>
        </p:sp>
      </p:grpSp>
      <p:grpSp>
        <p:nvGrpSpPr>
          <p:cNvPr id="18" name="mistake-note"/>
          <p:cNvGrpSpPr/>
          <p:nvPr/>
        </p:nvGrpSpPr>
        <p:grpSpPr>
          <a:xfrm>
            <a:off x="609600" y="4610100"/>
            <a:ext cx="5943600" cy="1295400"/>
            <a:chOff x="609600" y="4610100"/>
            <a:chExt cx="5943600" cy="1295400"/>
          </a:xfrm>
        </p:grpSpPr>
        <p:sp>
          <p:nvSpPr>
            <p:cNvPr id="15" name="Rectangle 15"/>
            <p:cNvSpPr/>
            <p:nvPr/>
          </p:nvSpPr>
          <p:spPr>
            <a:xfrm>
              <a:off x="609600" y="4610100"/>
              <a:ext cx="5943600" cy="1295400"/>
            </a:xfrm>
            <a:prstGeom prst="roundRect">
              <a:avLst>
                <a:gd name="adj" fmla="val 5882"/>
              </a:avLst>
            </a:prstGeom>
            <a:solidFill>
              <a:srgbClr val="EAF4F6"/>
            </a:solidFill>
            <a:ln>
              <a:noFill/>
            </a:ln>
          </p:spPr>
        </p:sp>
        <p:sp>
          <p:nvSpPr>
            <p:cNvPr id="16" name="TextBox 16"/>
            <p:cNvSpPr txBox="1"/>
            <p:nvPr/>
          </p:nvSpPr>
          <p:spPr>
            <a:xfrm>
              <a:off x="907161" y="4761071"/>
              <a:ext cx="4447278"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Sık hata — yalnızca model sayısını artırmak</a:t>
              </a:r>
            </a:p>
          </p:txBody>
        </p:sp>
        <p:sp>
          <p:nvSpPr>
            <p:cNvPr id="17" name="TextBox 17"/>
            <p:cNvSpPr txBox="1"/>
            <p:nvPr/>
          </p:nvSpPr>
          <p:spPr>
            <a:xfrm>
              <a:off x="908304" y="5071110"/>
              <a:ext cx="35935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Modeller birbirinin kopyası gibi hata yapıyorsa</a:t>
              </a:r>
              <a:br/>
              <a:r>
                <a:rPr lang="tr-TR" sz="1200" dirty="0">
                  <a:solidFill>
                    <a:srgbClr val="52616B"/>
                  </a:solidFill>
                  <a:latin typeface="+mn-lt"/>
                  <a:ea typeface="+mn-ea"/>
                  <a:cs typeface="+mn-cs"/>
                </a:rPr>
                <a:t>(korelasyon yüksekse), daha fazla ağaç eklemek</a:t>
              </a:r>
              <a:br/>
              <a:r>
                <a:rPr lang="tr-TR" sz="1200" dirty="0">
                  <a:solidFill>
                    <a:srgbClr val="52616B"/>
                  </a:solidFill>
                  <a:latin typeface="+mn-lt"/>
                  <a:ea typeface="+mn-ea"/>
                  <a:cs typeface="+mn-cs"/>
                </a:rPr>
                <a:t>%89.6'yı geçmeye yardımcı olmaz.</a:t>
              </a:r>
            </a:p>
          </p:txBody>
        </p:sp>
      </p:grpSp>
      <p:grpSp>
        <p:nvGrpSpPr>
          <p:cNvPr id="27" name="correlation-formula"/>
          <p:cNvGrpSpPr/>
          <p:nvPr/>
        </p:nvGrpSpPr>
        <p:grpSpPr>
          <a:xfrm>
            <a:off x="6781800" y="1257300"/>
            <a:ext cx="4800600" cy="2981706"/>
            <a:chOff x="6781800" y="1257300"/>
            <a:chExt cx="4800600" cy="2981706"/>
          </a:xfrm>
        </p:grpSpPr>
        <p:sp>
          <p:nvSpPr>
            <p:cNvPr id="19" name="Rectangle 19"/>
            <p:cNvSpPr/>
            <p:nvPr/>
          </p:nvSpPr>
          <p:spPr>
            <a:xfrm>
              <a:off x="6781800" y="1257300"/>
              <a:ext cx="4800600" cy="2857500"/>
            </a:xfrm>
            <a:prstGeom prst="roundRect">
              <a:avLst>
                <a:gd name="adj" fmla="val 3333"/>
              </a:avLst>
            </a:prstGeom>
            <a:solidFill>
              <a:srgbClr val="FFFFFF"/>
            </a:solidFill>
            <a:ln w="14288">
              <a:solidFill>
                <a:srgbClr val="B8CBD3"/>
              </a:solidFill>
            </a:ln>
          </p:spPr>
        </p:sp>
        <p:sp>
          <p:nvSpPr>
            <p:cNvPr id="20" name="TextBox 20"/>
            <p:cNvSpPr txBox="1"/>
            <p:nvPr/>
          </p:nvSpPr>
          <p:spPr>
            <a:xfrm>
              <a:off x="7041261" y="1446371"/>
              <a:ext cx="250979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Hata korelasyonu formülü</a:t>
              </a:r>
            </a:p>
          </p:txBody>
        </p:sp>
        <p:sp>
          <p:nvSpPr>
            <p:cNvPr id="21" name="Rectangle 21"/>
            <p:cNvSpPr/>
            <p:nvPr/>
          </p:nvSpPr>
          <p:spPr>
            <a:xfrm>
              <a:off x="7048500" y="1790700"/>
              <a:ext cx="4267200" cy="666750"/>
            </a:xfrm>
            <a:prstGeom prst="roundRect">
              <a:avLst>
                <a:gd name="adj" fmla="val 8571"/>
              </a:avLst>
            </a:prstGeom>
            <a:solidFill>
              <a:srgbClr val="12355B"/>
            </a:solidFill>
            <a:ln>
              <a:noFill/>
            </a:ln>
          </p:spPr>
        </p:sp>
        <p:sp>
          <p:nvSpPr>
            <p:cNvPr id="22" name="TextBox 22"/>
            <p:cNvSpPr txBox="1"/>
            <p:nvPr/>
          </p:nvSpPr>
          <p:spPr>
            <a:xfrm>
              <a:off x="7573156" y="1996440"/>
              <a:ext cx="3217888" cy="352044"/>
            </a:xfrm>
            <a:prstGeom prst="rect">
              <a:avLst/>
            </a:prstGeom>
            <a:noFill/>
            <a:ln>
              <a:noFill/>
            </a:ln>
          </p:spPr>
          <p:txBody>
            <a:bodyPr wrap="none" lIns="0" tIns="0" rIns="0" bIns="0" anchor="t" anchorCtr="0">
              <a:spAutoFit/>
            </a:bodyPr>
            <a:lstStyle/>
            <a:p>
              <a:pPr algn="ctr"/>
              <a:r>
                <a:rPr lang="el-GR" sz="1800" b="1" dirty="0">
                  <a:solidFill>
                    <a:srgbClr val="FFFFFF"/>
                  </a:solidFill>
                  <a:latin typeface="+mj-lt"/>
                  <a:ea typeface="+mj-ea"/>
                  <a:cs typeface="+mj-cs"/>
                </a:rPr>
                <a:t>Var(f̄) = σ²[ρ + (1-ρ)/M]</a:t>
              </a:r>
            </a:p>
          </p:txBody>
        </p:sp>
        <p:sp>
          <p:nvSpPr>
            <p:cNvPr id="23" name="TextBox 23"/>
            <p:cNvSpPr txBox="1"/>
            <p:nvPr/>
          </p:nvSpPr>
          <p:spPr>
            <a:xfrm>
              <a:off x="7042404" y="2651760"/>
              <a:ext cx="2701900" cy="234696"/>
            </a:xfrm>
            <a:prstGeom prst="rect">
              <a:avLst/>
            </a:prstGeom>
            <a:noFill/>
            <a:ln>
              <a:noFill/>
            </a:ln>
          </p:spPr>
          <p:txBody>
            <a:bodyPr wrap="none" lIns="0" tIns="0" rIns="0" bIns="0" anchor="t" anchorCtr="0">
              <a:spAutoFit/>
            </a:bodyPr>
            <a:lstStyle/>
            <a:p>
              <a:pPr algn="l"/>
              <a:r>
                <a:rPr lang="el-GR" sz="1200" dirty="0">
                  <a:solidFill>
                    <a:srgbClr val="172B3A"/>
                  </a:solidFill>
                  <a:latin typeface="+mn-lt"/>
                  <a:ea typeface="+mn-ea"/>
                  <a:cs typeface="+mn-cs"/>
                </a:rPr>
                <a:t>ρ (rho): ağaçlar arası korelasyon</a:t>
              </a:r>
            </a:p>
          </p:txBody>
        </p:sp>
        <p:sp>
          <p:nvSpPr>
            <p:cNvPr id="24" name="TextBox 24"/>
            <p:cNvSpPr txBox="1"/>
            <p:nvPr/>
          </p:nvSpPr>
          <p:spPr>
            <a:xfrm>
              <a:off x="7042404" y="2899410"/>
              <a:ext cx="3192727" cy="234696"/>
            </a:xfrm>
            <a:prstGeom prst="rect">
              <a:avLst/>
            </a:prstGeom>
            <a:noFill/>
            <a:ln>
              <a:noFill/>
            </a:ln>
          </p:spPr>
          <p:txBody>
            <a:bodyPr wrap="none" lIns="0" tIns="0" rIns="0" bIns="0" anchor="t" anchorCtr="0">
              <a:spAutoFit/>
            </a:bodyPr>
            <a:lstStyle/>
            <a:p>
              <a:pPr algn="l"/>
              <a:r>
                <a:rPr lang="el-GR" sz="1200" dirty="0">
                  <a:solidFill>
                    <a:srgbClr val="172B3A"/>
                  </a:solidFill>
                  <a:latin typeface="+mn-lt"/>
                  <a:ea typeface="+mn-ea"/>
                  <a:cs typeface="+mn-cs"/>
                </a:rPr>
                <a:t>M: ağaç sayısı, σ²: tekil ağaç varyansı</a:t>
              </a:r>
            </a:p>
          </p:txBody>
        </p:sp>
        <p:sp>
          <p:nvSpPr>
            <p:cNvPr id="25" name="TextBox 25"/>
            <p:cNvSpPr txBox="1"/>
            <p:nvPr/>
          </p:nvSpPr>
          <p:spPr>
            <a:xfrm>
              <a:off x="7042404" y="3223260"/>
              <a:ext cx="3685032" cy="444246"/>
            </a:xfrm>
            <a:prstGeom prst="rect">
              <a:avLst/>
            </a:prstGeom>
            <a:noFill/>
            <a:ln>
              <a:noFill/>
            </a:ln>
          </p:spPr>
          <p:txBody>
            <a:bodyPr wrap="none" lIns="0" tIns="0" rIns="0" bIns="0" anchor="t" anchorCtr="0">
              <a:spAutoFit/>
            </a:bodyPr>
            <a:lstStyle/>
            <a:p>
              <a:pPr algn="l">
                <a:lnSpc>
                  <a:spcPts val="1650"/>
                </a:lnSpc>
              </a:pPr>
              <a:r>
                <a:rPr lang="el-GR" sz="1200" dirty="0">
                  <a:solidFill>
                    <a:srgbClr val="00A6A6"/>
                  </a:solidFill>
                  <a:latin typeface="+mn-lt"/>
                  <a:ea typeface="+mn-ea"/>
                  <a:cs typeface="+mn-cs"/>
                </a:rPr>
                <a:t>ρ → 0 olduğunda M artışı varyansı 1/M</a:t>
              </a:r>
              <a:br/>
              <a:r>
                <a:rPr lang="el-GR" sz="1200" dirty="0">
                  <a:solidFill>
                    <a:srgbClr val="00A6A6"/>
                  </a:solidFill>
                  <a:latin typeface="+mn-lt"/>
                  <a:ea typeface="+mn-ea"/>
                  <a:cs typeface="+mn-cs"/>
                </a:rPr>
                <a:t>oranında azaltır; ρ yüksekse kazanç sınırlıdır.</a:t>
              </a:r>
            </a:p>
          </p:txBody>
        </p:sp>
        <p:sp>
          <p:nvSpPr>
            <p:cNvPr id="26" name="TextBox 26"/>
            <p:cNvSpPr txBox="1"/>
            <p:nvPr/>
          </p:nvSpPr>
          <p:spPr>
            <a:xfrm>
              <a:off x="7042404" y="3794760"/>
              <a:ext cx="33268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Bu yüzden Random Forest'ın öznitelik alt</a:t>
              </a:r>
              <a:br/>
              <a:r>
                <a:rPr lang="tr-TR" sz="1200" dirty="0">
                  <a:solidFill>
                    <a:srgbClr val="52616B"/>
                  </a:solidFill>
                  <a:latin typeface="+mn-lt"/>
                  <a:ea typeface="+mn-ea"/>
                  <a:cs typeface="+mn-cs"/>
                </a:rPr>
                <a:t>kümesi seçimi doğrudan bu formülü hedefler.</a:t>
              </a:r>
            </a:p>
          </p:txBody>
        </p:sp>
      </p:grpSp>
      <p:grpSp>
        <p:nvGrpSpPr>
          <p:cNvPr id="31" name="eval-design-note"/>
          <p:cNvGrpSpPr/>
          <p:nvPr/>
        </p:nvGrpSpPr>
        <p:grpSpPr>
          <a:xfrm>
            <a:off x="6781800" y="4381500"/>
            <a:ext cx="4800600" cy="1524000"/>
            <a:chOff x="6781800" y="4381500"/>
            <a:chExt cx="4800600" cy="1524000"/>
          </a:xfrm>
        </p:grpSpPr>
        <p:sp>
          <p:nvSpPr>
            <p:cNvPr id="28" name="Rectangle 28"/>
            <p:cNvSpPr/>
            <p:nvPr/>
          </p:nvSpPr>
          <p:spPr>
            <a:xfrm>
              <a:off x="6781800" y="4381500"/>
              <a:ext cx="4800600" cy="1524000"/>
            </a:xfrm>
            <a:prstGeom prst="roundRect">
              <a:avLst>
                <a:gd name="adj" fmla="val 5000"/>
              </a:avLst>
            </a:prstGeom>
            <a:solidFill>
              <a:srgbClr val="12355B"/>
            </a:solidFill>
            <a:ln>
              <a:noFill/>
            </a:ln>
          </p:spPr>
        </p:sp>
        <p:sp>
          <p:nvSpPr>
            <p:cNvPr id="29" name="TextBox 29"/>
            <p:cNvSpPr txBox="1"/>
            <p:nvPr/>
          </p:nvSpPr>
          <p:spPr>
            <a:xfrm>
              <a:off x="7042404" y="4556760"/>
              <a:ext cx="3600480" cy="234696"/>
            </a:xfrm>
            <a:prstGeom prst="rect">
              <a:avLst/>
            </a:prstGeom>
            <a:noFill/>
            <a:ln>
              <a:noFill/>
            </a:ln>
          </p:spPr>
          <p:txBody>
            <a:bodyPr wrap="none" lIns="0" tIns="0" rIns="0" bIns="0" anchor="t" anchorCtr="0">
              <a:spAutoFit/>
            </a:bodyPr>
            <a:lstStyle/>
            <a:p>
              <a:pPr algn="l"/>
              <a:r>
                <a:rPr lang="tr-TR" sz="1200" b="1" spc="150" dirty="0">
                  <a:solidFill>
                    <a:srgbClr val="00A6A6"/>
                  </a:solidFill>
                  <a:latin typeface="+mn-lt"/>
                  <a:ea typeface="+mn-ea"/>
                  <a:cs typeface="+mn-cs"/>
                </a:rPr>
                <a:t>DEĞERLENDİRME TASARIMINA ETKİSİ</a:t>
              </a:r>
            </a:p>
          </p:txBody>
        </p:sp>
        <p:sp>
          <p:nvSpPr>
            <p:cNvPr id="30" name="TextBox 30"/>
            <p:cNvSpPr txBox="1"/>
            <p:nvPr/>
          </p:nvSpPr>
          <p:spPr>
            <a:xfrm>
              <a:off x="7042404" y="4861560"/>
              <a:ext cx="3326892" cy="863346"/>
            </a:xfrm>
            <a:prstGeom prst="rect">
              <a:avLst/>
            </a:prstGeom>
            <a:noFill/>
            <a:ln>
              <a:noFill/>
            </a:ln>
          </p:spPr>
          <p:txBody>
            <a:bodyPr wrap="none" lIns="0" tIns="0" rIns="0" bIns="0" anchor="t" anchorCtr="0">
              <a:spAutoFit/>
            </a:bodyPr>
            <a:lstStyle/>
            <a:p>
              <a:pPr algn="l">
                <a:lnSpc>
                  <a:spcPts val="1650"/>
                </a:lnSpc>
              </a:pPr>
              <a:r>
                <a:rPr lang="el-GR" sz="1200" dirty="0">
                  <a:solidFill>
                    <a:srgbClr val="FFFFFF"/>
                  </a:solidFill>
                  <a:latin typeface="+mn-lt"/>
                  <a:ea typeface="+mn-ea"/>
                  <a:cs typeface="+mn-cs"/>
                </a:rPr>
                <a:t>Çeşitliliği (düşük ρ) artıran her adım —</a:t>
              </a:r>
              <a:br/>
              <a:r>
                <a:rPr lang="tr-TR" sz="1200" dirty="0">
                  <a:solidFill>
                    <a:srgbClr val="FFFFFF"/>
                  </a:solidFill>
                  <a:latin typeface="+mn-lt"/>
                  <a:ea typeface="+mn-ea"/>
                  <a:cs typeface="+mn-cs"/>
                </a:rPr>
                <a:t>bootstrap, öznitelik alt kümesi, farklı</a:t>
              </a:r>
              <a:br/>
              <a:r>
                <a:rPr lang="tr-TR" sz="1200" dirty="0">
                  <a:solidFill>
                    <a:srgbClr val="FFFFFF"/>
                  </a:solidFill>
                  <a:latin typeface="+mn-lt"/>
                  <a:ea typeface="+mn-ea"/>
                  <a:cs typeface="+mn-cs"/>
                </a:rPr>
                <a:t>tohumlar — topluluk performansına doğrudan</a:t>
              </a:r>
              <a:br/>
              <a:r>
                <a:rPr lang="tr-TR" sz="1200" dirty="0">
                  <a:solidFill>
                    <a:srgbClr val="FFFFFF"/>
                  </a:solidFill>
                  <a:latin typeface="+mn-lt"/>
                  <a:ea typeface="+mn-ea"/>
                  <a:cs typeface="+mn-cs"/>
                </a:rPr>
                <a:t>katkı sağlar.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24</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610698" cy="668845"/>
            <a:chOff x="609600" y="171450"/>
            <a:chExt cx="1061069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92032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Çalışan Python uygulaması: TopluluklaChurnAnalizi</a:t>
              </a:r>
            </a:p>
          </p:txBody>
        </p:sp>
      </p:grpSp>
      <p:grpSp>
        <p:nvGrpSpPr>
          <p:cNvPr id="26" name="class-card"/>
          <p:cNvGrpSpPr/>
          <p:nvPr/>
        </p:nvGrpSpPr>
        <p:grpSpPr>
          <a:xfrm>
            <a:off x="609600" y="1257300"/>
            <a:ext cx="5943600" cy="3810000"/>
            <a:chOff x="609600" y="1257300"/>
            <a:chExt cx="5943600" cy="3810000"/>
          </a:xfrm>
        </p:grpSpPr>
        <p:sp>
          <p:nvSpPr>
            <p:cNvPr id="12" name="Rectangle 12"/>
            <p:cNvSpPr/>
            <p:nvPr/>
          </p:nvSpPr>
          <p:spPr>
            <a:xfrm>
              <a:off x="609600" y="1257300"/>
              <a:ext cx="5943600" cy="3810000"/>
            </a:xfrm>
            <a:prstGeom prst="roundRect">
              <a:avLst>
                <a:gd name="adj" fmla="val 2500"/>
              </a:avLst>
            </a:prstGeom>
            <a:solidFill>
              <a:srgbClr val="12355B"/>
            </a:solidFill>
            <a:ln>
              <a:noFill/>
            </a:ln>
          </p:spPr>
        </p:sp>
        <p:sp>
          <p:nvSpPr>
            <p:cNvPr id="13" name="TextBox 13"/>
            <p:cNvSpPr txBox="1"/>
            <p:nvPr/>
          </p:nvSpPr>
          <p:spPr>
            <a:xfrm>
              <a:off x="832104" y="1451610"/>
              <a:ext cx="1088380"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SINIF YAPISI</a:t>
              </a:r>
            </a:p>
          </p:txBody>
        </p:sp>
        <p:sp>
          <p:nvSpPr>
            <p:cNvPr id="14" name="TextBox 14"/>
            <p:cNvSpPr txBox="1"/>
            <p:nvPr/>
          </p:nvSpPr>
          <p:spPr>
            <a:xfrm>
              <a:off x="830961" y="1732121"/>
              <a:ext cx="2832110"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class TopluluklaChurnAnalizi:</a:t>
              </a:r>
            </a:p>
          </p:txBody>
        </p:sp>
        <p:sp>
          <p:nvSpPr>
            <p:cNvPr id="15" name="TextBox 15"/>
            <p:cNvSpPr txBox="1"/>
            <p:nvPr/>
          </p:nvSpPr>
          <p:spPr>
            <a:xfrm>
              <a:off x="1060704" y="2080260"/>
              <a:ext cx="114070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_veriHazirla()</a:t>
              </a:r>
            </a:p>
          </p:txBody>
        </p:sp>
        <p:sp>
          <p:nvSpPr>
            <p:cNvPr id="16" name="TextBox 16"/>
            <p:cNvSpPr txBox="1"/>
            <p:nvPr/>
          </p:nvSpPr>
          <p:spPr>
            <a:xfrm>
              <a:off x="3194304" y="2080260"/>
              <a:ext cx="187802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eğitim/test bölünmesi</a:t>
              </a:r>
            </a:p>
          </p:txBody>
        </p:sp>
        <p:sp>
          <p:nvSpPr>
            <p:cNvPr id="17" name="TextBox 17"/>
            <p:cNvSpPr txBox="1"/>
            <p:nvPr/>
          </p:nvSpPr>
          <p:spPr>
            <a:xfrm>
              <a:off x="1060704" y="2385060"/>
              <a:ext cx="219303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bootstrap_ornegi_goster()</a:t>
              </a:r>
            </a:p>
          </p:txBody>
        </p:sp>
        <p:sp>
          <p:nvSpPr>
            <p:cNvPr id="18" name="TextBox 18"/>
            <p:cNvSpPr txBox="1"/>
            <p:nvPr/>
          </p:nvSpPr>
          <p:spPr>
            <a:xfrm>
              <a:off x="1060704" y="2632710"/>
              <a:ext cx="319579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tek bir bootstrap örneği ve OOB oranı</a:t>
              </a:r>
            </a:p>
          </p:txBody>
        </p:sp>
        <p:sp>
          <p:nvSpPr>
            <p:cNvPr id="19" name="TextBox 19"/>
            <p:cNvSpPr txBox="1"/>
            <p:nvPr/>
          </p:nvSpPr>
          <p:spPr>
            <a:xfrm>
              <a:off x="1060704" y="2937510"/>
              <a:ext cx="183763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bagging_vs_tek_agac()</a:t>
              </a:r>
            </a:p>
          </p:txBody>
        </p:sp>
        <p:sp>
          <p:nvSpPr>
            <p:cNvPr id="20" name="TextBox 20"/>
            <p:cNvSpPr txBox="1"/>
            <p:nvPr/>
          </p:nvSpPr>
          <p:spPr>
            <a:xfrm>
              <a:off x="1060704" y="3185160"/>
              <a:ext cx="315422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tekil ağaç ile bagging karşılaştırması</a:t>
              </a:r>
            </a:p>
          </p:txBody>
        </p:sp>
        <p:sp>
          <p:nvSpPr>
            <p:cNvPr id="21" name="TextBox 21"/>
            <p:cNvSpPr txBox="1"/>
            <p:nvPr/>
          </p:nvSpPr>
          <p:spPr>
            <a:xfrm>
              <a:off x="1060704" y="3489960"/>
              <a:ext cx="271805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random_forest_egit_ve_dogrula()</a:t>
              </a:r>
            </a:p>
          </p:txBody>
        </p:sp>
        <p:sp>
          <p:nvSpPr>
            <p:cNvPr id="22" name="TextBox 22"/>
            <p:cNvSpPr txBox="1"/>
            <p:nvPr/>
          </p:nvSpPr>
          <p:spPr>
            <a:xfrm>
              <a:off x="1060704" y="3737610"/>
              <a:ext cx="253058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RF eğitimi, test ve OOB skoru</a:t>
              </a:r>
            </a:p>
          </p:txBody>
        </p:sp>
        <p:sp>
          <p:nvSpPr>
            <p:cNvPr id="23" name="TextBox 23"/>
            <p:cNvSpPr txBox="1"/>
            <p:nvPr/>
          </p:nvSpPr>
          <p:spPr>
            <a:xfrm>
              <a:off x="1060704" y="4042410"/>
              <a:ext cx="206380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oznitelik_onemi_raporla()</a:t>
              </a:r>
            </a:p>
          </p:txBody>
        </p:sp>
        <p:sp>
          <p:nvSpPr>
            <p:cNvPr id="24" name="TextBox 24"/>
            <p:cNvSpPr txBox="1"/>
            <p:nvPr/>
          </p:nvSpPr>
          <p:spPr>
            <a:xfrm>
              <a:off x="1060704" y="4290060"/>
              <a:ext cx="313806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önem sıralamasının ilk 5'ini yazdırır</a:t>
              </a:r>
            </a:p>
          </p:txBody>
        </p:sp>
        <p:sp>
          <p:nvSpPr>
            <p:cNvPr id="25" name="TextBox 25"/>
            <p:cNvSpPr txBox="1"/>
            <p:nvPr/>
          </p:nvSpPr>
          <p:spPr>
            <a:xfrm>
              <a:off x="832104" y="4709160"/>
              <a:ext cx="391900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Uçtan uca akışı tek bir nesne üzerinden yürütür.</a:t>
              </a:r>
            </a:p>
          </p:txBody>
        </p:sp>
      </p:grpSp>
      <p:grpSp>
        <p:nvGrpSpPr>
          <p:cNvPr id="43" name="output-card"/>
          <p:cNvGrpSpPr/>
          <p:nvPr/>
        </p:nvGrpSpPr>
        <p:grpSpPr>
          <a:xfrm>
            <a:off x="6781800" y="1257300"/>
            <a:ext cx="4800600" cy="3810000"/>
            <a:chOff x="6781800" y="1257300"/>
            <a:chExt cx="4800600" cy="3810000"/>
          </a:xfrm>
        </p:grpSpPr>
        <p:sp>
          <p:nvSpPr>
            <p:cNvPr id="27" name="Rectangle 27"/>
            <p:cNvSpPr/>
            <p:nvPr/>
          </p:nvSpPr>
          <p:spPr>
            <a:xfrm>
              <a:off x="6781800" y="1257300"/>
              <a:ext cx="4800600" cy="3810000"/>
            </a:xfrm>
            <a:prstGeom prst="roundRect">
              <a:avLst>
                <a:gd name="adj" fmla="val 2500"/>
              </a:avLst>
            </a:prstGeom>
            <a:solidFill>
              <a:srgbClr val="FFFFFF"/>
            </a:solidFill>
            <a:ln w="14288">
              <a:solidFill>
                <a:srgbClr val="B8CBD3"/>
              </a:solidFill>
            </a:ln>
          </p:spPr>
        </p:sp>
        <p:sp>
          <p:nvSpPr>
            <p:cNvPr id="28" name="TextBox 28"/>
            <p:cNvSpPr txBox="1"/>
            <p:nvPr/>
          </p:nvSpPr>
          <p:spPr>
            <a:xfrm>
              <a:off x="7042404" y="1451610"/>
              <a:ext cx="1423355" cy="234696"/>
            </a:xfrm>
            <a:prstGeom prst="rect">
              <a:avLst/>
            </a:prstGeom>
            <a:noFill/>
            <a:ln>
              <a:noFill/>
            </a:ln>
          </p:spPr>
          <p:txBody>
            <a:bodyPr wrap="none" lIns="0" tIns="0" rIns="0" bIns="0" anchor="t" anchorCtr="0">
              <a:spAutoFit/>
            </a:bodyPr>
            <a:lstStyle/>
            <a:p>
              <a:pPr algn="l"/>
              <a:r>
                <a:rPr lang="tr-TR" sz="1200" b="1" spc="75" dirty="0">
                  <a:solidFill>
                    <a:srgbClr val="52616B"/>
                  </a:solidFill>
                  <a:latin typeface="+mn-lt"/>
                  <a:ea typeface="+mn-ea"/>
                  <a:cs typeface="+mn-cs"/>
                </a:rPr>
                <a:t>KONSOL ÇIKTISI</a:t>
              </a:r>
            </a:p>
          </p:txBody>
        </p:sp>
        <p:sp>
          <p:nvSpPr>
            <p:cNvPr id="29" name="TextBox 29"/>
            <p:cNvSpPr txBox="1"/>
            <p:nvPr/>
          </p:nvSpPr>
          <p:spPr>
            <a:xfrm>
              <a:off x="7042404" y="1737360"/>
              <a:ext cx="104485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[Bootstrap]</a:t>
              </a:r>
            </a:p>
          </p:txBody>
        </p:sp>
        <p:sp>
          <p:nvSpPr>
            <p:cNvPr id="30" name="TextBox 30"/>
            <p:cNvSpPr txBox="1"/>
            <p:nvPr/>
          </p:nvSpPr>
          <p:spPr>
            <a:xfrm>
              <a:off x="7042404" y="1965960"/>
              <a:ext cx="31852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Eğitim: 490, OOB gözlem: 179 (~%36.5)</a:t>
              </a:r>
            </a:p>
          </p:txBody>
        </p:sp>
        <p:sp>
          <p:nvSpPr>
            <p:cNvPr id="31" name="Line 31"/>
            <p:cNvSpPr/>
            <p:nvPr/>
          </p:nvSpPr>
          <p:spPr>
            <a:xfrm>
              <a:off x="7048500" y="2247900"/>
              <a:ext cx="4267200" cy="9525"/>
            </a:xfrm>
            <a:custGeom>
              <a:avLst/>
              <a:gdLst/>
              <a:ahLst/>
              <a:cxnLst/>
              <a:rect l="l" t="t" r="r" b="b"/>
              <a:pathLst>
                <a:path w="4267200" h="9525">
                  <a:moveTo>
                    <a:pt x="0" y="0"/>
                  </a:moveTo>
                  <a:lnTo>
                    <a:pt x="4267200" y="0"/>
                  </a:lnTo>
                </a:path>
              </a:pathLst>
            </a:custGeom>
            <a:noFill/>
            <a:ln w="9525">
              <a:solidFill>
                <a:srgbClr val="B8CBD3"/>
              </a:solidFill>
            </a:ln>
          </p:spPr>
        </p:sp>
        <p:sp>
          <p:nvSpPr>
            <p:cNvPr id="32" name="TextBox 32"/>
            <p:cNvSpPr txBox="1"/>
            <p:nvPr/>
          </p:nvSpPr>
          <p:spPr>
            <a:xfrm>
              <a:off x="7042404" y="2385060"/>
              <a:ext cx="81585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[Bagging]</a:t>
              </a:r>
            </a:p>
          </p:txBody>
        </p:sp>
        <p:sp>
          <p:nvSpPr>
            <p:cNvPr id="33" name="TextBox 33"/>
            <p:cNvSpPr txBox="1"/>
            <p:nvPr/>
          </p:nvSpPr>
          <p:spPr>
            <a:xfrm>
              <a:off x="7042404" y="2613660"/>
              <a:ext cx="29516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ağaç: 0.848 | Bagging(60): 0.895</a:t>
              </a:r>
            </a:p>
          </p:txBody>
        </p:sp>
        <p:sp>
          <p:nvSpPr>
            <p:cNvPr id="34" name="Line 34"/>
            <p:cNvSpPr/>
            <p:nvPr/>
          </p:nvSpPr>
          <p:spPr>
            <a:xfrm>
              <a:off x="7048500" y="2895600"/>
              <a:ext cx="4267200" cy="9525"/>
            </a:xfrm>
            <a:custGeom>
              <a:avLst/>
              <a:gdLst/>
              <a:ahLst/>
              <a:cxnLst/>
              <a:rect l="l" t="t" r="r" b="b"/>
              <a:pathLst>
                <a:path w="4267200" h="9525">
                  <a:moveTo>
                    <a:pt x="0" y="0"/>
                  </a:moveTo>
                  <a:lnTo>
                    <a:pt x="4267200" y="0"/>
                  </a:lnTo>
                </a:path>
              </a:pathLst>
            </a:custGeom>
            <a:noFill/>
            <a:ln w="9525">
              <a:solidFill>
                <a:srgbClr val="B8CBD3"/>
              </a:solidFill>
            </a:ln>
          </p:spPr>
        </p:sp>
        <p:sp>
          <p:nvSpPr>
            <p:cNvPr id="35" name="TextBox 35"/>
            <p:cNvSpPr txBox="1"/>
            <p:nvPr/>
          </p:nvSpPr>
          <p:spPr>
            <a:xfrm>
              <a:off x="7042404" y="3032760"/>
              <a:ext cx="141620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[Random Forest]</a:t>
              </a:r>
            </a:p>
          </p:txBody>
        </p:sp>
        <p:sp>
          <p:nvSpPr>
            <p:cNvPr id="36" name="TextBox 36"/>
            <p:cNvSpPr txBox="1"/>
            <p:nvPr/>
          </p:nvSpPr>
          <p:spPr>
            <a:xfrm>
              <a:off x="7042404" y="3261360"/>
              <a:ext cx="28546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Test doğruluğu: 0.914 | OOB: 0.891</a:t>
              </a:r>
            </a:p>
          </p:txBody>
        </p:sp>
        <p:sp>
          <p:nvSpPr>
            <p:cNvPr id="37" name="Line 37"/>
            <p:cNvSpPr/>
            <p:nvPr/>
          </p:nvSpPr>
          <p:spPr>
            <a:xfrm>
              <a:off x="7048500" y="3543300"/>
              <a:ext cx="4267200" cy="9525"/>
            </a:xfrm>
            <a:custGeom>
              <a:avLst/>
              <a:gdLst/>
              <a:ahLst/>
              <a:cxnLst/>
              <a:rect l="l" t="t" r="r" b="b"/>
              <a:pathLst>
                <a:path w="4267200" h="9525">
                  <a:moveTo>
                    <a:pt x="0" y="0"/>
                  </a:moveTo>
                  <a:lnTo>
                    <a:pt x="4267200" y="0"/>
                  </a:lnTo>
                </a:path>
              </a:pathLst>
            </a:custGeom>
            <a:noFill/>
            <a:ln w="9525">
              <a:solidFill>
                <a:srgbClr val="B8CBD3"/>
              </a:solidFill>
            </a:ln>
          </p:spPr>
        </p:sp>
        <p:sp>
          <p:nvSpPr>
            <p:cNvPr id="38" name="TextBox 38"/>
            <p:cNvSpPr txBox="1"/>
            <p:nvPr/>
          </p:nvSpPr>
          <p:spPr>
            <a:xfrm>
              <a:off x="7042404" y="3680460"/>
              <a:ext cx="187096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[Öznitelik Önemi] İlk 5</a:t>
              </a:r>
            </a:p>
          </p:txBody>
        </p:sp>
        <p:sp>
          <p:nvSpPr>
            <p:cNvPr id="39" name="TextBox 39"/>
            <p:cNvSpPr txBox="1"/>
            <p:nvPr/>
          </p:nvSpPr>
          <p:spPr>
            <a:xfrm>
              <a:off x="7042404" y="3909060"/>
              <a:ext cx="23109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faturaOdemeGecikmesi 0.171</a:t>
              </a:r>
            </a:p>
          </p:txBody>
        </p:sp>
        <p:sp>
          <p:nvSpPr>
            <p:cNvPr id="40" name="TextBox 40"/>
            <p:cNvSpPr txBox="1"/>
            <p:nvPr/>
          </p:nvSpPr>
          <p:spPr>
            <a:xfrm>
              <a:off x="7042404" y="4118610"/>
              <a:ext cx="14891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sozlesmeTipi 0.152</a:t>
              </a:r>
            </a:p>
          </p:txBody>
        </p:sp>
        <p:sp>
          <p:nvSpPr>
            <p:cNvPr id="41" name="TextBox 41"/>
            <p:cNvSpPr txBox="1"/>
            <p:nvPr/>
          </p:nvSpPr>
          <p:spPr>
            <a:xfrm>
              <a:off x="7042404" y="4328160"/>
              <a:ext cx="19067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destekCagriSayisi 0.138</a:t>
              </a:r>
            </a:p>
          </p:txBody>
        </p:sp>
        <p:sp>
          <p:nvSpPr>
            <p:cNvPr id="42" name="TextBox 42"/>
            <p:cNvSpPr txBox="1"/>
            <p:nvPr/>
          </p:nvSpPr>
          <p:spPr>
            <a:xfrm>
              <a:off x="7042404" y="4537710"/>
              <a:ext cx="34923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musteriSuresi_ay 0.121, toplamUcret 0.104</a:t>
              </a:r>
            </a:p>
          </p:txBody>
        </p:sp>
      </p:grpSp>
      <p:grpSp>
        <p:nvGrpSpPr>
          <p:cNvPr id="47" name="capstone-note"/>
          <p:cNvGrpSpPr/>
          <p:nvPr/>
        </p:nvGrpSpPr>
        <p:grpSpPr>
          <a:xfrm>
            <a:off x="609600" y="5295900"/>
            <a:ext cx="10972800" cy="952500"/>
            <a:chOff x="609600" y="5295900"/>
            <a:chExt cx="10972800" cy="952500"/>
          </a:xfrm>
        </p:grpSpPr>
        <p:sp>
          <p:nvSpPr>
            <p:cNvPr id="44" name="Rectangle 44"/>
            <p:cNvSpPr/>
            <p:nvPr/>
          </p:nvSpPr>
          <p:spPr>
            <a:xfrm>
              <a:off x="609600" y="5295900"/>
              <a:ext cx="10972800" cy="952500"/>
            </a:xfrm>
            <a:prstGeom prst="roundRect">
              <a:avLst>
                <a:gd name="adj" fmla="val 8000"/>
              </a:avLst>
            </a:prstGeom>
            <a:solidFill>
              <a:srgbClr val="EAF4F6"/>
            </a:solidFill>
            <a:ln>
              <a:noFill/>
            </a:ln>
          </p:spPr>
        </p:sp>
        <p:sp>
          <p:nvSpPr>
            <p:cNvPr id="45" name="TextBox 45"/>
            <p:cNvSpPr txBox="1"/>
            <p:nvPr/>
          </p:nvSpPr>
          <p:spPr>
            <a:xfrm>
              <a:off x="907161" y="5465921"/>
              <a:ext cx="273084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Bu bölümün kapanış katkısı</a:t>
              </a:r>
            </a:p>
          </p:txBody>
        </p:sp>
        <p:sp>
          <p:nvSpPr>
            <p:cNvPr id="46" name="TextBox 46"/>
            <p:cNvSpPr txBox="1"/>
            <p:nvPr/>
          </p:nvSpPr>
          <p:spPr>
            <a:xfrm>
              <a:off x="908304" y="5756910"/>
              <a:ext cx="891027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Tek bir sınıf, bootstrap örneklemeden öznitelik önemine kadar tüm zinciri tekrar üretilebilir şekilde birleştirir.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24</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199990" cy="668845"/>
            <a:chOff x="609600" y="171450"/>
            <a:chExt cx="919999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850961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Gerçek dünya tuzakları: EnsembleDebug.py</a:t>
              </a:r>
            </a:p>
          </p:txBody>
        </p:sp>
      </p:grpSp>
      <p:grpSp>
        <p:nvGrpSpPr>
          <p:cNvPr id="28" name="bug-list"/>
          <p:cNvGrpSpPr/>
          <p:nvPr/>
        </p:nvGrpSpPr>
        <p:grpSpPr>
          <a:xfrm>
            <a:off x="601599" y="1334929"/>
            <a:ext cx="5951601" cy="3503771"/>
            <a:chOff x="601599" y="1334929"/>
            <a:chExt cx="5951601" cy="3503771"/>
          </a:xfrm>
        </p:grpSpPr>
        <p:sp>
          <p:nvSpPr>
            <p:cNvPr id="12" name="TextBox 12"/>
            <p:cNvSpPr txBox="1"/>
            <p:nvPr/>
          </p:nvSpPr>
          <p:spPr>
            <a:xfrm>
              <a:off x="601599" y="1334929"/>
              <a:ext cx="307202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Beş hata, beş farklı istisna</a:t>
              </a:r>
            </a:p>
          </p:txBody>
        </p:sp>
        <p:sp>
          <p:nvSpPr>
            <p:cNvPr id="13" name="Rectangle 13"/>
            <p:cNvSpPr/>
            <p:nvPr/>
          </p:nvSpPr>
          <p:spPr>
            <a:xfrm>
              <a:off x="609600" y="1676400"/>
              <a:ext cx="5943600" cy="571500"/>
            </a:xfrm>
            <a:prstGeom prst="roundRect">
              <a:avLst>
                <a:gd name="adj" fmla="val 10000"/>
              </a:avLst>
            </a:prstGeom>
            <a:solidFill>
              <a:srgbClr val="FFFFFF"/>
            </a:solidFill>
            <a:ln w="9525">
              <a:solidFill>
                <a:srgbClr val="B8CBD3"/>
              </a:solidFill>
            </a:ln>
          </p:spPr>
        </p:sp>
        <p:sp>
          <p:nvSpPr>
            <p:cNvPr id="14" name="TextBox 14"/>
            <p:cNvSpPr txBox="1"/>
            <p:nvPr/>
          </p:nvSpPr>
          <p:spPr>
            <a:xfrm>
              <a:off x="755904" y="1756410"/>
              <a:ext cx="142004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 test_size=1.5</a:t>
              </a:r>
            </a:p>
          </p:txBody>
        </p:sp>
        <p:sp>
          <p:nvSpPr>
            <p:cNvPr id="15" name="TextBox 15"/>
            <p:cNvSpPr txBox="1"/>
            <p:nvPr/>
          </p:nvSpPr>
          <p:spPr>
            <a:xfrm>
              <a:off x="755904" y="1965960"/>
              <a:ext cx="213661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Geçersiz oran → ValueError</a:t>
              </a:r>
            </a:p>
          </p:txBody>
        </p:sp>
        <p:sp>
          <p:nvSpPr>
            <p:cNvPr id="16" name="Rectangle 16"/>
            <p:cNvSpPr/>
            <p:nvPr/>
          </p:nvSpPr>
          <p:spPr>
            <a:xfrm>
              <a:off x="609600" y="2324100"/>
              <a:ext cx="5943600" cy="571500"/>
            </a:xfrm>
            <a:prstGeom prst="roundRect">
              <a:avLst>
                <a:gd name="adj" fmla="val 10000"/>
              </a:avLst>
            </a:prstGeom>
            <a:solidFill>
              <a:srgbClr val="FFFFFF"/>
            </a:solidFill>
            <a:ln w="9525">
              <a:solidFill>
                <a:srgbClr val="B8CBD3"/>
              </a:solidFill>
            </a:ln>
          </p:spPr>
        </p:sp>
        <p:sp>
          <p:nvSpPr>
            <p:cNvPr id="17" name="TextBox 17"/>
            <p:cNvSpPr txBox="1"/>
            <p:nvPr/>
          </p:nvSpPr>
          <p:spPr>
            <a:xfrm>
              <a:off x="755904" y="2404110"/>
              <a:ext cx="312125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2. bootstrap=False + oob_score=True</a:t>
              </a:r>
            </a:p>
          </p:txBody>
        </p:sp>
        <p:sp>
          <p:nvSpPr>
            <p:cNvPr id="18" name="TextBox 18"/>
            <p:cNvSpPr txBox="1"/>
            <p:nvPr/>
          </p:nvSpPr>
          <p:spPr>
            <a:xfrm>
              <a:off x="755904" y="2613660"/>
              <a:ext cx="319830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OOB, bootstrap gerektirir → ValueError</a:t>
              </a:r>
            </a:p>
          </p:txBody>
        </p:sp>
        <p:sp>
          <p:nvSpPr>
            <p:cNvPr id="19" name="Rectangle 19"/>
            <p:cNvSpPr/>
            <p:nvPr/>
          </p:nvSpPr>
          <p:spPr>
            <a:xfrm>
              <a:off x="609600" y="2971800"/>
              <a:ext cx="5943600" cy="571500"/>
            </a:xfrm>
            <a:prstGeom prst="roundRect">
              <a:avLst>
                <a:gd name="adj" fmla="val 10000"/>
              </a:avLst>
            </a:prstGeom>
            <a:solidFill>
              <a:srgbClr val="FFFFFF"/>
            </a:solidFill>
            <a:ln w="9525">
              <a:solidFill>
                <a:srgbClr val="B8CBD3"/>
              </a:solidFill>
            </a:ln>
          </p:spPr>
        </p:sp>
        <p:sp>
          <p:nvSpPr>
            <p:cNvPr id="20" name="TextBox 20"/>
            <p:cNvSpPr txBox="1"/>
            <p:nvPr/>
          </p:nvSpPr>
          <p:spPr>
            <a:xfrm>
              <a:off x="755904" y="3051810"/>
              <a:ext cx="224271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3. max_features="square"</a:t>
              </a:r>
            </a:p>
          </p:txBody>
        </p:sp>
        <p:sp>
          <p:nvSpPr>
            <p:cNvPr id="21" name="TextBox 21"/>
            <p:cNvSpPr txBox="1"/>
            <p:nvPr/>
          </p:nvSpPr>
          <p:spPr>
            <a:xfrm>
              <a:off x="755904" y="3261360"/>
              <a:ext cx="226766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Doğrusu "sqrt" → ValueError</a:t>
              </a:r>
            </a:p>
          </p:txBody>
        </p:sp>
        <p:sp>
          <p:nvSpPr>
            <p:cNvPr id="22" name="Rectangle 22"/>
            <p:cNvSpPr/>
            <p:nvPr/>
          </p:nvSpPr>
          <p:spPr>
            <a:xfrm>
              <a:off x="609600" y="3619500"/>
              <a:ext cx="5943600" cy="571500"/>
            </a:xfrm>
            <a:prstGeom prst="roundRect">
              <a:avLst>
                <a:gd name="adj" fmla="val 10000"/>
              </a:avLst>
            </a:prstGeom>
            <a:solidFill>
              <a:srgbClr val="FFFFFF"/>
            </a:solidFill>
            <a:ln w="9525">
              <a:solidFill>
                <a:srgbClr val="B8CBD3"/>
              </a:solidFill>
            </a:ln>
          </p:spPr>
        </p:sp>
        <p:sp>
          <p:nvSpPr>
            <p:cNvPr id="23" name="TextBox 23"/>
            <p:cNvSpPr txBox="1"/>
            <p:nvPr/>
          </p:nvSpPr>
          <p:spPr>
            <a:xfrm>
              <a:off x="755904" y="3699510"/>
              <a:ext cx="315018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4. feature_importances_ fit() öncesi</a:t>
              </a:r>
            </a:p>
          </p:txBody>
        </p:sp>
        <p:sp>
          <p:nvSpPr>
            <p:cNvPr id="24" name="TextBox 24"/>
            <p:cNvSpPr txBox="1"/>
            <p:nvPr/>
          </p:nvSpPr>
          <p:spPr>
            <a:xfrm>
              <a:off x="755904" y="3909060"/>
              <a:ext cx="315888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Model henüz eğitilmedi → NotFittedError</a:t>
              </a:r>
            </a:p>
          </p:txBody>
        </p:sp>
        <p:sp>
          <p:nvSpPr>
            <p:cNvPr id="25" name="Rectangle 25"/>
            <p:cNvSpPr/>
            <p:nvPr/>
          </p:nvSpPr>
          <p:spPr>
            <a:xfrm>
              <a:off x="609600" y="4267200"/>
              <a:ext cx="5943600" cy="571500"/>
            </a:xfrm>
            <a:prstGeom prst="roundRect">
              <a:avLst>
                <a:gd name="adj" fmla="val 10000"/>
              </a:avLst>
            </a:prstGeom>
            <a:solidFill>
              <a:srgbClr val="FFFFFF"/>
            </a:solidFill>
            <a:ln w="9525">
              <a:solidFill>
                <a:srgbClr val="B8CBD3"/>
              </a:solidFill>
            </a:ln>
          </p:spPr>
        </p:sp>
        <p:sp>
          <p:nvSpPr>
            <p:cNvPr id="26" name="TextBox 26"/>
            <p:cNvSpPr txBox="1"/>
            <p:nvPr/>
          </p:nvSpPr>
          <p:spPr>
            <a:xfrm>
              <a:off x="755904" y="4347210"/>
              <a:ext cx="251789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5. ormanModel vs ormanModeli</a:t>
              </a:r>
            </a:p>
          </p:txBody>
        </p:sp>
        <p:sp>
          <p:nvSpPr>
            <p:cNvPr id="27" name="TextBox 27"/>
            <p:cNvSpPr txBox="1"/>
            <p:nvPr/>
          </p:nvSpPr>
          <p:spPr>
            <a:xfrm>
              <a:off x="755904" y="4556760"/>
              <a:ext cx="313894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Değişken adı yazım hatası → NameError</a:t>
              </a:r>
            </a:p>
          </p:txBody>
        </p:sp>
      </p:grpSp>
      <p:grpSp>
        <p:nvGrpSpPr>
          <p:cNvPr id="36" name="silent-failure"/>
          <p:cNvGrpSpPr/>
          <p:nvPr/>
        </p:nvGrpSpPr>
        <p:grpSpPr>
          <a:xfrm>
            <a:off x="6781800" y="1257300"/>
            <a:ext cx="4800600" cy="3810000"/>
            <a:chOff x="6781800" y="1257300"/>
            <a:chExt cx="4800600" cy="3810000"/>
          </a:xfrm>
        </p:grpSpPr>
        <p:sp>
          <p:nvSpPr>
            <p:cNvPr id="29" name="Rectangle 29"/>
            <p:cNvSpPr/>
            <p:nvPr/>
          </p:nvSpPr>
          <p:spPr>
            <a:xfrm>
              <a:off x="6781800" y="1257300"/>
              <a:ext cx="4800600" cy="3810000"/>
            </a:xfrm>
            <a:prstGeom prst="roundRect">
              <a:avLst>
                <a:gd name="adj" fmla="val 2500"/>
              </a:avLst>
            </a:prstGeom>
            <a:solidFill>
              <a:srgbClr val="12355B"/>
            </a:solidFill>
            <a:ln>
              <a:noFill/>
            </a:ln>
          </p:spPr>
        </p:sp>
        <p:sp>
          <p:nvSpPr>
            <p:cNvPr id="30" name="TextBox 30"/>
            <p:cNvSpPr txBox="1"/>
            <p:nvPr/>
          </p:nvSpPr>
          <p:spPr>
            <a:xfrm>
              <a:off x="7042404" y="1451610"/>
              <a:ext cx="2089892" cy="234696"/>
            </a:xfrm>
            <a:prstGeom prst="rect">
              <a:avLst/>
            </a:prstGeom>
            <a:noFill/>
            <a:ln>
              <a:noFill/>
            </a:ln>
          </p:spPr>
          <p:txBody>
            <a:bodyPr wrap="none" lIns="0" tIns="0" rIns="0" bIns="0" anchor="t" anchorCtr="0">
              <a:spAutoFit/>
            </a:bodyPr>
            <a:lstStyle/>
            <a:p>
              <a:pPr algn="l"/>
              <a:r>
                <a:rPr lang="tr-TR" sz="1200" b="1" spc="150" dirty="0">
                  <a:solidFill>
                    <a:srgbClr val="00A6A6"/>
                  </a:solidFill>
                  <a:latin typeface="+mn-lt"/>
                  <a:ea typeface="+mn-ea"/>
                  <a:cs typeface="+mn-cs"/>
                </a:rPr>
                <a:t>SESSİZ BAŞARISIZLIK</a:t>
              </a:r>
            </a:p>
          </p:txBody>
        </p:sp>
        <p:sp>
          <p:nvSpPr>
            <p:cNvPr id="31" name="TextBox 31"/>
            <p:cNvSpPr txBox="1"/>
            <p:nvPr/>
          </p:nvSpPr>
          <p:spPr>
            <a:xfrm>
              <a:off x="7040499" y="1734979"/>
              <a:ext cx="4489717"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En tehlikeli hata, istisna fırlatmayandır</a:t>
              </a:r>
            </a:p>
          </p:txBody>
        </p:sp>
        <p:sp>
          <p:nvSpPr>
            <p:cNvPr id="32" name="TextBox 32"/>
            <p:cNvSpPr txBox="1"/>
            <p:nvPr/>
          </p:nvSpPr>
          <p:spPr>
            <a:xfrm>
              <a:off x="7042404" y="2118360"/>
              <a:ext cx="3258312" cy="920496"/>
            </a:xfrm>
            <a:prstGeom prst="rect">
              <a:avLst/>
            </a:prstGeom>
            <a:noFill/>
            <a:ln>
              <a:noFill/>
            </a:ln>
          </p:spPr>
          <p:txBody>
            <a:bodyPr wrap="none" lIns="0" tIns="0" rIns="0" bIns="0" anchor="t" anchorCtr="0">
              <a:spAutoFit/>
            </a:bodyPr>
            <a:lstStyle/>
            <a:p>
              <a:pPr algn="l">
                <a:lnSpc>
                  <a:spcPts val="1800"/>
                </a:lnSpc>
              </a:pPr>
              <a:r>
                <a:rPr lang="tr-TR" sz="1200" dirty="0">
                  <a:solidFill>
                    <a:srgbClr val="EAF4F6"/>
                  </a:solidFill>
                  <a:latin typeface="+mn-lt"/>
                  <a:ea typeface="+mn-ea"/>
                  <a:cs typeface="+mn-cs"/>
                </a:rPr>
                <a:t>test_size=0.99 gibi bazı geçersiz-benzeri</a:t>
              </a:r>
              <a:br/>
              <a:r>
                <a:rPr lang="tr-TR" sz="1200" dirty="0">
                  <a:solidFill>
                    <a:srgbClr val="EAF4F6"/>
                  </a:solidFill>
                  <a:latin typeface="+mn-lt"/>
                  <a:ea typeface="+mn-ea"/>
                  <a:cs typeface="+mn-cs"/>
                </a:rPr>
                <a:t>parametreler hata vermez; sessizce eğitim</a:t>
              </a:r>
              <a:br/>
              <a:r>
                <a:rPr lang="tr-TR" sz="1200" dirty="0">
                  <a:solidFill>
                    <a:srgbClr val="EAF4F6"/>
                  </a:solidFill>
                  <a:latin typeface="+mn-lt"/>
                  <a:ea typeface="+mn-ea"/>
                  <a:cs typeface="+mn-cs"/>
                </a:rPr>
                <a:t>verisini neredeyse yok eder ve performansı</a:t>
              </a:r>
              <a:br/>
              <a:r>
                <a:rPr lang="tr-TR" sz="1200" dirty="0">
                  <a:solidFill>
                    <a:srgbClr val="EAF4F6"/>
                  </a:solidFill>
                  <a:latin typeface="+mn-lt"/>
                  <a:ea typeface="+mn-ea"/>
                  <a:cs typeface="+mn-cs"/>
                </a:rPr>
                <a:t>düşürür — fark edilmesi zordur.</a:t>
              </a:r>
            </a:p>
          </p:txBody>
        </p:sp>
        <p:sp>
          <p:nvSpPr>
            <p:cNvPr id="33" name="Line 33"/>
            <p:cNvSpPr/>
            <p:nvPr/>
          </p:nvSpPr>
          <p:spPr>
            <a:xfrm>
              <a:off x="7048500" y="3238500"/>
              <a:ext cx="4267200" cy="9525"/>
            </a:xfrm>
            <a:custGeom>
              <a:avLst/>
              <a:gdLst/>
              <a:ahLst/>
              <a:cxnLst/>
              <a:rect l="l" t="t" r="r" b="b"/>
              <a:pathLst>
                <a:path w="4267200" h="9525">
                  <a:moveTo>
                    <a:pt x="0" y="0"/>
                  </a:moveTo>
                  <a:lnTo>
                    <a:pt x="4267200" y="0"/>
                  </a:lnTo>
                </a:path>
              </a:pathLst>
            </a:custGeom>
            <a:noFill/>
            <a:ln w="9525">
              <a:solidFill>
                <a:srgbClr val="2E86AB"/>
              </a:solidFill>
            </a:ln>
          </p:spPr>
        </p:sp>
        <p:sp>
          <p:nvSpPr>
            <p:cNvPr id="34" name="TextBox 34"/>
            <p:cNvSpPr txBox="1"/>
            <p:nvPr/>
          </p:nvSpPr>
          <p:spPr>
            <a:xfrm>
              <a:off x="7042404" y="3375660"/>
              <a:ext cx="123840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Önerilen izleme</a:t>
              </a:r>
            </a:p>
          </p:txBody>
        </p:sp>
        <p:sp>
          <p:nvSpPr>
            <p:cNvPr id="35" name="TextBox 35"/>
            <p:cNvSpPr txBox="1"/>
            <p:nvPr/>
          </p:nvSpPr>
          <p:spPr>
            <a:xfrm>
              <a:off x="7042404" y="3623310"/>
              <a:ext cx="3403092" cy="691896"/>
            </a:xfrm>
            <a:prstGeom prst="rect">
              <a:avLst/>
            </a:prstGeom>
            <a:noFill/>
            <a:ln>
              <a:noFill/>
            </a:ln>
          </p:spPr>
          <p:txBody>
            <a:bodyPr wrap="none" lIns="0" tIns="0" rIns="0" bIns="0" anchor="t" anchorCtr="0">
              <a:spAutoFit/>
            </a:bodyPr>
            <a:lstStyle/>
            <a:p>
              <a:pPr algn="l">
                <a:lnSpc>
                  <a:spcPts val="1800"/>
                </a:lnSpc>
              </a:pPr>
              <a:r>
                <a:rPr lang="tr-TR" sz="1200" dirty="0">
                  <a:solidFill>
                    <a:srgbClr val="EAF4F6"/>
                  </a:solidFill>
                  <a:latin typeface="+mn-lt"/>
                  <a:ea typeface="+mn-ea"/>
                  <a:cs typeface="+mn-cs"/>
                </a:rPr>
                <a:t>Veri şekillerini (shape) günlükle; OOB ile test</a:t>
              </a:r>
              <a:br/>
              <a:r>
                <a:rPr lang="tr-TR" sz="1200" dirty="0">
                  <a:solidFill>
                    <a:srgbClr val="EAF4F6"/>
                  </a:solidFill>
                  <a:latin typeface="+mn-lt"/>
                  <a:ea typeface="+mn-ea"/>
                  <a:cs typeface="+mn-cs"/>
                </a:rPr>
                <a:t>skoru arasındaki farkı bir eşikle (örn. %5)</a:t>
              </a:r>
              <a:br/>
              <a:r>
                <a:rPr lang="tr-TR" sz="1200" dirty="0">
                  <a:solidFill>
                    <a:srgbClr val="EAF4F6"/>
                  </a:solidFill>
                  <a:latin typeface="+mn-lt"/>
                  <a:ea typeface="+mn-ea"/>
                  <a:cs typeface="+mn-cs"/>
                </a:rPr>
                <a:t>izleyip aşıldığında uyarı üret.</a:t>
              </a:r>
            </a:p>
          </p:txBody>
        </p:sp>
      </p:grpSp>
      <p:grpSp>
        <p:nvGrpSpPr>
          <p:cNvPr id="40" name="takeaway-note"/>
          <p:cNvGrpSpPr/>
          <p:nvPr/>
        </p:nvGrpSpPr>
        <p:grpSpPr>
          <a:xfrm>
            <a:off x="6781800" y="5295900"/>
            <a:ext cx="4800600" cy="952500"/>
            <a:chOff x="6781800" y="5295900"/>
            <a:chExt cx="4800600" cy="952500"/>
          </a:xfrm>
        </p:grpSpPr>
        <p:sp>
          <p:nvSpPr>
            <p:cNvPr id="37" name="Rectangle 37"/>
            <p:cNvSpPr/>
            <p:nvPr/>
          </p:nvSpPr>
          <p:spPr>
            <a:xfrm>
              <a:off x="6781800" y="5295900"/>
              <a:ext cx="4800600" cy="952500"/>
            </a:xfrm>
            <a:prstGeom prst="roundRect">
              <a:avLst>
                <a:gd name="adj" fmla="val 8000"/>
              </a:avLst>
            </a:prstGeom>
            <a:solidFill>
              <a:srgbClr val="EAF4F6"/>
            </a:solidFill>
            <a:ln>
              <a:noFill/>
            </a:ln>
          </p:spPr>
        </p:sp>
        <p:sp>
          <p:nvSpPr>
            <p:cNvPr id="38" name="TextBox 38"/>
            <p:cNvSpPr txBox="1"/>
            <p:nvPr/>
          </p:nvSpPr>
          <p:spPr>
            <a:xfrm>
              <a:off x="7041261" y="5446871"/>
              <a:ext cx="1024382"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Dersin özü</a:t>
              </a:r>
            </a:p>
          </p:txBody>
        </p:sp>
        <p:sp>
          <p:nvSpPr>
            <p:cNvPr id="39" name="TextBox 39"/>
            <p:cNvSpPr txBox="1"/>
            <p:nvPr/>
          </p:nvSpPr>
          <p:spPr>
            <a:xfrm>
              <a:off x="7042404" y="5737860"/>
              <a:ext cx="41774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İstisna fırlatmayan hata, en çok güvenilen hatadır.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24</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4498520" cy="668845"/>
            <a:chOff x="609600" y="171450"/>
            <a:chExt cx="449852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380814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fallacy-independence"/>
          <p:cNvGrpSpPr/>
          <p:nvPr/>
        </p:nvGrpSpPr>
        <p:grpSpPr>
          <a:xfrm>
            <a:off x="609600" y="1849279"/>
            <a:ext cx="10972800" cy="1313021"/>
            <a:chOff x="609600" y="1849279"/>
            <a:chExt cx="10972800" cy="1313021"/>
          </a:xfrm>
        </p:grpSpPr>
        <p:sp>
          <p:nvSpPr>
            <p:cNvPr id="17" name="TextBox 17"/>
            <p:cNvSpPr txBox="1"/>
            <p:nvPr/>
          </p:nvSpPr>
          <p:spPr>
            <a:xfrm>
              <a:off x="753999" y="1849279"/>
              <a:ext cx="2702338"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"Bagging'de her ağaç</a:t>
              </a:r>
              <a:br/>
              <a:r>
                <a:rPr lang="tr-TR" sz="1580" b="1" dirty="0">
                  <a:solidFill>
                    <a:srgbClr val="12355B"/>
                  </a:solidFill>
                  <a:latin typeface="+mn-lt"/>
                  <a:ea typeface="+mn-ea"/>
                  <a:cs typeface="+mn-cs"/>
                </a:rPr>
                <a:t>farklı ve bağımsız bir alt</a:t>
              </a:r>
              <a:br/>
              <a:r>
                <a:rPr lang="tr-TR" sz="1580" b="1" dirty="0">
                  <a:solidFill>
                    <a:srgbClr val="12355B"/>
                  </a:solidFill>
                  <a:latin typeface="+mn-lt"/>
                  <a:ea typeface="+mn-ea"/>
                  <a:cs typeface="+mn-cs"/>
                </a:rPr>
                <a:t>bölüm görür."</a:t>
              </a:r>
            </a:p>
          </p:txBody>
        </p:sp>
        <p:sp>
          <p:nvSpPr>
            <p:cNvPr id="18" name="TextBox 18"/>
            <p:cNvSpPr txBox="1"/>
            <p:nvPr/>
          </p:nvSpPr>
          <p:spPr>
            <a:xfrm>
              <a:off x="4375404" y="1889760"/>
              <a:ext cx="30525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Bootstrap örneklemesi yerine koyarak</a:t>
              </a:r>
              <a:br/>
              <a:r>
                <a:rPr lang="tr-TR" sz="1200" dirty="0">
                  <a:solidFill>
                    <a:srgbClr val="172B3A"/>
                  </a:solidFill>
                  <a:latin typeface="+mn-lt"/>
                  <a:ea typeface="+mn-ea"/>
                  <a:cs typeface="+mn-cs"/>
                </a:rPr>
                <a:t>yapılır; aynı gözlem birden fazla ağacın</a:t>
              </a:r>
              <a:br/>
              <a:r>
                <a:rPr lang="tr-TR" sz="1200" dirty="0">
                  <a:solidFill>
                    <a:srgbClr val="172B3A"/>
                  </a:solidFill>
                  <a:latin typeface="+mn-lt"/>
                  <a:ea typeface="+mn-ea"/>
                  <a:cs typeface="+mn-cs"/>
                </a:rPr>
                <a:t>örnek kümesinde yer alabilir. Örtüşme</a:t>
              </a:r>
              <a:br/>
              <a:r>
                <a:rPr lang="tr-TR" sz="1200" dirty="0">
                  <a:solidFill>
                    <a:srgbClr val="172B3A"/>
                  </a:solidFill>
                  <a:latin typeface="+mn-lt"/>
                  <a:ea typeface="+mn-ea"/>
                  <a:cs typeface="+mn-cs"/>
                </a:rPr>
                <a:t>normaldir, istisna değildir.</a:t>
              </a:r>
            </a:p>
          </p:txBody>
        </p:sp>
        <p:sp>
          <p:nvSpPr>
            <p:cNvPr id="19" name="TextBox 19"/>
            <p:cNvSpPr txBox="1"/>
            <p:nvPr/>
          </p:nvSpPr>
          <p:spPr>
            <a:xfrm>
              <a:off x="8185404" y="1889760"/>
              <a:ext cx="29992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Çeşitlilik, örneklerin tamamen ayrık</a:t>
              </a:r>
              <a:br/>
              <a:r>
                <a:rPr lang="tr-TR" sz="1200" dirty="0">
                  <a:solidFill>
                    <a:srgbClr val="172B3A"/>
                  </a:solidFill>
                  <a:latin typeface="+mn-lt"/>
                  <a:ea typeface="+mn-ea"/>
                  <a:cs typeface="+mn-cs"/>
                </a:rPr>
                <a:t>olmasından değil, rastgele örneklemenin</a:t>
              </a:r>
              <a:br/>
              <a:r>
                <a:rPr lang="tr-TR" sz="1200" dirty="0">
                  <a:solidFill>
                    <a:srgbClr val="172B3A"/>
                  </a:solidFill>
                  <a:latin typeface="+mn-lt"/>
                  <a:ea typeface="+mn-ea"/>
                  <a:cs typeface="+mn-cs"/>
                </a:rPr>
                <a:t>istatistiksel varyasyonundan gelir.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more-trees"/>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618061"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"Ağaç sayısını artırmak</a:t>
              </a:r>
              <a:br/>
              <a:r>
                <a:rPr lang="tr-TR" sz="1580" b="1" dirty="0">
                  <a:solidFill>
                    <a:srgbClr val="12355B"/>
                  </a:solidFill>
                  <a:latin typeface="+mn-lt"/>
                  <a:ea typeface="+mn-ea"/>
                  <a:cs typeface="+mn-cs"/>
                </a:rPr>
                <a:t>overfitting riskini</a:t>
              </a:r>
              <a:br/>
              <a:r>
                <a:rPr lang="tr-TR" sz="1580" b="1" dirty="0">
                  <a:solidFill>
                    <a:srgbClr val="12355B"/>
                  </a:solidFill>
                  <a:latin typeface="+mn-lt"/>
                  <a:ea typeface="+mn-ea"/>
                  <a:cs typeface="+mn-cs"/>
                </a:rPr>
                <a:t>artırır."</a:t>
              </a:r>
            </a:p>
          </p:txBody>
        </p:sp>
        <p:sp>
          <p:nvSpPr>
            <p:cNvPr id="24" name="TextBox 24"/>
            <p:cNvSpPr txBox="1"/>
            <p:nvPr/>
          </p:nvSpPr>
          <p:spPr>
            <a:xfrm>
              <a:off x="4375404" y="3337560"/>
              <a:ext cx="31821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Bagging/RF'de ağaçlar bağımsız ve</a:t>
              </a:r>
              <a:br/>
              <a:r>
                <a:rPr lang="tr-TR" sz="1200" dirty="0">
                  <a:solidFill>
                    <a:srgbClr val="172B3A"/>
                  </a:solidFill>
                  <a:latin typeface="+mn-lt"/>
                  <a:ea typeface="+mn-ea"/>
                  <a:cs typeface="+mn-cs"/>
                </a:rPr>
                <a:t>paralel eğitilir; sayının artması varyansı</a:t>
              </a:r>
              <a:br/>
              <a:r>
                <a:rPr lang="tr-TR" sz="1200" dirty="0">
                  <a:solidFill>
                    <a:srgbClr val="172B3A"/>
                  </a:solidFill>
                  <a:latin typeface="+mn-lt"/>
                  <a:ea typeface="+mn-ea"/>
                  <a:cs typeface="+mn-cs"/>
                </a:rPr>
                <a:t>azaltmaya devam eder ya da bir platoda</a:t>
              </a:r>
              <a:br/>
              <a:r>
                <a:rPr lang="tr-TR" sz="1200" dirty="0">
                  <a:solidFill>
                    <a:srgbClr val="172B3A"/>
                  </a:solidFill>
                  <a:latin typeface="+mn-lt"/>
                  <a:ea typeface="+mn-ea"/>
                  <a:cs typeface="+mn-cs"/>
                </a:rPr>
                <a:t>sabitlenir, artırmaz.</a:t>
              </a:r>
            </a:p>
          </p:txBody>
        </p:sp>
        <p:sp>
          <p:nvSpPr>
            <p:cNvPr id="25" name="TextBox 25"/>
            <p:cNvSpPr txBox="1"/>
            <p:nvPr/>
          </p:nvSpPr>
          <p:spPr>
            <a:xfrm>
              <a:off x="8185404" y="3337560"/>
              <a:ext cx="30220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Asıl bedel hesaplama süresi ve bellektir;</a:t>
              </a:r>
              <a:br/>
              <a:r>
                <a:rPr lang="tr-TR" sz="1200" dirty="0">
                  <a:solidFill>
                    <a:srgbClr val="172B3A"/>
                  </a:solidFill>
                  <a:latin typeface="+mn-lt"/>
                  <a:ea typeface="+mn-ea"/>
                  <a:cs typeface="+mn-cs"/>
                </a:rPr>
                <a:t>n_estimators'ı OOB/CV eğrisi platoya</a:t>
              </a:r>
              <a:br/>
              <a:r>
                <a:rPr lang="tr-TR" sz="1200" dirty="0">
                  <a:solidFill>
                    <a:srgbClr val="172B3A"/>
                  </a:solidFill>
                  <a:latin typeface="+mn-lt"/>
                  <a:ea typeface="+mn-ea"/>
                  <a:cs typeface="+mn-cs"/>
                </a:rPr>
                <a:t>ulaşana kadar artırmak güvenlidir.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importance-causality"/>
          <p:cNvGrpSpPr/>
          <p:nvPr/>
        </p:nvGrpSpPr>
        <p:grpSpPr>
          <a:xfrm>
            <a:off x="753999" y="4744879"/>
            <a:ext cx="10461117" cy="903827"/>
            <a:chOff x="753999" y="4744879"/>
            <a:chExt cx="10461117" cy="903827"/>
          </a:xfrm>
        </p:grpSpPr>
        <p:sp>
          <p:nvSpPr>
            <p:cNvPr id="28" name="TextBox 28"/>
            <p:cNvSpPr txBox="1"/>
            <p:nvPr/>
          </p:nvSpPr>
          <p:spPr>
            <a:xfrm>
              <a:off x="753999" y="4744879"/>
              <a:ext cx="2438972"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"feature_importances_</a:t>
              </a:r>
              <a:br/>
              <a:r>
                <a:rPr lang="tr-TR" sz="1580" b="1" dirty="0">
                  <a:solidFill>
                    <a:srgbClr val="12355B"/>
                  </a:solidFill>
                  <a:latin typeface="+mn-lt"/>
                  <a:ea typeface="+mn-ea"/>
                  <a:cs typeface="+mn-cs"/>
                </a:rPr>
                <a:t>yüksek çıkan öznitelik,</a:t>
              </a:r>
              <a:br/>
              <a:r>
                <a:rPr lang="tr-TR" sz="1580" b="1" dirty="0">
                  <a:solidFill>
                    <a:srgbClr val="12355B"/>
                  </a:solidFill>
                  <a:latin typeface="+mn-lt"/>
                  <a:ea typeface="+mn-ea"/>
                  <a:cs typeface="+mn-cs"/>
                </a:rPr>
                <a:t>sonucun nedenidir."</a:t>
              </a:r>
            </a:p>
          </p:txBody>
        </p:sp>
        <p:sp>
          <p:nvSpPr>
            <p:cNvPr id="29" name="TextBox 29"/>
            <p:cNvSpPr txBox="1"/>
            <p:nvPr/>
          </p:nvSpPr>
          <p:spPr>
            <a:xfrm>
              <a:off x="4375404" y="4785360"/>
              <a:ext cx="31516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Önem skoru, düğüm bölünmelerindeki</a:t>
              </a:r>
              <a:br/>
              <a:r>
                <a:rPr lang="tr-TR" sz="1200" dirty="0">
                  <a:solidFill>
                    <a:srgbClr val="172B3A"/>
                  </a:solidFill>
                  <a:latin typeface="+mn-lt"/>
                  <a:ea typeface="+mn-ea"/>
                  <a:cs typeface="+mn-cs"/>
                </a:rPr>
                <a:t>istatistiksel katkıyı ölçer; korelasyon ve</a:t>
              </a:r>
              <a:br/>
              <a:r>
                <a:rPr lang="tr-TR" sz="1200" dirty="0">
                  <a:solidFill>
                    <a:srgbClr val="172B3A"/>
                  </a:solidFill>
                  <a:latin typeface="+mn-lt"/>
                  <a:ea typeface="+mn-ea"/>
                  <a:cs typeface="+mn-cs"/>
                </a:rPr>
                <a:t>yapısal ilişkiyi yansıtır, nedensellik</a:t>
              </a:r>
              <a:br/>
              <a:r>
                <a:rPr lang="tr-TR" sz="1200" dirty="0">
                  <a:solidFill>
                    <a:srgbClr val="172B3A"/>
                  </a:solidFill>
                  <a:latin typeface="+mn-lt"/>
                  <a:ea typeface="+mn-ea"/>
                  <a:cs typeface="+mn-cs"/>
                </a:rPr>
                <a:t>kanıtı sunmaz.</a:t>
              </a:r>
            </a:p>
          </p:txBody>
        </p:sp>
        <p:sp>
          <p:nvSpPr>
            <p:cNvPr id="30" name="TextBox 30"/>
            <p:cNvSpPr txBox="1"/>
            <p:nvPr/>
          </p:nvSpPr>
          <p:spPr>
            <a:xfrm>
              <a:off x="8185404" y="4785360"/>
              <a:ext cx="30297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Nedensel iddialar için ayrı bir nedensel</a:t>
              </a:r>
              <a:br/>
              <a:r>
                <a:rPr lang="tr-TR" sz="1200" dirty="0">
                  <a:solidFill>
                    <a:srgbClr val="172B3A"/>
                  </a:solidFill>
                  <a:latin typeface="+mn-lt"/>
                  <a:ea typeface="+mn-ea"/>
                  <a:cs typeface="+mn-cs"/>
                </a:rPr>
                <a:t>çıkarım tasarımı (deney, karşı olgusal</a:t>
              </a:r>
              <a:br/>
              <a:r>
                <a:rPr lang="tr-TR" sz="1200" dirty="0">
                  <a:solidFill>
                    <a:srgbClr val="172B3A"/>
                  </a:solidFill>
                  <a:latin typeface="+mn-lt"/>
                  <a:ea typeface="+mn-ea"/>
                  <a:cs typeface="+mn-cs"/>
                </a:rPr>
                <a:t>analiz) gerekir.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24</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ensemble"/>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34132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Topluluk öğrenmesi</a:t>
              </a:r>
            </a:p>
          </p:txBody>
        </p:sp>
        <p:sp>
          <p:nvSpPr>
            <p:cNvPr id="8" name="TextBox 8"/>
            <p:cNvSpPr txBox="1"/>
            <p:nvPr/>
          </p:nvSpPr>
          <p:spPr>
            <a:xfrm>
              <a:off x="832104" y="1908810"/>
              <a:ext cx="24658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Çok sayıda zayıf/orta modeli</a:t>
              </a:r>
              <a:br/>
              <a:r>
                <a:rPr lang="tr-TR" sz="1200" dirty="0">
                  <a:solidFill>
                    <a:srgbClr val="172B3A"/>
                  </a:solidFill>
                  <a:latin typeface="+mn-lt"/>
                  <a:ea typeface="+mn-ea"/>
                  <a:cs typeface="+mn-cs"/>
                </a:rPr>
                <a:t>birleştirerek tekil modelden daha</a:t>
              </a:r>
              <a:br/>
              <a:r>
                <a:rPr lang="tr-TR" sz="1200" dirty="0">
                  <a:solidFill>
                    <a:srgbClr val="172B3A"/>
                  </a:solidFill>
                  <a:latin typeface="+mn-lt"/>
                  <a:ea typeface="+mn-ea"/>
                  <a:cs typeface="+mn-cs"/>
                </a:rPr>
                <a:t>kararlı tahminler üretir.</a:t>
              </a:r>
            </a:p>
          </p:txBody>
        </p:sp>
      </p:grpSp>
      <p:grpSp>
        <p:nvGrpSpPr>
          <p:cNvPr id="13" name="summary-bootstrap"/>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12856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Bootstrap</a:t>
              </a:r>
            </a:p>
          </p:txBody>
        </p:sp>
        <p:sp>
          <p:nvSpPr>
            <p:cNvPr id="12" name="TextBox 12"/>
            <p:cNvSpPr txBox="1"/>
            <p:nvPr/>
          </p:nvSpPr>
          <p:spPr>
            <a:xfrm>
              <a:off x="4565904" y="1908810"/>
              <a:ext cx="23743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Yerine koyarak örnekleme; her</a:t>
              </a:r>
              <a:br/>
              <a:r>
                <a:rPr lang="tr-TR" sz="1200" dirty="0">
                  <a:solidFill>
                    <a:srgbClr val="172B3A"/>
                  </a:solidFill>
                  <a:latin typeface="+mn-lt"/>
                  <a:ea typeface="+mn-ea"/>
                  <a:cs typeface="+mn-cs"/>
                </a:rPr>
                <a:t>ağaca ~%63.2 veri, ~%36.8 OOB</a:t>
              </a:r>
              <a:br/>
              <a:r>
                <a:rPr lang="tr-TR" sz="1200" dirty="0">
                  <a:solidFill>
                    <a:srgbClr val="172B3A"/>
                  </a:solidFill>
                  <a:latin typeface="+mn-lt"/>
                  <a:ea typeface="+mn-ea"/>
                  <a:cs typeface="+mn-cs"/>
                </a:rPr>
                <a:t>gözlem bırakır.</a:t>
              </a:r>
            </a:p>
          </p:txBody>
        </p:sp>
      </p:grpSp>
      <p:grpSp>
        <p:nvGrpSpPr>
          <p:cNvPr id="17" name="summary-bagging"/>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9416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Bagging</a:t>
              </a:r>
            </a:p>
          </p:txBody>
        </p:sp>
        <p:sp>
          <p:nvSpPr>
            <p:cNvPr id="16" name="TextBox 16"/>
            <p:cNvSpPr txBox="1"/>
            <p:nvPr/>
          </p:nvSpPr>
          <p:spPr>
            <a:xfrm>
              <a:off x="8299704" y="1908810"/>
              <a:ext cx="24277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Bağımsız ağaçları oylama/</a:t>
              </a:r>
              <a:br/>
              <a:r>
                <a:rPr lang="tr-TR" sz="1200" dirty="0">
                  <a:solidFill>
                    <a:srgbClr val="172B3A"/>
                  </a:solidFill>
                  <a:latin typeface="+mn-lt"/>
                  <a:ea typeface="+mn-ea"/>
                  <a:cs typeface="+mn-cs"/>
                </a:rPr>
                <a:t>ortalama ile birleştirip varyansı</a:t>
              </a:r>
              <a:br/>
              <a:r>
                <a:rPr lang="tr-TR" sz="1200" dirty="0">
                  <a:solidFill>
                    <a:srgbClr val="172B3A"/>
                  </a:solidFill>
                  <a:latin typeface="+mn-lt"/>
                  <a:ea typeface="+mn-ea"/>
                  <a:cs typeface="+mn-cs"/>
                </a:rPr>
                <a:t>azaltır.</a:t>
              </a:r>
            </a:p>
          </p:txBody>
        </p:sp>
      </p:grpSp>
      <p:grpSp>
        <p:nvGrpSpPr>
          <p:cNvPr id="21" name="summary-rf"/>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8417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Random Forest</a:t>
              </a:r>
            </a:p>
          </p:txBody>
        </p:sp>
        <p:sp>
          <p:nvSpPr>
            <p:cNvPr id="20" name="TextBox 20"/>
            <p:cNvSpPr txBox="1"/>
            <p:nvPr/>
          </p:nvSpPr>
          <p:spPr>
            <a:xfrm>
              <a:off x="832104" y="3718560"/>
              <a:ext cx="24201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Bootstrap'a öznitelik alt kümesi</a:t>
              </a:r>
              <a:br/>
              <a:r>
                <a:rPr lang="tr-TR" sz="1200" dirty="0">
                  <a:solidFill>
                    <a:srgbClr val="172B3A"/>
                  </a:solidFill>
                  <a:latin typeface="+mn-lt"/>
                  <a:ea typeface="+mn-ea"/>
                  <a:cs typeface="+mn-cs"/>
                </a:rPr>
                <a:t>ekleyerek ağaç korelasyonunu</a:t>
              </a:r>
              <a:br/>
              <a:r>
                <a:rPr lang="tr-TR" sz="1200" dirty="0">
                  <a:solidFill>
                    <a:srgbClr val="172B3A"/>
                  </a:solidFill>
                  <a:latin typeface="+mn-lt"/>
                  <a:ea typeface="+mn-ea"/>
                  <a:cs typeface="+mn-cs"/>
                </a:rPr>
                <a:t>daha da düşürür.</a:t>
              </a:r>
            </a:p>
          </p:txBody>
        </p:sp>
      </p:grpSp>
      <p:grpSp>
        <p:nvGrpSpPr>
          <p:cNvPr id="25" name="summary-oob"/>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3434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OOB skoru</a:t>
              </a:r>
            </a:p>
          </p:txBody>
        </p:sp>
        <p:sp>
          <p:nvSpPr>
            <p:cNvPr id="24" name="TextBox 24"/>
            <p:cNvSpPr txBox="1"/>
            <p:nvPr/>
          </p:nvSpPr>
          <p:spPr>
            <a:xfrm>
              <a:off x="4565904" y="3718560"/>
              <a:ext cx="24810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Ayrı test kümesi gerektirmeden,</a:t>
              </a:r>
              <a:br/>
              <a:r>
                <a:rPr lang="tr-TR" sz="1200" dirty="0">
                  <a:solidFill>
                    <a:srgbClr val="172B3A"/>
                  </a:solidFill>
                  <a:latin typeface="+mn-lt"/>
                  <a:ea typeface="+mn-ea"/>
                  <a:cs typeface="+mn-cs"/>
                </a:rPr>
                <a:t>hızlı ve k-fold CV'ye yakın bir</a:t>
              </a:r>
              <a:br/>
              <a:r>
                <a:rPr lang="tr-TR" sz="1200" dirty="0">
                  <a:solidFill>
                    <a:srgbClr val="172B3A"/>
                  </a:solidFill>
                  <a:latin typeface="+mn-lt"/>
                  <a:ea typeface="+mn-ea"/>
                  <a:cs typeface="+mn-cs"/>
                </a:rPr>
                <a:t>performans tahmini sunar.</a:t>
              </a:r>
            </a:p>
          </p:txBody>
        </p:sp>
      </p:grpSp>
      <p:grpSp>
        <p:nvGrpSpPr>
          <p:cNvPr id="29" name="summary-importance"/>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85760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Öznitelik önemi</a:t>
              </a:r>
            </a:p>
          </p:txBody>
        </p:sp>
        <p:sp>
          <p:nvSpPr>
            <p:cNvPr id="28" name="TextBox 28"/>
            <p:cNvSpPr txBox="1"/>
            <p:nvPr/>
          </p:nvSpPr>
          <p:spPr>
            <a:xfrm>
              <a:off x="8299704" y="3718560"/>
              <a:ext cx="25496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Modelin hangi değişkenlere</a:t>
              </a:r>
              <a:br/>
              <a:r>
                <a:rPr lang="tr-TR" sz="1200" dirty="0">
                  <a:solidFill>
                    <a:srgbClr val="172B3A"/>
                  </a:solidFill>
                  <a:latin typeface="+mn-lt"/>
                  <a:ea typeface="+mn-ea"/>
                  <a:cs typeface="+mn-cs"/>
                </a:rPr>
                <a:t>dayandığını gösterir; nedensellik</a:t>
              </a:r>
              <a:br/>
              <a:r>
                <a:rPr lang="tr-TR" sz="1200" dirty="0">
                  <a:solidFill>
                    <a:srgbClr val="172B3A"/>
                  </a:solidFill>
                  <a:latin typeface="+mn-lt"/>
                  <a:ea typeface="+mn-ea"/>
                  <a:cs typeface="+mn-cs"/>
                </a:rPr>
                <a:t>değil, katkı payı ölçer.</a:t>
              </a:r>
            </a:p>
          </p:txBody>
        </p:sp>
      </p:grpSp>
      <p:grpSp>
        <p:nvGrpSpPr>
          <p:cNvPr id="33" name="dikkat-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956058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Dikkat: OOB skoru ve k-fold CV birbirinin yerine geçmez, birbirini tamamlar.</a:t>
              </a:r>
            </a:p>
          </p:txBody>
        </p:sp>
        <p:sp>
          <p:nvSpPr>
            <p:cNvPr id="32" name="TextBox 32"/>
            <p:cNvSpPr txBox="1"/>
            <p:nvPr/>
          </p:nvSpPr>
          <p:spPr>
            <a:xfrm>
              <a:off x="906399" y="5583079"/>
              <a:ext cx="788171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Hızlı iterasyonda OOB, kritik kararlarda k-fold/holdout tercih edilmelidir.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24</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764840" cy="724281"/>
            <a:chOff x="599694" y="1484948"/>
            <a:chExt cx="9764840" cy="724281"/>
          </a:xfrm>
        </p:grpSpPr>
        <p:sp>
          <p:nvSpPr>
            <p:cNvPr id="7" name="TextBox 7"/>
            <p:cNvSpPr txBox="1"/>
            <p:nvPr/>
          </p:nvSpPr>
          <p:spPr>
            <a:xfrm>
              <a:off x="599694" y="1484948"/>
              <a:ext cx="9764840"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Bagging ve Random Forest, ağaçları paralel ve bağımsız eğitip oylatır. Sıradaki</a:t>
              </a:r>
              <a:br/>
              <a:r>
                <a:rPr lang="tr-TR" sz="1950" dirty="0">
                  <a:solidFill>
                    <a:srgbClr val="172B3A"/>
                  </a:solidFill>
                  <a:latin typeface="+mn-lt"/>
                  <a:ea typeface="+mn-ea"/>
                  <a:cs typeface="+mn-cs"/>
                </a:rPr>
                <a:t>adım, ağaçları sırayla ve önceki hatalardan öğreterek eğitmektir.</a:t>
              </a:r>
            </a:p>
          </p:txBody>
        </p:sp>
      </p:grpSp>
      <p:grpSp>
        <p:nvGrpSpPr>
          <p:cNvPr id="14" name="bridge-now"/>
          <p:cNvGrpSpPr/>
          <p:nvPr/>
        </p:nvGrpSpPr>
        <p:grpSpPr>
          <a:xfrm>
            <a:off x="599694" y="2799398"/>
            <a:ext cx="3245358" cy="1834419"/>
            <a:chOff x="599694" y="2799398"/>
            <a:chExt cx="3245358"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50418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Bootstrap örneklemesiyle</a:t>
              </a:r>
              <a:br/>
              <a:r>
                <a:rPr lang="tr-TR" sz="1580" dirty="0">
                  <a:solidFill>
                    <a:srgbClr val="172B3A"/>
                  </a:solidFill>
                  <a:latin typeface="+mn-lt"/>
                  <a:ea typeface="+mn-ea"/>
                  <a:cs typeface="+mn-cs"/>
                </a:rPr>
                <a:t>bagging modeli kurmak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99580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OOB skoru ve öznitelik önemini</a:t>
              </a:r>
              <a:br/>
              <a:r>
                <a:rPr lang="tr-TR" sz="1580" dirty="0">
                  <a:solidFill>
                    <a:srgbClr val="172B3A"/>
                  </a:solidFill>
                  <a:latin typeface="+mn-lt"/>
                  <a:ea typeface="+mn-ea"/>
                  <a:cs typeface="+mn-cs"/>
                </a:rPr>
                <a:t>yorumlamak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1688068"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Boosting ve</a:t>
              </a:r>
              <a:br/>
              <a:r>
                <a:rPr lang="tr-TR" sz="2250" b="1" dirty="0">
                  <a:solidFill>
                    <a:srgbClr val="FFFFFF"/>
                  </a:solidFill>
                  <a:latin typeface="+mn-lt"/>
                  <a:ea typeface="+mn-ea"/>
                  <a:cs typeface="+mn-cs"/>
                </a:rPr>
                <a:t>XGBoost</a:t>
              </a:r>
            </a:p>
          </p:txBody>
        </p:sp>
        <p:sp>
          <p:nvSpPr>
            <p:cNvPr id="18" name="TextBox 18"/>
            <p:cNvSpPr txBox="1"/>
            <p:nvPr/>
          </p:nvSpPr>
          <p:spPr>
            <a:xfrm>
              <a:off x="7307199" y="4135279"/>
              <a:ext cx="3346958"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Paralel varyans azaltmadan sıralı</a:t>
              </a:r>
              <a:br/>
              <a:r>
                <a:rPr lang="tr-TR" sz="1580" dirty="0">
                  <a:solidFill>
                    <a:srgbClr val="EAF4F6"/>
                  </a:solidFill>
                  <a:latin typeface="+mn-lt"/>
                  <a:ea typeface="+mn-ea"/>
                  <a:cs typeface="+mn-cs"/>
                </a:rPr>
                <a:t>yanlılık azaltmaya geçeceksiniz.</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9535478"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Kontrol listesi: bootstrap, OOB oranı, bagging vs. tekil ağaç, sqrt(p) kuralı ve</a:t>
              </a:r>
              <a:br/>
              <a:r>
                <a:rPr lang="tr-TR" sz="1800" b="1" dirty="0">
                  <a:solidFill>
                    <a:srgbClr val="12355B"/>
                  </a:solidFill>
                  <a:latin typeface="+mn-lt"/>
                  <a:ea typeface="+mn-ea"/>
                  <a:cs typeface="+mn-cs"/>
                </a:rPr>
                <a:t>öznitelik önemi yorumunu tekrar gözden geçirin.</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09_topluluk_ogrenmesi-20260916">
  <a:themeElements>
    <a:clrScheme name="ch09_topluluk_ogrenmes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9_topluluk_ogrenmes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9_topluluk_ogrenmes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09_topluluk_ogrenmesi-20260916">
  <a:themeElements>
    <a:clrScheme name="ch09_topluluk_ogrenmesi-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9_topluluk_ogrenmesi-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9_topluluk_ogrenmesi-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2026-09-19T21:22:04Z</dcterms:created>
  <dcterms:modified xsi:type="dcterms:W3CDTF">2026-09-19T21:22:04Z</dcterms:modified>
  <cp:category/>
  <cp:contentStatus/>
</cp:coreProperties>
</file>