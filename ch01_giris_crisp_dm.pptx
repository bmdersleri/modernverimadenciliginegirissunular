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modern veri madenciliğine giriş yapıyor ve CRISP-DM metodolojisini kafe senaryosundan yola çıkarak tanıtıyor. Kitap boyunca kullanılacak iki senaryo bu bölümde ortaya çıkıyor: küçük ölçekli bir kafe israf problemi ve daha kapsamlı Telco Churn — müşteri kaybı — capstone projesi. Kafe örneğindeki "hangi ürün ne zaman tükenir" sorusu ile Telco örneğindeki "hangi müşteri ne zaman ayrılır" sorusu yapısal olarak aynı problem sınıfına aittir; ikisi de geçmiş kayıtlardan öğrenilen bir örüntüyü geleceğe yönelik bir karara dönüştürür. Bölüm boyunca öğrenilen adımlar bu nedenle doğrudan Capstone projesine taşınabilir.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beş temel soruyu yanıtlayacak: veri madenciliği ile veri bilimi ilişkisi nedir, KDD ile CRISP-DM nasıl karşılaştırılır, CRISP-DM'in altı evresi bir senaryoda nasıl uygulanır, yapısal veri ve veri anlama neyi gerektirir, ve Python ile Jupyter ortamında tekrarlanabilir bir inceleme nasıl hazırlanır. Bölümün hedefi, öğrencinin teknik bir işlemi iş kararına dönüştürebilmesini sağlamaktır; bu nedenle her kavram yalnızca tanımıyla değil, ne zaman tercih edileceği ve hangi hatalara açık olduğuyla birlikte işlenecektir. Ön bilgi olarak temel Python söz dizimi ve DataFrame kavramına aşinalık yeterlidir, ileri düzey istatistik gerekmez.</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sonunda öğrenci beş temel yetkinliğe sahip olacak: veri madenciliği ile veri bilimi arasındaki ilişkiyi ayırt etmek, KDD ile CRISP-DM'i karşılaştırmak, CRISP-DM evrelerini gerçek bir senaryoda uygulamak, tekrarlanabilir bir Python/Jupyter ortamı hazırlamak ve yapısal veriyi doğru okuyabilmek. Bu hedefler rastgele seçilmemiştir; her biri bölümün ilerleyen sayfalarında ayrı bir kavram bloğu olarak işlenecek ve bir sonraki bölümdeki Keşifçi Veri Analizi çalışmasının temelini oluşturacaktır. Özellikle veri madenciliği ile veri sızıntısını fark etme becerisi, kitabın ileriki bölümlerinde eğitim-test ayrımı tartışılırken tekrar karşımıza çıkacaktır.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Veri madenciliği kavramı bu bölümde üç ana dal üzerinden inceleniyor: KDD süreci, CRISP-DM metodolojisi ve yapısal veri/veri anlama pratiği. Bu üç dalı birbirine bağlayan ortak bir örüntü var — dört kavramın da işlenişi aynı beş adımı izliyor: önce tanım, sonra neden var olduğu, ardından kodla nasıl kullanılacağı, ne zaman tercih edilmesi gerektiği ve son olarak sık yapılan hatalar. Kafe senaryosu bu dört kavramı birbirine bağlayan somut örnek olarak kullanılacak; aynı veri kümesi — tarih, ürün, satış adedi, stok tükenmesi — bölüm boyunca tekrar tekrar ele alınacak, böylece kavramlar soyut kalmayıp aynı bağlamda pekiştirilecek.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Veri madenciliği, büyük veri kümelerindeki anlamlı örüntü, ilişki ve kuralları keşfetmeye yönelik sistematik bir süreçtir; istatistik, makine öğrenmesi ve veri tabanı sistemlerinin kesişiminde yer alır. Bu tanımın önemli olmasının nedeni, insan gözlemi ve sezgisinin ölçek büyüdükçe yetersiz kalmasıdır — deneyimli bir kafe çalışanı bile haftalar süren kayıtlardaki ince örüntüleri gözle fark edemez, ama sistematik bir analiz bunu güvenilir biçimde ortaya çıkarabilir. Kritik olan nokta şu: sezgi tamamen devre dışı bırakılmıyor, veri madenciliği sezgiyi test edilebilir ve tekrarlanabilir bir karar kuralına dönüştürüyor. Bu ayrım, ilerleyen sayfalarda ele alınacak "sınav haftasında satış artar mı" örneğinin temelini oluşturuyor.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örneğinde `groupby("urun")["satis_adedi"].mean()` kullanılarak her ürünün ortalama günlük satışı hesaplanıyor; bu, veri madenciliğinin en basit ama en sık kullanılan uygulamalarından biridir. Bu tür bir özetleme, ürün bazında karşılaştırma yapmayı kolaylaştırsa da yalnızca bir özet sunar — hangi günlerde stok tükendiğini, hangi günlerin sınav haftasına denk geldiğini göstermez. Bu nedenle sayfadaki uyarı önemlidir: ortalama tek başına yeterli değildir, bağlamsal etiketlerle (stok tükenmesi, sınav haftası gibi) birlikte okunmalıdır. Veri madenciliği, tek seferlik bir sınıflandırma projesi için değil, tekrar eden ve zaman içinde ölçek büyüdükçe değer üreten sorular için tercih edilmelidir.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Her problem veri madenciliği gerektirmez; basit raporlama az sayıda kayıtta yeterlidir, uzman görüşü hızlı fakat öznel bir tercihtir, deneysel çalışma ise nedensellik sorusuna cevap arandığında devreye girer. Veri madenciliğin öne çıktığı durum, örüntünün büyük ölçekte ve tekrar eden biçimde ortaya çıkmasıdır. Sayfanın alt kısmındaki sık hatalar bu ayrımı somutlaştırıyor: tek bir günün satış rakamını genel bir kural sanmak, düşük satışı düşük talep sanmak (oysa stok tükenmesi bunu gizleyebilir) ve kafe senaryosunda olduğu gibi kişisel/izlenebilir veriyi gereksiz yere toplamak. Bu üç hata, ilerleyen "gerçek dünya tuzakları" sayfalarında daha ayrıntılı ele alınacak temaların ilk işaretidir.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KDD, "Knowledge Discovery in Databases" kısaltmasıdır ve veri seçimi, temizleme, dönüştürme, veri madenciliği ve sonuç yorumlamasını kapsayan geniş bir süreçtir; veri madenciliği, bu beş aşamalı sürecin yalnızca örüntü bulma aşamasıdır. Bu ayrımı netleştirmek önemlidir çünkü öğrenciler genellikle "veri madenciliği" terimini tüm süreçle eş anlamlı kullanır; oysa temizleme ve dönüştürme adımları genellikle projenin en çok zaman alan kısmıdır. Mutfakta yemek hazırlama benzetmesi bu akışı somutlaştırıyor: malzeme seçmek, ayıklamak ve doğramak veri hazırlamaya, pişirme veri madenciliğine, yemeği tadıp değerlendirmek ise sonuç yorumlamasına karşılık gelir. "Kahve" kelimesinin bazen büyük bazen küçük harfle yazılması gibi küçük tutarsızlıklar, temizlik adımı atlanırsa grup analizlerini sessizce bozabilir.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örneğinde ürün adlarındaki boşluklar `str.strip()` ile temizleniyor, büyük/küçük harf tutarsızlığı `str.title()` ile düzeltiliyor ve eksik satış değerleri incelenmeden önce işaretleniyor. KDD yaklaşımı özellikle veri kalitesinin bilinmediği veya ilk kez incelenen veri kümelerinde tercih edilmelidir; CRISP-DM ise iş hedefinin baştan belirginleştirilmesi gereken projelerde daha uygundur. Sağdaki karşılaştırma tablosunda KDD, CRISP-DM ve ELT/ETL yaklaşımlarının nerede güçlü olduğu özetleniyor — KDD veri hazırlama zincirini vurgularken, CRISP-DM iş hedefine dönüşü sistematik hale getirir. Pratikte bu ikisi genellikle birlikte kullanılır: KDD'nin temizleme mantığı, CRISP-DM'in veri hazırlama evresi içinde uygulanır.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Eksik satış değerlerini sıfır kabul etmek — `fillna(0)` gibi bir işlemle — en yaygın ve en tehlikeli hatalardan biridir, çünkü "satış kaydı eksik" ile "satış sıfır" aynı anlama gelmez. Bu hata, ortalamaları yapay olarak düşürür ve stok tükenmesi gibi gerçek bir sinyali gizler. Doğru yaklaşım, önce `isna()` ile eksik kayıtları ayrıca listelemek, ardından eksikliğin belirli bir koşulla (örneğin stok tükenmesi ya da tatil günü) ilişkili olup olmadığını incelemektir. Bu tema, bölümün ilerleyen kısımlarındaki "eksik veriyi sessizce göz ardı etmek" tuzağıyla doğrudan bağlantılıdır ve kitabın sonraki bölümlerinde ele alınacak veri kalitesi denetimlerinin temelini oluşturur.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CRISP-DM, "Cross-Industry Standard Process for Data Mining" kısaltmasıdır; 2000 yılında yayımlanan CRISP-DM 1.0 rehberi, sektör bağımsız ve altı evreden oluşan yinelemeli bir süreç modelidir: iş anlama, veri anlama, veri hazırlama, modelleme, değerlendirme ve yaygınlaştırma. CRISP-DM'in yirmi yılı aşkın süredir kalıcı olmasının nedeni, yalnızca model kurmaya değil, modelin iş problemine gerçekten hizmet edip etmediğine odaklanmasıdır. Diyagramdaki geri dönüş okları bunun doğrusal değil yinelemeli bir süreç olduğunu gösteriyor: veri yetersizse ekip iş anlama evresine dönebilir, değerlendirme sonucu yetersizse veri anlama evresine geri dönülebilir. Bu yinelemeli yapı, kafe yöneticisinin yalnızca satış tahmini yaptırıp stok tükenmesini ve müşteri memnuniyetini göz ardı etmesi gibi dar kapsamlı hataları önlemeye yöneliktir; şehir içi navigasyon kullanmaya benzer şekilde, hedef değiştikçe rota yeniden hesaplanır.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örneğinde bir iş hedefi — "Sandviç israfını azaltmak" — amaç, başarı ölçütü ve veri sorusu alanlarını içeren yapılandırılmış bir sözlüğe dönüştürülüyor; bu, CRISP-DM'in iş anlama evresinin somut çıktısıdır. Bu adım kritik önemdedir çünkü bir model teknik olarak doğru çalışabilir ama iş problemi yanlış kurulmuş olabilir; başarı ölçütü baştan net tanımlanmazsa, modelin "iyi" sonuç üretip üretmediğini değerlendirmek mümkün olmaz. Navigasyon benzetmesi burada da geçerlidir: CRISP-DM, proje ekibinin sürekli olarak iş sorusuna dönmesini sağlayan bir yapı sunar. Bu yapılandırılmış hedef tanımlama pratiği, sayfa 22'de görülecek israf oranı formülünün ve kavramların operasyonelleştirilmesinin doğrudan ön adımıdır.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CRISP-DM, veri çalışmasının bir iş kararına dönüşmesi beklendiğinde tercih edilir — kafe stok planı, müşteri kaybı tahmini veya bakım ihtiyacı tahmini gibi durumlarda. Tek seferlik bir ders alıştırmasında altı evre ayrıntılı yürütülmeyebilir, ama öğrencinin hangi evrede olduğunu bilmesi beklenir. Karşılaştırma tablosunda KDD'nin veri hazırlama zincirini vurguladığı ama yaygınlaştırma konusunda zayıf kaldığı, OSEMN'in hatırlaması kolay ama iş hedefini daha az öne çıkardığı, Agile analitik yaklaşımının ise değişen ihtiyaçlara uyum sağladığı ama disiplinli dokümantasyon gerektirdiği görülüyor. Bu metodolojiler birbirini dışlamaz; pratikte ekipler genellikle CRISP-DM'in evre yapısını iskelet olarak kullanıp diğer yaklaşımlardan araç ödünç alır.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En sık yapılan hata, modelleme evresinden başlamaktır — veri yüklenir yüklenmez algoritma çalıştırmak, iş hedefinin belirsiz kalmasına yol açar. Yanlış yaklaşımda kod doğrudan `model.fit()` çağrısına atlarken, iş hedefi hiçbir yerde açıkça yazılı değildir; bu durumda hedef değişkenin anlamı doğrulanmamış ve başarı ölçütü bilinmiyor demektir. Doğru yaklaşımda ise önce öncelik ve kabul ölçütü net biçimde ifade edilir — "aylık israfta yüzde 15 düşüş" gibi — ve modelleme, ancak bu hazırlık tamamlandıktan sonra en erken uygun aşamada yapılır. Bu hata, kitabın ileriki bölümlerinde ele alınacak "veri sızıntısı" ve "yanlış başarı ölçütü" konularıyla da bağlantılıdır; iş hedefi belirsiz bırakılırsa, yüksek teknik doğruluk bile yanlış bir karara hizmet edebilir.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Yapısal veri, satır ve sütunlardan oluşan, her alanın belirli bir anlam taşıdığı veridir; bir satış tablosunda her satır bir gözlem, sütunlar ise tarih, ürün, satış adedi ve stok durumu gibi değişkenlerdir. Bu tanımın önemli olmasının nedeni, aynı tablonun farklı biçimlerde yorumlanabilmesidir: bir satır "günlük toplam satış" mı, "tek ürünün günlük satışı" mı, yoksa "tek işlem" mi ifade ediyor? Bu soru cevaplanmadan hesaplanan ortalamalar anlamsız olabilir. Kütüphane kataloğu benzetmesinde olduğu gibi, kitap başlığı, yazar ve raf numarası sütunlarının anlamı bilinmezse doğru kitabı bulmak mümkün değildir — aynı mantık, gözlem biriminin veri sözlüğünde açıkça tanımlanması gerektiğini gösterir.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örneğinde `kafeVerisi.info()` ile her sütunun veri türü, `kafeVerisi.isna().sum()` ile eksik değer sayısı inceleniyor; bu iki komut, veri anlama evresinin en temel ve en sık atlanan adımıdır. Sağdaki akış diyagramı bu süreci somutlaştırıyor: veri incelenir, kalite sorunu varsa kaynağa ya da iş tanımına geri dönülür, yoksa veri hazırlama evresine geçilir. Bu diyagram, veri anlamanın yalnızca `head()` çıktısına bakmaktan ibaret olmadığını gösteriyor; küçük veri kümelerinde bu kontrol gözden kaçabilir, ama binlerce satırlık gerçek veri kümelerinde eksik değer ve tür tutarsızlıkları fark edilmezse ilerideki tüm analiz bozulabilir. Bu adım, bir sonraki bölümde ele alınacak Keşifçi Veri Analizi'nin de ön koşuludur.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Veri, yapısal (satış tablosu gibi, pandas veya SQL ile işlenir), yarı yapısal (JSON günlükleri gibi, şema değişkenliği taşıyabilir) ve yapısal olmayan (yorum metni veya görsel gibi, anlam çıkarmak NLP veya görüntü işleme gerektirir) olmak üzere üç ana türe ayrılır. Bu bölüm esas olarak yapısal veriye odaklanıyor, çünkü kafe senaryosundaki satış tablosu bu kategoriye giriyor. Sık yapılan üç hata özellikle dikkat gerektiriyor: tarih sütununu metin olarak bırakmak zaman bazlı hesaplamaları güvenilmez kılar ve `pd.to_datetime()` ile dönüştürülmesi gerekir; stok tükenmesini göz ardı etmek satış rakamının gerçek talebi eksik göstermesine yol açar; yinelenen kayıtları farklı gözlem sanmak ise toplamları yapay olarak şişirir. Her üç hata da teknik olarak "çalışan" bir kodun yine de yanlış bir iş kararına götürebileceğini gösteriyor.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işlenen dört kavramın (veri madenciliği, KDD, CRISP-DM, yapısal veri) ortak paydası, "iyi görünen bir sayının doğru bir karar olduğu" yanılgısına karşı dikkatli olmayı gerektirmeleridir. Çok satan ürünün en çok istenen ürün olduğunu varsaymak, aslında stok tükenmesi göz ardı edildiğinde yanlış bir sonuca götürür — talep, yalnızca stoğun yeterli olduğu günlerin verisinden kestirilmelidir. İki değişkenin birlikte değişmesi bir nedensellik kanıtı değildir; bulgular "X ile Y ilişkilidir" biçiminde ifade edilmeli, nedensellik iddiası için ek kanıt veya deneysel tasarım belirtilmelidir. Son olarak, yüksek model doğruluğu iş sorununun çözüldüğü anlamına gelmez — bu durum genellikle veri sızıntısından ya da iş hedefiyle örtüşmeyen bir başarı ölçütünden kaynaklanır; bu üç yanılgı, kitabın ilerleyen bölümlerinde ele alınacak eğitim-test ayrımı ve model değerlendirme konularının temelini oluşturur.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Python, okunabilir söz dizimi ve geniş veri ekosistemi nedeniyle veri madenciliğinde yaygın kullanılır; bu kitapta Python 3.12 sürümü temel pandas işlemleri için tercih ediliyor. Jupyter Notebook ise kod, açıklama ve çıktıyı aynı belgede birleştirerek tekrarlanabilir analiz hazırlamayı kolaylaştırır — tekrarlanabilirlik, aynı veri ve bağımlılık sürümleriyle çalışmanın başka bir bilgisayarda da aynı sonucu üretmesi anlamına gelir. Sanal ortam oluşturmak, farklı projelerin kütüphane sürümlerinin birbirini etkilemesini önler; çekirdek adı ise Jupyter'de doğru ortamın seçildiğini görünür kılar. Çalışma defterinin ilk hücresinde Python ve pandas sürüm numaralarının kaydedilmesi önerilir, çünkü bu bilgi tekrarlanabilirlik için rapora eklenmesi gereken temel bir kanıttır.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`KafeTalepAnalizi` sınıfı, iş hedefini, veri kalitesi kontrolünü ve özet raporu tek bir sınıfta birleştiren uçtan uca bir örnektir. `init` metodu iş hedefini ve dört günlük sentetik sandviç satış verisini başlatır; `veriKalitesiniKontrolEt()` eksik değer sayısını döndürür, `sinavHaftasiOzetiniUret()` ise sınav haftası ile diğer günler arasındaki ortalama satış farkını hesaplayan ilk analitik özeti üretir. Bu program, bölümde öğrenilen tüm kavramları — iş hedefi tanımlama, veri kalitesi kontrolü ve gruplama — tek bir çalışan uygulamada birleştiriyor. Öğrenciden istenen genişletmeler (israf oranı hesaplama, hafta günü çıkarma, CSV'ye rapor kaydetme) doğrudan Telco Churn Capstone projesindeki dört maddeye — iş hedefi, tahmin anı, churn etiketinin tanımı ve başarı/maliyet ölçütü — hazırlık niteliğindedir.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İlk tuzak iş sorusundan kopuk veri incelemesidir: "kafenin en popüler ürünü nedir" sorusu ilginç olabilir, ama hedef israfı azaltmaksa yalnızca popülerlik bilgisi yeterli değildir, hazırlanan miktar, elde kalan miktar ve stok tükenmesi de birlikte incelenmelidir. İkinci tuzak satışı talep ile eş tutmaktır — kahve saat 13.00'te tükenmişse, kasada daha fazla satış görünmemesi talebin bittiği anlamına gelmez; stok_tukendi etiketi gözlenen satışın bir alt sınır olabileceğini gösterir. Üçüncü ve en ciddi tuzak veri sızıntısıdır: ay sonundaki toplam israfı kullanarak ayın ilk günü için tahmin üretmek, tahmin anında gerçekte bilinmeyen bir bilgiyi kullanmak anlamına gelir. Bu üç tuzağın ortak noktası, teknik olarak sorunsuz çalışan bir kodun yine de yanlış bir iş kararına yol açabilmesidir.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Dördüncü tuzak örneklem büyüklüğünü göz ardı etmektir: yalnızca dört günlük kayıtla "sınav haftasında satış artar" sonucuna varmak istatistiksel olarak zayıf bir temele dayanır, çünkü hafta içi/hafta sonu etkisi ya da tek seferlik bir kampanya da aynı farkı yaratmış olabilir; güvenilir bir sonuç için yeterli gözlem, birden fazla dönem ve mümkünse bir kontrol grubu gerekir. Beşinci tuzak eksik veriyi sessizce göz ardı etmektir — `dropna()` hızlı bir çözüm gibi görünse de, eksikliğin hangi koşulda oluştuğu incelenmeden silinmesi sonucu sistematik biçimde çarpıtabilir; eksik veri her zaman rastgele değildir, bazen kendisi bir bulgudur. Sağdaki kart, belirsiz bir iş amacının nasıl operasyonelleştirileceğini gösteriyor: israf oranı r=(h−s)/h formülüyle tanımlanır, burada h hazırlanan miktarı, s satılan miktarı gösterir ve formül yalnızca h sıfırdan büyükken tanımlıdır. Hazırlanan miktar güvenilir kaydedilmediyse, iade satıştan ayrılmadıysa ya da satılmayan her birim israf sayılmıyorsa, hesaplanan oran hedefi temsil etmeyebilir — sayısal ölçüt iş kavramının kendisi değil, açık varsayımlara dayalı bir göstergedir.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Veri madenciliği, veri kümelerindeki anlamlı örüntüleri keşfederek karar desteği üretir; veri bilimi ise veri toplama, analiz, modelleme, iletişim ve karar süreçlerini kapsayan daha geniş bir çalışma alanıdır. KDD ham veriden bilgi keşfine uzanan geniş süreçken, CRISP-DM iş hedefinden yaygınlaştırmaya uzanan altı evreli ve yinelemeli bir veri madenciliği metodolojisidir. Bu bölümdeki kafe senaryosu, veri analizinin teknik bir işlemden ibaret olmadığını gösterdi: güvenilir sonuç için iş hedefi açık olmalı, gözlem birimi doğru tanımlanmalı, eksik kayıtlar araştırılmalı ve stok tükenmesi gibi bağlamsal bilgiler korunmalıdır. Veri sızıntısı, küçük örneklem ve göz ardı edilen eksik veri gibi gerçek dünya tuzakları, teknik olarak doğru çalışan bir kodun bile yanlış bir karara yol açabileceğini hatırlatıyor.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CRISP-DM'in iş anlama ve veri anlama evreleri, kafe senaryosu üzerinden uygulamalı biçimde ele alındı; ancak veri anlama evresi burada durmuyor. Bir sonraki adım, verinin görsel olarak incelenmesi ve dağılımların, aykırı değerlerin, eksik kayıt örüntülerinin sistematik biçimde ortaya çıkarılmasıdır. Gelecek hafta işlenecek Keşifçi Veri Analizi (EDA) ve Görselleştirme bölümü, bu haftada elle yapılan `head()`, `isna().sum()` ve `groupby` incelemelerini; histogram, kutu grafiği ve korelasyon matrisi gibi görsel araçlarla genişletecek. Kafe veri kümesi ve Telco Churn Capstone projesi EDA bölümünde de aynı süreklilikle kullanılmaya devam edecek; bu geçiş, veri madenciliğinin doğrusal değil yinelemeli bir süreç olduğunu da hatırlatıyor — iş anlama ve veri anlama evrelerine, modelleme aşamasında yeni sorular ortaya çıktıkça tekrar dönülebilir.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1_giris_crisp_dm-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1_giris_crisp_dm-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01</a:t>
              </a:r>
            </a:p>
          </p:txBody>
        </p:sp>
      </p:grpSp>
      <p:grpSp>
        <p:nvGrpSpPr>
          <p:cNvPr id="8" name="cover-title"/>
          <p:cNvGrpSpPr/>
          <p:nvPr/>
        </p:nvGrpSpPr>
        <p:grpSpPr>
          <a:xfrm>
            <a:off x="4745736" y="1777365"/>
            <a:ext cx="3950018" cy="2188464"/>
            <a:chOff x="4745736" y="1777365"/>
            <a:chExt cx="3950018" cy="2188464"/>
          </a:xfrm>
        </p:grpSpPr>
        <p:sp>
          <p:nvSpPr>
            <p:cNvPr id="7" name="TextBox 7"/>
            <p:cNvSpPr txBox="1"/>
            <p:nvPr/>
          </p:nvSpPr>
          <p:spPr>
            <a:xfrm>
              <a:off x="4745736" y="1777365"/>
              <a:ext cx="3950018" cy="2188464"/>
            </a:xfrm>
            <a:prstGeom prst="rect">
              <a:avLst/>
            </a:prstGeom>
            <a:noFill/>
            <a:ln>
              <a:noFill/>
            </a:ln>
          </p:spPr>
          <p:txBody>
            <a:bodyPr wrap="none" lIns="0" tIns="0" rIns="0" bIns="0" anchor="t" anchorCtr="0">
              <a:spAutoFit/>
            </a:bodyPr>
            <a:lstStyle/>
            <a:p>
              <a:pPr algn="l">
                <a:lnSpc>
                  <a:spcPts val="4050"/>
                </a:lnSpc>
              </a:pPr>
              <a:r>
                <a:rPr lang="tr-TR" sz="3300" b="1" dirty="0">
                  <a:solidFill>
                    <a:srgbClr val="12355B"/>
                  </a:solidFill>
                  <a:latin typeface="+mj-lt"/>
                  <a:ea typeface="+mj-ea"/>
                  <a:cs typeface="+mj-cs"/>
                </a:rPr>
                <a:t>Modern Veri</a:t>
              </a:r>
              <a:br/>
              <a:r>
                <a:rPr lang="tr-TR" sz="3300" b="1" dirty="0">
                  <a:solidFill>
                    <a:srgbClr val="12355B"/>
                  </a:solidFill>
                  <a:latin typeface="+mj-lt"/>
                  <a:ea typeface="+mj-ea"/>
                  <a:cs typeface="+mj-cs"/>
                </a:rPr>
                <a:t>Madenciliğine Giriş</a:t>
              </a:r>
              <a:br/>
              <a:r>
                <a:rPr lang="tr-TR" sz="3300" b="1" dirty="0">
                  <a:solidFill>
                    <a:srgbClr val="12355B"/>
                  </a:solidFill>
                  <a:latin typeface="+mj-lt"/>
                  <a:ea typeface="+mj-ea"/>
                  <a:cs typeface="+mj-cs"/>
                </a:rPr>
                <a:t>ve CRISP-DM</a:t>
              </a:r>
              <a:br/>
              <a:r>
                <a:rPr lang="tr-TR" sz="3300" b="1" dirty="0">
                  <a:solidFill>
                    <a:srgbClr val="12355B"/>
                  </a:solidFill>
                  <a:latin typeface="+mj-lt"/>
                  <a:ea typeface="+mj-ea"/>
                  <a:cs typeface="+mj-cs"/>
                </a:rPr>
                <a:t>Metodolojisi</a:t>
              </a:r>
            </a:p>
          </p:txBody>
        </p:sp>
      </p:grpSp>
      <p:grpSp>
        <p:nvGrpSpPr>
          <p:cNvPr id="12" name="cover-subtitle"/>
          <p:cNvGrpSpPr/>
          <p:nvPr/>
        </p:nvGrpSpPr>
        <p:grpSpPr>
          <a:xfrm>
            <a:off x="4753356" y="4305300"/>
            <a:ext cx="5135793" cy="804768"/>
            <a:chOff x="4753356" y="4305300"/>
            <a:chExt cx="5135793" cy="804768"/>
          </a:xfrm>
        </p:grpSpPr>
        <p:sp>
          <p:nvSpPr>
            <p:cNvPr id="9" name="Rectangle 9"/>
            <p:cNvSpPr/>
            <p:nvPr/>
          </p:nvSpPr>
          <p:spPr>
            <a:xfrm>
              <a:off x="4762500" y="4305300"/>
              <a:ext cx="1143000" cy="38100"/>
            </a:xfrm>
            <a:prstGeom prst="rect">
              <a:avLst/>
            </a:prstGeom>
            <a:solidFill>
              <a:srgbClr val="00A6A6"/>
            </a:solidFill>
            <a:ln>
              <a:noFill/>
            </a:ln>
          </p:spPr>
        </p:sp>
        <p:sp>
          <p:nvSpPr>
            <p:cNvPr id="10" name="TextBox 10"/>
            <p:cNvSpPr txBox="1"/>
            <p:nvPr/>
          </p:nvSpPr>
          <p:spPr>
            <a:xfrm>
              <a:off x="4753356" y="4453890"/>
              <a:ext cx="5135793" cy="352044"/>
            </a:xfrm>
            <a:prstGeom prst="rect">
              <a:avLst/>
            </a:prstGeom>
            <a:noFill/>
            <a:ln>
              <a:noFill/>
            </a:ln>
          </p:spPr>
          <p:txBody>
            <a:bodyPr wrap="none" lIns="0" tIns="0" rIns="0" bIns="0" anchor="t" anchorCtr="0">
              <a:spAutoFit/>
            </a:bodyPr>
            <a:lstStyle/>
            <a:p>
              <a:pPr algn="l"/>
              <a:r>
                <a:rPr lang="tr-TR" sz="1800" dirty="0">
                  <a:solidFill>
                    <a:srgbClr val="2E86AB"/>
                  </a:solidFill>
                  <a:latin typeface="+mn-lt"/>
                  <a:ea typeface="+mn-ea"/>
                  <a:cs typeface="+mn-cs"/>
                </a:rPr>
                <a:t>Kafe İsrafından CRISP-DM'in Altı Evresine</a:t>
              </a:r>
            </a:p>
          </p:txBody>
        </p:sp>
        <p:sp>
          <p:nvSpPr>
            <p:cNvPr id="11" name="TextBox 11"/>
            <p:cNvSpPr txBox="1"/>
            <p:nvPr/>
          </p:nvSpPr>
          <p:spPr>
            <a:xfrm>
              <a:off x="4754499" y="48020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756404" y="6233160"/>
            <a:ext cx="5647634" cy="234696"/>
            <a:chOff x="4756404" y="6233160"/>
            <a:chExt cx="5647634" cy="234696"/>
          </a:xfrm>
        </p:grpSpPr>
        <p:sp>
          <p:nvSpPr>
            <p:cNvPr id="13" name="TextBox 13"/>
            <p:cNvSpPr txBox="1"/>
            <p:nvPr/>
          </p:nvSpPr>
          <p:spPr>
            <a:xfrm>
              <a:off x="4756404" y="6233160"/>
              <a:ext cx="56476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Modern Veri Madenciliğine Giriş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intro"/>
          <p:cNvGrpSpPr/>
          <p:nvPr/>
        </p:nvGrpSpPr>
        <p:grpSpPr>
          <a:xfrm>
            <a:off x="601599" y="1125379"/>
            <a:ext cx="4968445" cy="308039"/>
            <a:chOff x="601599" y="1125379"/>
            <a:chExt cx="4968445" cy="308039"/>
          </a:xfrm>
        </p:grpSpPr>
        <p:sp>
          <p:nvSpPr>
            <p:cNvPr id="6" name="TextBox 6"/>
            <p:cNvSpPr txBox="1"/>
            <p:nvPr/>
          </p:nvSpPr>
          <p:spPr>
            <a:xfrm>
              <a:off x="601599" y="1125379"/>
              <a:ext cx="496844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soruları aklınızda tutun:</a:t>
              </a:r>
            </a:p>
          </p:txBody>
        </p:sp>
      </p:grpSp>
      <p:grpSp>
        <p:nvGrpSpPr>
          <p:cNvPr id="11" name="q1"/>
          <p:cNvGrpSpPr/>
          <p:nvPr/>
        </p:nvGrpSpPr>
        <p:grpSpPr>
          <a:xfrm>
            <a:off x="628650" y="1447800"/>
            <a:ext cx="6591863" cy="354139"/>
            <a:chOff x="628650" y="1447800"/>
            <a:chExt cx="6591863" cy="354139"/>
          </a:xfrm>
        </p:grpSpPr>
        <p:sp>
          <p:nvSpPr>
            <p:cNvPr id="8" name="Ellipse 8"/>
            <p:cNvSpPr/>
            <p:nvPr/>
          </p:nvSpPr>
          <p:spPr>
            <a:xfrm>
              <a:off x="628650" y="1447800"/>
              <a:ext cx="304800" cy="304800"/>
            </a:xfrm>
            <a:prstGeom prst="ellipse">
              <a:avLst/>
            </a:prstGeom>
            <a:solidFill>
              <a:srgbClr val="12355B"/>
            </a:solidFill>
            <a:ln>
              <a:noFill/>
            </a:ln>
          </p:spPr>
        </p:sp>
        <p:sp>
          <p:nvSpPr>
            <p:cNvPr id="9" name="TextBox 9"/>
            <p:cNvSpPr txBox="1"/>
            <p:nvPr/>
          </p:nvSpPr>
          <p:spPr>
            <a:xfrm>
              <a:off x="728308" y="15278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1</a:t>
              </a:r>
            </a:p>
          </p:txBody>
        </p:sp>
        <p:sp>
          <p:nvSpPr>
            <p:cNvPr id="10" name="TextBox 10"/>
            <p:cNvSpPr txBox="1"/>
            <p:nvPr/>
          </p:nvSpPr>
          <p:spPr>
            <a:xfrm>
              <a:off x="1077468" y="1479232"/>
              <a:ext cx="6143045"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Veri madenciliği, veri biliminin hangi problemlerini çözer?</a:t>
              </a:r>
            </a:p>
          </p:txBody>
        </p:sp>
      </p:grpSp>
      <p:grpSp>
        <p:nvGrpSpPr>
          <p:cNvPr id="15" name="q2"/>
          <p:cNvGrpSpPr/>
          <p:nvPr/>
        </p:nvGrpSpPr>
        <p:grpSpPr>
          <a:xfrm>
            <a:off x="628650" y="1905000"/>
            <a:ext cx="6994252" cy="354139"/>
            <a:chOff x="628650" y="1905000"/>
            <a:chExt cx="6994252" cy="354139"/>
          </a:xfrm>
        </p:grpSpPr>
        <p:sp>
          <p:nvSpPr>
            <p:cNvPr id="12" name="Ellipse 12"/>
            <p:cNvSpPr/>
            <p:nvPr/>
          </p:nvSpPr>
          <p:spPr>
            <a:xfrm>
              <a:off x="628650" y="1905000"/>
              <a:ext cx="304800" cy="304800"/>
            </a:xfrm>
            <a:prstGeom prst="ellipse">
              <a:avLst/>
            </a:prstGeom>
            <a:solidFill>
              <a:srgbClr val="12355B"/>
            </a:solidFill>
            <a:ln>
              <a:noFill/>
            </a:ln>
          </p:spPr>
        </p:sp>
        <p:sp>
          <p:nvSpPr>
            <p:cNvPr id="13" name="TextBox 13"/>
            <p:cNvSpPr txBox="1"/>
            <p:nvPr/>
          </p:nvSpPr>
          <p:spPr>
            <a:xfrm>
              <a:off x="728308" y="19850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2</a:t>
              </a:r>
            </a:p>
          </p:txBody>
        </p:sp>
        <p:sp>
          <p:nvSpPr>
            <p:cNvPr id="14" name="TextBox 14"/>
            <p:cNvSpPr txBox="1"/>
            <p:nvPr/>
          </p:nvSpPr>
          <p:spPr>
            <a:xfrm>
              <a:off x="1077468" y="1936432"/>
              <a:ext cx="6545434"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KDD süreci ham veriyi kullanılabilir bilgiye nasıl dönüştürür?</a:t>
              </a:r>
            </a:p>
          </p:txBody>
        </p:sp>
      </p:grpSp>
      <p:grpSp>
        <p:nvGrpSpPr>
          <p:cNvPr id="19" name="q3"/>
          <p:cNvGrpSpPr/>
          <p:nvPr/>
        </p:nvGrpSpPr>
        <p:grpSpPr>
          <a:xfrm>
            <a:off x="628650" y="2362200"/>
            <a:ext cx="6869669" cy="354139"/>
            <a:chOff x="628650" y="2362200"/>
            <a:chExt cx="6869669" cy="354139"/>
          </a:xfrm>
        </p:grpSpPr>
        <p:sp>
          <p:nvSpPr>
            <p:cNvPr id="16" name="Ellipse 16"/>
            <p:cNvSpPr/>
            <p:nvPr/>
          </p:nvSpPr>
          <p:spPr>
            <a:xfrm>
              <a:off x="628650" y="2362200"/>
              <a:ext cx="304800" cy="304800"/>
            </a:xfrm>
            <a:prstGeom prst="ellipse">
              <a:avLst/>
            </a:prstGeom>
            <a:solidFill>
              <a:srgbClr val="12355B"/>
            </a:solidFill>
            <a:ln>
              <a:noFill/>
            </a:ln>
          </p:spPr>
        </p:sp>
        <p:sp>
          <p:nvSpPr>
            <p:cNvPr id="17" name="TextBox 17"/>
            <p:cNvSpPr txBox="1"/>
            <p:nvPr/>
          </p:nvSpPr>
          <p:spPr>
            <a:xfrm>
              <a:off x="728308" y="24422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3</a:t>
              </a:r>
            </a:p>
          </p:txBody>
        </p:sp>
        <p:sp>
          <p:nvSpPr>
            <p:cNvPr id="18" name="TextBox 18"/>
            <p:cNvSpPr txBox="1"/>
            <p:nvPr/>
          </p:nvSpPr>
          <p:spPr>
            <a:xfrm>
              <a:off x="1077468" y="2393632"/>
              <a:ext cx="6420851"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CRISP-DM'nin altı evresi bir iş problemine nasıl uygulanır?</a:t>
              </a:r>
            </a:p>
          </p:txBody>
        </p:sp>
      </p:grpSp>
      <p:grpSp>
        <p:nvGrpSpPr>
          <p:cNvPr id="23" name="q4"/>
          <p:cNvGrpSpPr/>
          <p:nvPr/>
        </p:nvGrpSpPr>
        <p:grpSpPr>
          <a:xfrm>
            <a:off x="628650" y="2819400"/>
            <a:ext cx="6392141" cy="354139"/>
            <a:chOff x="628650" y="2819400"/>
            <a:chExt cx="6392141" cy="354139"/>
          </a:xfrm>
        </p:grpSpPr>
        <p:sp>
          <p:nvSpPr>
            <p:cNvPr id="20" name="Ellipse 20"/>
            <p:cNvSpPr/>
            <p:nvPr/>
          </p:nvSpPr>
          <p:spPr>
            <a:xfrm>
              <a:off x="628650" y="2819400"/>
              <a:ext cx="304800" cy="304800"/>
            </a:xfrm>
            <a:prstGeom prst="ellipse">
              <a:avLst/>
            </a:prstGeom>
            <a:solidFill>
              <a:srgbClr val="12355B"/>
            </a:solidFill>
            <a:ln>
              <a:noFill/>
            </a:ln>
          </p:spPr>
        </p:sp>
        <p:sp>
          <p:nvSpPr>
            <p:cNvPr id="21" name="TextBox 21"/>
            <p:cNvSpPr txBox="1"/>
            <p:nvPr/>
          </p:nvSpPr>
          <p:spPr>
            <a:xfrm>
              <a:off x="728308" y="28994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4</a:t>
              </a:r>
            </a:p>
          </p:txBody>
        </p:sp>
        <p:sp>
          <p:nvSpPr>
            <p:cNvPr id="22" name="TextBox 22"/>
            <p:cNvSpPr txBox="1"/>
            <p:nvPr/>
          </p:nvSpPr>
          <p:spPr>
            <a:xfrm>
              <a:off x="1077468" y="2850832"/>
              <a:ext cx="5943323"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Yapısal veriyi anlamak için hangi sorular sorulmalıdır?</a:t>
              </a:r>
            </a:p>
          </p:txBody>
        </p:sp>
      </p:grpSp>
      <p:grpSp>
        <p:nvGrpSpPr>
          <p:cNvPr id="27" name="q5"/>
          <p:cNvGrpSpPr/>
          <p:nvPr/>
        </p:nvGrpSpPr>
        <p:grpSpPr>
          <a:xfrm>
            <a:off x="628650" y="3276600"/>
            <a:ext cx="8665070" cy="354139"/>
            <a:chOff x="628650" y="3276600"/>
            <a:chExt cx="8665070" cy="354139"/>
          </a:xfrm>
        </p:grpSpPr>
        <p:sp>
          <p:nvSpPr>
            <p:cNvPr id="24" name="Ellipse 24"/>
            <p:cNvSpPr/>
            <p:nvPr/>
          </p:nvSpPr>
          <p:spPr>
            <a:xfrm>
              <a:off x="628650" y="3276600"/>
              <a:ext cx="304800" cy="304800"/>
            </a:xfrm>
            <a:prstGeom prst="ellipse">
              <a:avLst/>
            </a:prstGeom>
            <a:solidFill>
              <a:srgbClr val="12355B"/>
            </a:solidFill>
            <a:ln>
              <a:noFill/>
            </a:ln>
          </p:spPr>
        </p:sp>
        <p:sp>
          <p:nvSpPr>
            <p:cNvPr id="25" name="TextBox 25"/>
            <p:cNvSpPr txBox="1"/>
            <p:nvPr/>
          </p:nvSpPr>
          <p:spPr>
            <a:xfrm>
              <a:off x="728308" y="33566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5</a:t>
              </a:r>
            </a:p>
          </p:txBody>
        </p:sp>
        <p:sp>
          <p:nvSpPr>
            <p:cNvPr id="26" name="TextBox 26"/>
            <p:cNvSpPr txBox="1"/>
            <p:nvPr/>
          </p:nvSpPr>
          <p:spPr>
            <a:xfrm>
              <a:off x="1077468" y="3308032"/>
              <a:ext cx="8216252"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Python ve Jupyter ortamında tekrarlanabilir bir inceleme nasıl hazırlanır?</a:t>
              </a:r>
            </a:p>
          </p:txBody>
        </p:sp>
      </p:grpSp>
      <p:grpSp>
        <p:nvGrpSpPr>
          <p:cNvPr id="31" name="goal-card"/>
          <p:cNvGrpSpPr/>
          <p:nvPr/>
        </p:nvGrpSpPr>
        <p:grpSpPr>
          <a:xfrm>
            <a:off x="609600" y="3981450"/>
            <a:ext cx="5295900" cy="2000250"/>
            <a:chOff x="609600" y="3981450"/>
            <a:chExt cx="5295900" cy="2000250"/>
          </a:xfrm>
        </p:grpSpPr>
        <p:sp>
          <p:nvSpPr>
            <p:cNvPr id="28" name="Rectangle 28"/>
            <p:cNvSpPr/>
            <p:nvPr/>
          </p:nvSpPr>
          <p:spPr>
            <a:xfrm>
              <a:off x="609600" y="3981450"/>
              <a:ext cx="5295900" cy="2000250"/>
            </a:xfrm>
            <a:prstGeom prst="roundRect">
              <a:avLst>
                <a:gd name="adj" fmla="val 4762"/>
              </a:avLst>
            </a:prstGeom>
            <a:solidFill>
              <a:srgbClr val="EAF4F6"/>
            </a:solidFill>
            <a:ln w="14288">
              <a:solidFill>
                <a:srgbClr val="00A6A6"/>
              </a:solidFill>
            </a:ln>
          </p:spPr>
        </p:sp>
        <p:sp>
          <p:nvSpPr>
            <p:cNvPr id="29" name="TextBox 29"/>
            <p:cNvSpPr txBox="1"/>
            <p:nvPr/>
          </p:nvSpPr>
          <p:spPr>
            <a:xfrm>
              <a:off x="829056" y="4130040"/>
              <a:ext cx="156552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Bölüm hedefi</a:t>
              </a:r>
            </a:p>
          </p:txBody>
        </p:sp>
        <p:sp>
          <p:nvSpPr>
            <p:cNvPr id="30" name="TextBox 30"/>
            <p:cNvSpPr txBox="1"/>
            <p:nvPr/>
          </p:nvSpPr>
          <p:spPr>
            <a:xfrm>
              <a:off x="831342" y="4502468"/>
              <a:ext cx="3056954"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Öğrenci, kampüs kafesindeki israf</a:t>
              </a:r>
              <a:br/>
              <a:r>
                <a:rPr lang="tr-TR" sz="1350" dirty="0">
                  <a:solidFill>
                    <a:srgbClr val="172B3A"/>
                  </a:solidFill>
                  <a:latin typeface="+mn-lt"/>
                  <a:ea typeface="+mn-ea"/>
                  <a:cs typeface="+mn-cs"/>
                </a:rPr>
                <a:t>problemini veri madenciliği bakışıyla</a:t>
              </a:r>
              <a:br/>
              <a:r>
                <a:rPr lang="tr-TR" sz="1350" dirty="0">
                  <a:solidFill>
                    <a:srgbClr val="172B3A"/>
                  </a:solidFill>
                  <a:latin typeface="+mn-lt"/>
                  <a:ea typeface="+mn-ea"/>
                  <a:cs typeface="+mn-cs"/>
                </a:rPr>
                <a:t>tanımlayabilecek ve CRISP-DM</a:t>
              </a:r>
              <a:br/>
              <a:r>
                <a:rPr lang="tr-TR" sz="1350" dirty="0">
                  <a:solidFill>
                    <a:srgbClr val="172B3A"/>
                  </a:solidFill>
                  <a:latin typeface="+mn-lt"/>
                  <a:ea typeface="+mn-ea"/>
                  <a:cs typeface="+mn-cs"/>
                </a:rPr>
                <a:t>döngüsünün ilk iki evresini Python ile</a:t>
              </a:r>
              <a:br/>
              <a:r>
                <a:rPr lang="tr-TR" sz="1350" dirty="0">
                  <a:solidFill>
                    <a:srgbClr val="172B3A"/>
                  </a:solidFill>
                  <a:latin typeface="+mn-lt"/>
                  <a:ea typeface="+mn-ea"/>
                  <a:cs typeface="+mn-cs"/>
                </a:rPr>
                <a:t>uygulayabilecektir.</a:t>
              </a:r>
            </a:p>
          </p:txBody>
        </p:sp>
      </p:grpSp>
      <p:grpSp>
        <p:nvGrpSpPr>
          <p:cNvPr id="35" name="prereq-card"/>
          <p:cNvGrpSpPr/>
          <p:nvPr/>
        </p:nvGrpSpPr>
        <p:grpSpPr>
          <a:xfrm>
            <a:off x="6286500" y="3981450"/>
            <a:ext cx="5295900" cy="2000250"/>
            <a:chOff x="6286500" y="3981450"/>
            <a:chExt cx="5295900" cy="2000250"/>
          </a:xfrm>
        </p:grpSpPr>
        <p:sp>
          <p:nvSpPr>
            <p:cNvPr id="32" name="Rectangle 32"/>
            <p:cNvSpPr/>
            <p:nvPr/>
          </p:nvSpPr>
          <p:spPr>
            <a:xfrm>
              <a:off x="6286500" y="3981450"/>
              <a:ext cx="5295900" cy="2000250"/>
            </a:xfrm>
            <a:prstGeom prst="roundRect">
              <a:avLst>
                <a:gd name="adj" fmla="val 4762"/>
              </a:avLst>
            </a:prstGeom>
            <a:solidFill>
              <a:srgbClr val="FFFFFF"/>
            </a:solidFill>
            <a:ln w="14288">
              <a:solidFill>
                <a:srgbClr val="B8CBD3"/>
              </a:solidFill>
            </a:ln>
          </p:spPr>
        </p:sp>
        <p:sp>
          <p:nvSpPr>
            <p:cNvPr id="33" name="TextBox 33"/>
            <p:cNvSpPr txBox="1"/>
            <p:nvPr/>
          </p:nvSpPr>
          <p:spPr>
            <a:xfrm>
              <a:off x="6505956" y="4130040"/>
              <a:ext cx="8903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Ön bilgi</a:t>
              </a:r>
            </a:p>
          </p:txBody>
        </p:sp>
        <p:sp>
          <p:nvSpPr>
            <p:cNvPr id="34" name="TextBox 34"/>
            <p:cNvSpPr txBox="1"/>
            <p:nvPr/>
          </p:nvSpPr>
          <p:spPr>
            <a:xfrm>
              <a:off x="6508242" y="4502468"/>
              <a:ext cx="3296984"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Bu bölüm için özel bir programlama</a:t>
              </a:r>
              <a:br/>
              <a:r>
                <a:rPr lang="tr-TR" sz="1350" dirty="0">
                  <a:solidFill>
                    <a:srgbClr val="172B3A"/>
                  </a:solidFill>
                  <a:latin typeface="+mn-lt"/>
                  <a:ea typeface="+mn-ea"/>
                  <a:cs typeface="+mn-cs"/>
                </a:rPr>
                <a:t>önkoşulu yoktur; temel Python söz</a:t>
              </a:r>
              <a:br/>
              <a:r>
                <a:rPr lang="tr-TR" sz="1350" dirty="0">
                  <a:solidFill>
                    <a:srgbClr val="172B3A"/>
                  </a:solidFill>
                  <a:latin typeface="+mn-lt"/>
                  <a:ea typeface="+mn-ea"/>
                  <a:cs typeface="+mn-cs"/>
                </a:rPr>
                <a:t>dizimini (değişken, liste, döngü) bilmek</a:t>
              </a:r>
              <a:br/>
              <a:r>
                <a:rPr lang="tr-TR" sz="1350" dirty="0">
                  <a:solidFill>
                    <a:srgbClr val="172B3A"/>
                  </a:solidFill>
                  <a:latin typeface="+mn-lt"/>
                  <a:ea typeface="+mn-ea"/>
                  <a:cs typeface="+mn-cs"/>
                </a:rPr>
                <a:t>yeterlidir. pandas kütüphanesi burada</a:t>
              </a:r>
              <a:br/>
              <a:r>
                <a:rPr lang="tr-TR" sz="1350" dirty="0">
                  <a:solidFill>
                    <a:srgbClr val="172B3A"/>
                  </a:solidFill>
                  <a:latin typeface="+mn-lt"/>
                  <a:ea typeface="+mn-ea"/>
                  <a:cs typeface="+mn-cs"/>
                </a:rPr>
                <a:t>sıfırdan tanıtılır.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520190"/>
            <a:ext cx="9306424" cy="637128"/>
            <a:chOff x="685800" y="1520190"/>
            <a:chExt cx="9306424" cy="637128"/>
          </a:xfrm>
        </p:grpSpPr>
        <p:sp>
          <p:nvSpPr>
            <p:cNvPr id="9" name="Rectangle 9"/>
            <p:cNvSpPr/>
            <p:nvPr/>
          </p:nvSpPr>
          <p:spPr>
            <a:xfrm>
              <a:off x="685800" y="1524000"/>
              <a:ext cx="57150" cy="495300"/>
            </a:xfrm>
            <a:prstGeom prst="rect">
              <a:avLst/>
            </a:prstGeom>
            <a:solidFill>
              <a:srgbClr val="00A6A6"/>
            </a:solidFill>
            <a:ln>
              <a:noFill/>
            </a:ln>
          </p:spPr>
        </p:sp>
        <p:sp>
          <p:nvSpPr>
            <p:cNvPr id="10" name="TextBox 10"/>
            <p:cNvSpPr txBox="1"/>
            <p:nvPr/>
          </p:nvSpPr>
          <p:spPr>
            <a:xfrm>
              <a:off x="981456" y="1520190"/>
              <a:ext cx="600463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madenciliği ile veri bilimi ilişkisini açıklamak</a:t>
              </a:r>
            </a:p>
          </p:txBody>
        </p:sp>
        <p:sp>
          <p:nvSpPr>
            <p:cNvPr id="11" name="TextBox 11"/>
            <p:cNvSpPr txBox="1"/>
            <p:nvPr/>
          </p:nvSpPr>
          <p:spPr>
            <a:xfrm>
              <a:off x="982599" y="1849279"/>
              <a:ext cx="900962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Kanıt: veri toplama, örüntü keşfi ve karar verme faaliyetlerini doğru konumlandırmak</a:t>
              </a:r>
            </a:p>
          </p:txBody>
        </p:sp>
      </p:grpSp>
      <p:grpSp>
        <p:nvGrpSpPr>
          <p:cNvPr id="16" name="objective-2"/>
          <p:cNvGrpSpPr/>
          <p:nvPr/>
        </p:nvGrpSpPr>
        <p:grpSpPr>
          <a:xfrm>
            <a:off x="685800" y="2510790"/>
            <a:ext cx="6637131" cy="637128"/>
            <a:chOff x="685800" y="2510790"/>
            <a:chExt cx="6637131" cy="637128"/>
          </a:xfrm>
        </p:grpSpPr>
        <p:sp>
          <p:nvSpPr>
            <p:cNvPr id="13" name="Rectangle 13"/>
            <p:cNvSpPr/>
            <p:nvPr/>
          </p:nvSpPr>
          <p:spPr>
            <a:xfrm>
              <a:off x="685800" y="2514600"/>
              <a:ext cx="57150" cy="495300"/>
            </a:xfrm>
            <a:prstGeom prst="rect">
              <a:avLst/>
            </a:prstGeom>
            <a:solidFill>
              <a:srgbClr val="00A6A6"/>
            </a:solidFill>
            <a:ln>
              <a:noFill/>
            </a:ln>
          </p:spPr>
        </p:sp>
        <p:sp>
          <p:nvSpPr>
            <p:cNvPr id="14" name="TextBox 14"/>
            <p:cNvSpPr txBox="1"/>
            <p:nvPr/>
          </p:nvSpPr>
          <p:spPr>
            <a:xfrm>
              <a:off x="981456" y="2510790"/>
              <a:ext cx="445399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KDD ile CRISP-DM'yi karşılaştırmak</a:t>
              </a:r>
            </a:p>
          </p:txBody>
        </p:sp>
        <p:sp>
          <p:nvSpPr>
            <p:cNvPr id="15" name="TextBox 15"/>
            <p:cNvSpPr txBox="1"/>
            <p:nvPr/>
          </p:nvSpPr>
          <p:spPr>
            <a:xfrm>
              <a:off x="982599" y="2839879"/>
              <a:ext cx="634033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Kanıt: her sürecin amacını ve kullanım bağlamını açıklamak</a:t>
              </a:r>
            </a:p>
          </p:txBody>
        </p:sp>
      </p:grpSp>
      <p:grpSp>
        <p:nvGrpSpPr>
          <p:cNvPr id="20" name="objective-3"/>
          <p:cNvGrpSpPr/>
          <p:nvPr/>
        </p:nvGrpSpPr>
        <p:grpSpPr>
          <a:xfrm>
            <a:off x="685800" y="3501390"/>
            <a:ext cx="7573060" cy="637128"/>
            <a:chOff x="685800" y="3501390"/>
            <a:chExt cx="7573060" cy="637128"/>
          </a:xfrm>
        </p:grpSpPr>
        <p:sp>
          <p:nvSpPr>
            <p:cNvPr id="17" name="Rectangle 17"/>
            <p:cNvSpPr/>
            <p:nvPr/>
          </p:nvSpPr>
          <p:spPr>
            <a:xfrm>
              <a:off x="685800" y="3505200"/>
              <a:ext cx="57150" cy="495300"/>
            </a:xfrm>
            <a:prstGeom prst="rect">
              <a:avLst/>
            </a:prstGeom>
            <a:solidFill>
              <a:srgbClr val="00A6A6"/>
            </a:solidFill>
            <a:ln>
              <a:noFill/>
            </a:ln>
          </p:spPr>
        </p:sp>
        <p:sp>
          <p:nvSpPr>
            <p:cNvPr id="18" name="TextBox 18"/>
            <p:cNvSpPr txBox="1"/>
            <p:nvPr/>
          </p:nvSpPr>
          <p:spPr>
            <a:xfrm>
              <a:off x="981456" y="3501390"/>
              <a:ext cx="591392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CRISP-DM evrelerini bir iş problemine uygulamak</a:t>
              </a:r>
            </a:p>
          </p:txBody>
        </p:sp>
        <p:sp>
          <p:nvSpPr>
            <p:cNvPr id="19" name="TextBox 19"/>
            <p:cNvSpPr txBox="1"/>
            <p:nvPr/>
          </p:nvSpPr>
          <p:spPr>
            <a:xfrm>
              <a:off x="982599" y="3830479"/>
              <a:ext cx="727626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Kanıt: her evre için kafe senaryosuna uygun faaliyet ve çıktı yazmak</a:t>
              </a:r>
            </a:p>
          </p:txBody>
        </p:sp>
      </p:grpSp>
      <p:grpSp>
        <p:nvGrpSpPr>
          <p:cNvPr id="24" name="objective-4"/>
          <p:cNvGrpSpPr/>
          <p:nvPr/>
        </p:nvGrpSpPr>
        <p:grpSpPr>
          <a:xfrm>
            <a:off x="685800" y="4491990"/>
            <a:ext cx="8508978" cy="637128"/>
            <a:chOff x="685800" y="4491990"/>
            <a:chExt cx="8508978" cy="637128"/>
          </a:xfrm>
        </p:grpSpPr>
        <p:sp>
          <p:nvSpPr>
            <p:cNvPr id="21" name="Rectangle 21"/>
            <p:cNvSpPr/>
            <p:nvPr/>
          </p:nvSpPr>
          <p:spPr>
            <a:xfrm>
              <a:off x="685800" y="4495800"/>
              <a:ext cx="57150" cy="495300"/>
            </a:xfrm>
            <a:prstGeom prst="rect">
              <a:avLst/>
            </a:prstGeom>
            <a:solidFill>
              <a:srgbClr val="00A6A6"/>
            </a:solidFill>
            <a:ln>
              <a:noFill/>
            </a:ln>
          </p:spPr>
        </p:sp>
        <p:sp>
          <p:nvSpPr>
            <p:cNvPr id="22" name="TextBox 22"/>
            <p:cNvSpPr txBox="1"/>
            <p:nvPr/>
          </p:nvSpPr>
          <p:spPr>
            <a:xfrm>
              <a:off x="981456" y="4491990"/>
              <a:ext cx="499672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Python ve Jupyter ortamını hazırlamak</a:t>
              </a:r>
            </a:p>
          </p:txBody>
        </p:sp>
        <p:sp>
          <p:nvSpPr>
            <p:cNvPr id="23" name="TextBox 23"/>
            <p:cNvSpPr txBox="1"/>
            <p:nvPr/>
          </p:nvSpPr>
          <p:spPr>
            <a:xfrm>
              <a:off x="982599" y="4821079"/>
              <a:ext cx="821217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Kanıt: sanal ortam oluşturmak, çekirdek seçmek ve defteri temiz çalıştırmak</a:t>
              </a:r>
            </a:p>
          </p:txBody>
        </p:sp>
      </p:grpSp>
      <p:grpSp>
        <p:nvGrpSpPr>
          <p:cNvPr id="28" name="objective-5"/>
          <p:cNvGrpSpPr/>
          <p:nvPr/>
        </p:nvGrpSpPr>
        <p:grpSpPr>
          <a:xfrm>
            <a:off x="685800" y="5482590"/>
            <a:ext cx="8349097" cy="637128"/>
            <a:chOff x="685800" y="5482590"/>
            <a:chExt cx="8349097" cy="637128"/>
          </a:xfrm>
        </p:grpSpPr>
        <p:sp>
          <p:nvSpPr>
            <p:cNvPr id="25" name="Rectangle 25"/>
            <p:cNvSpPr/>
            <p:nvPr/>
          </p:nvSpPr>
          <p:spPr>
            <a:xfrm>
              <a:off x="685800" y="5486400"/>
              <a:ext cx="57150" cy="495300"/>
            </a:xfrm>
            <a:prstGeom prst="rect">
              <a:avLst/>
            </a:prstGeom>
            <a:solidFill>
              <a:srgbClr val="00A6A6"/>
            </a:solidFill>
            <a:ln>
              <a:noFill/>
            </a:ln>
          </p:spPr>
        </p:sp>
        <p:sp>
          <p:nvSpPr>
            <p:cNvPr id="26" name="TextBox 26"/>
            <p:cNvSpPr txBox="1"/>
            <p:nvPr/>
          </p:nvSpPr>
          <p:spPr>
            <a:xfrm>
              <a:off x="981456" y="5482590"/>
              <a:ext cx="299004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Yapısal veriyi incelemek</a:t>
              </a:r>
            </a:p>
          </p:txBody>
        </p:sp>
        <p:sp>
          <p:nvSpPr>
            <p:cNvPr id="27" name="TextBox 27"/>
            <p:cNvSpPr txBox="1"/>
            <p:nvPr/>
          </p:nvSpPr>
          <p:spPr>
            <a:xfrm>
              <a:off x="982599" y="5811679"/>
              <a:ext cx="805229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Kanıt: gözlem birimini, veri türlerini, eksik ve tutarsız kayıtları belirlemek</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904060" cy="668845"/>
            <a:chOff x="609600" y="171450"/>
            <a:chExt cx="7904060"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21368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dört temel kavram</a:t>
              </a:r>
            </a:p>
          </p:txBody>
        </p:sp>
      </p:grpSp>
      <p:grpSp>
        <p:nvGrpSpPr>
          <p:cNvPr id="40" name="concept-map"/>
          <p:cNvGrpSpPr/>
          <p:nvPr/>
        </p:nvGrpSpPr>
        <p:grpSpPr>
          <a:xfrm>
            <a:off x="685800" y="1219200"/>
            <a:ext cx="10780298" cy="4838700"/>
            <a:chOff x="685800" y="1219200"/>
            <a:chExt cx="10780298" cy="4838700"/>
          </a:xfrm>
        </p:grpSpPr>
        <p:grpSp>
          <p:nvGrpSpPr>
            <p:cNvPr id="19" name="Group 19"/>
            <p:cNvGrpSpPr/>
            <p:nvPr/>
          </p:nvGrpSpPr>
          <p:grpSpPr>
            <a:xfrm>
              <a:off x="3143250" y="1581150"/>
              <a:ext cx="3333751" cy="3028950"/>
              <a:chOff x="3143250" y="1581150"/>
              <a:chExt cx="3333751" cy="302895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a:off x="3143250" y="3095625"/>
                <a:ext cx="1352550" cy="1"/>
              </a:xfrm>
              <a:prstGeom prst="line">
                <a:avLst/>
              </a:prstGeom>
              <a:noFill/>
              <a:ln w="23812">
                <a:solidFill>
                  <a:srgbClr val="00A6A6"/>
                </a:solidFill>
                <a:tailEnd type="arrow" w="lg" len="lg"/>
              </a:ln>
            </p:spPr>
          </p:sp>
          <p:sp>
            <p:nvSpPr>
              <p:cNvPr id="16" name="Line 16"/>
              <p:cNvSpPr/>
              <p:nvPr/>
            </p:nvSpPr>
            <p:spPr>
              <a:xfrm>
                <a:off x="3143250" y="3095625"/>
                <a:ext cx="1352550" cy="1514475"/>
              </a:xfrm>
              <a:prstGeom prst="line">
                <a:avLst/>
              </a:prstGeom>
              <a:noFill/>
              <a:ln w="23812">
                <a:solidFill>
                  <a:srgbClr val="00A6A6"/>
                </a:solidFill>
                <a:tailEnd type="arrow" w="lg" len="lg"/>
              </a:ln>
            </p:spPr>
          </p:sp>
          <p:sp>
            <p:nvSpPr>
              <p:cNvPr id="17" name="Line 17"/>
              <p:cNvSpPr/>
              <p:nvPr/>
            </p:nvSpPr>
            <p:spPr>
              <a:xfrm>
                <a:off x="6477000" y="1943100"/>
                <a:ext cx="1" cy="800100"/>
              </a:xfrm>
              <a:prstGeom prst="line">
                <a:avLst/>
              </a:prstGeom>
              <a:noFill/>
              <a:ln w="19050">
                <a:solidFill>
                  <a:srgbClr val="52616B"/>
                </a:solidFill>
                <a:custDash>
                  <a:ds d="300000" sp="200000"/>
                </a:custDash>
                <a:tailEnd type="arrow" w="lg" len="lg"/>
              </a:ln>
            </p:spPr>
          </p:sp>
          <p:sp>
            <p:nvSpPr>
              <p:cNvPr id="18" name="Line 18"/>
              <p:cNvSpPr/>
              <p:nvPr/>
            </p:nvSpPr>
            <p:spPr>
              <a:xfrm>
                <a:off x="6477000" y="3457575"/>
                <a:ext cx="1" cy="762000"/>
              </a:xfrm>
              <a:prstGeom prst="line">
                <a:avLst/>
              </a:prstGeom>
              <a:noFill/>
              <a:ln w="19050">
                <a:solidFill>
                  <a:srgbClr val="52616B"/>
                </a:solidFill>
                <a:custDash>
                  <a:ds d="300000" sp="200000"/>
                </a:custDash>
                <a:tailEnd type="arrow" w="lg" len="lg"/>
              </a:ln>
            </p:spPr>
          </p:sp>
        </p:grpSp>
        <p:grpSp>
          <p:nvGrpSpPr>
            <p:cNvPr id="22" name="map-hub"/>
            <p:cNvGrpSpPr/>
            <p:nvPr/>
          </p:nvGrpSpPr>
          <p:grpSpPr>
            <a:xfrm>
              <a:off x="685800" y="2428875"/>
              <a:ext cx="2381250" cy="1333500"/>
              <a:chOff x="685800" y="2428875"/>
              <a:chExt cx="2381250" cy="1333500"/>
            </a:xfrm>
          </p:grpSpPr>
          <p:sp>
            <p:nvSpPr>
              <p:cNvPr id="20" name="Rectangle 20"/>
              <p:cNvSpPr/>
              <p:nvPr/>
            </p:nvSpPr>
            <p:spPr>
              <a:xfrm>
                <a:off x="685800" y="2428875"/>
                <a:ext cx="2381250" cy="1333500"/>
              </a:xfrm>
              <a:prstGeom prst="roundRect">
                <a:avLst>
                  <a:gd name="adj" fmla="val 7143"/>
                </a:avLst>
              </a:prstGeom>
              <a:solidFill>
                <a:srgbClr val="12355B"/>
              </a:solidFill>
              <a:ln>
                <a:noFill/>
              </a:ln>
            </p:spPr>
          </p:sp>
          <p:sp>
            <p:nvSpPr>
              <p:cNvPr id="21" name="TextBox 21"/>
              <p:cNvSpPr txBox="1"/>
              <p:nvPr/>
            </p:nvSpPr>
            <p:spPr>
              <a:xfrm>
                <a:off x="941832" y="2773680"/>
                <a:ext cx="1491520" cy="772668"/>
              </a:xfrm>
              <a:prstGeom prst="rect">
                <a:avLst/>
              </a:prstGeom>
              <a:noFill/>
              <a:ln>
                <a:noFill/>
              </a:ln>
            </p:spPr>
            <p:txBody>
              <a:bodyPr wrap="none" lIns="0" tIns="0" rIns="0" bIns="0" anchor="t" anchorCtr="0">
                <a:spAutoFit/>
              </a:bodyPr>
              <a:lstStyle/>
              <a:p>
                <a:pPr algn="l">
                  <a:lnSpc>
                    <a:spcPts val="2850"/>
                  </a:lnSpc>
                </a:pPr>
                <a:r>
                  <a:rPr lang="tr-TR" sz="2100" b="1" dirty="0">
                    <a:solidFill>
                      <a:srgbClr val="FFFFFF"/>
                    </a:solidFill>
                    <a:latin typeface="+mn-lt"/>
                    <a:ea typeface="+mn-ea"/>
                    <a:cs typeface="+mn-cs"/>
                  </a:rPr>
                  <a:t>Veri</a:t>
                </a:r>
                <a:br/>
                <a:r>
                  <a:rPr lang="tr-TR" sz="2100" b="1" dirty="0">
                    <a:solidFill>
                      <a:srgbClr val="FFFFFF"/>
                    </a:solidFill>
                    <a:latin typeface="+mn-lt"/>
                    <a:ea typeface="+mn-ea"/>
                    <a:cs typeface="+mn-cs"/>
                  </a:rPr>
                  <a:t>madenciliği</a:t>
                </a:r>
              </a:p>
            </p:txBody>
          </p:sp>
        </p:grpSp>
        <p:grpSp>
          <p:nvGrpSpPr>
            <p:cNvPr id="26" name="map-node-kdd"/>
            <p:cNvGrpSpPr/>
            <p:nvPr/>
          </p:nvGrpSpPr>
          <p:grpSpPr>
            <a:xfrm>
              <a:off x="4572000" y="1219200"/>
              <a:ext cx="6894098" cy="723900"/>
              <a:chOff x="4572000" y="1219200"/>
              <a:chExt cx="6894098" cy="723900"/>
            </a:xfrm>
          </p:grpSpPr>
          <p:sp>
            <p:nvSpPr>
              <p:cNvPr id="23" name="Rectangle 23"/>
              <p:cNvSpPr/>
              <p:nvPr/>
            </p:nvSpPr>
            <p:spPr>
              <a:xfrm>
                <a:off x="4572000" y="1219200"/>
                <a:ext cx="5715000" cy="723900"/>
              </a:xfrm>
              <a:prstGeom prst="roundRect">
                <a:avLst>
                  <a:gd name="adj" fmla="val 13158"/>
                </a:avLst>
              </a:prstGeom>
              <a:solidFill>
                <a:srgbClr val="FFFFFF"/>
              </a:solidFill>
              <a:ln w="14288">
                <a:solidFill>
                  <a:srgbClr val="2E86AB"/>
                </a:solidFill>
              </a:ln>
            </p:spPr>
          </p:sp>
          <p:sp>
            <p:nvSpPr>
              <p:cNvPr id="24" name="TextBox 24"/>
              <p:cNvSpPr txBox="1"/>
              <p:nvPr/>
            </p:nvSpPr>
            <p:spPr>
              <a:xfrm>
                <a:off x="4791456" y="1329690"/>
                <a:ext cx="131445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KDD süreci</a:t>
                </a:r>
              </a:p>
            </p:txBody>
          </p:sp>
          <p:sp>
            <p:nvSpPr>
              <p:cNvPr id="25" name="TextBox 25"/>
              <p:cNvSpPr txBox="1"/>
              <p:nvPr/>
            </p:nvSpPr>
            <p:spPr>
              <a:xfrm>
                <a:off x="4792599" y="1601629"/>
                <a:ext cx="667349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ham veriyi seçme, temizleme ve yorumlamayla bilgiye dönüştürür</a:t>
                </a:r>
              </a:p>
            </p:txBody>
          </p:sp>
        </p:grpSp>
        <p:grpSp>
          <p:nvGrpSpPr>
            <p:cNvPr id="30" name="map-node-crispdm"/>
            <p:cNvGrpSpPr/>
            <p:nvPr/>
          </p:nvGrpSpPr>
          <p:grpSpPr>
            <a:xfrm>
              <a:off x="4572000" y="2733675"/>
              <a:ext cx="5715000" cy="723900"/>
              <a:chOff x="4572000" y="2733675"/>
              <a:chExt cx="5715000" cy="723900"/>
            </a:xfrm>
          </p:grpSpPr>
          <p:sp>
            <p:nvSpPr>
              <p:cNvPr id="27" name="Rectangle 27"/>
              <p:cNvSpPr/>
              <p:nvPr/>
            </p:nvSpPr>
            <p:spPr>
              <a:xfrm>
                <a:off x="4572000" y="2733675"/>
                <a:ext cx="5715000" cy="723900"/>
              </a:xfrm>
              <a:prstGeom prst="roundRect">
                <a:avLst>
                  <a:gd name="adj" fmla="val 13158"/>
                </a:avLst>
              </a:prstGeom>
              <a:solidFill>
                <a:srgbClr val="FFFFFF"/>
              </a:solidFill>
              <a:ln w="14288">
                <a:solidFill>
                  <a:srgbClr val="2E86AB"/>
                </a:solidFill>
              </a:ln>
            </p:spPr>
          </p:sp>
          <p:sp>
            <p:nvSpPr>
              <p:cNvPr id="28" name="TextBox 28"/>
              <p:cNvSpPr txBox="1"/>
              <p:nvPr/>
            </p:nvSpPr>
            <p:spPr>
              <a:xfrm>
                <a:off x="4791456" y="2844165"/>
                <a:ext cx="27325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CRISP-DM metodolojisi</a:t>
                </a:r>
              </a:p>
            </p:txBody>
          </p:sp>
          <p:sp>
            <p:nvSpPr>
              <p:cNvPr id="29" name="TextBox 29"/>
              <p:cNvSpPr txBox="1"/>
              <p:nvPr/>
            </p:nvSpPr>
            <p:spPr>
              <a:xfrm>
                <a:off x="4792599" y="3116104"/>
                <a:ext cx="537603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iş hedefinden yaygınlaştırmaya altı yinelemeli evre</a:t>
                </a:r>
              </a:p>
            </p:txBody>
          </p:sp>
        </p:grpSp>
        <p:grpSp>
          <p:nvGrpSpPr>
            <p:cNvPr id="34" name="map-node-structured"/>
            <p:cNvGrpSpPr/>
            <p:nvPr/>
          </p:nvGrpSpPr>
          <p:grpSpPr>
            <a:xfrm>
              <a:off x="4572000" y="4248150"/>
              <a:ext cx="5715000" cy="723900"/>
              <a:chOff x="4572000" y="4248150"/>
              <a:chExt cx="5715000" cy="723900"/>
            </a:xfrm>
          </p:grpSpPr>
          <p:sp>
            <p:nvSpPr>
              <p:cNvPr id="31" name="Rectangle 31"/>
              <p:cNvSpPr/>
              <p:nvPr/>
            </p:nvSpPr>
            <p:spPr>
              <a:xfrm>
                <a:off x="4572000" y="4248150"/>
                <a:ext cx="5715000" cy="723900"/>
              </a:xfrm>
              <a:prstGeom prst="roundRect">
                <a:avLst>
                  <a:gd name="adj" fmla="val 13158"/>
                </a:avLst>
              </a:prstGeom>
              <a:solidFill>
                <a:srgbClr val="FFFFFF"/>
              </a:solidFill>
              <a:ln w="14288">
                <a:solidFill>
                  <a:srgbClr val="2E86AB"/>
                </a:solidFill>
              </a:ln>
            </p:spPr>
          </p:sp>
          <p:sp>
            <p:nvSpPr>
              <p:cNvPr id="32" name="TextBox 32"/>
              <p:cNvSpPr txBox="1"/>
              <p:nvPr/>
            </p:nvSpPr>
            <p:spPr>
              <a:xfrm>
                <a:off x="4791456" y="4358640"/>
                <a:ext cx="334679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Yapısal veri ve veri anlama</a:t>
                </a:r>
              </a:p>
            </p:txBody>
          </p:sp>
          <p:sp>
            <p:nvSpPr>
              <p:cNvPr id="33" name="TextBox 33"/>
              <p:cNvSpPr txBox="1"/>
              <p:nvPr/>
            </p:nvSpPr>
            <p:spPr>
              <a:xfrm>
                <a:off x="4792599" y="4630579"/>
                <a:ext cx="514206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gözlem birimini, veri türünü ve eksikleri tanımlar</a:t>
                </a:r>
              </a:p>
            </p:txBody>
          </p:sp>
        </p:grpSp>
        <p:grpSp>
          <p:nvGrpSpPr>
            <p:cNvPr id="38" name="map-node-pattern"/>
            <p:cNvGrpSpPr/>
            <p:nvPr/>
          </p:nvGrpSpPr>
          <p:grpSpPr>
            <a:xfrm>
              <a:off x="685800" y="5334000"/>
              <a:ext cx="9601200" cy="723900"/>
              <a:chOff x="685800" y="5334000"/>
              <a:chExt cx="9601200" cy="723900"/>
            </a:xfrm>
          </p:grpSpPr>
          <p:sp>
            <p:nvSpPr>
              <p:cNvPr id="35" name="Rectangle 35"/>
              <p:cNvSpPr/>
              <p:nvPr/>
            </p:nvSpPr>
            <p:spPr>
              <a:xfrm>
                <a:off x="685800" y="5334000"/>
                <a:ext cx="9601200" cy="723900"/>
              </a:xfrm>
              <a:prstGeom prst="roundRect">
                <a:avLst>
                  <a:gd name="adj" fmla="val 13158"/>
                </a:avLst>
              </a:prstGeom>
              <a:solidFill>
                <a:srgbClr val="EAF4F6"/>
              </a:solidFill>
              <a:ln w="14288">
                <a:solidFill>
                  <a:srgbClr val="00A6A6"/>
                </a:solidFill>
              </a:ln>
            </p:spPr>
          </p:sp>
          <p:sp>
            <p:nvSpPr>
              <p:cNvPr id="36" name="TextBox 36"/>
              <p:cNvSpPr txBox="1"/>
              <p:nvPr/>
            </p:nvSpPr>
            <p:spPr>
              <a:xfrm>
                <a:off x="905256" y="5444490"/>
                <a:ext cx="29529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Ortak beş adımlı desen</a:t>
                </a:r>
              </a:p>
            </p:txBody>
          </p:sp>
          <p:sp>
            <p:nvSpPr>
              <p:cNvPr id="37" name="TextBox 37"/>
              <p:cNvSpPr txBox="1"/>
              <p:nvPr/>
            </p:nvSpPr>
            <p:spPr>
              <a:xfrm>
                <a:off x="906399" y="5716429"/>
                <a:ext cx="765191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tanım → neden var → nasıl kullanılır → ne zaman tercih edilir → sık hatalar</a:t>
                </a:r>
              </a:p>
            </p:txBody>
          </p:sp>
        </p:grpSp>
        <p:sp>
          <p:nvSpPr>
            <p:cNvPr id="39" name="TextBox 39"/>
            <p:cNvSpPr txBox="1"/>
            <p:nvPr/>
          </p:nvSpPr>
          <p:spPr>
            <a:xfrm>
              <a:off x="908304" y="4918710"/>
              <a:ext cx="100737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Kafe senaryosu (israf problemi) bu dört kavramı tek bir uygulamalı örnekte birleştirir; ok yönü kavramın kaynağını gösterir.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749801" cy="668845"/>
            <a:chOff x="609600" y="171450"/>
            <a:chExt cx="874980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805942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Veri madenciliği: tanım ve neden vardır?</a:t>
              </a:r>
            </a:p>
          </p:txBody>
        </p:sp>
      </p:grpSp>
      <p:grpSp>
        <p:nvGrpSpPr>
          <p:cNvPr id="13" name="kicker"/>
          <p:cNvGrpSpPr/>
          <p:nvPr/>
        </p:nvGrpSpPr>
        <p:grpSpPr>
          <a:xfrm>
            <a:off x="604266" y="1048702"/>
            <a:ext cx="3257420" cy="205359"/>
            <a:chOff x="604266" y="1048702"/>
            <a:chExt cx="3257420" cy="205359"/>
          </a:xfrm>
        </p:grpSpPr>
        <p:sp>
          <p:nvSpPr>
            <p:cNvPr id="12" name="TextBox 12"/>
            <p:cNvSpPr txBox="1"/>
            <p:nvPr/>
          </p:nvSpPr>
          <p:spPr>
            <a:xfrm>
              <a:off x="604266" y="1048702"/>
              <a:ext cx="3257420"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KAVRAM 1 / 4 · KAFE İSRAFI ÖRNEĞİ</a:t>
              </a:r>
            </a:p>
          </p:txBody>
        </p:sp>
      </p:grpSp>
      <p:grpSp>
        <p:nvGrpSpPr>
          <p:cNvPr id="23" name="definition-card"/>
          <p:cNvGrpSpPr/>
          <p:nvPr/>
        </p:nvGrpSpPr>
        <p:grpSpPr>
          <a:xfrm>
            <a:off x="609600" y="1333500"/>
            <a:ext cx="5295900" cy="3238500"/>
            <a:chOff x="609600" y="1333500"/>
            <a:chExt cx="5295900" cy="3238500"/>
          </a:xfrm>
        </p:grpSpPr>
        <p:sp>
          <p:nvSpPr>
            <p:cNvPr id="14" name="Rectangle 14"/>
            <p:cNvSpPr/>
            <p:nvPr/>
          </p:nvSpPr>
          <p:spPr>
            <a:xfrm>
              <a:off x="609600" y="1333500"/>
              <a:ext cx="5295900" cy="3238500"/>
            </a:xfrm>
            <a:prstGeom prst="roundRect">
              <a:avLst>
                <a:gd name="adj" fmla="val 2941"/>
              </a:avLst>
            </a:prstGeom>
            <a:solidFill>
              <a:srgbClr val="FFFFFF"/>
            </a:solidFill>
            <a:ln w="14288">
              <a:solidFill>
                <a:srgbClr val="B8CBD3"/>
              </a:solidFill>
            </a:ln>
          </p:spPr>
        </p:sp>
        <p:grpSp>
          <p:nvGrpSpPr>
            <p:cNvPr id="18" name="definition-icon"/>
            <p:cNvGrpSpPr/>
            <p:nvPr/>
          </p:nvGrpSpPr>
          <p:grpSpPr>
            <a:xfrm>
              <a:off x="901701" y="1609726"/>
              <a:ext cx="254005" cy="285756"/>
              <a:chOff x="901701" y="1609726"/>
              <a:chExt cx="254005" cy="285756"/>
            </a:xfrm>
          </p:grpSpPr>
          <p:sp>
            <p:nvSpPr>
              <p:cNvPr id="15" name="Freeform 15"/>
              <p:cNvSpPr/>
              <p:nvPr/>
            </p:nvSpPr>
            <p:spPr>
              <a:xfrm>
                <a:off x="901701" y="1609726"/>
                <a:ext cx="254005" cy="95252"/>
              </a:xfrm>
              <a:custGeom>
                <a:avLst/>
                <a:gdLst/>
                <a:ahLst/>
                <a:cxnLst/>
                <a:rect l="l" t="t" r="r" b="b"/>
                <a:pathLst>
                  <a:path w="254005" h="95252">
                    <a:moveTo>
                      <a:pt x="0" y="47626"/>
                    </a:moveTo>
                    <a:cubicBezTo>
                      <a:pt x="0" y="73929"/>
                      <a:pt x="56861" y="95252"/>
                      <a:pt x="127003" y="95252"/>
                    </a:cubicBezTo>
                    <a:cubicBezTo>
                      <a:pt x="197144" y="95252"/>
                      <a:pt x="254005" y="73929"/>
                      <a:pt x="254005" y="47626"/>
                    </a:cubicBezTo>
                    <a:cubicBezTo>
                      <a:pt x="254005" y="21323"/>
                      <a:pt x="197144" y="0"/>
                      <a:pt x="127003" y="0"/>
                    </a:cubicBezTo>
                    <a:cubicBezTo>
                      <a:pt x="56861" y="0"/>
                      <a:pt x="0" y="21323"/>
                      <a:pt x="0" y="47626"/>
                    </a:cubicBezTo>
                  </a:path>
                </a:pathLst>
              </a:custGeom>
              <a:noFill/>
              <a:ln w="19050" cap="rnd">
                <a:solidFill>
                  <a:srgbClr val="00A6A6"/>
                </a:solidFill>
                <a:round/>
              </a:ln>
            </p:spPr>
          </p:sp>
          <p:sp>
            <p:nvSpPr>
              <p:cNvPr id="16" name="Freeform 16"/>
              <p:cNvSpPr/>
              <p:nvPr/>
            </p:nvSpPr>
            <p:spPr>
              <a:xfrm>
                <a:off x="901701" y="1657352"/>
                <a:ext cx="254005" cy="142878"/>
              </a:xfrm>
              <a:custGeom>
                <a:avLst/>
                <a:gdLst/>
                <a:ahLst/>
                <a:cxnLst/>
                <a:rect l="l" t="t" r="r" b="b"/>
                <a:pathLst>
                  <a:path w="254005" h="142878">
                    <a:moveTo>
                      <a:pt x="0" y="0"/>
                    </a:moveTo>
                    <a:lnTo>
                      <a:pt x="0" y="95252"/>
                    </a:lnTo>
                    <a:cubicBezTo>
                      <a:pt x="0" y="121555"/>
                      <a:pt x="56861" y="142878"/>
                      <a:pt x="127003" y="142878"/>
                    </a:cubicBezTo>
                    <a:cubicBezTo>
                      <a:pt x="197144" y="142878"/>
                      <a:pt x="254005" y="121555"/>
                      <a:pt x="254005" y="95252"/>
                    </a:cubicBezTo>
                    <a:lnTo>
                      <a:pt x="254005" y="0"/>
                    </a:lnTo>
                  </a:path>
                </a:pathLst>
              </a:custGeom>
              <a:noFill/>
              <a:ln w="19050" cap="rnd">
                <a:solidFill>
                  <a:srgbClr val="00A6A6"/>
                </a:solidFill>
                <a:round/>
              </a:ln>
            </p:spPr>
          </p:sp>
          <p:sp>
            <p:nvSpPr>
              <p:cNvPr id="17" name="Freeform 17"/>
              <p:cNvSpPr/>
              <p:nvPr/>
            </p:nvSpPr>
            <p:spPr>
              <a:xfrm>
                <a:off x="901701" y="1752604"/>
                <a:ext cx="254005" cy="142878"/>
              </a:xfrm>
              <a:custGeom>
                <a:avLst/>
                <a:gdLst/>
                <a:ahLst/>
                <a:cxnLst/>
                <a:rect l="l" t="t" r="r" b="b"/>
                <a:pathLst>
                  <a:path w="254005" h="142878">
                    <a:moveTo>
                      <a:pt x="0" y="0"/>
                    </a:moveTo>
                    <a:lnTo>
                      <a:pt x="0" y="95252"/>
                    </a:lnTo>
                    <a:cubicBezTo>
                      <a:pt x="0" y="121555"/>
                      <a:pt x="56861" y="142878"/>
                      <a:pt x="127003" y="142878"/>
                    </a:cubicBezTo>
                    <a:cubicBezTo>
                      <a:pt x="197144" y="142878"/>
                      <a:pt x="254005" y="121555"/>
                      <a:pt x="254005" y="95252"/>
                    </a:cubicBezTo>
                    <a:lnTo>
                      <a:pt x="254005" y="0"/>
                    </a:lnTo>
                  </a:path>
                </a:pathLst>
              </a:custGeom>
              <a:noFill/>
              <a:ln w="19050" cap="rnd">
                <a:solidFill>
                  <a:srgbClr val="00A6A6"/>
                </a:solidFill>
                <a:round/>
              </a:ln>
            </p:spPr>
          </p:sp>
        </p:grpSp>
        <p:sp>
          <p:nvSpPr>
            <p:cNvPr id="19" name="TextBox 19"/>
            <p:cNvSpPr txBox="1"/>
            <p:nvPr/>
          </p:nvSpPr>
          <p:spPr>
            <a:xfrm>
              <a:off x="1438656" y="16725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20" name="TextBox 20"/>
            <p:cNvSpPr txBox="1"/>
            <p:nvPr/>
          </p:nvSpPr>
          <p:spPr>
            <a:xfrm>
              <a:off x="831342" y="2178368"/>
              <a:ext cx="3579876"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Veri kümelerindeki anlamlı örüntüleri,</a:t>
              </a:r>
              <a:br/>
              <a:r>
                <a:rPr lang="tr-TR" sz="1350" dirty="0">
                  <a:solidFill>
                    <a:srgbClr val="172B3A"/>
                  </a:solidFill>
                  <a:latin typeface="+mn-lt"/>
                  <a:ea typeface="+mn-ea"/>
                  <a:cs typeface="+mn-cs"/>
                </a:rPr>
                <a:t>ilişkileri ve istisnaları sistematik</a:t>
              </a:r>
              <a:br/>
              <a:r>
                <a:rPr lang="tr-TR" sz="1350" dirty="0">
                  <a:solidFill>
                    <a:srgbClr val="172B3A"/>
                  </a:solidFill>
                  <a:latin typeface="+mn-lt"/>
                  <a:ea typeface="+mn-ea"/>
                  <a:cs typeface="+mn-cs"/>
                </a:rPr>
                <a:t>yöntemlerle keşfetme sürecidir; amaç ham</a:t>
              </a:r>
              <a:br/>
              <a:r>
                <a:rPr lang="tr-TR" sz="1350" dirty="0">
                  <a:solidFill>
                    <a:srgbClr val="172B3A"/>
                  </a:solidFill>
                  <a:latin typeface="+mn-lt"/>
                  <a:ea typeface="+mn-ea"/>
                  <a:cs typeface="+mn-cs"/>
                </a:rPr>
                <a:t>kayıtları karar vermeyi destekleyecek</a:t>
              </a:r>
              <a:br/>
              <a:r>
                <a:rPr lang="tr-TR" sz="1350" dirty="0">
                  <a:solidFill>
                    <a:srgbClr val="172B3A"/>
                  </a:solidFill>
                  <a:latin typeface="+mn-lt"/>
                  <a:ea typeface="+mn-ea"/>
                  <a:cs typeface="+mn-cs"/>
                </a:rPr>
                <a:t>bilgiye dönüştürmektir.</a:t>
              </a:r>
            </a:p>
          </p:txBody>
        </p:sp>
        <p:sp>
          <p:nvSpPr>
            <p:cNvPr id="21" name="Line 21"/>
            <p:cNvSpPr/>
            <p:nvPr/>
          </p:nvSpPr>
          <p:spPr>
            <a:xfrm>
              <a:off x="838200" y="35242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22" name="TextBox 22"/>
            <p:cNvSpPr txBox="1"/>
            <p:nvPr/>
          </p:nvSpPr>
          <p:spPr>
            <a:xfrm>
              <a:off x="832104" y="3680460"/>
              <a:ext cx="34640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Kafe örneğinde her satır bir günlük ürün</a:t>
              </a:r>
              <a:br/>
              <a:r>
                <a:rPr lang="tr-TR" sz="1200" dirty="0">
                  <a:solidFill>
                    <a:srgbClr val="52616B"/>
                  </a:solidFill>
                  <a:latin typeface="+mn-lt"/>
                  <a:ea typeface="+mn-ea"/>
                  <a:cs typeface="+mn-cs"/>
                </a:rPr>
                <a:t>kaydını temsil eder; "sınav haftasında sıcak</a:t>
              </a:r>
              <a:br/>
              <a:r>
                <a:rPr lang="tr-TR" sz="1200" dirty="0">
                  <a:solidFill>
                    <a:srgbClr val="52616B"/>
                  </a:solidFill>
                  <a:latin typeface="+mn-lt"/>
                  <a:ea typeface="+mn-ea"/>
                  <a:cs typeface="+mn-cs"/>
                </a:rPr>
                <a:t>içecek talebi artar" bulgusu karar desteğine</a:t>
              </a:r>
              <a:br/>
              <a:r>
                <a:rPr lang="tr-TR" sz="1200" dirty="0">
                  <a:solidFill>
                    <a:srgbClr val="52616B"/>
                  </a:solidFill>
                  <a:latin typeface="+mn-lt"/>
                  <a:ea typeface="+mn-ea"/>
                  <a:cs typeface="+mn-cs"/>
                </a:rPr>
                <a:t>dönüşmeye başlar.</a:t>
              </a:r>
            </a:p>
          </p:txBody>
        </p:sp>
      </p:grpSp>
      <p:grpSp>
        <p:nvGrpSpPr>
          <p:cNvPr id="32" name="why-card"/>
          <p:cNvGrpSpPr/>
          <p:nvPr/>
        </p:nvGrpSpPr>
        <p:grpSpPr>
          <a:xfrm>
            <a:off x="6286500" y="1333500"/>
            <a:ext cx="5295900" cy="3238500"/>
            <a:chOff x="6286500" y="1333500"/>
            <a:chExt cx="5295900" cy="3238500"/>
          </a:xfrm>
        </p:grpSpPr>
        <p:sp>
          <p:nvSpPr>
            <p:cNvPr id="24" name="Rectangle 24"/>
            <p:cNvSpPr/>
            <p:nvPr/>
          </p:nvSpPr>
          <p:spPr>
            <a:xfrm>
              <a:off x="6286500" y="1333500"/>
              <a:ext cx="5295900" cy="3238500"/>
            </a:xfrm>
            <a:prstGeom prst="roundRect">
              <a:avLst>
                <a:gd name="adj" fmla="val 2941"/>
              </a:avLst>
            </a:prstGeom>
            <a:solidFill>
              <a:srgbClr val="FFFFFF"/>
            </a:solidFill>
            <a:ln w="14288">
              <a:solidFill>
                <a:srgbClr val="B8CBD3"/>
              </a:solidFill>
            </a:ln>
          </p:spPr>
        </p:sp>
        <p:grpSp>
          <p:nvGrpSpPr>
            <p:cNvPr id="27" name="why-icon"/>
            <p:cNvGrpSpPr/>
            <p:nvPr/>
          </p:nvGrpSpPr>
          <p:grpSpPr>
            <a:xfrm>
              <a:off x="6562726" y="1609726"/>
              <a:ext cx="285756" cy="285756"/>
              <a:chOff x="6562726" y="1609726"/>
              <a:chExt cx="285756" cy="285756"/>
            </a:xfrm>
          </p:grpSpPr>
          <p:sp>
            <p:nvSpPr>
              <p:cNvPr id="25" name="Ellipse 25"/>
              <p:cNvSpPr/>
              <p:nvPr/>
            </p:nvSpPr>
            <p:spPr>
              <a:xfrm>
                <a:off x="6562726" y="1609726"/>
                <a:ext cx="285756" cy="285756"/>
              </a:xfrm>
              <a:prstGeom prst="ellipse">
                <a:avLst/>
              </a:prstGeom>
              <a:noFill/>
              <a:ln w="19050">
                <a:solidFill>
                  <a:srgbClr val="2E86AB"/>
                </a:solidFill>
              </a:ln>
            </p:spPr>
          </p:sp>
          <p:sp>
            <p:nvSpPr>
              <p:cNvPr id="26" name="Freeform 26"/>
              <p:cNvSpPr/>
              <p:nvPr/>
            </p:nvSpPr>
            <p:spPr>
              <a:xfrm>
                <a:off x="6705604" y="1673227"/>
                <a:ext cx="63501" cy="111127"/>
              </a:xfrm>
              <a:custGeom>
                <a:avLst/>
                <a:gdLst/>
                <a:ahLst/>
                <a:cxnLst/>
                <a:rect l="l" t="t" r="r" b="b"/>
                <a:pathLst>
                  <a:path w="63501" h="111127">
                    <a:moveTo>
                      <a:pt x="0" y="0"/>
                    </a:moveTo>
                    <a:lnTo>
                      <a:pt x="0" y="79377"/>
                    </a:lnTo>
                    <a:lnTo>
                      <a:pt x="63501" y="111127"/>
                    </a:lnTo>
                  </a:path>
                </a:pathLst>
              </a:custGeom>
              <a:noFill/>
              <a:ln w="19050" cap="rnd">
                <a:solidFill>
                  <a:srgbClr val="2E86AB"/>
                </a:solidFill>
                <a:round/>
              </a:ln>
            </p:spPr>
          </p:sp>
        </p:grpSp>
        <p:sp>
          <p:nvSpPr>
            <p:cNvPr id="28" name="TextBox 28"/>
            <p:cNvSpPr txBox="1"/>
            <p:nvPr/>
          </p:nvSpPr>
          <p:spPr>
            <a:xfrm>
              <a:off x="7115556" y="16725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29" name="TextBox 29"/>
            <p:cNvSpPr txBox="1"/>
            <p:nvPr/>
          </p:nvSpPr>
          <p:spPr>
            <a:xfrm>
              <a:off x="6508242" y="2178368"/>
              <a:ext cx="3562731"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Kasa, stok ve çevrim içi sipariş sistemleri</a:t>
              </a:r>
              <a:br/>
              <a:r>
                <a:rPr lang="tr-TR" sz="1350" dirty="0">
                  <a:solidFill>
                    <a:srgbClr val="172B3A"/>
                  </a:solidFill>
                  <a:latin typeface="+mn-lt"/>
                  <a:ea typeface="+mn-ea"/>
                  <a:cs typeface="+mn-cs"/>
                </a:rPr>
                <a:t>ayrı kayıt tutar; elle inceleme zaman</a:t>
              </a:r>
              <a:br/>
              <a:r>
                <a:rPr lang="tr-TR" sz="1350" dirty="0">
                  <a:solidFill>
                    <a:srgbClr val="172B3A"/>
                  </a:solidFill>
                  <a:latin typeface="+mn-lt"/>
                  <a:ea typeface="+mn-ea"/>
                  <a:cs typeface="+mn-cs"/>
                </a:rPr>
                <a:t>alır ve ilişkiler gözden kaçabilir.</a:t>
              </a:r>
              <a:br/>
              <a:r>
                <a:rPr lang="tr-TR" sz="1350" dirty="0">
                  <a:solidFill>
                    <a:srgbClr val="172B3A"/>
                  </a:solidFill>
                  <a:latin typeface="+mn-lt"/>
                  <a:ea typeface="+mn-ea"/>
                  <a:cs typeface="+mn-cs"/>
                </a:rPr>
                <a:t>1990'larda veritabanları büyüdükçe,</a:t>
              </a:r>
              <a:br/>
              <a:r>
                <a:rPr lang="tr-TR" sz="1350" dirty="0">
                  <a:solidFill>
                    <a:srgbClr val="172B3A"/>
                  </a:solidFill>
                  <a:latin typeface="+mn-lt"/>
                  <a:ea typeface="+mn-ea"/>
                  <a:cs typeface="+mn-cs"/>
                </a:rPr>
                <a:t>yalnızca depolamanın yetmediği anlaşıldı.</a:t>
              </a:r>
            </a:p>
          </p:txBody>
        </p:sp>
        <p:sp>
          <p:nvSpPr>
            <p:cNvPr id="30" name="Line 30"/>
            <p:cNvSpPr/>
            <p:nvPr/>
          </p:nvSpPr>
          <p:spPr>
            <a:xfrm>
              <a:off x="6515100" y="35242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31" name="TextBox 31"/>
            <p:cNvSpPr txBox="1"/>
            <p:nvPr/>
          </p:nvSpPr>
          <p:spPr>
            <a:xfrm>
              <a:off x="6509004" y="3680460"/>
              <a:ext cx="31363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Veri madenciliği olmadan yöneticiler</a:t>
              </a:r>
              <a:br/>
              <a:r>
                <a:rPr lang="tr-TR" sz="1200" dirty="0">
                  <a:solidFill>
                    <a:srgbClr val="52616B"/>
                  </a:solidFill>
                  <a:latin typeface="+mn-lt"/>
                  <a:ea typeface="+mn-ea"/>
                  <a:cs typeface="+mn-cs"/>
                </a:rPr>
                <a:t>sezgiye veya son günün satışına dayanır;</a:t>
              </a:r>
              <a:br/>
              <a:r>
                <a:rPr lang="tr-TR" sz="1200" dirty="0">
                  <a:solidFill>
                    <a:srgbClr val="52616B"/>
                  </a:solidFill>
                  <a:latin typeface="+mn-lt"/>
                  <a:ea typeface="+mn-ea"/>
                  <a:cs typeface="+mn-cs"/>
                </a:rPr>
                <a:t>sınav haftası gibi değişken koşullarda</a:t>
              </a:r>
              <a:br/>
              <a:r>
                <a:rPr lang="tr-TR" sz="1200" dirty="0">
                  <a:solidFill>
                    <a:srgbClr val="52616B"/>
                  </a:solidFill>
                  <a:latin typeface="+mn-lt"/>
                  <a:ea typeface="+mn-ea"/>
                  <a:cs typeface="+mn-cs"/>
                </a:rPr>
                <a:t>yanlış sipariş kararlarına yol açar.</a:t>
              </a:r>
            </a:p>
          </p:txBody>
        </p:sp>
      </p:grpSp>
      <p:grpSp>
        <p:nvGrpSpPr>
          <p:cNvPr id="36" name="analogy-band"/>
          <p:cNvGrpSpPr/>
          <p:nvPr/>
        </p:nvGrpSpPr>
        <p:grpSpPr>
          <a:xfrm>
            <a:off x="609600" y="4762500"/>
            <a:ext cx="10972800" cy="994601"/>
            <a:chOff x="609600" y="4762500"/>
            <a:chExt cx="10972800" cy="994601"/>
          </a:xfrm>
        </p:grpSpPr>
        <p:sp>
          <p:nvSpPr>
            <p:cNvPr id="33" name="Rectangle 33"/>
            <p:cNvSpPr/>
            <p:nvPr/>
          </p:nvSpPr>
          <p:spPr>
            <a:xfrm>
              <a:off x="609600" y="4762500"/>
              <a:ext cx="10972800" cy="952500"/>
            </a:xfrm>
            <a:prstGeom prst="roundRect">
              <a:avLst>
                <a:gd name="adj" fmla="val 8000"/>
              </a:avLst>
            </a:prstGeom>
            <a:solidFill>
              <a:srgbClr val="EAF4F6"/>
            </a:solidFill>
            <a:ln>
              <a:noFill/>
            </a:ln>
          </p:spPr>
        </p:sp>
        <p:sp>
          <p:nvSpPr>
            <p:cNvPr id="34" name="TextBox 34"/>
            <p:cNvSpPr txBox="1"/>
            <p:nvPr/>
          </p:nvSpPr>
          <p:spPr>
            <a:xfrm>
              <a:off x="906399" y="4935379"/>
              <a:ext cx="796268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Benzetme: deneyimli kafe çalışanının gözlemini sistematik hâle getirmek</a:t>
              </a:r>
            </a:p>
          </p:txBody>
        </p:sp>
        <p:sp>
          <p:nvSpPr>
            <p:cNvPr id="35" name="TextBox 35"/>
            <p:cNvSpPr txBox="1"/>
            <p:nvPr/>
          </p:nvSpPr>
          <p:spPr>
            <a:xfrm>
              <a:off x="907542" y="5264468"/>
              <a:ext cx="692315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52616B"/>
                  </a:solidFill>
                  <a:latin typeface="+mn-lt"/>
                  <a:ea typeface="+mn-ea"/>
                  <a:cs typeface="+mn-cs"/>
                </a:rPr>
                <a:t>"Sınav haftasında kahve daha hızlı tükenir" sezgisi; veri madenciliği bu düşünceyi</a:t>
              </a:r>
              <a:br/>
              <a:r>
                <a:rPr lang="tr-TR" sz="1350" dirty="0">
                  <a:solidFill>
                    <a:srgbClr val="52616B"/>
                  </a:solidFill>
                  <a:latin typeface="+mn-lt"/>
                  <a:ea typeface="+mn-ea"/>
                  <a:cs typeface="+mn-cs"/>
                </a:rPr>
                <a:t>kayıtlarla sınar ve tekrarlanabilir bir karar kuralına dönüştürür.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111434" cy="668845"/>
            <a:chOff x="609600" y="171450"/>
            <a:chExt cx="911143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842106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Veri madenciliği: uygulama ve tercih koşulu</a:t>
              </a:r>
            </a:p>
          </p:txBody>
        </p:sp>
      </p:grpSp>
      <p:grpSp>
        <p:nvGrpSpPr>
          <p:cNvPr id="21" name="code-card"/>
          <p:cNvGrpSpPr/>
          <p:nvPr/>
        </p:nvGrpSpPr>
        <p:grpSpPr>
          <a:xfrm>
            <a:off x="609600" y="1104900"/>
            <a:ext cx="5334000" cy="4854511"/>
            <a:chOff x="609600" y="1104900"/>
            <a:chExt cx="5334000" cy="4854511"/>
          </a:xfrm>
        </p:grpSpPr>
        <p:sp>
          <p:nvSpPr>
            <p:cNvPr id="12" name="Rectangle 12"/>
            <p:cNvSpPr/>
            <p:nvPr/>
          </p:nvSpPr>
          <p:spPr>
            <a:xfrm>
              <a:off x="609600" y="1104900"/>
              <a:ext cx="5334000" cy="4762500"/>
            </a:xfrm>
            <a:prstGeom prst="roundRect">
              <a:avLst>
                <a:gd name="adj" fmla="val 2000"/>
              </a:avLst>
            </a:prstGeom>
            <a:solidFill>
              <a:srgbClr val="12355B"/>
            </a:solidFill>
            <a:ln>
              <a:noFill/>
            </a:ln>
          </p:spPr>
        </p:sp>
        <p:sp>
          <p:nvSpPr>
            <p:cNvPr id="13" name="Ellipse 13"/>
            <p:cNvSpPr/>
            <p:nvPr/>
          </p:nvSpPr>
          <p:spPr>
            <a:xfrm>
              <a:off x="781050" y="1276350"/>
              <a:ext cx="114300" cy="114300"/>
            </a:xfrm>
            <a:prstGeom prst="ellipse">
              <a:avLst/>
            </a:prstGeom>
            <a:solidFill>
              <a:srgbClr val="00A6A6"/>
            </a:solidFill>
            <a:ln>
              <a:noFill/>
            </a:ln>
          </p:spPr>
        </p:sp>
        <p:sp>
          <p:nvSpPr>
            <p:cNvPr id="14" name="Ellipse 14"/>
            <p:cNvSpPr/>
            <p:nvPr/>
          </p:nvSpPr>
          <p:spPr>
            <a:xfrm>
              <a:off x="971550" y="1276350"/>
              <a:ext cx="114300" cy="114300"/>
            </a:xfrm>
            <a:prstGeom prst="ellipse">
              <a:avLst/>
            </a:prstGeom>
            <a:solidFill>
              <a:srgbClr val="2E86AB"/>
            </a:solidFill>
            <a:ln>
              <a:noFill/>
            </a:ln>
          </p:spPr>
        </p:sp>
        <p:sp>
          <p:nvSpPr>
            <p:cNvPr id="15" name="Ellipse 15"/>
            <p:cNvSpPr/>
            <p:nvPr/>
          </p:nvSpPr>
          <p:spPr>
            <a:xfrm>
              <a:off x="1162050" y="1276350"/>
              <a:ext cx="114300" cy="114300"/>
            </a:xfrm>
            <a:prstGeom prst="ellipse">
              <a:avLst/>
            </a:prstGeom>
            <a:solidFill>
              <a:srgbClr val="EAF4F6"/>
            </a:solidFill>
            <a:ln>
              <a:noFill/>
            </a:ln>
          </p:spPr>
        </p:sp>
        <p:sp>
          <p:nvSpPr>
            <p:cNvPr id="16" name="TextBox 16"/>
            <p:cNvSpPr txBox="1"/>
            <p:nvPr/>
          </p:nvSpPr>
          <p:spPr>
            <a:xfrm>
              <a:off x="832485" y="1554956"/>
              <a:ext cx="158702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import pandas as pd</a:t>
              </a:r>
            </a:p>
          </p:txBody>
        </p:sp>
        <p:sp>
          <p:nvSpPr>
            <p:cNvPr id="17" name="TextBox 17"/>
            <p:cNvSpPr txBox="1"/>
            <p:nvPr/>
          </p:nvSpPr>
          <p:spPr>
            <a:xfrm>
              <a:off x="832485" y="1878806"/>
              <a:ext cx="2593086" cy="1477328"/>
            </a:xfrm>
            <a:prstGeom prst="rect">
              <a:avLst/>
            </a:prstGeom>
            <a:noFill/>
            <a:ln>
              <a:noFill/>
            </a:ln>
          </p:spPr>
          <p:txBody>
            <a:bodyPr wrap="none" lIns="0" tIns="0" rIns="0" bIns="0" anchor="t" anchorCtr="0">
              <a:spAutoFit/>
            </a:bodyPr>
            <a:lstStyle/>
            <a:p>
              <a:pPr algn="l">
                <a:lnSpc>
                  <a:spcPts val="1650"/>
                </a:lnSpc>
              </a:pPr>
              <a:r>
                <a:rPr lang="tr-TR" sz="1120" dirty="0">
                  <a:solidFill>
                    <a:srgbClr val="EAF4F6"/>
                  </a:solidFill>
                  <a:latin typeface="Consolas"/>
                  <a:ea typeface="Consolas"/>
                  <a:cs typeface="Consolas"/>
                </a:rPr>
                <a:t>satisKayitlari = pd.DataFrame({</a:t>
              </a:r>
              <a:br/>
              <a:r>
                <a:rPr lang="tr-TR" sz="1120" dirty="0">
                  <a:solidFill>
                    <a:srgbClr val="EAF4F6"/>
                  </a:solidFill>
                  <a:latin typeface="Consolas"/>
                  <a:ea typeface="Consolas"/>
                  <a:cs typeface="Consolas"/>
                </a:rPr>
                <a:t>"urun": ["Kahve","Kahve",</a:t>
              </a:r>
              <a:br/>
              <a:r>
                <a:rPr lang="tr-TR" sz="1120" dirty="0">
                  <a:solidFill>
                    <a:srgbClr val="EAF4F6"/>
                  </a:solidFill>
                  <a:latin typeface="Consolas"/>
                  <a:ea typeface="Consolas"/>
                  <a:cs typeface="Consolas"/>
                </a:rPr>
                <a:t>"Sandvic","Sandvic"],</a:t>
              </a:r>
              <a:br/>
              <a:r>
                <a:rPr lang="tr-TR" sz="1120" dirty="0">
                  <a:solidFill>
                    <a:srgbClr val="EAF4F6"/>
                  </a:solidFill>
                  <a:latin typeface="Consolas"/>
                  <a:ea typeface="Consolas"/>
                  <a:cs typeface="Consolas"/>
                </a:rPr>
                <a:t>"satis_adedi": [85, 110, 42, 31],</a:t>
              </a:r>
              <a:br/>
              <a:r>
                <a:rPr lang="tr-TR" sz="1120" dirty="0">
                  <a:solidFill>
                    <a:srgbClr val="EAF4F6"/>
                  </a:solidFill>
                  <a:latin typeface="Consolas"/>
                  <a:ea typeface="Consolas"/>
                  <a:cs typeface="Consolas"/>
                </a:rPr>
                <a:t>"sinav_haftasi": [False, True,</a:t>
              </a:r>
              <a:br/>
              <a:r>
                <a:rPr lang="tr-TR" sz="1120" dirty="0">
                  <a:solidFill>
                    <a:srgbClr val="EAF4F6"/>
                  </a:solidFill>
                  <a:latin typeface="Consolas"/>
                  <a:ea typeface="Consolas"/>
                  <a:cs typeface="Consolas"/>
                </a:rPr>
                <a:t>False, True]</a:t>
              </a:r>
              <a:br/>
              <a:r>
                <a:rPr lang="tr-TR" sz="1120" dirty="0">
                  <a:solidFill>
                    <a:srgbClr val="EAF4F6"/>
                  </a:solidFill>
                  <a:latin typeface="Consolas"/>
                  <a:ea typeface="Consolas"/>
                  <a:cs typeface="Consolas"/>
                </a:rPr>
                <a:t>})</a:t>
              </a:r>
            </a:p>
          </p:txBody>
        </p:sp>
        <p:sp>
          <p:nvSpPr>
            <p:cNvPr id="18" name="TextBox 18"/>
            <p:cNvSpPr txBox="1"/>
            <p:nvPr/>
          </p:nvSpPr>
          <p:spPr>
            <a:xfrm>
              <a:off x="832485" y="3612356"/>
              <a:ext cx="2593086"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00A6A6"/>
                  </a:solidFill>
                  <a:latin typeface="Consolas"/>
                  <a:ea typeface="Consolas"/>
                  <a:cs typeface="Consolas"/>
                </a:rPr>
                <a:t>urunOrtalamalari = satisKayitlari</a:t>
              </a:r>
              <a:br/>
              <a:r>
                <a:rPr lang="tr-TR" sz="1120" dirty="0">
                  <a:solidFill>
                    <a:srgbClr val="00A6A6"/>
                  </a:solidFill>
                  <a:latin typeface="Consolas"/>
                  <a:ea typeface="Consolas"/>
                  <a:cs typeface="Consolas"/>
                </a:rPr>
                <a:t>.groupby("urun")["satis_adedi"]</a:t>
              </a:r>
              <a:br/>
              <a:r>
                <a:rPr lang="tr-TR" sz="1120" dirty="0">
                  <a:solidFill>
                    <a:srgbClr val="00A6A6"/>
                  </a:solidFill>
                  <a:latin typeface="Consolas"/>
                  <a:ea typeface="Consolas"/>
                  <a:cs typeface="Consolas"/>
                </a:rPr>
                <a:t>.mean()</a:t>
              </a:r>
            </a:p>
          </p:txBody>
        </p:sp>
        <p:sp>
          <p:nvSpPr>
            <p:cNvPr id="19" name="TextBox 19"/>
            <p:cNvSpPr txBox="1"/>
            <p:nvPr/>
          </p:nvSpPr>
          <p:spPr>
            <a:xfrm>
              <a:off x="832485" y="4450556"/>
              <a:ext cx="1106678"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B8CBD3"/>
                  </a:solidFill>
                  <a:latin typeface="Consolas"/>
                  <a:ea typeface="Consolas"/>
                  <a:cs typeface="Consolas"/>
                </a:rPr>
                <a:t># Çıktı:</a:t>
              </a:r>
              <a:br/>
              <a:r>
                <a:rPr lang="tr-TR" sz="1120" dirty="0">
                  <a:solidFill>
                    <a:srgbClr val="B8CBD3"/>
                  </a:solidFill>
                  <a:latin typeface="Consolas"/>
                  <a:ea typeface="Consolas"/>
                  <a:cs typeface="Consolas"/>
                </a:rPr>
                <a:t># Kahve 97.5</a:t>
              </a:r>
              <a:br/>
              <a:r>
                <a:rPr lang="tr-TR" sz="1120" dirty="0">
                  <a:solidFill>
                    <a:srgbClr val="B8CBD3"/>
                  </a:solidFill>
                  <a:latin typeface="Consolas"/>
                  <a:ea typeface="Consolas"/>
                  <a:cs typeface="Consolas"/>
                </a:rPr>
                <a:t># Sandvic 36.5</a:t>
              </a:r>
            </a:p>
          </p:txBody>
        </p:sp>
        <p:sp>
          <p:nvSpPr>
            <p:cNvPr id="20" name="TextBox 20"/>
            <p:cNvSpPr txBox="1"/>
            <p:nvPr/>
          </p:nvSpPr>
          <p:spPr>
            <a:xfrm>
              <a:off x="832866" y="5373052"/>
              <a:ext cx="2871026"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52616B"/>
                  </a:solidFill>
                  <a:latin typeface="Consolas"/>
                  <a:ea typeface="Consolas"/>
                  <a:cs typeface="Consolas"/>
                </a:rPr>
                <a:t>groupby("urun") satırları ürüne göre</a:t>
              </a:r>
              <a:br/>
              <a:r>
                <a:rPr lang="tr-TR" sz="1050" dirty="0">
                  <a:solidFill>
                    <a:srgbClr val="52616B"/>
                  </a:solidFill>
                  <a:latin typeface="Consolas"/>
                  <a:ea typeface="Consolas"/>
                  <a:cs typeface="Consolas"/>
                </a:rPr>
                <a:t>gruplar; mean() her grubun ortalamasını</a:t>
              </a:r>
              <a:br/>
              <a:r>
                <a:rPr lang="tr-TR" sz="1050" dirty="0">
                  <a:solidFill>
                    <a:srgbClr val="52616B"/>
                  </a:solidFill>
                  <a:latin typeface="Consolas"/>
                  <a:ea typeface="Consolas"/>
                  <a:cs typeface="Consolas"/>
                </a:rPr>
                <a:t>hesaplar.</a:t>
              </a:r>
            </a:p>
          </p:txBody>
        </p:sp>
      </p:grpSp>
      <p:grpSp>
        <p:nvGrpSpPr>
          <p:cNvPr id="27" name="when-card"/>
          <p:cNvGrpSpPr/>
          <p:nvPr/>
        </p:nvGrpSpPr>
        <p:grpSpPr>
          <a:xfrm>
            <a:off x="6286500" y="1104900"/>
            <a:ext cx="5295900" cy="2581656"/>
            <a:chOff x="6286500" y="1104900"/>
            <a:chExt cx="5295900" cy="2581656"/>
          </a:xfrm>
        </p:grpSpPr>
        <p:sp>
          <p:nvSpPr>
            <p:cNvPr id="22" name="Rectangle 22"/>
            <p:cNvSpPr/>
            <p:nvPr/>
          </p:nvSpPr>
          <p:spPr>
            <a:xfrm>
              <a:off x="6286500" y="1104900"/>
              <a:ext cx="5295900" cy="2476500"/>
            </a:xfrm>
            <a:prstGeom prst="roundRect">
              <a:avLst>
                <a:gd name="adj" fmla="val 3846"/>
              </a:avLst>
            </a:prstGeom>
            <a:solidFill>
              <a:srgbClr val="FFFFFF"/>
            </a:solidFill>
            <a:ln w="14288">
              <a:solidFill>
                <a:srgbClr val="B8CBD3"/>
              </a:solidFill>
            </a:ln>
          </p:spPr>
        </p:sp>
        <p:sp>
          <p:nvSpPr>
            <p:cNvPr id="23" name="TextBox 23"/>
            <p:cNvSpPr txBox="1"/>
            <p:nvPr/>
          </p:nvSpPr>
          <p:spPr>
            <a:xfrm>
              <a:off x="6505956" y="1253490"/>
              <a:ext cx="347397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 zaman tercih edilmelidir?</a:t>
              </a:r>
            </a:p>
          </p:txBody>
        </p:sp>
        <p:sp>
          <p:nvSpPr>
            <p:cNvPr id="24" name="TextBox 24"/>
            <p:cNvSpPr txBox="1"/>
            <p:nvPr/>
          </p:nvSpPr>
          <p:spPr>
            <a:xfrm>
              <a:off x="6508242" y="1644968"/>
              <a:ext cx="3631311"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Çok sayıda kaydın içinde gözle görünmeyen</a:t>
              </a:r>
              <a:br/>
              <a:r>
                <a:rPr lang="tr-TR" sz="1350" dirty="0">
                  <a:solidFill>
                    <a:srgbClr val="172B3A"/>
                  </a:solidFill>
                  <a:latin typeface="+mn-lt"/>
                  <a:ea typeface="+mn-ea"/>
                  <a:cs typeface="+mn-cs"/>
                </a:rPr>
                <a:t>ilişkiler araştırılırken tercih edilir; kafe</a:t>
              </a:r>
              <a:br/>
              <a:r>
                <a:rPr lang="tr-TR" sz="1350" dirty="0">
                  <a:solidFill>
                    <a:srgbClr val="172B3A"/>
                  </a:solidFill>
                  <a:latin typeface="+mn-lt"/>
                  <a:ea typeface="+mn-ea"/>
                  <a:cs typeface="+mn-cs"/>
                </a:rPr>
                <a:t>yönetiminin gün ve hava koşullarını satışla</a:t>
              </a:r>
              <a:br/>
              <a:r>
                <a:rPr lang="tr-TR" sz="1350" dirty="0">
                  <a:solidFill>
                    <a:srgbClr val="172B3A"/>
                  </a:solidFill>
                  <a:latin typeface="+mn-lt"/>
                  <a:ea typeface="+mn-ea"/>
                  <a:cs typeface="+mn-cs"/>
                </a:rPr>
                <a:t>ilişkilendirmesi buna örnektir.</a:t>
              </a:r>
            </a:p>
          </p:txBody>
        </p:sp>
        <p:sp>
          <p:nvSpPr>
            <p:cNvPr id="25" name="Line 25"/>
            <p:cNvSpPr/>
            <p:nvPr/>
          </p:nvSpPr>
          <p:spPr>
            <a:xfrm>
              <a:off x="6515100" y="289560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26" name="TextBox 26"/>
            <p:cNvSpPr txBox="1"/>
            <p:nvPr/>
          </p:nvSpPr>
          <p:spPr>
            <a:xfrm>
              <a:off x="6509004" y="3032760"/>
              <a:ext cx="31135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Tek bir faturanın doğruluğunu kontrol</a:t>
              </a:r>
              <a:br/>
              <a:r>
                <a:rPr lang="tr-TR" sz="1200" dirty="0">
                  <a:solidFill>
                    <a:srgbClr val="52616B"/>
                  </a:solidFill>
                  <a:latin typeface="+mn-lt"/>
                  <a:ea typeface="+mn-ea"/>
                  <a:cs typeface="+mn-cs"/>
                </a:rPr>
                <a:t>etmek için gerekmez; böyle durumda basit</a:t>
              </a:r>
              <a:br/>
              <a:r>
                <a:rPr lang="tr-TR" sz="1200" dirty="0">
                  <a:solidFill>
                    <a:srgbClr val="52616B"/>
                  </a:solidFill>
                  <a:latin typeface="+mn-lt"/>
                  <a:ea typeface="+mn-ea"/>
                  <a:cs typeface="+mn-cs"/>
                </a:rPr>
                <a:t>iş kuralları yeterlidir.</a:t>
              </a:r>
            </a:p>
          </p:txBody>
        </p:sp>
      </p:grpSp>
      <p:grpSp>
        <p:nvGrpSpPr>
          <p:cNvPr id="31" name="caution-card"/>
          <p:cNvGrpSpPr/>
          <p:nvPr/>
        </p:nvGrpSpPr>
        <p:grpSpPr>
          <a:xfrm>
            <a:off x="6286500" y="3810000"/>
            <a:ext cx="5295900" cy="2057400"/>
            <a:chOff x="6286500" y="3810000"/>
            <a:chExt cx="5295900" cy="2057400"/>
          </a:xfrm>
        </p:grpSpPr>
        <p:sp>
          <p:nvSpPr>
            <p:cNvPr id="28" name="Rectangle 28"/>
            <p:cNvSpPr/>
            <p:nvPr/>
          </p:nvSpPr>
          <p:spPr>
            <a:xfrm>
              <a:off x="6286500" y="3810000"/>
              <a:ext cx="5295900" cy="2057400"/>
            </a:xfrm>
            <a:prstGeom prst="roundRect">
              <a:avLst>
                <a:gd name="adj" fmla="val 4630"/>
              </a:avLst>
            </a:prstGeom>
            <a:solidFill>
              <a:srgbClr val="EAF4F6"/>
            </a:solidFill>
            <a:ln w="14288">
              <a:solidFill>
                <a:srgbClr val="00A6A6"/>
              </a:solidFill>
            </a:ln>
          </p:spPr>
        </p:sp>
        <p:sp>
          <p:nvSpPr>
            <p:cNvPr id="29" name="TextBox 29"/>
            <p:cNvSpPr txBox="1"/>
            <p:nvPr/>
          </p:nvSpPr>
          <p:spPr>
            <a:xfrm>
              <a:off x="6507099" y="3982879"/>
              <a:ext cx="363014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yalnızca bir özet üretir</a:t>
              </a:r>
            </a:p>
          </p:txBody>
        </p:sp>
        <p:sp>
          <p:nvSpPr>
            <p:cNvPr id="30" name="TextBox 30"/>
            <p:cNvSpPr txBox="1"/>
            <p:nvPr/>
          </p:nvSpPr>
          <p:spPr>
            <a:xfrm>
              <a:off x="6508242" y="4331018"/>
              <a:ext cx="3528441"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Kahvenin ortalamasının yüksek olması,</a:t>
              </a:r>
              <a:br/>
              <a:r>
                <a:rPr lang="tr-TR" sz="1350" dirty="0">
                  <a:solidFill>
                    <a:srgbClr val="172B3A"/>
                  </a:solidFill>
                  <a:latin typeface="+mn-lt"/>
                  <a:ea typeface="+mn-ea"/>
                  <a:cs typeface="+mn-cs"/>
                </a:rPr>
                <a:t>nedeninin sınav haftası olduğunu</a:t>
              </a:r>
              <a:br/>
              <a:r>
                <a:rPr lang="tr-TR" sz="1350" dirty="0">
                  <a:solidFill>
                    <a:srgbClr val="172B3A"/>
                  </a:solidFill>
                  <a:latin typeface="+mn-lt"/>
                  <a:ea typeface="+mn-ea"/>
                  <a:cs typeface="+mn-cs"/>
                </a:rPr>
                <a:t>kanıtlamaz; nedensellik iddiası için</a:t>
              </a:r>
              <a:br/>
              <a:r>
                <a:rPr lang="tr-TR" sz="1350" dirty="0">
                  <a:solidFill>
                    <a:srgbClr val="172B3A"/>
                  </a:solidFill>
                  <a:latin typeface="+mn-lt"/>
                  <a:ea typeface="+mn-ea"/>
                  <a:cs typeface="+mn-cs"/>
                </a:rPr>
                <a:t>daha fazla veri ve karşılaştırma gerekir.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594577" cy="668845"/>
            <a:chOff x="609600" y="171450"/>
            <a:chExt cx="959457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890420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Veri madenciliği: alternatifler ve sık hatalar</a:t>
              </a:r>
            </a:p>
          </p:txBody>
        </p:sp>
      </p:grpSp>
      <p:grpSp>
        <p:nvGrpSpPr>
          <p:cNvPr id="37" name="alt-table"/>
          <p:cNvGrpSpPr/>
          <p:nvPr/>
        </p:nvGrpSpPr>
        <p:grpSpPr>
          <a:xfrm>
            <a:off x="609600" y="1104900"/>
            <a:ext cx="10972800" cy="2476500"/>
            <a:chOff x="609600" y="1104900"/>
            <a:chExt cx="10972800" cy="2476500"/>
          </a:xfrm>
        </p:grpSpPr>
        <p:sp>
          <p:nvSpPr>
            <p:cNvPr id="12" name="Rectangle 12"/>
            <p:cNvSpPr/>
            <p:nvPr/>
          </p:nvSpPr>
          <p:spPr>
            <a:xfrm>
              <a:off x="609600" y="1104900"/>
              <a:ext cx="10972800" cy="381000"/>
            </a:xfrm>
            <a:prstGeom prst="rect">
              <a:avLst/>
            </a:prstGeom>
            <a:solidFill>
              <a:srgbClr val="12355B"/>
            </a:solidFill>
            <a:ln>
              <a:noFill/>
            </a:ln>
          </p:spPr>
        </p:sp>
        <p:sp>
          <p:nvSpPr>
            <p:cNvPr id="13" name="TextBox 13"/>
            <p:cNvSpPr txBox="1"/>
            <p:nvPr/>
          </p:nvSpPr>
          <p:spPr>
            <a:xfrm>
              <a:off x="756285" y="122158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YAKLAŞIM</a:t>
              </a:r>
            </a:p>
          </p:txBody>
        </p:sp>
        <p:sp>
          <p:nvSpPr>
            <p:cNvPr id="14" name="TextBox 14"/>
            <p:cNvSpPr txBox="1"/>
            <p:nvPr/>
          </p:nvSpPr>
          <p:spPr>
            <a:xfrm>
              <a:off x="2851785" y="1221581"/>
              <a:ext cx="985632"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GÜÇLÜ YÖNÜ</a:t>
              </a:r>
            </a:p>
          </p:txBody>
        </p:sp>
        <p:sp>
          <p:nvSpPr>
            <p:cNvPr id="15" name="TextBox 15"/>
            <p:cNvSpPr txBox="1"/>
            <p:nvPr/>
          </p:nvSpPr>
          <p:spPr>
            <a:xfrm>
              <a:off x="5709285" y="1221581"/>
              <a:ext cx="92102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SINIRLILIĞI</a:t>
              </a:r>
            </a:p>
          </p:txBody>
        </p:sp>
        <p:sp>
          <p:nvSpPr>
            <p:cNvPr id="16" name="TextBox 16"/>
            <p:cNvSpPr txBox="1"/>
            <p:nvPr/>
          </p:nvSpPr>
          <p:spPr>
            <a:xfrm>
              <a:off x="8566785" y="1221581"/>
              <a:ext cx="192031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ZAMAN KULLANILIR?</a:t>
              </a:r>
            </a:p>
          </p:txBody>
        </p:sp>
        <p:sp>
          <p:nvSpPr>
            <p:cNvPr id="17" name="Rectangle 17"/>
            <p:cNvSpPr/>
            <p:nvPr/>
          </p:nvSpPr>
          <p:spPr>
            <a:xfrm>
              <a:off x="609600" y="1485900"/>
              <a:ext cx="10972800" cy="523875"/>
            </a:xfrm>
            <a:prstGeom prst="rect">
              <a:avLst/>
            </a:prstGeom>
            <a:solidFill>
              <a:srgbClr val="FFFFFF"/>
            </a:solidFill>
            <a:ln>
              <a:noFill/>
            </a:ln>
          </p:spPr>
        </p:sp>
        <p:sp>
          <p:nvSpPr>
            <p:cNvPr id="18" name="TextBox 18"/>
            <p:cNvSpPr txBox="1"/>
            <p:nvPr/>
          </p:nvSpPr>
          <p:spPr>
            <a:xfrm>
              <a:off x="755523" y="1653064"/>
              <a:ext cx="1411742"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Basit raporlama</a:t>
              </a:r>
            </a:p>
          </p:txBody>
        </p:sp>
        <p:sp>
          <p:nvSpPr>
            <p:cNvPr id="19" name="TextBox 19"/>
            <p:cNvSpPr txBox="1"/>
            <p:nvPr/>
          </p:nvSpPr>
          <p:spPr>
            <a:xfrm>
              <a:off x="2851785" y="1669256"/>
              <a:ext cx="21723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Hızlı toplam/ortalama üretir</a:t>
              </a:r>
            </a:p>
          </p:txBody>
        </p:sp>
        <p:sp>
          <p:nvSpPr>
            <p:cNvPr id="20" name="TextBox 20"/>
            <p:cNvSpPr txBox="1"/>
            <p:nvPr/>
          </p:nvSpPr>
          <p:spPr>
            <a:xfrm>
              <a:off x="5709285" y="1669256"/>
              <a:ext cx="200567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Gizli ilişkiyi açıklamayabilir</a:t>
              </a:r>
            </a:p>
          </p:txBody>
        </p:sp>
        <p:sp>
          <p:nvSpPr>
            <p:cNvPr id="21" name="TextBox 21"/>
            <p:cNvSpPr txBox="1"/>
            <p:nvPr/>
          </p:nvSpPr>
          <p:spPr>
            <a:xfrm>
              <a:off x="8566785" y="1669256"/>
              <a:ext cx="135806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Günlük satış özeti</a:t>
              </a:r>
            </a:p>
          </p:txBody>
        </p:sp>
        <p:sp>
          <p:nvSpPr>
            <p:cNvPr id="22" name="Rectangle 22"/>
            <p:cNvSpPr/>
            <p:nvPr/>
          </p:nvSpPr>
          <p:spPr>
            <a:xfrm>
              <a:off x="609600" y="2009775"/>
              <a:ext cx="10972800" cy="523875"/>
            </a:xfrm>
            <a:prstGeom prst="rect">
              <a:avLst/>
            </a:prstGeom>
            <a:solidFill>
              <a:srgbClr val="EAF4F6"/>
            </a:solidFill>
            <a:ln>
              <a:noFill/>
            </a:ln>
          </p:spPr>
        </p:sp>
        <p:sp>
          <p:nvSpPr>
            <p:cNvPr id="23" name="TextBox 23"/>
            <p:cNvSpPr txBox="1"/>
            <p:nvPr/>
          </p:nvSpPr>
          <p:spPr>
            <a:xfrm>
              <a:off x="755523" y="2176939"/>
              <a:ext cx="137504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Veri madenciliği</a:t>
              </a:r>
            </a:p>
          </p:txBody>
        </p:sp>
        <p:sp>
          <p:nvSpPr>
            <p:cNvPr id="24" name="TextBox 24"/>
            <p:cNvSpPr txBox="1"/>
            <p:nvPr/>
          </p:nvSpPr>
          <p:spPr>
            <a:xfrm>
              <a:off x="2851785" y="2193131"/>
              <a:ext cx="169732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Örüntü ve istisna bulur</a:t>
              </a:r>
            </a:p>
          </p:txBody>
        </p:sp>
        <p:sp>
          <p:nvSpPr>
            <p:cNvPr id="25" name="TextBox 25"/>
            <p:cNvSpPr txBox="1"/>
            <p:nvPr/>
          </p:nvSpPr>
          <p:spPr>
            <a:xfrm>
              <a:off x="5709285" y="2193131"/>
              <a:ext cx="18482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Temiz, anlamlı veri ister</a:t>
              </a:r>
            </a:p>
          </p:txBody>
        </p:sp>
        <p:sp>
          <p:nvSpPr>
            <p:cNvPr id="26" name="TextBox 26"/>
            <p:cNvSpPr txBox="1"/>
            <p:nvPr/>
          </p:nvSpPr>
          <p:spPr>
            <a:xfrm>
              <a:off x="8566785" y="2193131"/>
              <a:ext cx="169709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Talep davranışı analizi</a:t>
              </a:r>
            </a:p>
          </p:txBody>
        </p:sp>
        <p:sp>
          <p:nvSpPr>
            <p:cNvPr id="27" name="Rectangle 27"/>
            <p:cNvSpPr/>
            <p:nvPr/>
          </p:nvSpPr>
          <p:spPr>
            <a:xfrm>
              <a:off x="609600" y="2533650"/>
              <a:ext cx="10972800" cy="523875"/>
            </a:xfrm>
            <a:prstGeom prst="rect">
              <a:avLst/>
            </a:prstGeom>
            <a:solidFill>
              <a:srgbClr val="FFFFFF"/>
            </a:solidFill>
            <a:ln>
              <a:noFill/>
            </a:ln>
          </p:spPr>
        </p:sp>
        <p:sp>
          <p:nvSpPr>
            <p:cNvPr id="28" name="TextBox 28"/>
            <p:cNvSpPr txBox="1"/>
            <p:nvPr/>
          </p:nvSpPr>
          <p:spPr>
            <a:xfrm>
              <a:off x="755523" y="2700814"/>
              <a:ext cx="120413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Uzman görüşü</a:t>
              </a:r>
            </a:p>
          </p:txBody>
        </p:sp>
        <p:sp>
          <p:nvSpPr>
            <p:cNvPr id="29" name="TextBox 29"/>
            <p:cNvSpPr txBox="1"/>
            <p:nvPr/>
          </p:nvSpPr>
          <p:spPr>
            <a:xfrm>
              <a:off x="2851785" y="2717006"/>
              <a:ext cx="14334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Hızlı bağlam sağlar</a:t>
              </a:r>
            </a:p>
          </p:txBody>
        </p:sp>
        <p:sp>
          <p:nvSpPr>
            <p:cNvPr id="30" name="TextBox 30"/>
            <p:cNvSpPr txBox="1"/>
            <p:nvPr/>
          </p:nvSpPr>
          <p:spPr>
            <a:xfrm>
              <a:off x="5709285" y="2717006"/>
              <a:ext cx="95030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Öznel olabilir</a:t>
              </a:r>
            </a:p>
          </p:txBody>
        </p:sp>
        <p:sp>
          <p:nvSpPr>
            <p:cNvPr id="31" name="TextBox 31"/>
            <p:cNvSpPr txBox="1"/>
            <p:nvPr/>
          </p:nvSpPr>
          <p:spPr>
            <a:xfrm>
              <a:off x="8566785" y="2717006"/>
              <a:ext cx="159927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İlk hipotez oluşturma</a:t>
              </a:r>
            </a:p>
          </p:txBody>
        </p:sp>
        <p:sp>
          <p:nvSpPr>
            <p:cNvPr id="32" name="Rectangle 32"/>
            <p:cNvSpPr/>
            <p:nvPr/>
          </p:nvSpPr>
          <p:spPr>
            <a:xfrm>
              <a:off x="609600" y="3057525"/>
              <a:ext cx="10972800" cy="523875"/>
            </a:xfrm>
            <a:prstGeom prst="rect">
              <a:avLst/>
            </a:prstGeom>
            <a:solidFill>
              <a:srgbClr val="EAF4F6"/>
            </a:solidFill>
            <a:ln>
              <a:noFill/>
            </a:ln>
          </p:spPr>
        </p:sp>
        <p:sp>
          <p:nvSpPr>
            <p:cNvPr id="33" name="TextBox 33"/>
            <p:cNvSpPr txBox="1"/>
            <p:nvPr/>
          </p:nvSpPr>
          <p:spPr>
            <a:xfrm>
              <a:off x="755523" y="3224689"/>
              <a:ext cx="151125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Deneysel çalışma</a:t>
              </a:r>
            </a:p>
          </p:txBody>
        </p:sp>
        <p:sp>
          <p:nvSpPr>
            <p:cNvPr id="34" name="TextBox 34"/>
            <p:cNvSpPr txBox="1"/>
            <p:nvPr/>
          </p:nvSpPr>
          <p:spPr>
            <a:xfrm>
              <a:off x="2851785" y="3240881"/>
              <a:ext cx="211931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Nedenselliği daha güçlü sınar</a:t>
              </a:r>
            </a:p>
          </p:txBody>
        </p:sp>
        <p:sp>
          <p:nvSpPr>
            <p:cNvPr id="35" name="TextBox 35"/>
            <p:cNvSpPr txBox="1"/>
            <p:nvPr/>
          </p:nvSpPr>
          <p:spPr>
            <a:xfrm>
              <a:off x="5709285" y="3240881"/>
              <a:ext cx="11989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Maliyetli olabilir</a:t>
              </a:r>
            </a:p>
          </p:txBody>
        </p:sp>
        <p:sp>
          <p:nvSpPr>
            <p:cNvPr id="36" name="TextBox 36"/>
            <p:cNvSpPr txBox="1"/>
            <p:nvPr/>
          </p:nvSpPr>
          <p:spPr>
            <a:xfrm>
              <a:off x="8566785" y="3240881"/>
              <a:ext cx="2096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Yeni kampanya etkisini ölçme</a:t>
              </a:r>
            </a:p>
          </p:txBody>
        </p:sp>
      </p:grpSp>
      <p:grpSp>
        <p:nvGrpSpPr>
          <p:cNvPr id="39" name="fallacy-label"/>
          <p:cNvGrpSpPr/>
          <p:nvPr/>
        </p:nvGrpSpPr>
        <p:grpSpPr>
          <a:xfrm>
            <a:off x="601599" y="3811429"/>
            <a:ext cx="2133541" cy="308039"/>
            <a:chOff x="601599" y="3811429"/>
            <a:chExt cx="2133541" cy="308039"/>
          </a:xfrm>
        </p:grpSpPr>
        <p:sp>
          <p:nvSpPr>
            <p:cNvPr id="38" name="TextBox 38"/>
            <p:cNvSpPr txBox="1"/>
            <p:nvPr/>
          </p:nvSpPr>
          <p:spPr>
            <a:xfrm>
              <a:off x="601599" y="3811429"/>
              <a:ext cx="213354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Sık yapılan hatalar</a:t>
              </a:r>
            </a:p>
          </p:txBody>
        </p:sp>
      </p:grpSp>
      <p:grpSp>
        <p:nvGrpSpPr>
          <p:cNvPr id="44" name="mistake-1"/>
          <p:cNvGrpSpPr/>
          <p:nvPr/>
        </p:nvGrpSpPr>
        <p:grpSpPr>
          <a:xfrm>
            <a:off x="609600" y="4152900"/>
            <a:ext cx="3505200" cy="1676400"/>
            <a:chOff x="609600" y="4152900"/>
            <a:chExt cx="3505200" cy="1676400"/>
          </a:xfrm>
        </p:grpSpPr>
        <p:sp>
          <p:nvSpPr>
            <p:cNvPr id="40" name="Rectangle 40"/>
            <p:cNvSpPr/>
            <p:nvPr/>
          </p:nvSpPr>
          <p:spPr>
            <a:xfrm>
              <a:off x="609600" y="4152900"/>
              <a:ext cx="3505200" cy="1676400"/>
            </a:xfrm>
            <a:prstGeom prst="roundRect">
              <a:avLst>
                <a:gd name="adj" fmla="val 5682"/>
              </a:avLst>
            </a:prstGeom>
            <a:solidFill>
              <a:srgbClr val="FFFFFF"/>
            </a:solidFill>
            <a:ln w="14288">
              <a:solidFill>
                <a:srgbClr val="B8CBD3"/>
              </a:solidFill>
            </a:ln>
          </p:spPr>
        </p:sp>
        <p:sp>
          <p:nvSpPr>
            <p:cNvPr id="41" name="Rectangle 41"/>
            <p:cNvSpPr/>
            <p:nvPr/>
          </p:nvSpPr>
          <p:spPr>
            <a:xfrm>
              <a:off x="609600" y="4152900"/>
              <a:ext cx="57150" cy="1676400"/>
            </a:xfrm>
            <a:prstGeom prst="rect">
              <a:avLst/>
            </a:prstGeom>
            <a:solidFill>
              <a:srgbClr val="00A6A6"/>
            </a:solidFill>
            <a:ln>
              <a:noFill/>
            </a:ln>
          </p:spPr>
        </p:sp>
        <p:sp>
          <p:nvSpPr>
            <p:cNvPr id="42" name="TextBox 42"/>
            <p:cNvSpPr txBox="1"/>
            <p:nvPr/>
          </p:nvSpPr>
          <p:spPr>
            <a:xfrm>
              <a:off x="831342" y="4311968"/>
              <a:ext cx="260574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Tek günü genel kural saymak</a:t>
              </a:r>
            </a:p>
          </p:txBody>
        </p:sp>
        <p:sp>
          <p:nvSpPr>
            <p:cNvPr id="43" name="TextBox 43"/>
            <p:cNvSpPr txBox="1"/>
            <p:nvPr/>
          </p:nvSpPr>
          <p:spPr>
            <a:xfrm>
              <a:off x="832485" y="4641056"/>
              <a:ext cx="1981454"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En yüksek satış günü aykırı</a:t>
              </a:r>
              <a:br/>
              <a:r>
                <a:rPr lang="tr-TR" sz="1120" dirty="0">
                  <a:solidFill>
                    <a:srgbClr val="172B3A"/>
                  </a:solidFill>
                  <a:latin typeface="+mn-lt"/>
                  <a:ea typeface="+mn-ea"/>
                  <a:cs typeface="+mn-cs"/>
                </a:rPr>
                <a:t>olabilir; dağılım ve bağlam</a:t>
              </a:r>
              <a:br/>
              <a:r>
                <a:rPr lang="tr-TR" sz="1120" dirty="0">
                  <a:solidFill>
                    <a:srgbClr val="172B3A"/>
                  </a:solidFill>
                  <a:latin typeface="+mn-lt"/>
                  <a:ea typeface="+mn-ea"/>
                  <a:cs typeface="+mn-cs"/>
                </a:rPr>
                <a:t>birlikte incelenmelidir.</a:t>
              </a:r>
            </a:p>
          </p:txBody>
        </p:sp>
      </p:grpSp>
      <p:grpSp>
        <p:nvGrpSpPr>
          <p:cNvPr id="49" name="mistake-2"/>
          <p:cNvGrpSpPr/>
          <p:nvPr/>
        </p:nvGrpSpPr>
        <p:grpSpPr>
          <a:xfrm>
            <a:off x="4343400" y="4152900"/>
            <a:ext cx="3505200" cy="1676400"/>
            <a:chOff x="4343400" y="4152900"/>
            <a:chExt cx="3505200" cy="1676400"/>
          </a:xfrm>
        </p:grpSpPr>
        <p:sp>
          <p:nvSpPr>
            <p:cNvPr id="45" name="Rectangle 45"/>
            <p:cNvSpPr/>
            <p:nvPr/>
          </p:nvSpPr>
          <p:spPr>
            <a:xfrm>
              <a:off x="4343400" y="4152900"/>
              <a:ext cx="3505200" cy="1676400"/>
            </a:xfrm>
            <a:prstGeom prst="roundRect">
              <a:avLst>
                <a:gd name="adj" fmla="val 5682"/>
              </a:avLst>
            </a:prstGeom>
            <a:solidFill>
              <a:srgbClr val="FFFFFF"/>
            </a:solidFill>
            <a:ln w="14288">
              <a:solidFill>
                <a:srgbClr val="B8CBD3"/>
              </a:solidFill>
            </a:ln>
          </p:spPr>
        </p:sp>
        <p:sp>
          <p:nvSpPr>
            <p:cNvPr id="46" name="Rectangle 46"/>
            <p:cNvSpPr/>
            <p:nvPr/>
          </p:nvSpPr>
          <p:spPr>
            <a:xfrm>
              <a:off x="4343400" y="4152900"/>
              <a:ext cx="57150" cy="1676400"/>
            </a:xfrm>
            <a:prstGeom prst="rect">
              <a:avLst/>
            </a:prstGeom>
            <a:solidFill>
              <a:srgbClr val="00A6A6"/>
            </a:solidFill>
            <a:ln>
              <a:noFill/>
            </a:ln>
          </p:spPr>
        </p:sp>
        <p:sp>
          <p:nvSpPr>
            <p:cNvPr id="47" name="TextBox 47"/>
            <p:cNvSpPr txBox="1"/>
            <p:nvPr/>
          </p:nvSpPr>
          <p:spPr>
            <a:xfrm>
              <a:off x="4565142" y="4311968"/>
              <a:ext cx="259617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Satışı gerçek talep sanmak</a:t>
              </a:r>
            </a:p>
          </p:txBody>
        </p:sp>
        <p:sp>
          <p:nvSpPr>
            <p:cNvPr id="48" name="TextBox 48"/>
            <p:cNvSpPr txBox="1"/>
            <p:nvPr/>
          </p:nvSpPr>
          <p:spPr>
            <a:xfrm>
              <a:off x="4566285" y="4641056"/>
              <a:ext cx="2216150"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Ürün stokta yoksa satış durur;</a:t>
              </a:r>
              <a:br/>
              <a:r>
                <a:rPr lang="tr-TR" sz="1120" dirty="0">
                  <a:solidFill>
                    <a:srgbClr val="172B3A"/>
                  </a:solidFill>
                  <a:latin typeface="+mn-lt"/>
                  <a:ea typeface="+mn-ea"/>
                  <a:cs typeface="+mn-cs"/>
                </a:rPr>
                <a:t>ancak müşterinin talebi devam</a:t>
              </a:r>
              <a:br/>
              <a:r>
                <a:rPr lang="tr-TR" sz="1120" dirty="0">
                  <a:solidFill>
                    <a:srgbClr val="172B3A"/>
                  </a:solidFill>
                  <a:latin typeface="+mn-lt"/>
                  <a:ea typeface="+mn-ea"/>
                  <a:cs typeface="+mn-cs"/>
                </a:rPr>
                <a:t>etmiş olabilir.</a:t>
              </a:r>
            </a:p>
          </p:txBody>
        </p:sp>
      </p:grpSp>
      <p:grpSp>
        <p:nvGrpSpPr>
          <p:cNvPr id="54" name="mistake-3"/>
          <p:cNvGrpSpPr/>
          <p:nvPr/>
        </p:nvGrpSpPr>
        <p:grpSpPr>
          <a:xfrm>
            <a:off x="8077200" y="4152900"/>
            <a:ext cx="3505200" cy="1676400"/>
            <a:chOff x="8077200" y="4152900"/>
            <a:chExt cx="3505200" cy="1676400"/>
          </a:xfrm>
        </p:grpSpPr>
        <p:sp>
          <p:nvSpPr>
            <p:cNvPr id="50" name="Rectangle 50"/>
            <p:cNvSpPr/>
            <p:nvPr/>
          </p:nvSpPr>
          <p:spPr>
            <a:xfrm>
              <a:off x="8077200" y="4152900"/>
              <a:ext cx="3505200" cy="1676400"/>
            </a:xfrm>
            <a:prstGeom prst="roundRect">
              <a:avLst>
                <a:gd name="adj" fmla="val 5682"/>
              </a:avLst>
            </a:prstGeom>
            <a:solidFill>
              <a:srgbClr val="FFFFFF"/>
            </a:solidFill>
            <a:ln w="14288">
              <a:solidFill>
                <a:srgbClr val="B8CBD3"/>
              </a:solidFill>
            </a:ln>
          </p:spPr>
        </p:sp>
        <p:sp>
          <p:nvSpPr>
            <p:cNvPr id="51" name="Rectangle 51"/>
            <p:cNvSpPr/>
            <p:nvPr/>
          </p:nvSpPr>
          <p:spPr>
            <a:xfrm>
              <a:off x="8077200" y="4152900"/>
              <a:ext cx="57150" cy="1676400"/>
            </a:xfrm>
            <a:prstGeom prst="rect">
              <a:avLst/>
            </a:prstGeom>
            <a:solidFill>
              <a:srgbClr val="00A6A6"/>
            </a:solidFill>
            <a:ln>
              <a:noFill/>
            </a:ln>
          </p:spPr>
        </p:sp>
        <p:sp>
          <p:nvSpPr>
            <p:cNvPr id="52" name="TextBox 52"/>
            <p:cNvSpPr txBox="1"/>
            <p:nvPr/>
          </p:nvSpPr>
          <p:spPr>
            <a:xfrm>
              <a:off x="8298942" y="4311968"/>
              <a:ext cx="292010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Kişisel veriyi amaçsız toplamak</a:t>
              </a:r>
            </a:p>
          </p:txBody>
        </p:sp>
        <p:sp>
          <p:nvSpPr>
            <p:cNvPr id="53" name="TextBox 53"/>
            <p:cNvSpPr txBox="1"/>
            <p:nvPr/>
          </p:nvSpPr>
          <p:spPr>
            <a:xfrm>
              <a:off x="8300085" y="4641056"/>
              <a:ext cx="2329942"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Kafe talep analizi için öğrenci</a:t>
              </a:r>
              <a:br/>
              <a:r>
                <a:rPr lang="tr-TR" sz="1120" dirty="0">
                  <a:solidFill>
                    <a:srgbClr val="172B3A"/>
                  </a:solidFill>
                  <a:latin typeface="+mn-lt"/>
                  <a:ea typeface="+mn-ea"/>
                  <a:cs typeface="+mn-cs"/>
                </a:rPr>
                <a:t>adı gerekli değildir; ürün, gün</a:t>
              </a:r>
              <a:br/>
              <a:r>
                <a:rPr lang="tr-TR" sz="1120" dirty="0">
                  <a:solidFill>
                    <a:srgbClr val="172B3A"/>
                  </a:solidFill>
                  <a:latin typeface="+mn-lt"/>
                  <a:ea typeface="+mn-ea"/>
                  <a:cs typeface="+mn-cs"/>
                </a:rPr>
                <a:t>ve satış adedi çoğu zaman yeter.</a:t>
              </a:r>
            </a:p>
          </p:txBody>
        </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745824" cy="668845"/>
            <a:chOff x="609600" y="171450"/>
            <a:chExt cx="674582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605545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KDD süreci: tanım ve beş adım</a:t>
              </a:r>
            </a:p>
          </p:txBody>
        </p:sp>
      </p:grpSp>
      <p:grpSp>
        <p:nvGrpSpPr>
          <p:cNvPr id="13" name="kicker"/>
          <p:cNvGrpSpPr/>
          <p:nvPr/>
        </p:nvGrpSpPr>
        <p:grpSpPr>
          <a:xfrm>
            <a:off x="604266" y="1048702"/>
            <a:ext cx="3296625" cy="205359"/>
            <a:chOff x="604266" y="1048702"/>
            <a:chExt cx="3296625" cy="205359"/>
          </a:xfrm>
        </p:grpSpPr>
        <p:sp>
          <p:nvSpPr>
            <p:cNvPr id="12" name="TextBox 12"/>
            <p:cNvSpPr txBox="1"/>
            <p:nvPr/>
          </p:nvSpPr>
          <p:spPr>
            <a:xfrm>
              <a:off x="604266" y="1048702"/>
              <a:ext cx="3296625"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KAVRAM 2 / 4 · BİLGİ KEŞFİ SÜRECİ</a:t>
              </a:r>
            </a:p>
          </p:txBody>
        </p:sp>
      </p:grpSp>
      <p:grpSp>
        <p:nvGrpSpPr>
          <p:cNvPr id="15" name="kdd-def"/>
          <p:cNvGrpSpPr/>
          <p:nvPr/>
        </p:nvGrpSpPr>
        <p:grpSpPr>
          <a:xfrm>
            <a:off x="601599" y="1392079"/>
            <a:ext cx="10209530" cy="593788"/>
            <a:chOff x="601599" y="1392079"/>
            <a:chExt cx="10209530" cy="593788"/>
          </a:xfrm>
        </p:grpSpPr>
        <p:sp>
          <p:nvSpPr>
            <p:cNvPr id="14" name="TextBox 14"/>
            <p:cNvSpPr txBox="1"/>
            <p:nvPr/>
          </p:nvSpPr>
          <p:spPr>
            <a:xfrm>
              <a:off x="601599" y="1392079"/>
              <a:ext cx="10209530"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KDD ("Knowledge Discovery in Databases"), veri seçimi, temizleme, dönüştürme, veri madenciliği ve</a:t>
              </a:r>
              <a:br/>
              <a:r>
                <a:rPr lang="tr-TR" sz="1580" dirty="0">
                  <a:solidFill>
                    <a:srgbClr val="172B3A"/>
                  </a:solidFill>
                  <a:latin typeface="+mn-lt"/>
                  <a:ea typeface="+mn-ea"/>
                  <a:cs typeface="+mn-cs"/>
                </a:rPr>
                <a:t>sonuç yorumlamasını kapsayan geniş bir süreçtir; veri madenciliği bu sürecin örüntü bulma aşamasıdır.</a:t>
              </a:r>
            </a:p>
          </p:txBody>
        </p:sp>
      </p:grpSp>
      <p:grpSp>
        <p:nvGrpSpPr>
          <p:cNvPr id="40" name="kdd-pipeline"/>
          <p:cNvGrpSpPr/>
          <p:nvPr/>
        </p:nvGrpSpPr>
        <p:grpSpPr>
          <a:xfrm>
            <a:off x="704850" y="2457450"/>
            <a:ext cx="10953750" cy="952500"/>
            <a:chOff x="704850" y="2457450"/>
            <a:chExt cx="10953750" cy="952500"/>
          </a:xfrm>
        </p:grpSpPr>
        <p:sp>
          <p:nvSpPr>
            <p:cNvPr id="16" name="Line 16"/>
            <p:cNvSpPr/>
            <p:nvPr/>
          </p:nvSpPr>
          <p:spPr>
            <a:xfrm>
              <a:off x="2895600" y="2933700"/>
              <a:ext cx="247650" cy="1"/>
            </a:xfrm>
            <a:prstGeom prst="line">
              <a:avLst/>
            </a:prstGeom>
            <a:noFill/>
            <a:ln w="19050">
              <a:solidFill>
                <a:srgbClr val="2E86AB"/>
              </a:solidFill>
              <a:tailEnd type="arrow" w="lg" len="lg"/>
            </a:ln>
          </p:spPr>
        </p:sp>
        <p:sp>
          <p:nvSpPr>
            <p:cNvPr id="17" name="Line 17"/>
            <p:cNvSpPr/>
            <p:nvPr/>
          </p:nvSpPr>
          <p:spPr>
            <a:xfrm>
              <a:off x="5086350" y="2933700"/>
              <a:ext cx="247650" cy="1"/>
            </a:xfrm>
            <a:prstGeom prst="line">
              <a:avLst/>
            </a:prstGeom>
            <a:noFill/>
            <a:ln w="19050">
              <a:solidFill>
                <a:srgbClr val="2E86AB"/>
              </a:solidFill>
              <a:tailEnd type="arrow" w="lg" len="lg"/>
            </a:ln>
          </p:spPr>
        </p:sp>
        <p:sp>
          <p:nvSpPr>
            <p:cNvPr id="18" name="Line 18"/>
            <p:cNvSpPr/>
            <p:nvPr/>
          </p:nvSpPr>
          <p:spPr>
            <a:xfrm>
              <a:off x="7277100" y="2933700"/>
              <a:ext cx="247650" cy="1"/>
            </a:xfrm>
            <a:prstGeom prst="line">
              <a:avLst/>
            </a:prstGeom>
            <a:noFill/>
            <a:ln w="19050">
              <a:solidFill>
                <a:srgbClr val="2E86AB"/>
              </a:solidFill>
              <a:tailEnd type="arrow" w="lg" len="lg"/>
            </a:ln>
          </p:spPr>
        </p:sp>
        <p:sp>
          <p:nvSpPr>
            <p:cNvPr id="19" name="Line 19"/>
            <p:cNvSpPr/>
            <p:nvPr/>
          </p:nvSpPr>
          <p:spPr>
            <a:xfrm>
              <a:off x="9467850" y="2933700"/>
              <a:ext cx="247650" cy="1"/>
            </a:xfrm>
            <a:prstGeom prst="line">
              <a:avLst/>
            </a:prstGeom>
            <a:noFill/>
            <a:ln w="19050">
              <a:solidFill>
                <a:srgbClr val="2E86AB"/>
              </a:solidFill>
              <a:tailEnd type="arrow" w="lg" len="lg"/>
            </a:ln>
          </p:spPr>
        </p:sp>
        <p:grpSp>
          <p:nvGrpSpPr>
            <p:cNvPr id="23" name="pipe-select"/>
            <p:cNvGrpSpPr/>
            <p:nvPr/>
          </p:nvGrpSpPr>
          <p:grpSpPr>
            <a:xfrm>
              <a:off x="704850" y="2457450"/>
              <a:ext cx="2190750" cy="952500"/>
              <a:chOff x="704850" y="2457450"/>
              <a:chExt cx="2190750" cy="952500"/>
            </a:xfrm>
          </p:grpSpPr>
          <p:sp>
            <p:nvSpPr>
              <p:cNvPr id="20" name="Rectangle 20"/>
              <p:cNvSpPr/>
              <p:nvPr/>
            </p:nvSpPr>
            <p:spPr>
              <a:xfrm>
                <a:off x="704850" y="2457450"/>
                <a:ext cx="2190750" cy="952500"/>
              </a:xfrm>
              <a:prstGeom prst="roundRect">
                <a:avLst>
                  <a:gd name="adj" fmla="val 10000"/>
                </a:avLst>
              </a:prstGeom>
              <a:solidFill>
                <a:srgbClr val="FFFFFF"/>
              </a:solidFill>
              <a:ln w="14288">
                <a:solidFill>
                  <a:srgbClr val="2E86AB"/>
                </a:solidFill>
              </a:ln>
            </p:spPr>
          </p:sp>
          <p:sp>
            <p:nvSpPr>
              <p:cNvPr id="21" name="TextBox 21"/>
              <p:cNvSpPr txBox="1"/>
              <p:nvPr/>
            </p:nvSpPr>
            <p:spPr>
              <a:xfrm>
                <a:off x="887730" y="2657475"/>
                <a:ext cx="64779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Seçme</a:t>
                </a:r>
              </a:p>
            </p:txBody>
          </p:sp>
          <p:sp>
            <p:nvSpPr>
              <p:cNvPr id="22" name="TextBox 22"/>
              <p:cNvSpPr txBox="1"/>
              <p:nvPr/>
            </p:nvSpPr>
            <p:spPr>
              <a:xfrm>
                <a:off x="890016" y="2953702"/>
                <a:ext cx="1157478"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52616B"/>
                    </a:solidFill>
                    <a:latin typeface="+mn-lt"/>
                    <a:ea typeface="+mn-ea"/>
                    <a:cs typeface="+mn-cs"/>
                  </a:rPr>
                  <a:t>İlgili kayıt ve</a:t>
                </a:r>
                <a:br/>
                <a:r>
                  <a:rPr lang="tr-TR" sz="1050" dirty="0">
                    <a:solidFill>
                      <a:srgbClr val="52616B"/>
                    </a:solidFill>
                    <a:latin typeface="+mn-lt"/>
                    <a:ea typeface="+mn-ea"/>
                    <a:cs typeface="+mn-cs"/>
                  </a:rPr>
                  <a:t>alanları belirleme</a:t>
                </a:r>
              </a:p>
            </p:txBody>
          </p:sp>
        </p:grpSp>
        <p:grpSp>
          <p:nvGrpSpPr>
            <p:cNvPr id="27" name="pipe-clean"/>
            <p:cNvGrpSpPr/>
            <p:nvPr/>
          </p:nvGrpSpPr>
          <p:grpSpPr>
            <a:xfrm>
              <a:off x="2895600" y="2457450"/>
              <a:ext cx="2190750" cy="952500"/>
              <a:chOff x="2895600" y="2457450"/>
              <a:chExt cx="2190750" cy="952500"/>
            </a:xfrm>
          </p:grpSpPr>
          <p:sp>
            <p:nvSpPr>
              <p:cNvPr id="24" name="Rectangle 24"/>
              <p:cNvSpPr/>
              <p:nvPr/>
            </p:nvSpPr>
            <p:spPr>
              <a:xfrm>
                <a:off x="2895600" y="2457450"/>
                <a:ext cx="2190750" cy="952500"/>
              </a:xfrm>
              <a:prstGeom prst="roundRect">
                <a:avLst>
                  <a:gd name="adj" fmla="val 10000"/>
                </a:avLst>
              </a:prstGeom>
              <a:solidFill>
                <a:srgbClr val="FFFFFF"/>
              </a:solidFill>
              <a:ln w="14288">
                <a:solidFill>
                  <a:srgbClr val="2E86AB"/>
                </a:solidFill>
              </a:ln>
            </p:spPr>
          </p:sp>
          <p:sp>
            <p:nvSpPr>
              <p:cNvPr id="25" name="TextBox 25"/>
              <p:cNvSpPr txBox="1"/>
              <p:nvPr/>
            </p:nvSpPr>
            <p:spPr>
              <a:xfrm>
                <a:off x="3078480" y="2657475"/>
                <a:ext cx="105003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Temizleme</a:t>
                </a:r>
              </a:p>
            </p:txBody>
          </p:sp>
          <p:sp>
            <p:nvSpPr>
              <p:cNvPr id="26" name="TextBox 26"/>
              <p:cNvSpPr txBox="1"/>
              <p:nvPr/>
            </p:nvSpPr>
            <p:spPr>
              <a:xfrm>
                <a:off x="3080766" y="2953702"/>
                <a:ext cx="1257490"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52616B"/>
                    </a:solidFill>
                    <a:latin typeface="+mn-lt"/>
                    <a:ea typeface="+mn-ea"/>
                    <a:cs typeface="+mn-cs"/>
                  </a:rPr>
                  <a:t>Yazım farkı, eksik</a:t>
                </a:r>
                <a:br/>
                <a:r>
                  <a:rPr lang="tr-TR" sz="1050" dirty="0">
                    <a:solidFill>
                      <a:srgbClr val="52616B"/>
                    </a:solidFill>
                    <a:latin typeface="+mn-lt"/>
                    <a:ea typeface="+mn-ea"/>
                    <a:cs typeface="+mn-cs"/>
                  </a:rPr>
                  <a:t>değer düzeltme</a:t>
                </a:r>
              </a:p>
            </p:txBody>
          </p:sp>
        </p:grpSp>
        <p:grpSp>
          <p:nvGrpSpPr>
            <p:cNvPr id="31" name="pipe-transform"/>
            <p:cNvGrpSpPr/>
            <p:nvPr/>
          </p:nvGrpSpPr>
          <p:grpSpPr>
            <a:xfrm>
              <a:off x="5086350" y="2457450"/>
              <a:ext cx="2190750" cy="952500"/>
              <a:chOff x="5086350" y="2457450"/>
              <a:chExt cx="2190750" cy="952500"/>
            </a:xfrm>
          </p:grpSpPr>
          <p:sp>
            <p:nvSpPr>
              <p:cNvPr id="28" name="Rectangle 28"/>
              <p:cNvSpPr/>
              <p:nvPr/>
            </p:nvSpPr>
            <p:spPr>
              <a:xfrm>
                <a:off x="5086350" y="2457450"/>
                <a:ext cx="2190750" cy="952500"/>
              </a:xfrm>
              <a:prstGeom prst="roundRect">
                <a:avLst>
                  <a:gd name="adj" fmla="val 10000"/>
                </a:avLst>
              </a:prstGeom>
              <a:solidFill>
                <a:srgbClr val="FFFFFF"/>
              </a:solidFill>
              <a:ln w="14288">
                <a:solidFill>
                  <a:srgbClr val="2E86AB"/>
                </a:solidFill>
              </a:ln>
            </p:spPr>
          </p:sp>
          <p:sp>
            <p:nvSpPr>
              <p:cNvPr id="29" name="TextBox 29"/>
              <p:cNvSpPr txBox="1"/>
              <p:nvPr/>
            </p:nvSpPr>
            <p:spPr>
              <a:xfrm>
                <a:off x="5269230" y="2657475"/>
                <a:ext cx="123063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Dönüştürme</a:t>
                </a:r>
              </a:p>
            </p:txBody>
          </p:sp>
          <p:sp>
            <p:nvSpPr>
              <p:cNvPr id="30" name="TextBox 30"/>
              <p:cNvSpPr txBox="1"/>
              <p:nvPr/>
            </p:nvSpPr>
            <p:spPr>
              <a:xfrm>
                <a:off x="5271516" y="2953702"/>
                <a:ext cx="115081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52616B"/>
                    </a:solidFill>
                    <a:latin typeface="+mn-lt"/>
                    <a:ea typeface="+mn-ea"/>
                    <a:cs typeface="+mn-cs"/>
                  </a:rPr>
                  <a:t>Tür ve biçim</a:t>
                </a:r>
                <a:br/>
                <a:r>
                  <a:rPr lang="tr-TR" sz="1050" dirty="0">
                    <a:solidFill>
                      <a:srgbClr val="52616B"/>
                    </a:solidFill>
                    <a:latin typeface="+mn-lt"/>
                    <a:ea typeface="+mn-ea"/>
                    <a:cs typeface="+mn-cs"/>
                  </a:rPr>
                  <a:t>standardizasyonu</a:t>
                </a:r>
              </a:p>
            </p:txBody>
          </p:sp>
        </p:grpSp>
        <p:grpSp>
          <p:nvGrpSpPr>
            <p:cNvPr id="35" name="pipe-mining"/>
            <p:cNvGrpSpPr/>
            <p:nvPr/>
          </p:nvGrpSpPr>
          <p:grpSpPr>
            <a:xfrm>
              <a:off x="7277100" y="2457450"/>
              <a:ext cx="2190750" cy="952500"/>
              <a:chOff x="7277100" y="2457450"/>
              <a:chExt cx="2190750" cy="952500"/>
            </a:xfrm>
          </p:grpSpPr>
          <p:sp>
            <p:nvSpPr>
              <p:cNvPr id="32" name="Rectangle 32"/>
              <p:cNvSpPr/>
              <p:nvPr/>
            </p:nvSpPr>
            <p:spPr>
              <a:xfrm>
                <a:off x="7277100" y="2457450"/>
                <a:ext cx="2190750" cy="952500"/>
              </a:xfrm>
              <a:prstGeom prst="roundRect">
                <a:avLst>
                  <a:gd name="adj" fmla="val 10000"/>
                </a:avLst>
              </a:prstGeom>
              <a:solidFill>
                <a:srgbClr val="12355B"/>
              </a:solidFill>
              <a:ln>
                <a:noFill/>
              </a:ln>
            </p:spPr>
          </p:sp>
          <p:sp>
            <p:nvSpPr>
              <p:cNvPr id="33" name="TextBox 33"/>
              <p:cNvSpPr txBox="1"/>
              <p:nvPr/>
            </p:nvSpPr>
            <p:spPr>
              <a:xfrm>
                <a:off x="7459980" y="2657475"/>
                <a:ext cx="1611440" cy="293370"/>
              </a:xfrm>
              <a:prstGeom prst="rect">
                <a:avLst/>
              </a:prstGeom>
              <a:noFill/>
              <a:ln>
                <a:noFill/>
              </a:ln>
            </p:spPr>
            <p:txBody>
              <a:bodyPr wrap="none" lIns="0" tIns="0" rIns="0" bIns="0" anchor="t" anchorCtr="0">
                <a:spAutoFit/>
              </a:bodyPr>
              <a:lstStyle/>
              <a:p>
                <a:pPr algn="l"/>
                <a:r>
                  <a:rPr lang="tr-TR" sz="1500" b="1" dirty="0">
                    <a:solidFill>
                      <a:srgbClr val="FFFFFF"/>
                    </a:solidFill>
                    <a:latin typeface="+mn-lt"/>
                    <a:ea typeface="+mn-ea"/>
                    <a:cs typeface="+mn-cs"/>
                  </a:rPr>
                  <a:t>Veri madenciliği</a:t>
                </a:r>
              </a:p>
            </p:txBody>
          </p:sp>
          <p:sp>
            <p:nvSpPr>
              <p:cNvPr id="34" name="TextBox 34"/>
              <p:cNvSpPr txBox="1"/>
              <p:nvPr/>
            </p:nvSpPr>
            <p:spPr>
              <a:xfrm>
                <a:off x="7462266" y="2953702"/>
                <a:ext cx="1077468"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EAF4F6"/>
                    </a:solidFill>
                    <a:latin typeface="+mn-lt"/>
                    <a:ea typeface="+mn-ea"/>
                    <a:cs typeface="+mn-cs"/>
                  </a:rPr>
                  <a:t>Örüntü ve ilişki</a:t>
                </a:r>
                <a:br/>
                <a:r>
                  <a:rPr lang="tr-TR" sz="1050" dirty="0">
                    <a:solidFill>
                      <a:srgbClr val="EAF4F6"/>
                    </a:solidFill>
                    <a:latin typeface="+mn-lt"/>
                    <a:ea typeface="+mn-ea"/>
                    <a:cs typeface="+mn-cs"/>
                  </a:rPr>
                  <a:t>keşfi (bu bölüm)</a:t>
                </a:r>
              </a:p>
            </p:txBody>
          </p:sp>
        </p:grpSp>
        <p:grpSp>
          <p:nvGrpSpPr>
            <p:cNvPr id="39" name="pipe-interpret"/>
            <p:cNvGrpSpPr/>
            <p:nvPr/>
          </p:nvGrpSpPr>
          <p:grpSpPr>
            <a:xfrm>
              <a:off x="9467850" y="2457450"/>
              <a:ext cx="2190750" cy="952500"/>
              <a:chOff x="9467850" y="2457450"/>
              <a:chExt cx="2190750" cy="952500"/>
            </a:xfrm>
          </p:grpSpPr>
          <p:sp>
            <p:nvSpPr>
              <p:cNvPr id="36" name="Rectangle 36"/>
              <p:cNvSpPr/>
              <p:nvPr/>
            </p:nvSpPr>
            <p:spPr>
              <a:xfrm>
                <a:off x="9467850" y="2457450"/>
                <a:ext cx="2190750" cy="952500"/>
              </a:xfrm>
              <a:prstGeom prst="roundRect">
                <a:avLst>
                  <a:gd name="adj" fmla="val 10000"/>
                </a:avLst>
              </a:prstGeom>
              <a:solidFill>
                <a:srgbClr val="FFFFFF"/>
              </a:solidFill>
              <a:ln w="14288">
                <a:solidFill>
                  <a:srgbClr val="2E86AB"/>
                </a:solidFill>
              </a:ln>
            </p:spPr>
          </p:sp>
          <p:sp>
            <p:nvSpPr>
              <p:cNvPr id="37" name="TextBox 37"/>
              <p:cNvSpPr txBox="1"/>
              <p:nvPr/>
            </p:nvSpPr>
            <p:spPr>
              <a:xfrm>
                <a:off x="9650730" y="2657475"/>
                <a:ext cx="110337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Yorumlama</a:t>
                </a:r>
              </a:p>
            </p:txBody>
          </p:sp>
          <p:sp>
            <p:nvSpPr>
              <p:cNvPr id="38" name="TextBox 38"/>
              <p:cNvSpPr txBox="1"/>
              <p:nvPr/>
            </p:nvSpPr>
            <p:spPr>
              <a:xfrm>
                <a:off x="9653016" y="2953702"/>
                <a:ext cx="127082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52616B"/>
                    </a:solidFill>
                    <a:latin typeface="+mn-lt"/>
                    <a:ea typeface="+mn-ea"/>
                    <a:cs typeface="+mn-cs"/>
                  </a:rPr>
                  <a:t>Bulguyu iş kararına</a:t>
                </a:r>
                <a:br/>
                <a:r>
                  <a:rPr lang="tr-TR" sz="1050" dirty="0">
                    <a:solidFill>
                      <a:srgbClr val="52616B"/>
                    </a:solidFill>
                    <a:latin typeface="+mn-lt"/>
                    <a:ea typeface="+mn-ea"/>
                    <a:cs typeface="+mn-cs"/>
                  </a:rPr>
                  <a:t>bağlama</a:t>
                </a:r>
              </a:p>
            </p:txBody>
          </p:sp>
        </p:grpSp>
      </p:grpSp>
      <p:grpSp>
        <p:nvGrpSpPr>
          <p:cNvPr id="44" name="why-card"/>
          <p:cNvGrpSpPr/>
          <p:nvPr/>
        </p:nvGrpSpPr>
        <p:grpSpPr>
          <a:xfrm>
            <a:off x="609600" y="3810000"/>
            <a:ext cx="5295900" cy="2095500"/>
            <a:chOff x="609600" y="3810000"/>
            <a:chExt cx="5295900" cy="2095500"/>
          </a:xfrm>
        </p:grpSpPr>
        <p:sp>
          <p:nvSpPr>
            <p:cNvPr id="41" name="Rectangle 41"/>
            <p:cNvSpPr/>
            <p:nvPr/>
          </p:nvSpPr>
          <p:spPr>
            <a:xfrm>
              <a:off x="609600" y="3810000"/>
              <a:ext cx="5295900" cy="2095500"/>
            </a:xfrm>
            <a:prstGeom prst="roundRect">
              <a:avLst>
                <a:gd name="adj" fmla="val 4545"/>
              </a:avLst>
            </a:prstGeom>
            <a:solidFill>
              <a:srgbClr val="FFFFFF"/>
            </a:solidFill>
            <a:ln w="14288">
              <a:solidFill>
                <a:srgbClr val="B8CBD3"/>
              </a:solidFill>
            </a:ln>
          </p:spPr>
        </p:sp>
        <p:sp>
          <p:nvSpPr>
            <p:cNvPr id="42" name="TextBox 42"/>
            <p:cNvSpPr txBox="1"/>
            <p:nvPr/>
          </p:nvSpPr>
          <p:spPr>
            <a:xfrm>
              <a:off x="829818" y="3974782"/>
              <a:ext cx="163432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Neden vardır?</a:t>
              </a:r>
            </a:p>
          </p:txBody>
        </p:sp>
        <p:sp>
          <p:nvSpPr>
            <p:cNvPr id="43" name="TextBox 43"/>
            <p:cNvSpPr txBox="1"/>
            <p:nvPr/>
          </p:nvSpPr>
          <p:spPr>
            <a:xfrm>
              <a:off x="831723" y="4339114"/>
              <a:ext cx="3621786" cy="1163764"/>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Ham veri sıkça eksik, tekrar eden veya</a:t>
              </a:r>
              <a:br/>
              <a:r>
                <a:rPr lang="tr-TR" sz="1280" dirty="0">
                  <a:solidFill>
                    <a:srgbClr val="172B3A"/>
                  </a:solidFill>
                  <a:latin typeface="+mn-lt"/>
                  <a:ea typeface="+mn-ea"/>
                  <a:cs typeface="+mn-cs"/>
                </a:rPr>
                <a:t>farklı yazılmış değerler içerir — ör. "Kahve"</a:t>
              </a:r>
              <a:br/>
              <a:r>
                <a:rPr lang="tr-TR" sz="1280" dirty="0">
                  <a:solidFill>
                    <a:srgbClr val="172B3A"/>
                  </a:solidFill>
                  <a:latin typeface="+mn-lt"/>
                  <a:ea typeface="+mn-ea"/>
                  <a:cs typeface="+mn-cs"/>
                </a:rPr>
                <a:t>bazen "kahve" olarak geçer. Bu farklılık</a:t>
              </a:r>
              <a:br/>
              <a:r>
                <a:rPr lang="tr-TR" sz="1280" dirty="0">
                  <a:solidFill>
                    <a:srgbClr val="172B3A"/>
                  </a:solidFill>
                  <a:latin typeface="+mn-lt"/>
                  <a:ea typeface="+mn-ea"/>
                  <a:cs typeface="+mn-cs"/>
                </a:rPr>
                <a:t>düzeltilmeden yapılan grup analizi</a:t>
              </a:r>
              <a:br/>
              <a:r>
                <a:rPr lang="tr-TR" sz="1280" dirty="0">
                  <a:solidFill>
                    <a:srgbClr val="172B3A"/>
                  </a:solidFill>
                  <a:latin typeface="+mn-lt"/>
                  <a:ea typeface="+mn-ea"/>
                  <a:cs typeface="+mn-cs"/>
                </a:rPr>
                <a:t>yanıltıcı sonuç verir.</a:t>
              </a:r>
            </a:p>
          </p:txBody>
        </p:sp>
      </p:grpSp>
      <p:grpSp>
        <p:nvGrpSpPr>
          <p:cNvPr id="48" name="kitchen-card"/>
          <p:cNvGrpSpPr/>
          <p:nvPr/>
        </p:nvGrpSpPr>
        <p:grpSpPr>
          <a:xfrm>
            <a:off x="6286500" y="3810000"/>
            <a:ext cx="5295900" cy="2095500"/>
            <a:chOff x="6286500" y="3810000"/>
            <a:chExt cx="5295900" cy="2095500"/>
          </a:xfrm>
        </p:grpSpPr>
        <p:sp>
          <p:nvSpPr>
            <p:cNvPr id="45" name="Rectangle 45"/>
            <p:cNvSpPr/>
            <p:nvPr/>
          </p:nvSpPr>
          <p:spPr>
            <a:xfrm>
              <a:off x="6286500" y="3810000"/>
              <a:ext cx="5295900" cy="2095500"/>
            </a:xfrm>
            <a:prstGeom prst="roundRect">
              <a:avLst>
                <a:gd name="adj" fmla="val 4545"/>
              </a:avLst>
            </a:prstGeom>
            <a:solidFill>
              <a:srgbClr val="EAF4F6"/>
            </a:solidFill>
            <a:ln w="14288">
              <a:solidFill>
                <a:srgbClr val="00A6A6"/>
              </a:solidFill>
            </a:ln>
          </p:spPr>
        </p:sp>
        <p:sp>
          <p:nvSpPr>
            <p:cNvPr id="46" name="TextBox 46"/>
            <p:cNvSpPr txBox="1"/>
            <p:nvPr/>
          </p:nvSpPr>
          <p:spPr>
            <a:xfrm>
              <a:off x="6506718" y="3974782"/>
              <a:ext cx="4339644"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Benzetme: mutfakta yemek hazırlama</a:t>
              </a:r>
            </a:p>
          </p:txBody>
        </p:sp>
        <p:sp>
          <p:nvSpPr>
            <p:cNvPr id="47" name="TextBox 47"/>
            <p:cNvSpPr txBox="1"/>
            <p:nvPr/>
          </p:nvSpPr>
          <p:spPr>
            <a:xfrm>
              <a:off x="6508623" y="4339114"/>
              <a:ext cx="3605530"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Malzeme seçmek, ayıklamak ve doğramak veri</a:t>
              </a:r>
              <a:br/>
              <a:r>
                <a:rPr lang="tr-TR" sz="1280" dirty="0">
                  <a:solidFill>
                    <a:srgbClr val="172B3A"/>
                  </a:solidFill>
                  <a:latin typeface="+mn-lt"/>
                  <a:ea typeface="+mn-ea"/>
                  <a:cs typeface="+mn-cs"/>
                </a:rPr>
                <a:t>hazırlamaya; pişirme veri madenciliğine;</a:t>
              </a:r>
              <a:br/>
              <a:r>
                <a:rPr lang="tr-TR" sz="1280" dirty="0">
                  <a:solidFill>
                    <a:srgbClr val="172B3A"/>
                  </a:solidFill>
                  <a:latin typeface="+mn-lt"/>
                  <a:ea typeface="+mn-ea"/>
                  <a:cs typeface="+mn-cs"/>
                </a:rPr>
                <a:t>yemeği tadıp değerlendirmek ise sonuç</a:t>
              </a:r>
              <a:br/>
              <a:r>
                <a:rPr lang="tr-TR" sz="1280" dirty="0">
                  <a:solidFill>
                    <a:srgbClr val="172B3A"/>
                  </a:solidFill>
                  <a:latin typeface="+mn-lt"/>
                  <a:ea typeface="+mn-ea"/>
                  <a:cs typeface="+mn-cs"/>
                </a:rPr>
                <a:t>yorumlamaya karşılık gelir.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41501" cy="557403"/>
            <a:chOff x="595122" y="282892"/>
            <a:chExt cx="7441501" cy="557403"/>
          </a:xfrm>
        </p:grpSpPr>
        <p:sp>
          <p:nvSpPr>
            <p:cNvPr id="4" name="TextBox 4"/>
            <p:cNvSpPr txBox="1"/>
            <p:nvPr/>
          </p:nvSpPr>
          <p:spPr>
            <a:xfrm>
              <a:off x="595122" y="282892"/>
              <a:ext cx="744150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KDD süreci: uygulama ve tercih koşulu</a:t>
              </a:r>
            </a:p>
          </p:txBody>
        </p:sp>
      </p:grpSp>
      <p:grpSp>
        <p:nvGrpSpPr>
          <p:cNvPr id="14" name="code-card"/>
          <p:cNvGrpSpPr/>
          <p:nvPr/>
        </p:nvGrpSpPr>
        <p:grpSpPr>
          <a:xfrm>
            <a:off x="609600" y="1104900"/>
            <a:ext cx="5334000" cy="4762500"/>
            <a:chOff x="609600" y="1104900"/>
            <a:chExt cx="5334000" cy="4762500"/>
          </a:xfrm>
        </p:grpSpPr>
        <p:sp>
          <p:nvSpPr>
            <p:cNvPr id="6" name="Rectangle 6"/>
            <p:cNvSpPr/>
            <p:nvPr/>
          </p:nvSpPr>
          <p:spPr>
            <a:xfrm>
              <a:off x="609600" y="1104900"/>
              <a:ext cx="5334000" cy="4762500"/>
            </a:xfrm>
            <a:prstGeom prst="roundRect">
              <a:avLst>
                <a:gd name="adj" fmla="val 2000"/>
              </a:avLst>
            </a:prstGeom>
            <a:solidFill>
              <a:srgbClr val="12355B"/>
            </a:solidFill>
            <a:ln>
              <a:noFill/>
            </a:ln>
          </p:spPr>
        </p:sp>
        <p:sp>
          <p:nvSpPr>
            <p:cNvPr id="7" name="Ellipse 7"/>
            <p:cNvSpPr/>
            <p:nvPr/>
          </p:nvSpPr>
          <p:spPr>
            <a:xfrm>
              <a:off x="781050" y="1276350"/>
              <a:ext cx="114300" cy="114300"/>
            </a:xfrm>
            <a:prstGeom prst="ellipse">
              <a:avLst/>
            </a:prstGeom>
            <a:solidFill>
              <a:srgbClr val="00A6A6"/>
            </a:solidFill>
            <a:ln>
              <a:noFill/>
            </a:ln>
          </p:spPr>
        </p:sp>
        <p:sp>
          <p:nvSpPr>
            <p:cNvPr id="8" name="Ellipse 8"/>
            <p:cNvSpPr/>
            <p:nvPr/>
          </p:nvSpPr>
          <p:spPr>
            <a:xfrm>
              <a:off x="971550" y="1276350"/>
              <a:ext cx="114300" cy="114300"/>
            </a:xfrm>
            <a:prstGeom prst="ellipse">
              <a:avLst/>
            </a:prstGeom>
            <a:solidFill>
              <a:srgbClr val="2E86AB"/>
            </a:solidFill>
            <a:ln>
              <a:noFill/>
            </a:ln>
          </p:spPr>
        </p:sp>
        <p:sp>
          <p:nvSpPr>
            <p:cNvPr id="9" name="Ellipse 9"/>
            <p:cNvSpPr/>
            <p:nvPr/>
          </p:nvSpPr>
          <p:spPr>
            <a:xfrm>
              <a:off x="1162050" y="1276350"/>
              <a:ext cx="114300" cy="114300"/>
            </a:xfrm>
            <a:prstGeom prst="ellipse">
              <a:avLst/>
            </a:prstGeom>
            <a:solidFill>
              <a:srgbClr val="EAF4F6"/>
            </a:solidFill>
            <a:ln>
              <a:noFill/>
            </a:ln>
          </p:spPr>
        </p:sp>
        <p:sp>
          <p:nvSpPr>
            <p:cNvPr id="10" name="TextBox 10"/>
            <p:cNvSpPr txBox="1"/>
            <p:nvPr/>
          </p:nvSpPr>
          <p:spPr>
            <a:xfrm>
              <a:off x="832485" y="1554956"/>
              <a:ext cx="2280158" cy="1058228"/>
            </a:xfrm>
            <a:prstGeom prst="rect">
              <a:avLst/>
            </a:prstGeom>
            <a:noFill/>
            <a:ln>
              <a:noFill/>
            </a:ln>
          </p:spPr>
          <p:txBody>
            <a:bodyPr wrap="none" lIns="0" tIns="0" rIns="0" bIns="0" anchor="t" anchorCtr="0">
              <a:spAutoFit/>
            </a:bodyPr>
            <a:lstStyle/>
            <a:p>
              <a:pPr algn="l">
                <a:lnSpc>
                  <a:spcPts val="1650"/>
                </a:lnSpc>
              </a:pPr>
              <a:r>
                <a:rPr lang="tr-TR" sz="1120" dirty="0">
                  <a:solidFill>
                    <a:srgbClr val="EAF4F6"/>
                  </a:solidFill>
                  <a:latin typeface="Consolas"/>
                  <a:ea typeface="Consolas"/>
                  <a:cs typeface="Consolas"/>
                </a:rPr>
                <a:t>hamVeri = pd.DataFrame({</a:t>
              </a:r>
              <a:br/>
              <a:r>
                <a:rPr lang="tr-TR" sz="1120" dirty="0">
                  <a:solidFill>
                    <a:srgbClr val="EAF4F6"/>
                  </a:solidFill>
                  <a:latin typeface="Consolas"/>
                  <a:ea typeface="Consolas"/>
                  <a:cs typeface="Consolas"/>
                </a:rPr>
                <a:t>"urun": ["kahve"," Kahve ",</a:t>
              </a:r>
              <a:br/>
              <a:r>
                <a:rPr lang="tr-TR" sz="1120" dirty="0">
                  <a:solidFill>
                    <a:srgbClr val="EAF4F6"/>
                  </a:solidFill>
                  <a:latin typeface="Consolas"/>
                  <a:ea typeface="Consolas"/>
                  <a:cs typeface="Consolas"/>
                </a:rPr>
                <a:t>"Sandvic"],</a:t>
              </a:r>
              <a:br/>
              <a:r>
                <a:rPr lang="tr-TR" sz="1120" dirty="0">
                  <a:solidFill>
                    <a:srgbClr val="EAF4F6"/>
                  </a:solidFill>
                  <a:latin typeface="Consolas"/>
                  <a:ea typeface="Consolas"/>
                  <a:cs typeface="Consolas"/>
                </a:rPr>
                <a:t>"satis_adedi": [80, None, 35]</a:t>
              </a:r>
              <a:br/>
              <a:r>
                <a:rPr lang="tr-TR" sz="1120" dirty="0">
                  <a:solidFill>
                    <a:srgbClr val="EAF4F6"/>
                  </a:solidFill>
                  <a:latin typeface="Consolas"/>
                  <a:ea typeface="Consolas"/>
                  <a:cs typeface="Consolas"/>
                </a:rPr>
                <a:t>})</a:t>
              </a:r>
            </a:p>
          </p:txBody>
        </p:sp>
        <p:sp>
          <p:nvSpPr>
            <p:cNvPr id="11" name="TextBox 11"/>
            <p:cNvSpPr txBox="1"/>
            <p:nvPr/>
          </p:nvSpPr>
          <p:spPr>
            <a:xfrm>
              <a:off x="832485" y="2640806"/>
              <a:ext cx="2906014" cy="1058228"/>
            </a:xfrm>
            <a:prstGeom prst="rect">
              <a:avLst/>
            </a:prstGeom>
            <a:noFill/>
            <a:ln>
              <a:noFill/>
            </a:ln>
          </p:spPr>
          <p:txBody>
            <a:bodyPr wrap="none" lIns="0" tIns="0" rIns="0" bIns="0" anchor="t" anchorCtr="0">
              <a:spAutoFit/>
            </a:bodyPr>
            <a:lstStyle/>
            <a:p>
              <a:pPr algn="l">
                <a:lnSpc>
                  <a:spcPts val="1650"/>
                </a:lnSpc>
              </a:pPr>
              <a:r>
                <a:rPr lang="tr-TR" sz="1120" dirty="0">
                  <a:solidFill>
                    <a:srgbClr val="00A6A6"/>
                  </a:solidFill>
                  <a:latin typeface="Consolas"/>
                  <a:ea typeface="Consolas"/>
                  <a:cs typeface="Consolas"/>
                </a:rPr>
                <a:t>temizVeri = hamVeri.copy()</a:t>
              </a:r>
              <a:br/>
              <a:r>
                <a:rPr lang="tr-TR" sz="1120" dirty="0">
                  <a:solidFill>
                    <a:srgbClr val="00A6A6"/>
                  </a:solidFill>
                  <a:latin typeface="Consolas"/>
                  <a:ea typeface="Consolas"/>
                  <a:cs typeface="Consolas"/>
                </a:rPr>
                <a:t>temizVeri["urun"] = temizVeri["urun"]</a:t>
              </a:r>
              <a:br/>
              <a:r>
                <a:rPr lang="tr-TR" sz="1120" dirty="0">
                  <a:solidFill>
                    <a:srgbClr val="00A6A6"/>
                  </a:solidFill>
                  <a:latin typeface="Consolas"/>
                  <a:ea typeface="Consolas"/>
                  <a:cs typeface="Consolas"/>
                </a:rPr>
                <a:t>.str.strip().str.title()</a:t>
              </a:r>
              <a:br/>
              <a:r>
                <a:rPr lang="tr-TR" sz="1120" dirty="0">
                  <a:solidFill>
                    <a:srgbClr val="00A6A6"/>
                  </a:solidFill>
                  <a:latin typeface="Consolas"/>
                  <a:ea typeface="Consolas"/>
                  <a:cs typeface="Consolas"/>
                </a:rPr>
                <a:t>temizVeri["satis_adedi"] = (</a:t>
              </a:r>
              <a:br/>
              <a:r>
                <a:rPr lang="tr-TR" sz="1120" dirty="0">
                  <a:solidFill>
                    <a:srgbClr val="00A6A6"/>
                  </a:solidFill>
                  <a:latin typeface="Consolas"/>
                  <a:ea typeface="Consolas"/>
                  <a:cs typeface="Consolas"/>
                </a:rPr>
                <a:t>temizVeri["satis_adedi"].fillna(0))</a:t>
              </a:r>
            </a:p>
          </p:txBody>
        </p:sp>
        <p:sp>
          <p:nvSpPr>
            <p:cNvPr id="12" name="TextBox 12"/>
            <p:cNvSpPr txBox="1"/>
            <p:nvPr/>
          </p:nvSpPr>
          <p:spPr>
            <a:xfrm>
              <a:off x="832485" y="3917156"/>
              <a:ext cx="1419606" cy="1058228"/>
            </a:xfrm>
            <a:prstGeom prst="rect">
              <a:avLst/>
            </a:prstGeom>
            <a:noFill/>
            <a:ln>
              <a:noFill/>
            </a:ln>
          </p:spPr>
          <p:txBody>
            <a:bodyPr wrap="none" lIns="0" tIns="0" rIns="0" bIns="0" anchor="t" anchorCtr="0">
              <a:spAutoFit/>
            </a:bodyPr>
            <a:lstStyle/>
            <a:p>
              <a:pPr algn="l">
                <a:lnSpc>
                  <a:spcPts val="1650"/>
                </a:lnSpc>
              </a:pPr>
              <a:r>
                <a:rPr lang="tr-TR" sz="1120" dirty="0">
                  <a:solidFill>
                    <a:srgbClr val="B8CBD3"/>
                  </a:solidFill>
                  <a:latin typeface="Consolas"/>
                  <a:ea typeface="Consolas"/>
                  <a:cs typeface="Consolas"/>
                </a:rPr>
                <a:t># Çıktı:</a:t>
              </a:r>
              <a:br/>
              <a:r>
                <a:rPr lang="tr-TR" sz="1120" dirty="0">
                  <a:solidFill>
                    <a:srgbClr val="B8CBD3"/>
                  </a:solidFill>
                  <a:latin typeface="Consolas"/>
                  <a:ea typeface="Consolas"/>
                  <a:cs typeface="Consolas"/>
                </a:rPr>
                <a:t># urun satis_adedi</a:t>
              </a:r>
              <a:br/>
              <a:r>
                <a:rPr lang="tr-TR" sz="1120" dirty="0">
                  <a:solidFill>
                    <a:srgbClr val="B8CBD3"/>
                  </a:solidFill>
                  <a:latin typeface="Consolas"/>
                  <a:ea typeface="Consolas"/>
                  <a:cs typeface="Consolas"/>
                </a:rPr>
                <a:t># Kahve 80.0</a:t>
              </a:r>
              <a:br/>
              <a:r>
                <a:rPr lang="tr-TR" sz="1120" dirty="0">
                  <a:solidFill>
                    <a:srgbClr val="B8CBD3"/>
                  </a:solidFill>
                  <a:latin typeface="Consolas"/>
                  <a:ea typeface="Consolas"/>
                  <a:cs typeface="Consolas"/>
                </a:rPr>
                <a:t># Kahve 0.0</a:t>
              </a:r>
              <a:br/>
              <a:r>
                <a:rPr lang="tr-TR" sz="1120" dirty="0">
                  <a:solidFill>
                    <a:srgbClr val="B8CBD3"/>
                  </a:solidFill>
                  <a:latin typeface="Consolas"/>
                  <a:ea typeface="Consolas"/>
                  <a:cs typeface="Consolas"/>
                </a:rPr>
                <a:t># Sandvic 35.0</a:t>
              </a:r>
            </a:p>
          </p:txBody>
        </p:sp>
        <p:sp>
          <p:nvSpPr>
            <p:cNvPr id="13" name="TextBox 13"/>
            <p:cNvSpPr txBox="1"/>
            <p:nvPr/>
          </p:nvSpPr>
          <p:spPr>
            <a:xfrm>
              <a:off x="832866" y="5182552"/>
              <a:ext cx="2724341"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52616B"/>
                  </a:solidFill>
                  <a:latin typeface="Consolas"/>
                  <a:ea typeface="Consolas"/>
                  <a:cs typeface="Consolas"/>
                </a:rPr>
                <a:t>strip()/title() yazımı ortaklaştırır;</a:t>
              </a:r>
              <a:br/>
              <a:r>
                <a:rPr lang="tr-TR" sz="1050" dirty="0">
                  <a:solidFill>
                    <a:srgbClr val="52616B"/>
                  </a:solidFill>
                  <a:latin typeface="Consolas"/>
                  <a:ea typeface="Consolas"/>
                  <a:cs typeface="Consolas"/>
                </a:rPr>
                <a:t>fillna(0) iş bağlamına göre doğru ya</a:t>
              </a:r>
              <a:br/>
              <a:r>
                <a:rPr lang="tr-TR" sz="1050" dirty="0">
                  <a:solidFill>
                    <a:srgbClr val="52616B"/>
                  </a:solidFill>
                  <a:latin typeface="Consolas"/>
                  <a:ea typeface="Consolas"/>
                  <a:cs typeface="Consolas"/>
                </a:rPr>
                <a:t>da yanlış olabilir.</a:t>
              </a:r>
            </a:p>
          </p:txBody>
        </p:sp>
      </p:grpSp>
      <p:grpSp>
        <p:nvGrpSpPr>
          <p:cNvPr id="18" name="when-card"/>
          <p:cNvGrpSpPr/>
          <p:nvPr/>
        </p:nvGrpSpPr>
        <p:grpSpPr>
          <a:xfrm>
            <a:off x="6286500" y="1104900"/>
            <a:ext cx="5295900" cy="2095500"/>
            <a:chOff x="6286500" y="1104900"/>
            <a:chExt cx="5295900" cy="2095500"/>
          </a:xfrm>
        </p:grpSpPr>
        <p:sp>
          <p:nvSpPr>
            <p:cNvPr id="15" name="Rectangle 15"/>
            <p:cNvSpPr/>
            <p:nvPr/>
          </p:nvSpPr>
          <p:spPr>
            <a:xfrm>
              <a:off x="6286500" y="1104900"/>
              <a:ext cx="5295900" cy="2095500"/>
            </a:xfrm>
            <a:prstGeom prst="roundRect">
              <a:avLst>
                <a:gd name="adj" fmla="val 4545"/>
              </a:avLst>
            </a:prstGeom>
            <a:solidFill>
              <a:srgbClr val="FFFFFF"/>
            </a:solidFill>
            <a:ln w="14288">
              <a:solidFill>
                <a:srgbClr val="B8CBD3"/>
              </a:solidFill>
            </a:ln>
          </p:spPr>
        </p:sp>
        <p:sp>
          <p:nvSpPr>
            <p:cNvPr id="16" name="TextBox 16"/>
            <p:cNvSpPr txBox="1"/>
            <p:nvPr/>
          </p:nvSpPr>
          <p:spPr>
            <a:xfrm>
              <a:off x="6506718" y="1269682"/>
              <a:ext cx="3184472"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Ne zaman tercih edilmelidir?</a:t>
              </a:r>
            </a:p>
          </p:txBody>
        </p:sp>
        <p:sp>
          <p:nvSpPr>
            <p:cNvPr id="17" name="TextBox 17"/>
            <p:cNvSpPr txBox="1"/>
            <p:nvPr/>
          </p:nvSpPr>
          <p:spPr>
            <a:xfrm>
              <a:off x="6508623" y="1634014"/>
              <a:ext cx="3361690"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Veri kaynakları farklıysa veya kalite</a:t>
              </a:r>
              <a:br/>
              <a:r>
                <a:rPr lang="tr-TR" sz="1280" dirty="0">
                  <a:solidFill>
                    <a:srgbClr val="172B3A"/>
                  </a:solidFill>
                  <a:latin typeface="+mn-lt"/>
                  <a:ea typeface="+mn-ea"/>
                  <a:cs typeface="+mn-cs"/>
                </a:rPr>
                <a:t>belirsizse özellikle yararlıdır; birden</a:t>
              </a:r>
              <a:br/>
              <a:r>
                <a:rPr lang="tr-TR" sz="1280" dirty="0">
                  <a:solidFill>
                    <a:srgbClr val="172B3A"/>
                  </a:solidFill>
                  <a:latin typeface="+mn-lt"/>
                  <a:ea typeface="+mn-ea"/>
                  <a:cs typeface="+mn-cs"/>
                </a:rPr>
                <a:t>fazla kasa sisteminden gelen kayıtlar</a:t>
              </a:r>
              <a:br/>
              <a:r>
                <a:rPr lang="tr-TR" sz="1280" dirty="0">
                  <a:solidFill>
                    <a:srgbClr val="172B3A"/>
                  </a:solidFill>
                  <a:latin typeface="+mn-lt"/>
                  <a:ea typeface="+mn-ea"/>
                  <a:cs typeface="+mn-cs"/>
                </a:rPr>
                <a:t>birleştirilecekse önce KDD bakışı gerekir.</a:t>
              </a:r>
            </a:p>
          </p:txBody>
        </p:sp>
      </p:grpSp>
      <p:grpSp>
        <p:nvGrpSpPr>
          <p:cNvPr id="35" name="alt-table"/>
          <p:cNvGrpSpPr/>
          <p:nvPr/>
        </p:nvGrpSpPr>
        <p:grpSpPr>
          <a:xfrm>
            <a:off x="6286500" y="3390900"/>
            <a:ext cx="5295900" cy="1924050"/>
            <a:chOff x="6286500" y="3390900"/>
            <a:chExt cx="5295900" cy="1924050"/>
          </a:xfrm>
        </p:grpSpPr>
        <p:sp>
          <p:nvSpPr>
            <p:cNvPr id="19" name="Rectangle 19"/>
            <p:cNvSpPr/>
            <p:nvPr/>
          </p:nvSpPr>
          <p:spPr>
            <a:xfrm>
              <a:off x="6286500" y="3390900"/>
              <a:ext cx="5295900" cy="323850"/>
            </a:xfrm>
            <a:prstGeom prst="rect">
              <a:avLst/>
            </a:prstGeom>
            <a:solidFill>
              <a:srgbClr val="12355B"/>
            </a:solidFill>
            <a:ln>
              <a:noFill/>
            </a:ln>
          </p:spPr>
        </p:sp>
        <p:sp>
          <p:nvSpPr>
            <p:cNvPr id="20" name="TextBox 20"/>
            <p:cNvSpPr txBox="1"/>
            <p:nvPr/>
          </p:nvSpPr>
          <p:spPr>
            <a:xfrm>
              <a:off x="6433947" y="3504724"/>
              <a:ext cx="455082"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SÜREÇ</a:t>
              </a:r>
            </a:p>
          </p:txBody>
        </p:sp>
        <p:sp>
          <p:nvSpPr>
            <p:cNvPr id="21" name="TextBox 21"/>
            <p:cNvSpPr txBox="1"/>
            <p:nvPr/>
          </p:nvSpPr>
          <p:spPr>
            <a:xfrm>
              <a:off x="7862697" y="3504724"/>
              <a:ext cx="637419"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AVANTAJ</a:t>
              </a:r>
            </a:p>
          </p:txBody>
        </p:sp>
        <p:sp>
          <p:nvSpPr>
            <p:cNvPr id="22" name="TextBox 22"/>
            <p:cNvSpPr txBox="1"/>
            <p:nvPr/>
          </p:nvSpPr>
          <p:spPr>
            <a:xfrm>
              <a:off x="9577197" y="3504724"/>
              <a:ext cx="910925"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DEZAVANTAJ</a:t>
              </a:r>
            </a:p>
          </p:txBody>
        </p:sp>
        <p:sp>
          <p:nvSpPr>
            <p:cNvPr id="23" name="Rectangle 23"/>
            <p:cNvSpPr/>
            <p:nvPr/>
          </p:nvSpPr>
          <p:spPr>
            <a:xfrm>
              <a:off x="6286500" y="3714750"/>
              <a:ext cx="5295900" cy="533400"/>
            </a:xfrm>
            <a:prstGeom prst="rect">
              <a:avLst/>
            </a:prstGeom>
            <a:solidFill>
              <a:srgbClr val="FFFFFF"/>
            </a:solidFill>
            <a:ln>
              <a:noFill/>
            </a:ln>
          </p:spPr>
        </p:sp>
        <p:sp>
          <p:nvSpPr>
            <p:cNvPr id="24" name="TextBox 24"/>
            <p:cNvSpPr txBox="1"/>
            <p:nvPr/>
          </p:nvSpPr>
          <p:spPr>
            <a:xfrm>
              <a:off x="6433185" y="3907631"/>
              <a:ext cx="287432"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KDD</a:t>
              </a:r>
            </a:p>
          </p:txBody>
        </p:sp>
        <p:sp>
          <p:nvSpPr>
            <p:cNvPr id="25" name="TextBox 25"/>
            <p:cNvSpPr txBox="1"/>
            <p:nvPr/>
          </p:nvSpPr>
          <p:spPr>
            <a:xfrm>
              <a:off x="7862697" y="3857149"/>
              <a:ext cx="1036701"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172B3A"/>
                  </a:solidFill>
                  <a:latin typeface="+mn-lt"/>
                  <a:ea typeface="+mn-ea"/>
                  <a:cs typeface="+mn-cs"/>
                </a:rPr>
                <a:t>Veri hazırlamayı</a:t>
              </a:r>
              <a:br/>
              <a:r>
                <a:rPr lang="tr-TR" sz="980" dirty="0">
                  <a:solidFill>
                    <a:srgbClr val="172B3A"/>
                  </a:solidFill>
                  <a:latin typeface="+mn-lt"/>
                  <a:ea typeface="+mn-ea"/>
                  <a:cs typeface="+mn-cs"/>
                </a:rPr>
                <a:t>görünür kılar</a:t>
              </a:r>
            </a:p>
          </p:txBody>
        </p:sp>
        <p:sp>
          <p:nvSpPr>
            <p:cNvPr id="26" name="TextBox 26"/>
            <p:cNvSpPr txBox="1"/>
            <p:nvPr/>
          </p:nvSpPr>
          <p:spPr>
            <a:xfrm>
              <a:off x="9577197" y="3857149"/>
              <a:ext cx="1030478"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172B3A"/>
                  </a:solidFill>
                  <a:latin typeface="+mn-lt"/>
                  <a:ea typeface="+mn-ea"/>
                  <a:cs typeface="+mn-cs"/>
                </a:rPr>
                <a:t>İş hedefini açık</a:t>
              </a:r>
              <a:br/>
              <a:r>
                <a:rPr lang="tr-TR" sz="980" dirty="0">
                  <a:solidFill>
                    <a:srgbClr val="172B3A"/>
                  </a:solidFill>
                  <a:latin typeface="+mn-lt"/>
                  <a:ea typeface="+mn-ea"/>
                  <a:cs typeface="+mn-cs"/>
                </a:rPr>
                <a:t>tanımlamayabilir</a:t>
              </a:r>
            </a:p>
          </p:txBody>
        </p:sp>
        <p:sp>
          <p:nvSpPr>
            <p:cNvPr id="27" name="Rectangle 27"/>
            <p:cNvSpPr/>
            <p:nvPr/>
          </p:nvSpPr>
          <p:spPr>
            <a:xfrm>
              <a:off x="6286500" y="4248150"/>
              <a:ext cx="5295900" cy="533400"/>
            </a:xfrm>
            <a:prstGeom prst="rect">
              <a:avLst/>
            </a:prstGeom>
            <a:solidFill>
              <a:srgbClr val="EAF4F6"/>
            </a:solidFill>
            <a:ln>
              <a:noFill/>
            </a:ln>
          </p:spPr>
        </p:sp>
        <p:sp>
          <p:nvSpPr>
            <p:cNvPr id="28" name="TextBox 28"/>
            <p:cNvSpPr txBox="1"/>
            <p:nvPr/>
          </p:nvSpPr>
          <p:spPr>
            <a:xfrm>
              <a:off x="6433185" y="4441031"/>
              <a:ext cx="739073"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CRISP-DM</a:t>
              </a:r>
            </a:p>
          </p:txBody>
        </p:sp>
        <p:sp>
          <p:nvSpPr>
            <p:cNvPr id="29" name="TextBox 29"/>
            <p:cNvSpPr txBox="1"/>
            <p:nvPr/>
          </p:nvSpPr>
          <p:spPr>
            <a:xfrm>
              <a:off x="7862697" y="4390549"/>
              <a:ext cx="968248"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172B3A"/>
                  </a:solidFill>
                  <a:latin typeface="+mn-lt"/>
                  <a:ea typeface="+mn-ea"/>
                  <a:cs typeface="+mn-cs"/>
                </a:rPr>
                <a:t>İş hedefi ve</a:t>
              </a:r>
              <a:br/>
              <a:r>
                <a:rPr lang="tr-TR" sz="980" dirty="0">
                  <a:solidFill>
                    <a:srgbClr val="172B3A"/>
                  </a:solidFill>
                  <a:latin typeface="+mn-lt"/>
                  <a:ea typeface="+mn-ea"/>
                  <a:cs typeface="+mn-cs"/>
                </a:rPr>
                <a:t>dağıtımı içerir</a:t>
              </a:r>
            </a:p>
          </p:txBody>
        </p:sp>
        <p:sp>
          <p:nvSpPr>
            <p:cNvPr id="30" name="TextBox 30"/>
            <p:cNvSpPr txBox="1"/>
            <p:nvPr/>
          </p:nvSpPr>
          <p:spPr>
            <a:xfrm>
              <a:off x="9577197" y="4390549"/>
              <a:ext cx="1011809"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172B3A"/>
                  </a:solidFill>
                  <a:latin typeface="+mn-lt"/>
                  <a:ea typeface="+mn-ea"/>
                  <a:cs typeface="+mn-cs"/>
                </a:rPr>
                <a:t>Ayrıntılı teknik</a:t>
              </a:r>
              <a:br/>
              <a:r>
                <a:rPr lang="tr-TR" sz="980" dirty="0">
                  <a:solidFill>
                    <a:srgbClr val="172B3A"/>
                  </a:solidFill>
                  <a:latin typeface="+mn-lt"/>
                  <a:ea typeface="+mn-ea"/>
                  <a:cs typeface="+mn-cs"/>
                </a:rPr>
                <a:t>reçete değildir</a:t>
              </a:r>
            </a:p>
          </p:txBody>
        </p:sp>
        <p:sp>
          <p:nvSpPr>
            <p:cNvPr id="31" name="Rectangle 31"/>
            <p:cNvSpPr/>
            <p:nvPr/>
          </p:nvSpPr>
          <p:spPr>
            <a:xfrm>
              <a:off x="6286500" y="4781550"/>
              <a:ext cx="5295900" cy="533400"/>
            </a:xfrm>
            <a:prstGeom prst="rect">
              <a:avLst/>
            </a:prstGeom>
            <a:solidFill>
              <a:srgbClr val="FFFFFF"/>
            </a:solidFill>
            <a:ln>
              <a:noFill/>
            </a:ln>
          </p:spPr>
        </p:sp>
        <p:sp>
          <p:nvSpPr>
            <p:cNvPr id="32" name="TextBox 32"/>
            <p:cNvSpPr txBox="1"/>
            <p:nvPr/>
          </p:nvSpPr>
          <p:spPr>
            <a:xfrm>
              <a:off x="6433185" y="4974431"/>
              <a:ext cx="65543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ELT/ETL</a:t>
              </a:r>
            </a:p>
          </p:txBody>
        </p:sp>
        <p:sp>
          <p:nvSpPr>
            <p:cNvPr id="33" name="TextBox 33"/>
            <p:cNvSpPr txBox="1"/>
            <p:nvPr/>
          </p:nvSpPr>
          <p:spPr>
            <a:xfrm>
              <a:off x="7862697" y="4923949"/>
              <a:ext cx="1235837"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172B3A"/>
                  </a:solidFill>
                  <a:latin typeface="+mn-lt"/>
                  <a:ea typeface="+mn-ea"/>
                  <a:cs typeface="+mn-cs"/>
                </a:rPr>
                <a:t>Veri taşıma/</a:t>
              </a:r>
              <a:br/>
              <a:r>
                <a:rPr lang="tr-TR" sz="980" dirty="0">
                  <a:solidFill>
                    <a:srgbClr val="172B3A"/>
                  </a:solidFill>
                  <a:latin typeface="+mn-lt"/>
                  <a:ea typeface="+mn-ea"/>
                  <a:cs typeface="+mn-cs"/>
                </a:rPr>
                <a:t>dönüştürmeye uygun</a:t>
              </a:r>
            </a:p>
          </p:txBody>
        </p:sp>
        <p:sp>
          <p:nvSpPr>
            <p:cNvPr id="34" name="TextBox 34"/>
            <p:cNvSpPr txBox="1"/>
            <p:nvPr/>
          </p:nvSpPr>
          <p:spPr>
            <a:xfrm>
              <a:off x="9577197" y="4923949"/>
              <a:ext cx="868680"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172B3A"/>
                  </a:solidFill>
                  <a:latin typeface="+mn-lt"/>
                  <a:ea typeface="+mn-ea"/>
                  <a:cs typeface="+mn-cs"/>
                </a:rPr>
                <a:t>Analitik yorum</a:t>
              </a:r>
              <a:br/>
              <a:r>
                <a:rPr lang="tr-TR" sz="980" dirty="0">
                  <a:solidFill>
                    <a:srgbClr val="172B3A"/>
                  </a:solidFill>
                  <a:latin typeface="+mn-lt"/>
                  <a:ea typeface="+mn-ea"/>
                  <a:cs typeface="+mn-cs"/>
                </a:rPr>
                <a:t>içermez</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360290" cy="668845"/>
            <a:chOff x="609600" y="171450"/>
            <a:chExt cx="636029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6699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KDD süreci: sık yapılan hata</a:t>
              </a:r>
            </a:p>
          </p:txBody>
        </p:sp>
      </p:grpSp>
      <p:grpSp>
        <p:nvGrpSpPr>
          <p:cNvPr id="13" name="claim-band"/>
          <p:cNvGrpSpPr/>
          <p:nvPr/>
        </p:nvGrpSpPr>
        <p:grpSpPr>
          <a:xfrm>
            <a:off x="601980" y="1152525"/>
            <a:ext cx="5682615" cy="541020"/>
            <a:chOff x="601980" y="1152525"/>
            <a:chExt cx="5682615" cy="541020"/>
          </a:xfrm>
        </p:grpSpPr>
        <p:sp>
          <p:nvSpPr>
            <p:cNvPr id="12" name="TextBox 12"/>
            <p:cNvSpPr txBox="1"/>
            <p:nvPr/>
          </p:nvSpPr>
          <p:spPr>
            <a:xfrm>
              <a:off x="601980" y="1152525"/>
              <a:ext cx="5682615" cy="541020"/>
            </a:xfrm>
            <a:prstGeom prst="rect">
              <a:avLst/>
            </a:prstGeom>
            <a:noFill/>
            <a:ln>
              <a:noFill/>
            </a:ln>
          </p:spPr>
          <p:txBody>
            <a:bodyPr wrap="none" lIns="0" tIns="0" rIns="0" bIns="0" anchor="t" anchorCtr="0">
              <a:spAutoFit/>
            </a:bodyPr>
            <a:lstStyle/>
            <a:p>
              <a:pPr algn="l">
                <a:lnSpc>
                  <a:spcPts val="1950"/>
                </a:lnSpc>
              </a:pPr>
              <a:r>
                <a:rPr lang="tr-TR" sz="1500" dirty="0">
                  <a:solidFill>
                    <a:srgbClr val="172B3A"/>
                  </a:solidFill>
                  <a:latin typeface="+mn-lt"/>
                  <a:ea typeface="+mn-ea"/>
                  <a:cs typeface="+mn-cs"/>
                </a:rPr>
                <a:t>Eksik değeri sıfır kabul etmek en yaygın hatalardan biridir —</a:t>
              </a:r>
              <a:br/>
              <a:r>
                <a:rPr lang="tr-TR" sz="1500" dirty="0">
                  <a:solidFill>
                    <a:srgbClr val="172B3A"/>
                  </a:solidFill>
                  <a:latin typeface="+mn-lt"/>
                  <a:ea typeface="+mn-ea"/>
                  <a:cs typeface="+mn-cs"/>
                </a:rPr>
                <a:t>"satış kaydı eksik" ile "satış sıfır" aynı anlama gelmez.</a:t>
              </a:r>
            </a:p>
          </p:txBody>
        </p:sp>
      </p:grpSp>
      <p:grpSp>
        <p:nvGrpSpPr>
          <p:cNvPr id="20" name="wrong-card"/>
          <p:cNvGrpSpPr/>
          <p:nvPr/>
        </p:nvGrpSpPr>
        <p:grpSpPr>
          <a:xfrm>
            <a:off x="609600" y="1714500"/>
            <a:ext cx="5295900" cy="3810000"/>
            <a:chOff x="609600" y="1714500"/>
            <a:chExt cx="5295900" cy="3810000"/>
          </a:xfrm>
        </p:grpSpPr>
        <p:sp>
          <p:nvSpPr>
            <p:cNvPr id="14" name="Rectangle 14"/>
            <p:cNvSpPr/>
            <p:nvPr/>
          </p:nvSpPr>
          <p:spPr>
            <a:xfrm>
              <a:off x="609600" y="1714500"/>
              <a:ext cx="5295900" cy="3810000"/>
            </a:xfrm>
            <a:prstGeom prst="roundRect">
              <a:avLst>
                <a:gd name="adj" fmla="val 2500"/>
              </a:avLst>
            </a:prstGeom>
            <a:solidFill>
              <a:srgbClr val="FFFFFF"/>
            </a:solidFill>
            <a:ln w="14288">
              <a:solidFill>
                <a:srgbClr val="B8CBD3"/>
              </a:solidFill>
            </a:ln>
          </p:spPr>
        </p:sp>
        <p:sp>
          <p:nvSpPr>
            <p:cNvPr id="15" name="Rectangle 15"/>
            <p:cNvSpPr/>
            <p:nvPr/>
          </p:nvSpPr>
          <p:spPr>
            <a:xfrm>
              <a:off x="609600" y="1714500"/>
              <a:ext cx="1143000" cy="323850"/>
            </a:xfrm>
            <a:prstGeom prst="roundRect">
              <a:avLst>
                <a:gd name="adj" fmla="val 17647"/>
              </a:avLst>
            </a:prstGeom>
            <a:solidFill>
              <a:srgbClr val="52616B"/>
            </a:solidFill>
            <a:ln>
              <a:noFill/>
            </a:ln>
          </p:spPr>
        </p:sp>
        <p:sp>
          <p:nvSpPr>
            <p:cNvPr id="16" name="TextBox 16"/>
            <p:cNvSpPr txBox="1"/>
            <p:nvPr/>
          </p:nvSpPr>
          <p:spPr>
            <a:xfrm>
              <a:off x="936616" y="1820228"/>
              <a:ext cx="48896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YANLIŞ</a:t>
              </a:r>
            </a:p>
          </p:txBody>
        </p:sp>
        <p:sp>
          <p:nvSpPr>
            <p:cNvPr id="17" name="TextBox 17"/>
            <p:cNvSpPr txBox="1"/>
            <p:nvPr/>
          </p:nvSpPr>
          <p:spPr>
            <a:xfrm>
              <a:off x="832485" y="2278856"/>
              <a:ext cx="2045462"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12355B"/>
                  </a:solidFill>
                  <a:latin typeface="Consolas"/>
                  <a:ea typeface="Consolas"/>
                  <a:cs typeface="Consolas"/>
                </a:rPr>
                <a:t>hamVeri["satis_adedi"] = (</a:t>
              </a:r>
              <a:br/>
              <a:r>
                <a:rPr lang="tr-TR" sz="1120" dirty="0">
                  <a:solidFill>
                    <a:srgbClr val="12355B"/>
                  </a:solidFill>
                  <a:latin typeface="Consolas"/>
                  <a:ea typeface="Consolas"/>
                  <a:cs typeface="Consolas"/>
                </a:rPr>
                <a:t>hamVeri["satis_adedi"]</a:t>
              </a:r>
              <a:br/>
              <a:r>
                <a:rPr lang="tr-TR" sz="1120" dirty="0">
                  <a:solidFill>
                    <a:srgbClr val="12355B"/>
                  </a:solidFill>
                  <a:latin typeface="Consolas"/>
                  <a:ea typeface="Consolas"/>
                  <a:cs typeface="Consolas"/>
                </a:rPr>
                <a:t>.fillna(0))</a:t>
              </a:r>
            </a:p>
          </p:txBody>
        </p:sp>
        <p:sp>
          <p:nvSpPr>
            <p:cNvPr id="18" name="Line 18"/>
            <p:cNvSpPr/>
            <p:nvPr/>
          </p:nvSpPr>
          <p:spPr>
            <a:xfrm>
              <a:off x="838200" y="32575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9" name="TextBox 19"/>
            <p:cNvSpPr txBox="1"/>
            <p:nvPr/>
          </p:nvSpPr>
          <p:spPr>
            <a:xfrm>
              <a:off x="831723" y="3424714"/>
              <a:ext cx="2808986"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Eksik kayıt ile sıfır satış eşit</a:t>
              </a:r>
              <a:br/>
              <a:r>
                <a:rPr lang="tr-TR" sz="1280" dirty="0">
                  <a:solidFill>
                    <a:srgbClr val="172B3A"/>
                  </a:solidFill>
                  <a:latin typeface="+mn-lt"/>
                  <a:ea typeface="+mn-ea"/>
                  <a:cs typeface="+mn-cs"/>
                </a:rPr>
                <a:t>kabul edilir; bu işlem ortalamayı</a:t>
              </a:r>
              <a:br/>
              <a:r>
                <a:rPr lang="tr-TR" sz="1280" dirty="0">
                  <a:solidFill>
                    <a:srgbClr val="172B3A"/>
                  </a:solidFill>
                  <a:latin typeface="+mn-lt"/>
                  <a:ea typeface="+mn-ea"/>
                  <a:cs typeface="+mn-cs"/>
                </a:rPr>
                <a:t>yapay olarak düşürebilir. Önce</a:t>
              </a:r>
              <a:br/>
              <a:r>
                <a:rPr lang="tr-TR" sz="1280" dirty="0">
                  <a:solidFill>
                    <a:srgbClr val="172B3A"/>
                  </a:solidFill>
                  <a:latin typeface="+mn-lt"/>
                  <a:ea typeface="+mn-ea"/>
                  <a:cs typeface="+mn-cs"/>
                </a:rPr>
                <a:t>eksikliğin nedeni araştırılmalıdır.</a:t>
              </a:r>
            </a:p>
          </p:txBody>
        </p:sp>
      </p:grpSp>
      <p:grpSp>
        <p:nvGrpSpPr>
          <p:cNvPr id="28" name="right-card"/>
          <p:cNvGrpSpPr/>
          <p:nvPr/>
        </p:nvGrpSpPr>
        <p:grpSpPr>
          <a:xfrm>
            <a:off x="6286500" y="1714500"/>
            <a:ext cx="5295900" cy="3810000"/>
            <a:chOff x="6286500" y="1714500"/>
            <a:chExt cx="5295900" cy="3810000"/>
          </a:xfrm>
        </p:grpSpPr>
        <p:sp>
          <p:nvSpPr>
            <p:cNvPr id="21" name="Rectangle 21"/>
            <p:cNvSpPr/>
            <p:nvPr/>
          </p:nvSpPr>
          <p:spPr>
            <a:xfrm>
              <a:off x="6286500" y="1714500"/>
              <a:ext cx="5295900" cy="3810000"/>
            </a:xfrm>
            <a:prstGeom prst="roundRect">
              <a:avLst>
                <a:gd name="adj" fmla="val 2500"/>
              </a:avLst>
            </a:prstGeom>
            <a:solidFill>
              <a:srgbClr val="FFFFFF"/>
            </a:solidFill>
            <a:ln w="14288">
              <a:solidFill>
                <a:srgbClr val="00A6A6"/>
              </a:solidFill>
            </a:ln>
          </p:spPr>
        </p:sp>
        <p:sp>
          <p:nvSpPr>
            <p:cNvPr id="22" name="Rectangle 22"/>
            <p:cNvSpPr/>
            <p:nvPr/>
          </p:nvSpPr>
          <p:spPr>
            <a:xfrm>
              <a:off x="6286500" y="1714500"/>
              <a:ext cx="1143000" cy="323850"/>
            </a:xfrm>
            <a:prstGeom prst="roundRect">
              <a:avLst>
                <a:gd name="adj" fmla="val 17647"/>
              </a:avLst>
            </a:prstGeom>
            <a:solidFill>
              <a:srgbClr val="00A6A6"/>
            </a:solidFill>
            <a:ln>
              <a:noFill/>
            </a:ln>
          </p:spPr>
        </p:sp>
        <p:sp>
          <p:nvSpPr>
            <p:cNvPr id="23" name="TextBox 23"/>
            <p:cNvSpPr txBox="1"/>
            <p:nvPr/>
          </p:nvSpPr>
          <p:spPr>
            <a:xfrm>
              <a:off x="6621357" y="1820228"/>
              <a:ext cx="473286"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DOĞRU</a:t>
              </a:r>
            </a:p>
          </p:txBody>
        </p:sp>
        <p:sp>
          <p:nvSpPr>
            <p:cNvPr id="24" name="TextBox 24"/>
            <p:cNvSpPr txBox="1"/>
            <p:nvPr/>
          </p:nvSpPr>
          <p:spPr>
            <a:xfrm>
              <a:off x="6509385" y="2278856"/>
              <a:ext cx="2358390" cy="848678"/>
            </a:xfrm>
            <a:prstGeom prst="rect">
              <a:avLst/>
            </a:prstGeom>
            <a:noFill/>
            <a:ln>
              <a:noFill/>
            </a:ln>
          </p:spPr>
          <p:txBody>
            <a:bodyPr wrap="none" lIns="0" tIns="0" rIns="0" bIns="0" anchor="t" anchorCtr="0">
              <a:spAutoFit/>
            </a:bodyPr>
            <a:lstStyle/>
            <a:p>
              <a:pPr algn="l">
                <a:lnSpc>
                  <a:spcPts val="1650"/>
                </a:lnSpc>
              </a:pPr>
              <a:r>
                <a:rPr lang="tr-TR" sz="1120" dirty="0">
                  <a:solidFill>
                    <a:srgbClr val="12355B"/>
                  </a:solidFill>
                  <a:latin typeface="Consolas"/>
                  <a:ea typeface="Consolas"/>
                  <a:cs typeface="Consolas"/>
                </a:rPr>
                <a:t>eksikKayitlar = hamVeri[</a:t>
              </a:r>
              <a:br/>
              <a:r>
                <a:rPr lang="tr-TR" sz="1120" dirty="0">
                  <a:solidFill>
                    <a:srgbClr val="12355B"/>
                  </a:solidFill>
                  <a:latin typeface="Consolas"/>
                  <a:ea typeface="Consolas"/>
                  <a:cs typeface="Consolas"/>
                </a:rPr>
                <a:t>hamVeri["satis_adedi"].isna()]</a:t>
              </a:r>
              <a:br/>
              <a:r>
                <a:rPr lang="tr-TR" sz="1120" dirty="0">
                  <a:solidFill>
                    <a:srgbClr val="12355B"/>
                  </a:solidFill>
                  <a:latin typeface="Consolas"/>
                  <a:ea typeface="Consolas"/>
                  <a:cs typeface="Consolas"/>
                </a:rPr>
                <a:t>print("Eksik kayıt sayısı:",</a:t>
              </a:r>
              <a:br/>
              <a:r>
                <a:rPr lang="tr-TR" sz="1120" dirty="0">
                  <a:solidFill>
                    <a:srgbClr val="12355B"/>
                  </a:solidFill>
                  <a:latin typeface="Consolas"/>
                  <a:ea typeface="Consolas"/>
                  <a:cs typeface="Consolas"/>
                </a:rPr>
                <a:t>len(eksikKayitlar))</a:t>
              </a:r>
            </a:p>
          </p:txBody>
        </p:sp>
        <p:sp>
          <p:nvSpPr>
            <p:cNvPr id="25" name="TextBox 25"/>
            <p:cNvSpPr txBox="1"/>
            <p:nvPr/>
          </p:nvSpPr>
          <p:spPr>
            <a:xfrm>
              <a:off x="6509385" y="3288506"/>
              <a:ext cx="1810766"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00A6A6"/>
                  </a:solidFill>
                  <a:latin typeface="Consolas"/>
                  <a:ea typeface="Consolas"/>
                  <a:cs typeface="Consolas"/>
                </a:rPr>
                <a:t># Çıktı:</a:t>
              </a:r>
              <a:br/>
              <a:r>
                <a:rPr lang="tr-TR" sz="1120" dirty="0">
                  <a:solidFill>
                    <a:srgbClr val="00A6A6"/>
                  </a:solidFill>
                  <a:latin typeface="Consolas"/>
                  <a:ea typeface="Consolas"/>
                  <a:cs typeface="Consolas"/>
                </a:rPr>
                <a:t># Eksik kayıt sayısı: 1</a:t>
              </a:r>
            </a:p>
          </p:txBody>
        </p:sp>
        <p:sp>
          <p:nvSpPr>
            <p:cNvPr id="26" name="Line 26"/>
            <p:cNvSpPr/>
            <p:nvPr/>
          </p:nvSpPr>
          <p:spPr>
            <a:xfrm>
              <a:off x="6515100" y="384810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27" name="TextBox 27"/>
            <p:cNvSpPr txBox="1"/>
            <p:nvPr/>
          </p:nvSpPr>
          <p:spPr>
            <a:xfrm>
              <a:off x="6508623" y="4015264"/>
              <a:ext cx="3036570" cy="7065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Eksik değerler önce işaretlenir;</a:t>
              </a:r>
              <a:br/>
              <a:r>
                <a:rPr lang="tr-TR" sz="1280" dirty="0">
                  <a:solidFill>
                    <a:srgbClr val="172B3A"/>
                  </a:solidFill>
                  <a:latin typeface="+mn-lt"/>
                  <a:ea typeface="+mn-ea"/>
                  <a:cs typeface="+mn-cs"/>
                </a:rPr>
                <a:t>inceleme sonucu uygun yöntem seçilir</a:t>
              </a:r>
              <a:br/>
              <a:r>
                <a:rPr lang="tr-TR" sz="1280" dirty="0">
                  <a:solidFill>
                    <a:srgbClr val="172B3A"/>
                  </a:solidFill>
                  <a:latin typeface="+mn-lt"/>
                  <a:ea typeface="+mn-ea"/>
                  <a:cs typeface="+mn-cs"/>
                </a:rPr>
                <a:t>ve eksik kayıt rapora ayrıca yazılır.</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590611" cy="668845"/>
            <a:chOff x="609600" y="171450"/>
            <a:chExt cx="8590611"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790023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CRISP-DM: tanım ve altı yinelemeli evre</a:t>
              </a:r>
            </a:p>
          </p:txBody>
        </p:sp>
      </p:grpSp>
      <p:grpSp>
        <p:nvGrpSpPr>
          <p:cNvPr id="14" name="kicker"/>
          <p:cNvGrpSpPr/>
          <p:nvPr/>
        </p:nvGrpSpPr>
        <p:grpSpPr>
          <a:xfrm>
            <a:off x="604266" y="1048702"/>
            <a:ext cx="6306868" cy="205359"/>
            <a:chOff x="604266" y="1048702"/>
            <a:chExt cx="6306868" cy="205359"/>
          </a:xfrm>
        </p:grpSpPr>
        <p:sp>
          <p:nvSpPr>
            <p:cNvPr id="13" name="TextBox 13"/>
            <p:cNvSpPr txBox="1"/>
            <p:nvPr/>
          </p:nvSpPr>
          <p:spPr>
            <a:xfrm>
              <a:off x="604266" y="1048702"/>
              <a:ext cx="6306868"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KAVRAM 3 / 4 · CROSS-INDUSTRY STANDARD PROCESS FOR DATA MINING</a:t>
              </a:r>
            </a:p>
          </p:txBody>
        </p:sp>
      </p:grpSp>
      <p:grpSp>
        <p:nvGrpSpPr>
          <p:cNvPr id="16" name="crisp-def"/>
          <p:cNvGrpSpPr/>
          <p:nvPr/>
        </p:nvGrpSpPr>
        <p:grpSpPr>
          <a:xfrm>
            <a:off x="602361" y="1370171"/>
            <a:ext cx="9121648" cy="526352"/>
            <a:chOff x="602361" y="1370171"/>
            <a:chExt cx="9121648" cy="526352"/>
          </a:xfrm>
        </p:grpSpPr>
        <p:sp>
          <p:nvSpPr>
            <p:cNvPr id="15" name="TextBox 15"/>
            <p:cNvSpPr txBox="1"/>
            <p:nvPr/>
          </p:nvSpPr>
          <p:spPr>
            <a:xfrm>
              <a:off x="602361" y="1370171"/>
              <a:ext cx="9121648"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Sektör bağımsız, yinelemeli bir süreç modelidir; 2000 yılında yayımlanan CRISP-DM 1.0, yalnızca model</a:t>
              </a:r>
              <a:br/>
              <a:r>
                <a:rPr lang="tr-TR" sz="1420" dirty="0">
                  <a:solidFill>
                    <a:srgbClr val="172B3A"/>
                  </a:solidFill>
                  <a:latin typeface="+mn-lt"/>
                  <a:ea typeface="+mn-ea"/>
                  <a:cs typeface="+mn-cs"/>
                </a:rPr>
                <a:t>kurmaya değil, modelin iş problemine gerçekten hizmet edip etmediğine odaklanır.</a:t>
              </a:r>
            </a:p>
          </p:txBody>
        </p:sp>
      </p:grpSp>
      <p:grpSp>
        <p:nvGrpSpPr>
          <p:cNvPr id="53" name="crisp-diagram"/>
          <p:cNvGrpSpPr/>
          <p:nvPr/>
        </p:nvGrpSpPr>
        <p:grpSpPr>
          <a:xfrm>
            <a:off x="666750" y="2343150"/>
            <a:ext cx="10382250" cy="2517934"/>
            <a:chOff x="666750" y="2343150"/>
            <a:chExt cx="10382250" cy="2517934"/>
          </a:xfrm>
        </p:grpSpPr>
        <p:sp>
          <p:nvSpPr>
            <p:cNvPr id="17" name="Line 17"/>
            <p:cNvSpPr/>
            <p:nvPr/>
          </p:nvSpPr>
          <p:spPr>
            <a:xfrm>
              <a:off x="4191000" y="2743200"/>
              <a:ext cx="381000" cy="1"/>
            </a:xfrm>
            <a:prstGeom prst="line">
              <a:avLst/>
            </a:prstGeom>
            <a:noFill/>
            <a:ln w="23812">
              <a:solidFill>
                <a:srgbClr val="00A6A6"/>
              </a:solidFill>
              <a:tailEnd type="arrow" w="lg" len="lg"/>
            </a:ln>
          </p:spPr>
        </p:sp>
        <p:sp>
          <p:nvSpPr>
            <p:cNvPr id="18" name="Line 18"/>
            <p:cNvSpPr/>
            <p:nvPr/>
          </p:nvSpPr>
          <p:spPr>
            <a:xfrm>
              <a:off x="7620000" y="2743200"/>
              <a:ext cx="381000" cy="1"/>
            </a:xfrm>
            <a:prstGeom prst="line">
              <a:avLst/>
            </a:prstGeom>
            <a:noFill/>
            <a:ln w="23812">
              <a:solidFill>
                <a:srgbClr val="00A6A6"/>
              </a:solidFill>
              <a:tailEnd type="arrow" w="lg" len="lg"/>
            </a:ln>
          </p:spPr>
        </p:sp>
        <p:sp>
          <p:nvSpPr>
            <p:cNvPr id="19" name="Line 19"/>
            <p:cNvSpPr/>
            <p:nvPr/>
          </p:nvSpPr>
          <p:spPr>
            <a:xfrm>
              <a:off x="9525000" y="3143250"/>
              <a:ext cx="1" cy="476250"/>
            </a:xfrm>
            <a:prstGeom prst="line">
              <a:avLst/>
            </a:prstGeom>
            <a:noFill/>
            <a:ln w="23812">
              <a:solidFill>
                <a:srgbClr val="00A6A6"/>
              </a:solidFill>
              <a:tailEnd type="arrow" w="lg" len="lg"/>
            </a:ln>
          </p:spPr>
        </p:sp>
        <p:sp>
          <p:nvSpPr>
            <p:cNvPr id="20" name="Line 20"/>
            <p:cNvSpPr/>
            <p:nvPr/>
          </p:nvSpPr>
          <p:spPr>
            <a:xfrm flipH="1">
              <a:off x="7620000" y="4019550"/>
              <a:ext cx="381000" cy="1"/>
            </a:xfrm>
            <a:prstGeom prst="line">
              <a:avLst/>
            </a:prstGeom>
            <a:noFill/>
            <a:ln w="23812">
              <a:solidFill>
                <a:srgbClr val="00A6A6"/>
              </a:solidFill>
              <a:tailEnd type="arrow" w="lg" len="lg"/>
            </a:ln>
          </p:spPr>
        </p:sp>
        <p:sp>
          <p:nvSpPr>
            <p:cNvPr id="21" name="Line 21"/>
            <p:cNvSpPr/>
            <p:nvPr/>
          </p:nvSpPr>
          <p:spPr>
            <a:xfrm flipH="1">
              <a:off x="4191000" y="4019550"/>
              <a:ext cx="381000" cy="1"/>
            </a:xfrm>
            <a:prstGeom prst="line">
              <a:avLst/>
            </a:prstGeom>
            <a:noFill/>
            <a:ln w="23812">
              <a:solidFill>
                <a:srgbClr val="00A6A6"/>
              </a:solidFill>
              <a:tailEnd type="arrow" w="lg" len="lg"/>
            </a:ln>
          </p:spPr>
        </p:sp>
        <p:sp>
          <p:nvSpPr>
            <p:cNvPr id="22" name="Line 22"/>
            <p:cNvSpPr/>
            <p:nvPr/>
          </p:nvSpPr>
          <p:spPr>
            <a:xfrm flipV="1">
              <a:off x="6096000" y="3143250"/>
              <a:ext cx="1" cy="476250"/>
            </a:xfrm>
            <a:prstGeom prst="line">
              <a:avLst/>
            </a:prstGeom>
            <a:noFill/>
            <a:ln w="19050">
              <a:solidFill>
                <a:srgbClr val="52616B"/>
              </a:solidFill>
              <a:custDash>
                <a:ds d="300000" sp="200000"/>
              </a:custDash>
              <a:tailEnd type="arrow" w="lg" len="lg"/>
            </a:ln>
          </p:spPr>
        </p:sp>
        <p:sp>
          <p:nvSpPr>
            <p:cNvPr id="23" name="Freeform 23"/>
            <p:cNvSpPr/>
            <p:nvPr/>
          </p:nvSpPr>
          <p:spPr>
            <a:xfrm>
              <a:off x="666750" y="2743200"/>
              <a:ext cx="762000" cy="876300"/>
            </a:xfrm>
            <a:custGeom>
              <a:avLst/>
              <a:gdLst/>
              <a:ahLst/>
              <a:cxnLst/>
              <a:rect l="l" t="t" r="r" b="b"/>
              <a:pathLst>
                <a:path w="762000" h="876300">
                  <a:moveTo>
                    <a:pt x="762000" y="876300"/>
                  </a:moveTo>
                  <a:lnTo>
                    <a:pt x="0" y="876300"/>
                  </a:lnTo>
                  <a:lnTo>
                    <a:pt x="0" y="0"/>
                  </a:lnTo>
                  <a:lnTo>
                    <a:pt x="476250" y="0"/>
                  </a:lnTo>
                </a:path>
              </a:pathLst>
            </a:custGeom>
            <a:noFill/>
            <a:ln w="19050">
              <a:solidFill>
                <a:srgbClr val="52616B"/>
              </a:solidFill>
              <a:custDash>
                <a:ds d="300000" sp="200000"/>
              </a:custDash>
              <a:tailEnd type="arrow" w="lg" len="lg"/>
            </a:ln>
          </p:spPr>
        </p:sp>
        <p:grpSp>
          <p:nvGrpSpPr>
            <p:cNvPr id="27" name="phase-business"/>
            <p:cNvGrpSpPr/>
            <p:nvPr/>
          </p:nvGrpSpPr>
          <p:grpSpPr>
            <a:xfrm>
              <a:off x="1143000" y="2343150"/>
              <a:ext cx="3107634" cy="800100"/>
              <a:chOff x="1143000" y="2343150"/>
              <a:chExt cx="3107634" cy="800100"/>
            </a:xfrm>
          </p:grpSpPr>
          <p:sp>
            <p:nvSpPr>
              <p:cNvPr id="24" name="Rectangle 24"/>
              <p:cNvSpPr/>
              <p:nvPr/>
            </p:nvSpPr>
            <p:spPr>
              <a:xfrm>
                <a:off x="1143000" y="2343150"/>
                <a:ext cx="3048000" cy="800100"/>
              </a:xfrm>
              <a:prstGeom prst="roundRect">
                <a:avLst>
                  <a:gd name="adj" fmla="val 11905"/>
                </a:avLst>
              </a:prstGeom>
              <a:solidFill>
                <a:srgbClr val="12355B"/>
              </a:solidFill>
              <a:ln>
                <a:noFill/>
              </a:ln>
            </p:spPr>
          </p:sp>
          <p:sp>
            <p:nvSpPr>
              <p:cNvPr id="25" name="TextBox 25"/>
              <p:cNvSpPr txBox="1"/>
              <p:nvPr/>
            </p:nvSpPr>
            <p:spPr>
              <a:xfrm>
                <a:off x="1363599" y="2496979"/>
                <a:ext cx="1376736"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1. İş anlama</a:t>
                </a:r>
              </a:p>
            </p:txBody>
          </p:sp>
          <p:sp>
            <p:nvSpPr>
              <p:cNvPr id="26" name="TextBox 26"/>
              <p:cNvSpPr txBox="1"/>
              <p:nvPr/>
            </p:nvSpPr>
            <p:spPr>
              <a:xfrm>
                <a:off x="1366266" y="2801302"/>
                <a:ext cx="2884368"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İsraf hedefini ölçülebilir soruya çevirmek</a:t>
                </a:r>
              </a:p>
            </p:txBody>
          </p:sp>
        </p:grpSp>
        <p:grpSp>
          <p:nvGrpSpPr>
            <p:cNvPr id="31" name="phase-data-understand"/>
            <p:cNvGrpSpPr/>
            <p:nvPr/>
          </p:nvGrpSpPr>
          <p:grpSpPr>
            <a:xfrm>
              <a:off x="4572000" y="2343150"/>
              <a:ext cx="3048000" cy="800100"/>
              <a:chOff x="4572000" y="2343150"/>
              <a:chExt cx="3048000" cy="800100"/>
            </a:xfrm>
          </p:grpSpPr>
          <p:sp>
            <p:nvSpPr>
              <p:cNvPr id="28" name="Rectangle 28"/>
              <p:cNvSpPr/>
              <p:nvPr/>
            </p:nvSpPr>
            <p:spPr>
              <a:xfrm>
                <a:off x="4572000" y="2343150"/>
                <a:ext cx="3048000" cy="800100"/>
              </a:xfrm>
              <a:prstGeom prst="roundRect">
                <a:avLst>
                  <a:gd name="adj" fmla="val 11905"/>
                </a:avLst>
              </a:prstGeom>
              <a:solidFill>
                <a:srgbClr val="FFFFFF"/>
              </a:solidFill>
              <a:ln w="14288">
                <a:solidFill>
                  <a:srgbClr val="2E86AB"/>
                </a:solidFill>
              </a:ln>
            </p:spPr>
          </p:sp>
          <p:sp>
            <p:nvSpPr>
              <p:cNvPr id="29" name="TextBox 29"/>
              <p:cNvSpPr txBox="1"/>
              <p:nvPr/>
            </p:nvSpPr>
            <p:spPr>
              <a:xfrm>
                <a:off x="4792599" y="2496979"/>
                <a:ext cx="156573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Veri anlama</a:t>
                </a:r>
              </a:p>
            </p:txBody>
          </p:sp>
          <p:sp>
            <p:nvSpPr>
              <p:cNvPr id="30" name="TextBox 30"/>
              <p:cNvSpPr txBox="1"/>
              <p:nvPr/>
            </p:nvSpPr>
            <p:spPr>
              <a:xfrm>
                <a:off x="4795266" y="2801302"/>
                <a:ext cx="279270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Gözlem birimi, tür ve eksikleri incelemek</a:t>
                </a:r>
              </a:p>
            </p:txBody>
          </p:sp>
        </p:grpSp>
        <p:grpSp>
          <p:nvGrpSpPr>
            <p:cNvPr id="35" name="phase-data-prep"/>
            <p:cNvGrpSpPr/>
            <p:nvPr/>
          </p:nvGrpSpPr>
          <p:grpSpPr>
            <a:xfrm>
              <a:off x="8001000" y="2343150"/>
              <a:ext cx="3048000" cy="800100"/>
              <a:chOff x="8001000" y="2343150"/>
              <a:chExt cx="3048000" cy="800100"/>
            </a:xfrm>
          </p:grpSpPr>
          <p:sp>
            <p:nvSpPr>
              <p:cNvPr id="32" name="Rectangle 32"/>
              <p:cNvSpPr/>
              <p:nvPr/>
            </p:nvSpPr>
            <p:spPr>
              <a:xfrm>
                <a:off x="8001000" y="2343150"/>
                <a:ext cx="3048000" cy="800100"/>
              </a:xfrm>
              <a:prstGeom prst="roundRect">
                <a:avLst>
                  <a:gd name="adj" fmla="val 11905"/>
                </a:avLst>
              </a:prstGeom>
              <a:solidFill>
                <a:srgbClr val="FFFFFF"/>
              </a:solidFill>
              <a:ln w="14288">
                <a:solidFill>
                  <a:srgbClr val="2E86AB"/>
                </a:solidFill>
              </a:ln>
            </p:spPr>
          </p:sp>
          <p:sp>
            <p:nvSpPr>
              <p:cNvPr id="33" name="TextBox 33"/>
              <p:cNvSpPr txBox="1"/>
              <p:nvPr/>
            </p:nvSpPr>
            <p:spPr>
              <a:xfrm>
                <a:off x="8221599" y="2496979"/>
                <a:ext cx="193382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Veri hazırlama</a:t>
                </a:r>
              </a:p>
            </p:txBody>
          </p:sp>
          <p:sp>
            <p:nvSpPr>
              <p:cNvPr id="34" name="TextBox 34"/>
              <p:cNvSpPr txBox="1"/>
              <p:nvPr/>
            </p:nvSpPr>
            <p:spPr>
              <a:xfrm>
                <a:off x="8224266" y="2801302"/>
                <a:ext cx="280005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Temizleme, dönüştürme, özellik türetme</a:t>
                </a:r>
              </a:p>
            </p:txBody>
          </p:sp>
        </p:grpSp>
        <p:grpSp>
          <p:nvGrpSpPr>
            <p:cNvPr id="39" name="phase-modeling"/>
            <p:cNvGrpSpPr/>
            <p:nvPr/>
          </p:nvGrpSpPr>
          <p:grpSpPr>
            <a:xfrm>
              <a:off x="8001000" y="3619500"/>
              <a:ext cx="3048000" cy="800100"/>
              <a:chOff x="8001000" y="3619500"/>
              <a:chExt cx="3048000" cy="800100"/>
            </a:xfrm>
          </p:grpSpPr>
          <p:sp>
            <p:nvSpPr>
              <p:cNvPr id="36" name="Rectangle 36"/>
              <p:cNvSpPr/>
              <p:nvPr/>
            </p:nvSpPr>
            <p:spPr>
              <a:xfrm>
                <a:off x="8001000" y="3619500"/>
                <a:ext cx="3048000" cy="800100"/>
              </a:xfrm>
              <a:prstGeom prst="roundRect">
                <a:avLst>
                  <a:gd name="adj" fmla="val 11905"/>
                </a:avLst>
              </a:prstGeom>
              <a:solidFill>
                <a:srgbClr val="FFFFFF"/>
              </a:solidFill>
              <a:ln w="14288">
                <a:solidFill>
                  <a:srgbClr val="2E86AB"/>
                </a:solidFill>
              </a:ln>
            </p:spPr>
          </p:sp>
          <p:sp>
            <p:nvSpPr>
              <p:cNvPr id="37" name="TextBox 37"/>
              <p:cNvSpPr txBox="1"/>
              <p:nvPr/>
            </p:nvSpPr>
            <p:spPr>
              <a:xfrm>
                <a:off x="8221599" y="3773329"/>
                <a:ext cx="142062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4. Modelleme</a:t>
                </a:r>
              </a:p>
            </p:txBody>
          </p:sp>
          <p:sp>
            <p:nvSpPr>
              <p:cNvPr id="38" name="TextBox 38"/>
              <p:cNvSpPr txBox="1"/>
              <p:nvPr/>
            </p:nvSpPr>
            <p:spPr>
              <a:xfrm>
                <a:off x="8224266" y="4077652"/>
                <a:ext cx="262320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Uygun teknik ve parametreleri seçmek</a:t>
                </a:r>
              </a:p>
            </p:txBody>
          </p:sp>
        </p:grpSp>
        <p:grpSp>
          <p:nvGrpSpPr>
            <p:cNvPr id="43" name="phase-evaluation"/>
            <p:cNvGrpSpPr/>
            <p:nvPr/>
          </p:nvGrpSpPr>
          <p:grpSpPr>
            <a:xfrm>
              <a:off x="4572000" y="3619500"/>
              <a:ext cx="3048000" cy="800100"/>
              <a:chOff x="4572000" y="3619500"/>
              <a:chExt cx="3048000" cy="800100"/>
            </a:xfrm>
          </p:grpSpPr>
          <p:sp>
            <p:nvSpPr>
              <p:cNvPr id="40" name="Rectangle 40"/>
              <p:cNvSpPr/>
              <p:nvPr/>
            </p:nvSpPr>
            <p:spPr>
              <a:xfrm>
                <a:off x="4572000" y="3619500"/>
                <a:ext cx="3048000" cy="800100"/>
              </a:xfrm>
              <a:prstGeom prst="roundRect">
                <a:avLst>
                  <a:gd name="adj" fmla="val 11905"/>
                </a:avLst>
              </a:prstGeom>
              <a:solidFill>
                <a:srgbClr val="FFFFFF"/>
              </a:solidFill>
              <a:ln w="14288">
                <a:solidFill>
                  <a:srgbClr val="2E86AB"/>
                </a:solidFill>
              </a:ln>
            </p:spPr>
          </p:sp>
          <p:sp>
            <p:nvSpPr>
              <p:cNvPr id="41" name="TextBox 41"/>
              <p:cNvSpPr txBox="1"/>
              <p:nvPr/>
            </p:nvSpPr>
            <p:spPr>
              <a:xfrm>
                <a:off x="4792599" y="3773329"/>
                <a:ext cx="18665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5. Değerlendirme</a:t>
                </a:r>
              </a:p>
            </p:txBody>
          </p:sp>
          <p:sp>
            <p:nvSpPr>
              <p:cNvPr id="42" name="TextBox 42"/>
              <p:cNvSpPr txBox="1"/>
              <p:nvPr/>
            </p:nvSpPr>
            <p:spPr>
              <a:xfrm>
                <a:off x="4795266" y="4077652"/>
                <a:ext cx="279270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Sonucun iş hedefine hizmet edip etmediği</a:t>
                </a:r>
              </a:p>
            </p:txBody>
          </p:sp>
        </p:grpSp>
        <p:grpSp>
          <p:nvGrpSpPr>
            <p:cNvPr id="47" name="phase-deployment"/>
            <p:cNvGrpSpPr/>
            <p:nvPr/>
          </p:nvGrpSpPr>
          <p:grpSpPr>
            <a:xfrm>
              <a:off x="1143000" y="3619500"/>
              <a:ext cx="3048000" cy="800100"/>
              <a:chOff x="1143000" y="3619500"/>
              <a:chExt cx="3048000" cy="800100"/>
            </a:xfrm>
          </p:grpSpPr>
          <p:sp>
            <p:nvSpPr>
              <p:cNvPr id="44" name="Rectangle 44"/>
              <p:cNvSpPr/>
              <p:nvPr/>
            </p:nvSpPr>
            <p:spPr>
              <a:xfrm>
                <a:off x="1143000" y="3619500"/>
                <a:ext cx="3048000" cy="800100"/>
              </a:xfrm>
              <a:prstGeom prst="roundRect">
                <a:avLst>
                  <a:gd name="adj" fmla="val 11905"/>
                </a:avLst>
              </a:prstGeom>
              <a:solidFill>
                <a:srgbClr val="EAF4F6"/>
              </a:solidFill>
              <a:ln w="14288">
                <a:solidFill>
                  <a:srgbClr val="00A6A6"/>
                </a:solidFill>
              </a:ln>
            </p:spPr>
          </p:sp>
          <p:sp>
            <p:nvSpPr>
              <p:cNvPr id="45" name="TextBox 45"/>
              <p:cNvSpPr txBox="1"/>
              <p:nvPr/>
            </p:nvSpPr>
            <p:spPr>
              <a:xfrm>
                <a:off x="1363599" y="3773329"/>
                <a:ext cx="204535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6. Yaygınlaştırma</a:t>
                </a:r>
              </a:p>
            </p:txBody>
          </p:sp>
          <p:sp>
            <p:nvSpPr>
              <p:cNvPr id="46" name="TextBox 46"/>
              <p:cNvSpPr txBox="1"/>
              <p:nvPr/>
            </p:nvSpPr>
            <p:spPr>
              <a:xfrm>
                <a:off x="1366266" y="4077652"/>
                <a:ext cx="265860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Bulguyu karara ve uygulamaya taşımak</a:t>
                </a:r>
              </a:p>
            </p:txBody>
          </p:sp>
        </p:grpSp>
        <p:grpSp>
          <p:nvGrpSpPr>
            <p:cNvPr id="52" name="diagram-legend"/>
            <p:cNvGrpSpPr/>
            <p:nvPr/>
          </p:nvGrpSpPr>
          <p:grpSpPr>
            <a:xfrm>
              <a:off x="1143000" y="4641056"/>
              <a:ext cx="8638635" cy="220028"/>
              <a:chOff x="1143000" y="4641056"/>
              <a:chExt cx="8638635" cy="220028"/>
            </a:xfrm>
          </p:grpSpPr>
          <p:sp>
            <p:nvSpPr>
              <p:cNvPr id="48" name="Line 48"/>
              <p:cNvSpPr/>
              <p:nvPr/>
            </p:nvSpPr>
            <p:spPr>
              <a:xfrm>
                <a:off x="1143000" y="4705350"/>
                <a:ext cx="304800" cy="1"/>
              </a:xfrm>
              <a:prstGeom prst="line">
                <a:avLst/>
              </a:prstGeom>
              <a:noFill/>
              <a:ln w="23812">
                <a:solidFill>
                  <a:srgbClr val="00A6A6"/>
                </a:solidFill>
                <a:tailEnd type="arrow" w="lg" len="lg"/>
              </a:ln>
            </p:spPr>
          </p:sp>
          <p:sp>
            <p:nvSpPr>
              <p:cNvPr id="49" name="TextBox 49"/>
              <p:cNvSpPr txBox="1"/>
              <p:nvPr/>
            </p:nvSpPr>
            <p:spPr>
              <a:xfrm>
                <a:off x="1537335" y="4641056"/>
                <a:ext cx="73211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İleri akış</a:t>
                </a:r>
              </a:p>
            </p:txBody>
          </p:sp>
          <p:sp>
            <p:nvSpPr>
              <p:cNvPr id="50" name="Line 50"/>
              <p:cNvSpPr/>
              <p:nvPr/>
            </p:nvSpPr>
            <p:spPr>
              <a:xfrm>
                <a:off x="2857500" y="4705350"/>
                <a:ext cx="304800" cy="1"/>
              </a:xfrm>
              <a:prstGeom prst="line">
                <a:avLst/>
              </a:prstGeom>
              <a:noFill/>
              <a:ln w="19050">
                <a:solidFill>
                  <a:srgbClr val="52616B"/>
                </a:solidFill>
                <a:custDash>
                  <a:ds d="300000" sp="200000"/>
                </a:custDash>
                <a:tailEnd type="arrow" w="lg" len="lg"/>
              </a:ln>
            </p:spPr>
          </p:sp>
          <p:sp>
            <p:nvSpPr>
              <p:cNvPr id="51" name="TextBox 51"/>
              <p:cNvSpPr txBox="1"/>
              <p:nvPr/>
            </p:nvSpPr>
            <p:spPr>
              <a:xfrm>
                <a:off x="3251835" y="4641056"/>
                <a:ext cx="652980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Geri dönüş: veri yetersizse iş anlamaya, değerlendirme yetersizse veri anlamaya dönülür</a:t>
                </a:r>
              </a:p>
            </p:txBody>
          </p:sp>
        </p:grpSp>
      </p:grpSp>
      <p:sp>
        <p:nvSpPr>
          <p:cNvPr id="54" name="TextBox 5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909827" cy="668845"/>
            <a:chOff x="609600" y="171450"/>
            <a:chExt cx="7909827"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721945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CRISP-DM: neden vardır ve uygulama</a:t>
              </a:r>
            </a:p>
          </p:txBody>
        </p:sp>
      </p:grpSp>
      <p:grpSp>
        <p:nvGrpSpPr>
          <p:cNvPr id="16" name="why-card"/>
          <p:cNvGrpSpPr/>
          <p:nvPr/>
        </p:nvGrpSpPr>
        <p:grpSpPr>
          <a:xfrm>
            <a:off x="609600" y="1104900"/>
            <a:ext cx="5295900" cy="2476500"/>
            <a:chOff x="609600" y="1104900"/>
            <a:chExt cx="5295900" cy="2476500"/>
          </a:xfrm>
        </p:grpSpPr>
        <p:sp>
          <p:nvSpPr>
            <p:cNvPr id="13" name="Rectangle 13"/>
            <p:cNvSpPr/>
            <p:nvPr/>
          </p:nvSpPr>
          <p:spPr>
            <a:xfrm>
              <a:off x="609600" y="1104900"/>
              <a:ext cx="5295900" cy="2476500"/>
            </a:xfrm>
            <a:prstGeom prst="roundRect">
              <a:avLst>
                <a:gd name="adj" fmla="val 3846"/>
              </a:avLst>
            </a:prstGeom>
            <a:solidFill>
              <a:srgbClr val="FFFFFF"/>
            </a:solidFill>
            <a:ln w="14288">
              <a:solidFill>
                <a:srgbClr val="B8CBD3"/>
              </a:solidFill>
            </a:ln>
          </p:spPr>
        </p:sp>
        <p:sp>
          <p:nvSpPr>
            <p:cNvPr id="14" name="TextBox 14"/>
            <p:cNvSpPr txBox="1"/>
            <p:nvPr/>
          </p:nvSpPr>
          <p:spPr>
            <a:xfrm>
              <a:off x="829818" y="1269682"/>
              <a:ext cx="163432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Neden vardır?</a:t>
              </a:r>
            </a:p>
          </p:txBody>
        </p:sp>
        <p:sp>
          <p:nvSpPr>
            <p:cNvPr id="15" name="TextBox 15"/>
            <p:cNvSpPr txBox="1"/>
            <p:nvPr/>
          </p:nvSpPr>
          <p:spPr>
            <a:xfrm>
              <a:off x="831723" y="1634014"/>
              <a:ext cx="3394202" cy="1163764"/>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Bir model teknik olarak doğru çalışabilir,</a:t>
              </a:r>
              <a:br/>
              <a:r>
                <a:rPr lang="tr-TR" sz="1280" dirty="0">
                  <a:solidFill>
                    <a:srgbClr val="172B3A"/>
                  </a:solidFill>
                  <a:latin typeface="+mn-lt"/>
                  <a:ea typeface="+mn-ea"/>
                  <a:cs typeface="+mn-cs"/>
                </a:rPr>
                <a:t>ancak iş problemi yanlış kurulmuş olabilir.</a:t>
              </a:r>
              <a:br/>
              <a:r>
                <a:rPr lang="tr-TR" sz="1280" dirty="0">
                  <a:solidFill>
                    <a:srgbClr val="172B3A"/>
                  </a:solidFill>
                  <a:latin typeface="+mn-lt"/>
                  <a:ea typeface="+mn-ea"/>
                  <a:cs typeface="+mn-cs"/>
                </a:rPr>
                <a:t>Kafe yöneticisi "israfı azaltmak" isterken</a:t>
              </a:r>
              <a:br/>
              <a:r>
                <a:rPr lang="tr-TR" sz="1280" dirty="0">
                  <a:solidFill>
                    <a:srgbClr val="172B3A"/>
                  </a:solidFill>
                  <a:latin typeface="+mn-lt"/>
                  <a:ea typeface="+mn-ea"/>
                  <a:cs typeface="+mn-cs"/>
                </a:rPr>
                <a:t>yalnızca satış tahmini yapılırsa, stok</a:t>
              </a:r>
              <a:br/>
              <a:r>
                <a:rPr lang="tr-TR" sz="1280" dirty="0">
                  <a:solidFill>
                    <a:srgbClr val="172B3A"/>
                  </a:solidFill>
                  <a:latin typeface="+mn-lt"/>
                  <a:ea typeface="+mn-ea"/>
                  <a:cs typeface="+mn-cs"/>
                </a:rPr>
                <a:t>tükenmesi göz ardı edilebilir.</a:t>
              </a:r>
            </a:p>
          </p:txBody>
        </p:sp>
      </p:grpSp>
      <p:grpSp>
        <p:nvGrpSpPr>
          <p:cNvPr id="20" name="nav-card"/>
          <p:cNvGrpSpPr/>
          <p:nvPr/>
        </p:nvGrpSpPr>
        <p:grpSpPr>
          <a:xfrm>
            <a:off x="609600" y="3771900"/>
            <a:ext cx="5295900" cy="2095500"/>
            <a:chOff x="609600" y="3771900"/>
            <a:chExt cx="5295900" cy="2095500"/>
          </a:xfrm>
        </p:grpSpPr>
        <p:sp>
          <p:nvSpPr>
            <p:cNvPr id="17" name="Rectangle 17"/>
            <p:cNvSpPr/>
            <p:nvPr/>
          </p:nvSpPr>
          <p:spPr>
            <a:xfrm>
              <a:off x="609600" y="3771900"/>
              <a:ext cx="5295900" cy="2095500"/>
            </a:xfrm>
            <a:prstGeom prst="roundRect">
              <a:avLst>
                <a:gd name="adj" fmla="val 4545"/>
              </a:avLst>
            </a:prstGeom>
            <a:solidFill>
              <a:srgbClr val="EAF4F6"/>
            </a:solidFill>
            <a:ln w="14288">
              <a:solidFill>
                <a:srgbClr val="00A6A6"/>
              </a:solidFill>
            </a:ln>
          </p:spPr>
        </p:sp>
        <p:sp>
          <p:nvSpPr>
            <p:cNvPr id="18" name="TextBox 18"/>
            <p:cNvSpPr txBox="1"/>
            <p:nvPr/>
          </p:nvSpPr>
          <p:spPr>
            <a:xfrm>
              <a:off x="829818" y="3936682"/>
              <a:ext cx="3511131"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Benzetme: şehir içi navigasyon</a:t>
              </a:r>
            </a:p>
          </p:txBody>
        </p:sp>
        <p:sp>
          <p:nvSpPr>
            <p:cNvPr id="19" name="TextBox 19"/>
            <p:cNvSpPr txBox="1"/>
            <p:nvPr/>
          </p:nvSpPr>
          <p:spPr>
            <a:xfrm>
              <a:off x="831723" y="4301014"/>
              <a:ext cx="2979674"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CRISP-DM, ekibin sürekli iş sorusuna</a:t>
              </a:r>
              <a:br/>
              <a:r>
                <a:rPr lang="tr-TR" sz="1280" dirty="0">
                  <a:solidFill>
                    <a:srgbClr val="172B3A"/>
                  </a:solidFill>
                  <a:latin typeface="+mn-lt"/>
                  <a:ea typeface="+mn-ea"/>
                  <a:cs typeface="+mn-cs"/>
                </a:rPr>
                <a:t>dönmesini sağlar; navigasyonda hedef</a:t>
              </a:r>
              <a:br/>
              <a:r>
                <a:rPr lang="tr-TR" sz="1280" dirty="0">
                  <a:solidFill>
                    <a:srgbClr val="172B3A"/>
                  </a:solidFill>
                  <a:latin typeface="+mn-lt"/>
                  <a:ea typeface="+mn-ea"/>
                  <a:cs typeface="+mn-cs"/>
                </a:rPr>
                <a:t>değişirse rota yeniden hesaplanır —</a:t>
              </a:r>
              <a:br/>
              <a:r>
                <a:rPr lang="tr-TR" sz="1280" dirty="0">
                  <a:solidFill>
                    <a:srgbClr val="172B3A"/>
                  </a:solidFill>
                  <a:latin typeface="+mn-lt"/>
                  <a:ea typeface="+mn-ea"/>
                  <a:cs typeface="+mn-cs"/>
                </a:rPr>
                <a:t>CRISP-DM'de de aynı mantık işler.</a:t>
              </a:r>
            </a:p>
          </p:txBody>
        </p:sp>
      </p:grpSp>
      <p:grpSp>
        <p:nvGrpSpPr>
          <p:cNvPr id="29" name="code-card"/>
          <p:cNvGrpSpPr/>
          <p:nvPr/>
        </p:nvGrpSpPr>
        <p:grpSpPr>
          <a:xfrm>
            <a:off x="6286500" y="1104900"/>
            <a:ext cx="5295900" cy="4762500"/>
            <a:chOff x="6286500" y="1104900"/>
            <a:chExt cx="5295900" cy="4762500"/>
          </a:xfrm>
        </p:grpSpPr>
        <p:sp>
          <p:nvSpPr>
            <p:cNvPr id="21" name="Rectangle 21"/>
            <p:cNvSpPr/>
            <p:nvPr/>
          </p:nvSpPr>
          <p:spPr>
            <a:xfrm>
              <a:off x="6286500" y="1104900"/>
              <a:ext cx="5295900" cy="4762500"/>
            </a:xfrm>
            <a:prstGeom prst="roundRect">
              <a:avLst>
                <a:gd name="adj" fmla="val 2000"/>
              </a:avLst>
            </a:prstGeom>
            <a:solidFill>
              <a:srgbClr val="12355B"/>
            </a:solidFill>
            <a:ln>
              <a:noFill/>
            </a:ln>
          </p:spPr>
        </p:sp>
        <p:sp>
          <p:nvSpPr>
            <p:cNvPr id="22" name="Ellipse 22"/>
            <p:cNvSpPr/>
            <p:nvPr/>
          </p:nvSpPr>
          <p:spPr>
            <a:xfrm>
              <a:off x="6457950" y="1276350"/>
              <a:ext cx="114300" cy="114300"/>
            </a:xfrm>
            <a:prstGeom prst="ellipse">
              <a:avLst/>
            </a:prstGeom>
            <a:solidFill>
              <a:srgbClr val="00A6A6"/>
            </a:solidFill>
            <a:ln>
              <a:noFill/>
            </a:ln>
          </p:spPr>
        </p:sp>
        <p:sp>
          <p:nvSpPr>
            <p:cNvPr id="23" name="Ellipse 23"/>
            <p:cNvSpPr/>
            <p:nvPr/>
          </p:nvSpPr>
          <p:spPr>
            <a:xfrm>
              <a:off x="6648450" y="1276350"/>
              <a:ext cx="114300" cy="114300"/>
            </a:xfrm>
            <a:prstGeom prst="ellipse">
              <a:avLst/>
            </a:prstGeom>
            <a:solidFill>
              <a:srgbClr val="2E86AB"/>
            </a:solidFill>
            <a:ln>
              <a:noFill/>
            </a:ln>
          </p:spPr>
        </p:sp>
        <p:sp>
          <p:nvSpPr>
            <p:cNvPr id="24" name="Ellipse 24"/>
            <p:cNvSpPr/>
            <p:nvPr/>
          </p:nvSpPr>
          <p:spPr>
            <a:xfrm>
              <a:off x="6838950" y="1276350"/>
              <a:ext cx="114300" cy="114300"/>
            </a:xfrm>
            <a:prstGeom prst="ellipse">
              <a:avLst/>
            </a:prstGeom>
            <a:solidFill>
              <a:srgbClr val="EAF4F6"/>
            </a:solidFill>
            <a:ln>
              <a:noFill/>
            </a:ln>
          </p:spPr>
        </p:sp>
        <p:sp>
          <p:nvSpPr>
            <p:cNvPr id="25" name="TextBox 25"/>
            <p:cNvSpPr txBox="1"/>
            <p:nvPr/>
          </p:nvSpPr>
          <p:spPr>
            <a:xfrm>
              <a:off x="6509385" y="1554956"/>
              <a:ext cx="2201926" cy="1686878"/>
            </a:xfrm>
            <a:prstGeom prst="rect">
              <a:avLst/>
            </a:prstGeom>
            <a:noFill/>
            <a:ln>
              <a:noFill/>
            </a:ln>
          </p:spPr>
          <p:txBody>
            <a:bodyPr wrap="none" lIns="0" tIns="0" rIns="0" bIns="0" anchor="t" anchorCtr="0">
              <a:spAutoFit/>
            </a:bodyPr>
            <a:lstStyle/>
            <a:p>
              <a:pPr algn="l">
                <a:lnSpc>
                  <a:spcPts val="1650"/>
                </a:lnSpc>
              </a:pPr>
              <a:r>
                <a:rPr lang="tr-TR" sz="1120" dirty="0">
                  <a:solidFill>
                    <a:srgbClr val="EAF4F6"/>
                  </a:solidFill>
                  <a:latin typeface="Consolas"/>
                  <a:ea typeface="Consolas"/>
                  <a:cs typeface="Consolas"/>
                </a:rPr>
                <a:t>isHedefi = {</a:t>
              </a:r>
              <a:br/>
              <a:r>
                <a:rPr lang="tr-TR" sz="1120" dirty="0">
                  <a:solidFill>
                    <a:srgbClr val="EAF4F6"/>
                  </a:solidFill>
                  <a:latin typeface="Consolas"/>
                  <a:ea typeface="Consolas"/>
                  <a:cs typeface="Consolas"/>
                </a:rPr>
                <a:t>"amac":</a:t>
              </a:r>
              <a:br/>
              <a:r>
                <a:rPr lang="tr-TR" sz="1120" dirty="0">
                  <a:solidFill>
                    <a:srgbClr val="EAF4F6"/>
                  </a:solidFill>
                  <a:latin typeface="Consolas"/>
                  <a:ea typeface="Consolas"/>
                  <a:cs typeface="Consolas"/>
                </a:rPr>
                <a:t>"Sandviç israfını azaltmak",</a:t>
              </a:r>
              <a:br/>
              <a:r>
                <a:rPr lang="tr-TR" sz="1120" dirty="0">
                  <a:solidFill>
                    <a:srgbClr val="EAF4F6"/>
                  </a:solidFill>
                  <a:latin typeface="Consolas"/>
                  <a:ea typeface="Consolas"/>
                  <a:cs typeface="Consolas"/>
                </a:rPr>
                <a:t>"basari_olcutu":</a:t>
              </a:r>
              <a:br/>
              <a:r>
                <a:rPr lang="tr-TR" sz="1120" dirty="0">
                  <a:solidFill>
                    <a:srgbClr val="EAF4F6"/>
                  </a:solidFill>
                  <a:latin typeface="Consolas"/>
                  <a:ea typeface="Consolas"/>
                  <a:cs typeface="Consolas"/>
                </a:rPr>
                <a:t>"Aylık israfı %15 azaltmak",</a:t>
              </a:r>
              <a:br/>
              <a:r>
                <a:rPr lang="tr-TR" sz="1120" dirty="0">
                  <a:solidFill>
                    <a:srgbClr val="EAF4F6"/>
                  </a:solidFill>
                  <a:latin typeface="Consolas"/>
                  <a:ea typeface="Consolas"/>
                  <a:cs typeface="Consolas"/>
                </a:rPr>
                <a:t>"veri_sorusu":</a:t>
              </a:r>
              <a:br/>
              <a:r>
                <a:rPr lang="tr-TR" sz="1120" dirty="0">
                  <a:solidFill>
                    <a:srgbClr val="EAF4F6"/>
                  </a:solidFill>
                  <a:latin typeface="Consolas"/>
                  <a:ea typeface="Consolas"/>
                  <a:cs typeface="Consolas"/>
                </a:rPr>
                <a:t>"Hangi günler talep yüksek?"</a:t>
              </a:r>
              <a:br/>
              <a:r>
                <a:rPr lang="tr-TR" sz="1120" dirty="0">
                  <a:solidFill>
                    <a:srgbClr val="EAF4F6"/>
                  </a:solidFill>
                  <a:latin typeface="Consolas"/>
                  <a:ea typeface="Consolas"/>
                  <a:cs typeface="Consolas"/>
                </a:rPr>
                <a:t>}</a:t>
              </a:r>
            </a:p>
          </p:txBody>
        </p:sp>
        <p:sp>
          <p:nvSpPr>
            <p:cNvPr id="26" name="TextBox 26"/>
            <p:cNvSpPr txBox="1"/>
            <p:nvPr/>
          </p:nvSpPr>
          <p:spPr>
            <a:xfrm>
              <a:off x="6509385" y="3383756"/>
              <a:ext cx="2201926"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00A6A6"/>
                  </a:solidFill>
                  <a:latin typeface="Consolas"/>
                  <a:ea typeface="Consolas"/>
                  <a:cs typeface="Consolas"/>
                </a:rPr>
                <a:t>for anahtar, deger in</a:t>
              </a:r>
              <a:br/>
              <a:r>
                <a:rPr lang="tr-TR" sz="1120" dirty="0">
                  <a:solidFill>
                    <a:srgbClr val="00A6A6"/>
                  </a:solidFill>
                  <a:latin typeface="Consolas"/>
                  <a:ea typeface="Consolas"/>
                  <a:cs typeface="Consolas"/>
                </a:rPr>
                <a:t>isHedefi.items():</a:t>
              </a:r>
              <a:br/>
              <a:r>
                <a:rPr lang="tr-TR" sz="1120" dirty="0">
                  <a:solidFill>
                    <a:srgbClr val="00A6A6"/>
                  </a:solidFill>
                  <a:latin typeface="Consolas"/>
                  <a:ea typeface="Consolas"/>
                  <a:cs typeface="Consolas"/>
                </a:rPr>
                <a:t>print(f"{anahtar}: {deger}")</a:t>
              </a:r>
            </a:p>
          </p:txBody>
        </p:sp>
        <p:sp>
          <p:nvSpPr>
            <p:cNvPr id="27" name="TextBox 27"/>
            <p:cNvSpPr txBox="1"/>
            <p:nvPr/>
          </p:nvSpPr>
          <p:spPr>
            <a:xfrm>
              <a:off x="6509385" y="4241006"/>
              <a:ext cx="2984246" cy="848678"/>
            </a:xfrm>
            <a:prstGeom prst="rect">
              <a:avLst/>
            </a:prstGeom>
            <a:noFill/>
            <a:ln>
              <a:noFill/>
            </a:ln>
          </p:spPr>
          <p:txBody>
            <a:bodyPr wrap="none" lIns="0" tIns="0" rIns="0" bIns="0" anchor="t" anchorCtr="0">
              <a:spAutoFit/>
            </a:bodyPr>
            <a:lstStyle/>
            <a:p>
              <a:pPr algn="l">
                <a:lnSpc>
                  <a:spcPts val="1650"/>
                </a:lnSpc>
              </a:pPr>
              <a:r>
                <a:rPr lang="tr-TR" sz="1120" dirty="0">
                  <a:solidFill>
                    <a:srgbClr val="B8CBD3"/>
                  </a:solidFill>
                  <a:latin typeface="Consolas"/>
                  <a:ea typeface="Consolas"/>
                  <a:cs typeface="Consolas"/>
                </a:rPr>
                <a:t># Çıktı:</a:t>
              </a:r>
              <a:br/>
              <a:r>
                <a:rPr lang="tr-TR" sz="1120" dirty="0">
                  <a:solidFill>
                    <a:srgbClr val="B8CBD3"/>
                  </a:solidFill>
                  <a:latin typeface="Consolas"/>
                  <a:ea typeface="Consolas"/>
                  <a:cs typeface="Consolas"/>
                </a:rPr>
                <a:t># amac: Sandviç israfını azaltmak</a:t>
              </a:r>
              <a:br/>
              <a:r>
                <a:rPr lang="tr-TR" sz="1120" dirty="0">
                  <a:solidFill>
                    <a:srgbClr val="B8CBD3"/>
                  </a:solidFill>
                  <a:latin typeface="Consolas"/>
                  <a:ea typeface="Consolas"/>
                  <a:cs typeface="Consolas"/>
                </a:rPr>
                <a:t># basari_olcutu: %15 azaltmak</a:t>
              </a:r>
              <a:br/>
              <a:r>
                <a:rPr lang="tr-TR" sz="1120" dirty="0">
                  <a:solidFill>
                    <a:srgbClr val="B8CBD3"/>
                  </a:solidFill>
                  <a:latin typeface="Consolas"/>
                  <a:ea typeface="Consolas"/>
                  <a:cs typeface="Consolas"/>
                </a:rPr>
                <a:t># veri_sorusu: Hangi gün talep yüksek?</a:t>
              </a:r>
            </a:p>
          </p:txBody>
        </p:sp>
        <p:sp>
          <p:nvSpPr>
            <p:cNvPr id="28" name="TextBox 28"/>
            <p:cNvSpPr txBox="1"/>
            <p:nvPr/>
          </p:nvSpPr>
          <p:spPr>
            <a:xfrm>
              <a:off x="6509766" y="5373052"/>
              <a:ext cx="2357628"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52616B"/>
                  </a:solidFill>
                  <a:latin typeface="Consolas"/>
                  <a:ea typeface="Consolas"/>
                  <a:cs typeface="Consolas"/>
                </a:rPr>
                <a:t>Sözlük yapısı hedefleri aynı not</a:t>
              </a:r>
              <a:br/>
              <a:r>
                <a:rPr lang="tr-TR" sz="1050" dirty="0">
                  <a:solidFill>
                    <a:srgbClr val="52616B"/>
                  </a:solidFill>
                  <a:latin typeface="Consolas"/>
                  <a:ea typeface="Consolas"/>
                  <a:cs typeface="Consolas"/>
                </a:rPr>
                <a:t>defterinde görünür kılar.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747966" cy="668845"/>
            <a:chOff x="609600" y="171450"/>
            <a:chExt cx="8747966"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80575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CRISP-DM: tercih koşulu ve alternatifler</a:t>
              </a:r>
            </a:p>
          </p:txBody>
        </p:sp>
      </p:grpSp>
      <p:grpSp>
        <p:nvGrpSpPr>
          <p:cNvPr id="17" name="when-band"/>
          <p:cNvGrpSpPr/>
          <p:nvPr/>
        </p:nvGrpSpPr>
        <p:grpSpPr>
          <a:xfrm>
            <a:off x="609600" y="1104900"/>
            <a:ext cx="10972800" cy="914400"/>
            <a:chOff x="609600" y="1104900"/>
            <a:chExt cx="10972800" cy="914400"/>
          </a:xfrm>
        </p:grpSpPr>
        <p:sp>
          <p:nvSpPr>
            <p:cNvPr id="13" name="Rectangle 13"/>
            <p:cNvSpPr/>
            <p:nvPr/>
          </p:nvSpPr>
          <p:spPr>
            <a:xfrm>
              <a:off x="609600" y="1104900"/>
              <a:ext cx="10972800" cy="914400"/>
            </a:xfrm>
            <a:prstGeom prst="roundRect">
              <a:avLst>
                <a:gd name="adj" fmla="val 8333"/>
              </a:avLst>
            </a:prstGeom>
            <a:solidFill>
              <a:srgbClr val="EAF4F6"/>
            </a:solidFill>
            <a:ln>
              <a:noFill/>
            </a:ln>
          </p:spPr>
        </p:sp>
        <p:sp>
          <p:nvSpPr>
            <p:cNvPr id="14" name="TextBox 14"/>
            <p:cNvSpPr txBox="1"/>
            <p:nvPr/>
          </p:nvSpPr>
          <p:spPr>
            <a:xfrm>
              <a:off x="830580" y="1266825"/>
              <a:ext cx="8469677"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CRISP-DM, veri çalışmasının bir iş kararına dönüşmesi beklendiğinde tercih edilir</a:t>
              </a:r>
            </a:p>
          </p:txBody>
        </p:sp>
        <p:sp>
          <p:nvSpPr>
            <p:cNvPr id="15" name="TextBox 15"/>
            <p:cNvSpPr txBox="1"/>
            <p:nvPr/>
          </p:nvSpPr>
          <p:spPr>
            <a:xfrm>
              <a:off x="831723" y="1576864"/>
              <a:ext cx="8927363"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Kafe stok planı, müşteri kaybı tahmini veya bakım ihtiyacı tahmini bu kapsamdadır; tek seferlik bir ders</a:t>
              </a:r>
            </a:p>
          </p:txBody>
        </p:sp>
        <p:sp>
          <p:nvSpPr>
            <p:cNvPr id="16" name="TextBox 16"/>
            <p:cNvSpPr txBox="1"/>
            <p:nvPr/>
          </p:nvSpPr>
          <p:spPr>
            <a:xfrm>
              <a:off x="831723" y="1767364"/>
              <a:ext cx="8266775"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alıştırmasında evreler ayrıntılı yürütülmeyebilir — ama öğrenci hangi evrede olduğunu bilmelidir.</a:t>
              </a:r>
            </a:p>
          </p:txBody>
        </p:sp>
      </p:grpSp>
      <p:grpSp>
        <p:nvGrpSpPr>
          <p:cNvPr id="43" name="alt-table"/>
          <p:cNvGrpSpPr/>
          <p:nvPr/>
        </p:nvGrpSpPr>
        <p:grpSpPr>
          <a:xfrm>
            <a:off x="609600" y="2209800"/>
            <a:ext cx="10972800" cy="3219450"/>
            <a:chOff x="609600" y="2209800"/>
            <a:chExt cx="10972800" cy="3219450"/>
          </a:xfrm>
        </p:grpSpPr>
        <p:sp>
          <p:nvSpPr>
            <p:cNvPr id="18" name="Rectangle 18"/>
            <p:cNvSpPr/>
            <p:nvPr/>
          </p:nvSpPr>
          <p:spPr>
            <a:xfrm>
              <a:off x="609600" y="2209800"/>
              <a:ext cx="10972800" cy="400050"/>
            </a:xfrm>
            <a:prstGeom prst="rect">
              <a:avLst/>
            </a:prstGeom>
            <a:solidFill>
              <a:srgbClr val="12355B"/>
            </a:solidFill>
            <a:ln>
              <a:noFill/>
            </a:ln>
          </p:spPr>
        </p:sp>
        <p:sp>
          <p:nvSpPr>
            <p:cNvPr id="19" name="TextBox 19"/>
            <p:cNvSpPr txBox="1"/>
            <p:nvPr/>
          </p:nvSpPr>
          <p:spPr>
            <a:xfrm>
              <a:off x="756285" y="2336006"/>
              <a:ext cx="116127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METODOLOJİ</a:t>
              </a:r>
            </a:p>
          </p:txBody>
        </p:sp>
        <p:sp>
          <p:nvSpPr>
            <p:cNvPr id="20" name="TextBox 20"/>
            <p:cNvSpPr txBox="1"/>
            <p:nvPr/>
          </p:nvSpPr>
          <p:spPr>
            <a:xfrm>
              <a:off x="3137535" y="2336006"/>
              <a:ext cx="183207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UYGUN OLDUĞU DURUM</a:t>
              </a:r>
            </a:p>
          </p:txBody>
        </p:sp>
        <p:sp>
          <p:nvSpPr>
            <p:cNvPr id="21" name="TextBox 21"/>
            <p:cNvSpPr txBox="1"/>
            <p:nvPr/>
          </p:nvSpPr>
          <p:spPr>
            <a:xfrm>
              <a:off x="6280785" y="2336006"/>
              <a:ext cx="943813"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GÜÇLÜ YANI</a:t>
              </a:r>
            </a:p>
          </p:txBody>
        </p:sp>
        <p:sp>
          <p:nvSpPr>
            <p:cNvPr id="22" name="TextBox 22"/>
            <p:cNvSpPr txBox="1"/>
            <p:nvPr/>
          </p:nvSpPr>
          <p:spPr>
            <a:xfrm>
              <a:off x="8852535" y="2336006"/>
              <a:ext cx="92102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SINIRLILIĞI</a:t>
              </a:r>
            </a:p>
          </p:txBody>
        </p:sp>
        <p:sp>
          <p:nvSpPr>
            <p:cNvPr id="23" name="Rectangle 23"/>
            <p:cNvSpPr/>
            <p:nvPr/>
          </p:nvSpPr>
          <p:spPr>
            <a:xfrm>
              <a:off x="609600" y="2609850"/>
              <a:ext cx="10972800" cy="704850"/>
            </a:xfrm>
            <a:prstGeom prst="rect">
              <a:avLst/>
            </a:prstGeom>
            <a:solidFill>
              <a:srgbClr val="FFFFFF"/>
            </a:solidFill>
            <a:ln>
              <a:noFill/>
            </a:ln>
          </p:spPr>
        </p:sp>
        <p:sp>
          <p:nvSpPr>
            <p:cNvPr id="24" name="TextBox 24"/>
            <p:cNvSpPr txBox="1"/>
            <p:nvPr/>
          </p:nvSpPr>
          <p:spPr>
            <a:xfrm>
              <a:off x="754761" y="2856071"/>
              <a:ext cx="93702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CRISP-DM</a:t>
              </a:r>
            </a:p>
          </p:txBody>
        </p:sp>
        <p:sp>
          <p:nvSpPr>
            <p:cNvPr id="25" name="TextBox 25"/>
            <p:cNvSpPr txBox="1"/>
            <p:nvPr/>
          </p:nvSpPr>
          <p:spPr>
            <a:xfrm>
              <a:off x="3137535" y="2821781"/>
              <a:ext cx="96443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İş odaklı veri</a:t>
              </a:r>
              <a:br/>
              <a:r>
                <a:rPr lang="tr-TR" sz="1120" dirty="0">
                  <a:solidFill>
                    <a:srgbClr val="172B3A"/>
                  </a:solidFill>
                  <a:latin typeface="+mn-lt"/>
                  <a:ea typeface="+mn-ea"/>
                  <a:cs typeface="+mn-cs"/>
                </a:rPr>
                <a:t>projeleri</a:t>
              </a:r>
            </a:p>
          </p:txBody>
        </p:sp>
        <p:sp>
          <p:nvSpPr>
            <p:cNvPr id="26" name="TextBox 26"/>
            <p:cNvSpPr txBox="1"/>
            <p:nvPr/>
          </p:nvSpPr>
          <p:spPr>
            <a:xfrm>
              <a:off x="6280785" y="2821781"/>
              <a:ext cx="879094"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Yinelemeli ve</a:t>
              </a:r>
              <a:br/>
              <a:r>
                <a:rPr lang="tr-TR" sz="1120" dirty="0">
                  <a:solidFill>
                    <a:srgbClr val="172B3A"/>
                  </a:solidFill>
                  <a:latin typeface="+mn-lt"/>
                  <a:ea typeface="+mn-ea"/>
                  <a:cs typeface="+mn-cs"/>
                </a:rPr>
                <a:t>anlaşılırdır</a:t>
              </a:r>
            </a:p>
          </p:txBody>
        </p:sp>
        <p:sp>
          <p:nvSpPr>
            <p:cNvPr id="27" name="TextBox 27"/>
            <p:cNvSpPr txBox="1"/>
            <p:nvPr/>
          </p:nvSpPr>
          <p:spPr>
            <a:xfrm>
              <a:off x="8852535" y="2821781"/>
              <a:ext cx="125603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Araç seçimini</a:t>
              </a:r>
              <a:br/>
              <a:r>
                <a:rPr lang="tr-TR" sz="1120" dirty="0">
                  <a:solidFill>
                    <a:srgbClr val="172B3A"/>
                  </a:solidFill>
                  <a:latin typeface="+mn-lt"/>
                  <a:ea typeface="+mn-ea"/>
                  <a:cs typeface="+mn-cs"/>
                </a:rPr>
                <a:t>ayrıntılandırmaz</a:t>
              </a:r>
            </a:p>
          </p:txBody>
        </p:sp>
        <p:sp>
          <p:nvSpPr>
            <p:cNvPr id="28" name="Rectangle 28"/>
            <p:cNvSpPr/>
            <p:nvPr/>
          </p:nvSpPr>
          <p:spPr>
            <a:xfrm>
              <a:off x="609600" y="3314700"/>
              <a:ext cx="10972800" cy="704850"/>
            </a:xfrm>
            <a:prstGeom prst="rect">
              <a:avLst/>
            </a:prstGeom>
            <a:solidFill>
              <a:srgbClr val="EAF4F6"/>
            </a:solidFill>
            <a:ln>
              <a:noFill/>
            </a:ln>
          </p:spPr>
        </p:sp>
        <p:sp>
          <p:nvSpPr>
            <p:cNvPr id="29" name="TextBox 29"/>
            <p:cNvSpPr txBox="1"/>
            <p:nvPr/>
          </p:nvSpPr>
          <p:spPr>
            <a:xfrm>
              <a:off x="754761" y="3560921"/>
              <a:ext cx="36441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KDD</a:t>
              </a:r>
            </a:p>
          </p:txBody>
        </p:sp>
        <p:sp>
          <p:nvSpPr>
            <p:cNvPr id="30" name="TextBox 30"/>
            <p:cNvSpPr txBox="1"/>
            <p:nvPr/>
          </p:nvSpPr>
          <p:spPr>
            <a:xfrm>
              <a:off x="3137535" y="3526631"/>
              <a:ext cx="1021334"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Bilgi keşfi</a:t>
              </a:r>
              <a:br/>
              <a:r>
                <a:rPr lang="tr-TR" sz="1120" dirty="0">
                  <a:solidFill>
                    <a:srgbClr val="172B3A"/>
                  </a:solidFill>
                  <a:latin typeface="+mn-lt"/>
                  <a:ea typeface="+mn-ea"/>
                  <a:cs typeface="+mn-cs"/>
                </a:rPr>
                <a:t>araştırmaları</a:t>
              </a:r>
            </a:p>
          </p:txBody>
        </p:sp>
        <p:sp>
          <p:nvSpPr>
            <p:cNvPr id="31" name="TextBox 31"/>
            <p:cNvSpPr txBox="1"/>
            <p:nvPr/>
          </p:nvSpPr>
          <p:spPr>
            <a:xfrm>
              <a:off x="6280785" y="3526631"/>
              <a:ext cx="120624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Veri hazırlama</a:t>
              </a:r>
              <a:br/>
              <a:r>
                <a:rPr lang="tr-TR" sz="1120" dirty="0">
                  <a:solidFill>
                    <a:srgbClr val="172B3A"/>
                  </a:solidFill>
                  <a:latin typeface="+mn-lt"/>
                  <a:ea typeface="+mn-ea"/>
                  <a:cs typeface="+mn-cs"/>
                </a:rPr>
                <a:t>zincirini vurgular</a:t>
              </a:r>
            </a:p>
          </p:txBody>
        </p:sp>
        <p:sp>
          <p:nvSpPr>
            <p:cNvPr id="32" name="TextBox 32"/>
            <p:cNvSpPr txBox="1"/>
            <p:nvPr/>
          </p:nvSpPr>
          <p:spPr>
            <a:xfrm>
              <a:off x="8852535" y="3526631"/>
              <a:ext cx="109956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Yaygınlaştırma</a:t>
              </a:r>
              <a:br/>
              <a:r>
                <a:rPr lang="tr-TR" sz="1120" dirty="0">
                  <a:solidFill>
                    <a:srgbClr val="172B3A"/>
                  </a:solidFill>
                  <a:latin typeface="+mn-lt"/>
                  <a:ea typeface="+mn-ea"/>
                  <a:cs typeface="+mn-cs"/>
                </a:rPr>
                <a:t>zayıftır</a:t>
              </a:r>
            </a:p>
          </p:txBody>
        </p:sp>
        <p:sp>
          <p:nvSpPr>
            <p:cNvPr id="33" name="Rectangle 33"/>
            <p:cNvSpPr/>
            <p:nvPr/>
          </p:nvSpPr>
          <p:spPr>
            <a:xfrm>
              <a:off x="609600" y="4019550"/>
              <a:ext cx="10972800" cy="704850"/>
            </a:xfrm>
            <a:prstGeom prst="rect">
              <a:avLst/>
            </a:prstGeom>
            <a:solidFill>
              <a:srgbClr val="FFFFFF"/>
            </a:solidFill>
            <a:ln>
              <a:noFill/>
            </a:ln>
          </p:spPr>
        </p:sp>
        <p:sp>
          <p:nvSpPr>
            <p:cNvPr id="34" name="TextBox 34"/>
            <p:cNvSpPr txBox="1"/>
            <p:nvPr/>
          </p:nvSpPr>
          <p:spPr>
            <a:xfrm>
              <a:off x="754761" y="4265771"/>
              <a:ext cx="68252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OSEMN</a:t>
              </a:r>
            </a:p>
          </p:txBody>
        </p:sp>
        <p:sp>
          <p:nvSpPr>
            <p:cNvPr id="35" name="TextBox 35"/>
            <p:cNvSpPr txBox="1"/>
            <p:nvPr/>
          </p:nvSpPr>
          <p:spPr>
            <a:xfrm>
              <a:off x="3137535" y="4231481"/>
              <a:ext cx="108534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Hızlı veri bilimi</a:t>
              </a:r>
              <a:br/>
              <a:r>
                <a:rPr lang="tr-TR" sz="1120" dirty="0">
                  <a:solidFill>
                    <a:srgbClr val="172B3A"/>
                  </a:solidFill>
                  <a:latin typeface="+mn-lt"/>
                  <a:ea typeface="+mn-ea"/>
                  <a:cs typeface="+mn-cs"/>
                </a:rPr>
                <a:t>çalışmaları</a:t>
              </a:r>
            </a:p>
          </p:txBody>
        </p:sp>
        <p:sp>
          <p:nvSpPr>
            <p:cNvPr id="36" name="TextBox 36"/>
            <p:cNvSpPr txBox="1"/>
            <p:nvPr/>
          </p:nvSpPr>
          <p:spPr>
            <a:xfrm>
              <a:off x="6280785" y="4231481"/>
              <a:ext cx="86487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Hatırlaması</a:t>
              </a:r>
              <a:br/>
              <a:r>
                <a:rPr lang="tr-TR" sz="1120" dirty="0">
                  <a:solidFill>
                    <a:srgbClr val="172B3A"/>
                  </a:solidFill>
                  <a:latin typeface="+mn-lt"/>
                  <a:ea typeface="+mn-ea"/>
                  <a:cs typeface="+mn-cs"/>
                </a:rPr>
                <a:t>kolaydır</a:t>
              </a:r>
            </a:p>
          </p:txBody>
        </p:sp>
        <p:sp>
          <p:nvSpPr>
            <p:cNvPr id="37" name="TextBox 37"/>
            <p:cNvSpPr txBox="1"/>
            <p:nvPr/>
          </p:nvSpPr>
          <p:spPr>
            <a:xfrm>
              <a:off x="8852535" y="4231481"/>
              <a:ext cx="112090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İş hedefini daha</a:t>
              </a:r>
              <a:br/>
              <a:r>
                <a:rPr lang="tr-TR" sz="1120" dirty="0">
                  <a:solidFill>
                    <a:srgbClr val="172B3A"/>
                  </a:solidFill>
                  <a:latin typeface="+mn-lt"/>
                  <a:ea typeface="+mn-ea"/>
                  <a:cs typeface="+mn-cs"/>
                </a:rPr>
                <a:t>az öne çıkarır</a:t>
              </a:r>
            </a:p>
          </p:txBody>
        </p:sp>
        <p:sp>
          <p:nvSpPr>
            <p:cNvPr id="38" name="Rectangle 38"/>
            <p:cNvSpPr/>
            <p:nvPr/>
          </p:nvSpPr>
          <p:spPr>
            <a:xfrm>
              <a:off x="609600" y="4724400"/>
              <a:ext cx="10972800" cy="704850"/>
            </a:xfrm>
            <a:prstGeom prst="rect">
              <a:avLst/>
            </a:prstGeom>
            <a:solidFill>
              <a:srgbClr val="EAF4F6"/>
            </a:solidFill>
            <a:ln>
              <a:noFill/>
            </a:ln>
          </p:spPr>
        </p:sp>
        <p:sp>
          <p:nvSpPr>
            <p:cNvPr id="39" name="TextBox 39"/>
            <p:cNvSpPr txBox="1"/>
            <p:nvPr/>
          </p:nvSpPr>
          <p:spPr>
            <a:xfrm>
              <a:off x="754761" y="4970621"/>
              <a:ext cx="126435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Agile analitik</a:t>
              </a:r>
            </a:p>
          </p:txBody>
        </p:sp>
        <p:sp>
          <p:nvSpPr>
            <p:cNvPr id="40" name="TextBox 40"/>
            <p:cNvSpPr txBox="1"/>
            <p:nvPr/>
          </p:nvSpPr>
          <p:spPr>
            <a:xfrm>
              <a:off x="3137535" y="4936331"/>
              <a:ext cx="68707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Değişen</a:t>
              </a:r>
              <a:br/>
              <a:r>
                <a:rPr lang="tr-TR" sz="1120" dirty="0">
                  <a:solidFill>
                    <a:srgbClr val="172B3A"/>
                  </a:solidFill>
                  <a:latin typeface="+mn-lt"/>
                  <a:ea typeface="+mn-ea"/>
                  <a:cs typeface="+mn-cs"/>
                </a:rPr>
                <a:t>ihtiyaçlar</a:t>
              </a:r>
            </a:p>
          </p:txBody>
        </p:sp>
        <p:sp>
          <p:nvSpPr>
            <p:cNvPr id="41" name="TextBox 41"/>
            <p:cNvSpPr txBox="1"/>
            <p:nvPr/>
          </p:nvSpPr>
          <p:spPr>
            <a:xfrm>
              <a:off x="6280785" y="4936331"/>
              <a:ext cx="95732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Kısa döngüler</a:t>
              </a:r>
              <a:br/>
              <a:r>
                <a:rPr lang="tr-TR" sz="1120" dirty="0">
                  <a:solidFill>
                    <a:srgbClr val="172B3A"/>
                  </a:solidFill>
                  <a:latin typeface="+mn-lt"/>
                  <a:ea typeface="+mn-ea"/>
                  <a:cs typeface="+mn-cs"/>
                </a:rPr>
                <a:t>sağlar</a:t>
              </a:r>
            </a:p>
          </p:txBody>
        </p:sp>
        <p:sp>
          <p:nvSpPr>
            <p:cNvPr id="42" name="TextBox 42"/>
            <p:cNvSpPr txBox="1"/>
            <p:nvPr/>
          </p:nvSpPr>
          <p:spPr>
            <a:xfrm>
              <a:off x="8852535" y="4936331"/>
              <a:ext cx="145516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Disiplinli</a:t>
              </a:r>
              <a:br/>
              <a:r>
                <a:rPr lang="tr-TR" sz="1120" dirty="0">
                  <a:solidFill>
                    <a:srgbClr val="172B3A"/>
                  </a:solidFill>
                  <a:latin typeface="+mn-lt"/>
                  <a:ea typeface="+mn-ea"/>
                  <a:cs typeface="+mn-cs"/>
                </a:rPr>
                <a:t>dokümantasyon ister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157808" cy="668845"/>
            <a:chOff x="609600" y="171450"/>
            <a:chExt cx="615780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46743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CRISP-DM: sık yapılan hata</a:t>
              </a:r>
            </a:p>
          </p:txBody>
        </p:sp>
      </p:grpSp>
      <p:grpSp>
        <p:nvGrpSpPr>
          <p:cNvPr id="13" name="claim-band"/>
          <p:cNvGrpSpPr/>
          <p:nvPr/>
        </p:nvGrpSpPr>
        <p:grpSpPr>
          <a:xfrm>
            <a:off x="601980" y="1152525"/>
            <a:ext cx="6797040" cy="541020"/>
            <a:chOff x="601980" y="1152525"/>
            <a:chExt cx="6797040" cy="541020"/>
          </a:xfrm>
        </p:grpSpPr>
        <p:sp>
          <p:nvSpPr>
            <p:cNvPr id="12" name="TextBox 12"/>
            <p:cNvSpPr txBox="1"/>
            <p:nvPr/>
          </p:nvSpPr>
          <p:spPr>
            <a:xfrm>
              <a:off x="601980" y="1152525"/>
              <a:ext cx="6797040" cy="541020"/>
            </a:xfrm>
            <a:prstGeom prst="rect">
              <a:avLst/>
            </a:prstGeom>
            <a:noFill/>
            <a:ln>
              <a:noFill/>
            </a:ln>
          </p:spPr>
          <p:txBody>
            <a:bodyPr wrap="none" lIns="0" tIns="0" rIns="0" bIns="0" anchor="t" anchorCtr="0">
              <a:spAutoFit/>
            </a:bodyPr>
            <a:lstStyle/>
            <a:p>
              <a:pPr algn="l">
                <a:lnSpc>
                  <a:spcPts val="1950"/>
                </a:lnSpc>
              </a:pPr>
              <a:r>
                <a:rPr lang="tr-TR" sz="1500" dirty="0">
                  <a:solidFill>
                    <a:srgbClr val="172B3A"/>
                  </a:solidFill>
                  <a:latin typeface="+mn-lt"/>
                  <a:ea typeface="+mn-ea"/>
                  <a:cs typeface="+mn-cs"/>
                </a:rPr>
                <a:t>En sık hata, modelleme evresinden başlamaktır — veri yüklenir yüklenmez</a:t>
              </a:r>
              <a:br/>
              <a:r>
                <a:rPr lang="tr-TR" sz="1500" dirty="0">
                  <a:solidFill>
                    <a:srgbClr val="172B3A"/>
                  </a:solidFill>
                  <a:latin typeface="+mn-lt"/>
                  <a:ea typeface="+mn-ea"/>
                  <a:cs typeface="+mn-cs"/>
                </a:rPr>
                <a:t>algoritma çalıştırmak, iş hedefinin belirsiz kalmasına yol açar.</a:t>
              </a:r>
            </a:p>
          </p:txBody>
        </p:sp>
      </p:grpSp>
      <p:grpSp>
        <p:nvGrpSpPr>
          <p:cNvPr id="20" name="wrong-card"/>
          <p:cNvGrpSpPr/>
          <p:nvPr/>
        </p:nvGrpSpPr>
        <p:grpSpPr>
          <a:xfrm>
            <a:off x="609600" y="1714500"/>
            <a:ext cx="5295900" cy="3810000"/>
            <a:chOff x="609600" y="1714500"/>
            <a:chExt cx="5295900" cy="3810000"/>
          </a:xfrm>
        </p:grpSpPr>
        <p:sp>
          <p:nvSpPr>
            <p:cNvPr id="14" name="Rectangle 14"/>
            <p:cNvSpPr/>
            <p:nvPr/>
          </p:nvSpPr>
          <p:spPr>
            <a:xfrm>
              <a:off x="609600" y="1714500"/>
              <a:ext cx="5295900" cy="3810000"/>
            </a:xfrm>
            <a:prstGeom prst="roundRect">
              <a:avLst>
                <a:gd name="adj" fmla="val 2500"/>
              </a:avLst>
            </a:prstGeom>
            <a:solidFill>
              <a:srgbClr val="FFFFFF"/>
            </a:solidFill>
            <a:ln w="14288">
              <a:solidFill>
                <a:srgbClr val="B8CBD3"/>
              </a:solidFill>
            </a:ln>
          </p:spPr>
        </p:sp>
        <p:sp>
          <p:nvSpPr>
            <p:cNvPr id="15" name="Rectangle 15"/>
            <p:cNvSpPr/>
            <p:nvPr/>
          </p:nvSpPr>
          <p:spPr>
            <a:xfrm>
              <a:off x="609600" y="1714500"/>
              <a:ext cx="1143000" cy="323850"/>
            </a:xfrm>
            <a:prstGeom prst="roundRect">
              <a:avLst>
                <a:gd name="adj" fmla="val 17647"/>
              </a:avLst>
            </a:prstGeom>
            <a:solidFill>
              <a:srgbClr val="52616B"/>
            </a:solidFill>
            <a:ln>
              <a:noFill/>
            </a:ln>
          </p:spPr>
        </p:sp>
        <p:sp>
          <p:nvSpPr>
            <p:cNvPr id="16" name="TextBox 16"/>
            <p:cNvSpPr txBox="1"/>
            <p:nvPr/>
          </p:nvSpPr>
          <p:spPr>
            <a:xfrm>
              <a:off x="936616" y="1820228"/>
              <a:ext cx="48896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YANLIŞ</a:t>
              </a:r>
            </a:p>
          </p:txBody>
        </p:sp>
        <p:sp>
          <p:nvSpPr>
            <p:cNvPr id="17" name="TextBox 17"/>
            <p:cNvSpPr txBox="1"/>
            <p:nvPr/>
          </p:nvSpPr>
          <p:spPr>
            <a:xfrm>
              <a:off x="832485" y="2278856"/>
              <a:ext cx="1888998"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12355B"/>
                  </a:solidFill>
                  <a:latin typeface="Consolas"/>
                  <a:ea typeface="Consolas"/>
                  <a:cs typeface="Consolas"/>
                </a:rPr>
                <a:t># model.fit(girdiVerisi,</a:t>
              </a:r>
              <a:br/>
              <a:r>
                <a:rPr lang="tr-TR" sz="1120" dirty="0">
                  <a:solidFill>
                    <a:srgbClr val="12355B"/>
                  </a:solidFill>
                  <a:latin typeface="Consolas"/>
                  <a:ea typeface="Consolas"/>
                  <a:cs typeface="Consolas"/>
                </a:rPr>
                <a:t># hedefVerisi)</a:t>
              </a:r>
            </a:p>
          </p:txBody>
        </p:sp>
        <p:sp>
          <p:nvSpPr>
            <p:cNvPr id="18" name="Line 18"/>
            <p:cNvSpPr/>
            <p:nvPr/>
          </p:nvSpPr>
          <p:spPr>
            <a:xfrm>
              <a:off x="838200" y="28384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9" name="TextBox 19"/>
            <p:cNvSpPr txBox="1"/>
            <p:nvPr/>
          </p:nvSpPr>
          <p:spPr>
            <a:xfrm>
              <a:off x="831723" y="3005614"/>
              <a:ext cx="3028442"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İş hedefi açıklanmadan model</a:t>
              </a:r>
              <a:br/>
              <a:r>
                <a:rPr lang="tr-TR" sz="1280" dirty="0">
                  <a:solidFill>
                    <a:srgbClr val="172B3A"/>
                  </a:solidFill>
                  <a:latin typeface="+mn-lt"/>
                  <a:ea typeface="+mn-ea"/>
                  <a:cs typeface="+mn-cs"/>
                </a:rPr>
                <a:t>kurulmaya çalışılır; hedef değişkenin</a:t>
              </a:r>
              <a:br/>
              <a:r>
                <a:rPr lang="tr-TR" sz="1280" dirty="0">
                  <a:solidFill>
                    <a:srgbClr val="172B3A"/>
                  </a:solidFill>
                  <a:latin typeface="+mn-lt"/>
                  <a:ea typeface="+mn-ea"/>
                  <a:cs typeface="+mn-cs"/>
                </a:rPr>
                <a:t>anlamı doğrulanmamış, başarı ölçütü</a:t>
              </a:r>
              <a:br/>
              <a:r>
                <a:rPr lang="tr-TR" sz="1280" dirty="0">
                  <a:solidFill>
                    <a:srgbClr val="172B3A"/>
                  </a:solidFill>
                  <a:latin typeface="+mn-lt"/>
                  <a:ea typeface="+mn-ea"/>
                  <a:cs typeface="+mn-cs"/>
                </a:rPr>
                <a:t>bilinmemektedir.</a:t>
              </a:r>
            </a:p>
          </p:txBody>
        </p:sp>
      </p:grpSp>
      <p:grpSp>
        <p:nvGrpSpPr>
          <p:cNvPr id="27" name="right-card"/>
          <p:cNvGrpSpPr/>
          <p:nvPr/>
        </p:nvGrpSpPr>
        <p:grpSpPr>
          <a:xfrm>
            <a:off x="6286500" y="1714500"/>
            <a:ext cx="5295900" cy="3810000"/>
            <a:chOff x="6286500" y="1714500"/>
            <a:chExt cx="5295900" cy="3810000"/>
          </a:xfrm>
        </p:grpSpPr>
        <p:sp>
          <p:nvSpPr>
            <p:cNvPr id="21" name="Rectangle 21"/>
            <p:cNvSpPr/>
            <p:nvPr/>
          </p:nvSpPr>
          <p:spPr>
            <a:xfrm>
              <a:off x="6286500" y="1714500"/>
              <a:ext cx="5295900" cy="3810000"/>
            </a:xfrm>
            <a:prstGeom prst="roundRect">
              <a:avLst>
                <a:gd name="adj" fmla="val 2500"/>
              </a:avLst>
            </a:prstGeom>
            <a:solidFill>
              <a:srgbClr val="FFFFFF"/>
            </a:solidFill>
            <a:ln w="14288">
              <a:solidFill>
                <a:srgbClr val="00A6A6"/>
              </a:solidFill>
            </a:ln>
          </p:spPr>
        </p:sp>
        <p:sp>
          <p:nvSpPr>
            <p:cNvPr id="22" name="Rectangle 22"/>
            <p:cNvSpPr/>
            <p:nvPr/>
          </p:nvSpPr>
          <p:spPr>
            <a:xfrm>
              <a:off x="6286500" y="1714500"/>
              <a:ext cx="1143000" cy="323850"/>
            </a:xfrm>
            <a:prstGeom prst="roundRect">
              <a:avLst>
                <a:gd name="adj" fmla="val 17647"/>
              </a:avLst>
            </a:prstGeom>
            <a:solidFill>
              <a:srgbClr val="00A6A6"/>
            </a:solidFill>
            <a:ln>
              <a:noFill/>
            </a:ln>
          </p:spPr>
        </p:sp>
        <p:sp>
          <p:nvSpPr>
            <p:cNvPr id="23" name="TextBox 23"/>
            <p:cNvSpPr txBox="1"/>
            <p:nvPr/>
          </p:nvSpPr>
          <p:spPr>
            <a:xfrm>
              <a:off x="6621357" y="1820228"/>
              <a:ext cx="473286"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DOĞRU</a:t>
              </a:r>
            </a:p>
          </p:txBody>
        </p:sp>
        <p:sp>
          <p:nvSpPr>
            <p:cNvPr id="24" name="TextBox 24"/>
            <p:cNvSpPr txBox="1"/>
            <p:nvPr/>
          </p:nvSpPr>
          <p:spPr>
            <a:xfrm>
              <a:off x="6509385" y="2278856"/>
              <a:ext cx="2045462" cy="848678"/>
            </a:xfrm>
            <a:prstGeom prst="rect">
              <a:avLst/>
            </a:prstGeom>
            <a:noFill/>
            <a:ln>
              <a:noFill/>
            </a:ln>
          </p:spPr>
          <p:txBody>
            <a:bodyPr wrap="none" lIns="0" tIns="0" rIns="0" bIns="0" anchor="t" anchorCtr="0">
              <a:spAutoFit/>
            </a:bodyPr>
            <a:lstStyle/>
            <a:p>
              <a:pPr algn="l">
                <a:lnSpc>
                  <a:spcPts val="1650"/>
                </a:lnSpc>
              </a:pPr>
              <a:r>
                <a:rPr lang="tr-TR" sz="1120" dirty="0">
                  <a:solidFill>
                    <a:srgbClr val="12355B"/>
                  </a:solidFill>
                  <a:latin typeface="Consolas"/>
                  <a:ea typeface="Consolas"/>
                  <a:cs typeface="Consolas"/>
                </a:rPr>
                <a:t>print("Öncelik: israf</a:t>
              </a:r>
              <a:br/>
              <a:r>
                <a:rPr lang="tr-TR" sz="1120" dirty="0">
                  <a:solidFill>
                    <a:srgbClr val="12355B"/>
                  </a:solidFill>
                  <a:latin typeface="Consolas"/>
                  <a:ea typeface="Consolas"/>
                  <a:cs typeface="Consolas"/>
                </a:rPr>
                <a:t>oranını azaltmak")</a:t>
              </a:r>
              <a:br/>
              <a:r>
                <a:rPr lang="tr-TR" sz="1120" dirty="0">
                  <a:solidFill>
                    <a:srgbClr val="12355B"/>
                  </a:solidFill>
                  <a:latin typeface="Consolas"/>
                  <a:ea typeface="Consolas"/>
                  <a:cs typeface="Consolas"/>
                </a:rPr>
                <a:t>print("Kabul ölçütü: aylık</a:t>
              </a:r>
              <a:br/>
              <a:r>
                <a:rPr lang="tr-TR" sz="1120" dirty="0">
                  <a:solidFill>
                    <a:srgbClr val="12355B"/>
                  </a:solidFill>
                  <a:latin typeface="Consolas"/>
                  <a:ea typeface="Consolas"/>
                  <a:cs typeface="Consolas"/>
                </a:rPr>
                <a:t>israfta %15 düşüş")</a:t>
              </a:r>
            </a:p>
          </p:txBody>
        </p:sp>
        <p:sp>
          <p:nvSpPr>
            <p:cNvPr id="25" name="Line 25"/>
            <p:cNvSpPr/>
            <p:nvPr/>
          </p:nvSpPr>
          <p:spPr>
            <a:xfrm>
              <a:off x="6515100" y="342900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26" name="TextBox 26"/>
            <p:cNvSpPr txBox="1"/>
            <p:nvPr/>
          </p:nvSpPr>
          <p:spPr>
            <a:xfrm>
              <a:off x="6508623" y="3596164"/>
              <a:ext cx="3077210"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Önce iş hedefi ve kabul ölçütü</a:t>
              </a:r>
              <a:br/>
              <a:r>
                <a:rPr lang="tr-TR" sz="1280" dirty="0">
                  <a:solidFill>
                    <a:srgbClr val="172B3A"/>
                  </a:solidFill>
                  <a:latin typeface="+mn-lt"/>
                  <a:ea typeface="+mn-ea"/>
                  <a:cs typeface="+mn-cs"/>
                </a:rPr>
                <a:t>tanımlanır; sonra gerekli veri</a:t>
              </a:r>
              <a:br/>
              <a:r>
                <a:rPr lang="tr-TR" sz="1280" dirty="0">
                  <a:solidFill>
                    <a:srgbClr val="172B3A"/>
                  </a:solidFill>
                  <a:latin typeface="+mn-lt"/>
                  <a:ea typeface="+mn-ea"/>
                  <a:cs typeface="+mn-cs"/>
                </a:rPr>
                <a:t>alanları belirlenir. Modelleme en</a:t>
              </a:r>
              <a:br/>
              <a:r>
                <a:rPr lang="tr-TR" sz="1280" dirty="0">
                  <a:solidFill>
                    <a:srgbClr val="172B3A"/>
                  </a:solidFill>
                  <a:latin typeface="+mn-lt"/>
                  <a:ea typeface="+mn-ea"/>
                  <a:cs typeface="+mn-cs"/>
                </a:rPr>
                <a:t>erken uygun hazırlık sonrası yapılır.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830707" cy="557403"/>
            <a:chOff x="595122" y="282892"/>
            <a:chExt cx="6830707" cy="557403"/>
          </a:xfrm>
        </p:grpSpPr>
        <p:sp>
          <p:nvSpPr>
            <p:cNvPr id="4" name="TextBox 4"/>
            <p:cNvSpPr txBox="1"/>
            <p:nvPr/>
          </p:nvSpPr>
          <p:spPr>
            <a:xfrm>
              <a:off x="595122" y="282892"/>
              <a:ext cx="683070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Yapısal veri ve veri anlama: tanım</a:t>
              </a:r>
            </a:p>
          </p:txBody>
        </p:sp>
      </p:grpSp>
      <p:grpSp>
        <p:nvGrpSpPr>
          <p:cNvPr id="7" name="kicker"/>
          <p:cNvGrpSpPr/>
          <p:nvPr/>
        </p:nvGrpSpPr>
        <p:grpSpPr>
          <a:xfrm>
            <a:off x="604266" y="1048702"/>
            <a:ext cx="4243570" cy="205359"/>
            <a:chOff x="604266" y="1048702"/>
            <a:chExt cx="4243570" cy="205359"/>
          </a:xfrm>
        </p:grpSpPr>
        <p:sp>
          <p:nvSpPr>
            <p:cNvPr id="6" name="TextBox 6"/>
            <p:cNvSpPr txBox="1"/>
            <p:nvPr/>
          </p:nvSpPr>
          <p:spPr>
            <a:xfrm>
              <a:off x="604266" y="1048702"/>
              <a:ext cx="4243570"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KAVRAM 4 / 4 · GÖZLEM BİRİMİNİ TANIMLAMAK</a:t>
              </a:r>
            </a:p>
          </p:txBody>
        </p:sp>
      </p:grpSp>
      <p:grpSp>
        <p:nvGrpSpPr>
          <p:cNvPr id="24" name="mini-table"/>
          <p:cNvGrpSpPr/>
          <p:nvPr/>
        </p:nvGrpSpPr>
        <p:grpSpPr>
          <a:xfrm>
            <a:off x="609600" y="1333500"/>
            <a:ext cx="10972800" cy="1238250"/>
            <a:chOff x="609600" y="1333500"/>
            <a:chExt cx="10972800" cy="1238250"/>
          </a:xfrm>
        </p:grpSpPr>
        <p:sp>
          <p:nvSpPr>
            <p:cNvPr id="8" name="Rectangle 8"/>
            <p:cNvSpPr/>
            <p:nvPr/>
          </p:nvSpPr>
          <p:spPr>
            <a:xfrm>
              <a:off x="609600" y="1333500"/>
              <a:ext cx="10972800" cy="1238250"/>
            </a:xfrm>
            <a:prstGeom prst="roundRect">
              <a:avLst>
                <a:gd name="adj" fmla="val 6154"/>
              </a:avLst>
            </a:prstGeom>
            <a:solidFill>
              <a:srgbClr val="FFFFFF"/>
            </a:solidFill>
            <a:ln w="14288">
              <a:solidFill>
                <a:srgbClr val="B8CBD3"/>
              </a:solidFill>
            </a:ln>
          </p:spPr>
        </p:sp>
        <p:sp>
          <p:nvSpPr>
            <p:cNvPr id="9" name="Rectangle 9"/>
            <p:cNvSpPr/>
            <p:nvPr/>
          </p:nvSpPr>
          <p:spPr>
            <a:xfrm>
              <a:off x="609600" y="1333500"/>
              <a:ext cx="10972800" cy="323850"/>
            </a:xfrm>
            <a:prstGeom prst="rect">
              <a:avLst/>
            </a:prstGeom>
            <a:solidFill>
              <a:srgbClr val="12355B"/>
            </a:solidFill>
            <a:ln>
              <a:noFill/>
            </a:ln>
          </p:spPr>
        </p:sp>
        <p:sp>
          <p:nvSpPr>
            <p:cNvPr id="10" name="TextBox 10"/>
            <p:cNvSpPr txBox="1"/>
            <p:nvPr/>
          </p:nvSpPr>
          <p:spPr>
            <a:xfrm>
              <a:off x="832866" y="1439228"/>
              <a:ext cx="381714"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tarih</a:t>
              </a:r>
            </a:p>
          </p:txBody>
        </p:sp>
        <p:sp>
          <p:nvSpPr>
            <p:cNvPr id="11" name="TextBox 11"/>
            <p:cNvSpPr txBox="1"/>
            <p:nvPr/>
          </p:nvSpPr>
          <p:spPr>
            <a:xfrm>
              <a:off x="3118866" y="1439228"/>
              <a:ext cx="337189"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urun</a:t>
              </a:r>
            </a:p>
          </p:txBody>
        </p:sp>
        <p:sp>
          <p:nvSpPr>
            <p:cNvPr id="12" name="TextBox 12"/>
            <p:cNvSpPr txBox="1"/>
            <p:nvPr/>
          </p:nvSpPr>
          <p:spPr>
            <a:xfrm>
              <a:off x="5404866" y="1439228"/>
              <a:ext cx="834391"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satis_adedi</a:t>
              </a:r>
            </a:p>
          </p:txBody>
        </p:sp>
        <p:sp>
          <p:nvSpPr>
            <p:cNvPr id="13" name="TextBox 13"/>
            <p:cNvSpPr txBox="1"/>
            <p:nvPr/>
          </p:nvSpPr>
          <p:spPr>
            <a:xfrm>
              <a:off x="7690866" y="1439228"/>
              <a:ext cx="953126"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stok_tukendi</a:t>
              </a:r>
            </a:p>
          </p:txBody>
        </p:sp>
        <p:sp>
          <p:nvSpPr>
            <p:cNvPr id="14" name="TextBox 14"/>
            <p:cNvSpPr txBox="1"/>
            <p:nvPr/>
          </p:nvSpPr>
          <p:spPr>
            <a:xfrm>
              <a:off x="832104" y="1794510"/>
              <a:ext cx="9006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2026-03-02</a:t>
              </a:r>
            </a:p>
          </p:txBody>
        </p:sp>
        <p:sp>
          <p:nvSpPr>
            <p:cNvPr id="15" name="TextBox 15"/>
            <p:cNvSpPr txBox="1"/>
            <p:nvPr/>
          </p:nvSpPr>
          <p:spPr>
            <a:xfrm>
              <a:off x="3118104" y="1794510"/>
              <a:ext cx="4614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Kahve</a:t>
              </a:r>
            </a:p>
          </p:txBody>
        </p:sp>
        <p:sp>
          <p:nvSpPr>
            <p:cNvPr id="16" name="TextBox 16"/>
            <p:cNvSpPr txBox="1"/>
            <p:nvPr/>
          </p:nvSpPr>
          <p:spPr>
            <a:xfrm>
              <a:off x="5404104" y="1794510"/>
              <a:ext cx="1898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95</a:t>
              </a:r>
            </a:p>
          </p:txBody>
        </p:sp>
        <p:sp>
          <p:nvSpPr>
            <p:cNvPr id="17" name="TextBox 17"/>
            <p:cNvSpPr txBox="1"/>
            <p:nvPr/>
          </p:nvSpPr>
          <p:spPr>
            <a:xfrm>
              <a:off x="7690104" y="1794510"/>
              <a:ext cx="42062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False</a:t>
              </a:r>
            </a:p>
          </p:txBody>
        </p:sp>
        <p:sp>
          <p:nvSpPr>
            <p:cNvPr id="18" name="TextBox 18"/>
            <p:cNvSpPr txBox="1"/>
            <p:nvPr/>
          </p:nvSpPr>
          <p:spPr>
            <a:xfrm>
              <a:off x="832104" y="2099310"/>
              <a:ext cx="9006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2026-03-03</a:t>
              </a:r>
            </a:p>
          </p:txBody>
        </p:sp>
        <p:sp>
          <p:nvSpPr>
            <p:cNvPr id="19" name="TextBox 19"/>
            <p:cNvSpPr txBox="1"/>
            <p:nvPr/>
          </p:nvSpPr>
          <p:spPr>
            <a:xfrm>
              <a:off x="3118104" y="2099310"/>
              <a:ext cx="4614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Kahve</a:t>
              </a:r>
            </a:p>
          </p:txBody>
        </p:sp>
        <p:sp>
          <p:nvSpPr>
            <p:cNvPr id="20" name="TextBox 20"/>
            <p:cNvSpPr txBox="1"/>
            <p:nvPr/>
          </p:nvSpPr>
          <p:spPr>
            <a:xfrm>
              <a:off x="5404104" y="2099310"/>
              <a:ext cx="1898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88</a:t>
              </a:r>
            </a:p>
          </p:txBody>
        </p:sp>
        <p:sp>
          <p:nvSpPr>
            <p:cNvPr id="21" name="TextBox 21"/>
            <p:cNvSpPr txBox="1"/>
            <p:nvPr/>
          </p:nvSpPr>
          <p:spPr>
            <a:xfrm>
              <a:off x="7690104" y="2099310"/>
              <a:ext cx="3726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True</a:t>
              </a:r>
            </a:p>
          </p:txBody>
        </p:sp>
        <p:sp>
          <p:nvSpPr>
            <p:cNvPr id="22" name="Line 22"/>
            <p:cNvSpPr/>
            <p:nvPr/>
          </p:nvSpPr>
          <p:spPr>
            <a:xfrm>
              <a:off x="609600" y="2057400"/>
              <a:ext cx="10972800" cy="9525"/>
            </a:xfrm>
            <a:custGeom>
              <a:avLst/>
              <a:gdLst/>
              <a:ahLst/>
              <a:cxnLst/>
              <a:rect l="l" t="t" r="r" b="b"/>
              <a:pathLst>
                <a:path w="10972800" h="9525">
                  <a:moveTo>
                    <a:pt x="0" y="0"/>
                  </a:moveTo>
                  <a:lnTo>
                    <a:pt x="10972800" y="0"/>
                  </a:lnTo>
                </a:path>
              </a:pathLst>
            </a:custGeom>
            <a:noFill/>
            <a:ln w="9525">
              <a:solidFill>
                <a:srgbClr val="EAF4F6"/>
              </a:solidFill>
            </a:ln>
          </p:spPr>
        </p:sp>
        <p:sp>
          <p:nvSpPr>
            <p:cNvPr id="23" name="TextBox 23"/>
            <p:cNvSpPr txBox="1"/>
            <p:nvPr/>
          </p:nvSpPr>
          <p:spPr>
            <a:xfrm>
              <a:off x="832866" y="2334578"/>
              <a:ext cx="758488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Gözlem birimi: "bir tarih ve bir ürün için günlük satış kaydı" — bu tanım veri sözlüğünde açıkça yazılmalıdır.</a:t>
              </a:r>
            </a:p>
          </p:txBody>
        </p:sp>
      </p:grpSp>
      <p:grpSp>
        <p:nvGrpSpPr>
          <p:cNvPr id="28" name="definition-card"/>
          <p:cNvGrpSpPr/>
          <p:nvPr/>
        </p:nvGrpSpPr>
        <p:grpSpPr>
          <a:xfrm>
            <a:off x="609600" y="2724150"/>
            <a:ext cx="5295900" cy="2476500"/>
            <a:chOff x="609600" y="2724150"/>
            <a:chExt cx="5295900" cy="2476500"/>
          </a:xfrm>
        </p:grpSpPr>
        <p:sp>
          <p:nvSpPr>
            <p:cNvPr id="25" name="Rectangle 25"/>
            <p:cNvSpPr/>
            <p:nvPr/>
          </p:nvSpPr>
          <p:spPr>
            <a:xfrm>
              <a:off x="609600" y="2724150"/>
              <a:ext cx="5295900" cy="2476500"/>
            </a:xfrm>
            <a:prstGeom prst="roundRect">
              <a:avLst>
                <a:gd name="adj" fmla="val 3846"/>
              </a:avLst>
            </a:prstGeom>
            <a:solidFill>
              <a:srgbClr val="FFFFFF"/>
            </a:solidFill>
            <a:ln w="14288">
              <a:solidFill>
                <a:srgbClr val="B8CBD3"/>
              </a:solidFill>
            </a:ln>
          </p:spPr>
        </p:sp>
        <p:sp>
          <p:nvSpPr>
            <p:cNvPr id="26" name="TextBox 26"/>
            <p:cNvSpPr txBox="1"/>
            <p:nvPr/>
          </p:nvSpPr>
          <p:spPr>
            <a:xfrm>
              <a:off x="829818" y="2888932"/>
              <a:ext cx="712579"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Tanım</a:t>
              </a:r>
            </a:p>
          </p:txBody>
        </p:sp>
        <p:sp>
          <p:nvSpPr>
            <p:cNvPr id="27" name="TextBox 27"/>
            <p:cNvSpPr txBox="1"/>
            <p:nvPr/>
          </p:nvSpPr>
          <p:spPr>
            <a:xfrm>
              <a:off x="831723" y="3253264"/>
              <a:ext cx="3459226" cy="1163764"/>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Satır ve sütunlardan oluşan, her alanın</a:t>
              </a:r>
              <a:br/>
              <a:r>
                <a:rPr lang="tr-TR" sz="1280" dirty="0">
                  <a:solidFill>
                    <a:srgbClr val="172B3A"/>
                  </a:solidFill>
                  <a:latin typeface="+mn-lt"/>
                  <a:ea typeface="+mn-ea"/>
                  <a:cs typeface="+mn-cs"/>
                </a:rPr>
                <a:t>belirli bir anlam taşıdığı veridir. Bir satış</a:t>
              </a:r>
              <a:br/>
              <a:r>
                <a:rPr lang="tr-TR" sz="1280" dirty="0">
                  <a:solidFill>
                    <a:srgbClr val="172B3A"/>
                  </a:solidFill>
                  <a:latin typeface="+mn-lt"/>
                  <a:ea typeface="+mn-ea"/>
                  <a:cs typeface="+mn-cs"/>
                </a:rPr>
                <a:t>tablosunda her satır bir gözlem, sütunlar</a:t>
              </a:r>
              <a:br/>
              <a:r>
                <a:rPr lang="tr-TR" sz="1280" dirty="0">
                  <a:solidFill>
                    <a:srgbClr val="172B3A"/>
                  </a:solidFill>
                  <a:latin typeface="+mn-lt"/>
                  <a:ea typeface="+mn-ea"/>
                  <a:cs typeface="+mn-cs"/>
                </a:rPr>
                <a:t>ise tarih, ürün, satış adedi ve stok</a:t>
              </a:r>
              <a:br/>
              <a:r>
                <a:rPr lang="tr-TR" sz="1280" dirty="0">
                  <a:solidFill>
                    <a:srgbClr val="172B3A"/>
                  </a:solidFill>
                  <a:latin typeface="+mn-lt"/>
                  <a:ea typeface="+mn-ea"/>
                  <a:cs typeface="+mn-cs"/>
                </a:rPr>
                <a:t>durumu gibi değişkenlerdir.</a:t>
              </a:r>
            </a:p>
          </p:txBody>
        </p:sp>
      </p:grpSp>
      <p:grpSp>
        <p:nvGrpSpPr>
          <p:cNvPr id="32" name="why-card"/>
          <p:cNvGrpSpPr/>
          <p:nvPr/>
        </p:nvGrpSpPr>
        <p:grpSpPr>
          <a:xfrm>
            <a:off x="6286500" y="2724150"/>
            <a:ext cx="5295900" cy="2476500"/>
            <a:chOff x="6286500" y="2724150"/>
            <a:chExt cx="5295900" cy="2476500"/>
          </a:xfrm>
        </p:grpSpPr>
        <p:sp>
          <p:nvSpPr>
            <p:cNvPr id="29" name="Rectangle 29"/>
            <p:cNvSpPr/>
            <p:nvPr/>
          </p:nvSpPr>
          <p:spPr>
            <a:xfrm>
              <a:off x="6286500" y="2724150"/>
              <a:ext cx="5295900" cy="2476500"/>
            </a:xfrm>
            <a:prstGeom prst="roundRect">
              <a:avLst>
                <a:gd name="adj" fmla="val 3846"/>
              </a:avLst>
            </a:prstGeom>
            <a:solidFill>
              <a:srgbClr val="EAF4F6"/>
            </a:solidFill>
            <a:ln w="14288">
              <a:solidFill>
                <a:srgbClr val="00A6A6"/>
              </a:solidFill>
            </a:ln>
          </p:spPr>
        </p:sp>
        <p:sp>
          <p:nvSpPr>
            <p:cNvPr id="30" name="TextBox 30"/>
            <p:cNvSpPr txBox="1"/>
            <p:nvPr/>
          </p:nvSpPr>
          <p:spPr>
            <a:xfrm>
              <a:off x="6506718" y="2888932"/>
              <a:ext cx="163432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Neden vardır?</a:t>
              </a:r>
            </a:p>
          </p:txBody>
        </p:sp>
        <p:sp>
          <p:nvSpPr>
            <p:cNvPr id="31" name="TextBox 31"/>
            <p:cNvSpPr txBox="1"/>
            <p:nvPr/>
          </p:nvSpPr>
          <p:spPr>
            <a:xfrm>
              <a:off x="6508623" y="3253264"/>
              <a:ext cx="3556762" cy="1163764"/>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Aynı tablo farklı biçimlerde yorumlanabilir:</a:t>
              </a:r>
              <a:br/>
              <a:r>
                <a:rPr lang="tr-TR" sz="1280" dirty="0">
                  <a:solidFill>
                    <a:srgbClr val="172B3A"/>
                  </a:solidFill>
                  <a:latin typeface="+mn-lt"/>
                  <a:ea typeface="+mn-ea"/>
                  <a:cs typeface="+mn-cs"/>
                </a:rPr>
                <a:t>bir satır "günlük toplam satış" mı, "tek</a:t>
              </a:r>
              <a:br/>
              <a:r>
                <a:rPr lang="tr-TR" sz="1280" dirty="0">
                  <a:solidFill>
                    <a:srgbClr val="172B3A"/>
                  </a:solidFill>
                  <a:latin typeface="+mn-lt"/>
                  <a:ea typeface="+mn-ea"/>
                  <a:cs typeface="+mn-cs"/>
                </a:rPr>
                <a:t>ürünün günlük satışı" mı, yoksa "tek işlem"</a:t>
              </a:r>
              <a:br/>
              <a:r>
                <a:rPr lang="tr-TR" sz="1280" dirty="0">
                  <a:solidFill>
                    <a:srgbClr val="172B3A"/>
                  </a:solidFill>
                  <a:latin typeface="+mn-lt"/>
                  <a:ea typeface="+mn-ea"/>
                  <a:cs typeface="+mn-cs"/>
                </a:rPr>
                <a:t>mi? Bu soru cevaplanmadan hesaplanan</a:t>
              </a:r>
              <a:br/>
              <a:r>
                <a:rPr lang="tr-TR" sz="1280" dirty="0">
                  <a:solidFill>
                    <a:srgbClr val="172B3A"/>
                  </a:solidFill>
                  <a:latin typeface="+mn-lt"/>
                  <a:ea typeface="+mn-ea"/>
                  <a:cs typeface="+mn-cs"/>
                </a:rPr>
                <a:t>ortalamalar anlamsız olabilir.</a:t>
              </a:r>
            </a:p>
          </p:txBody>
        </p:sp>
      </p:grpSp>
      <p:grpSp>
        <p:nvGrpSpPr>
          <p:cNvPr id="36" name="analogy-band"/>
          <p:cNvGrpSpPr/>
          <p:nvPr/>
        </p:nvGrpSpPr>
        <p:grpSpPr>
          <a:xfrm>
            <a:off x="609600" y="5391150"/>
            <a:ext cx="10972800" cy="838200"/>
            <a:chOff x="609600" y="5391150"/>
            <a:chExt cx="10972800" cy="838200"/>
          </a:xfrm>
        </p:grpSpPr>
        <p:sp>
          <p:nvSpPr>
            <p:cNvPr id="33" name="Rectangle 33"/>
            <p:cNvSpPr/>
            <p:nvPr/>
          </p:nvSpPr>
          <p:spPr>
            <a:xfrm>
              <a:off x="609600" y="5391150"/>
              <a:ext cx="10972800" cy="838200"/>
            </a:xfrm>
            <a:prstGeom prst="roundRect">
              <a:avLst>
                <a:gd name="adj" fmla="val 9091"/>
              </a:avLst>
            </a:prstGeom>
            <a:solidFill>
              <a:srgbClr val="F7FAFC"/>
            </a:solidFill>
            <a:ln w="14288">
              <a:solidFill>
                <a:srgbClr val="B8CBD3"/>
              </a:solidFill>
            </a:ln>
          </p:spPr>
        </p:sp>
        <p:sp>
          <p:nvSpPr>
            <p:cNvPr id="34" name="TextBox 34"/>
            <p:cNvSpPr txBox="1"/>
            <p:nvPr/>
          </p:nvSpPr>
          <p:spPr>
            <a:xfrm>
              <a:off x="907161" y="5542121"/>
              <a:ext cx="404558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Benzetme: kütüphane kataloğunu anlamak</a:t>
              </a:r>
            </a:p>
          </p:txBody>
        </p:sp>
        <p:sp>
          <p:nvSpPr>
            <p:cNvPr id="35" name="TextBox 35"/>
            <p:cNvSpPr txBox="1"/>
            <p:nvPr/>
          </p:nvSpPr>
          <p:spPr>
            <a:xfrm>
              <a:off x="908304" y="5852160"/>
              <a:ext cx="844207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Kitap başlığı, yazar ve raf numarası sütunlarının anlamı bilinmezse doğru kitabı bulmak mümkün değildir.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24</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098993" cy="557403"/>
            <a:chOff x="595122" y="282892"/>
            <a:chExt cx="8098993" cy="557403"/>
          </a:xfrm>
        </p:grpSpPr>
        <p:sp>
          <p:nvSpPr>
            <p:cNvPr id="4" name="TextBox 4"/>
            <p:cNvSpPr txBox="1"/>
            <p:nvPr/>
          </p:nvSpPr>
          <p:spPr>
            <a:xfrm>
              <a:off x="595122" y="282892"/>
              <a:ext cx="809899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Yapısal veri: uygulama ve kalite kontrolü</a:t>
              </a:r>
            </a:p>
          </p:txBody>
        </p:sp>
      </p:grpSp>
      <p:grpSp>
        <p:nvGrpSpPr>
          <p:cNvPr id="16" name="code-card"/>
          <p:cNvGrpSpPr/>
          <p:nvPr/>
        </p:nvGrpSpPr>
        <p:grpSpPr>
          <a:xfrm>
            <a:off x="609600" y="1104900"/>
            <a:ext cx="5334000" cy="4778311"/>
            <a:chOff x="609600" y="1104900"/>
            <a:chExt cx="5334000" cy="4778311"/>
          </a:xfrm>
        </p:grpSpPr>
        <p:sp>
          <p:nvSpPr>
            <p:cNvPr id="6" name="Rectangle 6"/>
            <p:cNvSpPr/>
            <p:nvPr/>
          </p:nvSpPr>
          <p:spPr>
            <a:xfrm>
              <a:off x="609600" y="1104900"/>
              <a:ext cx="5334000" cy="4762500"/>
            </a:xfrm>
            <a:prstGeom prst="roundRect">
              <a:avLst>
                <a:gd name="adj" fmla="val 2000"/>
              </a:avLst>
            </a:prstGeom>
            <a:solidFill>
              <a:srgbClr val="12355B"/>
            </a:solidFill>
            <a:ln>
              <a:noFill/>
            </a:ln>
          </p:spPr>
        </p:sp>
        <p:sp>
          <p:nvSpPr>
            <p:cNvPr id="7" name="Ellipse 7"/>
            <p:cNvSpPr/>
            <p:nvPr/>
          </p:nvSpPr>
          <p:spPr>
            <a:xfrm>
              <a:off x="781050" y="1276350"/>
              <a:ext cx="114300" cy="114300"/>
            </a:xfrm>
            <a:prstGeom prst="ellipse">
              <a:avLst/>
            </a:prstGeom>
            <a:solidFill>
              <a:srgbClr val="00A6A6"/>
            </a:solidFill>
            <a:ln>
              <a:noFill/>
            </a:ln>
          </p:spPr>
        </p:sp>
        <p:sp>
          <p:nvSpPr>
            <p:cNvPr id="8" name="Ellipse 8"/>
            <p:cNvSpPr/>
            <p:nvPr/>
          </p:nvSpPr>
          <p:spPr>
            <a:xfrm>
              <a:off x="971550" y="1276350"/>
              <a:ext cx="114300" cy="114300"/>
            </a:xfrm>
            <a:prstGeom prst="ellipse">
              <a:avLst/>
            </a:prstGeom>
            <a:solidFill>
              <a:srgbClr val="2E86AB"/>
            </a:solidFill>
            <a:ln>
              <a:noFill/>
            </a:ln>
          </p:spPr>
        </p:sp>
        <p:sp>
          <p:nvSpPr>
            <p:cNvPr id="9" name="Ellipse 9"/>
            <p:cNvSpPr/>
            <p:nvPr/>
          </p:nvSpPr>
          <p:spPr>
            <a:xfrm>
              <a:off x="1162050" y="1276350"/>
              <a:ext cx="114300" cy="114300"/>
            </a:xfrm>
            <a:prstGeom prst="ellipse">
              <a:avLst/>
            </a:prstGeom>
            <a:solidFill>
              <a:srgbClr val="EAF4F6"/>
            </a:solidFill>
            <a:ln>
              <a:noFill/>
            </a:ln>
          </p:spPr>
        </p:sp>
        <p:sp>
          <p:nvSpPr>
            <p:cNvPr id="10" name="TextBox 10"/>
            <p:cNvSpPr txBox="1"/>
            <p:nvPr/>
          </p:nvSpPr>
          <p:spPr>
            <a:xfrm>
              <a:off x="832485" y="1554956"/>
              <a:ext cx="2827782" cy="1058228"/>
            </a:xfrm>
            <a:prstGeom prst="rect">
              <a:avLst/>
            </a:prstGeom>
            <a:noFill/>
            <a:ln>
              <a:noFill/>
            </a:ln>
          </p:spPr>
          <p:txBody>
            <a:bodyPr wrap="none" lIns="0" tIns="0" rIns="0" bIns="0" anchor="t" anchorCtr="0">
              <a:spAutoFit/>
            </a:bodyPr>
            <a:lstStyle/>
            <a:p>
              <a:pPr algn="l">
                <a:lnSpc>
                  <a:spcPts val="1650"/>
                </a:lnSpc>
              </a:pPr>
              <a:r>
                <a:rPr lang="tr-TR" sz="1120" dirty="0">
                  <a:solidFill>
                    <a:srgbClr val="EAF4F6"/>
                  </a:solidFill>
                  <a:latin typeface="Consolas"/>
                  <a:ea typeface="Consolas"/>
                  <a:cs typeface="Consolas"/>
                </a:rPr>
                <a:t>kafeVerisi = pd.DataFrame({</a:t>
              </a:r>
              <a:br/>
              <a:r>
                <a:rPr lang="tr-TR" sz="1120" dirty="0">
                  <a:solidFill>
                    <a:srgbClr val="EAF4F6"/>
                  </a:solidFill>
                  <a:latin typeface="Consolas"/>
                  <a:ea typeface="Consolas"/>
                  <a:cs typeface="Consolas"/>
                </a:rPr>
                <a:t>"tarih": [...], "urun": [...],</a:t>
              </a:r>
              <a:br/>
              <a:r>
                <a:rPr lang="tr-TR" sz="1120" dirty="0">
                  <a:solidFill>
                    <a:srgbClr val="EAF4F6"/>
                  </a:solidFill>
                  <a:latin typeface="Consolas"/>
                  <a:ea typeface="Consolas"/>
                  <a:cs typeface="Consolas"/>
                </a:rPr>
                <a:t>"satis_adedi": [95, 88, None],</a:t>
              </a:r>
              <a:br/>
              <a:r>
                <a:rPr lang="tr-TR" sz="1120" dirty="0">
                  <a:solidFill>
                    <a:srgbClr val="EAF4F6"/>
                  </a:solidFill>
                  <a:latin typeface="Consolas"/>
                  <a:ea typeface="Consolas"/>
                  <a:cs typeface="Consolas"/>
                </a:rPr>
                <a:t>"stok_tukendi": [False, True, False]</a:t>
              </a:r>
              <a:br/>
              <a:r>
                <a:rPr lang="tr-TR" sz="1120" dirty="0">
                  <a:solidFill>
                    <a:srgbClr val="EAF4F6"/>
                  </a:solidFill>
                  <a:latin typeface="Consolas"/>
                  <a:ea typeface="Consolas"/>
                  <a:cs typeface="Consolas"/>
                </a:rPr>
                <a:t>})</a:t>
              </a:r>
            </a:p>
          </p:txBody>
        </p:sp>
        <p:sp>
          <p:nvSpPr>
            <p:cNvPr id="11" name="TextBox 11"/>
            <p:cNvSpPr txBox="1"/>
            <p:nvPr/>
          </p:nvSpPr>
          <p:spPr>
            <a:xfrm>
              <a:off x="832485" y="2640806"/>
              <a:ext cx="2358390"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00A6A6"/>
                  </a:solidFill>
                  <a:latin typeface="Consolas"/>
                  <a:ea typeface="Consolas"/>
                  <a:cs typeface="Consolas"/>
                </a:rPr>
                <a:t>print(kafeVerisi.info())</a:t>
              </a:r>
              <a:br/>
              <a:r>
                <a:rPr lang="tr-TR" sz="1120" dirty="0">
                  <a:solidFill>
                    <a:srgbClr val="00A6A6"/>
                  </a:solidFill>
                  <a:latin typeface="Consolas"/>
                  <a:ea typeface="Consolas"/>
                  <a:cs typeface="Consolas"/>
                </a:rPr>
                <a:t>print(kafeVerisi.isna().sum())</a:t>
              </a:r>
            </a:p>
          </p:txBody>
        </p:sp>
        <p:sp>
          <p:nvSpPr>
            <p:cNvPr id="12" name="TextBox 12"/>
            <p:cNvSpPr txBox="1"/>
            <p:nvPr/>
          </p:nvSpPr>
          <p:spPr>
            <a:xfrm>
              <a:off x="832485" y="3288506"/>
              <a:ext cx="2436622" cy="1058228"/>
            </a:xfrm>
            <a:prstGeom prst="rect">
              <a:avLst/>
            </a:prstGeom>
            <a:noFill/>
            <a:ln>
              <a:noFill/>
            </a:ln>
          </p:spPr>
          <p:txBody>
            <a:bodyPr wrap="none" lIns="0" tIns="0" rIns="0" bIns="0" anchor="t" anchorCtr="0">
              <a:spAutoFit/>
            </a:bodyPr>
            <a:lstStyle/>
            <a:p>
              <a:pPr algn="l">
                <a:lnSpc>
                  <a:spcPts val="1650"/>
                </a:lnSpc>
              </a:pPr>
              <a:r>
                <a:rPr lang="tr-TR" sz="1120" dirty="0">
                  <a:solidFill>
                    <a:srgbClr val="B8CBD3"/>
                  </a:solidFill>
                  <a:latin typeface="Consolas"/>
                  <a:ea typeface="Consolas"/>
                  <a:cs typeface="Consolas"/>
                </a:rPr>
                <a:t># Çıktı:</a:t>
              </a:r>
              <a:br/>
              <a:r>
                <a:rPr lang="tr-TR" sz="1120" dirty="0">
                  <a:solidFill>
                    <a:srgbClr val="B8CBD3"/>
                  </a:solidFill>
                  <a:latin typeface="Consolas"/>
                  <a:ea typeface="Consolas"/>
                  <a:cs typeface="Consolas"/>
                </a:rPr>
                <a:t># satis_adedi sütununda 1 eksik</a:t>
              </a:r>
              <a:br/>
              <a:r>
                <a:rPr lang="tr-TR" sz="1120" dirty="0">
                  <a:solidFill>
                    <a:srgbClr val="B8CBD3"/>
                  </a:solidFill>
                  <a:latin typeface="Consolas"/>
                  <a:ea typeface="Consolas"/>
                  <a:cs typeface="Consolas"/>
                </a:rPr>
                <a:t># değer vardır.</a:t>
              </a:r>
              <a:br/>
              <a:r>
                <a:rPr lang="tr-TR" sz="1120" dirty="0">
                  <a:solidFill>
                    <a:srgbClr val="B8CBD3"/>
                  </a:solidFill>
                  <a:latin typeface="Consolas"/>
                  <a:ea typeface="Consolas"/>
                  <a:cs typeface="Consolas"/>
                </a:rPr>
                <a:t># stok_tukendi sütunu bool</a:t>
              </a:r>
              <a:br/>
              <a:r>
                <a:rPr lang="tr-TR" sz="1120" dirty="0">
                  <a:solidFill>
                    <a:srgbClr val="B8CBD3"/>
                  </a:solidFill>
                  <a:latin typeface="Consolas"/>
                  <a:ea typeface="Consolas"/>
                  <a:cs typeface="Consolas"/>
                </a:rPr>
                <a:t># türündedir.</a:t>
              </a:r>
            </a:p>
          </p:txBody>
        </p:sp>
        <p:sp>
          <p:nvSpPr>
            <p:cNvPr id="13" name="TextBox 13"/>
            <p:cNvSpPr txBox="1"/>
            <p:nvPr/>
          </p:nvSpPr>
          <p:spPr>
            <a:xfrm>
              <a:off x="832866" y="4553902"/>
              <a:ext cx="2210943"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52616B"/>
                  </a:solidFill>
                  <a:latin typeface="Consolas"/>
                  <a:ea typeface="Consolas"/>
                  <a:cs typeface="Consolas"/>
                </a:rPr>
                <a:t>info() her sütunun veri türünü</a:t>
              </a:r>
              <a:br/>
              <a:r>
                <a:rPr lang="tr-TR" sz="1050" dirty="0">
                  <a:solidFill>
                    <a:srgbClr val="52616B"/>
                  </a:solidFill>
                  <a:latin typeface="Consolas"/>
                  <a:ea typeface="Consolas"/>
                  <a:cs typeface="Consolas"/>
                </a:rPr>
                <a:t>gösterir; isna().sum() eksik</a:t>
              </a:r>
              <a:br/>
              <a:r>
                <a:rPr lang="tr-TR" sz="1050" dirty="0">
                  <a:solidFill>
                    <a:srgbClr val="52616B"/>
                  </a:solidFill>
                  <a:latin typeface="Consolas"/>
                  <a:ea typeface="Consolas"/>
                  <a:cs typeface="Consolas"/>
                </a:rPr>
                <a:t>kayıtları sayar.</a:t>
              </a:r>
            </a:p>
          </p:txBody>
        </p:sp>
        <p:sp>
          <p:nvSpPr>
            <p:cNvPr id="14" name="Line 14"/>
            <p:cNvSpPr/>
            <p:nvPr/>
          </p:nvSpPr>
          <p:spPr>
            <a:xfrm>
              <a:off x="838200" y="5314950"/>
              <a:ext cx="4838700" cy="9525"/>
            </a:xfrm>
            <a:custGeom>
              <a:avLst/>
              <a:gdLst/>
              <a:ahLst/>
              <a:cxnLst/>
              <a:rect l="l" t="t" r="r" b="b"/>
              <a:pathLst>
                <a:path w="4838700" h="9525">
                  <a:moveTo>
                    <a:pt x="0" y="0"/>
                  </a:moveTo>
                  <a:lnTo>
                    <a:pt x="4838700" y="0"/>
                  </a:lnTo>
                </a:path>
              </a:pathLst>
            </a:custGeom>
            <a:noFill/>
            <a:ln w="9525">
              <a:solidFill>
                <a:srgbClr val="2E86AB"/>
              </a:solidFill>
            </a:ln>
          </p:spPr>
        </p:sp>
        <p:sp>
          <p:nvSpPr>
            <p:cNvPr id="15" name="TextBox 15"/>
            <p:cNvSpPr txBox="1"/>
            <p:nvPr/>
          </p:nvSpPr>
          <p:spPr>
            <a:xfrm>
              <a:off x="832866" y="5487352"/>
              <a:ext cx="2504313"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52616B"/>
                  </a:solidFill>
                  <a:latin typeface="Consolas"/>
                  <a:ea typeface="Consolas"/>
                  <a:cs typeface="Consolas"/>
                </a:rPr>
                <a:t>Küçük veri kümesinde bu kontrol</a:t>
              </a:r>
              <a:br/>
              <a:r>
                <a:rPr lang="tr-TR" sz="1050" dirty="0">
                  <a:solidFill>
                    <a:srgbClr val="52616B"/>
                  </a:solidFill>
                  <a:latin typeface="Consolas"/>
                  <a:ea typeface="Consolas"/>
                  <a:cs typeface="Consolas"/>
                </a:rPr>
                <a:t>gözden kaçabilir; binlerce satırda</a:t>
              </a:r>
            </a:p>
          </p:txBody>
        </p:sp>
      </p:grpSp>
      <p:grpSp>
        <p:nvGrpSpPr>
          <p:cNvPr id="36" name="flow-diagram"/>
          <p:cNvGrpSpPr/>
          <p:nvPr/>
        </p:nvGrpSpPr>
        <p:grpSpPr>
          <a:xfrm>
            <a:off x="6279261" y="1179671"/>
            <a:ext cx="5303139" cy="4630579"/>
            <a:chOff x="6279261" y="1179671"/>
            <a:chExt cx="5303139" cy="4630579"/>
          </a:xfrm>
        </p:grpSpPr>
        <p:sp>
          <p:nvSpPr>
            <p:cNvPr id="17" name="TextBox 17"/>
            <p:cNvSpPr txBox="1"/>
            <p:nvPr/>
          </p:nvSpPr>
          <p:spPr>
            <a:xfrm>
              <a:off x="6279261" y="1179671"/>
              <a:ext cx="364366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Veri anlama sürecinde kalite kontrolü</a:t>
              </a:r>
            </a:p>
          </p:txBody>
        </p:sp>
        <p:sp>
          <p:nvSpPr>
            <p:cNvPr id="18" name="Line 18"/>
            <p:cNvSpPr/>
            <p:nvPr/>
          </p:nvSpPr>
          <p:spPr>
            <a:xfrm>
              <a:off x="8763000" y="2057400"/>
              <a:ext cx="1" cy="228600"/>
            </a:xfrm>
            <a:prstGeom prst="line">
              <a:avLst/>
            </a:prstGeom>
            <a:noFill/>
            <a:ln w="23812">
              <a:solidFill>
                <a:srgbClr val="00A6A6"/>
              </a:solidFill>
              <a:tailEnd type="arrow" w="lg" len="lg"/>
            </a:ln>
          </p:spPr>
        </p:sp>
        <p:sp>
          <p:nvSpPr>
            <p:cNvPr id="19" name="Line 19"/>
            <p:cNvSpPr/>
            <p:nvPr/>
          </p:nvSpPr>
          <p:spPr>
            <a:xfrm>
              <a:off x="8763000" y="3429000"/>
              <a:ext cx="1" cy="571500"/>
            </a:xfrm>
            <a:prstGeom prst="line">
              <a:avLst/>
            </a:prstGeom>
            <a:noFill/>
            <a:ln w="23812">
              <a:solidFill>
                <a:srgbClr val="00A6A6"/>
              </a:solidFill>
              <a:tailEnd type="arrow" w="lg" len="lg"/>
            </a:ln>
          </p:spPr>
        </p:sp>
        <p:sp>
          <p:nvSpPr>
            <p:cNvPr id="20" name="Freeform 20"/>
            <p:cNvSpPr/>
            <p:nvPr/>
          </p:nvSpPr>
          <p:spPr>
            <a:xfrm>
              <a:off x="6667500" y="1905000"/>
              <a:ext cx="666750" cy="952500"/>
            </a:xfrm>
            <a:custGeom>
              <a:avLst/>
              <a:gdLst/>
              <a:ahLst/>
              <a:cxnLst/>
              <a:rect l="l" t="t" r="r" b="b"/>
              <a:pathLst>
                <a:path w="666750" h="952500">
                  <a:moveTo>
                    <a:pt x="666750" y="952500"/>
                  </a:moveTo>
                  <a:lnTo>
                    <a:pt x="0" y="952500"/>
                  </a:lnTo>
                  <a:lnTo>
                    <a:pt x="0" y="0"/>
                  </a:lnTo>
                  <a:lnTo>
                    <a:pt x="381000" y="0"/>
                  </a:lnTo>
                </a:path>
              </a:pathLst>
            </a:custGeom>
            <a:noFill/>
            <a:ln w="19050">
              <a:solidFill>
                <a:srgbClr val="52616B"/>
              </a:solidFill>
              <a:custDash>
                <a:ds d="300000" sp="200000"/>
              </a:custDash>
              <a:tailEnd type="arrow" w="lg" len="lg"/>
            </a:ln>
          </p:spPr>
        </p:sp>
        <p:grpSp>
          <p:nvGrpSpPr>
            <p:cNvPr id="23" name="flow-inspect"/>
            <p:cNvGrpSpPr/>
            <p:nvPr/>
          </p:nvGrpSpPr>
          <p:grpSpPr>
            <a:xfrm>
              <a:off x="7048500" y="1524000"/>
              <a:ext cx="3429000" cy="533400"/>
              <a:chOff x="7048500" y="1524000"/>
              <a:chExt cx="3429000" cy="533400"/>
            </a:xfrm>
          </p:grpSpPr>
          <p:sp>
            <p:nvSpPr>
              <p:cNvPr id="21" name="Rectangle 21"/>
              <p:cNvSpPr/>
              <p:nvPr/>
            </p:nvSpPr>
            <p:spPr>
              <a:xfrm>
                <a:off x="7048500" y="1524000"/>
                <a:ext cx="3429000" cy="533400"/>
              </a:xfrm>
              <a:prstGeom prst="roundRect">
                <a:avLst>
                  <a:gd name="adj" fmla="val 14286"/>
                </a:avLst>
              </a:prstGeom>
              <a:solidFill>
                <a:srgbClr val="FFFFFF"/>
              </a:solidFill>
              <a:ln w="14288">
                <a:solidFill>
                  <a:srgbClr val="2E86AB"/>
                </a:solidFill>
              </a:ln>
            </p:spPr>
          </p:sp>
          <p:sp>
            <p:nvSpPr>
              <p:cNvPr id="22" name="TextBox 22"/>
              <p:cNvSpPr txBox="1"/>
              <p:nvPr/>
            </p:nvSpPr>
            <p:spPr>
              <a:xfrm>
                <a:off x="7312024" y="1702118"/>
                <a:ext cx="2901952"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Veriyi incele (head, info, isna)</a:t>
                </a:r>
              </a:p>
            </p:txBody>
          </p:sp>
        </p:grpSp>
        <p:grpSp>
          <p:nvGrpSpPr>
            <p:cNvPr id="27" name="flow-decision"/>
            <p:cNvGrpSpPr/>
            <p:nvPr/>
          </p:nvGrpSpPr>
          <p:grpSpPr>
            <a:xfrm>
              <a:off x="7429500" y="2286000"/>
              <a:ext cx="2667000" cy="1143000"/>
              <a:chOff x="7429500" y="2286000"/>
              <a:chExt cx="2667000" cy="1143000"/>
            </a:xfrm>
          </p:grpSpPr>
          <p:sp>
            <p:nvSpPr>
              <p:cNvPr id="24" name="Polygon 24"/>
              <p:cNvSpPr/>
              <p:nvPr/>
            </p:nvSpPr>
            <p:spPr>
              <a:xfrm>
                <a:off x="7429500" y="2286000"/>
                <a:ext cx="2667000" cy="1143000"/>
              </a:xfrm>
              <a:custGeom>
                <a:avLst/>
                <a:gdLst/>
                <a:ahLst/>
                <a:cxnLst/>
                <a:rect l="l" t="t" r="r" b="b"/>
                <a:pathLst>
                  <a:path w="2667000" h="1143000">
                    <a:moveTo>
                      <a:pt x="1333500" y="0"/>
                    </a:moveTo>
                    <a:lnTo>
                      <a:pt x="2667000" y="571500"/>
                    </a:lnTo>
                    <a:lnTo>
                      <a:pt x="1333500" y="1143000"/>
                    </a:lnTo>
                    <a:lnTo>
                      <a:pt x="0" y="571500"/>
                    </a:lnTo>
                    <a:close/>
                  </a:path>
                </a:pathLst>
              </a:custGeom>
              <a:solidFill>
                <a:srgbClr val="EAF4F6"/>
              </a:solidFill>
              <a:ln w="14288">
                <a:solidFill>
                  <a:srgbClr val="00A6A6"/>
                </a:solidFill>
              </a:ln>
            </p:spPr>
          </p:sp>
          <p:sp>
            <p:nvSpPr>
              <p:cNvPr id="25" name="TextBox 25"/>
              <p:cNvSpPr txBox="1"/>
              <p:nvPr/>
            </p:nvSpPr>
            <p:spPr>
              <a:xfrm>
                <a:off x="8211556" y="2670810"/>
                <a:ext cx="1102888"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Kalite sorunu</a:t>
                </a:r>
              </a:p>
            </p:txBody>
          </p:sp>
          <p:sp>
            <p:nvSpPr>
              <p:cNvPr id="26" name="TextBox 26"/>
              <p:cNvSpPr txBox="1"/>
              <p:nvPr/>
            </p:nvSpPr>
            <p:spPr>
              <a:xfrm>
                <a:off x="8434624" y="2861310"/>
                <a:ext cx="656753"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var mı?</a:t>
                </a:r>
              </a:p>
            </p:txBody>
          </p:sp>
        </p:grpSp>
        <p:sp>
          <p:nvSpPr>
            <p:cNvPr id="28" name="TextBox 28"/>
            <p:cNvSpPr txBox="1"/>
            <p:nvPr/>
          </p:nvSpPr>
          <p:spPr>
            <a:xfrm>
              <a:off x="6380475" y="2123599"/>
              <a:ext cx="1240800" cy="190690"/>
            </a:xfrm>
            <a:prstGeom prst="rect">
              <a:avLst/>
            </a:prstGeom>
            <a:noFill/>
            <a:ln>
              <a:noFill/>
            </a:ln>
          </p:spPr>
          <p:txBody>
            <a:bodyPr wrap="none" lIns="0" tIns="0" rIns="0" bIns="0" anchor="t" anchorCtr="0">
              <a:spAutoFit/>
            </a:bodyPr>
            <a:lstStyle/>
            <a:p>
              <a:pPr algn="ctr"/>
              <a:r>
                <a:rPr lang="tr-TR" sz="980" b="1" dirty="0">
                  <a:solidFill>
                    <a:srgbClr val="52616B"/>
                  </a:solidFill>
                  <a:latin typeface="+mn-lt"/>
                  <a:ea typeface="+mn-ea"/>
                  <a:cs typeface="+mn-cs"/>
                </a:rPr>
                <a:t>Evet: kaynağa dön</a:t>
              </a:r>
            </a:p>
          </p:txBody>
        </p:sp>
        <p:sp>
          <p:nvSpPr>
            <p:cNvPr id="29" name="TextBox 29"/>
            <p:cNvSpPr txBox="1"/>
            <p:nvPr/>
          </p:nvSpPr>
          <p:spPr>
            <a:xfrm>
              <a:off x="8986266" y="3677602"/>
              <a:ext cx="423440" cy="205359"/>
            </a:xfrm>
            <a:prstGeom prst="rect">
              <a:avLst/>
            </a:prstGeom>
            <a:noFill/>
            <a:ln>
              <a:noFill/>
            </a:ln>
          </p:spPr>
          <p:txBody>
            <a:bodyPr wrap="none" lIns="0" tIns="0" rIns="0" bIns="0" anchor="t" anchorCtr="0">
              <a:spAutoFit/>
            </a:bodyPr>
            <a:lstStyle/>
            <a:p>
              <a:pPr algn="l"/>
              <a:r>
                <a:rPr lang="tr-TR" sz="1050" b="1" dirty="0">
                  <a:solidFill>
                    <a:srgbClr val="52616B"/>
                  </a:solidFill>
                  <a:latin typeface="+mn-lt"/>
                  <a:ea typeface="+mn-ea"/>
                  <a:cs typeface="+mn-cs"/>
                </a:rPr>
                <a:t>Hayır</a:t>
              </a:r>
            </a:p>
          </p:txBody>
        </p:sp>
        <p:grpSp>
          <p:nvGrpSpPr>
            <p:cNvPr id="32" name="flow-continue"/>
            <p:cNvGrpSpPr/>
            <p:nvPr/>
          </p:nvGrpSpPr>
          <p:grpSpPr>
            <a:xfrm>
              <a:off x="7048500" y="4000500"/>
              <a:ext cx="3429000" cy="533400"/>
              <a:chOff x="7048500" y="4000500"/>
              <a:chExt cx="3429000" cy="533400"/>
            </a:xfrm>
          </p:grpSpPr>
          <p:sp>
            <p:nvSpPr>
              <p:cNvPr id="30" name="Rectangle 30"/>
              <p:cNvSpPr/>
              <p:nvPr/>
            </p:nvSpPr>
            <p:spPr>
              <a:xfrm>
                <a:off x="7048500" y="4000500"/>
                <a:ext cx="3429000" cy="533400"/>
              </a:xfrm>
              <a:prstGeom prst="roundRect">
                <a:avLst>
                  <a:gd name="adj" fmla="val 14286"/>
                </a:avLst>
              </a:prstGeom>
              <a:solidFill>
                <a:srgbClr val="12355B"/>
              </a:solidFill>
              <a:ln>
                <a:noFill/>
              </a:ln>
            </p:spPr>
          </p:sp>
          <p:sp>
            <p:nvSpPr>
              <p:cNvPr id="31" name="TextBox 31"/>
              <p:cNvSpPr txBox="1"/>
              <p:nvPr/>
            </p:nvSpPr>
            <p:spPr>
              <a:xfrm>
                <a:off x="7779880" y="4178618"/>
                <a:ext cx="1966240"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Veri hazırlamaya geç</a:t>
                </a:r>
              </a:p>
            </p:txBody>
          </p:sp>
        </p:grpSp>
        <p:grpSp>
          <p:nvGrpSpPr>
            <p:cNvPr id="35" name="flow-note"/>
            <p:cNvGrpSpPr/>
            <p:nvPr/>
          </p:nvGrpSpPr>
          <p:grpSpPr>
            <a:xfrm>
              <a:off x="6286500" y="4762500"/>
              <a:ext cx="5295900" cy="1047750"/>
              <a:chOff x="6286500" y="4762500"/>
              <a:chExt cx="5295900" cy="1047750"/>
            </a:xfrm>
          </p:grpSpPr>
          <p:sp>
            <p:nvSpPr>
              <p:cNvPr id="33" name="Rectangle 33"/>
              <p:cNvSpPr/>
              <p:nvPr/>
            </p:nvSpPr>
            <p:spPr>
              <a:xfrm>
                <a:off x="6286500" y="4762500"/>
                <a:ext cx="5295900" cy="1047750"/>
              </a:xfrm>
              <a:prstGeom prst="roundRect">
                <a:avLst>
                  <a:gd name="adj" fmla="val 7273"/>
                </a:avLst>
              </a:prstGeom>
              <a:solidFill>
                <a:srgbClr val="FFFFFF"/>
              </a:solidFill>
              <a:ln w="14288">
                <a:solidFill>
                  <a:srgbClr val="B8CBD3"/>
                </a:solidFill>
              </a:ln>
            </p:spPr>
          </p:sp>
          <p:sp>
            <p:nvSpPr>
              <p:cNvPr id="34" name="TextBox 34"/>
              <p:cNvSpPr txBox="1"/>
              <p:nvPr/>
            </p:nvSpPr>
            <p:spPr>
              <a:xfrm>
                <a:off x="6509004" y="4918710"/>
                <a:ext cx="35326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 diyagram, veri anlamanın yalnızca</a:t>
                </a:r>
                <a:br/>
                <a:r>
                  <a:rPr lang="tr-TR" sz="1200" dirty="0">
                    <a:solidFill>
                      <a:srgbClr val="172B3A"/>
                    </a:solidFill>
                    <a:latin typeface="+mn-lt"/>
                    <a:ea typeface="+mn-ea"/>
                    <a:cs typeface="+mn-cs"/>
                  </a:rPr>
                  <a:t>head() çıktısına bakmak olmadığını gösterir;</a:t>
                </a:r>
                <a:br/>
                <a:r>
                  <a:rPr lang="tr-TR" sz="1200" dirty="0">
                    <a:solidFill>
                      <a:srgbClr val="172B3A"/>
                    </a:solidFill>
                    <a:latin typeface="+mn-lt"/>
                    <a:ea typeface="+mn-ea"/>
                    <a:cs typeface="+mn-cs"/>
                  </a:rPr>
                  <a:t>kalite sorunu bulunursa veri kaynağına ya da</a:t>
                </a:r>
                <a:br/>
                <a:r>
                  <a:rPr lang="tr-TR" sz="1200" dirty="0">
                    <a:solidFill>
                      <a:srgbClr val="172B3A"/>
                    </a:solidFill>
                    <a:latin typeface="+mn-lt"/>
                    <a:ea typeface="+mn-ea"/>
                    <a:cs typeface="+mn-cs"/>
                  </a:rPr>
                  <a:t>iş tanımına geri dönülmelidir.</a:t>
                </a:r>
              </a:p>
            </p:txBody>
          </p:sp>
        </p:gr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24</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608164" cy="668845"/>
            <a:chOff x="609600" y="171450"/>
            <a:chExt cx="860816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91779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Yapısal veri: veri türleri ve sık hatalar</a:t>
              </a:r>
            </a:p>
          </p:txBody>
        </p:sp>
      </p:grpSp>
      <p:grpSp>
        <p:nvGrpSpPr>
          <p:cNvPr id="32" name="alt-table"/>
          <p:cNvGrpSpPr/>
          <p:nvPr/>
        </p:nvGrpSpPr>
        <p:grpSpPr>
          <a:xfrm>
            <a:off x="609600" y="1104900"/>
            <a:ext cx="10972800" cy="1866900"/>
            <a:chOff x="609600" y="1104900"/>
            <a:chExt cx="10972800" cy="1866900"/>
          </a:xfrm>
        </p:grpSpPr>
        <p:sp>
          <p:nvSpPr>
            <p:cNvPr id="12" name="Rectangle 12"/>
            <p:cNvSpPr/>
            <p:nvPr/>
          </p:nvSpPr>
          <p:spPr>
            <a:xfrm>
              <a:off x="609600" y="1104900"/>
              <a:ext cx="10972800" cy="381000"/>
            </a:xfrm>
            <a:prstGeom prst="rect">
              <a:avLst/>
            </a:prstGeom>
            <a:solidFill>
              <a:srgbClr val="12355B"/>
            </a:solidFill>
            <a:ln>
              <a:noFill/>
            </a:ln>
          </p:spPr>
        </p:sp>
        <p:sp>
          <p:nvSpPr>
            <p:cNvPr id="13" name="TextBox 13"/>
            <p:cNvSpPr txBox="1"/>
            <p:nvPr/>
          </p:nvSpPr>
          <p:spPr>
            <a:xfrm>
              <a:off x="756285" y="1221581"/>
              <a:ext cx="882963"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VERİ TÜRÜ</a:t>
              </a:r>
            </a:p>
          </p:txBody>
        </p:sp>
        <p:sp>
          <p:nvSpPr>
            <p:cNvPr id="14" name="TextBox 14"/>
            <p:cNvSpPr txBox="1"/>
            <p:nvPr/>
          </p:nvSpPr>
          <p:spPr>
            <a:xfrm>
              <a:off x="3137535" y="1221581"/>
              <a:ext cx="51410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ÖRNEK</a:t>
              </a:r>
            </a:p>
          </p:txBody>
        </p:sp>
        <p:sp>
          <p:nvSpPr>
            <p:cNvPr id="15" name="TextBox 15"/>
            <p:cNvSpPr txBox="1"/>
            <p:nvPr/>
          </p:nvSpPr>
          <p:spPr>
            <a:xfrm>
              <a:off x="5709285" y="1221581"/>
              <a:ext cx="985632"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UYGUN ARAÇ</a:t>
              </a:r>
            </a:p>
          </p:txBody>
        </p:sp>
        <p:sp>
          <p:nvSpPr>
            <p:cNvPr id="16" name="TextBox 16"/>
            <p:cNvSpPr txBox="1"/>
            <p:nvPr/>
          </p:nvSpPr>
          <p:spPr>
            <a:xfrm>
              <a:off x="8281035" y="1221581"/>
              <a:ext cx="1019087"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TEMEL RİSK</a:t>
              </a:r>
            </a:p>
          </p:txBody>
        </p:sp>
        <p:sp>
          <p:nvSpPr>
            <p:cNvPr id="17" name="Rectangle 17"/>
            <p:cNvSpPr/>
            <p:nvPr/>
          </p:nvSpPr>
          <p:spPr>
            <a:xfrm>
              <a:off x="609600" y="1485900"/>
              <a:ext cx="10972800" cy="495300"/>
            </a:xfrm>
            <a:prstGeom prst="rect">
              <a:avLst/>
            </a:prstGeom>
            <a:solidFill>
              <a:srgbClr val="FFFFFF"/>
            </a:solidFill>
            <a:ln>
              <a:noFill/>
            </a:ln>
          </p:spPr>
        </p:sp>
        <p:sp>
          <p:nvSpPr>
            <p:cNvPr id="18" name="TextBox 18"/>
            <p:cNvSpPr txBox="1"/>
            <p:nvPr/>
          </p:nvSpPr>
          <p:spPr>
            <a:xfrm>
              <a:off x="755523" y="1643539"/>
              <a:ext cx="107683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Yapısal veri</a:t>
              </a:r>
            </a:p>
          </p:txBody>
        </p:sp>
        <p:sp>
          <p:nvSpPr>
            <p:cNvPr id="19" name="TextBox 19"/>
            <p:cNvSpPr txBox="1"/>
            <p:nvPr/>
          </p:nvSpPr>
          <p:spPr>
            <a:xfrm>
              <a:off x="3137535" y="1659731"/>
              <a:ext cx="101880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Satış tablosu</a:t>
              </a:r>
            </a:p>
          </p:txBody>
        </p:sp>
        <p:sp>
          <p:nvSpPr>
            <p:cNvPr id="20" name="TextBox 20"/>
            <p:cNvSpPr txBox="1"/>
            <p:nvPr/>
          </p:nvSpPr>
          <p:spPr>
            <a:xfrm>
              <a:off x="5709285" y="1659731"/>
              <a:ext cx="93314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pandas, SQL</a:t>
              </a:r>
            </a:p>
          </p:txBody>
        </p:sp>
        <p:sp>
          <p:nvSpPr>
            <p:cNvPr id="21" name="TextBox 21"/>
            <p:cNvSpPr txBox="1"/>
            <p:nvPr/>
          </p:nvSpPr>
          <p:spPr>
            <a:xfrm>
              <a:off x="8281035" y="1659731"/>
              <a:ext cx="245135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Sütun anlamını yanlış yorumlama</a:t>
              </a:r>
            </a:p>
          </p:txBody>
        </p:sp>
        <p:sp>
          <p:nvSpPr>
            <p:cNvPr id="22" name="Rectangle 22"/>
            <p:cNvSpPr/>
            <p:nvPr/>
          </p:nvSpPr>
          <p:spPr>
            <a:xfrm>
              <a:off x="609600" y="1981200"/>
              <a:ext cx="10972800" cy="495300"/>
            </a:xfrm>
            <a:prstGeom prst="rect">
              <a:avLst/>
            </a:prstGeom>
            <a:solidFill>
              <a:srgbClr val="EAF4F6"/>
            </a:solidFill>
            <a:ln>
              <a:noFill/>
            </a:ln>
          </p:spPr>
        </p:sp>
        <p:sp>
          <p:nvSpPr>
            <p:cNvPr id="23" name="TextBox 23"/>
            <p:cNvSpPr txBox="1"/>
            <p:nvPr/>
          </p:nvSpPr>
          <p:spPr>
            <a:xfrm>
              <a:off x="755523" y="2138839"/>
              <a:ext cx="152941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Yarı yapısal veri</a:t>
              </a:r>
            </a:p>
          </p:txBody>
        </p:sp>
        <p:sp>
          <p:nvSpPr>
            <p:cNvPr id="24" name="TextBox 24"/>
            <p:cNvSpPr txBox="1"/>
            <p:nvPr/>
          </p:nvSpPr>
          <p:spPr>
            <a:xfrm>
              <a:off x="3137535" y="2155031"/>
              <a:ext cx="115286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JSON günlükleri</a:t>
              </a:r>
            </a:p>
          </p:txBody>
        </p:sp>
        <p:sp>
          <p:nvSpPr>
            <p:cNvPr id="25" name="TextBox 25"/>
            <p:cNvSpPr txBox="1"/>
            <p:nvPr/>
          </p:nvSpPr>
          <p:spPr>
            <a:xfrm>
              <a:off x="5709285" y="2155031"/>
              <a:ext cx="12748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Python sözlükleri</a:t>
              </a:r>
            </a:p>
          </p:txBody>
        </p:sp>
        <p:sp>
          <p:nvSpPr>
            <p:cNvPr id="26" name="TextBox 26"/>
            <p:cNvSpPr txBox="1"/>
            <p:nvPr/>
          </p:nvSpPr>
          <p:spPr>
            <a:xfrm>
              <a:off x="8281035" y="2155031"/>
              <a:ext cx="126728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Şema değişkenliği</a:t>
              </a:r>
            </a:p>
          </p:txBody>
        </p:sp>
        <p:sp>
          <p:nvSpPr>
            <p:cNvPr id="27" name="Rectangle 27"/>
            <p:cNvSpPr/>
            <p:nvPr/>
          </p:nvSpPr>
          <p:spPr>
            <a:xfrm>
              <a:off x="609600" y="2476500"/>
              <a:ext cx="10972800" cy="495300"/>
            </a:xfrm>
            <a:prstGeom prst="rect">
              <a:avLst/>
            </a:prstGeom>
            <a:solidFill>
              <a:srgbClr val="FFFFFF"/>
            </a:solidFill>
            <a:ln>
              <a:noFill/>
            </a:ln>
          </p:spPr>
        </p:sp>
        <p:sp>
          <p:nvSpPr>
            <p:cNvPr id="28" name="TextBox 28"/>
            <p:cNvSpPr txBox="1"/>
            <p:nvPr/>
          </p:nvSpPr>
          <p:spPr>
            <a:xfrm>
              <a:off x="755523" y="2634139"/>
              <a:ext cx="181886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Yapısal olmayan veri</a:t>
              </a:r>
            </a:p>
          </p:txBody>
        </p:sp>
        <p:sp>
          <p:nvSpPr>
            <p:cNvPr id="29" name="TextBox 29"/>
            <p:cNvSpPr txBox="1"/>
            <p:nvPr/>
          </p:nvSpPr>
          <p:spPr>
            <a:xfrm>
              <a:off x="3137535" y="2650331"/>
              <a:ext cx="150181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Yorum metni, görsel</a:t>
              </a:r>
            </a:p>
          </p:txBody>
        </p:sp>
        <p:sp>
          <p:nvSpPr>
            <p:cNvPr id="30" name="TextBox 30"/>
            <p:cNvSpPr txBox="1"/>
            <p:nvPr/>
          </p:nvSpPr>
          <p:spPr>
            <a:xfrm>
              <a:off x="5709285" y="2650331"/>
              <a:ext cx="148184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NLP, görüntü işleme</a:t>
              </a:r>
            </a:p>
          </p:txBody>
        </p:sp>
        <p:sp>
          <p:nvSpPr>
            <p:cNvPr id="31" name="TextBox 31"/>
            <p:cNvSpPr txBox="1"/>
            <p:nvPr/>
          </p:nvSpPr>
          <p:spPr>
            <a:xfrm>
              <a:off x="8281035" y="2650331"/>
              <a:ext cx="16673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Anlam çıkarma zorluğu</a:t>
              </a:r>
            </a:p>
          </p:txBody>
        </p:sp>
      </p:grpSp>
      <p:grpSp>
        <p:nvGrpSpPr>
          <p:cNvPr id="34" name="fallacy-label"/>
          <p:cNvGrpSpPr/>
          <p:nvPr/>
        </p:nvGrpSpPr>
        <p:grpSpPr>
          <a:xfrm>
            <a:off x="601599" y="3220879"/>
            <a:ext cx="2133541" cy="308039"/>
            <a:chOff x="601599" y="3220879"/>
            <a:chExt cx="2133541" cy="308039"/>
          </a:xfrm>
        </p:grpSpPr>
        <p:sp>
          <p:nvSpPr>
            <p:cNvPr id="33" name="TextBox 33"/>
            <p:cNvSpPr txBox="1"/>
            <p:nvPr/>
          </p:nvSpPr>
          <p:spPr>
            <a:xfrm>
              <a:off x="601599" y="3220879"/>
              <a:ext cx="213354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Sık yapılan hatalar</a:t>
              </a:r>
            </a:p>
          </p:txBody>
        </p:sp>
      </p:grpSp>
      <p:grpSp>
        <p:nvGrpSpPr>
          <p:cNvPr id="40" name="mistake-1"/>
          <p:cNvGrpSpPr/>
          <p:nvPr/>
        </p:nvGrpSpPr>
        <p:grpSpPr>
          <a:xfrm>
            <a:off x="609600" y="3562350"/>
            <a:ext cx="3505200" cy="2286000"/>
            <a:chOff x="609600" y="3562350"/>
            <a:chExt cx="3505200" cy="2286000"/>
          </a:xfrm>
        </p:grpSpPr>
        <p:sp>
          <p:nvSpPr>
            <p:cNvPr id="35" name="Rectangle 35"/>
            <p:cNvSpPr/>
            <p:nvPr/>
          </p:nvSpPr>
          <p:spPr>
            <a:xfrm>
              <a:off x="609600" y="3562350"/>
              <a:ext cx="3505200" cy="2286000"/>
            </a:xfrm>
            <a:prstGeom prst="roundRect">
              <a:avLst>
                <a:gd name="adj" fmla="val 4167"/>
              </a:avLst>
            </a:prstGeom>
            <a:solidFill>
              <a:srgbClr val="FFFFFF"/>
            </a:solidFill>
            <a:ln w="14288">
              <a:solidFill>
                <a:srgbClr val="B8CBD3"/>
              </a:solidFill>
            </a:ln>
          </p:spPr>
        </p:sp>
        <p:sp>
          <p:nvSpPr>
            <p:cNvPr id="36" name="Rectangle 36"/>
            <p:cNvSpPr/>
            <p:nvPr/>
          </p:nvSpPr>
          <p:spPr>
            <a:xfrm>
              <a:off x="609600" y="3562350"/>
              <a:ext cx="57150" cy="2286000"/>
            </a:xfrm>
            <a:prstGeom prst="rect">
              <a:avLst/>
            </a:prstGeom>
            <a:solidFill>
              <a:srgbClr val="00A6A6"/>
            </a:solidFill>
            <a:ln>
              <a:noFill/>
            </a:ln>
          </p:spPr>
        </p:sp>
        <p:sp>
          <p:nvSpPr>
            <p:cNvPr id="37" name="TextBox 37"/>
            <p:cNvSpPr txBox="1"/>
            <p:nvPr/>
          </p:nvSpPr>
          <p:spPr>
            <a:xfrm>
              <a:off x="831342" y="3721418"/>
              <a:ext cx="290142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Tarih sütununu metin bırakmak</a:t>
              </a:r>
            </a:p>
          </p:txBody>
        </p:sp>
        <p:sp>
          <p:nvSpPr>
            <p:cNvPr id="38" name="TextBox 38"/>
            <p:cNvSpPr txBox="1"/>
            <p:nvPr/>
          </p:nvSpPr>
          <p:spPr>
            <a:xfrm>
              <a:off x="833247" y="4066699"/>
              <a:ext cx="1447419"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12355B"/>
                  </a:solidFill>
                  <a:latin typeface="Consolas"/>
                  <a:ea typeface="Consolas"/>
                  <a:cs typeface="Consolas"/>
                </a:rPr>
                <a:t>kafeVerisi["tarih"] =</a:t>
              </a:r>
              <a:br/>
              <a:r>
                <a:rPr lang="tr-TR" sz="980" dirty="0">
                  <a:solidFill>
                    <a:srgbClr val="12355B"/>
                  </a:solidFill>
                  <a:latin typeface="Consolas"/>
                  <a:ea typeface="Consolas"/>
                  <a:cs typeface="Consolas"/>
                </a:rPr>
                <a:t>pd.to_datetime(...)</a:t>
              </a:r>
            </a:p>
          </p:txBody>
        </p:sp>
        <p:sp>
          <p:nvSpPr>
            <p:cNvPr id="39" name="TextBox 39"/>
            <p:cNvSpPr txBox="1"/>
            <p:nvPr/>
          </p:nvSpPr>
          <p:spPr>
            <a:xfrm>
              <a:off x="832866" y="4515802"/>
              <a:ext cx="2184273" cy="74828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Ay veya hafta günü hesaplamaları</a:t>
              </a:r>
              <a:br/>
              <a:r>
                <a:rPr lang="tr-TR" sz="1050" dirty="0">
                  <a:solidFill>
                    <a:srgbClr val="172B3A"/>
                  </a:solidFill>
                  <a:latin typeface="+mn-lt"/>
                  <a:ea typeface="+mn-ea"/>
                  <a:cs typeface="+mn-cs"/>
                </a:rPr>
                <a:t>güvenilir olmaz; zaman özellikleri</a:t>
              </a:r>
              <a:br/>
              <a:r>
                <a:rPr lang="tr-TR" sz="1050" dirty="0">
                  <a:solidFill>
                    <a:srgbClr val="172B3A"/>
                  </a:solidFill>
                  <a:latin typeface="+mn-lt"/>
                  <a:ea typeface="+mn-ea"/>
                  <a:cs typeface="+mn-cs"/>
                </a:rPr>
                <a:t>çıkarılamaz. datetime türüne</a:t>
              </a:r>
              <a:br/>
              <a:r>
                <a:rPr lang="tr-TR" sz="1050" dirty="0">
                  <a:solidFill>
                    <a:srgbClr val="172B3A"/>
                  </a:solidFill>
                  <a:latin typeface="+mn-lt"/>
                  <a:ea typeface="+mn-ea"/>
                  <a:cs typeface="+mn-cs"/>
                </a:rPr>
                <a:t>dönüştürmek gerekir.</a:t>
              </a:r>
            </a:p>
          </p:txBody>
        </p:sp>
      </p:grpSp>
      <p:grpSp>
        <p:nvGrpSpPr>
          <p:cNvPr id="45" name="mistake-2"/>
          <p:cNvGrpSpPr/>
          <p:nvPr/>
        </p:nvGrpSpPr>
        <p:grpSpPr>
          <a:xfrm>
            <a:off x="4343400" y="3562350"/>
            <a:ext cx="3505200" cy="2286000"/>
            <a:chOff x="4343400" y="3562350"/>
            <a:chExt cx="3505200" cy="2286000"/>
          </a:xfrm>
        </p:grpSpPr>
        <p:sp>
          <p:nvSpPr>
            <p:cNvPr id="41" name="Rectangle 41"/>
            <p:cNvSpPr/>
            <p:nvPr/>
          </p:nvSpPr>
          <p:spPr>
            <a:xfrm>
              <a:off x="4343400" y="3562350"/>
              <a:ext cx="3505200" cy="2286000"/>
            </a:xfrm>
            <a:prstGeom prst="roundRect">
              <a:avLst>
                <a:gd name="adj" fmla="val 4167"/>
              </a:avLst>
            </a:prstGeom>
            <a:solidFill>
              <a:srgbClr val="FFFFFF"/>
            </a:solidFill>
            <a:ln w="14288">
              <a:solidFill>
                <a:srgbClr val="B8CBD3"/>
              </a:solidFill>
            </a:ln>
          </p:spPr>
        </p:sp>
        <p:sp>
          <p:nvSpPr>
            <p:cNvPr id="42" name="Rectangle 42"/>
            <p:cNvSpPr/>
            <p:nvPr/>
          </p:nvSpPr>
          <p:spPr>
            <a:xfrm>
              <a:off x="4343400" y="3562350"/>
              <a:ext cx="57150" cy="2286000"/>
            </a:xfrm>
            <a:prstGeom prst="rect">
              <a:avLst/>
            </a:prstGeom>
            <a:solidFill>
              <a:srgbClr val="00A6A6"/>
            </a:solidFill>
            <a:ln>
              <a:noFill/>
            </a:ln>
          </p:spPr>
        </p:sp>
        <p:sp>
          <p:nvSpPr>
            <p:cNvPr id="43" name="TextBox 43"/>
            <p:cNvSpPr txBox="1"/>
            <p:nvPr/>
          </p:nvSpPr>
          <p:spPr>
            <a:xfrm>
              <a:off x="4565142" y="3721418"/>
              <a:ext cx="306373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Stok tükenmesini göz ardı etmek</a:t>
              </a:r>
            </a:p>
          </p:txBody>
        </p:sp>
        <p:sp>
          <p:nvSpPr>
            <p:cNvPr id="44" name="TextBox 44"/>
            <p:cNvSpPr txBox="1"/>
            <p:nvPr/>
          </p:nvSpPr>
          <p:spPr>
            <a:xfrm>
              <a:off x="4566666" y="4077652"/>
              <a:ext cx="2144268" cy="74828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Satış rakamı, stoğu tükenen bir</a:t>
              </a:r>
              <a:br/>
              <a:r>
                <a:rPr lang="tr-TR" sz="1050" dirty="0">
                  <a:solidFill>
                    <a:srgbClr val="172B3A"/>
                  </a:solidFill>
                  <a:latin typeface="+mn-lt"/>
                  <a:ea typeface="+mn-ea"/>
                  <a:cs typeface="+mn-cs"/>
                </a:rPr>
                <a:t>ürünün gerçek talebini eksik</a:t>
              </a:r>
              <a:br/>
              <a:r>
                <a:rPr lang="tr-TR" sz="1050" dirty="0">
                  <a:solidFill>
                    <a:srgbClr val="172B3A"/>
                  </a:solidFill>
                  <a:latin typeface="+mn-lt"/>
                  <a:ea typeface="+mn-ea"/>
                  <a:cs typeface="+mn-cs"/>
                </a:rPr>
                <a:t>gösterebilir; bu bilgi görmezden</a:t>
              </a:r>
              <a:br/>
              <a:r>
                <a:rPr lang="tr-TR" sz="1050" dirty="0">
                  <a:solidFill>
                    <a:srgbClr val="172B3A"/>
                  </a:solidFill>
                  <a:latin typeface="+mn-lt"/>
                  <a:ea typeface="+mn-ea"/>
                  <a:cs typeface="+mn-cs"/>
                </a:rPr>
                <a:t>gelinirse tahmin yanlış yönlenir.</a:t>
              </a:r>
            </a:p>
          </p:txBody>
        </p:sp>
      </p:grpSp>
      <p:grpSp>
        <p:nvGrpSpPr>
          <p:cNvPr id="50" name="mistake-3"/>
          <p:cNvGrpSpPr/>
          <p:nvPr/>
        </p:nvGrpSpPr>
        <p:grpSpPr>
          <a:xfrm>
            <a:off x="8077200" y="3562350"/>
            <a:ext cx="3505200" cy="2286000"/>
            <a:chOff x="8077200" y="3562350"/>
            <a:chExt cx="3505200" cy="2286000"/>
          </a:xfrm>
        </p:grpSpPr>
        <p:sp>
          <p:nvSpPr>
            <p:cNvPr id="46" name="Rectangle 46"/>
            <p:cNvSpPr/>
            <p:nvPr/>
          </p:nvSpPr>
          <p:spPr>
            <a:xfrm>
              <a:off x="8077200" y="3562350"/>
              <a:ext cx="3505200" cy="2286000"/>
            </a:xfrm>
            <a:prstGeom prst="roundRect">
              <a:avLst>
                <a:gd name="adj" fmla="val 4167"/>
              </a:avLst>
            </a:prstGeom>
            <a:solidFill>
              <a:srgbClr val="FFFFFF"/>
            </a:solidFill>
            <a:ln w="14288">
              <a:solidFill>
                <a:srgbClr val="B8CBD3"/>
              </a:solidFill>
            </a:ln>
          </p:spPr>
        </p:sp>
        <p:sp>
          <p:nvSpPr>
            <p:cNvPr id="47" name="Rectangle 47"/>
            <p:cNvSpPr/>
            <p:nvPr/>
          </p:nvSpPr>
          <p:spPr>
            <a:xfrm>
              <a:off x="8077200" y="3562350"/>
              <a:ext cx="57150" cy="2286000"/>
            </a:xfrm>
            <a:prstGeom prst="rect">
              <a:avLst/>
            </a:prstGeom>
            <a:solidFill>
              <a:srgbClr val="00A6A6"/>
            </a:solidFill>
            <a:ln>
              <a:noFill/>
            </a:ln>
          </p:spPr>
        </p:sp>
        <p:sp>
          <p:nvSpPr>
            <p:cNvPr id="48" name="TextBox 48"/>
            <p:cNvSpPr txBox="1"/>
            <p:nvPr/>
          </p:nvSpPr>
          <p:spPr>
            <a:xfrm>
              <a:off x="8298942" y="3645218"/>
              <a:ext cx="1966960" cy="473583"/>
            </a:xfrm>
            <a:prstGeom prst="rect">
              <a:avLst/>
            </a:prstGeom>
            <a:noFill/>
            <a:ln>
              <a:noFill/>
            </a:ln>
          </p:spPr>
          <p:txBody>
            <a:bodyPr wrap="none" lIns="0" tIns="0" rIns="0" bIns="0" anchor="t" anchorCtr="0">
              <a:spAutoFit/>
            </a:bodyPr>
            <a:lstStyle/>
            <a:p>
              <a:pPr algn="l">
                <a:lnSpc>
                  <a:spcPts val="1650"/>
                </a:lnSpc>
              </a:pPr>
              <a:r>
                <a:rPr lang="tr-TR" sz="1350" b="1" dirty="0">
                  <a:solidFill>
                    <a:srgbClr val="12355B"/>
                  </a:solidFill>
                  <a:latin typeface="+mn-lt"/>
                  <a:ea typeface="+mn-ea"/>
                  <a:cs typeface="+mn-cs"/>
                </a:rPr>
                <a:t>Yinelenen kaydı farklı</a:t>
              </a:r>
              <a:br/>
              <a:r>
                <a:rPr lang="tr-TR" sz="1350" b="1" dirty="0">
                  <a:solidFill>
                    <a:srgbClr val="12355B"/>
                  </a:solidFill>
                  <a:latin typeface="+mn-lt"/>
                  <a:ea typeface="+mn-ea"/>
                  <a:cs typeface="+mn-cs"/>
                </a:rPr>
                <a:t>gözlem sanmak</a:t>
              </a:r>
            </a:p>
          </p:txBody>
        </p:sp>
        <p:sp>
          <p:nvSpPr>
            <p:cNvPr id="49" name="TextBox 49"/>
            <p:cNvSpPr txBox="1"/>
            <p:nvPr/>
          </p:nvSpPr>
          <p:spPr>
            <a:xfrm>
              <a:off x="8300466" y="4077652"/>
              <a:ext cx="2124266" cy="74828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Aynı gün-ürün kaydı ikinci kez</a:t>
              </a:r>
              <a:br/>
              <a:r>
                <a:rPr lang="tr-TR" sz="1050" dirty="0">
                  <a:solidFill>
                    <a:srgbClr val="172B3A"/>
                  </a:solidFill>
                  <a:latin typeface="+mn-lt"/>
                  <a:ea typeface="+mn-ea"/>
                  <a:cs typeface="+mn-cs"/>
                </a:rPr>
                <a:t>girilmişse toplamlar şişer; her</a:t>
              </a:r>
              <a:br/>
              <a:r>
                <a:rPr lang="tr-TR" sz="1050" dirty="0">
                  <a:solidFill>
                    <a:srgbClr val="172B3A"/>
                  </a:solidFill>
                  <a:latin typeface="+mn-lt"/>
                  <a:ea typeface="+mn-ea"/>
                  <a:cs typeface="+mn-cs"/>
                </a:rPr>
                <a:t>iki durumda da veri kalite raporu</a:t>
              </a:r>
              <a:br/>
              <a:r>
                <a:rPr lang="tr-TR" sz="1050" dirty="0">
                  <a:solidFill>
                    <a:srgbClr val="172B3A"/>
                  </a:solidFill>
                  <a:latin typeface="+mn-lt"/>
                  <a:ea typeface="+mn-ea"/>
                  <a:cs typeface="+mn-cs"/>
                </a:rPr>
                <a:t>hazırlanmalıdır.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24</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426580" cy="668845"/>
            <a:chOff x="609600" y="171450"/>
            <a:chExt cx="842658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7362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dikkat noktaları</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demand"/>
          <p:cNvGrpSpPr/>
          <p:nvPr/>
        </p:nvGrpSpPr>
        <p:grpSpPr>
          <a:xfrm>
            <a:off x="609600" y="1849279"/>
            <a:ext cx="10972800" cy="1313021"/>
            <a:chOff x="609600" y="1849279"/>
            <a:chExt cx="10972800" cy="1313021"/>
          </a:xfrm>
        </p:grpSpPr>
        <p:sp>
          <p:nvSpPr>
            <p:cNvPr id="17" name="TextBox 17"/>
            <p:cNvSpPr txBox="1"/>
            <p:nvPr/>
          </p:nvSpPr>
          <p:spPr>
            <a:xfrm>
              <a:off x="753999" y="1849279"/>
              <a:ext cx="1764754"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"Çok satan ürün,</a:t>
              </a:r>
              <a:br/>
              <a:r>
                <a:rPr lang="tr-TR" sz="1580" b="1" dirty="0">
                  <a:solidFill>
                    <a:srgbClr val="12355B"/>
                  </a:solidFill>
                  <a:latin typeface="+mn-lt"/>
                  <a:ea typeface="+mn-ea"/>
                  <a:cs typeface="+mn-cs"/>
                </a:rPr>
                <a:t>en çok istenen</a:t>
              </a:r>
              <a:br/>
              <a:r>
                <a:rPr lang="tr-TR" sz="1580" b="1" dirty="0">
                  <a:solidFill>
                    <a:srgbClr val="12355B"/>
                  </a:solidFill>
                  <a:latin typeface="+mn-lt"/>
                  <a:ea typeface="+mn-ea"/>
                  <a:cs typeface="+mn-cs"/>
                </a:rPr>
                <a:t>üründür."</a:t>
              </a:r>
            </a:p>
          </p:txBody>
        </p:sp>
        <p:sp>
          <p:nvSpPr>
            <p:cNvPr id="18" name="TextBox 18"/>
            <p:cNvSpPr txBox="1"/>
            <p:nvPr/>
          </p:nvSpPr>
          <p:spPr>
            <a:xfrm>
              <a:off x="4375404" y="1889760"/>
              <a:ext cx="31440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Satış adedi, yalnızca stok yeterliyse</a:t>
              </a:r>
              <a:br/>
              <a:r>
                <a:rPr lang="tr-TR" sz="1200" dirty="0">
                  <a:solidFill>
                    <a:srgbClr val="172B3A"/>
                  </a:solidFill>
                  <a:latin typeface="+mn-lt"/>
                  <a:ea typeface="+mn-ea"/>
                  <a:cs typeface="+mn-cs"/>
                </a:rPr>
                <a:t>gerçek talebi yansıtır. Stoğu tükenen bir</a:t>
              </a:r>
              <a:br/>
              <a:r>
                <a:rPr lang="tr-TR" sz="1200" dirty="0">
                  <a:solidFill>
                    <a:srgbClr val="172B3A"/>
                  </a:solidFill>
                  <a:latin typeface="+mn-lt"/>
                  <a:ea typeface="+mn-ea"/>
                  <a:cs typeface="+mn-cs"/>
                </a:rPr>
                <a:t>ürünün kaydı düşük görünse de talebi</a:t>
              </a:r>
              <a:br/>
              <a:r>
                <a:rPr lang="tr-TR" sz="1200" dirty="0">
                  <a:solidFill>
                    <a:srgbClr val="172B3A"/>
                  </a:solidFill>
                  <a:latin typeface="+mn-lt"/>
                  <a:ea typeface="+mn-ea"/>
                  <a:cs typeface="+mn-cs"/>
                </a:rPr>
                <a:t>yüksek olabilir.</a:t>
              </a:r>
            </a:p>
          </p:txBody>
        </p:sp>
        <p:sp>
          <p:nvSpPr>
            <p:cNvPr id="19" name="TextBox 19"/>
            <p:cNvSpPr txBox="1"/>
            <p:nvPr/>
          </p:nvSpPr>
          <p:spPr>
            <a:xfrm>
              <a:off x="8185404" y="1889760"/>
              <a:ext cx="27858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stok_tukendi sütunu her zaman satış</a:t>
              </a:r>
              <a:br/>
              <a:r>
                <a:rPr lang="tr-TR" sz="1200" dirty="0">
                  <a:solidFill>
                    <a:srgbClr val="172B3A"/>
                  </a:solidFill>
                  <a:latin typeface="+mn-lt"/>
                  <a:ea typeface="+mn-ea"/>
                  <a:cs typeface="+mn-cs"/>
                </a:rPr>
                <a:t>adediyle birlikte değerlendirilmeli;</a:t>
              </a:r>
              <a:br/>
              <a:r>
                <a:rPr lang="tr-TR" sz="1200" dirty="0">
                  <a:solidFill>
                    <a:srgbClr val="172B3A"/>
                  </a:solidFill>
                  <a:latin typeface="+mn-lt"/>
                  <a:ea typeface="+mn-ea"/>
                  <a:cs typeface="+mn-cs"/>
                </a:rPr>
                <a:t>talep, yalnızca stoğu yeterli olan</a:t>
              </a:r>
              <a:br/>
              <a:r>
                <a:rPr lang="tr-TR" sz="1200" dirty="0">
                  <a:solidFill>
                    <a:srgbClr val="172B3A"/>
                  </a:solidFill>
                  <a:latin typeface="+mn-lt"/>
                  <a:ea typeface="+mn-ea"/>
                  <a:cs typeface="+mn-cs"/>
                </a:rPr>
                <a:t>günlerin verisinden kestirilmelidir.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correlation"/>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196675"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"İki değişken birlikte</a:t>
              </a:r>
              <a:br/>
              <a:r>
                <a:rPr lang="tr-TR" sz="1580" b="1" dirty="0">
                  <a:solidFill>
                    <a:srgbClr val="12355B"/>
                  </a:solidFill>
                  <a:latin typeface="+mn-lt"/>
                  <a:ea typeface="+mn-ea"/>
                  <a:cs typeface="+mn-cs"/>
                </a:rPr>
                <a:t>değişiyorsa, biri</a:t>
              </a:r>
              <a:br/>
              <a:r>
                <a:rPr lang="tr-TR" sz="1580" b="1" dirty="0">
                  <a:solidFill>
                    <a:srgbClr val="12355B"/>
                  </a:solidFill>
                  <a:latin typeface="+mn-lt"/>
                  <a:ea typeface="+mn-ea"/>
                  <a:cs typeface="+mn-cs"/>
                </a:rPr>
                <a:t>diğerine sebep olur."</a:t>
              </a:r>
            </a:p>
          </p:txBody>
        </p:sp>
        <p:sp>
          <p:nvSpPr>
            <p:cNvPr id="24" name="TextBox 24"/>
            <p:cNvSpPr txBox="1"/>
            <p:nvPr/>
          </p:nvSpPr>
          <p:spPr>
            <a:xfrm>
              <a:off x="4375404" y="3337560"/>
              <a:ext cx="33726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Korelasyon, iki değişkenin birlikte</a:t>
              </a:r>
              <a:br/>
              <a:r>
                <a:rPr lang="tr-TR" sz="1200" dirty="0">
                  <a:solidFill>
                    <a:srgbClr val="172B3A"/>
                  </a:solidFill>
                  <a:latin typeface="+mn-lt"/>
                  <a:ea typeface="+mn-ea"/>
                  <a:cs typeface="+mn-cs"/>
                </a:rPr>
                <a:t>hareket ettiğini gösterir; nedensellik ayrı</a:t>
              </a:r>
              <a:br/>
              <a:r>
                <a:rPr lang="tr-TR" sz="1200" dirty="0">
                  <a:solidFill>
                    <a:srgbClr val="172B3A"/>
                  </a:solidFill>
                  <a:latin typeface="+mn-lt"/>
                  <a:ea typeface="+mn-ea"/>
                  <a:cs typeface="+mn-cs"/>
                </a:rPr>
                <a:t>bir iddiadır ve genellikle deneysel</a:t>
              </a:r>
              <a:br/>
              <a:r>
                <a:rPr lang="tr-TR" sz="1200" dirty="0">
                  <a:solidFill>
                    <a:srgbClr val="172B3A"/>
                  </a:solidFill>
                  <a:latin typeface="+mn-lt"/>
                  <a:ea typeface="+mn-ea"/>
                  <a:cs typeface="+mn-cs"/>
                </a:rPr>
                <a:t>tasarım veya kontrollü karşılaştırma ister.</a:t>
              </a:r>
            </a:p>
          </p:txBody>
        </p:sp>
        <p:sp>
          <p:nvSpPr>
            <p:cNvPr id="25" name="TextBox 25"/>
            <p:cNvSpPr txBox="1"/>
            <p:nvPr/>
          </p:nvSpPr>
          <p:spPr>
            <a:xfrm>
              <a:off x="8185404" y="3337560"/>
              <a:ext cx="26715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Bulgular "X ile Y ilişkilidir" biçiminde</a:t>
              </a:r>
              <a:br/>
              <a:r>
                <a:rPr lang="tr-TR" sz="1200" dirty="0">
                  <a:solidFill>
                    <a:srgbClr val="172B3A"/>
                  </a:solidFill>
                  <a:latin typeface="+mn-lt"/>
                  <a:ea typeface="+mn-ea"/>
                  <a:cs typeface="+mn-cs"/>
                </a:rPr>
                <a:t>ifade edilmeli; nedensellik iddiası</a:t>
              </a:r>
              <a:br/>
              <a:r>
                <a:rPr lang="tr-TR" sz="1200" dirty="0">
                  <a:solidFill>
                    <a:srgbClr val="172B3A"/>
                  </a:solidFill>
                  <a:latin typeface="+mn-lt"/>
                  <a:ea typeface="+mn-ea"/>
                  <a:cs typeface="+mn-cs"/>
                </a:rPr>
                <a:t>için ek kanıt veya deneysel çalışma</a:t>
              </a:r>
              <a:br/>
              <a:r>
                <a:rPr lang="tr-TR" sz="1200" dirty="0">
                  <a:solidFill>
                    <a:srgbClr val="172B3A"/>
                  </a:solidFill>
                  <a:latin typeface="+mn-lt"/>
                  <a:ea typeface="+mn-ea"/>
                  <a:cs typeface="+mn-cs"/>
                </a:rPr>
                <a:t>gerektiği belirtilmelidir.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accuracy"/>
          <p:cNvGrpSpPr/>
          <p:nvPr/>
        </p:nvGrpSpPr>
        <p:grpSpPr>
          <a:xfrm>
            <a:off x="753999" y="4744879"/>
            <a:ext cx="9950577" cy="903827"/>
            <a:chOff x="753999" y="4744879"/>
            <a:chExt cx="9950577" cy="903827"/>
          </a:xfrm>
        </p:grpSpPr>
        <p:sp>
          <p:nvSpPr>
            <p:cNvPr id="28" name="TextBox 28"/>
            <p:cNvSpPr txBox="1"/>
            <p:nvPr/>
          </p:nvSpPr>
          <p:spPr>
            <a:xfrm>
              <a:off x="753999" y="4744879"/>
              <a:ext cx="2059724"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"Model doğruluğu</a:t>
              </a:r>
              <a:br/>
              <a:r>
                <a:rPr lang="tr-TR" sz="1580" b="1" dirty="0">
                  <a:solidFill>
                    <a:srgbClr val="12355B"/>
                  </a:solidFill>
                  <a:latin typeface="+mn-lt"/>
                  <a:ea typeface="+mn-ea"/>
                  <a:cs typeface="+mn-cs"/>
                </a:rPr>
                <a:t>yüksekse, iş sorunu</a:t>
              </a:r>
              <a:br/>
              <a:r>
                <a:rPr lang="tr-TR" sz="1580" b="1" dirty="0">
                  <a:solidFill>
                    <a:srgbClr val="12355B"/>
                  </a:solidFill>
                  <a:latin typeface="+mn-lt"/>
                  <a:ea typeface="+mn-ea"/>
                  <a:cs typeface="+mn-cs"/>
                </a:rPr>
                <a:t>çözülmüştür."</a:t>
              </a:r>
            </a:p>
          </p:txBody>
        </p:sp>
        <p:sp>
          <p:nvSpPr>
            <p:cNvPr id="29" name="TextBox 29"/>
            <p:cNvSpPr txBox="1"/>
            <p:nvPr/>
          </p:nvSpPr>
          <p:spPr>
            <a:xfrm>
              <a:off x="4375404" y="4785360"/>
              <a:ext cx="31287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Yüksek doğruluk, veri sızıntısından</a:t>
              </a:r>
              <a:br/>
              <a:r>
                <a:rPr lang="tr-TR" sz="1200" dirty="0">
                  <a:solidFill>
                    <a:srgbClr val="172B3A"/>
                  </a:solidFill>
                  <a:latin typeface="+mn-lt"/>
                  <a:ea typeface="+mn-ea"/>
                  <a:cs typeface="+mn-cs"/>
                </a:rPr>
                <a:t>(gelecekteki bilginin modele sızmasından)</a:t>
              </a:r>
              <a:br/>
              <a:r>
                <a:rPr lang="tr-TR" sz="1200" dirty="0">
                  <a:solidFill>
                    <a:srgbClr val="172B3A"/>
                  </a:solidFill>
                  <a:latin typeface="+mn-lt"/>
                  <a:ea typeface="+mn-ea"/>
                  <a:cs typeface="+mn-cs"/>
                </a:rPr>
                <a:t>ya da iş hedefiyle örtüşmeyen bir başarı</a:t>
              </a:r>
              <a:br/>
              <a:r>
                <a:rPr lang="tr-TR" sz="1200" dirty="0">
                  <a:solidFill>
                    <a:srgbClr val="172B3A"/>
                  </a:solidFill>
                  <a:latin typeface="+mn-lt"/>
                  <a:ea typeface="+mn-ea"/>
                  <a:cs typeface="+mn-cs"/>
                </a:rPr>
                <a:t>ölçütünden kaynaklanabilir.</a:t>
              </a:r>
            </a:p>
          </p:txBody>
        </p:sp>
        <p:sp>
          <p:nvSpPr>
            <p:cNvPr id="30" name="TextBox 30"/>
            <p:cNvSpPr txBox="1"/>
            <p:nvPr/>
          </p:nvSpPr>
          <p:spPr>
            <a:xfrm>
              <a:off x="8185404" y="4785360"/>
              <a:ext cx="25191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Değerlendirme evresinde model,</a:t>
              </a:r>
              <a:br/>
              <a:r>
                <a:rPr lang="tr-TR" sz="1200" dirty="0">
                  <a:solidFill>
                    <a:srgbClr val="172B3A"/>
                  </a:solidFill>
                  <a:latin typeface="+mn-lt"/>
                  <a:ea typeface="+mn-ea"/>
                  <a:cs typeface="+mn-cs"/>
                </a:rPr>
                <a:t>yalnızca teknik metriklerle değil,</a:t>
              </a:r>
              <a:br/>
              <a:r>
                <a:rPr lang="tr-TR" sz="1200" dirty="0">
                  <a:solidFill>
                    <a:srgbClr val="172B3A"/>
                  </a:solidFill>
                  <a:latin typeface="+mn-lt"/>
                  <a:ea typeface="+mn-ea"/>
                  <a:cs typeface="+mn-cs"/>
                </a:rPr>
                <a:t>iş hedefine karşı ve sızıntı riski</a:t>
              </a:r>
              <a:br/>
              <a:r>
                <a:rPr lang="tr-TR" sz="1200" dirty="0">
                  <a:solidFill>
                    <a:srgbClr val="172B3A"/>
                  </a:solidFill>
                  <a:latin typeface="+mn-lt"/>
                  <a:ea typeface="+mn-ea"/>
                  <a:cs typeface="+mn-cs"/>
                </a:rPr>
                <a:t>kontrol edilerek incelenmelidir.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24</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266406" cy="668845"/>
            <a:chOff x="609600" y="171450"/>
            <a:chExt cx="926640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857603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Python ve Jupyter ortamının hazırlanması</a:t>
              </a:r>
            </a:p>
          </p:txBody>
        </p:sp>
      </p:grpSp>
      <p:grpSp>
        <p:nvGrpSpPr>
          <p:cNvPr id="14" name="intro-band"/>
          <p:cNvGrpSpPr/>
          <p:nvPr/>
        </p:nvGrpSpPr>
        <p:grpSpPr>
          <a:xfrm>
            <a:off x="602742" y="1206818"/>
            <a:ext cx="9306190" cy="492633"/>
            <a:chOff x="602742" y="1206818"/>
            <a:chExt cx="9306190" cy="492633"/>
          </a:xfrm>
        </p:grpSpPr>
        <p:sp>
          <p:nvSpPr>
            <p:cNvPr id="12" name="TextBox 12"/>
            <p:cNvSpPr txBox="1"/>
            <p:nvPr/>
          </p:nvSpPr>
          <p:spPr>
            <a:xfrm>
              <a:off x="602742" y="1206818"/>
              <a:ext cx="930619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Tekrarlanabilirlik, aynı veri ve bağımlılık sürümleriyle çalışmanın başka bir bilgisayarda da aynı sonucu</a:t>
              </a:r>
            </a:p>
          </p:txBody>
        </p:sp>
        <p:sp>
          <p:nvSpPr>
            <p:cNvPr id="13" name="TextBox 13"/>
            <p:cNvSpPr txBox="1"/>
            <p:nvPr/>
          </p:nvSpPr>
          <p:spPr>
            <a:xfrm>
              <a:off x="602742" y="1435418"/>
              <a:ext cx="842949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üretmesidir. Python 3.12 ve Jupyter Notebook, kod-açıklama-çıktıyı tek belgede birleştirir.</a:t>
              </a:r>
            </a:p>
          </p:txBody>
        </p:sp>
      </p:grpSp>
      <p:grpSp>
        <p:nvGrpSpPr>
          <p:cNvPr id="25" name="code-card"/>
          <p:cNvGrpSpPr/>
          <p:nvPr/>
        </p:nvGrpSpPr>
        <p:grpSpPr>
          <a:xfrm>
            <a:off x="609600" y="1866900"/>
            <a:ext cx="5334000" cy="4000500"/>
            <a:chOff x="609600" y="1866900"/>
            <a:chExt cx="5334000" cy="4000500"/>
          </a:xfrm>
        </p:grpSpPr>
        <p:sp>
          <p:nvSpPr>
            <p:cNvPr id="15" name="Rectangle 15"/>
            <p:cNvSpPr/>
            <p:nvPr/>
          </p:nvSpPr>
          <p:spPr>
            <a:xfrm>
              <a:off x="609600" y="1866900"/>
              <a:ext cx="5334000" cy="4000500"/>
            </a:xfrm>
            <a:prstGeom prst="roundRect">
              <a:avLst>
                <a:gd name="adj" fmla="val 2381"/>
              </a:avLst>
            </a:prstGeom>
            <a:solidFill>
              <a:srgbClr val="12355B"/>
            </a:solidFill>
            <a:ln>
              <a:noFill/>
            </a:ln>
          </p:spPr>
        </p:sp>
        <p:sp>
          <p:nvSpPr>
            <p:cNvPr id="16" name="Ellipse 16"/>
            <p:cNvSpPr/>
            <p:nvPr/>
          </p:nvSpPr>
          <p:spPr>
            <a:xfrm>
              <a:off x="781050" y="2038350"/>
              <a:ext cx="114300" cy="114300"/>
            </a:xfrm>
            <a:prstGeom prst="ellipse">
              <a:avLst/>
            </a:prstGeom>
            <a:solidFill>
              <a:srgbClr val="00A6A6"/>
            </a:solidFill>
            <a:ln>
              <a:noFill/>
            </a:ln>
          </p:spPr>
        </p:sp>
        <p:sp>
          <p:nvSpPr>
            <p:cNvPr id="17" name="Ellipse 17"/>
            <p:cNvSpPr/>
            <p:nvPr/>
          </p:nvSpPr>
          <p:spPr>
            <a:xfrm>
              <a:off x="971550" y="2038350"/>
              <a:ext cx="114300" cy="114300"/>
            </a:xfrm>
            <a:prstGeom prst="ellipse">
              <a:avLst/>
            </a:prstGeom>
            <a:solidFill>
              <a:srgbClr val="2E86AB"/>
            </a:solidFill>
            <a:ln>
              <a:noFill/>
            </a:ln>
          </p:spPr>
        </p:sp>
        <p:sp>
          <p:nvSpPr>
            <p:cNvPr id="18" name="Ellipse 18"/>
            <p:cNvSpPr/>
            <p:nvPr/>
          </p:nvSpPr>
          <p:spPr>
            <a:xfrm>
              <a:off x="1162050" y="2038350"/>
              <a:ext cx="114300" cy="114300"/>
            </a:xfrm>
            <a:prstGeom prst="ellipse">
              <a:avLst/>
            </a:prstGeom>
            <a:solidFill>
              <a:srgbClr val="EAF4F6"/>
            </a:solidFill>
            <a:ln>
              <a:noFill/>
            </a:ln>
          </p:spPr>
        </p:sp>
        <p:sp>
          <p:nvSpPr>
            <p:cNvPr id="19" name="TextBox 19"/>
            <p:cNvSpPr txBox="1"/>
            <p:nvPr/>
          </p:nvSpPr>
          <p:spPr>
            <a:xfrm>
              <a:off x="832866" y="2325052"/>
              <a:ext cx="2974740"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PowerShell terminalinde çalıştırılır</a:t>
              </a:r>
            </a:p>
          </p:txBody>
        </p:sp>
        <p:sp>
          <p:nvSpPr>
            <p:cNvPr id="20" name="TextBox 20"/>
            <p:cNvSpPr txBox="1"/>
            <p:nvPr/>
          </p:nvSpPr>
          <p:spPr>
            <a:xfrm>
              <a:off x="832485" y="2602706"/>
              <a:ext cx="2045462" cy="448628"/>
            </a:xfrm>
            <a:prstGeom prst="rect">
              <a:avLst/>
            </a:prstGeom>
            <a:noFill/>
            <a:ln>
              <a:noFill/>
            </a:ln>
          </p:spPr>
          <p:txBody>
            <a:bodyPr wrap="none" lIns="0" tIns="0" rIns="0" bIns="0" anchor="t" anchorCtr="0">
              <a:spAutoFit/>
            </a:bodyPr>
            <a:lstStyle/>
            <a:p>
              <a:pPr algn="l">
                <a:lnSpc>
                  <a:spcPts val="1800"/>
                </a:lnSpc>
              </a:pPr>
              <a:r>
                <a:rPr lang="tr-TR" sz="1120" dirty="0">
                  <a:solidFill>
                    <a:srgbClr val="EAF4F6"/>
                  </a:solidFill>
                  <a:latin typeface="Consolas"/>
                  <a:ea typeface="Consolas"/>
                  <a:cs typeface="Consolas"/>
                </a:rPr>
                <a:t>python -m venv .venv</a:t>
              </a:r>
              <a:br/>
              <a:r>
                <a:rPr lang="tr-TR" sz="1120" dirty="0">
                  <a:solidFill>
                    <a:srgbClr val="EAF4F6"/>
                  </a:solidFill>
                  <a:latin typeface="Consolas"/>
                  <a:ea typeface="Consolas"/>
                  <a:cs typeface="Consolas"/>
                </a:rPr>
                <a:t>.venv\Scripts\Activate.ps1</a:t>
              </a:r>
            </a:p>
          </p:txBody>
        </p:sp>
        <p:sp>
          <p:nvSpPr>
            <p:cNvPr id="21" name="TextBox 21"/>
            <p:cNvSpPr txBox="1"/>
            <p:nvPr/>
          </p:nvSpPr>
          <p:spPr>
            <a:xfrm>
              <a:off x="832485" y="3231356"/>
              <a:ext cx="2827782"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00A6A6"/>
                  </a:solidFill>
                  <a:latin typeface="Consolas"/>
                  <a:ea typeface="Consolas"/>
                  <a:cs typeface="Consolas"/>
                </a:rPr>
                <a:t>python -m pip install pandas jupyter</a:t>
              </a:r>
              <a:br/>
              <a:r>
                <a:rPr lang="tr-TR" sz="1120" dirty="0">
                  <a:solidFill>
                    <a:srgbClr val="00A6A6"/>
                  </a:solidFill>
                  <a:latin typeface="Consolas"/>
                  <a:ea typeface="Consolas"/>
                  <a:cs typeface="Consolas"/>
                </a:rPr>
                <a:t>ipykernel</a:t>
              </a:r>
            </a:p>
          </p:txBody>
        </p:sp>
        <p:sp>
          <p:nvSpPr>
            <p:cNvPr id="22" name="TextBox 22"/>
            <p:cNvSpPr txBox="1"/>
            <p:nvPr/>
          </p:nvSpPr>
          <p:spPr>
            <a:xfrm>
              <a:off x="832485" y="3879056"/>
              <a:ext cx="2984246"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00A6A6"/>
                  </a:solidFill>
                  <a:latin typeface="Consolas"/>
                  <a:ea typeface="Consolas"/>
                  <a:cs typeface="Consolas"/>
                </a:rPr>
                <a:t>python -m ipykernel install --user</a:t>
              </a:r>
              <a:br/>
              <a:r>
                <a:rPr lang="tr-TR" sz="1120" dirty="0">
                  <a:solidFill>
                    <a:srgbClr val="00A6A6"/>
                  </a:solidFill>
                  <a:latin typeface="Consolas"/>
                  <a:ea typeface="Consolas"/>
                  <a:cs typeface="Consolas"/>
                </a:rPr>
                <a:t>--name kafe-analizi</a:t>
              </a:r>
              <a:br/>
              <a:r>
                <a:rPr lang="tr-TR" sz="1120" dirty="0">
                  <a:solidFill>
                    <a:srgbClr val="00A6A6"/>
                  </a:solidFill>
                  <a:latin typeface="Consolas"/>
                  <a:ea typeface="Consolas"/>
                  <a:cs typeface="Consolas"/>
                </a:rPr>
                <a:t>--display-name "Python (Kafe Analizi)"</a:t>
              </a:r>
            </a:p>
          </p:txBody>
        </p:sp>
        <p:sp>
          <p:nvSpPr>
            <p:cNvPr id="23" name="TextBox 23"/>
            <p:cNvSpPr txBox="1"/>
            <p:nvPr/>
          </p:nvSpPr>
          <p:spPr>
            <a:xfrm>
              <a:off x="832866" y="4763452"/>
              <a:ext cx="2871026"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B8CBD3"/>
                  </a:solidFill>
                  <a:latin typeface="Consolas"/>
                  <a:ea typeface="Consolas"/>
                  <a:cs typeface="Consolas"/>
                </a:rPr>
                <a:t># Çıktı:</a:t>
              </a:r>
              <a:br/>
              <a:r>
                <a:rPr lang="tr-TR" sz="1050" dirty="0">
                  <a:solidFill>
                    <a:srgbClr val="B8CBD3"/>
                  </a:solidFill>
                  <a:latin typeface="Consolas"/>
                  <a:ea typeface="Consolas"/>
                  <a:cs typeface="Consolas"/>
                </a:rPr>
                <a:t># Installed kernelspec kafe-analizi ...</a:t>
              </a:r>
            </a:p>
          </p:txBody>
        </p:sp>
        <p:sp>
          <p:nvSpPr>
            <p:cNvPr id="24" name="TextBox 24"/>
            <p:cNvSpPr txBox="1"/>
            <p:nvPr/>
          </p:nvSpPr>
          <p:spPr>
            <a:xfrm>
              <a:off x="833247" y="5438299"/>
              <a:ext cx="2268855"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Consolas"/>
                  <a:ea typeface="Consolas"/>
                  <a:cs typeface="Consolas"/>
                </a:rPr>
                <a:t>Jupyter açıldığında "Python (Kafe</a:t>
              </a:r>
              <a:br/>
              <a:r>
                <a:rPr lang="tr-TR" sz="980" dirty="0">
                  <a:solidFill>
                    <a:srgbClr val="52616B"/>
                  </a:solidFill>
                  <a:latin typeface="Consolas"/>
                  <a:ea typeface="Consolas"/>
                  <a:cs typeface="Consolas"/>
                </a:rPr>
                <a:t>Analizi)" çekirdeği seçilmelidir.</a:t>
              </a:r>
            </a:p>
          </p:txBody>
        </p:sp>
      </p:grpSp>
      <p:grpSp>
        <p:nvGrpSpPr>
          <p:cNvPr id="29" name="why-card"/>
          <p:cNvGrpSpPr/>
          <p:nvPr/>
        </p:nvGrpSpPr>
        <p:grpSpPr>
          <a:xfrm>
            <a:off x="6286500" y="1866900"/>
            <a:ext cx="5295900" cy="1905000"/>
            <a:chOff x="6286500" y="1866900"/>
            <a:chExt cx="5295900" cy="1905000"/>
          </a:xfrm>
        </p:grpSpPr>
        <p:sp>
          <p:nvSpPr>
            <p:cNvPr id="26" name="Rectangle 26"/>
            <p:cNvSpPr/>
            <p:nvPr/>
          </p:nvSpPr>
          <p:spPr>
            <a:xfrm>
              <a:off x="6286500" y="1866900"/>
              <a:ext cx="5295900" cy="1905000"/>
            </a:xfrm>
            <a:prstGeom prst="roundRect">
              <a:avLst>
                <a:gd name="adj" fmla="val 5000"/>
              </a:avLst>
            </a:prstGeom>
            <a:solidFill>
              <a:srgbClr val="EAF4F6"/>
            </a:solidFill>
            <a:ln w="14288">
              <a:solidFill>
                <a:srgbClr val="00A6A6"/>
              </a:solidFill>
            </a:ln>
          </p:spPr>
        </p:sp>
        <p:sp>
          <p:nvSpPr>
            <p:cNvPr id="27" name="TextBox 27"/>
            <p:cNvSpPr txBox="1"/>
            <p:nvPr/>
          </p:nvSpPr>
          <p:spPr>
            <a:xfrm>
              <a:off x="6507480" y="2028825"/>
              <a:ext cx="200516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Neden sanal ortam?</a:t>
              </a:r>
            </a:p>
          </p:txBody>
        </p:sp>
        <p:sp>
          <p:nvSpPr>
            <p:cNvPr id="28" name="TextBox 28"/>
            <p:cNvSpPr txBox="1"/>
            <p:nvPr/>
          </p:nvSpPr>
          <p:spPr>
            <a:xfrm>
              <a:off x="6509004" y="2366010"/>
              <a:ext cx="32125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Sanal ortam, farklı projelerin kütüphane</a:t>
              </a:r>
              <a:br/>
              <a:r>
                <a:rPr lang="tr-TR" sz="1200" dirty="0">
                  <a:solidFill>
                    <a:srgbClr val="172B3A"/>
                  </a:solidFill>
                  <a:latin typeface="+mn-lt"/>
                  <a:ea typeface="+mn-ea"/>
                  <a:cs typeface="+mn-cs"/>
                </a:rPr>
                <a:t>sürümlerinin birbirini etkilemesini önler.</a:t>
              </a:r>
              <a:br/>
              <a:r>
                <a:rPr lang="tr-TR" sz="1200" dirty="0">
                  <a:solidFill>
                    <a:srgbClr val="172B3A"/>
                  </a:solidFill>
                  <a:latin typeface="+mn-lt"/>
                  <a:ea typeface="+mn-ea"/>
                  <a:cs typeface="+mn-cs"/>
                </a:rPr>
                <a:t>Çekirdek adı ise Jupyter'de doğru ortamın</a:t>
              </a:r>
              <a:br/>
              <a:r>
                <a:rPr lang="tr-TR" sz="1200" dirty="0">
                  <a:solidFill>
                    <a:srgbClr val="172B3A"/>
                  </a:solidFill>
                  <a:latin typeface="+mn-lt"/>
                  <a:ea typeface="+mn-ea"/>
                  <a:cs typeface="+mn-cs"/>
                </a:rPr>
                <a:t>seçildiğini görünür kılar.</a:t>
              </a:r>
            </a:p>
          </p:txBody>
        </p:sp>
      </p:grpSp>
      <p:grpSp>
        <p:nvGrpSpPr>
          <p:cNvPr id="33" name="record-card"/>
          <p:cNvGrpSpPr/>
          <p:nvPr/>
        </p:nvGrpSpPr>
        <p:grpSpPr>
          <a:xfrm>
            <a:off x="6286500" y="3962400"/>
            <a:ext cx="5295900" cy="1905000"/>
            <a:chOff x="6286500" y="3962400"/>
            <a:chExt cx="5295900" cy="1905000"/>
          </a:xfrm>
        </p:grpSpPr>
        <p:sp>
          <p:nvSpPr>
            <p:cNvPr id="30" name="Rectangle 30"/>
            <p:cNvSpPr/>
            <p:nvPr/>
          </p:nvSpPr>
          <p:spPr>
            <a:xfrm>
              <a:off x="6286500" y="3962400"/>
              <a:ext cx="5295900" cy="1905000"/>
            </a:xfrm>
            <a:prstGeom prst="roundRect">
              <a:avLst>
                <a:gd name="adj" fmla="val 5000"/>
              </a:avLst>
            </a:prstGeom>
            <a:solidFill>
              <a:srgbClr val="FFFFFF"/>
            </a:solidFill>
            <a:ln w="14288">
              <a:solidFill>
                <a:srgbClr val="B8CBD3"/>
              </a:solidFill>
            </a:ln>
          </p:spPr>
        </p:sp>
        <p:sp>
          <p:nvSpPr>
            <p:cNvPr id="31" name="TextBox 31"/>
            <p:cNvSpPr txBox="1"/>
            <p:nvPr/>
          </p:nvSpPr>
          <p:spPr>
            <a:xfrm>
              <a:off x="6507480" y="4124325"/>
              <a:ext cx="241867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İlk hücre: sürüm kaydı</a:t>
              </a:r>
            </a:p>
          </p:txBody>
        </p:sp>
        <p:sp>
          <p:nvSpPr>
            <p:cNvPr id="32" name="TextBox 32"/>
            <p:cNvSpPr txBox="1"/>
            <p:nvPr/>
          </p:nvSpPr>
          <p:spPr>
            <a:xfrm>
              <a:off x="6509766" y="4458652"/>
              <a:ext cx="2871026" cy="986409"/>
            </a:xfrm>
            <a:prstGeom prst="rect">
              <a:avLst/>
            </a:prstGeom>
            <a:noFill/>
            <a:ln>
              <a:noFill/>
            </a:ln>
          </p:spPr>
          <p:txBody>
            <a:bodyPr wrap="none" lIns="0" tIns="0" rIns="0" bIns="0" anchor="t" anchorCtr="0">
              <a:spAutoFit/>
            </a:bodyPr>
            <a:lstStyle/>
            <a:p>
              <a:pPr algn="l">
                <a:lnSpc>
                  <a:spcPts val="1350"/>
                </a:lnSpc>
              </a:pPr>
              <a:r>
                <a:rPr lang="tr-TR" sz="1050" dirty="0">
                  <a:solidFill>
                    <a:srgbClr val="12355B"/>
                  </a:solidFill>
                  <a:latin typeface="Consolas"/>
                  <a:ea typeface="Consolas"/>
                  <a:cs typeface="Consolas"/>
                </a:rPr>
                <a:t>import sys</a:t>
              </a:r>
            </a:p>
            <a:p>
              <a:pPr algn="l">
                <a:lnSpc>
                  <a:spcPts val="1350"/>
                </a:lnSpc>
                <a:spcBef>
                  <a:spcPts val="150"/>
                </a:spcBef>
              </a:pPr>
              <a:r>
                <a:rPr lang="tr-TR" sz="1050" dirty="0">
                  <a:solidFill>
                    <a:srgbClr val="12355B"/>
                  </a:solidFill>
                  <a:latin typeface="Consolas"/>
                  <a:ea typeface="Consolas"/>
                  <a:cs typeface="Consolas"/>
                </a:rPr>
                <a:t>import pandas as pd</a:t>
              </a:r>
            </a:p>
            <a:p>
              <a:pPr algn="l">
                <a:lnSpc>
                  <a:spcPts val="1350"/>
                </a:lnSpc>
                <a:spcBef>
                  <a:spcPts val="450"/>
                </a:spcBef>
              </a:pPr>
              <a:r>
                <a:rPr lang="tr-TR" sz="1050" dirty="0">
                  <a:solidFill>
                    <a:srgbClr val="12355B"/>
                  </a:solidFill>
                  <a:latin typeface="Consolas"/>
                  <a:ea typeface="Consolas"/>
                  <a:cs typeface="Consolas"/>
                </a:rPr>
                <a:t>print("Python sürümü:", sys.version</a:t>
              </a:r>
              <a:br/>
              <a:r>
                <a:rPr lang="tr-TR" sz="1050" dirty="0">
                  <a:solidFill>
                    <a:srgbClr val="12355B"/>
                  </a:solidFill>
                  <a:latin typeface="Consolas"/>
                  <a:ea typeface="Consolas"/>
                  <a:cs typeface="Consolas"/>
                </a:rPr>
                <a:t>.split()[0])</a:t>
              </a:r>
            </a:p>
            <a:p>
              <a:pPr algn="l">
                <a:lnSpc>
                  <a:spcPts val="1350"/>
                </a:lnSpc>
                <a:spcBef>
                  <a:spcPts val="150"/>
                </a:spcBef>
              </a:pPr>
              <a:r>
                <a:rPr lang="tr-TR" sz="1050" dirty="0">
                  <a:solidFill>
                    <a:srgbClr val="12355B"/>
                  </a:solidFill>
                  <a:latin typeface="Consolas"/>
                  <a:ea typeface="Consolas"/>
                  <a:cs typeface="Consolas"/>
                </a:rPr>
                <a:t>print("pandas sürümü:", pd.__version__)</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24</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217713" cy="557403"/>
            <a:chOff x="595122" y="282892"/>
            <a:chExt cx="8217713" cy="557403"/>
          </a:xfrm>
        </p:grpSpPr>
        <p:sp>
          <p:nvSpPr>
            <p:cNvPr id="4" name="TextBox 4"/>
            <p:cNvSpPr txBox="1"/>
            <p:nvPr/>
          </p:nvSpPr>
          <p:spPr>
            <a:xfrm>
              <a:off x="595122" y="282892"/>
              <a:ext cx="821771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 KafeTalepAnalizi</a:t>
              </a:r>
            </a:p>
          </p:txBody>
        </p:sp>
      </p:grpSp>
      <p:grpSp>
        <p:nvGrpSpPr>
          <p:cNvPr id="15" name="code-card"/>
          <p:cNvGrpSpPr/>
          <p:nvPr/>
        </p:nvGrpSpPr>
        <p:grpSpPr>
          <a:xfrm>
            <a:off x="609600" y="1104900"/>
            <a:ext cx="5905500" cy="4762500"/>
            <a:chOff x="609600" y="1104900"/>
            <a:chExt cx="5905500" cy="4762500"/>
          </a:xfrm>
        </p:grpSpPr>
        <p:sp>
          <p:nvSpPr>
            <p:cNvPr id="6" name="Rectangle 6"/>
            <p:cNvSpPr/>
            <p:nvPr/>
          </p:nvSpPr>
          <p:spPr>
            <a:xfrm>
              <a:off x="609600" y="1104900"/>
              <a:ext cx="5905500" cy="4762500"/>
            </a:xfrm>
            <a:prstGeom prst="roundRect">
              <a:avLst>
                <a:gd name="adj" fmla="val 2000"/>
              </a:avLst>
            </a:prstGeom>
            <a:solidFill>
              <a:srgbClr val="12355B"/>
            </a:solidFill>
            <a:ln>
              <a:noFill/>
            </a:ln>
          </p:spPr>
        </p:sp>
        <p:sp>
          <p:nvSpPr>
            <p:cNvPr id="7" name="Ellipse 7"/>
            <p:cNvSpPr/>
            <p:nvPr/>
          </p:nvSpPr>
          <p:spPr>
            <a:xfrm>
              <a:off x="781050" y="1276350"/>
              <a:ext cx="114300" cy="114300"/>
            </a:xfrm>
            <a:prstGeom prst="ellipse">
              <a:avLst/>
            </a:prstGeom>
            <a:solidFill>
              <a:srgbClr val="00A6A6"/>
            </a:solidFill>
            <a:ln>
              <a:noFill/>
            </a:ln>
          </p:spPr>
        </p:sp>
        <p:sp>
          <p:nvSpPr>
            <p:cNvPr id="8" name="Ellipse 8"/>
            <p:cNvSpPr/>
            <p:nvPr/>
          </p:nvSpPr>
          <p:spPr>
            <a:xfrm>
              <a:off x="971550" y="1276350"/>
              <a:ext cx="114300" cy="114300"/>
            </a:xfrm>
            <a:prstGeom prst="ellipse">
              <a:avLst/>
            </a:prstGeom>
            <a:solidFill>
              <a:srgbClr val="2E86AB"/>
            </a:solidFill>
            <a:ln>
              <a:noFill/>
            </a:ln>
          </p:spPr>
        </p:sp>
        <p:sp>
          <p:nvSpPr>
            <p:cNvPr id="9" name="Ellipse 9"/>
            <p:cNvSpPr/>
            <p:nvPr/>
          </p:nvSpPr>
          <p:spPr>
            <a:xfrm>
              <a:off x="1162050" y="1276350"/>
              <a:ext cx="114300" cy="114300"/>
            </a:xfrm>
            <a:prstGeom prst="ellipse">
              <a:avLst/>
            </a:prstGeom>
            <a:solidFill>
              <a:srgbClr val="EAF4F6"/>
            </a:solidFill>
            <a:ln>
              <a:noFill/>
            </a:ln>
          </p:spPr>
        </p:sp>
        <p:sp>
          <p:nvSpPr>
            <p:cNvPr id="10" name="TextBox 10"/>
            <p:cNvSpPr txBox="1"/>
            <p:nvPr/>
          </p:nvSpPr>
          <p:spPr>
            <a:xfrm>
              <a:off x="832866" y="1544002"/>
              <a:ext cx="2137601" cy="1805559"/>
            </a:xfrm>
            <a:prstGeom prst="rect">
              <a:avLst/>
            </a:prstGeom>
            <a:noFill/>
            <a:ln>
              <a:noFill/>
            </a:ln>
          </p:spPr>
          <p:txBody>
            <a:bodyPr wrap="none" lIns="0" tIns="0" rIns="0" bIns="0" anchor="t" anchorCtr="0">
              <a:spAutoFit/>
            </a:bodyPr>
            <a:lstStyle/>
            <a:p>
              <a:pPr algn="l">
                <a:lnSpc>
                  <a:spcPts val="1350"/>
                </a:lnSpc>
              </a:pPr>
              <a:r>
                <a:rPr lang="tr-TR" sz="1050" dirty="0">
                  <a:solidFill>
                    <a:srgbClr val="EAF4F6"/>
                  </a:solidFill>
                  <a:latin typeface="Consolas"/>
                  <a:ea typeface="Consolas"/>
                  <a:cs typeface="Consolas"/>
                </a:rPr>
                <a:t>class KafeTalepAnalizi:</a:t>
              </a:r>
            </a:p>
            <a:p>
              <a:pPr algn="l">
                <a:lnSpc>
                  <a:spcPts val="1350"/>
                </a:lnSpc>
                <a:spcBef>
                  <a:spcPts val="150"/>
                </a:spcBef>
              </a:pPr>
              <a:r>
                <a:rPr lang="tr-TR" sz="1050" dirty="0">
                  <a:solidFill>
                    <a:srgbClr val="EAF4F6"/>
                  </a:solidFill>
                  <a:latin typeface="Consolas"/>
                  <a:ea typeface="Consolas"/>
                  <a:cs typeface="Consolas"/>
                </a:rPr>
                <a:t>def __init__(self):</a:t>
              </a:r>
            </a:p>
            <a:p>
              <a:pPr algn="l">
                <a:lnSpc>
                  <a:spcPts val="1350"/>
                </a:lnSpc>
                <a:spcBef>
                  <a:spcPts val="150"/>
                </a:spcBef>
              </a:pPr>
              <a:r>
                <a:rPr lang="tr-TR" sz="1050" dirty="0">
                  <a:solidFill>
                    <a:srgbClr val="EAF4F6"/>
                  </a:solidFill>
                  <a:latin typeface="Consolas"/>
                  <a:ea typeface="Consolas"/>
                  <a:cs typeface="Consolas"/>
                </a:rPr>
                <a:t>self.isHedefi = "Sandviç</a:t>
              </a:r>
              <a:br/>
              <a:r>
                <a:rPr lang="tr-TR" sz="1050" dirty="0">
                  <a:solidFill>
                    <a:srgbClr val="EAF4F6"/>
                  </a:solidFill>
                  <a:latin typeface="Consolas"/>
                  <a:ea typeface="Consolas"/>
                  <a:cs typeface="Consolas"/>
                </a:rPr>
                <a:t>israfını azaltmak"</a:t>
              </a:r>
            </a:p>
            <a:p>
              <a:pPr algn="l">
                <a:lnSpc>
                  <a:spcPts val="1350"/>
                </a:lnSpc>
                <a:spcBef>
                  <a:spcPts val="150"/>
                </a:spcBef>
              </a:pPr>
              <a:r>
                <a:rPr lang="tr-TR" sz="1050" dirty="0">
                  <a:solidFill>
                    <a:srgbClr val="EAF4F6"/>
                  </a:solidFill>
                  <a:latin typeface="Consolas"/>
                  <a:ea typeface="Consolas"/>
                  <a:cs typeface="Consolas"/>
                </a:rPr>
                <a:t>self.veri = pd.DataFrame({</a:t>
              </a:r>
              <a:br/>
              <a:r>
                <a:rPr lang="tr-TR" sz="1050" dirty="0">
                  <a:solidFill>
                    <a:srgbClr val="EAF4F6"/>
                  </a:solidFill>
                  <a:latin typeface="Consolas"/>
                  <a:ea typeface="Consolas"/>
                  <a:cs typeface="Consolas"/>
                </a:rPr>
                <a:t>"gun": [...], "urun": [...],</a:t>
              </a:r>
              <a:br/>
              <a:r>
                <a:rPr lang="tr-TR" sz="1050" dirty="0">
                  <a:solidFill>
                    <a:srgbClr val="EAF4F6"/>
                  </a:solidFill>
                  <a:latin typeface="Consolas"/>
                  <a:ea typeface="Consolas"/>
                  <a:cs typeface="Consolas"/>
                </a:rPr>
                <a:t>"satis_adedi": [38,44,29,47],</a:t>
              </a:r>
              <a:br/>
              <a:r>
                <a:rPr lang="tr-TR" sz="1050" dirty="0">
                  <a:solidFill>
                    <a:srgbClr val="EAF4F6"/>
                  </a:solidFill>
                  <a:latin typeface="Consolas"/>
                  <a:ea typeface="Consolas"/>
                  <a:cs typeface="Consolas"/>
                </a:rPr>
                <a:t>"stok_tukendi": [F,F,F,True],</a:t>
              </a:r>
              <a:br/>
              <a:r>
                <a:rPr lang="tr-TR" sz="1050" dirty="0">
                  <a:solidFill>
                    <a:srgbClr val="EAF4F6"/>
                  </a:solidFill>
                  <a:latin typeface="Consolas"/>
                  <a:ea typeface="Consolas"/>
                  <a:cs typeface="Consolas"/>
                </a:rPr>
                <a:t>"sinav_haftasi": [F,T,F,True]</a:t>
              </a:r>
              <a:br/>
              <a:r>
                <a:rPr lang="tr-TR" sz="1050" dirty="0">
                  <a:solidFill>
                    <a:srgbClr val="EAF4F6"/>
                  </a:solidFill>
                  <a:latin typeface="Consolas"/>
                  <a:ea typeface="Consolas"/>
                  <a:cs typeface="Consolas"/>
                </a:rPr>
                <a:t>})</a:t>
              </a:r>
            </a:p>
          </p:txBody>
        </p:sp>
        <p:sp>
          <p:nvSpPr>
            <p:cNvPr id="11" name="TextBox 11"/>
            <p:cNvSpPr txBox="1"/>
            <p:nvPr/>
          </p:nvSpPr>
          <p:spPr>
            <a:xfrm>
              <a:off x="832866" y="3487102"/>
              <a:ext cx="2797683" cy="929259"/>
            </a:xfrm>
            <a:prstGeom prst="rect">
              <a:avLst/>
            </a:prstGeom>
            <a:noFill/>
            <a:ln>
              <a:noFill/>
            </a:ln>
          </p:spPr>
          <p:txBody>
            <a:bodyPr wrap="none" lIns="0" tIns="0" rIns="0" bIns="0" anchor="t" anchorCtr="0">
              <a:spAutoFit/>
            </a:bodyPr>
            <a:lstStyle/>
            <a:p>
              <a:pPr algn="l">
                <a:lnSpc>
                  <a:spcPts val="1200"/>
                </a:lnSpc>
              </a:pPr>
              <a:r>
                <a:rPr lang="tr-TR" sz="1050" dirty="0">
                  <a:solidFill>
                    <a:srgbClr val="00A6A6"/>
                  </a:solidFill>
                  <a:latin typeface="Consolas"/>
                  <a:ea typeface="Consolas"/>
                  <a:cs typeface="Consolas"/>
                </a:rPr>
                <a:t>def veriKalitesiniKontrolEt(self):</a:t>
              </a:r>
            </a:p>
            <a:p>
              <a:pPr algn="l">
                <a:lnSpc>
                  <a:spcPts val="1200"/>
                </a:lnSpc>
                <a:spcBef>
                  <a:spcPts val="150"/>
                </a:spcBef>
              </a:pPr>
              <a:r>
                <a:rPr lang="tr-TR" sz="1050" dirty="0">
                  <a:solidFill>
                    <a:srgbClr val="00A6A6"/>
                  </a:solidFill>
                  <a:latin typeface="Consolas"/>
                  <a:ea typeface="Consolas"/>
                  <a:cs typeface="Consolas"/>
                </a:rPr>
                <a:t>return self.veri.isna().sum().sum()</a:t>
              </a:r>
            </a:p>
            <a:p>
              <a:pPr algn="l">
                <a:lnSpc>
                  <a:spcPts val="1200"/>
                </a:lnSpc>
                <a:spcBef>
                  <a:spcPts val="600"/>
                </a:spcBef>
              </a:pPr>
              <a:r>
                <a:rPr lang="tr-TR" sz="1050" dirty="0">
                  <a:solidFill>
                    <a:srgbClr val="00A6A6"/>
                  </a:solidFill>
                  <a:latin typeface="Consolas"/>
                  <a:ea typeface="Consolas"/>
                  <a:cs typeface="Consolas"/>
                </a:rPr>
                <a:t>def sinavHaftasiOzetiniUret(self):</a:t>
              </a:r>
            </a:p>
            <a:p>
              <a:pPr algn="l">
                <a:lnSpc>
                  <a:spcPts val="1200"/>
                </a:lnSpc>
                <a:spcBef>
                  <a:spcPts val="150"/>
                </a:spcBef>
              </a:pPr>
              <a:r>
                <a:rPr lang="tr-TR" sz="1050" dirty="0">
                  <a:solidFill>
                    <a:srgbClr val="00A6A6"/>
                  </a:solidFill>
                  <a:latin typeface="Consolas"/>
                  <a:ea typeface="Consolas"/>
                  <a:cs typeface="Consolas"/>
                </a:rPr>
                <a:t>return self.veri.groupby(</a:t>
              </a:r>
              <a:br/>
              <a:r>
                <a:rPr lang="tr-TR" sz="1050" dirty="0">
                  <a:solidFill>
                    <a:srgbClr val="00A6A6"/>
                  </a:solidFill>
                  <a:latin typeface="Consolas"/>
                  <a:ea typeface="Consolas"/>
                  <a:cs typeface="Consolas"/>
                </a:rPr>
                <a:t>"sinav_haftasi")["satis_adedi"].mean()</a:t>
              </a:r>
            </a:p>
          </p:txBody>
        </p:sp>
        <p:sp>
          <p:nvSpPr>
            <p:cNvPr id="12" name="TextBox 12"/>
            <p:cNvSpPr txBox="1"/>
            <p:nvPr/>
          </p:nvSpPr>
          <p:spPr>
            <a:xfrm>
              <a:off x="832866" y="4744402"/>
              <a:ext cx="2724341" cy="548259"/>
            </a:xfrm>
            <a:prstGeom prst="rect">
              <a:avLst/>
            </a:prstGeom>
            <a:noFill/>
            <a:ln>
              <a:noFill/>
            </a:ln>
          </p:spPr>
          <p:txBody>
            <a:bodyPr wrap="none" lIns="0" tIns="0" rIns="0" bIns="0" anchor="t" anchorCtr="0">
              <a:spAutoFit/>
            </a:bodyPr>
            <a:lstStyle/>
            <a:p>
              <a:pPr algn="l">
                <a:lnSpc>
                  <a:spcPts val="1350"/>
                </a:lnSpc>
              </a:pPr>
              <a:r>
                <a:rPr lang="tr-TR" sz="1050" dirty="0">
                  <a:solidFill>
                    <a:srgbClr val="EAF4F6"/>
                  </a:solidFill>
                  <a:latin typeface="Consolas"/>
                  <a:ea typeface="Consolas"/>
                  <a:cs typeface="Consolas"/>
                </a:rPr>
                <a:t>def raporYazdir(self):</a:t>
              </a:r>
              <a:br/>
              <a:r>
                <a:rPr lang="tr-TR" sz="1050" dirty="0">
                  <a:solidFill>
                    <a:srgbClr val="EAF4F6"/>
                  </a:solidFill>
                  <a:latin typeface="Consolas"/>
                  <a:ea typeface="Consolas"/>
                  <a:cs typeface="Consolas"/>
                </a:rPr>
                <a:t>print("İş hedefi:", self.isHedefi)</a:t>
              </a:r>
              <a:br/>
              <a:r>
                <a:rPr lang="tr-TR" sz="1050" dirty="0">
                  <a:solidFill>
                    <a:srgbClr val="EAF4F6"/>
                  </a:solidFill>
                  <a:latin typeface="Consolas"/>
                  <a:ea typeface="Consolas"/>
                  <a:cs typeface="Consolas"/>
                </a:rPr>
                <a:t>print(self.sinavHaftasiOzetiniUret())</a:t>
              </a:r>
            </a:p>
          </p:txBody>
        </p:sp>
        <p:sp>
          <p:nvSpPr>
            <p:cNvPr id="13" name="Line 13"/>
            <p:cNvSpPr/>
            <p:nvPr/>
          </p:nvSpPr>
          <p:spPr>
            <a:xfrm>
              <a:off x="838200" y="5524500"/>
              <a:ext cx="5448300" cy="9525"/>
            </a:xfrm>
            <a:custGeom>
              <a:avLst/>
              <a:gdLst/>
              <a:ahLst/>
              <a:cxnLst/>
              <a:rect l="l" t="t" r="r" b="b"/>
              <a:pathLst>
                <a:path w="5448300" h="9525">
                  <a:moveTo>
                    <a:pt x="0" y="0"/>
                  </a:moveTo>
                  <a:lnTo>
                    <a:pt x="5448300" y="0"/>
                  </a:lnTo>
                </a:path>
              </a:pathLst>
            </a:custGeom>
            <a:noFill/>
            <a:ln w="9525">
              <a:solidFill>
                <a:srgbClr val="2E86AB"/>
              </a:solidFill>
            </a:ln>
          </p:spPr>
        </p:sp>
        <p:sp>
          <p:nvSpPr>
            <p:cNvPr id="14" name="TextBox 14"/>
            <p:cNvSpPr txBox="1"/>
            <p:nvPr/>
          </p:nvSpPr>
          <p:spPr>
            <a:xfrm>
              <a:off x="833247" y="5647849"/>
              <a:ext cx="2845276" cy="190690"/>
            </a:xfrm>
            <a:prstGeom prst="rect">
              <a:avLst/>
            </a:prstGeom>
            <a:noFill/>
            <a:ln>
              <a:noFill/>
            </a:ln>
          </p:spPr>
          <p:txBody>
            <a:bodyPr wrap="none" lIns="0" tIns="0" rIns="0" bIns="0" anchor="t" anchorCtr="0">
              <a:spAutoFit/>
            </a:bodyPr>
            <a:lstStyle/>
            <a:p>
              <a:pPr algn="l"/>
              <a:r>
                <a:rPr lang="tr-TR" sz="980" dirty="0">
                  <a:solidFill>
                    <a:srgbClr val="B8CBD3"/>
                  </a:solidFill>
                  <a:latin typeface="Consolas"/>
                  <a:ea typeface="Consolas"/>
                  <a:cs typeface="Consolas"/>
                </a:rPr>
                <a:t># Çıktı: iş hedefi, eksik değer sayısı,</a:t>
              </a:r>
            </a:p>
          </p:txBody>
        </p:sp>
      </p:grpSp>
      <p:grpSp>
        <p:nvGrpSpPr>
          <p:cNvPr id="19" name="explain-card"/>
          <p:cNvGrpSpPr/>
          <p:nvPr/>
        </p:nvGrpSpPr>
        <p:grpSpPr>
          <a:xfrm>
            <a:off x="6743700" y="1104900"/>
            <a:ext cx="4838700" cy="2286000"/>
            <a:chOff x="6743700" y="1104900"/>
            <a:chExt cx="4838700" cy="2286000"/>
          </a:xfrm>
        </p:grpSpPr>
        <p:sp>
          <p:nvSpPr>
            <p:cNvPr id="16" name="Rectangle 16"/>
            <p:cNvSpPr/>
            <p:nvPr/>
          </p:nvSpPr>
          <p:spPr>
            <a:xfrm>
              <a:off x="6743700" y="1104900"/>
              <a:ext cx="4838700" cy="2286000"/>
            </a:xfrm>
            <a:prstGeom prst="roundRect">
              <a:avLst>
                <a:gd name="adj" fmla="val 4167"/>
              </a:avLst>
            </a:prstGeom>
            <a:solidFill>
              <a:srgbClr val="EAF4F6"/>
            </a:solidFill>
            <a:ln w="14288">
              <a:solidFill>
                <a:srgbClr val="00A6A6"/>
              </a:solidFill>
            </a:ln>
          </p:spPr>
        </p:sp>
        <p:sp>
          <p:nvSpPr>
            <p:cNvPr id="17" name="TextBox 17"/>
            <p:cNvSpPr txBox="1"/>
            <p:nvPr/>
          </p:nvSpPr>
          <p:spPr>
            <a:xfrm>
              <a:off x="6964680" y="1266825"/>
              <a:ext cx="531305"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Amaç</a:t>
              </a:r>
            </a:p>
          </p:txBody>
        </p:sp>
        <p:sp>
          <p:nvSpPr>
            <p:cNvPr id="18" name="TextBox 18"/>
            <p:cNvSpPr txBox="1"/>
            <p:nvPr/>
          </p:nvSpPr>
          <p:spPr>
            <a:xfrm>
              <a:off x="6966204" y="1584960"/>
              <a:ext cx="3136392" cy="13586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İş hedefini, veri kalitesi kontrolünü ve</a:t>
              </a:r>
              <a:br/>
              <a:r>
                <a:rPr lang="tr-TR" sz="1200" dirty="0">
                  <a:solidFill>
                    <a:srgbClr val="172B3A"/>
                  </a:solidFill>
                  <a:latin typeface="+mn-lt"/>
                  <a:ea typeface="+mn-ea"/>
                  <a:cs typeface="+mn-cs"/>
                </a:rPr>
                <a:t>özet raporu tek bir sınıfta birleştirmek.</a:t>
              </a:r>
            </a:p>
            <a:p>
              <a:pPr algn="l">
                <a:lnSpc>
                  <a:spcPts val="1650"/>
                </a:lnSpc>
                <a:spcBef>
                  <a:spcPts val="600"/>
                </a:spcBef>
              </a:pPr>
              <a:r>
                <a:rPr lang="tr-TR" sz="1200" dirty="0">
                  <a:solidFill>
                    <a:srgbClr val="172B3A"/>
                  </a:solidFill>
                  <a:latin typeface="+mn-lt"/>
                  <a:ea typeface="+mn-ea"/>
                  <a:cs typeface="+mn-cs"/>
                </a:rPr>
                <a:t>__init__ iş hedefini ve veri kümesini</a:t>
              </a:r>
              <a:br/>
              <a:r>
                <a:rPr lang="tr-TR" sz="1200" dirty="0">
                  <a:solidFill>
                    <a:srgbClr val="172B3A"/>
                  </a:solidFill>
                  <a:latin typeface="+mn-lt"/>
                  <a:ea typeface="+mn-ea"/>
                  <a:cs typeface="+mn-cs"/>
                </a:rPr>
                <a:t>başlatır; veriKalitesiniKontrolEt() eksik</a:t>
              </a:r>
              <a:br/>
              <a:r>
                <a:rPr lang="tr-TR" sz="1200" dirty="0">
                  <a:solidFill>
                    <a:srgbClr val="172B3A"/>
                  </a:solidFill>
                  <a:latin typeface="+mn-lt"/>
                  <a:ea typeface="+mn-ea"/>
                  <a:cs typeface="+mn-cs"/>
                </a:rPr>
                <a:t>değerleri, sinavHaftasiOzetiniUret() ilk</a:t>
              </a:r>
              <a:br/>
              <a:r>
                <a:rPr lang="tr-TR" sz="1200" dirty="0">
                  <a:solidFill>
                    <a:srgbClr val="172B3A"/>
                  </a:solidFill>
                  <a:latin typeface="+mn-lt"/>
                  <a:ea typeface="+mn-ea"/>
                  <a:cs typeface="+mn-cs"/>
                </a:rPr>
                <a:t>analitik özeti üretir.</a:t>
              </a:r>
            </a:p>
          </p:txBody>
        </p:sp>
      </p:grpSp>
      <p:grpSp>
        <p:nvGrpSpPr>
          <p:cNvPr id="23" name="extend-card"/>
          <p:cNvGrpSpPr/>
          <p:nvPr/>
        </p:nvGrpSpPr>
        <p:grpSpPr>
          <a:xfrm>
            <a:off x="6743700" y="3543300"/>
            <a:ext cx="4838700" cy="2324100"/>
            <a:chOff x="6743700" y="3543300"/>
            <a:chExt cx="4838700" cy="2324100"/>
          </a:xfrm>
        </p:grpSpPr>
        <p:sp>
          <p:nvSpPr>
            <p:cNvPr id="20" name="Rectangle 20"/>
            <p:cNvSpPr/>
            <p:nvPr/>
          </p:nvSpPr>
          <p:spPr>
            <a:xfrm>
              <a:off x="6743700" y="3543300"/>
              <a:ext cx="4838700" cy="2324100"/>
            </a:xfrm>
            <a:prstGeom prst="roundRect">
              <a:avLst>
                <a:gd name="adj" fmla="val 4098"/>
              </a:avLst>
            </a:prstGeom>
            <a:solidFill>
              <a:srgbClr val="FFFFFF"/>
            </a:solidFill>
            <a:ln w="14288">
              <a:solidFill>
                <a:srgbClr val="B8CBD3"/>
              </a:solidFill>
            </a:ln>
          </p:spPr>
        </p:sp>
        <p:sp>
          <p:nvSpPr>
            <p:cNvPr id="21" name="TextBox 21"/>
            <p:cNvSpPr txBox="1"/>
            <p:nvPr/>
          </p:nvSpPr>
          <p:spPr>
            <a:xfrm>
              <a:off x="6964680" y="3705225"/>
              <a:ext cx="236476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Bu programı genişletin</a:t>
              </a:r>
            </a:p>
          </p:txBody>
        </p:sp>
        <p:sp>
          <p:nvSpPr>
            <p:cNvPr id="22" name="TextBox 22"/>
            <p:cNvSpPr txBox="1"/>
            <p:nvPr/>
          </p:nvSpPr>
          <p:spPr>
            <a:xfrm>
              <a:off x="6966204" y="4042410"/>
              <a:ext cx="2709672" cy="13586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Hazırlanan/elde kalan miktar ile</a:t>
              </a:r>
              <a:br/>
              <a:r>
                <a:rPr lang="tr-TR" sz="1200" dirty="0">
                  <a:solidFill>
                    <a:srgbClr val="172B3A"/>
                  </a:solidFill>
                  <a:latin typeface="+mn-lt"/>
                  <a:ea typeface="+mn-ea"/>
                  <a:cs typeface="+mn-cs"/>
                </a:rPr>
                <a:t>israf oranını hesaplayın.</a:t>
              </a:r>
            </a:p>
            <a:p>
              <a:pPr algn="l">
                <a:lnSpc>
                  <a:spcPts val="1650"/>
                </a:lnSpc>
                <a:spcBef>
                  <a:spcPts val="300"/>
                </a:spcBef>
              </a:pPr>
              <a:r>
                <a:rPr lang="tr-TR" sz="1200" dirty="0">
                  <a:solidFill>
                    <a:srgbClr val="172B3A"/>
                  </a:solidFill>
                  <a:latin typeface="+mn-lt"/>
                  <a:ea typeface="+mn-ea"/>
                  <a:cs typeface="+mn-cs"/>
                </a:rPr>
                <a:t>2. Tarih sütunundan hafta günü</a:t>
              </a:r>
              <a:br/>
              <a:r>
                <a:rPr lang="tr-TR" sz="1200" dirty="0">
                  <a:solidFill>
                    <a:srgbClr val="172B3A"/>
                  </a:solidFill>
                  <a:latin typeface="+mn-lt"/>
                  <a:ea typeface="+mn-ea"/>
                  <a:cs typeface="+mn-cs"/>
                </a:rPr>
                <a:t>çıkararak satışları karşılaştırın.</a:t>
              </a:r>
            </a:p>
            <a:p>
              <a:pPr algn="l">
                <a:lnSpc>
                  <a:spcPts val="1650"/>
                </a:lnSpc>
                <a:spcBef>
                  <a:spcPts val="300"/>
                </a:spcBef>
              </a:pPr>
              <a:r>
                <a:rPr lang="tr-TR" sz="1200" dirty="0">
                  <a:solidFill>
                    <a:srgbClr val="172B3A"/>
                  </a:solidFill>
                  <a:latin typeface="+mn-lt"/>
                  <a:ea typeface="+mn-ea"/>
                  <a:cs typeface="+mn-cs"/>
                </a:rPr>
                <a:t>3. Sonuçları CSV'ye yazan bir</a:t>
              </a:r>
              <a:br/>
              <a:r>
                <a:rPr lang="tr-TR" sz="1200" dirty="0">
                  <a:solidFill>
                    <a:srgbClr val="172B3A"/>
                  </a:solidFill>
                  <a:latin typeface="+mn-lt"/>
                  <a:ea typeface="+mn-ea"/>
                  <a:cs typeface="+mn-cs"/>
                </a:rPr>
                <a:t>raporuKaydet() metodu ekleyin.</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24</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536791" cy="668845"/>
            <a:chOff x="609600" y="171450"/>
            <a:chExt cx="653679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84641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Gerçek dünya tuzakları (1/2)</a:t>
              </a:r>
            </a:p>
          </p:txBody>
        </p:sp>
      </p:grpSp>
      <p:grpSp>
        <p:nvGrpSpPr>
          <p:cNvPr id="19" name="pitfall-1"/>
          <p:cNvGrpSpPr/>
          <p:nvPr/>
        </p:nvGrpSpPr>
        <p:grpSpPr>
          <a:xfrm>
            <a:off x="609600" y="1104900"/>
            <a:ext cx="3505200" cy="4762500"/>
            <a:chOff x="609600" y="1104900"/>
            <a:chExt cx="3505200" cy="4762500"/>
          </a:xfrm>
        </p:grpSpPr>
        <p:sp>
          <p:nvSpPr>
            <p:cNvPr id="12" name="Rectangle 12"/>
            <p:cNvSpPr/>
            <p:nvPr/>
          </p:nvSpPr>
          <p:spPr>
            <a:xfrm>
              <a:off x="609600" y="1104900"/>
              <a:ext cx="3505200" cy="4762500"/>
            </a:xfrm>
            <a:prstGeom prst="roundRect">
              <a:avLst>
                <a:gd name="adj" fmla="val 2717"/>
              </a:avLst>
            </a:prstGeom>
            <a:solidFill>
              <a:srgbClr val="FFFFFF"/>
            </a:solidFill>
            <a:ln w="14288">
              <a:solidFill>
                <a:srgbClr val="B8CBD3"/>
              </a:solidFill>
            </a:ln>
          </p:spPr>
        </p:sp>
        <p:sp>
          <p:nvSpPr>
            <p:cNvPr id="13" name="Rectangle 13"/>
            <p:cNvSpPr/>
            <p:nvPr/>
          </p:nvSpPr>
          <p:spPr>
            <a:xfrm>
              <a:off x="609600" y="1104900"/>
              <a:ext cx="3505200" cy="457200"/>
            </a:xfrm>
            <a:prstGeom prst="roundRect">
              <a:avLst>
                <a:gd name="adj" fmla="val 16667"/>
              </a:avLst>
            </a:prstGeom>
            <a:solidFill>
              <a:srgbClr val="12355B"/>
            </a:solidFill>
            <a:ln>
              <a:noFill/>
            </a:ln>
          </p:spPr>
        </p:sp>
        <p:sp>
          <p:nvSpPr>
            <p:cNvPr id="14" name="TextBox 14"/>
            <p:cNvSpPr txBox="1"/>
            <p:nvPr/>
          </p:nvSpPr>
          <p:spPr>
            <a:xfrm>
              <a:off x="831723" y="1272064"/>
              <a:ext cx="2939106"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Tuzak 1 · İş sorusundan kopukluk</a:t>
              </a:r>
            </a:p>
          </p:txBody>
        </p:sp>
        <p:sp>
          <p:nvSpPr>
            <p:cNvPr id="15" name="TextBox 15"/>
            <p:cNvSpPr txBox="1"/>
            <p:nvPr/>
          </p:nvSpPr>
          <p:spPr>
            <a:xfrm>
              <a:off x="832104" y="1737360"/>
              <a:ext cx="2282952" cy="10728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"Kafenin en popüler ürünü</a:t>
              </a:r>
              <a:br/>
              <a:r>
                <a:rPr lang="tr-TR" sz="1200" dirty="0">
                  <a:solidFill>
                    <a:srgbClr val="172B3A"/>
                  </a:solidFill>
                  <a:latin typeface="+mn-lt"/>
                  <a:ea typeface="+mn-ea"/>
                  <a:cs typeface="+mn-cs"/>
                </a:rPr>
                <a:t>nedir?" sorusu ilginç olabilir;</a:t>
              </a:r>
              <a:br/>
              <a:r>
                <a:rPr lang="tr-TR" sz="1200" dirty="0">
                  <a:solidFill>
                    <a:srgbClr val="172B3A"/>
                  </a:solidFill>
                  <a:latin typeface="+mn-lt"/>
                  <a:ea typeface="+mn-ea"/>
                  <a:cs typeface="+mn-cs"/>
                </a:rPr>
                <a:t>ancak hedef israfı azaltmaksa</a:t>
              </a:r>
              <a:br/>
              <a:r>
                <a:rPr lang="tr-TR" sz="1200" dirty="0">
                  <a:solidFill>
                    <a:srgbClr val="172B3A"/>
                  </a:solidFill>
                  <a:latin typeface="+mn-lt"/>
                  <a:ea typeface="+mn-ea"/>
                  <a:cs typeface="+mn-cs"/>
                </a:rPr>
                <a:t>yalnızca popülerlik bilgisi</a:t>
              </a:r>
              <a:br/>
              <a:r>
                <a:rPr lang="tr-TR" sz="1200" dirty="0">
                  <a:solidFill>
                    <a:srgbClr val="172B3A"/>
                  </a:solidFill>
                  <a:latin typeface="+mn-lt"/>
                  <a:ea typeface="+mn-ea"/>
                  <a:cs typeface="+mn-cs"/>
                </a:rPr>
                <a:t>yeterli değildir.</a:t>
              </a:r>
            </a:p>
          </p:txBody>
        </p:sp>
        <p:sp>
          <p:nvSpPr>
            <p:cNvPr id="16" name="Line 16"/>
            <p:cNvSpPr/>
            <p:nvPr/>
          </p:nvSpPr>
          <p:spPr>
            <a:xfrm>
              <a:off x="838200" y="3143250"/>
              <a:ext cx="3048000" cy="9525"/>
            </a:xfrm>
            <a:custGeom>
              <a:avLst/>
              <a:gdLst/>
              <a:ahLst/>
              <a:cxnLst/>
              <a:rect l="l" t="t" r="r" b="b"/>
              <a:pathLst>
                <a:path w="3048000" h="9525">
                  <a:moveTo>
                    <a:pt x="0" y="0"/>
                  </a:moveTo>
                  <a:lnTo>
                    <a:pt x="3048000" y="0"/>
                  </a:lnTo>
                </a:path>
              </a:pathLst>
            </a:custGeom>
            <a:noFill/>
            <a:ln w="9525">
              <a:solidFill>
                <a:srgbClr val="B8CBD3"/>
              </a:solidFill>
            </a:ln>
          </p:spPr>
        </p:sp>
        <p:sp>
          <p:nvSpPr>
            <p:cNvPr id="17" name="TextBox 17"/>
            <p:cNvSpPr txBox="1"/>
            <p:nvPr/>
          </p:nvSpPr>
          <p:spPr>
            <a:xfrm>
              <a:off x="832485" y="3307556"/>
              <a:ext cx="713640"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Doğrusu:</a:t>
              </a:r>
            </a:p>
          </p:txBody>
        </p:sp>
        <p:sp>
          <p:nvSpPr>
            <p:cNvPr id="18" name="TextBox 18"/>
            <p:cNvSpPr txBox="1"/>
            <p:nvPr/>
          </p:nvSpPr>
          <p:spPr>
            <a:xfrm>
              <a:off x="832485" y="3536156"/>
              <a:ext cx="2059686"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Hazırlanan miktar, elde kalan</a:t>
              </a:r>
              <a:br/>
              <a:r>
                <a:rPr lang="tr-TR" sz="1120" dirty="0">
                  <a:solidFill>
                    <a:srgbClr val="172B3A"/>
                  </a:solidFill>
                  <a:latin typeface="+mn-lt"/>
                  <a:ea typeface="+mn-ea"/>
                  <a:cs typeface="+mn-cs"/>
                </a:rPr>
                <a:t>miktar ve stok tükenmesi de</a:t>
              </a:r>
              <a:br/>
              <a:r>
                <a:rPr lang="tr-TR" sz="1120" dirty="0">
                  <a:solidFill>
                    <a:srgbClr val="172B3A"/>
                  </a:solidFill>
                  <a:latin typeface="+mn-lt"/>
                  <a:ea typeface="+mn-ea"/>
                  <a:cs typeface="+mn-cs"/>
                </a:rPr>
                <a:t>birlikte incelenmelidir.</a:t>
              </a:r>
            </a:p>
          </p:txBody>
        </p:sp>
      </p:grpSp>
      <p:grpSp>
        <p:nvGrpSpPr>
          <p:cNvPr id="27" name="pitfall-2"/>
          <p:cNvGrpSpPr/>
          <p:nvPr/>
        </p:nvGrpSpPr>
        <p:grpSpPr>
          <a:xfrm>
            <a:off x="4343400" y="1104900"/>
            <a:ext cx="3505200" cy="4762500"/>
            <a:chOff x="4343400" y="1104900"/>
            <a:chExt cx="3505200" cy="4762500"/>
          </a:xfrm>
        </p:grpSpPr>
        <p:sp>
          <p:nvSpPr>
            <p:cNvPr id="20" name="Rectangle 20"/>
            <p:cNvSpPr/>
            <p:nvPr/>
          </p:nvSpPr>
          <p:spPr>
            <a:xfrm>
              <a:off x="4343400" y="1104900"/>
              <a:ext cx="3505200" cy="4762500"/>
            </a:xfrm>
            <a:prstGeom prst="roundRect">
              <a:avLst>
                <a:gd name="adj" fmla="val 2717"/>
              </a:avLst>
            </a:prstGeom>
            <a:solidFill>
              <a:srgbClr val="FFFFFF"/>
            </a:solidFill>
            <a:ln w="14288">
              <a:solidFill>
                <a:srgbClr val="B8CBD3"/>
              </a:solidFill>
            </a:ln>
          </p:spPr>
        </p:sp>
        <p:sp>
          <p:nvSpPr>
            <p:cNvPr id="21" name="Rectangle 21"/>
            <p:cNvSpPr/>
            <p:nvPr/>
          </p:nvSpPr>
          <p:spPr>
            <a:xfrm>
              <a:off x="4343400" y="1104900"/>
              <a:ext cx="3505200" cy="457200"/>
            </a:xfrm>
            <a:prstGeom prst="roundRect">
              <a:avLst>
                <a:gd name="adj" fmla="val 16667"/>
              </a:avLst>
            </a:prstGeom>
            <a:solidFill>
              <a:srgbClr val="12355B"/>
            </a:solidFill>
            <a:ln>
              <a:noFill/>
            </a:ln>
          </p:spPr>
        </p:sp>
        <p:sp>
          <p:nvSpPr>
            <p:cNvPr id="22" name="TextBox 22"/>
            <p:cNvSpPr txBox="1"/>
            <p:nvPr/>
          </p:nvSpPr>
          <p:spPr>
            <a:xfrm>
              <a:off x="4565523" y="1272064"/>
              <a:ext cx="2732428"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Tuzak 2 · Satış = talep sanmak</a:t>
              </a:r>
            </a:p>
          </p:txBody>
        </p:sp>
        <p:sp>
          <p:nvSpPr>
            <p:cNvPr id="23" name="TextBox 23"/>
            <p:cNvSpPr txBox="1"/>
            <p:nvPr/>
          </p:nvSpPr>
          <p:spPr>
            <a:xfrm>
              <a:off x="4565904" y="1737360"/>
              <a:ext cx="24886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Kahve saat 13.00'te tükenmişse,</a:t>
              </a:r>
              <a:br/>
              <a:r>
                <a:rPr lang="tr-TR" sz="1200" dirty="0">
                  <a:solidFill>
                    <a:srgbClr val="172B3A"/>
                  </a:solidFill>
                  <a:latin typeface="+mn-lt"/>
                  <a:ea typeface="+mn-ea"/>
                  <a:cs typeface="+mn-cs"/>
                </a:rPr>
                <a:t>kasada daha fazla satış</a:t>
              </a:r>
              <a:br/>
              <a:r>
                <a:rPr lang="tr-TR" sz="1200" dirty="0">
                  <a:solidFill>
                    <a:srgbClr val="172B3A"/>
                  </a:solidFill>
                  <a:latin typeface="+mn-lt"/>
                  <a:ea typeface="+mn-ea"/>
                  <a:cs typeface="+mn-cs"/>
                </a:rPr>
                <a:t>görünmemesi talebin bittiği</a:t>
              </a:r>
              <a:br/>
              <a:r>
                <a:rPr lang="tr-TR" sz="1200" dirty="0">
                  <a:solidFill>
                    <a:srgbClr val="172B3A"/>
                  </a:solidFill>
                  <a:latin typeface="+mn-lt"/>
                  <a:ea typeface="+mn-ea"/>
                  <a:cs typeface="+mn-cs"/>
                </a:rPr>
                <a:t>anlamına gelmez.</a:t>
              </a:r>
            </a:p>
          </p:txBody>
        </p:sp>
        <p:sp>
          <p:nvSpPr>
            <p:cNvPr id="24" name="Line 24"/>
            <p:cNvSpPr/>
            <p:nvPr/>
          </p:nvSpPr>
          <p:spPr>
            <a:xfrm>
              <a:off x="4572000" y="3143250"/>
              <a:ext cx="3048000" cy="9525"/>
            </a:xfrm>
            <a:custGeom>
              <a:avLst/>
              <a:gdLst/>
              <a:ahLst/>
              <a:cxnLst/>
              <a:rect l="l" t="t" r="r" b="b"/>
              <a:pathLst>
                <a:path w="3048000" h="9525">
                  <a:moveTo>
                    <a:pt x="0" y="0"/>
                  </a:moveTo>
                  <a:lnTo>
                    <a:pt x="3048000" y="0"/>
                  </a:lnTo>
                </a:path>
              </a:pathLst>
            </a:custGeom>
            <a:noFill/>
            <a:ln w="9525">
              <a:solidFill>
                <a:srgbClr val="B8CBD3"/>
              </a:solidFill>
            </a:ln>
          </p:spPr>
        </p:sp>
        <p:sp>
          <p:nvSpPr>
            <p:cNvPr id="25" name="TextBox 25"/>
            <p:cNvSpPr txBox="1"/>
            <p:nvPr/>
          </p:nvSpPr>
          <p:spPr>
            <a:xfrm>
              <a:off x="4566285" y="3307556"/>
              <a:ext cx="713640"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Doğrusu:</a:t>
              </a:r>
            </a:p>
          </p:txBody>
        </p:sp>
        <p:sp>
          <p:nvSpPr>
            <p:cNvPr id="26" name="TextBox 26"/>
            <p:cNvSpPr txBox="1"/>
            <p:nvPr/>
          </p:nvSpPr>
          <p:spPr>
            <a:xfrm>
              <a:off x="4566285" y="3536156"/>
              <a:ext cx="2372614"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stok_tukendi etiketi, gözlenen</a:t>
              </a:r>
              <a:br/>
              <a:r>
                <a:rPr lang="tr-TR" sz="1120" dirty="0">
                  <a:solidFill>
                    <a:srgbClr val="172B3A"/>
                  </a:solidFill>
                  <a:latin typeface="+mn-lt"/>
                  <a:ea typeface="+mn-ea"/>
                  <a:cs typeface="+mn-cs"/>
                </a:rPr>
                <a:t>satışın bir alt sınır olabileceğini</a:t>
              </a:r>
              <a:br/>
              <a:r>
                <a:rPr lang="tr-TR" sz="1120" dirty="0">
                  <a:solidFill>
                    <a:srgbClr val="172B3A"/>
                  </a:solidFill>
                  <a:latin typeface="+mn-lt"/>
                  <a:ea typeface="+mn-ea"/>
                  <a:cs typeface="+mn-cs"/>
                </a:rPr>
                <a:t>gösterir; bu şekilde okunmalıdır.</a:t>
              </a:r>
            </a:p>
          </p:txBody>
        </p:sp>
      </p:grpSp>
      <p:grpSp>
        <p:nvGrpSpPr>
          <p:cNvPr id="36" name="pitfall-3"/>
          <p:cNvGrpSpPr/>
          <p:nvPr/>
        </p:nvGrpSpPr>
        <p:grpSpPr>
          <a:xfrm>
            <a:off x="8077200" y="1104900"/>
            <a:ext cx="3505200" cy="4762500"/>
            <a:chOff x="8077200" y="1104900"/>
            <a:chExt cx="3505200" cy="4762500"/>
          </a:xfrm>
        </p:grpSpPr>
        <p:sp>
          <p:nvSpPr>
            <p:cNvPr id="28" name="Rectangle 28"/>
            <p:cNvSpPr/>
            <p:nvPr/>
          </p:nvSpPr>
          <p:spPr>
            <a:xfrm>
              <a:off x="8077200" y="1104900"/>
              <a:ext cx="3505200" cy="4762500"/>
            </a:xfrm>
            <a:prstGeom prst="roundRect">
              <a:avLst>
                <a:gd name="adj" fmla="val 2717"/>
              </a:avLst>
            </a:prstGeom>
            <a:solidFill>
              <a:srgbClr val="FFFFFF"/>
            </a:solidFill>
            <a:ln w="14288">
              <a:solidFill>
                <a:srgbClr val="00A6A6"/>
              </a:solidFill>
            </a:ln>
          </p:spPr>
        </p:sp>
        <p:sp>
          <p:nvSpPr>
            <p:cNvPr id="29" name="Rectangle 29"/>
            <p:cNvSpPr/>
            <p:nvPr/>
          </p:nvSpPr>
          <p:spPr>
            <a:xfrm>
              <a:off x="8077200" y="1104900"/>
              <a:ext cx="3505200" cy="457200"/>
            </a:xfrm>
            <a:prstGeom prst="roundRect">
              <a:avLst>
                <a:gd name="adj" fmla="val 16667"/>
              </a:avLst>
            </a:prstGeom>
            <a:solidFill>
              <a:srgbClr val="00A6A6"/>
            </a:solidFill>
            <a:ln>
              <a:noFill/>
            </a:ln>
          </p:spPr>
        </p:sp>
        <p:sp>
          <p:nvSpPr>
            <p:cNvPr id="30" name="TextBox 30"/>
            <p:cNvSpPr txBox="1"/>
            <p:nvPr/>
          </p:nvSpPr>
          <p:spPr>
            <a:xfrm>
              <a:off x="8299323" y="1272064"/>
              <a:ext cx="2188657"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Tuzak 3 · Veri sızıntısı</a:t>
              </a:r>
            </a:p>
          </p:txBody>
        </p:sp>
        <p:sp>
          <p:nvSpPr>
            <p:cNvPr id="31" name="TextBox 31"/>
            <p:cNvSpPr txBox="1"/>
            <p:nvPr/>
          </p:nvSpPr>
          <p:spPr>
            <a:xfrm>
              <a:off x="8300085" y="1669256"/>
              <a:ext cx="2472182"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Ay sonundaki toplam israfı</a:t>
              </a:r>
              <a:br/>
              <a:r>
                <a:rPr lang="tr-TR" sz="1120" dirty="0">
                  <a:solidFill>
                    <a:srgbClr val="172B3A"/>
                  </a:solidFill>
                  <a:latin typeface="+mn-lt"/>
                  <a:ea typeface="+mn-ea"/>
                  <a:cs typeface="+mn-cs"/>
                </a:rPr>
                <a:t>kullanarak ayın ilk günü için</a:t>
              </a:r>
              <a:br/>
              <a:r>
                <a:rPr lang="tr-TR" sz="1120" dirty="0">
                  <a:solidFill>
                    <a:srgbClr val="172B3A"/>
                  </a:solidFill>
                  <a:latin typeface="+mn-lt"/>
                  <a:ea typeface="+mn-ea"/>
                  <a:cs typeface="+mn-cs"/>
                </a:rPr>
                <a:t>tahmin üretmek veri sızıntısıdır.</a:t>
              </a:r>
            </a:p>
          </p:txBody>
        </p:sp>
        <p:sp>
          <p:nvSpPr>
            <p:cNvPr id="32" name="TextBox 32"/>
            <p:cNvSpPr txBox="1"/>
            <p:nvPr/>
          </p:nvSpPr>
          <p:spPr>
            <a:xfrm>
              <a:off x="8300847" y="2466499"/>
              <a:ext cx="1995043" cy="533590"/>
            </a:xfrm>
            <a:prstGeom prst="rect">
              <a:avLst/>
            </a:prstGeom>
            <a:noFill/>
            <a:ln>
              <a:noFill/>
            </a:ln>
          </p:spPr>
          <p:txBody>
            <a:bodyPr wrap="none" lIns="0" tIns="0" rIns="0" bIns="0" anchor="t" anchorCtr="0">
              <a:spAutoFit/>
            </a:bodyPr>
            <a:lstStyle/>
            <a:p>
              <a:pPr algn="l">
                <a:lnSpc>
                  <a:spcPts val="1200"/>
                </a:lnSpc>
              </a:pPr>
              <a:r>
                <a:rPr lang="tr-TR" sz="980" dirty="0">
                  <a:solidFill>
                    <a:srgbClr val="12355B"/>
                  </a:solidFill>
                  <a:latin typeface="Consolas"/>
                  <a:ea typeface="Consolas"/>
                  <a:cs typeface="Consolas"/>
                </a:rPr>
                <a:t>yanlisGirdiler = ["sicaklik",</a:t>
              </a:r>
              <a:br/>
              <a:r>
                <a:rPr lang="tr-TR" sz="980" dirty="0">
                  <a:solidFill>
                    <a:srgbClr val="12355B"/>
                  </a:solidFill>
                  <a:latin typeface="Consolas"/>
                  <a:ea typeface="Consolas"/>
                  <a:cs typeface="Consolas"/>
                </a:rPr>
                <a:t>"ay_sonu_israfi"]</a:t>
              </a:r>
            </a:p>
            <a:p>
              <a:pPr algn="l">
                <a:lnSpc>
                  <a:spcPts val="1200"/>
                </a:lnSpc>
                <a:spcBef>
                  <a:spcPts val="300"/>
                </a:spcBef>
              </a:pPr>
              <a:r>
                <a:rPr lang="tr-TR" sz="980" dirty="0">
                  <a:solidFill>
                    <a:srgbClr val="12355B"/>
                  </a:solidFill>
                  <a:latin typeface="Consolas"/>
                  <a:ea typeface="Consolas"/>
                  <a:cs typeface="Consolas"/>
                </a:rPr>
                <a:t>dogruGirdiler = ["sicaklik"]</a:t>
              </a:r>
            </a:p>
          </p:txBody>
        </p:sp>
        <p:sp>
          <p:nvSpPr>
            <p:cNvPr id="33" name="Line 33"/>
            <p:cNvSpPr/>
            <p:nvPr/>
          </p:nvSpPr>
          <p:spPr>
            <a:xfrm>
              <a:off x="8305800" y="3257550"/>
              <a:ext cx="3048000" cy="9525"/>
            </a:xfrm>
            <a:custGeom>
              <a:avLst/>
              <a:gdLst/>
              <a:ahLst/>
              <a:cxnLst/>
              <a:rect l="l" t="t" r="r" b="b"/>
              <a:pathLst>
                <a:path w="3048000" h="9525">
                  <a:moveTo>
                    <a:pt x="0" y="0"/>
                  </a:moveTo>
                  <a:lnTo>
                    <a:pt x="3048000" y="0"/>
                  </a:lnTo>
                </a:path>
              </a:pathLst>
            </a:custGeom>
            <a:noFill/>
            <a:ln w="9525">
              <a:solidFill>
                <a:srgbClr val="B8CBD3"/>
              </a:solidFill>
            </a:ln>
          </p:spPr>
        </p:sp>
        <p:sp>
          <p:nvSpPr>
            <p:cNvPr id="34" name="TextBox 34"/>
            <p:cNvSpPr txBox="1"/>
            <p:nvPr/>
          </p:nvSpPr>
          <p:spPr>
            <a:xfrm>
              <a:off x="8300085" y="3383756"/>
              <a:ext cx="713640"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Doğrusu:</a:t>
              </a:r>
            </a:p>
          </p:txBody>
        </p:sp>
        <p:sp>
          <p:nvSpPr>
            <p:cNvPr id="35" name="TextBox 35"/>
            <p:cNvSpPr txBox="1"/>
            <p:nvPr/>
          </p:nvSpPr>
          <p:spPr>
            <a:xfrm>
              <a:off x="8300085" y="3612356"/>
              <a:ext cx="1732534"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Tahmin anında gerçekten</a:t>
              </a:r>
              <a:br/>
              <a:r>
                <a:rPr lang="tr-TR" sz="1120" dirty="0">
                  <a:solidFill>
                    <a:srgbClr val="172B3A"/>
                  </a:solidFill>
                  <a:latin typeface="+mn-lt"/>
                  <a:ea typeface="+mn-ea"/>
                  <a:cs typeface="+mn-cs"/>
                </a:rPr>
                <a:t>bilinebilecek alanlar</a:t>
              </a:r>
              <a:br/>
              <a:r>
                <a:rPr lang="tr-TR" sz="1120" dirty="0">
                  <a:solidFill>
                    <a:srgbClr val="172B3A"/>
                  </a:solidFill>
                  <a:latin typeface="+mn-lt"/>
                  <a:ea typeface="+mn-ea"/>
                  <a:cs typeface="+mn-cs"/>
                </a:rPr>
                <a:t>kullanılmalıdır.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24</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1207897" cy="668845"/>
            <a:chOff x="609600" y="171450"/>
            <a:chExt cx="1120789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1051752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Gerçek dünya tuzakları (2/2) ve operasyonelleştirme</a:t>
              </a:r>
            </a:p>
          </p:txBody>
        </p:sp>
      </p:grpSp>
      <p:grpSp>
        <p:nvGrpSpPr>
          <p:cNvPr id="18" name="pitfall-4"/>
          <p:cNvGrpSpPr/>
          <p:nvPr/>
        </p:nvGrpSpPr>
        <p:grpSpPr>
          <a:xfrm>
            <a:off x="609600" y="1104900"/>
            <a:ext cx="5295900" cy="2117884"/>
            <a:chOff x="609600" y="1104900"/>
            <a:chExt cx="5295900" cy="2117884"/>
          </a:xfrm>
        </p:grpSpPr>
        <p:sp>
          <p:nvSpPr>
            <p:cNvPr id="12" name="Rectangle 12"/>
            <p:cNvSpPr/>
            <p:nvPr/>
          </p:nvSpPr>
          <p:spPr>
            <a:xfrm>
              <a:off x="609600" y="1104900"/>
              <a:ext cx="5295900" cy="2095500"/>
            </a:xfrm>
            <a:prstGeom prst="roundRect">
              <a:avLst>
                <a:gd name="adj" fmla="val 4545"/>
              </a:avLst>
            </a:prstGeom>
            <a:solidFill>
              <a:srgbClr val="FFFFFF"/>
            </a:solidFill>
            <a:ln w="14288">
              <a:solidFill>
                <a:srgbClr val="B8CBD3"/>
              </a:solidFill>
            </a:ln>
          </p:spPr>
        </p:sp>
        <p:sp>
          <p:nvSpPr>
            <p:cNvPr id="13" name="Rectangle 13"/>
            <p:cNvSpPr/>
            <p:nvPr/>
          </p:nvSpPr>
          <p:spPr>
            <a:xfrm>
              <a:off x="609600" y="1104900"/>
              <a:ext cx="5295900" cy="457200"/>
            </a:xfrm>
            <a:prstGeom prst="roundRect">
              <a:avLst>
                <a:gd name="adj" fmla="val 16667"/>
              </a:avLst>
            </a:prstGeom>
            <a:solidFill>
              <a:srgbClr val="12355B"/>
            </a:solidFill>
            <a:ln>
              <a:noFill/>
            </a:ln>
          </p:spPr>
        </p:sp>
        <p:sp>
          <p:nvSpPr>
            <p:cNvPr id="14" name="TextBox 14"/>
            <p:cNvSpPr txBox="1"/>
            <p:nvPr/>
          </p:nvSpPr>
          <p:spPr>
            <a:xfrm>
              <a:off x="831723" y="1272064"/>
              <a:ext cx="4169264"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Tuzak 4 · Örneklem büyüklüğünü göz ardı etmek</a:t>
              </a:r>
            </a:p>
          </p:txBody>
        </p:sp>
        <p:sp>
          <p:nvSpPr>
            <p:cNvPr id="15" name="TextBox 15"/>
            <p:cNvSpPr txBox="1"/>
            <p:nvPr/>
          </p:nvSpPr>
          <p:spPr>
            <a:xfrm>
              <a:off x="832485" y="1707356"/>
              <a:ext cx="4420870" cy="820102"/>
            </a:xfrm>
            <a:prstGeom prst="rect">
              <a:avLst/>
            </a:prstGeom>
            <a:noFill/>
            <a:ln>
              <a:noFill/>
            </a:ln>
          </p:spPr>
          <p:txBody>
            <a:bodyPr wrap="none" lIns="0" tIns="0" rIns="0" bIns="0" anchor="t" anchorCtr="0">
              <a:spAutoFit/>
            </a:bodyPr>
            <a:lstStyle/>
            <a:p>
              <a:pPr algn="l">
                <a:lnSpc>
                  <a:spcPts val="1575"/>
                </a:lnSpc>
              </a:pPr>
              <a:r>
                <a:rPr lang="tr-TR" sz="1120" dirty="0">
                  <a:solidFill>
                    <a:srgbClr val="172B3A"/>
                  </a:solidFill>
                  <a:latin typeface="+mn-lt"/>
                  <a:ea typeface="+mn-ea"/>
                  <a:cs typeface="+mn-cs"/>
                </a:rPr>
                <a:t>Yalnızca dört günlük kayıtla "sınav haftasında satış artar"</a:t>
              </a:r>
              <a:br/>
              <a:r>
                <a:rPr lang="tr-TR" sz="1120" dirty="0">
                  <a:solidFill>
                    <a:srgbClr val="172B3A"/>
                  </a:solidFill>
                  <a:latin typeface="+mn-lt"/>
                  <a:ea typeface="+mn-ea"/>
                  <a:cs typeface="+mn-cs"/>
                </a:rPr>
                <a:t>sonucuna varmak istatistiksel olarak zayıf bir temele dayanır;</a:t>
              </a:r>
              <a:br/>
              <a:r>
                <a:rPr lang="tr-TR" sz="1120" dirty="0">
                  <a:solidFill>
                    <a:srgbClr val="172B3A"/>
                  </a:solidFill>
                  <a:latin typeface="+mn-lt"/>
                  <a:ea typeface="+mn-ea"/>
                  <a:cs typeface="+mn-cs"/>
                </a:rPr>
                <a:t>hafta içi/hafta sonu etkisi ya da tek seferlik bir kampanya da</a:t>
              </a:r>
              <a:br/>
              <a:r>
                <a:rPr lang="tr-TR" sz="1120" dirty="0">
                  <a:solidFill>
                    <a:srgbClr val="172B3A"/>
                  </a:solidFill>
                  <a:latin typeface="+mn-lt"/>
                  <a:ea typeface="+mn-ea"/>
                  <a:cs typeface="+mn-cs"/>
                </a:rPr>
                <a:t>aynı farkı yaratmış olabilir.</a:t>
              </a:r>
            </a:p>
          </p:txBody>
        </p:sp>
        <p:sp>
          <p:nvSpPr>
            <p:cNvPr id="16" name="TextBox 16"/>
            <p:cNvSpPr txBox="1"/>
            <p:nvPr/>
          </p:nvSpPr>
          <p:spPr>
            <a:xfrm>
              <a:off x="832485" y="2583656"/>
              <a:ext cx="713640"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Doğrusu:</a:t>
              </a:r>
            </a:p>
          </p:txBody>
        </p:sp>
        <p:sp>
          <p:nvSpPr>
            <p:cNvPr id="17" name="TextBox 17"/>
            <p:cNvSpPr txBox="1"/>
            <p:nvPr/>
          </p:nvSpPr>
          <p:spPr>
            <a:xfrm>
              <a:off x="832485" y="2812256"/>
              <a:ext cx="260731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Yeterli gözlem, birden fazla dönem ve</a:t>
              </a:r>
              <a:br/>
              <a:r>
                <a:rPr lang="tr-TR" sz="1120" dirty="0">
                  <a:solidFill>
                    <a:srgbClr val="172B3A"/>
                  </a:solidFill>
                  <a:latin typeface="+mn-lt"/>
                  <a:ea typeface="+mn-ea"/>
                  <a:cs typeface="+mn-cs"/>
                </a:rPr>
                <a:t>mümkünse bir kontrol grubu gerekir.</a:t>
              </a:r>
            </a:p>
          </p:txBody>
        </p:sp>
      </p:grpSp>
      <p:grpSp>
        <p:nvGrpSpPr>
          <p:cNvPr id="26" name="pitfall-5"/>
          <p:cNvGrpSpPr/>
          <p:nvPr/>
        </p:nvGrpSpPr>
        <p:grpSpPr>
          <a:xfrm>
            <a:off x="609600" y="3352800"/>
            <a:ext cx="5295900" cy="2514600"/>
            <a:chOff x="609600" y="3352800"/>
            <a:chExt cx="5295900" cy="2514600"/>
          </a:xfrm>
        </p:grpSpPr>
        <p:sp>
          <p:nvSpPr>
            <p:cNvPr id="19" name="Rectangle 19"/>
            <p:cNvSpPr/>
            <p:nvPr/>
          </p:nvSpPr>
          <p:spPr>
            <a:xfrm>
              <a:off x="609600" y="3352800"/>
              <a:ext cx="5295900" cy="2514600"/>
            </a:xfrm>
            <a:prstGeom prst="roundRect">
              <a:avLst>
                <a:gd name="adj" fmla="val 3788"/>
              </a:avLst>
            </a:prstGeom>
            <a:solidFill>
              <a:srgbClr val="FFFFFF"/>
            </a:solidFill>
            <a:ln w="14288">
              <a:solidFill>
                <a:srgbClr val="B8CBD3"/>
              </a:solidFill>
            </a:ln>
          </p:spPr>
        </p:sp>
        <p:sp>
          <p:nvSpPr>
            <p:cNvPr id="20" name="Rectangle 20"/>
            <p:cNvSpPr/>
            <p:nvPr/>
          </p:nvSpPr>
          <p:spPr>
            <a:xfrm>
              <a:off x="609600" y="3352800"/>
              <a:ext cx="5295900" cy="457200"/>
            </a:xfrm>
            <a:prstGeom prst="roundRect">
              <a:avLst>
                <a:gd name="adj" fmla="val 16667"/>
              </a:avLst>
            </a:prstGeom>
            <a:solidFill>
              <a:srgbClr val="12355B"/>
            </a:solidFill>
            <a:ln>
              <a:noFill/>
            </a:ln>
          </p:spPr>
        </p:sp>
        <p:sp>
          <p:nvSpPr>
            <p:cNvPr id="21" name="TextBox 21"/>
            <p:cNvSpPr txBox="1"/>
            <p:nvPr/>
          </p:nvSpPr>
          <p:spPr>
            <a:xfrm>
              <a:off x="831723" y="3519964"/>
              <a:ext cx="4096664"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Tuzak 5 · Eksik veriyi sessizce göz ardı etmek</a:t>
              </a:r>
            </a:p>
          </p:txBody>
        </p:sp>
        <p:sp>
          <p:nvSpPr>
            <p:cNvPr id="22" name="TextBox 22"/>
            <p:cNvSpPr txBox="1"/>
            <p:nvPr/>
          </p:nvSpPr>
          <p:spPr>
            <a:xfrm>
              <a:off x="832485" y="3955256"/>
              <a:ext cx="3958590" cy="620078"/>
            </a:xfrm>
            <a:prstGeom prst="rect">
              <a:avLst/>
            </a:prstGeom>
            <a:noFill/>
            <a:ln>
              <a:noFill/>
            </a:ln>
          </p:spPr>
          <p:txBody>
            <a:bodyPr wrap="none" lIns="0" tIns="0" rIns="0" bIns="0" anchor="t" anchorCtr="0">
              <a:spAutoFit/>
            </a:bodyPr>
            <a:lstStyle/>
            <a:p>
              <a:pPr algn="l">
                <a:lnSpc>
                  <a:spcPts val="1575"/>
                </a:lnSpc>
              </a:pPr>
              <a:r>
                <a:rPr lang="tr-TR" sz="1120" dirty="0">
                  <a:solidFill>
                    <a:srgbClr val="172B3A"/>
                  </a:solidFill>
                  <a:latin typeface="+mn-lt"/>
                  <a:ea typeface="+mn-ea"/>
                  <a:cs typeface="+mn-cs"/>
                </a:rPr>
                <a:t>dropna() hızlı bir çözüm gibi görünse de, yalnızca stoğu</a:t>
              </a:r>
              <a:br/>
              <a:r>
                <a:rPr lang="tr-TR" sz="1120" dirty="0">
                  <a:solidFill>
                    <a:srgbClr val="172B3A"/>
                  </a:solidFill>
                  <a:latin typeface="+mn-lt"/>
                  <a:ea typeface="+mn-ea"/>
                  <a:cs typeface="+mn-cs"/>
                </a:rPr>
                <a:t>tükenen günlerde satış eksik giriliyorsa bu satırların</a:t>
              </a:r>
              <a:br/>
              <a:r>
                <a:rPr lang="tr-TR" sz="1120" dirty="0">
                  <a:solidFill>
                    <a:srgbClr val="172B3A"/>
                  </a:solidFill>
                  <a:latin typeface="+mn-lt"/>
                  <a:ea typeface="+mn-ea"/>
                  <a:cs typeface="+mn-cs"/>
                </a:rPr>
                <a:t>silinmesi israf sorununu görünmez kılar.</a:t>
              </a:r>
            </a:p>
          </p:txBody>
        </p:sp>
        <p:sp>
          <p:nvSpPr>
            <p:cNvPr id="23" name="Rectangle 23"/>
            <p:cNvSpPr/>
            <p:nvPr/>
          </p:nvSpPr>
          <p:spPr>
            <a:xfrm>
              <a:off x="838200" y="4819650"/>
              <a:ext cx="4838700" cy="819150"/>
            </a:xfrm>
            <a:prstGeom prst="roundRect">
              <a:avLst>
                <a:gd name="adj" fmla="val 6977"/>
              </a:avLst>
            </a:prstGeom>
            <a:solidFill>
              <a:srgbClr val="EAF4F6"/>
            </a:solidFill>
            <a:ln w="9525">
              <a:solidFill>
                <a:srgbClr val="00A6A6"/>
              </a:solidFill>
            </a:ln>
          </p:spPr>
        </p:sp>
        <p:sp>
          <p:nvSpPr>
            <p:cNvPr id="24" name="TextBox 24"/>
            <p:cNvSpPr txBox="1"/>
            <p:nvPr/>
          </p:nvSpPr>
          <p:spPr>
            <a:xfrm>
              <a:off x="985266" y="4934902"/>
              <a:ext cx="66237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 Dikkat</a:t>
              </a:r>
            </a:p>
          </p:txBody>
        </p:sp>
        <p:sp>
          <p:nvSpPr>
            <p:cNvPr id="25" name="TextBox 25"/>
            <p:cNvSpPr txBox="1"/>
            <p:nvPr/>
          </p:nvSpPr>
          <p:spPr>
            <a:xfrm>
              <a:off x="985266" y="5163502"/>
              <a:ext cx="253098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Eksik veri her zaman rastgele değildir;</a:t>
              </a:r>
              <a:br/>
              <a:r>
                <a:rPr lang="tr-TR" sz="1050" dirty="0">
                  <a:solidFill>
                    <a:srgbClr val="172B3A"/>
                  </a:solidFill>
                  <a:latin typeface="+mn-lt"/>
                  <a:ea typeface="+mn-ea"/>
                  <a:cs typeface="+mn-cs"/>
                </a:rPr>
                <a:t>bazen kendisi bir bulgudur.</a:t>
              </a:r>
            </a:p>
          </p:txBody>
        </p:sp>
      </p:grpSp>
      <p:grpSp>
        <p:nvGrpSpPr>
          <p:cNvPr id="36" name="operationalize-card"/>
          <p:cNvGrpSpPr/>
          <p:nvPr/>
        </p:nvGrpSpPr>
        <p:grpSpPr>
          <a:xfrm>
            <a:off x="6286500" y="1104900"/>
            <a:ext cx="5295900" cy="4762500"/>
            <a:chOff x="6286500" y="1104900"/>
            <a:chExt cx="5295900" cy="4762500"/>
          </a:xfrm>
        </p:grpSpPr>
        <p:sp>
          <p:nvSpPr>
            <p:cNvPr id="27" name="Rectangle 27"/>
            <p:cNvSpPr/>
            <p:nvPr/>
          </p:nvSpPr>
          <p:spPr>
            <a:xfrm>
              <a:off x="6286500" y="1104900"/>
              <a:ext cx="5295900" cy="4762500"/>
            </a:xfrm>
            <a:prstGeom prst="roundRect">
              <a:avLst>
                <a:gd name="adj" fmla="val 2000"/>
              </a:avLst>
            </a:prstGeom>
            <a:solidFill>
              <a:srgbClr val="EAF4F6"/>
            </a:solidFill>
            <a:ln w="14288">
              <a:solidFill>
                <a:srgbClr val="00A6A6"/>
              </a:solidFill>
            </a:ln>
          </p:spPr>
        </p:sp>
        <p:sp>
          <p:nvSpPr>
            <p:cNvPr id="28" name="TextBox 28"/>
            <p:cNvSpPr txBox="1"/>
            <p:nvPr/>
          </p:nvSpPr>
          <p:spPr>
            <a:xfrm>
              <a:off x="6507480" y="1266825"/>
              <a:ext cx="376373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Kavramların operasyonelleştirilmesi</a:t>
              </a:r>
            </a:p>
          </p:txBody>
        </p:sp>
        <p:sp>
          <p:nvSpPr>
            <p:cNvPr id="29" name="TextBox 29"/>
            <p:cNvSpPr txBox="1"/>
            <p:nvPr/>
          </p:nvSpPr>
          <p:spPr>
            <a:xfrm>
              <a:off x="6509385" y="1612106"/>
              <a:ext cx="2898902" cy="820102"/>
            </a:xfrm>
            <a:prstGeom prst="rect">
              <a:avLst/>
            </a:prstGeom>
            <a:noFill/>
            <a:ln>
              <a:noFill/>
            </a:ln>
          </p:spPr>
          <p:txBody>
            <a:bodyPr wrap="none" lIns="0" tIns="0" rIns="0" bIns="0" anchor="t" anchorCtr="0">
              <a:spAutoFit/>
            </a:bodyPr>
            <a:lstStyle/>
            <a:p>
              <a:pPr algn="l">
                <a:lnSpc>
                  <a:spcPts val="1575"/>
                </a:lnSpc>
              </a:pPr>
              <a:r>
                <a:rPr lang="tr-TR" sz="1120" dirty="0">
                  <a:solidFill>
                    <a:srgbClr val="172B3A"/>
                  </a:solidFill>
                  <a:latin typeface="+mn-lt"/>
                  <a:ea typeface="+mn-ea"/>
                  <a:cs typeface="+mn-cs"/>
                </a:rPr>
                <a:t>Belirsiz bir iş amacı doğrudan modele</a:t>
              </a:r>
              <a:br/>
              <a:r>
                <a:rPr lang="tr-TR" sz="1120" dirty="0">
                  <a:solidFill>
                    <a:srgbClr val="172B3A"/>
                  </a:solidFill>
                  <a:latin typeface="+mn-lt"/>
                  <a:ea typeface="+mn-ea"/>
                  <a:cs typeface="+mn-cs"/>
                </a:rPr>
                <a:t>verilmez; önce gözlenebilir bir değişkene,</a:t>
              </a:r>
              <a:br/>
              <a:r>
                <a:rPr lang="tr-TR" sz="1120" dirty="0">
                  <a:solidFill>
                    <a:srgbClr val="172B3A"/>
                  </a:solidFill>
                  <a:latin typeface="+mn-lt"/>
                  <a:ea typeface="+mn-ea"/>
                  <a:cs typeface="+mn-cs"/>
                </a:rPr>
                <a:t>ölçülebilir bir metriğe ve açık bir karar</a:t>
              </a:r>
              <a:br/>
              <a:r>
                <a:rPr lang="tr-TR" sz="1120" dirty="0">
                  <a:solidFill>
                    <a:srgbClr val="172B3A"/>
                  </a:solidFill>
                  <a:latin typeface="+mn-lt"/>
                  <a:ea typeface="+mn-ea"/>
                  <a:cs typeface="+mn-cs"/>
                </a:rPr>
                <a:t>kuralına dönüştürülür.</a:t>
              </a:r>
            </a:p>
          </p:txBody>
        </p:sp>
        <p:sp>
          <p:nvSpPr>
            <p:cNvPr id="30" name="Rectangle 30"/>
            <p:cNvSpPr/>
            <p:nvPr/>
          </p:nvSpPr>
          <p:spPr>
            <a:xfrm>
              <a:off x="6515100" y="2762250"/>
              <a:ext cx="4838700" cy="857250"/>
            </a:xfrm>
            <a:prstGeom prst="roundRect">
              <a:avLst>
                <a:gd name="adj" fmla="val 8889"/>
              </a:avLst>
            </a:prstGeom>
            <a:solidFill>
              <a:srgbClr val="FFFFFF"/>
            </a:solidFill>
            <a:ln>
              <a:noFill/>
            </a:ln>
          </p:spPr>
        </p:sp>
        <p:sp>
          <p:nvSpPr>
            <p:cNvPr id="31" name="TextBox 31"/>
            <p:cNvSpPr txBox="1"/>
            <p:nvPr/>
          </p:nvSpPr>
          <p:spPr>
            <a:xfrm>
              <a:off x="7994278" y="2989898"/>
              <a:ext cx="1880345"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r = (h − s) / h</a:t>
              </a:r>
            </a:p>
          </p:txBody>
        </p:sp>
        <p:sp>
          <p:nvSpPr>
            <p:cNvPr id="32" name="TextBox 32"/>
            <p:cNvSpPr txBox="1"/>
            <p:nvPr/>
          </p:nvSpPr>
          <p:spPr>
            <a:xfrm>
              <a:off x="6950202" y="3334702"/>
              <a:ext cx="3968496"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h: hazırlanan miktar · s: satılan miktar · r: israf oranı</a:t>
              </a:r>
            </a:p>
          </p:txBody>
        </p:sp>
        <p:sp>
          <p:nvSpPr>
            <p:cNvPr id="33" name="TextBox 33"/>
            <p:cNvSpPr txBox="1"/>
            <p:nvPr/>
          </p:nvSpPr>
          <p:spPr>
            <a:xfrm>
              <a:off x="6509385" y="3783806"/>
              <a:ext cx="3233166" cy="1020128"/>
            </a:xfrm>
            <a:prstGeom prst="rect">
              <a:avLst/>
            </a:prstGeom>
            <a:noFill/>
            <a:ln>
              <a:noFill/>
            </a:ln>
          </p:spPr>
          <p:txBody>
            <a:bodyPr wrap="none" lIns="0" tIns="0" rIns="0" bIns="0" anchor="t" anchorCtr="0">
              <a:spAutoFit/>
            </a:bodyPr>
            <a:lstStyle/>
            <a:p>
              <a:pPr algn="l">
                <a:lnSpc>
                  <a:spcPts val="1575"/>
                </a:lnSpc>
              </a:pPr>
              <a:r>
                <a:rPr lang="tr-TR" sz="1120" dirty="0">
                  <a:solidFill>
                    <a:srgbClr val="172B3A"/>
                  </a:solidFill>
                  <a:latin typeface="+mn-lt"/>
                  <a:ea typeface="+mn-ea"/>
                  <a:cs typeface="+mn-cs"/>
                </a:rPr>
                <a:t>Formül yalnızca h &gt; 0 iken tanımlıdır.</a:t>
              </a:r>
              <a:br/>
              <a:r>
                <a:rPr lang="tr-TR" sz="1120" dirty="0">
                  <a:solidFill>
                    <a:srgbClr val="172B3A"/>
                  </a:solidFill>
                  <a:latin typeface="+mn-lt"/>
                  <a:ea typeface="+mn-ea"/>
                  <a:cs typeface="+mn-cs"/>
                </a:rPr>
                <a:t>Hazırlanan miktar güvenilir kaydedilmediyse,</a:t>
              </a:r>
              <a:br/>
              <a:r>
                <a:rPr lang="tr-TR" sz="1120" dirty="0">
                  <a:solidFill>
                    <a:srgbClr val="172B3A"/>
                  </a:solidFill>
                  <a:latin typeface="+mn-lt"/>
                  <a:ea typeface="+mn-ea"/>
                  <a:cs typeface="+mn-cs"/>
                </a:rPr>
                <a:t>iade satıştan ayrılmadıysa ya da satılmayan</a:t>
              </a:r>
              <a:br/>
              <a:r>
                <a:rPr lang="tr-TR" sz="1120" dirty="0">
                  <a:solidFill>
                    <a:srgbClr val="172B3A"/>
                  </a:solidFill>
                  <a:latin typeface="+mn-lt"/>
                  <a:ea typeface="+mn-ea"/>
                  <a:cs typeface="+mn-cs"/>
                </a:rPr>
                <a:t>her birim israf sayılmıyorsa, hesaplanan oran</a:t>
              </a:r>
              <a:br/>
              <a:r>
                <a:rPr lang="tr-TR" sz="1120" dirty="0">
                  <a:solidFill>
                    <a:srgbClr val="172B3A"/>
                  </a:solidFill>
                  <a:latin typeface="+mn-lt"/>
                  <a:ea typeface="+mn-ea"/>
                  <a:cs typeface="+mn-cs"/>
                </a:rPr>
                <a:t>hedefi temsil etmeyebilir.</a:t>
              </a:r>
            </a:p>
          </p:txBody>
        </p:sp>
        <p:sp>
          <p:nvSpPr>
            <p:cNvPr id="34" name="Line 34"/>
            <p:cNvSpPr/>
            <p:nvPr/>
          </p:nvSpPr>
          <p:spPr>
            <a:xfrm>
              <a:off x="6515100" y="499110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35" name="TextBox 35"/>
            <p:cNvSpPr txBox="1"/>
            <p:nvPr/>
          </p:nvSpPr>
          <p:spPr>
            <a:xfrm>
              <a:off x="6509385" y="5136356"/>
              <a:ext cx="2536190" cy="620078"/>
            </a:xfrm>
            <a:prstGeom prst="rect">
              <a:avLst/>
            </a:prstGeom>
            <a:noFill/>
            <a:ln>
              <a:noFill/>
            </a:ln>
          </p:spPr>
          <p:txBody>
            <a:bodyPr wrap="none" lIns="0" tIns="0" rIns="0" bIns="0" anchor="t" anchorCtr="0">
              <a:spAutoFit/>
            </a:bodyPr>
            <a:lstStyle/>
            <a:p>
              <a:pPr algn="l">
                <a:lnSpc>
                  <a:spcPts val="1575"/>
                </a:lnSpc>
              </a:pPr>
              <a:r>
                <a:rPr lang="tr-TR" sz="1120" dirty="0">
                  <a:solidFill>
                    <a:srgbClr val="172B3A"/>
                  </a:solidFill>
                  <a:latin typeface="+mn-lt"/>
                  <a:ea typeface="+mn-ea"/>
                  <a:cs typeface="+mn-cs"/>
                </a:rPr>
                <a:t>Sayısal ölçüt, iş kavramının kendisi</a:t>
              </a:r>
              <a:br/>
              <a:r>
                <a:rPr lang="tr-TR" sz="1120" dirty="0">
                  <a:solidFill>
                    <a:srgbClr val="172B3A"/>
                  </a:solidFill>
                  <a:latin typeface="+mn-lt"/>
                  <a:ea typeface="+mn-ea"/>
                  <a:cs typeface="+mn-cs"/>
                </a:rPr>
                <a:t>değil, açık varsayımlara dayalı bir</a:t>
              </a:r>
              <a:br/>
              <a:r>
                <a:rPr lang="tr-TR" sz="1120" dirty="0">
                  <a:solidFill>
                    <a:srgbClr val="172B3A"/>
                  </a:solidFill>
                  <a:latin typeface="+mn-lt"/>
                  <a:ea typeface="+mn-ea"/>
                  <a:cs typeface="+mn-cs"/>
                </a:rPr>
                <a:t>göstergesidir.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24</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veri-madenciligi"/>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93372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madenciliği</a:t>
              </a:r>
            </a:p>
          </p:txBody>
        </p:sp>
        <p:sp>
          <p:nvSpPr>
            <p:cNvPr id="8" name="TextBox 8"/>
            <p:cNvSpPr txBox="1"/>
            <p:nvPr/>
          </p:nvSpPr>
          <p:spPr>
            <a:xfrm>
              <a:off x="832104" y="1908810"/>
              <a:ext cx="2122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 kümelerindeki anlamlı</a:t>
              </a:r>
              <a:br/>
              <a:r>
                <a:rPr lang="tr-TR" sz="1200" dirty="0">
                  <a:solidFill>
                    <a:srgbClr val="172B3A"/>
                  </a:solidFill>
                  <a:latin typeface="+mn-lt"/>
                  <a:ea typeface="+mn-ea"/>
                  <a:cs typeface="+mn-cs"/>
                </a:rPr>
                <a:t>örüntüleri keşfederek karar</a:t>
              </a:r>
              <a:br/>
              <a:r>
                <a:rPr lang="tr-TR" sz="1200" dirty="0">
                  <a:solidFill>
                    <a:srgbClr val="172B3A"/>
                  </a:solidFill>
                  <a:latin typeface="+mn-lt"/>
                  <a:ea typeface="+mn-ea"/>
                  <a:cs typeface="+mn-cs"/>
                </a:rPr>
                <a:t>desteği üretir.</a:t>
              </a:r>
            </a:p>
          </p:txBody>
        </p:sp>
      </p:grpSp>
      <p:grpSp>
        <p:nvGrpSpPr>
          <p:cNvPr id="13" name="summary-kdd"/>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46186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KDD</a:t>
              </a:r>
            </a:p>
          </p:txBody>
        </p:sp>
        <p:sp>
          <p:nvSpPr>
            <p:cNvPr id="12" name="TextBox 12"/>
            <p:cNvSpPr txBox="1"/>
            <p:nvPr/>
          </p:nvSpPr>
          <p:spPr>
            <a:xfrm>
              <a:off x="4565904" y="1908810"/>
              <a:ext cx="19476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Ham veriden bilgi keşfine</a:t>
              </a:r>
              <a:br/>
              <a:r>
                <a:rPr lang="tr-TR" sz="1200" dirty="0">
                  <a:solidFill>
                    <a:srgbClr val="172B3A"/>
                  </a:solidFill>
                  <a:latin typeface="+mn-lt"/>
                  <a:ea typeface="+mn-ea"/>
                  <a:cs typeface="+mn-cs"/>
                </a:rPr>
                <a:t>uzanan geniş, beş aşamalı</a:t>
              </a:r>
              <a:br/>
              <a:r>
                <a:rPr lang="tr-TR" sz="1200" dirty="0">
                  <a:solidFill>
                    <a:srgbClr val="172B3A"/>
                  </a:solidFill>
                  <a:latin typeface="+mn-lt"/>
                  <a:ea typeface="+mn-ea"/>
                  <a:cs typeface="+mn-cs"/>
                </a:rPr>
                <a:t>süreçtir.</a:t>
              </a:r>
            </a:p>
          </p:txBody>
        </p:sp>
      </p:grpSp>
      <p:grpSp>
        <p:nvGrpSpPr>
          <p:cNvPr id="17" name="summary-crispdm"/>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00A6A6"/>
              </a:solidFill>
            </a:ln>
          </p:spPr>
        </p:sp>
        <p:sp>
          <p:nvSpPr>
            <p:cNvPr id="15" name="TextBox 15"/>
            <p:cNvSpPr txBox="1"/>
            <p:nvPr/>
          </p:nvSpPr>
          <p:spPr>
            <a:xfrm>
              <a:off x="8296656" y="1520190"/>
              <a:ext cx="118771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CRISP-DM</a:t>
              </a:r>
            </a:p>
          </p:txBody>
        </p:sp>
        <p:sp>
          <p:nvSpPr>
            <p:cNvPr id="16" name="TextBox 16"/>
            <p:cNvSpPr txBox="1"/>
            <p:nvPr/>
          </p:nvSpPr>
          <p:spPr>
            <a:xfrm>
              <a:off x="8299704" y="1908810"/>
              <a:ext cx="24048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İş hedefinden yaygınlaştırmaya</a:t>
              </a:r>
              <a:br/>
              <a:r>
                <a:rPr lang="tr-TR" sz="1200" dirty="0">
                  <a:solidFill>
                    <a:srgbClr val="172B3A"/>
                  </a:solidFill>
                  <a:latin typeface="+mn-lt"/>
                  <a:ea typeface="+mn-ea"/>
                  <a:cs typeface="+mn-cs"/>
                </a:rPr>
                <a:t>uzanan, altı evreli ve</a:t>
              </a:r>
              <a:br/>
              <a:r>
                <a:rPr lang="tr-TR" sz="1200" dirty="0">
                  <a:solidFill>
                    <a:srgbClr val="172B3A"/>
                  </a:solidFill>
                  <a:latin typeface="+mn-lt"/>
                  <a:ea typeface="+mn-ea"/>
                  <a:cs typeface="+mn-cs"/>
                </a:rPr>
                <a:t>yinelemeli bir metodolojidir.</a:t>
              </a:r>
            </a:p>
          </p:txBody>
        </p:sp>
      </p:grpSp>
      <p:grpSp>
        <p:nvGrpSpPr>
          <p:cNvPr id="21" name="summary-yapisal-veri"/>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5143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Yapısal veri</a:t>
              </a:r>
            </a:p>
          </p:txBody>
        </p:sp>
        <p:sp>
          <p:nvSpPr>
            <p:cNvPr id="20" name="TextBox 20"/>
            <p:cNvSpPr txBox="1"/>
            <p:nvPr/>
          </p:nvSpPr>
          <p:spPr>
            <a:xfrm>
              <a:off x="832104" y="3718560"/>
              <a:ext cx="19705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Gözlem birimi doğru</a:t>
              </a:r>
              <a:br/>
              <a:r>
                <a:rPr lang="tr-TR" sz="1200" dirty="0">
                  <a:solidFill>
                    <a:srgbClr val="172B3A"/>
                  </a:solidFill>
                  <a:latin typeface="+mn-lt"/>
                  <a:ea typeface="+mn-ea"/>
                  <a:cs typeface="+mn-cs"/>
                </a:rPr>
                <a:t>tanımlanmadan hesaplanan</a:t>
              </a:r>
              <a:br/>
              <a:r>
                <a:rPr lang="tr-TR" sz="1200" dirty="0">
                  <a:solidFill>
                    <a:srgbClr val="172B3A"/>
                  </a:solidFill>
                  <a:latin typeface="+mn-lt"/>
                  <a:ea typeface="+mn-ea"/>
                  <a:cs typeface="+mn-cs"/>
                </a:rPr>
                <a:t>ortalamalar anlamsızdır.</a:t>
              </a:r>
            </a:p>
          </p:txBody>
        </p:sp>
      </p:grpSp>
      <p:grpSp>
        <p:nvGrpSpPr>
          <p:cNvPr id="25" name="summary-veri-kalitesi"/>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52651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kalitesi</a:t>
              </a:r>
            </a:p>
          </p:txBody>
        </p:sp>
        <p:sp>
          <p:nvSpPr>
            <p:cNvPr id="24" name="TextBox 24"/>
            <p:cNvSpPr txBox="1"/>
            <p:nvPr/>
          </p:nvSpPr>
          <p:spPr>
            <a:xfrm>
              <a:off x="4565904" y="3718560"/>
              <a:ext cx="18181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Eksik kayıtlar ve stok</a:t>
              </a:r>
              <a:br/>
              <a:r>
                <a:rPr lang="tr-TR" sz="1200" dirty="0">
                  <a:solidFill>
                    <a:srgbClr val="172B3A"/>
                  </a:solidFill>
                  <a:latin typeface="+mn-lt"/>
                  <a:ea typeface="+mn-ea"/>
                  <a:cs typeface="+mn-cs"/>
                </a:rPr>
                <a:t>tükenmesi gibi bağlamsal</a:t>
              </a:r>
              <a:br/>
              <a:r>
                <a:rPr lang="tr-TR" sz="1200" dirty="0">
                  <a:solidFill>
                    <a:srgbClr val="172B3A"/>
                  </a:solidFill>
                  <a:latin typeface="+mn-lt"/>
                  <a:ea typeface="+mn-ea"/>
                  <a:cs typeface="+mn-cs"/>
                </a:rPr>
                <a:t>bilgiler korunmalıdır.</a:t>
              </a:r>
            </a:p>
          </p:txBody>
        </p:sp>
      </p:grpSp>
      <p:grpSp>
        <p:nvGrpSpPr>
          <p:cNvPr id="29" name="summary-tuzaklar"/>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B8CBD3"/>
              </a:solidFill>
            </a:ln>
          </p:spPr>
        </p:sp>
        <p:sp>
          <p:nvSpPr>
            <p:cNvPr id="27" name="TextBox 27"/>
            <p:cNvSpPr txBox="1"/>
            <p:nvPr/>
          </p:nvSpPr>
          <p:spPr>
            <a:xfrm>
              <a:off x="8296656" y="3329940"/>
              <a:ext cx="291426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Gerçek dünya tuzakları</a:t>
              </a:r>
            </a:p>
          </p:txBody>
        </p:sp>
        <p:sp>
          <p:nvSpPr>
            <p:cNvPr id="28" name="TextBox 28"/>
            <p:cNvSpPr txBox="1"/>
            <p:nvPr/>
          </p:nvSpPr>
          <p:spPr>
            <a:xfrm>
              <a:off x="8299704" y="3718560"/>
              <a:ext cx="23667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 sızıntısı, küçük örneklem</a:t>
              </a:r>
              <a:br/>
              <a:r>
                <a:rPr lang="tr-TR" sz="1200" dirty="0">
                  <a:solidFill>
                    <a:srgbClr val="172B3A"/>
                  </a:solidFill>
                  <a:latin typeface="+mn-lt"/>
                  <a:ea typeface="+mn-ea"/>
                  <a:cs typeface="+mn-cs"/>
                </a:rPr>
                <a:t>ve göz ardı edilen eksik veri</a:t>
              </a:r>
              <a:br/>
              <a:r>
                <a:rPr lang="tr-TR" sz="1200" dirty="0">
                  <a:solidFill>
                    <a:srgbClr val="172B3A"/>
                  </a:solidFill>
                  <a:latin typeface="+mn-lt"/>
                  <a:ea typeface="+mn-ea"/>
                  <a:cs typeface="+mn-cs"/>
                </a:rPr>
                <a:t>kararı yanlış yönlendirebilir.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57889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analizi teknik bir işlemden ibaret değildir.</a:t>
              </a:r>
            </a:p>
          </p:txBody>
        </p:sp>
        <p:sp>
          <p:nvSpPr>
            <p:cNvPr id="32" name="TextBox 32"/>
            <p:cNvSpPr txBox="1"/>
            <p:nvPr/>
          </p:nvSpPr>
          <p:spPr>
            <a:xfrm>
              <a:off x="906399" y="5583079"/>
              <a:ext cx="826497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Güvenilir sonuç için iş hedefi açık olmalı, gözlem birimi doğru tanımlanmalıdır.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24</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8947595" cy="724281"/>
            <a:chOff x="599694" y="1484948"/>
            <a:chExt cx="8947595" cy="724281"/>
          </a:xfrm>
        </p:grpSpPr>
        <p:sp>
          <p:nvSpPr>
            <p:cNvPr id="7" name="TextBox 7"/>
            <p:cNvSpPr txBox="1"/>
            <p:nvPr/>
          </p:nvSpPr>
          <p:spPr>
            <a:xfrm>
              <a:off x="599694" y="1484948"/>
              <a:ext cx="8947595"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Bu bölümde iş anlama ve veri anlama evreleri elle incelendi. Sıradaki adım,</a:t>
              </a:r>
              <a:br/>
              <a:r>
                <a:rPr lang="tr-TR" sz="1950" dirty="0">
                  <a:solidFill>
                    <a:srgbClr val="172B3A"/>
                  </a:solidFill>
                  <a:latin typeface="+mn-lt"/>
                  <a:ea typeface="+mn-ea"/>
                  <a:cs typeface="+mn-cs"/>
                </a:rPr>
                <a:t>bu incelemeyi görsel araçlarla sistematik hâle getirmektir.</a:t>
              </a:r>
            </a:p>
          </p:txBody>
        </p:sp>
      </p:grpSp>
      <p:grpSp>
        <p:nvGrpSpPr>
          <p:cNvPr id="14" name="bridge-now"/>
          <p:cNvGrpSpPr/>
          <p:nvPr/>
        </p:nvGrpSpPr>
        <p:grpSpPr>
          <a:xfrm>
            <a:off x="599694" y="2799398"/>
            <a:ext cx="2773807" cy="1834419"/>
            <a:chOff x="599694" y="2799398"/>
            <a:chExt cx="2773807"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40385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CRISP-DM evrelerini kafe</a:t>
              </a:r>
              <a:br/>
              <a:r>
                <a:rPr lang="tr-TR" sz="1580" dirty="0">
                  <a:solidFill>
                    <a:srgbClr val="172B3A"/>
                  </a:solidFill>
                  <a:latin typeface="+mn-lt"/>
                  <a:ea typeface="+mn-ea"/>
                  <a:cs typeface="+mn-cs"/>
                </a:rPr>
                <a:t>senaryosunda uygulamak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52425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head(), isna().sum() ve</a:t>
              </a:r>
              <a:br/>
              <a:r>
                <a:rPr lang="tr-TR" sz="1580" dirty="0">
                  <a:solidFill>
                    <a:srgbClr val="172B3A"/>
                  </a:solidFill>
                  <a:latin typeface="+mn-lt"/>
                  <a:ea typeface="+mn-ea"/>
                  <a:cs typeface="+mn-cs"/>
                </a:rPr>
                <a:t>groupby ile veri incelemek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503295"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Keşifçi Veri Analizi</a:t>
              </a:r>
              <a:br/>
              <a:r>
                <a:rPr lang="tr-TR" sz="2250" b="1" dirty="0">
                  <a:solidFill>
                    <a:srgbClr val="FFFFFF"/>
                  </a:solidFill>
                  <a:latin typeface="+mn-lt"/>
                  <a:ea typeface="+mn-ea"/>
                  <a:cs typeface="+mn-cs"/>
                </a:rPr>
                <a:t>(EDA) ve Görselleştirme</a:t>
              </a:r>
            </a:p>
          </p:txBody>
        </p:sp>
        <p:sp>
          <p:nvSpPr>
            <p:cNvPr id="18" name="TextBox 18"/>
            <p:cNvSpPr txBox="1"/>
            <p:nvPr/>
          </p:nvSpPr>
          <p:spPr>
            <a:xfrm>
              <a:off x="7307199" y="4135279"/>
              <a:ext cx="3607816"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Histogram, kutu grafiği ve</a:t>
              </a:r>
              <a:br/>
              <a:r>
                <a:rPr lang="tr-TR" sz="1580" dirty="0">
                  <a:solidFill>
                    <a:srgbClr val="EAF4F6"/>
                  </a:solidFill>
                  <a:latin typeface="+mn-lt"/>
                  <a:ea typeface="+mn-ea"/>
                  <a:cs typeface="+mn-cs"/>
                </a:rPr>
                <a:t>korelasyon matrisiyle devam edecek.</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7867269"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Kafe veri kümesi ve Telco Churn Capstone projesi, EDA bölümünde de</a:t>
              </a:r>
              <a:br/>
              <a:r>
                <a:rPr lang="tr-TR" sz="1800" b="1" dirty="0">
                  <a:solidFill>
                    <a:srgbClr val="12355B"/>
                  </a:solidFill>
                  <a:latin typeface="+mn-lt"/>
                  <a:ea typeface="+mn-ea"/>
                  <a:cs typeface="+mn-cs"/>
                </a:rPr>
                <a:t>aynı süreklilikle kullanılmaya devam edecektir.</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1_giris_crisp_dm-20260916">
  <a:themeElements>
    <a:clrScheme name="ch01_giris_crisp_dm-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1_giris_crisp_dm-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1_giris_crisp_dm-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1_giris_crisp_dm-20260916">
  <a:themeElements>
    <a:clrScheme name="ch01_giris_crisp_dm-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1_giris_crisp_dm-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1_giris_crisp_dm-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2026-09-19T21:22:58Z</dcterms:created>
  <dcterms:modified xsi:type="dcterms:W3CDTF">2026-09-19T21:22:58Z</dcterms:modified>
  <cp:category/>
  <cp:contentStatus/>
</cp:coreProperties>
</file>