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ham verinin bir makine öğrenmesi modeline verilmeden önce geçirdiği en kritik hazırlık aşamasını, veri ön işlemeyi ele alıyor. Kapak sayfasında gördüğünüz üç başlık — eksik veriler, aykırı değerler ve dönüştürme — aslında bölümün tamamını organize eden üç ana eksendir ve bu sırayla ilerleyeceğiz: önce veride ne eksik, sonra hangi değerler normalin dışında, son olarak da sayısal ve kategorik özellikleri modelin anlayabileceği ortak bir dile nasıl çevireceğiz. Bölüm boyunca kullanacağımız örnek veri kümesi, bir telekomünikasyon şirketinin müşteri kaybı yani churn verisidir; bu seçim rastgele değil, çünkü churn verileri gerçek dünyada tam olarak bu üç sorunu bir arada barındırır: eksik anket yanıtları, aşırı yüksek gelirli birkaç müşteri, ve hem sayısal hem kategorik sütunların bir arada bulunması. Bölümün sonunda, tüm bu adımları tek bir scikit-learn Pipeline nesnesinde birleştiren çalışan bir sınıf da göreceksiniz.</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beş soru, bölümü okurken aklınızda tutmanız gereken bir kontrol listesi niteliğinde ve her biri ilerleyen sayfalarda ayrıntılı olarak cevaplanacak. İlk soru eksik verinin rastgele mi yoksa bir örüntüye mi bağlı olduğu; bu ayrım MCAR, MAR ve MNAR olarak üç mekanizmaya ayrılacak ve her biri farklı bir doldurma stratejisi gerektirecek. İkinci soru aykırı değerin ne zaman aykırı sayılacağı; burada hem istatistiksel bir kural olan IQR yöntemini hem de alan bilgisinin istatistiği nasıl geçersiz kılabileceğini göreceğiz. Üçüncü ve dördüncü sorular sırasıyla ölçekleme/kodlama ihtiyacını ve eğitim-test ayrımının zamanlamasını soruyor; bu zamanlama sorusu aslında bölümün en kritik kavramı olan veri sızıntısına açılan kapı. Son soru ise Pipeline nesnesinin sağladığı somut güvenceyi soruyor — cevabı, elle yazılan kodda unutulması çok kolay olan fit/transform ayrımının otomatik olarak korunmasıdır. Alttaki hedef kutusu, bölümün sonunda ulaşacağımız somut çıktıyı özetliyor: ham churn verisini sızıntısız, tek bir Pipeline'dan geçirebilmek.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beş hedef, bölümün değerlendirme ölçütlerini de belirliyor; yani bölüm sonunda kendinizi bu beş cümleye göre sınayabilirsiniz. İlk hedef sınıflandırma becerisi gibi görünse de asıl önemli olan, bu sınıflandırmanın doğrudan bir eyleme, yani hangi imputation stratejisinin seçileceğine bağlanmasıdır — teorik bilgi burada pratik bir karara dönüşüyor. İkinci hedefte özellikle "silme yerine kırpma" ifadesine dikkat edin; bu bölümün tekrar eden bir teması, çünkü çoğu ders kitabı aykırı değerleri silmeyi önerirken, biz veri kaybetmeden aşırılığı sınırlayan clip() yaklaşımını tercih edeceğiz. Üçüncü hedef StandardScaler ve OneHotEncoder'ı bir arada anıyor çünkü gerçek veri kümelerinde sayısal ve kategorik sütunlar birlikte bulunur ve ikisi de aynı ColumnTransformer içinde yönetilmelidir. Dördüncü hedef, bölümün en sık ihlal edilen kuralına işaret ediyor: eğitim-test ayrımının ön işlemeden önce yapılması. Beşinci hedef ise tüm bunları birleştiren pratik çıktı: Pipeline ve ColumnTransformer kullanımı. Alttaki başarı ölçütü kutusu, bu beş hedefin hepsinin aslında tek bir ilkeye, veri sızıntısını önlemeye indirgendiğini vurguluyor.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kavram haritası, bölümün beş teknik konusunun birbirinden bağımsız değil, hepsinin aynı büyük amaca — model-hazır, sızıntısız veri üretmeye — hizmet ettiğini gösteriyor. Soldaki hub kutusu "Veri Ön İşleme"yi temsil ediyor ve sağdaki beş kutuya doğru dağılıyor: eksik veri, aykırı değer, ölçekleme, kategorik kodlama ve eğitim-test ayrımı. Bu beş kutunun sırası aslında rastgele değil, genellikle uygulamada izlenen mantıksal akışı da yansıtıyor: önce eksik veriyi ele alır, sonra aykırı değerleri kırparsınız, ardından ölçekleme ve kodlama yaparsınız, ve bunların hepsini eğitim-test ayrımından sonra uygularsınız. Alttaki geniş turkuaz kutu, "Pipeline + ColumnTransformer" — bu haritanın en önemli mesajı burada: beş ayrı teknik, kodda beş ayrı adım olarak kalırsa hata riski artar, ama tek bir nesnede birleştirilirse hem tekrarlanabilir hem sızıntıya karşı yapısal olarak korumalı hale gelir. Bu harita, ilerleyen sayfalarda her bir dalı tek tek açacağımız bir yol haritası olarak düşünülebilir.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"Garbage in, garbage out" ifadesi makine öğrenmesinde neredeyse bir klişe haline gelmiş olsa da, churn veri kümesi bağlamında somut ve ölçülebilir bir anlam taşıyor. Sol taraftaki metin, ham verinin doğrudan modele verilmesi durumunda algoritmanın veri kalitesindeki kusurları bir örüntü sanıp öğreneceğini vurguluyor — bu, en güçlü algoritmanın bile telafi edemeyeceği bir sorun, çünkü model yalnızca kendisine verilen sayılarla çalışır, o sayıların arkasındaki bağlamı bilmez. Sağdaki üç problem kartı, bu bölümde ele alacağımız üç somut kusuru gösteriyor: eksik hücreler, aşırı uç değerler ve ölçek/kategori uyumsuzluğu. Özellikle üçüncü kart önemli, çünkü genellikle gözden kaçan bir noktaya değiniyor — büyük ölçekli bir sütun (örneğin binlerce liralık gelir), küçük ölçekli bir sütunu (örneğin yaş) mesafe tabanlı algoritmalarda gölgede bırakabilir, ve metin sütunları sayısal işleme hiç giremez. Bu üç problemin toplamı, alttaki kutuda görüldüğü gibi, yüksek eğitim başarısına rağmen düşük gerçek dünya performansı gösteren güvenilmez bir modelle sonuçlanır — bölümün geri kalanı tam olarak bu boşluğu kapatmaya adanmıştır.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Eksik verinin nedenini bilmeden doğru doldurma stratejisini seçmek mümkün değil, bu yüzden bu üç mekanizmayı ayırt etmek pratik bir zorunluluk. MCAR yani "Missing Completely at Random" durumunda eksiklik tamamen şansa bağlıdır — örneğin bir sunucu hatası yüzünden rastgele satırların kaybolması gibi; bu en güvenli durumdur çünkü eksik olmayan verideki dağılım, tüm veri kümesinin dağılımını temsil eder, dolayısıyla ortalama veya medyan ile doldurma istatistiksel olarak güvenlidir. MAR yani "Missing at Random" durumunda eksiklik, eksik olan değişkenin kendisiyle değil ama veri kümesindeki başka, gözlenen bir değişkenle ilişkilidir; örneğin genç kullanıcıların gelir sorusunu daha sık boş bırakması gibi — burada grup bazlı veya model tabanlı doldurma daha isabetli olur, çünkü basit bir genel ortalama bu alt grup farkını göz ardı eder. MNAR yani "Missing Not at Random" en riskli ve en gizli örüntü türüdür, çünkü eksikliğin kendisi, eksik olan değerin büyüklüğüne bağlıdır — yüksek gelirli müşterilerin geliri bilinçli olarak boş bırakması gibi; bu durumda basit doldurma sistematik olarak yanlı sonuçlar üretir ve alan bilgisi olmadan güvenle çözülemez. Alttaki uyarı kutusunun vurguladığı gibi, bu mekanizma genellikle veriden değil, verinin toplanma sürecine dair bilgiden çıkarılır; istatistiksel testler (örneğin Little's MCAR testi gibi) yalnızca ipucu verir, kesin kanıt sunmaz.</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Eksik veriyi doldurmaya veya silmeye karar vermeden önce, önce nerede ve ne kadar eksik olduğunu sistematik olarak tespit etmek gerekiyor. Soldaki kod bloğu, df.isnull().sum() ile her sütundaki eksik hücre sayısını, bunu len(df) ile bölüp yüzde 100 ile çarparak da yüzdesel oranı verir — bu iki adım, herhangi bir ön işlemeye başlamadan önce atılması gereken ilk adımdır. Örnek çıktıda görebileceğiniz gibi sikayet_sayisi sütunu yüzde 18,7 gibi görece yüksek bir eksiklik oranına sahip, bu da onu diğer sütunlardan daha dikkatli ele almamız gerektiğinin bir işareti. missingno kütüphanesindeki matrix ve heatmap fonksiyonları, eksikliğin rastgele mi yoksa bir örüntüye mi sahip olduğunu görsel olarak keşfetmenize yardımcı olur; örneğin iki sütunun eksikliklerinin birlikte oluşması, aralarında MAR tipi bir ilişki olabileceğine işaret eder. Sağdaki yüzde aralıkları kesin kurallar değil, pratik başlangıç noktalarıdır: yüzde 5 altı genellikle güvenle silinebilir veya doldurulabilir, yüzde 5 ile 20 arası dikkatli doldurma ve mekanizma analizi gerektirir, yüzde 20 üzeri ise sütunu tamamen çıkarmayı veya eksikliğin kendisini yeni bir ikili sütun olarak modele dahil etmeyi düşündürmelidir. Bu eşikler alanın riskine ve sütunun modeldeki önemine göre yeniden değerlendirilmelidir; sabit bir kural değildir.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karar akışı, eksik veriyle karşılaştığınızda izleyebileceğiniz pratik bir yol haritası sunuyor ve iki temel soruyu birleştiriyor: eksiklik oranı ne kadar ve mekanizma nedir. Eksik oran düşükse (yaklaşık yüzde 5 altı) ve mekanizma MCAR ise, dropna() ile satırı silmek yeterince güvenlidir çünkü kalan veri hâlâ orijinal dağılımı temsil eder. Ancak oran yüksekse veya mekanizma MAR ya da MNAR ise, silme önemli miktarda veri kaybettirir ve kalan örneklemin yanlı hale gelmesine yol açabilir; bu durumda doldurma yani imputation tercih edilmelidir. Silme yolunu seçtiğinizde bile kalan verinin hâlâ temsil edici olup olmadığını kontrol etmek önemlidir — çok fazla satır silinirse, az veri kalan örneklem riskini doğurur. Doldurma yolunda ise SimpleImputer'ın hangi stratejisini seçeceğiniz sütunun tipine ve dağılımına bağlıdır: sayısal sütunlarda dağılım çarpıksa veya aykırı değer varsa median, simetrik ve aykırısız dağılımlarda mean tercih edilir; kategorik sütunlarda ise mean veya median tanımsız olduğundan most_frequent kullanılır. İleri düzey senaryolarda KNNImputer gibi komşuluk tabanlı yöntemler de bir seçenektir, ancak bu bölümde temel SimpleImputer stratejilerine odaklanıyoruz.</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SimpleImputer'ın üç stratejisi, farklı veri tiplerine ve dağılım şekillerine göre seçilir ve bu seçim rastgele değil, sütunun istatistiksel karakterine dayanmalıdır. mean stratejisi sütun ortalamasını kullanır ve yalnızca dağılım simetrik ve aykırı değerden arınmışsa güvenilirdir, çünkü ortalama aykırı değerlere karşı son derece hassastır — tek bir aşırı büyük değer ortalamayı önemli ölçüde kaydırabilir. median stratejisi ise sütun medyanını kullanır ve çarpık dağılımlarda veya aykırı değer varlığında tercih edilir, çünkü medyan aykırı değerlere karşı dirençlidir (robust); örneğin aylik_gelir sütunu genelde sağa çarpık bir dağılım gösterdiğinden burada median daha güvenli bir seçimdir. most_frequent stratejisi ise sütunun modunu, yani en sık görülen değerini kullanır ve yalnızca kategorik sütunlarda anlamlıdır çünkü kategorik verilerde mean ve median matematiksel olarak tanımsızdır. Alttaki kod bloğunda vurgulanan kritik nokta şudur: imputer yalnızca X_train üzerinde fit_transform ile eğitilir, X_test'e ise sadece transform uygulanır — ortalama veya medyan yeniden hesaplanmaz, eğitim setinden öğrenilen değer aynen uygulanır. Bu ayrım, bir sonraki sayfada göreceğimiz veri sızıntısı hatasının tam olarak önlenmesini sağlayan mekanizmadır.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bölümdeki en yaygın ve en tehlikeli kodlama hatalarından birini, veri sızıntısını, doğrudan yan yana iki kod örneğiyle gösteriyor. Yanlış yaklaşımda, imputer önce tüm veri kümesine (X) fit_transform ile uygulanıyor ve ancak ondan sonra train_test_split çağrılıyor; bu sırada hesaplanan ortalama veya medyan, hem gelecekteki eğitim hem de test satırlarının bilgisini içeriyor. Sonuç olarak model, teknik olarak hiç görmemesi gereken test verisinin istatistiksel izini dolaylı yoldan öğrenmiş oluyor — bu, modelin gerçek dünyada karşılaşacağı performanstan daha iyi görünmesine neden olan sinsi bir hata, çünkü test skorları yapay olarak şişer. Doğru yaklaşımda ise önce train_test_split çağrılıyor, ardından imputer yalnızca X_train üzerinde fit_transform ile eğitiliyor ve öğrenilen ortalama veya medyan değeri X_test'e sadece transform ile, değiştirilmeden uygulanıyor. Bu hatanın önemi teorik değil, pratiktir: sızıntılı bir model üretime alındığında, yeni müşteri verisiyle karşılaştığında beklenmedik şekilde kötü performans gösterebilir çünkü eğitim sırasında ölçtüğünüz başarı gerçek değildi. Alttaki kural — fit yalnızca eğitim verisinde, transform her ikisinde de — bu bölümün altın kuralı ve ilerleyen tüm sayfalarda (scaler, encoder, IQR sınırları) aynı mantıkla tekrar karşımıza çıkacak.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Aykırı değerleri tanımlamanın en yaygın nonparametrik yollarından biri, kutu grafiği mantığına dayanan IQR yani çeyrekler açıklığı yöntemidir. Kutu grafiğindeki kutu, verinin ortadaki yüzde 50'sini temsil eder ve Q1 (birinci çeyrek) ile Q3 (üçüncü çeyrek) arasındaki mesafeye IQR denir; bu mesafe, verinin merkezi yayılımının dağılım şeklinden bağımsız bir ölçüsüdür, yani normal dağılım varsayımı gerektirmez. Tukey'nin klasik 1,5 katsayılı kuralına göre, Q1'den 1,5 kat IQR kadar aşağıda kalan alt sınırın altındaki ve Q3'ten 1,5 kat IQR kadar yukarıda kalan üst sınırın üstündeki her değer aykırı olarak işaretlenir; 1,5 katsayısı istatistiksel bir gelenektir ve daha sıkı analizlerde 3,0 gibi daha yüksek bir katsayı da tercih edilebilir. Bu yöntemin önemi sadece teorik değil — aykırı değerler, StandardScaler'ın hesapladığı ortalama ve standart sapmayı doğrudan çarpıtır, çünkü bu istatistikler aykırı değerlere karşı hassastır; dolayısıyla aykırı değer tespit edilip ele alınmazsa, sonraki ölçekleme adımı tüm sütun için bozulmuş olur. Bir sonraki sayfada bu formülü gerçek sayılarla, aylik_gelir sütunu üzerinde adım adım hesaplayacağız.</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önceki sayfada gördüğümüz IQR formülünü aylik_gelir sütunu üzerinde somut sayılarla uyguluyor, böylece soyut formül elle takip edilebilir bir hesaba dönüşüyor. quantile(0.25) ve quantile(0.75) çağrıları ile Q1 değeri 3.250 lira, Q3 değeri ise 7.800 lira olarak bulunuyor; aradaki fark, yani IQR, 4.550 lira. Bu değerlerle alt sınır 3.250 eksi 1,5 çarpı 4.550, yani yaklaşık eksi 3.575 lira olarak hesaplanıyor — negatif bir gelir fiziksel olarak mümkün olmadığından, bu sütunda alt sınır pratikte hiçbir zaman devreye girmeyecek, yani tüm düşük değerler doğal sınırlar içinde kalıyor. Üst sınır ise 7.800 artı 1,5 çarpı 4.550, yani 14.625 lira; bu kümede yaklaşık 37 müşteri, toplamın yüzde 1,8'i, bu sınırın üzerinde kalıyor ve aykırı olarak işaretleniyor. Sağdaki panelde vurgulanan önemli tasarım kararı, bu değerleri silmek yerine ust_sinir'e kırpmak (clip) olması; bunun nedeni, yüksek gelirli müşterilerin muhtemelen gerçek ve şirket için değerli müşteriler olması — onları veri kümesinden tamamen çıkarmak yerine, aşırılıklarını sınırlayarak hem veriyi koruyoruz hem de modelin bu uç değerlerden aşırı etkilenmesini önlüyoruz.</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Aykırı değer tespitinde tek bir doğru yöntem yoktur; üç farklı yaklaşımın hangi durumda tercih edileceğini bilmek, veri biliminde olgunlaşmış bir karar verme sürecinin parçasıdır. IQR yöntemi 1,5 kat çarpanıyla çalışır ve dağılımdan bağımsızdır, yani herhangi bir varsayım gerektirmez; bu yüzden çarpık, normal olmayan dağılımlarda — örneğin gelir veya süre gibi sağa çarpık değişkenlerde — en güvenilir seçimdir ve bölümde varsayılan olarak bu yöntemi kullanıyoruz. Z-score yöntemi, bir değerin ortalamadan kaç standart sapma uzakta olduğunu ölçer ve genellikle mutlak z değeri 3'ü aşan noktalar aykırı sayılır; ancak bu yöntem verinin yaklaşık normal dağıldığı varsayımına dayanır, dolayısıyla simetrik, çan eğrisi benzeri ölçümlerde (örneğin yaş gibi) daha uygundur. Alan bilgisi ise istatistiksel bir yöntem değildir, iş kurallarına dayanır — örneğin "yaş 120'den büyük olamaz" gibi mantıksal sınırlar, hiçbir istatistiksel testin veremeyeceği kesinlikte bir eşik sağlar. Bu üç yöntem birbiriyle çelişirse, alan bilgisinin kazanması gerekir, çünkü istatistik yalnızca bir araçtır ve iş bağlamının yerini asla tutamaz — bu ilke, veri biliminde teknik doğruluk ile pratik anlamlılık arasındaki dengeyi hatırlatan önemli bir mesajdır.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Aykırı değerleri ele almanın en yaygın hatalı refleksi onları veri kümesinden tamamen silmektir, ama bu bölümde savunduğumuz yaklaşım kırpma yani clipping. pandas'ın clip() metodu, lower ve upper parametreleriyle çağrıldığında, belirtilen sınırların dışındaki her değeri en yakın sınıra eşitler; böylece hiçbir satır kaybedilmez, sadece aşırı uçlar sınırlanır. Sağdaki görselde önce ve sonra durumundaki noktaları karşılaştırdığınızda, sınırların dışında kalan noktaların (koyu renkli) sınıra çekilerek (turkuaz renkli) veri kümesinin bir parçası olarak kaldığını görüyorsunuz — bu, silme yaklaşımının aksine örneklem büyüklüğünü koruyor. Alternatif olarak, çok boyutlu aykırılıklar için IsolationForest gibi model tabanlı yöntemler de kullanılabilir, ancak bu bölümde tek değişkenli IQR tabanlı kırpmaya odaklanıyoruz çünkü daha yorumlanabilir ve uygulanması daha basit. En kritik uyarı alttaki kutuda: kırpma da tıpkı imputation ve ölçekleme gibi sızıntıya açıktır — alt_sinir ve ust_sinir değerleri yalnızca X_train üzerinden hesaplanmalı, aynı sabit sınırlar X_test'e yeniden hesaplama yapılmadan uygulanmalıdır; ilerleyen sayfalarda göreceğimiz ChurnOnIslemeHatti sınıfı, bu adımı tam olarak fit ve transform metotlarına ayırarak çözüyor.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Ölçeklerin eşitlenmesi gerekliliği, churn veri kümesindeki üç sütunun ham aralıklarına bakıldığında somutlaşıyor: aylik_gelir 0 ile 20.000 lira arasında değişirken, yas 18 ile 70 arasında, kullanim_suresi ise 0 ile 72 ay arasında. Bu üç sütun arasındaki büyüklük farkı o kadar belirgin ki, mesafe tabanlı algoritmalar — KNN, SVM, k-means, ya da regülerize edilmiş regresyon modelleri — aylik_gelir'i yas'tan çok daha önemliymiş gibi yorumlayabilir, oysa bu tamamen ölçek farkından kaynaklanan yapay bir önem, gerçek bir istatistiksel ilişki değil. StandardScaler bu sorunu z = (x eksi mü) bölü sigma formülüyle çözer; burada mü ve sigma sırasıyla eğitim verisinin ortalaması ve standart sapmasıdır, ve bu iki değer de — tıpkı imputer ve IQR sınırlarında olduğu gibi — yalnızca X_train'den hesaplanır. Dönüşüm sonrasında her sütunun ortalaması 0, standart sapması 1 olur, böylece hiçbir sütun sadece büyük sayılara sahip olduğu için yapay bir ağırlık kazanmaz. Alttaki notta vurgulandığı gibi, DecisionTree, RandomForest veya XGBoost gibi ağaç tabanlı modeller eşik değerlerle çalıştığından ölçeklemeye ihtiyaç duymaz; ancak yine de bu adımı ColumnTransformer içine koymak zararsızdır çünkü farklı bir modele geçildiğinde kodu yeniden yazmaya gerek kalmaz — bu, Pipeline yaklaşımının pratik esnekliğinin bir örneğidir.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tablo, StandardScaler'ın soyut formülünün beş örnek müşteri üzerinde nasıl somut sayılara dönüştüğünü gösteriyor. scaler.fit_transform çağrısı yalnızca X_train üzerinde çalıştırılıyor ve her sayısal sütun için ortalama ile standart sapmayı öğreniyor; tablodaki z değerleri, her müşterinin ilgili sütunda ortalamadan kaç standart sapma uzakta olduğunu gösteriyor. Örneğin #101 numaralı müşterinin aylik_gelir z değeri eksi 0,91 — bu, gelirinin ortalamanın belirgin şekilde altında olduğu anlamına geliyor; #102'nin yas z değeri ise 1,48, yani yaşı ortalamanın oldukça üzerinde. #103 numaralı müşterinin durumu özellikle öğretici: gelirinin 14.625 lira olarak zaten kırpılmış olmasına rağmen, z değeri hâlâ 2,61 gibi yüksek bir değer — bu, kırpmanın aşırı uçları tamamen ortadan kaldırmadığını, sadece daha makul bir sınıra çektiğini gösteriyor; müşteri hâlâ ortalamadan belirgin şekilde uzak ama artık aşırı bir sapma değil. Bu örnek, ölçekleme sonrası elde edilen z değerlerinin, ham sayılardan çok daha kolay karşılaştırılabilir ve modele daha dengeli bir girdi sağladığını gösteriyor; artık farklı birimlerdeki ve farklı büyüklüklerdeki sütunlar ortak bir dilde ifade ediliyor.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scikit-learn'de birden fazla ölçekleyici bulunur ve hangisinin seçileceği verinin karakterine bağlıdır. StandardScaler, z = (x eksi mü) bölü sigma formülüyle ortalamayı 0'a, standart sapmayı 1'e getirir; normale yakın ve aykırı değeri az sütunlarda uygundur, ancak zayıf yanı aykırı değerlere karşı hassas olmasıdır çünkü hem ortalama hem standart sapma aykırı noktalardan kolayca etkilenir. MinMaxScaler değerleri 0 ile 1 aralığına sıkıştırır ve özellikle sınırlı girdi aralığı gerektiren sinir ağı modellerinde tercih edilir; ancak tek bir aşırı değer, minimum veya maksimumu değiştirerek tüm diğer değerlerin sıkışmasına yol açabilir — bu onun en büyük zayıflığıdır. RobustScaler ise ortalama ve standart sapma yerine medyan ve IQR kullanır, bu sayede aykırı değerlere karşı çok daha dirençlidir ve aykırı değeri bilerek koruduğumuz sütunlarda tercih edilir; zayıf yanı ise ortalama/varyans tabanlı bazı modellerle daha az uyumlu olmasıdır. Bu bölümde izlediğimiz strateji, önce clip() ile aykırı değeri IQR sınırlarına göre sınırlamak, ardından StandardScaler uygulamaktır — bu sıralama, aykırı değerlerin StandardScaler'ın hassasiyetini bozmasını önler ve iki tekniği birbirini tamamlayacak şekilde birleştirir.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Kategorik verinin sayısal bir temsile dönüştürülmesi gerekliliği, yanlış bir yaklaşımın sonuçlarına bakıldığında daha net anlaşılıyor. sehir sütununu LabelEncoder ile doğrudan sayıya çevirmek — Ankara'yı 0, İzmir'i 1, İstanbul'u 2 yapmak gibi — model açısından tehlikeli bir yanılgı yaratır, çünkü model bu sayılar arasında bir sıralama veya büyüklük ilişkisi olduğunu varsayar; oysa şehirler arasında hiçbir doğal sıralama yoktur, İstanbul Ankara'nın "iki katı" değildir. Doğru yaklaşım OneHotEncoder kullanarak her kategori için ayrı, 0 veya 1 değerli bir ikili sütun oluşturmaktır; böylece hiçbir kategori diğerine göre sayısal bir üstünlük kazanmaz. Alttaki kod örneğinde handle_unknown="ignore" parametresi özellikle önemli: eğitim verisinde hiç görülmemiş yeni bir şehir test verisinde karşımıza çıkarsa, encoder hata fırlatmak yerine o satır için tüm şehir sütunlarını 0 yapar — bu, üretim ortamında karşılaşılabilecek beklenmedik kategorilere karşı pratik bir güvenlik önlemidir. Sık yapılan bir kodlama hatası da burada vurgulanıyor: OneHotEncoder'a X_train["sehir"] gibi tek boyutlu bir Series değil, X_train[["sehir"]] gibi çift köşeli parantezle iki boyutlu bir DataFrame verilmelidir, çünkü encoder yalnızca iki boyutlu girdi kabul eder — bu, başlangıç seviyesindeki geliştiricilerin sıkça karşılaştığı bir hata mesajının kaynağıdır. Not: sıralı kategorilerde (küçük/orta/büyük gibi, aralarında doğal bir sıra olan durumlarda) OrdinalEncoder daha uygun bir seçimdir.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OneHotEncoder'ın soyut açıklamasını somut bir önce-sonra tablosuyla gösteriyor. Sol tarafta dört müşterinin sehir sütunu tek bir metin sütunu olarak görünüyor; sağ tarafta ise bu tek sütun, her şehir için ayrı bir ikili sütuna — sehir_Ankara, sehir_İzmir, sehir_İstanbul — dönüşüyor ve her müşteri, yalnızca kendi şehrine karşılık gelen sütunda 1, diğerlerinde 0 değeri alıyor. Bu dönüşüm, modelin şehir bilgisini sayısal olarak işleyebilmesini sağlarken, önceki sayfada bahsettiğimiz sahte sıralama sorununu da ortadan kaldırıyor. drop="first" seçeneği, encoder'ın ilk kategoriyi (örneğin sehir_Ankara'yı) tamamen çıkarmasını sağlar; bu, özellikle lojistik regresyon gibi doğrusal modellerde önemlidir çünkü tüm ikili sütunlar birlikte var olduğunda çok eşdoğrusallık (multicollinearity) sorunu ortaya çıkar — bir sütunun değeri diğerlerinden matematiksel olarak çıkarılabilir hale gelir. Son olarak, yüksek kardinaliteli sütunlarda, yani yüzlerce farklı benzersiz değere sahip kategorik sütunlarda, OneHotEncoder sütun sayısını patlatabilir; örneğin binlerce farklı posta kodu varsa, binlerce yeni ikili sütun oluşur ki bu hem hesaplama maliyetini artırır hem de aşırı öğrenme riskini yükseltir — bu gibi durumlarda hedef kodlama (target encoding) gibi alternatif teknikler daha uygun olabilir.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bölümün belki de en kritik zamanlama kuralını ele alıyor: eğitim-test ayrımı, her türlü ön işlemeden önce yapılmalıdır. Üstteki görsel, verinin yüzde 70'inin eğitim, yüzde 30'unun test kümesine ayrıldığını gösteriyor; eğitim kümesinde tüm dönüştürücüler (imputer, scaler, encoder) hem fit hem transform edilirken, test kümesinde yalnızca transform uygulanır, asla fit değil. train_test_split fonksiyonundaki üç parametre özellikle önemli: test_size oranı belirler, stratify=y ve random_state=42 ise genellikle atlanan ama kritik olan iki ayardır. stratify=y özellikle önemlidir çünkü churn verisi doğası gereği dengesizdir — örneğin yüzde 20 churn, yüzde 80 sadık müşteri gibi; stratify=y olmadan yapılan rastgele bir bölme, bu oranı eğitim ve test kümeleri arasında bozabilir, bu da modelin performansının yanlış değerlendirilmesine yol açar. random_state=42 ise sonuçların tekrarlanabilir olmasını sağlar — aynı kodu tekrar çalıştırdığınızda aynı bölünmeyi elde edersiniz, bu da hata ayıklama ve karşılaştırma için vazgeçilmezdir. Eğer dengesizlik çok şiddetliyse, stratify=y tek başına yeterli olmayabilir; bu durumda bölümün sonunda bahsedeceğimiz gibi, 11. bölümde ele alınacak SMOTE gibi yeniden örnekleme teknikleri devreye girer. Alttaki altın kural özetliyor: imputer, scaler, encoder — hepsi bu ayrımdan sonra fit edilir; sıra tersine dönerse veri sızıntısı kaçınılmaz hale gelir.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bölümde öğrendiğimiz tüm parçaları — imputation, ölçekleme, kodlama — tek bir mimaride birleştiriyor. Sayısal sütunlar için bir Pipeline kuruluyor: önce SimpleImputer strategy="median" ile eksikler dolduruluyor, ardından StandardScaler ile ölçekleniyor; kategorik sütunlar için ayrı bir Pipeline kuruluyor: önce SimpleImputer strategy="most_frequent" ile eksikler dolduruluyor, ardından OneHotEncoder ile ikili sütunlara dönüştürülüyor. Bu iki ayrı Pipeline, ColumnTransformer içinde birleştiriliyor; ColumnTransformer'ın görevi, hangi sütun grubunun hangi Pipeline'a gideceğini otomatik olarak yönlendirmek — yani sayısal sütunlar num_pipeline'a, kategorik sütunlar cat_pipeline'a gider ve bu yönlendirme kod içinde elle yazılmaz, ColumnTransformer'ın kendisi tarafından yönetilir. Ortaya çıkan full_pipeline nesnesi, fit(X_train, y_train) tek çağrısıyla tüm adımları sırayla öğrenir ve uygular; bu, önceki sayfalarda gördüğümüz "önce ayır, sonra fit et" kuralının kod düzeyinde somutlaşmış hali. Bu yaklaşımın en büyük faydası, fit_transform'un yalnızca X_train'de, transform'un ise X_test'te çağrılması gerektiğini kodun kendisinin garanti etmesi — geliştirici bunu unutsa bile Pipeline yapısı bu sırayı yapısal olarak korur; ayrıca bu nesne joblib veya pickle ile saklanabilir, böylece üretim ortamına taşınabilir ve gelecekte aynı dönüşümler tutarlı şekilde tekrarlanabilir.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ChurnOnIslemeHatti sınıfı, bölümde öğrendiğimiz IQR tabanlı kırpma ile ColumnTransformer/Pipeline yaklaşımını tek bir scikit-learn uyumlu nesnede birleştiren çalışan bir örnek. Sınıfın init metodu, sayısal ve kategorik sütun listelerini alır ve alt_sinir_, ust_sinir_ gibi öğrenilecek değerleri saklayacak boş sözlükleri hazırlar — buradaki alt çizgi (underscore) son eki, scikit-learn kuralına göre bu değerlerin fit() çağrıldıktan sonra öğrenilen parametreler olduğunu gösterir. fit(self, X, y=None) metodu iki iş yapar: önce her sayısal sütun için IQR sınırlarını yalnızca verilen X'ten (yani eğitim verisinden) öğrenir, sonra ColumnTransformer'ı kurup fit eder; y=None parametresi, bu sınıfın scikit-learn'ün unsupervised dönüştürücü sözleşmesine uyduğunu, yani etiket bilgisine ihtiyaç duymadığını gösterir. transform(self, X) metodu ise öğrenilmiş sınırlarla clip() uygular ve ardından pipeline_.transform(Xc) çağrısıyla kalan dönüşümleri gerçekleştirir — dikkat edin, burada fit_transform değil sadece transform çağrılıyor, çünkü bu metot hem eğitim hem test verisinde kullanılacak ve sınırların yeniden hesaplanmaması gerekiyor. Bu sınıfın en kritik noktası, IQR sınırlarının yalnızca fit() sırasında, yani X_train üzerinde hesaplanması ve transform() sırasında bu öğrenilmiş değerlerin aynen kullanılması — tıpkı imputer ve scaler'da olduğu gibi, burada da sızıntı yapısal olarak engelleniyor. Kullanım örneğinde görüldüğü gibi, hatti.fit(X_train) ile öğrenme yapılıyor, hatti.transform(X_test) ile de öğrenilenler test verisine uygulanıyor.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sayfadaki altı hata, gerçek dünyada veri ön işleme kodunda en sık karşılaşılan hatalardan bir seçki ve her biri bölümün önceki sayfalarında ele aldığımız bir kavramla doğrudan ilişkili. İlk hata, ölçeklemeyi ayırmadan önce yapmanın "daha hızlı" olacağı yanılgısı — oysa bu, test verisinin istatistiğinin eğitime sızmasına yol açar ve sonuçlar yapay olarak iyi görünür, gerçek performansı yansıtmaz. İkinci hata df.drop("kolon") çağrısının sütun sildiğini varsaymak; oysa axis veya columns parametresi belirtilmezse pandas varsayılan olarak satır siler, dolayısıyla columns="kolon" şeklinde açıkça belirtmek gerekir. Üçüncü hata, eksik değerleri df[df["x"] == np.nan] ile bulmaya çalışmak — NaN, IEEE kayan nokta standardına göre hiçbir değere, kendisi dahil, eşit değildir; doğru yöntem df["x"].isna() kullanmaktır. Dördüncü hata, X_test'e fit_transform çağırmanın zararsız olduğunu düşünmek; bu aslında eğitimde öğrenileni geçersiz kılar çünkü test verisinden yeniden istatistik hesaplanır — yalnızca transform çağrılmalıdır. Beşinci hata, aykırı sınırı 1,5 katsayısını unutarak sadece Q1 eksi IQR ve Q3 artı IQR şeklinde hesaplamak; katsayı unutulursa sınırlar gereğinden dar hesaplanır ve normal değerler bile yanlışlıkla aykırı sayılabilir. Altıncı hata, stratify ve random_state parametrelerinin isteğe bağlı olduğunu düşünmek; dengesiz sınıflarda ve tekrarlanabilir sonuçlar için ikisi de pratikte neredeyse zorunludur. Alttaki özet notun vurguladığı gibi, bu yedi hatanın altısı aslında tek bir ilkenin — sınırları X_train'den öğren, X_test'e aynen uygula — ihlalinden kaynaklanıyor.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beş temel teknik öğrendik ve hepsi aynı disiplinin farklı uygulamaları. Eksik veri konusunda, MCAR/MAR/MNAR ayrımının hangi doldurma stratejisinin seçileceğini belirlediğini ve SimpleImputer'ın mean, median, most_frequent stratejileriyle bu doldurmanın nasıl uygulandığını gördük; yüzde 20'yi aşan eksiklik oranlarında sütunu tamamen çıkarmayı da bir seçenek olarak değerlendirmeniz gerektiğini hatırlatalım. Aykırı değer konusunda, Q1 eksi 1,5 kat IQR ve Q3 artı 1,5 kat IQR formülüyle sınırları hesaplamayı ve bu sınırların dışındaki değerleri silmek yerine clip() ile kırpmayı öğrendik — bu sınırlar da yalnızca X_train'den öğrenilmeli. Ölçekleme ve kodlama tarafında, StandardScaler'ın z=(x eksi mü) bölü sigma formülüyle sayısal sütunları nasıl eşitlediğini ve OneHotEncoder'ın handle_unknown="ignore" parametresiyle kategorik sütunları nasıl güvenli bir şekilde ikili sütunlara çevirdiğini gördük. En kritik pratik ders ise eğitim-test ayrımının ön işlemeden önce yapılması gerektiği ve stratify=y'nin dengesiz churn oranını koruduğu; bunların hepsini ColumnTransformer ve Pipeline içinde birleştirerek tek, tekrarlanabilir ve sızıntısız bir nesne elde ettik — ChurnOnIslemeHatti sınıfı bu ilkeyi uygulayan çalışan bir örnekti. Sağdaki altın ilke kutusunun vurguladığı gibi, bu bölümdeki neredeyse tüm hatalar tek bir cümleye indirgenebilir: fit yalnızca X_train'de, transform her ikisinde de — bu cümleyi aklınızda tutarsanız, veri ön işleme sürecinde karşılaşacağınız hataların büyük çoğunluğunu daha baştan önlemiş olursunuz.</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bölümde kurduğunuz Pipeline, tek başına bir alıştırma değil, ilerideki bölümlerin de temelini oluşturuyor. 11. bölümde, ön işlemeden geçmiş ama hâlâ dengesiz olan churn verisi için SMOTE gibi yeniden örnekleme yöntemlerini öğreneceksiniz; hatırlarsanız bu bölümde stratify=y ile churn oranını eğitim ve test kümeleri arasında korumuştuk, ama bu, sınıflar arasındaki dengesizliği ortadan kaldırmıyor, sadece iki kümede aynı oranı koruyor — eğer dengesizlik çok şiddetliyse (örneğin yüzde 5 churn oranı gibi), model çoğunluk sınıfına aşırı yatkın hale gelebilir ve SMOTE gibi teknikler bu sorunu daha doğrudan ele alır. 4. bölümde ise aynı ColumnTransformer'a PCA ve öznitelik seçimi adımları eklenecek; bu, bugün kurduğunuz Pipeline yapısının genişleyebilir olduğunu gösteren somut bir örnek — yeni bir dönüştürme adımı eklemek için mevcut mimariyi baştan yazmanıza gerek kalmayacak, sadece Pipeline listesine yeni bir adım eklemeniz yeterli olacak. Her iki durumda da, bugün öğrendiğiniz fit/transform disiplini — yani her yeni adımın da yalnızca X_train üzerinde fit edilip X_test'e transform edilmesi gerektiği kuralı — değişmeden kalacak; bu, veri ön işlemenin ölçeklenebilir ve güvenilir bir şekilde büyütülebilmesinin temel garantisi. Temiz veri, güvenilir bir modelin ön koşulu olduğu için, bu bölümde attığınız temel adımlar, ilerideki tüm teknik gelişmelerin üzerine inşa edileceği zemini oluşturuyor.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ch03_veri_on_isleme-20260916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ch03_veri_on_isleme-20260916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03</a:t>
              </a:r>
            </a:p>
          </p:txBody>
        </p:sp>
      </p:grpSp>
      <p:grpSp>
        <p:nvGrpSpPr>
          <p:cNvPr id="8" name="cover-title"/>
          <p:cNvGrpSpPr/>
          <p:nvPr/>
        </p:nvGrpSpPr>
        <p:grpSpPr>
          <a:xfrm>
            <a:off x="4936236" y="1815465"/>
            <a:ext cx="4060031" cy="2245614"/>
            <a:chOff x="4936236" y="1815465"/>
            <a:chExt cx="4060031" cy="2245614"/>
          </a:xfrm>
        </p:grpSpPr>
        <p:sp>
          <p:nvSpPr>
            <p:cNvPr id="7" name="TextBox 7"/>
            <p:cNvSpPr txBox="1"/>
            <p:nvPr/>
          </p:nvSpPr>
          <p:spPr>
            <a:xfrm>
              <a:off x="4936236" y="1815465"/>
              <a:ext cx="4060031" cy="2245614"/>
            </a:xfrm>
            <a:prstGeom prst="rect">
              <a:avLst/>
            </a:prstGeom>
            <a:noFill/>
            <a:ln>
              <a:noFill/>
            </a:ln>
          </p:spPr>
          <p:txBody>
            <a:bodyPr wrap="none" lIns="0" tIns="0" rIns="0" bIns="0" anchor="t" anchorCtr="0">
              <a:spAutoFit/>
            </a:bodyPr>
            <a:lstStyle/>
            <a:p>
              <a:pPr algn="l">
                <a:lnSpc>
                  <a:spcPts val="4200"/>
                </a:lnSpc>
              </a:pPr>
              <a:r>
                <a:rPr lang="tr-TR" sz="3300" b="1" dirty="0">
                  <a:solidFill>
                    <a:srgbClr val="12355B"/>
                  </a:solidFill>
                  <a:latin typeface="+mj-lt"/>
                  <a:ea typeface="+mj-ea"/>
                  <a:cs typeface="+mj-cs"/>
                </a:rPr>
                <a:t>Veri Ön İşleme:</a:t>
              </a:r>
              <a:br/>
              <a:r>
                <a:rPr lang="tr-TR" sz="3300" b="1" dirty="0">
                  <a:solidFill>
                    <a:srgbClr val="12355B"/>
                  </a:solidFill>
                  <a:latin typeface="+mj-lt"/>
                  <a:ea typeface="+mj-ea"/>
                  <a:cs typeface="+mj-cs"/>
                </a:rPr>
                <a:t>Eksik Veriler,</a:t>
              </a:r>
              <a:br/>
              <a:r>
                <a:rPr lang="tr-TR" sz="3300" b="1" dirty="0">
                  <a:solidFill>
                    <a:srgbClr val="12355B"/>
                  </a:solidFill>
                  <a:latin typeface="+mj-lt"/>
                  <a:ea typeface="+mj-ea"/>
                  <a:cs typeface="+mj-cs"/>
                </a:rPr>
                <a:t>Aykırı Değerler ve</a:t>
              </a:r>
              <a:br/>
              <a:r>
                <a:rPr lang="tr-TR" sz="3300" b="1" dirty="0">
                  <a:solidFill>
                    <a:srgbClr val="12355B"/>
                  </a:solidFill>
                  <a:latin typeface="+mj-lt"/>
                  <a:ea typeface="+mj-ea"/>
                  <a:cs typeface="+mj-cs"/>
                </a:rPr>
                <a:t>Dönüştürme</a:t>
              </a:r>
            </a:p>
          </p:txBody>
        </p:sp>
      </p:grpSp>
      <p:grpSp>
        <p:nvGrpSpPr>
          <p:cNvPr id="12" name="cover-subtitle"/>
          <p:cNvGrpSpPr/>
          <p:nvPr/>
        </p:nvGrpSpPr>
        <p:grpSpPr>
          <a:xfrm>
            <a:off x="4943094" y="4343400"/>
            <a:ext cx="3976056" cy="842868"/>
            <a:chOff x="4943094" y="4343400"/>
            <a:chExt cx="3976056" cy="842868"/>
          </a:xfrm>
        </p:grpSpPr>
        <p:sp>
          <p:nvSpPr>
            <p:cNvPr id="9" name="Rectangle 9"/>
            <p:cNvSpPr/>
            <p:nvPr/>
          </p:nvSpPr>
          <p:spPr>
            <a:xfrm>
              <a:off x="4953000" y="4343400"/>
              <a:ext cx="1143000" cy="38100"/>
            </a:xfrm>
            <a:prstGeom prst="rect">
              <a:avLst/>
            </a:prstGeom>
            <a:solidFill>
              <a:srgbClr val="00A6A6"/>
            </a:solidFill>
            <a:ln>
              <a:noFill/>
            </a:ln>
          </p:spPr>
        </p:sp>
        <p:sp>
          <p:nvSpPr>
            <p:cNvPr id="10" name="TextBox 10"/>
            <p:cNvSpPr txBox="1"/>
            <p:nvPr/>
          </p:nvSpPr>
          <p:spPr>
            <a:xfrm>
              <a:off x="4943094" y="4475798"/>
              <a:ext cx="3976056"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Veri Madenciliğine Giriş</a:t>
              </a:r>
            </a:p>
          </p:txBody>
        </p:sp>
        <p:sp>
          <p:nvSpPr>
            <p:cNvPr id="11" name="TextBox 11"/>
            <p:cNvSpPr txBox="1"/>
            <p:nvPr/>
          </p:nvSpPr>
          <p:spPr>
            <a:xfrm>
              <a:off x="4944999" y="48782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433577" cy="234696"/>
            <a:chOff x="4946904" y="6233160"/>
            <a:chExt cx="4433577" cy="234696"/>
          </a:xfrm>
        </p:grpSpPr>
        <p:sp>
          <p:nvSpPr>
            <p:cNvPr id="13" name="TextBox 13"/>
            <p:cNvSpPr txBox="1"/>
            <p:nvPr/>
          </p:nvSpPr>
          <p:spPr>
            <a:xfrm>
              <a:off x="4946904" y="6233160"/>
              <a:ext cx="443357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Veri Madenciliği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7" name="roadmap-lead"/>
          <p:cNvGrpSpPr/>
          <p:nvPr/>
        </p:nvGrpSpPr>
        <p:grpSpPr>
          <a:xfrm>
            <a:off x="601599" y="1277779"/>
            <a:ext cx="5202566" cy="308039"/>
            <a:chOff x="601599" y="1277779"/>
            <a:chExt cx="5202566" cy="308039"/>
          </a:xfrm>
        </p:grpSpPr>
        <p:sp>
          <p:nvSpPr>
            <p:cNvPr id="6" name="TextBox 6"/>
            <p:cNvSpPr txBox="1"/>
            <p:nvPr/>
          </p:nvSpPr>
          <p:spPr>
            <a:xfrm>
              <a:off x="601599" y="1277779"/>
              <a:ext cx="520256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Bu bölümü okurken şu beş soruyu aklınızda tutun:</a:t>
              </a:r>
            </a:p>
          </p:txBody>
        </p:sp>
      </p:grpSp>
      <p:grpSp>
        <p:nvGrpSpPr>
          <p:cNvPr id="12" name="roadmap-q1"/>
          <p:cNvGrpSpPr/>
          <p:nvPr/>
        </p:nvGrpSpPr>
        <p:grpSpPr>
          <a:xfrm>
            <a:off x="685800" y="1824990"/>
            <a:ext cx="8566341" cy="618744"/>
            <a:chOff x="685800" y="1824990"/>
            <a:chExt cx="8566341" cy="618744"/>
          </a:xfrm>
        </p:grpSpPr>
        <p:sp>
          <p:nvSpPr>
            <p:cNvPr id="8" name="Ellipse 8"/>
            <p:cNvSpPr/>
            <p:nvPr/>
          </p:nvSpPr>
          <p:spPr>
            <a:xfrm>
              <a:off x="685800" y="1828800"/>
              <a:ext cx="457200" cy="457200"/>
            </a:xfrm>
            <a:prstGeom prst="ellipse">
              <a:avLst/>
            </a:prstGeom>
            <a:solidFill>
              <a:srgbClr val="12355B"/>
            </a:solidFill>
            <a:ln>
              <a:noFill/>
            </a:ln>
          </p:spPr>
        </p:sp>
        <p:sp>
          <p:nvSpPr>
            <p:cNvPr id="9" name="TextBox 9"/>
            <p:cNvSpPr txBox="1"/>
            <p:nvPr/>
          </p:nvSpPr>
          <p:spPr>
            <a:xfrm>
              <a:off x="835287" y="1939290"/>
              <a:ext cx="158225"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1</a:t>
              </a:r>
            </a:p>
          </p:txBody>
        </p:sp>
        <p:sp>
          <p:nvSpPr>
            <p:cNvPr id="10" name="TextBox 10"/>
            <p:cNvSpPr txBox="1"/>
            <p:nvPr/>
          </p:nvSpPr>
          <p:spPr>
            <a:xfrm>
              <a:off x="1362456" y="1824990"/>
              <a:ext cx="788968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Eksik veri rastgele mi yoksa bir örüntüye mi bağlı — bu ayrım hangi</a:t>
              </a:r>
            </a:p>
          </p:txBody>
        </p:sp>
        <p:sp>
          <p:nvSpPr>
            <p:cNvPr id="11" name="TextBox 11"/>
            <p:cNvSpPr txBox="1"/>
            <p:nvPr/>
          </p:nvSpPr>
          <p:spPr>
            <a:xfrm>
              <a:off x="1362456" y="2091690"/>
              <a:ext cx="379841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doldurma stratejisini belirliyor?</a:t>
              </a:r>
            </a:p>
          </p:txBody>
        </p:sp>
      </p:grpSp>
      <p:grpSp>
        <p:nvGrpSpPr>
          <p:cNvPr id="17" name="roadmap-q2"/>
          <p:cNvGrpSpPr/>
          <p:nvPr/>
        </p:nvGrpSpPr>
        <p:grpSpPr>
          <a:xfrm>
            <a:off x="685800" y="2586990"/>
            <a:ext cx="8566825" cy="618744"/>
            <a:chOff x="685800" y="2586990"/>
            <a:chExt cx="8566825" cy="618744"/>
          </a:xfrm>
        </p:grpSpPr>
        <p:sp>
          <p:nvSpPr>
            <p:cNvPr id="13" name="Ellipse 13"/>
            <p:cNvSpPr/>
            <p:nvPr/>
          </p:nvSpPr>
          <p:spPr>
            <a:xfrm>
              <a:off x="685800" y="2590800"/>
              <a:ext cx="457200" cy="457200"/>
            </a:xfrm>
            <a:prstGeom prst="ellipse">
              <a:avLst/>
            </a:prstGeom>
            <a:solidFill>
              <a:srgbClr val="12355B"/>
            </a:solidFill>
            <a:ln>
              <a:noFill/>
            </a:ln>
          </p:spPr>
        </p:sp>
        <p:sp>
          <p:nvSpPr>
            <p:cNvPr id="14" name="TextBox 14"/>
            <p:cNvSpPr txBox="1"/>
            <p:nvPr/>
          </p:nvSpPr>
          <p:spPr>
            <a:xfrm>
              <a:off x="835287" y="2701290"/>
              <a:ext cx="158225"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2</a:t>
              </a:r>
            </a:p>
          </p:txBody>
        </p:sp>
        <p:sp>
          <p:nvSpPr>
            <p:cNvPr id="15" name="TextBox 15"/>
            <p:cNvSpPr txBox="1"/>
            <p:nvPr/>
          </p:nvSpPr>
          <p:spPr>
            <a:xfrm>
              <a:off x="1362456" y="2586990"/>
              <a:ext cx="7890169"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Bir değer ne zaman "aykırı" sayılır — bu kararı veri mi yoksa alan</a:t>
              </a:r>
            </a:p>
          </p:txBody>
        </p:sp>
        <p:sp>
          <p:nvSpPr>
            <p:cNvPr id="16" name="TextBox 16"/>
            <p:cNvSpPr txBox="1"/>
            <p:nvPr/>
          </p:nvSpPr>
          <p:spPr>
            <a:xfrm>
              <a:off x="1362456" y="2853690"/>
              <a:ext cx="2102206"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bilgisi mi vermeli?</a:t>
              </a:r>
            </a:p>
          </p:txBody>
        </p:sp>
      </p:grpSp>
      <p:grpSp>
        <p:nvGrpSpPr>
          <p:cNvPr id="22" name="roadmap-q3"/>
          <p:cNvGrpSpPr/>
          <p:nvPr/>
        </p:nvGrpSpPr>
        <p:grpSpPr>
          <a:xfrm>
            <a:off x="685800" y="3348990"/>
            <a:ext cx="8432501" cy="618744"/>
            <a:chOff x="685800" y="3348990"/>
            <a:chExt cx="8432501" cy="618744"/>
          </a:xfrm>
        </p:grpSpPr>
        <p:sp>
          <p:nvSpPr>
            <p:cNvPr id="18" name="Ellipse 18"/>
            <p:cNvSpPr/>
            <p:nvPr/>
          </p:nvSpPr>
          <p:spPr>
            <a:xfrm>
              <a:off x="685800" y="3352800"/>
              <a:ext cx="457200" cy="457200"/>
            </a:xfrm>
            <a:prstGeom prst="ellipse">
              <a:avLst/>
            </a:prstGeom>
            <a:solidFill>
              <a:srgbClr val="12355B"/>
            </a:solidFill>
            <a:ln>
              <a:noFill/>
            </a:ln>
          </p:spPr>
        </p:sp>
        <p:sp>
          <p:nvSpPr>
            <p:cNvPr id="19" name="TextBox 19"/>
            <p:cNvSpPr txBox="1"/>
            <p:nvPr/>
          </p:nvSpPr>
          <p:spPr>
            <a:xfrm>
              <a:off x="835287" y="3463290"/>
              <a:ext cx="158225"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3</a:t>
              </a:r>
            </a:p>
          </p:txBody>
        </p:sp>
        <p:sp>
          <p:nvSpPr>
            <p:cNvPr id="20" name="TextBox 20"/>
            <p:cNvSpPr txBox="1"/>
            <p:nvPr/>
          </p:nvSpPr>
          <p:spPr>
            <a:xfrm>
              <a:off x="1362456" y="3348990"/>
              <a:ext cx="775584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Sayısal ve kategorik özellikler modele girmeden önce neden farklı</a:t>
              </a:r>
            </a:p>
          </p:txBody>
        </p:sp>
        <p:sp>
          <p:nvSpPr>
            <p:cNvPr id="21" name="TextBox 21"/>
            <p:cNvSpPr txBox="1"/>
            <p:nvPr/>
          </p:nvSpPr>
          <p:spPr>
            <a:xfrm>
              <a:off x="1362456" y="3615690"/>
              <a:ext cx="280492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dönüşümlerden geçmeli?</a:t>
              </a:r>
            </a:p>
          </p:txBody>
        </p:sp>
      </p:grpSp>
      <p:grpSp>
        <p:nvGrpSpPr>
          <p:cNvPr id="27" name="roadmap-q4"/>
          <p:cNvGrpSpPr/>
          <p:nvPr/>
        </p:nvGrpSpPr>
        <p:grpSpPr>
          <a:xfrm>
            <a:off x="685800" y="4110990"/>
            <a:ext cx="8748268" cy="618744"/>
            <a:chOff x="685800" y="4110990"/>
            <a:chExt cx="8748268" cy="618744"/>
          </a:xfrm>
        </p:grpSpPr>
        <p:sp>
          <p:nvSpPr>
            <p:cNvPr id="23" name="Ellipse 23"/>
            <p:cNvSpPr/>
            <p:nvPr/>
          </p:nvSpPr>
          <p:spPr>
            <a:xfrm>
              <a:off x="685800" y="4114800"/>
              <a:ext cx="457200" cy="457200"/>
            </a:xfrm>
            <a:prstGeom prst="ellipse">
              <a:avLst/>
            </a:prstGeom>
            <a:solidFill>
              <a:srgbClr val="12355B"/>
            </a:solidFill>
            <a:ln>
              <a:noFill/>
            </a:ln>
          </p:spPr>
        </p:sp>
        <p:sp>
          <p:nvSpPr>
            <p:cNvPr id="24" name="TextBox 24"/>
            <p:cNvSpPr txBox="1"/>
            <p:nvPr/>
          </p:nvSpPr>
          <p:spPr>
            <a:xfrm>
              <a:off x="835287" y="4225290"/>
              <a:ext cx="158225"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4</a:t>
              </a:r>
            </a:p>
          </p:txBody>
        </p:sp>
        <p:sp>
          <p:nvSpPr>
            <p:cNvPr id="25" name="TextBox 25"/>
            <p:cNvSpPr txBox="1"/>
            <p:nvPr/>
          </p:nvSpPr>
          <p:spPr>
            <a:xfrm>
              <a:off x="1362456" y="4110990"/>
              <a:ext cx="8071612"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Eğitim-test ayrımını ön işlemeden önce mi sonra mı yapmalısınız —</a:t>
              </a:r>
            </a:p>
          </p:txBody>
        </p:sp>
        <p:sp>
          <p:nvSpPr>
            <p:cNvPr id="26" name="TextBox 26"/>
            <p:cNvSpPr txBox="1"/>
            <p:nvPr/>
          </p:nvSpPr>
          <p:spPr>
            <a:xfrm>
              <a:off x="1362456" y="4377690"/>
              <a:ext cx="519173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sırayı yanlış kurarsanız ne kaybedersiniz?</a:t>
              </a:r>
            </a:p>
          </p:txBody>
        </p:sp>
      </p:grpSp>
      <p:grpSp>
        <p:nvGrpSpPr>
          <p:cNvPr id="32" name="roadmap-q5"/>
          <p:cNvGrpSpPr/>
          <p:nvPr/>
        </p:nvGrpSpPr>
        <p:grpSpPr>
          <a:xfrm>
            <a:off x="685800" y="4872990"/>
            <a:ext cx="8929601" cy="618744"/>
            <a:chOff x="685800" y="4872990"/>
            <a:chExt cx="8929601" cy="618744"/>
          </a:xfrm>
        </p:grpSpPr>
        <p:sp>
          <p:nvSpPr>
            <p:cNvPr id="28" name="Ellipse 28"/>
            <p:cNvSpPr/>
            <p:nvPr/>
          </p:nvSpPr>
          <p:spPr>
            <a:xfrm>
              <a:off x="685800" y="4876800"/>
              <a:ext cx="457200" cy="457200"/>
            </a:xfrm>
            <a:prstGeom prst="ellipse">
              <a:avLst/>
            </a:prstGeom>
            <a:solidFill>
              <a:srgbClr val="12355B"/>
            </a:solidFill>
            <a:ln>
              <a:noFill/>
            </a:ln>
          </p:spPr>
        </p:sp>
        <p:sp>
          <p:nvSpPr>
            <p:cNvPr id="29" name="TextBox 29"/>
            <p:cNvSpPr txBox="1"/>
            <p:nvPr/>
          </p:nvSpPr>
          <p:spPr>
            <a:xfrm>
              <a:off x="835287" y="4987290"/>
              <a:ext cx="158225"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5</a:t>
              </a:r>
            </a:p>
          </p:txBody>
        </p:sp>
        <p:sp>
          <p:nvSpPr>
            <p:cNvPr id="30" name="TextBox 30"/>
            <p:cNvSpPr txBox="1"/>
            <p:nvPr/>
          </p:nvSpPr>
          <p:spPr>
            <a:xfrm>
              <a:off x="1362456" y="4872990"/>
              <a:ext cx="8252945"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Pipeline nesnesi, elle yazılmış adım adım kod karşısında hangi somut</a:t>
              </a:r>
            </a:p>
          </p:txBody>
        </p:sp>
        <p:sp>
          <p:nvSpPr>
            <p:cNvPr id="31" name="TextBox 31"/>
            <p:cNvSpPr txBox="1"/>
            <p:nvPr/>
          </p:nvSpPr>
          <p:spPr>
            <a:xfrm>
              <a:off x="1362456" y="5139690"/>
              <a:ext cx="304723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riski ortadan kaldırıyor?</a:t>
              </a:r>
            </a:p>
          </p:txBody>
        </p:sp>
      </p:grpSp>
      <p:grpSp>
        <p:nvGrpSpPr>
          <p:cNvPr id="36" name="roadmap-goal"/>
          <p:cNvGrpSpPr/>
          <p:nvPr/>
        </p:nvGrpSpPr>
        <p:grpSpPr>
          <a:xfrm>
            <a:off x="609600" y="5638800"/>
            <a:ext cx="10972800" cy="914400"/>
            <a:chOff x="609600" y="5638800"/>
            <a:chExt cx="10972800" cy="914400"/>
          </a:xfrm>
        </p:grpSpPr>
        <p:sp>
          <p:nvSpPr>
            <p:cNvPr id="33" name="Rectangle 33"/>
            <p:cNvSpPr/>
            <p:nvPr/>
          </p:nvSpPr>
          <p:spPr>
            <a:xfrm>
              <a:off x="609600" y="5638800"/>
              <a:ext cx="10972800" cy="914400"/>
            </a:xfrm>
            <a:prstGeom prst="roundRect">
              <a:avLst>
                <a:gd name="adj" fmla="val 10417"/>
              </a:avLst>
            </a:prstGeom>
            <a:solidFill>
              <a:srgbClr val="EAF4F6"/>
            </a:solidFill>
            <a:ln>
              <a:noFill/>
            </a:ln>
          </p:spPr>
        </p:sp>
        <p:sp>
          <p:nvSpPr>
            <p:cNvPr id="34" name="TextBox 34"/>
            <p:cNvSpPr txBox="1"/>
            <p:nvPr/>
          </p:nvSpPr>
          <p:spPr>
            <a:xfrm>
              <a:off x="906399" y="5811679"/>
              <a:ext cx="1005949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 Ham bir telekomünikasyon müşteri kaybı (churn) veri kümesini eksik değer,</a:t>
              </a:r>
            </a:p>
          </p:txBody>
        </p:sp>
        <p:sp>
          <p:nvSpPr>
            <p:cNvPr id="35" name="TextBox 35"/>
            <p:cNvSpPr txBox="1"/>
            <p:nvPr/>
          </p:nvSpPr>
          <p:spPr>
            <a:xfrm>
              <a:off x="906399" y="6078379"/>
              <a:ext cx="9796464"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aykırı değer, ölçekleme ve kodlama adımlarından sızıntısız tek bir Pipeline ile geçirebilmek.</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8104135" cy="668845"/>
            <a:chOff x="609600" y="171450"/>
            <a:chExt cx="8104135"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12" name="objective-1"/>
          <p:cNvGrpSpPr/>
          <p:nvPr/>
        </p:nvGrpSpPr>
        <p:grpSpPr>
          <a:xfrm>
            <a:off x="685800" y="1276350"/>
            <a:ext cx="8381685" cy="633984"/>
            <a:chOff x="685800" y="1276350"/>
            <a:chExt cx="8381685" cy="633984"/>
          </a:xfrm>
        </p:grpSpPr>
        <p:sp>
          <p:nvSpPr>
            <p:cNvPr id="9" name="Rectangle 9"/>
            <p:cNvSpPr/>
            <p:nvPr/>
          </p:nvSpPr>
          <p:spPr>
            <a:xfrm>
              <a:off x="685800" y="1276350"/>
              <a:ext cx="57150" cy="514350"/>
            </a:xfrm>
            <a:prstGeom prst="rect">
              <a:avLst/>
            </a:prstGeom>
            <a:solidFill>
              <a:srgbClr val="00A6A6"/>
            </a:solidFill>
            <a:ln>
              <a:noFill/>
            </a:ln>
          </p:spPr>
        </p:sp>
        <p:sp>
          <p:nvSpPr>
            <p:cNvPr id="10" name="TextBox 10"/>
            <p:cNvSpPr txBox="1"/>
            <p:nvPr/>
          </p:nvSpPr>
          <p:spPr>
            <a:xfrm>
              <a:off x="981456" y="1291590"/>
              <a:ext cx="808602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Eksik veriyi MCAR/MAR/MNAR ayrımına göre sınıflandırıp uygun</a:t>
              </a:r>
            </a:p>
          </p:txBody>
        </p:sp>
        <p:sp>
          <p:nvSpPr>
            <p:cNvPr id="11" name="TextBox 11"/>
            <p:cNvSpPr txBox="1"/>
            <p:nvPr/>
          </p:nvSpPr>
          <p:spPr>
            <a:xfrm>
              <a:off x="981456" y="1558290"/>
              <a:ext cx="359305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imputation stratejisi seçmek</a:t>
              </a:r>
            </a:p>
          </p:txBody>
        </p:sp>
      </p:grpSp>
      <p:grpSp>
        <p:nvGrpSpPr>
          <p:cNvPr id="16" name="objective-2"/>
          <p:cNvGrpSpPr/>
          <p:nvPr/>
        </p:nvGrpSpPr>
        <p:grpSpPr>
          <a:xfrm>
            <a:off x="685800" y="2000250"/>
            <a:ext cx="8212921" cy="633984"/>
            <a:chOff x="685800" y="2000250"/>
            <a:chExt cx="8212921" cy="633984"/>
          </a:xfrm>
        </p:grpSpPr>
        <p:sp>
          <p:nvSpPr>
            <p:cNvPr id="13" name="Rectangle 13"/>
            <p:cNvSpPr/>
            <p:nvPr/>
          </p:nvSpPr>
          <p:spPr>
            <a:xfrm>
              <a:off x="685800" y="2000250"/>
              <a:ext cx="57150" cy="514350"/>
            </a:xfrm>
            <a:prstGeom prst="rect">
              <a:avLst/>
            </a:prstGeom>
            <a:solidFill>
              <a:srgbClr val="00A6A6"/>
            </a:solidFill>
            <a:ln>
              <a:noFill/>
            </a:ln>
          </p:spPr>
        </p:sp>
        <p:sp>
          <p:nvSpPr>
            <p:cNvPr id="14" name="TextBox 14"/>
            <p:cNvSpPr txBox="1"/>
            <p:nvPr/>
          </p:nvSpPr>
          <p:spPr>
            <a:xfrm>
              <a:off x="981456" y="2015490"/>
              <a:ext cx="791726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IQR yöntemiyle aykırı değerleri tespit edip silme yerine kırpma</a:t>
              </a:r>
            </a:p>
          </p:txBody>
        </p:sp>
        <p:sp>
          <p:nvSpPr>
            <p:cNvPr id="15" name="TextBox 15"/>
            <p:cNvSpPr txBox="1"/>
            <p:nvPr/>
          </p:nvSpPr>
          <p:spPr>
            <a:xfrm>
              <a:off x="981456" y="2282190"/>
              <a:ext cx="681161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(clipping) gibi daha güvenli bir müdahaleyi tercih etmek</a:t>
              </a:r>
            </a:p>
          </p:txBody>
        </p:sp>
      </p:grpSp>
      <p:grpSp>
        <p:nvGrpSpPr>
          <p:cNvPr id="20" name="objective-3"/>
          <p:cNvGrpSpPr/>
          <p:nvPr/>
        </p:nvGrpSpPr>
        <p:grpSpPr>
          <a:xfrm>
            <a:off x="685800" y="2724150"/>
            <a:ext cx="7231562" cy="633984"/>
            <a:chOff x="685800" y="2724150"/>
            <a:chExt cx="7231562" cy="633984"/>
          </a:xfrm>
        </p:grpSpPr>
        <p:sp>
          <p:nvSpPr>
            <p:cNvPr id="17" name="Rectangle 17"/>
            <p:cNvSpPr/>
            <p:nvPr/>
          </p:nvSpPr>
          <p:spPr>
            <a:xfrm>
              <a:off x="685800" y="2724150"/>
              <a:ext cx="57150" cy="514350"/>
            </a:xfrm>
            <a:prstGeom prst="rect">
              <a:avLst/>
            </a:prstGeom>
            <a:solidFill>
              <a:srgbClr val="00A6A6"/>
            </a:solidFill>
            <a:ln>
              <a:noFill/>
            </a:ln>
          </p:spPr>
        </p:sp>
        <p:sp>
          <p:nvSpPr>
            <p:cNvPr id="18" name="TextBox 18"/>
            <p:cNvSpPr txBox="1"/>
            <p:nvPr/>
          </p:nvSpPr>
          <p:spPr>
            <a:xfrm>
              <a:off x="981456" y="2739390"/>
              <a:ext cx="693590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Sayısal özellikleri StandardScaler, kategorik özellikleri</a:t>
              </a:r>
            </a:p>
          </p:txBody>
        </p:sp>
        <p:sp>
          <p:nvSpPr>
            <p:cNvPr id="19" name="TextBox 19"/>
            <p:cNvSpPr txBox="1"/>
            <p:nvPr/>
          </p:nvSpPr>
          <p:spPr>
            <a:xfrm>
              <a:off x="981456" y="3006090"/>
              <a:ext cx="5640801"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OneHotEncoder ile model-hazır hâle getirmek</a:t>
              </a:r>
            </a:p>
          </p:txBody>
        </p:sp>
      </p:grpSp>
      <p:grpSp>
        <p:nvGrpSpPr>
          <p:cNvPr id="24" name="objective-4"/>
          <p:cNvGrpSpPr/>
          <p:nvPr/>
        </p:nvGrpSpPr>
        <p:grpSpPr>
          <a:xfrm>
            <a:off x="685800" y="3448050"/>
            <a:ext cx="8527814" cy="633984"/>
            <a:chOff x="685800" y="3448050"/>
            <a:chExt cx="8527814" cy="633984"/>
          </a:xfrm>
        </p:grpSpPr>
        <p:sp>
          <p:nvSpPr>
            <p:cNvPr id="21" name="Rectangle 21"/>
            <p:cNvSpPr/>
            <p:nvPr/>
          </p:nvSpPr>
          <p:spPr>
            <a:xfrm>
              <a:off x="685800" y="3448050"/>
              <a:ext cx="57150" cy="514350"/>
            </a:xfrm>
            <a:prstGeom prst="rect">
              <a:avLst/>
            </a:prstGeom>
            <a:solidFill>
              <a:srgbClr val="00A6A6"/>
            </a:solidFill>
            <a:ln>
              <a:noFill/>
            </a:ln>
          </p:spPr>
        </p:sp>
        <p:sp>
          <p:nvSpPr>
            <p:cNvPr id="22" name="TextBox 22"/>
            <p:cNvSpPr txBox="1"/>
            <p:nvPr/>
          </p:nvSpPr>
          <p:spPr>
            <a:xfrm>
              <a:off x="981456" y="3463290"/>
              <a:ext cx="823215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Eğitim-test ayrımını ön işlemeden önce yaparak veri sızıntısını</a:t>
              </a:r>
            </a:p>
          </p:txBody>
        </p:sp>
        <p:sp>
          <p:nvSpPr>
            <p:cNvPr id="23" name="TextBox 23"/>
            <p:cNvSpPr txBox="1"/>
            <p:nvPr/>
          </p:nvSpPr>
          <p:spPr>
            <a:xfrm>
              <a:off x="981456" y="3729990"/>
              <a:ext cx="318596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yapısal olarak engellemek</a:t>
              </a:r>
            </a:p>
          </p:txBody>
        </p:sp>
      </p:grpSp>
      <p:grpSp>
        <p:nvGrpSpPr>
          <p:cNvPr id="28" name="objective-5"/>
          <p:cNvGrpSpPr/>
          <p:nvPr/>
        </p:nvGrpSpPr>
        <p:grpSpPr>
          <a:xfrm>
            <a:off x="685800" y="4171950"/>
            <a:ext cx="7831910" cy="633984"/>
            <a:chOff x="685800" y="4171950"/>
            <a:chExt cx="7831910" cy="633984"/>
          </a:xfrm>
        </p:grpSpPr>
        <p:sp>
          <p:nvSpPr>
            <p:cNvPr id="25" name="Rectangle 25"/>
            <p:cNvSpPr/>
            <p:nvPr/>
          </p:nvSpPr>
          <p:spPr>
            <a:xfrm>
              <a:off x="685800" y="4171950"/>
              <a:ext cx="57150" cy="514350"/>
            </a:xfrm>
            <a:prstGeom prst="rect">
              <a:avLst/>
            </a:prstGeom>
            <a:solidFill>
              <a:srgbClr val="00A6A6"/>
            </a:solidFill>
            <a:ln>
              <a:noFill/>
            </a:ln>
          </p:spPr>
        </p:sp>
        <p:sp>
          <p:nvSpPr>
            <p:cNvPr id="26" name="TextBox 26"/>
            <p:cNvSpPr txBox="1"/>
            <p:nvPr/>
          </p:nvSpPr>
          <p:spPr>
            <a:xfrm>
              <a:off x="981456" y="4187190"/>
              <a:ext cx="753625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ColumnTransformer ve Pipeline kullanarak tüm adımları tek,</a:t>
              </a:r>
            </a:p>
          </p:txBody>
        </p:sp>
        <p:sp>
          <p:nvSpPr>
            <p:cNvPr id="27" name="TextBox 27"/>
            <p:cNvSpPr txBox="1"/>
            <p:nvPr/>
          </p:nvSpPr>
          <p:spPr>
            <a:xfrm>
              <a:off x="981456" y="4453890"/>
              <a:ext cx="679889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tekrarlanabilir ve sızıntısız bir nesnede birleştirmek</a:t>
              </a:r>
            </a:p>
          </p:txBody>
        </p:sp>
      </p:grpSp>
      <p:grpSp>
        <p:nvGrpSpPr>
          <p:cNvPr id="33" name="objective-success"/>
          <p:cNvGrpSpPr/>
          <p:nvPr/>
        </p:nvGrpSpPr>
        <p:grpSpPr>
          <a:xfrm>
            <a:off x="609600" y="4914900"/>
            <a:ext cx="10972800" cy="1428750"/>
            <a:chOff x="609600" y="4914900"/>
            <a:chExt cx="10972800" cy="1428750"/>
          </a:xfrm>
        </p:grpSpPr>
        <p:sp>
          <p:nvSpPr>
            <p:cNvPr id="29" name="Rectangle 29"/>
            <p:cNvSpPr/>
            <p:nvPr/>
          </p:nvSpPr>
          <p:spPr>
            <a:xfrm>
              <a:off x="609600" y="4914900"/>
              <a:ext cx="10972800" cy="1428750"/>
            </a:xfrm>
            <a:prstGeom prst="roundRect">
              <a:avLst>
                <a:gd name="adj" fmla="val 6667"/>
              </a:avLst>
            </a:prstGeom>
            <a:solidFill>
              <a:srgbClr val="EAF4F6"/>
            </a:solidFill>
            <a:ln>
              <a:noFill/>
            </a:ln>
          </p:spPr>
        </p:sp>
        <p:sp>
          <p:nvSpPr>
            <p:cNvPr id="30" name="TextBox 30"/>
            <p:cNvSpPr txBox="1"/>
            <p:nvPr/>
          </p:nvSpPr>
          <p:spPr>
            <a:xfrm>
              <a:off x="906399" y="5087779"/>
              <a:ext cx="884485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Başarı ölçütü: fit'i yalnızca eğitim verisinde çağırarak veriyi dönüştürebiliyor,</a:t>
              </a:r>
            </a:p>
          </p:txBody>
        </p:sp>
        <p:sp>
          <p:nvSpPr>
            <p:cNvPr id="31" name="TextBox 31"/>
            <p:cNvSpPr txBox="1"/>
            <p:nvPr/>
          </p:nvSpPr>
          <p:spPr>
            <a:xfrm>
              <a:off x="906399" y="5354479"/>
              <a:ext cx="8002872"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veri sızıntısının nerede oluşabileceğini gösterebiliyor ve tüm süreci tek bir</a:t>
              </a:r>
            </a:p>
          </p:txBody>
        </p:sp>
        <p:sp>
          <p:nvSpPr>
            <p:cNvPr id="32" name="TextBox 32"/>
            <p:cNvSpPr txBox="1"/>
            <p:nvPr/>
          </p:nvSpPr>
          <p:spPr>
            <a:xfrm>
              <a:off x="906399" y="5621179"/>
              <a:ext cx="839231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Pipeline nesnesinde toplayabiliyorsanız bu bölümün hedeflerine ulaşmışsınızdır.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8024677" cy="668845"/>
            <a:chOff x="609600" y="171450"/>
            <a:chExt cx="8024677"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33430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dönüşüm</a:t>
              </a:r>
            </a:p>
          </p:txBody>
        </p:sp>
      </p:grpSp>
      <p:grpSp>
        <p:nvGrpSpPr>
          <p:cNvPr id="54" name="concept-map"/>
          <p:cNvGrpSpPr/>
          <p:nvPr/>
        </p:nvGrpSpPr>
        <p:grpSpPr>
          <a:xfrm>
            <a:off x="685800" y="1123950"/>
            <a:ext cx="10896600" cy="4705350"/>
            <a:chOff x="685800" y="1123950"/>
            <a:chExt cx="10896600" cy="4705350"/>
          </a:xfrm>
        </p:grpSpPr>
        <p:grpSp>
          <p:nvGrpSpPr>
            <p:cNvPr id="20" name="Group 20"/>
            <p:cNvGrpSpPr/>
            <p:nvPr/>
          </p:nvGrpSpPr>
          <p:grpSpPr>
            <a:xfrm>
              <a:off x="3352800" y="1428750"/>
              <a:ext cx="4724401" cy="3676650"/>
              <a:chOff x="3352800" y="1428750"/>
              <a:chExt cx="4724401" cy="3676650"/>
            </a:xfrm>
          </p:grpSpPr>
          <p:sp>
            <p:nvSpPr>
              <p:cNvPr id="14" name="Line 14"/>
              <p:cNvSpPr/>
              <p:nvPr/>
            </p:nvSpPr>
            <p:spPr>
              <a:xfrm flipV="1">
                <a:off x="3352800" y="1428750"/>
                <a:ext cx="1219200" cy="800100"/>
              </a:xfrm>
              <a:prstGeom prst="line">
                <a:avLst/>
              </a:prstGeom>
              <a:noFill/>
              <a:ln w="23812">
                <a:solidFill>
                  <a:srgbClr val="00A6A6"/>
                </a:solidFill>
                <a:tailEnd type="arrow" w="lg" len="lg"/>
              </a:ln>
            </p:spPr>
          </p:sp>
          <p:sp>
            <p:nvSpPr>
              <p:cNvPr id="15" name="Line 15"/>
              <p:cNvSpPr/>
              <p:nvPr/>
            </p:nvSpPr>
            <p:spPr>
              <a:xfrm flipV="1">
                <a:off x="3352800" y="2171700"/>
                <a:ext cx="1219200" cy="342900"/>
              </a:xfrm>
              <a:prstGeom prst="line">
                <a:avLst/>
              </a:prstGeom>
              <a:noFill/>
              <a:ln w="23812">
                <a:solidFill>
                  <a:srgbClr val="00A6A6"/>
                </a:solidFill>
                <a:tailEnd type="arrow" w="lg" len="lg"/>
              </a:ln>
            </p:spPr>
          </p:sp>
          <p:sp>
            <p:nvSpPr>
              <p:cNvPr id="16" name="Line 16"/>
              <p:cNvSpPr/>
              <p:nvPr/>
            </p:nvSpPr>
            <p:spPr>
              <a:xfrm>
                <a:off x="3352800" y="2800350"/>
                <a:ext cx="1219200" cy="114300"/>
              </a:xfrm>
              <a:prstGeom prst="line">
                <a:avLst/>
              </a:prstGeom>
              <a:noFill/>
              <a:ln w="23812">
                <a:solidFill>
                  <a:srgbClr val="00A6A6"/>
                </a:solidFill>
                <a:tailEnd type="arrow" w="lg" len="lg"/>
              </a:ln>
            </p:spPr>
          </p:sp>
          <p:sp>
            <p:nvSpPr>
              <p:cNvPr id="17" name="Line 17"/>
              <p:cNvSpPr/>
              <p:nvPr/>
            </p:nvSpPr>
            <p:spPr>
              <a:xfrm>
                <a:off x="3352800" y="3086100"/>
                <a:ext cx="1219200" cy="571500"/>
              </a:xfrm>
              <a:prstGeom prst="line">
                <a:avLst/>
              </a:prstGeom>
              <a:noFill/>
              <a:ln w="23812">
                <a:solidFill>
                  <a:srgbClr val="00A6A6"/>
                </a:solidFill>
                <a:tailEnd type="arrow" w="lg" len="lg"/>
              </a:ln>
            </p:spPr>
          </p:sp>
          <p:sp>
            <p:nvSpPr>
              <p:cNvPr id="18" name="Line 18"/>
              <p:cNvSpPr/>
              <p:nvPr/>
            </p:nvSpPr>
            <p:spPr>
              <a:xfrm>
                <a:off x="3352800" y="3371850"/>
                <a:ext cx="1219200" cy="1028700"/>
              </a:xfrm>
              <a:prstGeom prst="line">
                <a:avLst/>
              </a:prstGeom>
              <a:noFill/>
              <a:ln w="23812">
                <a:solidFill>
                  <a:srgbClr val="00A6A6"/>
                </a:solidFill>
                <a:tailEnd type="arrow" w="lg" len="lg"/>
              </a:ln>
            </p:spPr>
          </p:sp>
          <p:sp>
            <p:nvSpPr>
              <p:cNvPr id="19" name="Line 19"/>
              <p:cNvSpPr/>
              <p:nvPr/>
            </p:nvSpPr>
            <p:spPr>
              <a:xfrm>
                <a:off x="8077200" y="4781550"/>
                <a:ext cx="1" cy="323850"/>
              </a:xfrm>
              <a:prstGeom prst="line">
                <a:avLst/>
              </a:prstGeom>
              <a:noFill/>
              <a:ln w="19050">
                <a:solidFill>
                  <a:srgbClr val="52616B"/>
                </a:solidFill>
                <a:custDash>
                  <a:ds d="300000" sp="200000"/>
                </a:custDash>
                <a:tailEnd type="arrow" w="lg" len="lg"/>
              </a:ln>
            </p:spPr>
          </p:sp>
        </p:grpSp>
        <p:grpSp>
          <p:nvGrpSpPr>
            <p:cNvPr id="24" name="map-hub"/>
            <p:cNvGrpSpPr/>
            <p:nvPr/>
          </p:nvGrpSpPr>
          <p:grpSpPr>
            <a:xfrm>
              <a:off x="685800" y="2133600"/>
              <a:ext cx="2667000" cy="1933956"/>
              <a:chOff x="685800" y="2133600"/>
              <a:chExt cx="2667000" cy="1933956"/>
            </a:xfrm>
          </p:grpSpPr>
          <p:sp>
            <p:nvSpPr>
              <p:cNvPr id="21" name="Rectangle 21"/>
              <p:cNvSpPr/>
              <p:nvPr/>
            </p:nvSpPr>
            <p:spPr>
              <a:xfrm>
                <a:off x="685800" y="2133600"/>
                <a:ext cx="2667000" cy="1905000"/>
              </a:xfrm>
              <a:prstGeom prst="roundRect">
                <a:avLst>
                  <a:gd name="adj" fmla="val 5000"/>
                </a:avLst>
              </a:prstGeom>
              <a:solidFill>
                <a:srgbClr val="12355B"/>
              </a:solidFill>
              <a:ln>
                <a:noFill/>
              </a:ln>
            </p:spPr>
          </p:sp>
          <p:sp>
            <p:nvSpPr>
              <p:cNvPr id="22" name="TextBox 22"/>
              <p:cNvSpPr txBox="1"/>
              <p:nvPr/>
            </p:nvSpPr>
            <p:spPr>
              <a:xfrm>
                <a:off x="941832" y="2478405"/>
                <a:ext cx="959453" cy="753618"/>
              </a:xfrm>
              <a:prstGeom prst="rect">
                <a:avLst/>
              </a:prstGeom>
              <a:noFill/>
              <a:ln>
                <a:noFill/>
              </a:ln>
            </p:spPr>
            <p:txBody>
              <a:bodyPr wrap="none" lIns="0" tIns="0" rIns="0" bIns="0" anchor="t" anchorCtr="0">
                <a:spAutoFit/>
              </a:bodyPr>
              <a:lstStyle/>
              <a:p>
                <a:pPr algn="l">
                  <a:lnSpc>
                    <a:spcPts val="2700"/>
                  </a:lnSpc>
                </a:pPr>
                <a:r>
                  <a:rPr lang="tr-TR" sz="2100" b="1" dirty="0">
                    <a:solidFill>
                      <a:srgbClr val="FFFFFF"/>
                    </a:solidFill>
                    <a:latin typeface="+mn-lt"/>
                    <a:ea typeface="+mn-ea"/>
                    <a:cs typeface="+mn-cs"/>
                  </a:rPr>
                  <a:t>Veri Ön</a:t>
                </a:r>
                <a:br/>
                <a:r>
                  <a:rPr lang="tr-TR" sz="2100" b="1" dirty="0">
                    <a:solidFill>
                      <a:srgbClr val="FFFFFF"/>
                    </a:solidFill>
                    <a:latin typeface="+mn-lt"/>
                    <a:ea typeface="+mn-ea"/>
                    <a:cs typeface="+mn-cs"/>
                  </a:rPr>
                  <a:t>İşleme</a:t>
                </a:r>
              </a:p>
            </p:txBody>
          </p:sp>
          <p:sp>
            <p:nvSpPr>
              <p:cNvPr id="23" name="TextBox 23"/>
              <p:cNvSpPr txBox="1"/>
              <p:nvPr/>
            </p:nvSpPr>
            <p:spPr>
              <a:xfrm>
                <a:off x="946404" y="3451860"/>
                <a:ext cx="13685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EAF4F6"/>
                    </a:solidFill>
                    <a:latin typeface="+mn-lt"/>
                    <a:ea typeface="+mn-ea"/>
                    <a:cs typeface="+mn-cs"/>
                  </a:rPr>
                  <a:t>Ham veriyi model-</a:t>
                </a:r>
                <a:br/>
                <a:r>
                  <a:rPr lang="tr-TR" sz="1200" dirty="0">
                    <a:solidFill>
                      <a:srgbClr val="EAF4F6"/>
                    </a:solidFill>
                    <a:latin typeface="+mn-lt"/>
                    <a:ea typeface="+mn-ea"/>
                    <a:cs typeface="+mn-cs"/>
                  </a:rPr>
                  <a:t>hazır hâle getiren</a:t>
                </a:r>
                <a:br/>
                <a:r>
                  <a:rPr lang="tr-TR" sz="1200" dirty="0">
                    <a:solidFill>
                      <a:srgbClr val="EAF4F6"/>
                    </a:solidFill>
                    <a:latin typeface="+mn-lt"/>
                    <a:ea typeface="+mn-ea"/>
                    <a:cs typeface="+mn-cs"/>
                  </a:rPr>
                  <a:t>beş dönüşüm</a:t>
                </a:r>
              </a:p>
            </p:txBody>
          </p:sp>
        </p:grpSp>
        <p:grpSp>
          <p:nvGrpSpPr>
            <p:cNvPr id="28" name="map-node-eksik"/>
            <p:cNvGrpSpPr/>
            <p:nvPr/>
          </p:nvGrpSpPr>
          <p:grpSpPr>
            <a:xfrm>
              <a:off x="4572000" y="1123950"/>
              <a:ext cx="3810000" cy="666750"/>
              <a:chOff x="4572000" y="1123950"/>
              <a:chExt cx="3810000" cy="666750"/>
            </a:xfrm>
          </p:grpSpPr>
          <p:sp>
            <p:nvSpPr>
              <p:cNvPr id="25" name="Rectangle 25"/>
              <p:cNvSpPr/>
              <p:nvPr/>
            </p:nvSpPr>
            <p:spPr>
              <a:xfrm>
                <a:off x="4572000" y="1123950"/>
                <a:ext cx="3810000" cy="666750"/>
              </a:xfrm>
              <a:prstGeom prst="roundRect">
                <a:avLst>
                  <a:gd name="adj" fmla="val 14286"/>
                </a:avLst>
              </a:prstGeom>
              <a:solidFill>
                <a:srgbClr val="FFFFFF"/>
              </a:solidFill>
              <a:ln w="14288">
                <a:solidFill>
                  <a:srgbClr val="2E86AB"/>
                </a:solidFill>
              </a:ln>
            </p:spPr>
          </p:sp>
          <p:sp>
            <p:nvSpPr>
              <p:cNvPr id="26" name="TextBox 26"/>
              <p:cNvSpPr txBox="1"/>
              <p:nvPr/>
            </p:nvSpPr>
            <p:spPr>
              <a:xfrm>
                <a:off x="4792218" y="1250632"/>
                <a:ext cx="1131570"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Eksik veri</a:t>
                </a:r>
              </a:p>
            </p:txBody>
          </p:sp>
          <p:sp>
            <p:nvSpPr>
              <p:cNvPr id="27" name="TextBox 27"/>
              <p:cNvSpPr txBox="1"/>
              <p:nvPr/>
            </p:nvSpPr>
            <p:spPr>
              <a:xfrm>
                <a:off x="4794504" y="1527810"/>
                <a:ext cx="262619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MCAR/MAR/MNAR — SimpleImputer</a:t>
                </a:r>
              </a:p>
            </p:txBody>
          </p:sp>
        </p:grpSp>
        <p:grpSp>
          <p:nvGrpSpPr>
            <p:cNvPr id="32" name="map-node-aykiri"/>
            <p:cNvGrpSpPr/>
            <p:nvPr/>
          </p:nvGrpSpPr>
          <p:grpSpPr>
            <a:xfrm>
              <a:off x="4572000" y="1866900"/>
              <a:ext cx="3810000" cy="666750"/>
              <a:chOff x="4572000" y="1866900"/>
              <a:chExt cx="3810000" cy="666750"/>
            </a:xfrm>
          </p:grpSpPr>
          <p:sp>
            <p:nvSpPr>
              <p:cNvPr id="29" name="Rectangle 29"/>
              <p:cNvSpPr/>
              <p:nvPr/>
            </p:nvSpPr>
            <p:spPr>
              <a:xfrm>
                <a:off x="4572000" y="1866900"/>
                <a:ext cx="3810000" cy="666750"/>
              </a:xfrm>
              <a:prstGeom prst="roundRect">
                <a:avLst>
                  <a:gd name="adj" fmla="val 14286"/>
                </a:avLst>
              </a:prstGeom>
              <a:solidFill>
                <a:srgbClr val="FFFFFF"/>
              </a:solidFill>
              <a:ln w="14288">
                <a:solidFill>
                  <a:srgbClr val="2E86AB"/>
                </a:solidFill>
              </a:ln>
            </p:spPr>
          </p:sp>
          <p:sp>
            <p:nvSpPr>
              <p:cNvPr id="30" name="TextBox 30"/>
              <p:cNvSpPr txBox="1"/>
              <p:nvPr/>
            </p:nvSpPr>
            <p:spPr>
              <a:xfrm>
                <a:off x="4792218" y="1993582"/>
                <a:ext cx="1505390"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Aykırı değer</a:t>
                </a:r>
              </a:p>
            </p:txBody>
          </p:sp>
          <p:sp>
            <p:nvSpPr>
              <p:cNvPr id="31" name="TextBox 31"/>
              <p:cNvSpPr txBox="1"/>
              <p:nvPr/>
            </p:nvSpPr>
            <p:spPr>
              <a:xfrm>
                <a:off x="4794504" y="2270760"/>
                <a:ext cx="212956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IQR (1.5 × kural) — kırpma</a:t>
                </a:r>
              </a:p>
            </p:txBody>
          </p:sp>
        </p:grpSp>
        <p:grpSp>
          <p:nvGrpSpPr>
            <p:cNvPr id="36" name="map-node-olcekleme"/>
            <p:cNvGrpSpPr/>
            <p:nvPr/>
          </p:nvGrpSpPr>
          <p:grpSpPr>
            <a:xfrm>
              <a:off x="4572000" y="2609850"/>
              <a:ext cx="3810000" cy="666750"/>
              <a:chOff x="4572000" y="2609850"/>
              <a:chExt cx="3810000" cy="666750"/>
            </a:xfrm>
          </p:grpSpPr>
          <p:sp>
            <p:nvSpPr>
              <p:cNvPr id="33" name="Rectangle 33"/>
              <p:cNvSpPr/>
              <p:nvPr/>
            </p:nvSpPr>
            <p:spPr>
              <a:xfrm>
                <a:off x="4572000" y="2609850"/>
                <a:ext cx="3810000" cy="666750"/>
              </a:xfrm>
              <a:prstGeom prst="roundRect">
                <a:avLst>
                  <a:gd name="adj" fmla="val 14286"/>
                </a:avLst>
              </a:prstGeom>
              <a:solidFill>
                <a:srgbClr val="FFFFFF"/>
              </a:solidFill>
              <a:ln w="14288">
                <a:solidFill>
                  <a:srgbClr val="2E86AB"/>
                </a:solidFill>
              </a:ln>
            </p:spPr>
          </p:sp>
          <p:sp>
            <p:nvSpPr>
              <p:cNvPr id="34" name="TextBox 34"/>
              <p:cNvSpPr txBox="1"/>
              <p:nvPr/>
            </p:nvSpPr>
            <p:spPr>
              <a:xfrm>
                <a:off x="4792218" y="2736532"/>
                <a:ext cx="1108100"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Ölçekleme</a:t>
                </a:r>
              </a:p>
            </p:txBody>
          </p:sp>
          <p:sp>
            <p:nvSpPr>
              <p:cNvPr id="35" name="TextBox 35"/>
              <p:cNvSpPr txBox="1"/>
              <p:nvPr/>
            </p:nvSpPr>
            <p:spPr>
              <a:xfrm>
                <a:off x="4794504" y="3013710"/>
                <a:ext cx="203479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StandardScaler — z-score</a:t>
                </a:r>
              </a:p>
            </p:txBody>
          </p:sp>
        </p:grpSp>
        <p:grpSp>
          <p:nvGrpSpPr>
            <p:cNvPr id="40" name="map-node-kodlama"/>
            <p:cNvGrpSpPr/>
            <p:nvPr/>
          </p:nvGrpSpPr>
          <p:grpSpPr>
            <a:xfrm>
              <a:off x="4572000" y="3352800"/>
              <a:ext cx="3810000" cy="666750"/>
              <a:chOff x="4572000" y="3352800"/>
              <a:chExt cx="3810000" cy="666750"/>
            </a:xfrm>
          </p:grpSpPr>
          <p:sp>
            <p:nvSpPr>
              <p:cNvPr id="37" name="Rectangle 37"/>
              <p:cNvSpPr/>
              <p:nvPr/>
            </p:nvSpPr>
            <p:spPr>
              <a:xfrm>
                <a:off x="4572000" y="3352800"/>
                <a:ext cx="3810000" cy="666750"/>
              </a:xfrm>
              <a:prstGeom prst="roundRect">
                <a:avLst>
                  <a:gd name="adj" fmla="val 14286"/>
                </a:avLst>
              </a:prstGeom>
              <a:solidFill>
                <a:srgbClr val="FFFFFF"/>
              </a:solidFill>
              <a:ln w="14288">
                <a:solidFill>
                  <a:srgbClr val="2E86AB"/>
                </a:solidFill>
              </a:ln>
            </p:spPr>
          </p:sp>
          <p:sp>
            <p:nvSpPr>
              <p:cNvPr id="38" name="TextBox 38"/>
              <p:cNvSpPr txBox="1"/>
              <p:nvPr/>
            </p:nvSpPr>
            <p:spPr>
              <a:xfrm>
                <a:off x="4792218" y="3479482"/>
                <a:ext cx="2076441"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Kategorik kodlama</a:t>
                </a:r>
              </a:p>
            </p:txBody>
          </p:sp>
          <p:sp>
            <p:nvSpPr>
              <p:cNvPr id="39" name="TextBox 39"/>
              <p:cNvSpPr txBox="1"/>
              <p:nvPr/>
            </p:nvSpPr>
            <p:spPr>
              <a:xfrm>
                <a:off x="4794504" y="3756660"/>
                <a:ext cx="240239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OneHotEncoder — ikili sütunlar</a:t>
                </a:r>
              </a:p>
            </p:txBody>
          </p:sp>
        </p:grpSp>
        <p:grpSp>
          <p:nvGrpSpPr>
            <p:cNvPr id="44" name="map-node-ayrim"/>
            <p:cNvGrpSpPr/>
            <p:nvPr/>
          </p:nvGrpSpPr>
          <p:grpSpPr>
            <a:xfrm>
              <a:off x="4572000" y="4095750"/>
              <a:ext cx="3810000" cy="666750"/>
              <a:chOff x="4572000" y="4095750"/>
              <a:chExt cx="3810000" cy="666750"/>
            </a:xfrm>
          </p:grpSpPr>
          <p:sp>
            <p:nvSpPr>
              <p:cNvPr id="41" name="Rectangle 41"/>
              <p:cNvSpPr/>
              <p:nvPr/>
            </p:nvSpPr>
            <p:spPr>
              <a:xfrm>
                <a:off x="4572000" y="4095750"/>
                <a:ext cx="3810000" cy="666750"/>
              </a:xfrm>
              <a:prstGeom prst="roundRect">
                <a:avLst>
                  <a:gd name="adj" fmla="val 14286"/>
                </a:avLst>
              </a:prstGeom>
              <a:solidFill>
                <a:srgbClr val="FFFFFF"/>
              </a:solidFill>
              <a:ln w="14288">
                <a:solidFill>
                  <a:srgbClr val="2E86AB"/>
                </a:solidFill>
              </a:ln>
            </p:spPr>
          </p:sp>
          <p:sp>
            <p:nvSpPr>
              <p:cNvPr id="42" name="TextBox 42"/>
              <p:cNvSpPr txBox="1"/>
              <p:nvPr/>
            </p:nvSpPr>
            <p:spPr>
              <a:xfrm>
                <a:off x="4792218" y="4222432"/>
                <a:ext cx="2251982"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Eğitim-test ayrımı</a:t>
                </a:r>
              </a:p>
            </p:txBody>
          </p:sp>
          <p:sp>
            <p:nvSpPr>
              <p:cNvPr id="43" name="TextBox 43"/>
              <p:cNvSpPr txBox="1"/>
              <p:nvPr/>
            </p:nvSpPr>
            <p:spPr>
              <a:xfrm>
                <a:off x="4794504" y="4499610"/>
                <a:ext cx="27988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train_test_split — en başta yapılır</a:t>
                </a:r>
              </a:p>
            </p:txBody>
          </p:sp>
        </p:grpSp>
        <p:grpSp>
          <p:nvGrpSpPr>
            <p:cNvPr id="48" name="map-node-pipeline"/>
            <p:cNvGrpSpPr/>
            <p:nvPr/>
          </p:nvGrpSpPr>
          <p:grpSpPr>
            <a:xfrm>
              <a:off x="4572000" y="5105400"/>
              <a:ext cx="7010400" cy="723900"/>
              <a:chOff x="4572000" y="5105400"/>
              <a:chExt cx="7010400" cy="723900"/>
            </a:xfrm>
          </p:grpSpPr>
          <p:sp>
            <p:nvSpPr>
              <p:cNvPr id="45" name="Rectangle 45"/>
              <p:cNvSpPr/>
              <p:nvPr/>
            </p:nvSpPr>
            <p:spPr>
              <a:xfrm>
                <a:off x="4572000" y="5105400"/>
                <a:ext cx="7010400" cy="723900"/>
              </a:xfrm>
              <a:prstGeom prst="roundRect">
                <a:avLst>
                  <a:gd name="adj" fmla="val 13158"/>
                </a:avLst>
              </a:prstGeom>
              <a:solidFill>
                <a:srgbClr val="EAF4F6"/>
              </a:solidFill>
              <a:ln w="14288">
                <a:solidFill>
                  <a:srgbClr val="00A6A6"/>
                </a:solidFill>
              </a:ln>
            </p:spPr>
          </p:sp>
          <p:sp>
            <p:nvSpPr>
              <p:cNvPr id="46" name="TextBox 46"/>
              <p:cNvSpPr txBox="1"/>
              <p:nvPr/>
            </p:nvSpPr>
            <p:spPr>
              <a:xfrm>
                <a:off x="4791456" y="5215890"/>
                <a:ext cx="368137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Pipeline + ColumnTransformer</a:t>
                </a:r>
              </a:p>
            </p:txBody>
          </p:sp>
          <p:sp>
            <p:nvSpPr>
              <p:cNvPr id="47" name="TextBox 47"/>
              <p:cNvSpPr txBox="1"/>
              <p:nvPr/>
            </p:nvSpPr>
            <p:spPr>
              <a:xfrm>
                <a:off x="4792599" y="5487829"/>
                <a:ext cx="485129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Beş adımı tek, sızıntısız nesnede birleştirir</a:t>
                </a:r>
              </a:p>
            </p:txBody>
          </p:sp>
        </p:grpSp>
        <p:grpSp>
          <p:nvGrpSpPr>
            <p:cNvPr id="53" name="map-legend"/>
            <p:cNvGrpSpPr/>
            <p:nvPr/>
          </p:nvGrpSpPr>
          <p:grpSpPr>
            <a:xfrm>
              <a:off x="685800" y="4232910"/>
              <a:ext cx="2874672" cy="577596"/>
              <a:chOff x="685800" y="4232910"/>
              <a:chExt cx="2874672" cy="577596"/>
            </a:xfrm>
          </p:grpSpPr>
          <p:sp>
            <p:nvSpPr>
              <p:cNvPr id="49" name="Line 49"/>
              <p:cNvSpPr/>
              <p:nvPr/>
            </p:nvSpPr>
            <p:spPr>
              <a:xfrm>
                <a:off x="685800" y="4305300"/>
                <a:ext cx="304800" cy="1"/>
              </a:xfrm>
              <a:prstGeom prst="line">
                <a:avLst/>
              </a:prstGeom>
              <a:noFill/>
              <a:ln w="23812">
                <a:solidFill>
                  <a:srgbClr val="00A6A6"/>
                </a:solidFill>
                <a:tailEnd type="arrow" w="lg" len="lg"/>
              </a:ln>
            </p:spPr>
          </p:sp>
          <p:sp>
            <p:nvSpPr>
              <p:cNvPr id="50" name="TextBox 50"/>
              <p:cNvSpPr txBox="1"/>
              <p:nvPr/>
            </p:nvSpPr>
            <p:spPr>
              <a:xfrm>
                <a:off x="1079754" y="4232910"/>
                <a:ext cx="227063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Veri ön işlemenin beş bileşeni</a:t>
                </a:r>
              </a:p>
            </p:txBody>
          </p:sp>
          <p:sp>
            <p:nvSpPr>
              <p:cNvPr id="51" name="Line 51"/>
              <p:cNvSpPr/>
              <p:nvPr/>
            </p:nvSpPr>
            <p:spPr>
              <a:xfrm>
                <a:off x="685800" y="4648200"/>
                <a:ext cx="304800" cy="1"/>
              </a:xfrm>
              <a:prstGeom prst="line">
                <a:avLst/>
              </a:prstGeom>
              <a:noFill/>
              <a:ln w="19050">
                <a:solidFill>
                  <a:srgbClr val="52616B"/>
                </a:solidFill>
                <a:custDash>
                  <a:ds d="300000" sp="200000"/>
                </a:custDash>
                <a:tailEnd type="arrow" w="lg" len="lg"/>
              </a:ln>
            </p:spPr>
          </p:sp>
          <p:sp>
            <p:nvSpPr>
              <p:cNvPr id="52" name="TextBox 52"/>
              <p:cNvSpPr txBox="1"/>
              <p:nvPr/>
            </p:nvSpPr>
            <p:spPr>
              <a:xfrm>
                <a:off x="1079754" y="4575810"/>
                <a:ext cx="248071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Hepsinin tek nesnede birleşmesi</a:t>
                </a:r>
              </a:p>
            </p:txBody>
          </p:sp>
        </p:gr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538956" cy="557403"/>
            <a:chOff x="595122" y="282892"/>
            <a:chExt cx="8538956" cy="557403"/>
          </a:xfrm>
        </p:grpSpPr>
        <p:sp>
          <p:nvSpPr>
            <p:cNvPr id="4" name="TextBox 4"/>
            <p:cNvSpPr txBox="1"/>
            <p:nvPr/>
          </p:nvSpPr>
          <p:spPr>
            <a:xfrm>
              <a:off x="595122" y="282892"/>
              <a:ext cx="853895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Neden ön işleme? "Garbage in, garbage out"</a:t>
              </a:r>
            </a:p>
          </p:txBody>
        </p:sp>
      </p:grpSp>
      <p:grpSp>
        <p:nvGrpSpPr>
          <p:cNvPr id="9" name="intro-text"/>
          <p:cNvGrpSpPr/>
          <p:nvPr/>
        </p:nvGrpSpPr>
        <p:grpSpPr>
          <a:xfrm>
            <a:off x="600456" y="1443990"/>
            <a:ext cx="3209544" cy="3608927"/>
            <a:chOff x="600456" y="1443990"/>
            <a:chExt cx="3209544" cy="3608927"/>
          </a:xfrm>
        </p:grpSpPr>
        <p:sp>
          <p:nvSpPr>
            <p:cNvPr id="6" name="TextBox 6"/>
            <p:cNvSpPr txBox="1"/>
            <p:nvPr/>
          </p:nvSpPr>
          <p:spPr>
            <a:xfrm>
              <a:off x="600456" y="1443990"/>
              <a:ext cx="2738628" cy="2066544"/>
            </a:xfrm>
            <a:prstGeom prst="rect">
              <a:avLst/>
            </a:prstGeom>
            <a:noFill/>
            <a:ln>
              <a:noFill/>
            </a:ln>
          </p:spPr>
          <p:txBody>
            <a:bodyPr wrap="none" lIns="0" tIns="0" rIns="0" bIns="0" anchor="t" anchorCtr="0">
              <a:spAutoFit/>
            </a:bodyPr>
            <a:lstStyle/>
            <a:p>
              <a:pPr algn="l">
                <a:lnSpc>
                  <a:spcPts val="2250"/>
                </a:lnSpc>
              </a:pPr>
              <a:r>
                <a:rPr lang="tr-TR" sz="1800" dirty="0">
                  <a:solidFill>
                    <a:srgbClr val="172B3A"/>
                  </a:solidFill>
                  <a:latin typeface="+mn-lt"/>
                  <a:ea typeface="+mn-ea"/>
                  <a:cs typeface="+mn-cs"/>
                </a:rPr>
                <a:t>Bir telekomünikasyon</a:t>
              </a:r>
              <a:br/>
              <a:r>
                <a:rPr lang="tr-TR" sz="1800" dirty="0">
                  <a:solidFill>
                    <a:srgbClr val="172B3A"/>
                  </a:solidFill>
                  <a:latin typeface="+mn-lt"/>
                  <a:ea typeface="+mn-ea"/>
                  <a:cs typeface="+mn-cs"/>
                </a:rPr>
                <a:t>şirketinin müşteri kaybı</a:t>
              </a:r>
              <a:br/>
              <a:r>
                <a:rPr lang="tr-TR" sz="1800" dirty="0">
                  <a:solidFill>
                    <a:srgbClr val="172B3A"/>
                  </a:solidFill>
                  <a:latin typeface="+mn-lt"/>
                  <a:ea typeface="+mn-ea"/>
                  <a:cs typeface="+mn-cs"/>
                </a:rPr>
                <a:t>(churn) veri kümesi ham</a:t>
              </a:r>
              <a:br/>
              <a:r>
                <a:rPr lang="tr-TR" sz="1800" dirty="0">
                  <a:solidFill>
                    <a:srgbClr val="172B3A"/>
                  </a:solidFill>
                  <a:latin typeface="+mn-lt"/>
                  <a:ea typeface="+mn-ea"/>
                  <a:cs typeface="+mn-cs"/>
                </a:rPr>
                <a:t>hâliyle modele verilirse,</a:t>
              </a:r>
              <a:br/>
              <a:r>
                <a:rPr lang="tr-TR" sz="1800" dirty="0">
                  <a:solidFill>
                    <a:srgbClr val="172B3A"/>
                  </a:solidFill>
                  <a:latin typeface="+mn-lt"/>
                  <a:ea typeface="+mn-ea"/>
                  <a:cs typeface="+mn-cs"/>
                </a:rPr>
                <a:t>algoritma anlamlı bir</a:t>
              </a:r>
              <a:br/>
              <a:r>
                <a:rPr lang="tr-TR" sz="1800" dirty="0">
                  <a:solidFill>
                    <a:srgbClr val="172B3A"/>
                  </a:solidFill>
                  <a:latin typeface="+mn-lt"/>
                  <a:ea typeface="+mn-ea"/>
                  <a:cs typeface="+mn-cs"/>
                </a:rPr>
                <a:t>örüntü değil, verinin</a:t>
              </a:r>
              <a:br/>
              <a:r>
                <a:rPr lang="tr-TR" sz="1800" dirty="0">
                  <a:solidFill>
                    <a:srgbClr val="172B3A"/>
                  </a:solidFill>
                  <a:latin typeface="+mn-lt"/>
                  <a:ea typeface="+mn-ea"/>
                  <a:cs typeface="+mn-cs"/>
                </a:rPr>
                <a:t>kusurlarını öğrenir.</a:t>
              </a:r>
            </a:p>
          </p:txBody>
        </p:sp>
        <p:sp>
          <p:nvSpPr>
            <p:cNvPr id="7" name="Rectangle 7"/>
            <p:cNvSpPr/>
            <p:nvPr/>
          </p:nvSpPr>
          <p:spPr>
            <a:xfrm>
              <a:off x="609600" y="4038600"/>
              <a:ext cx="3200400" cy="38100"/>
            </a:xfrm>
            <a:prstGeom prst="rect">
              <a:avLst/>
            </a:prstGeom>
            <a:solidFill>
              <a:srgbClr val="00A6A6"/>
            </a:solidFill>
            <a:ln>
              <a:noFill/>
            </a:ln>
          </p:spPr>
        </p:sp>
        <p:sp>
          <p:nvSpPr>
            <p:cNvPr id="8" name="TextBox 8"/>
            <p:cNvSpPr txBox="1"/>
            <p:nvPr/>
          </p:nvSpPr>
          <p:spPr>
            <a:xfrm>
              <a:off x="601599" y="4211479"/>
              <a:ext cx="2017586" cy="841438"/>
            </a:xfrm>
            <a:prstGeom prst="rect">
              <a:avLst/>
            </a:prstGeom>
            <a:noFill/>
            <a:ln>
              <a:noFill/>
            </a:ln>
          </p:spPr>
          <p:txBody>
            <a:bodyPr wrap="none" lIns="0" tIns="0" rIns="0" bIns="0" anchor="t" anchorCtr="0">
              <a:spAutoFit/>
            </a:bodyPr>
            <a:lstStyle/>
            <a:p>
              <a:pPr algn="l">
                <a:lnSpc>
                  <a:spcPts val="2100"/>
                </a:lnSpc>
              </a:pPr>
              <a:r>
                <a:rPr lang="tr-TR" sz="1580" b="1" dirty="0">
                  <a:solidFill>
                    <a:srgbClr val="12355B"/>
                  </a:solidFill>
                  <a:latin typeface="+mn-lt"/>
                  <a:ea typeface="+mn-ea"/>
                  <a:cs typeface="+mn-cs"/>
                </a:rPr>
                <a:t>En iyi algoritma bile</a:t>
              </a:r>
              <a:br/>
              <a:r>
                <a:rPr lang="tr-TR" sz="1580" b="1" dirty="0">
                  <a:solidFill>
                    <a:srgbClr val="12355B"/>
                  </a:solidFill>
                  <a:latin typeface="+mn-lt"/>
                  <a:ea typeface="+mn-ea"/>
                  <a:cs typeface="+mn-cs"/>
                </a:rPr>
                <a:t>kötü veriyi telafi</a:t>
              </a:r>
              <a:br/>
              <a:r>
                <a:rPr lang="tr-TR" sz="1580" b="1" dirty="0">
                  <a:solidFill>
                    <a:srgbClr val="12355B"/>
                  </a:solidFill>
                  <a:latin typeface="+mn-lt"/>
                  <a:ea typeface="+mn-ea"/>
                  <a:cs typeface="+mn-cs"/>
                </a:rPr>
                <a:t>edemez.</a:t>
              </a:r>
            </a:p>
          </p:txBody>
        </p:sp>
      </p:grpSp>
      <p:grpSp>
        <p:nvGrpSpPr>
          <p:cNvPr id="16" name="problem-eksik"/>
          <p:cNvGrpSpPr/>
          <p:nvPr/>
        </p:nvGrpSpPr>
        <p:grpSpPr>
          <a:xfrm>
            <a:off x="5257800" y="1333500"/>
            <a:ext cx="2476500" cy="1333500"/>
            <a:chOff x="5257800" y="1333500"/>
            <a:chExt cx="2476500" cy="1333500"/>
          </a:xfrm>
        </p:grpSpPr>
        <p:sp>
          <p:nvSpPr>
            <p:cNvPr id="10" name="Rectangle 10"/>
            <p:cNvSpPr/>
            <p:nvPr/>
          </p:nvSpPr>
          <p:spPr>
            <a:xfrm>
              <a:off x="5257800" y="1333500"/>
              <a:ext cx="2476500" cy="1333500"/>
            </a:xfrm>
            <a:prstGeom prst="roundRect">
              <a:avLst>
                <a:gd name="adj" fmla="val 7143"/>
              </a:avLst>
            </a:prstGeom>
            <a:solidFill>
              <a:srgbClr val="FFFFFF"/>
            </a:solidFill>
            <a:ln w="14288">
              <a:solidFill>
                <a:srgbClr val="B8CBD3"/>
              </a:solidFill>
            </a:ln>
          </p:spPr>
        </p:sp>
        <p:sp>
          <p:nvSpPr>
            <p:cNvPr id="11" name="Freeform 11"/>
            <p:cNvSpPr/>
            <p:nvPr/>
          </p:nvSpPr>
          <p:spPr>
            <a:xfrm>
              <a:off x="6286500" y="1504950"/>
              <a:ext cx="419100" cy="381000"/>
            </a:xfrm>
            <a:custGeom>
              <a:avLst/>
              <a:gdLst/>
              <a:ahLst/>
              <a:cxnLst/>
              <a:rect l="l" t="t" r="r" b="b"/>
              <a:pathLst>
                <a:path w="419100" h="381000">
                  <a:moveTo>
                    <a:pt x="209550" y="0"/>
                  </a:moveTo>
                  <a:lnTo>
                    <a:pt x="419100" y="381000"/>
                  </a:lnTo>
                  <a:lnTo>
                    <a:pt x="0" y="381000"/>
                  </a:lnTo>
                  <a:close/>
                </a:path>
              </a:pathLst>
            </a:custGeom>
            <a:noFill/>
            <a:ln w="23812">
              <a:solidFill>
                <a:srgbClr val="2E86AB"/>
              </a:solidFill>
              <a:round/>
            </a:ln>
          </p:spPr>
        </p:sp>
        <p:sp>
          <p:nvSpPr>
            <p:cNvPr id="12" name="Line 12"/>
            <p:cNvSpPr/>
            <p:nvPr/>
          </p:nvSpPr>
          <p:spPr>
            <a:xfrm>
              <a:off x="6496050" y="1638300"/>
              <a:ext cx="9525" cy="114300"/>
            </a:xfrm>
            <a:custGeom>
              <a:avLst/>
              <a:gdLst/>
              <a:ahLst/>
              <a:cxnLst/>
              <a:rect l="l" t="t" r="r" b="b"/>
              <a:pathLst>
                <a:path w="9525" h="114300">
                  <a:moveTo>
                    <a:pt x="0" y="0"/>
                  </a:moveTo>
                  <a:lnTo>
                    <a:pt x="0" y="114300"/>
                  </a:lnTo>
                </a:path>
              </a:pathLst>
            </a:custGeom>
            <a:noFill/>
            <a:ln w="23812">
              <a:solidFill>
                <a:srgbClr val="2E86AB"/>
              </a:solidFill>
            </a:ln>
          </p:spPr>
        </p:sp>
        <p:sp>
          <p:nvSpPr>
            <p:cNvPr id="13" name="Ellipse 13"/>
            <p:cNvSpPr/>
            <p:nvPr/>
          </p:nvSpPr>
          <p:spPr>
            <a:xfrm>
              <a:off x="6480810" y="1813560"/>
              <a:ext cx="30480" cy="30480"/>
            </a:xfrm>
            <a:prstGeom prst="ellipse">
              <a:avLst/>
            </a:prstGeom>
            <a:solidFill>
              <a:srgbClr val="2E86AB"/>
            </a:solidFill>
            <a:ln>
              <a:noFill/>
            </a:ln>
          </p:spPr>
        </p:sp>
        <p:sp>
          <p:nvSpPr>
            <p:cNvPr id="14" name="TextBox 14"/>
            <p:cNvSpPr txBox="1"/>
            <p:nvPr/>
          </p:nvSpPr>
          <p:spPr>
            <a:xfrm>
              <a:off x="5708582" y="2020729"/>
              <a:ext cx="1574936"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Eksik hücreler</a:t>
              </a:r>
            </a:p>
          </p:txBody>
        </p:sp>
        <p:sp>
          <p:nvSpPr>
            <p:cNvPr id="15" name="TextBox 15"/>
            <p:cNvSpPr txBox="1"/>
            <p:nvPr/>
          </p:nvSpPr>
          <p:spPr>
            <a:xfrm>
              <a:off x="5371262" y="2308860"/>
              <a:ext cx="2249576"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boş satırlar modeli yanıltır</a:t>
              </a:r>
            </a:p>
          </p:txBody>
        </p:sp>
      </p:grpSp>
      <p:grpSp>
        <p:nvGrpSpPr>
          <p:cNvPr id="23" name="problem-aykiri"/>
          <p:cNvGrpSpPr/>
          <p:nvPr/>
        </p:nvGrpSpPr>
        <p:grpSpPr>
          <a:xfrm>
            <a:off x="8115300" y="1333500"/>
            <a:ext cx="2476500" cy="1333500"/>
            <a:chOff x="8115300" y="1333500"/>
            <a:chExt cx="2476500" cy="1333500"/>
          </a:xfrm>
        </p:grpSpPr>
        <p:sp>
          <p:nvSpPr>
            <p:cNvPr id="17" name="Rectangle 17"/>
            <p:cNvSpPr/>
            <p:nvPr/>
          </p:nvSpPr>
          <p:spPr>
            <a:xfrm>
              <a:off x="8115300" y="1333500"/>
              <a:ext cx="2476500" cy="1333500"/>
            </a:xfrm>
            <a:prstGeom prst="roundRect">
              <a:avLst>
                <a:gd name="adj" fmla="val 7143"/>
              </a:avLst>
            </a:prstGeom>
            <a:solidFill>
              <a:srgbClr val="FFFFFF"/>
            </a:solidFill>
            <a:ln w="14288">
              <a:solidFill>
                <a:srgbClr val="B8CBD3"/>
              </a:solidFill>
            </a:ln>
          </p:spPr>
        </p:sp>
        <p:sp>
          <p:nvSpPr>
            <p:cNvPr id="18" name="Freeform 18"/>
            <p:cNvSpPr/>
            <p:nvPr/>
          </p:nvSpPr>
          <p:spPr>
            <a:xfrm>
              <a:off x="9144000" y="1504950"/>
              <a:ext cx="419100" cy="381000"/>
            </a:xfrm>
            <a:custGeom>
              <a:avLst/>
              <a:gdLst/>
              <a:ahLst/>
              <a:cxnLst/>
              <a:rect l="l" t="t" r="r" b="b"/>
              <a:pathLst>
                <a:path w="419100" h="381000">
                  <a:moveTo>
                    <a:pt x="209550" y="0"/>
                  </a:moveTo>
                  <a:lnTo>
                    <a:pt x="419100" y="381000"/>
                  </a:lnTo>
                  <a:lnTo>
                    <a:pt x="0" y="381000"/>
                  </a:lnTo>
                  <a:close/>
                </a:path>
              </a:pathLst>
            </a:custGeom>
            <a:noFill/>
            <a:ln w="23812">
              <a:solidFill>
                <a:srgbClr val="2E86AB"/>
              </a:solidFill>
              <a:round/>
            </a:ln>
          </p:spPr>
        </p:sp>
        <p:sp>
          <p:nvSpPr>
            <p:cNvPr id="19" name="Line 19"/>
            <p:cNvSpPr/>
            <p:nvPr/>
          </p:nvSpPr>
          <p:spPr>
            <a:xfrm>
              <a:off x="9353550" y="1638300"/>
              <a:ext cx="9525" cy="114300"/>
            </a:xfrm>
            <a:custGeom>
              <a:avLst/>
              <a:gdLst/>
              <a:ahLst/>
              <a:cxnLst/>
              <a:rect l="l" t="t" r="r" b="b"/>
              <a:pathLst>
                <a:path w="9525" h="114300">
                  <a:moveTo>
                    <a:pt x="0" y="0"/>
                  </a:moveTo>
                  <a:lnTo>
                    <a:pt x="0" y="114300"/>
                  </a:lnTo>
                </a:path>
              </a:pathLst>
            </a:custGeom>
            <a:noFill/>
            <a:ln w="23812">
              <a:solidFill>
                <a:srgbClr val="2E86AB"/>
              </a:solidFill>
            </a:ln>
          </p:spPr>
        </p:sp>
        <p:sp>
          <p:nvSpPr>
            <p:cNvPr id="20" name="Ellipse 20"/>
            <p:cNvSpPr/>
            <p:nvPr/>
          </p:nvSpPr>
          <p:spPr>
            <a:xfrm>
              <a:off x="9338310" y="1813560"/>
              <a:ext cx="30480" cy="30480"/>
            </a:xfrm>
            <a:prstGeom prst="ellipse">
              <a:avLst/>
            </a:prstGeom>
            <a:solidFill>
              <a:srgbClr val="2E86AB"/>
            </a:solidFill>
            <a:ln>
              <a:noFill/>
            </a:ln>
          </p:spPr>
        </p:sp>
        <p:sp>
          <p:nvSpPr>
            <p:cNvPr id="21" name="TextBox 21"/>
            <p:cNvSpPr txBox="1"/>
            <p:nvPr/>
          </p:nvSpPr>
          <p:spPr>
            <a:xfrm>
              <a:off x="8381586" y="2020729"/>
              <a:ext cx="1943927"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Aşırı uç değerler</a:t>
              </a:r>
            </a:p>
          </p:txBody>
        </p:sp>
        <p:sp>
          <p:nvSpPr>
            <p:cNvPr id="22" name="TextBox 22"/>
            <p:cNvSpPr txBox="1"/>
            <p:nvPr/>
          </p:nvSpPr>
          <p:spPr>
            <a:xfrm>
              <a:off x="8257032" y="2308860"/>
              <a:ext cx="2193036"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ortalama ve varyansı bozar</a:t>
              </a:r>
            </a:p>
          </p:txBody>
        </p:sp>
      </p:grpSp>
      <p:grpSp>
        <p:nvGrpSpPr>
          <p:cNvPr id="30" name="problem-olcek"/>
          <p:cNvGrpSpPr/>
          <p:nvPr/>
        </p:nvGrpSpPr>
        <p:grpSpPr>
          <a:xfrm>
            <a:off x="5257800" y="2857500"/>
            <a:ext cx="5334000" cy="1333500"/>
            <a:chOff x="5257800" y="2857500"/>
            <a:chExt cx="5334000" cy="1333500"/>
          </a:xfrm>
        </p:grpSpPr>
        <p:sp>
          <p:nvSpPr>
            <p:cNvPr id="24" name="Rectangle 24"/>
            <p:cNvSpPr/>
            <p:nvPr/>
          </p:nvSpPr>
          <p:spPr>
            <a:xfrm>
              <a:off x="5257800" y="2857500"/>
              <a:ext cx="5334000" cy="1333500"/>
            </a:xfrm>
            <a:prstGeom prst="roundRect">
              <a:avLst>
                <a:gd name="adj" fmla="val 7143"/>
              </a:avLst>
            </a:prstGeom>
            <a:solidFill>
              <a:srgbClr val="FFFFFF"/>
            </a:solidFill>
            <a:ln w="14288">
              <a:solidFill>
                <a:srgbClr val="B8CBD3"/>
              </a:solidFill>
            </a:ln>
          </p:spPr>
        </p:sp>
        <p:sp>
          <p:nvSpPr>
            <p:cNvPr id="25" name="Freeform 25"/>
            <p:cNvSpPr/>
            <p:nvPr/>
          </p:nvSpPr>
          <p:spPr>
            <a:xfrm>
              <a:off x="7715250" y="3028950"/>
              <a:ext cx="419100" cy="381000"/>
            </a:xfrm>
            <a:custGeom>
              <a:avLst/>
              <a:gdLst/>
              <a:ahLst/>
              <a:cxnLst/>
              <a:rect l="l" t="t" r="r" b="b"/>
              <a:pathLst>
                <a:path w="419100" h="381000">
                  <a:moveTo>
                    <a:pt x="209550" y="0"/>
                  </a:moveTo>
                  <a:lnTo>
                    <a:pt x="419100" y="381000"/>
                  </a:lnTo>
                  <a:lnTo>
                    <a:pt x="0" y="381000"/>
                  </a:lnTo>
                  <a:close/>
                </a:path>
              </a:pathLst>
            </a:custGeom>
            <a:noFill/>
            <a:ln w="23812">
              <a:solidFill>
                <a:srgbClr val="2E86AB"/>
              </a:solidFill>
              <a:round/>
            </a:ln>
          </p:spPr>
        </p:sp>
        <p:sp>
          <p:nvSpPr>
            <p:cNvPr id="26" name="Line 26"/>
            <p:cNvSpPr/>
            <p:nvPr/>
          </p:nvSpPr>
          <p:spPr>
            <a:xfrm>
              <a:off x="7924800" y="3162300"/>
              <a:ext cx="9525" cy="114300"/>
            </a:xfrm>
            <a:custGeom>
              <a:avLst/>
              <a:gdLst/>
              <a:ahLst/>
              <a:cxnLst/>
              <a:rect l="l" t="t" r="r" b="b"/>
              <a:pathLst>
                <a:path w="9525" h="114300">
                  <a:moveTo>
                    <a:pt x="0" y="0"/>
                  </a:moveTo>
                  <a:lnTo>
                    <a:pt x="0" y="114300"/>
                  </a:lnTo>
                </a:path>
              </a:pathLst>
            </a:custGeom>
            <a:noFill/>
            <a:ln w="23812">
              <a:solidFill>
                <a:srgbClr val="2E86AB"/>
              </a:solidFill>
            </a:ln>
          </p:spPr>
        </p:sp>
        <p:sp>
          <p:nvSpPr>
            <p:cNvPr id="27" name="Ellipse 27"/>
            <p:cNvSpPr/>
            <p:nvPr/>
          </p:nvSpPr>
          <p:spPr>
            <a:xfrm>
              <a:off x="7909560" y="3337560"/>
              <a:ext cx="30480" cy="30480"/>
            </a:xfrm>
            <a:prstGeom prst="ellipse">
              <a:avLst/>
            </a:prstGeom>
            <a:solidFill>
              <a:srgbClr val="2E86AB"/>
            </a:solidFill>
            <a:ln>
              <a:noFill/>
            </a:ln>
          </p:spPr>
        </p:sp>
        <p:sp>
          <p:nvSpPr>
            <p:cNvPr id="28" name="TextBox 28"/>
            <p:cNvSpPr txBox="1"/>
            <p:nvPr/>
          </p:nvSpPr>
          <p:spPr>
            <a:xfrm>
              <a:off x="6277312" y="3544729"/>
              <a:ext cx="3294977" cy="308039"/>
            </a:xfrm>
            <a:prstGeom prst="rect">
              <a:avLst/>
            </a:prstGeom>
            <a:noFill/>
            <a:ln>
              <a:noFill/>
            </a:ln>
          </p:spPr>
          <p:txBody>
            <a:bodyPr wrap="none" lIns="0" tIns="0" rIns="0" bIns="0" anchor="t" anchorCtr="0">
              <a:spAutoFit/>
            </a:bodyPr>
            <a:lstStyle/>
            <a:p>
              <a:pPr algn="ctr"/>
              <a:r>
                <a:rPr lang="tr-TR" sz="1580" b="1" dirty="0">
                  <a:solidFill>
                    <a:srgbClr val="12355B"/>
                  </a:solidFill>
                  <a:latin typeface="+mn-lt"/>
                  <a:ea typeface="+mn-ea"/>
                  <a:cs typeface="+mn-cs"/>
                </a:rPr>
                <a:t>Ölçek ve kategori uyumsuzluğu</a:t>
              </a:r>
            </a:p>
          </p:txBody>
        </p:sp>
        <p:sp>
          <p:nvSpPr>
            <p:cNvPr id="29" name="TextBox 29"/>
            <p:cNvSpPr txBox="1"/>
            <p:nvPr/>
          </p:nvSpPr>
          <p:spPr>
            <a:xfrm>
              <a:off x="5463235" y="3832860"/>
              <a:ext cx="492313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büyük ölçek küçük sütunu gölgeler, metin sayısal işlem görmez</a:t>
              </a:r>
            </a:p>
          </p:txBody>
        </p:sp>
      </p:grpSp>
      <p:sp>
        <p:nvSpPr>
          <p:cNvPr id="31" name="Line 31"/>
          <p:cNvSpPr/>
          <p:nvPr/>
        </p:nvSpPr>
        <p:spPr>
          <a:xfrm>
            <a:off x="6496050" y="2667000"/>
            <a:ext cx="552450" cy="952500"/>
          </a:xfrm>
          <a:prstGeom prst="line">
            <a:avLst/>
          </a:prstGeom>
          <a:noFill/>
          <a:ln w="19050">
            <a:solidFill>
              <a:srgbClr val="00A6A6"/>
            </a:solidFill>
            <a:custDash>
              <a:ds d="250000" sp="200000"/>
            </a:custDash>
            <a:tailEnd type="arrow" w="lg" len="lg"/>
          </a:ln>
        </p:spPr>
      </p:sp>
      <p:sp>
        <p:nvSpPr>
          <p:cNvPr id="32" name="Line 32"/>
          <p:cNvSpPr/>
          <p:nvPr/>
        </p:nvSpPr>
        <p:spPr>
          <a:xfrm flipH="1">
            <a:off x="8858250" y="2667000"/>
            <a:ext cx="495300" cy="952500"/>
          </a:xfrm>
          <a:prstGeom prst="line">
            <a:avLst/>
          </a:prstGeom>
          <a:noFill/>
          <a:ln w="19050">
            <a:solidFill>
              <a:srgbClr val="00A6A6"/>
            </a:solidFill>
            <a:custDash>
              <a:ds d="250000" sp="200000"/>
            </a:custDash>
            <a:tailEnd type="arrow" w="lg" len="lg"/>
          </a:ln>
        </p:spPr>
      </p:sp>
      <p:sp>
        <p:nvSpPr>
          <p:cNvPr id="33" name="Line 33"/>
          <p:cNvSpPr/>
          <p:nvPr/>
        </p:nvSpPr>
        <p:spPr>
          <a:xfrm>
            <a:off x="7924800" y="4191000"/>
            <a:ext cx="1" cy="381000"/>
          </a:xfrm>
          <a:prstGeom prst="line">
            <a:avLst/>
          </a:prstGeom>
          <a:noFill/>
          <a:ln w="19050">
            <a:solidFill>
              <a:srgbClr val="00A6A6"/>
            </a:solidFill>
            <a:custDash>
              <a:ds d="250000" sp="200000"/>
            </a:custDash>
            <a:tailEnd type="arrow" w="lg" len="lg"/>
          </a:ln>
        </p:spPr>
      </p:sp>
      <p:grpSp>
        <p:nvGrpSpPr>
          <p:cNvPr id="39" name="outcome-box"/>
          <p:cNvGrpSpPr/>
          <p:nvPr/>
        </p:nvGrpSpPr>
        <p:grpSpPr>
          <a:xfrm>
            <a:off x="5257800" y="4610100"/>
            <a:ext cx="5334000" cy="1485900"/>
            <a:chOff x="5257800" y="4610100"/>
            <a:chExt cx="5334000" cy="1485900"/>
          </a:xfrm>
        </p:grpSpPr>
        <p:sp>
          <p:nvSpPr>
            <p:cNvPr id="34" name="Rectangle 34"/>
            <p:cNvSpPr/>
            <p:nvPr/>
          </p:nvSpPr>
          <p:spPr>
            <a:xfrm>
              <a:off x="5257800" y="4610100"/>
              <a:ext cx="5334000" cy="1485900"/>
            </a:xfrm>
            <a:prstGeom prst="roundRect">
              <a:avLst>
                <a:gd name="adj" fmla="val 6410"/>
              </a:avLst>
            </a:prstGeom>
            <a:solidFill>
              <a:srgbClr val="12355B"/>
            </a:solidFill>
            <a:ln>
              <a:noFill/>
            </a:ln>
          </p:spPr>
        </p:sp>
        <p:sp>
          <p:nvSpPr>
            <p:cNvPr id="35" name="TextBox 35"/>
            <p:cNvSpPr txBox="1"/>
            <p:nvPr/>
          </p:nvSpPr>
          <p:spPr>
            <a:xfrm>
              <a:off x="6162312" y="4853940"/>
              <a:ext cx="3524976" cy="352044"/>
            </a:xfrm>
            <a:prstGeom prst="rect">
              <a:avLst/>
            </a:prstGeom>
            <a:noFill/>
            <a:ln>
              <a:noFill/>
            </a:ln>
          </p:spPr>
          <p:txBody>
            <a:bodyPr wrap="none" lIns="0" tIns="0" rIns="0" bIns="0" anchor="t" anchorCtr="0">
              <a:spAutoFit/>
            </a:bodyPr>
            <a:lstStyle/>
            <a:p>
              <a:pPr algn="ctr"/>
              <a:r>
                <a:rPr lang="tr-TR" sz="1800" b="1" dirty="0">
                  <a:solidFill>
                    <a:srgbClr val="FFFFFF"/>
                  </a:solidFill>
                  <a:latin typeface="+mn-lt"/>
                  <a:ea typeface="+mn-ea"/>
                  <a:cs typeface="+mn-cs"/>
                </a:rPr>
                <a:t>Güvenilmez, yanıltıcı model</a:t>
              </a:r>
            </a:p>
          </p:txBody>
        </p:sp>
        <p:sp>
          <p:nvSpPr>
            <p:cNvPr id="36" name="TextBox 36"/>
            <p:cNvSpPr txBox="1"/>
            <p:nvPr/>
          </p:nvSpPr>
          <p:spPr>
            <a:xfrm>
              <a:off x="6560936" y="5207318"/>
              <a:ext cx="2727728" cy="264033"/>
            </a:xfrm>
            <a:prstGeom prst="rect">
              <a:avLst/>
            </a:prstGeom>
            <a:noFill/>
            <a:ln>
              <a:noFill/>
            </a:ln>
          </p:spPr>
          <p:txBody>
            <a:bodyPr wrap="none" lIns="0" tIns="0" rIns="0" bIns="0" anchor="t" anchorCtr="0">
              <a:spAutoFit/>
            </a:bodyPr>
            <a:lstStyle/>
            <a:p>
              <a:pPr algn="ctr"/>
              <a:r>
                <a:rPr lang="tr-TR" sz="1350" dirty="0">
                  <a:solidFill>
                    <a:srgbClr val="EAF4F6"/>
                  </a:solidFill>
                  <a:latin typeface="+mn-lt"/>
                  <a:ea typeface="+mn-ea"/>
                  <a:cs typeface="+mn-cs"/>
                </a:rPr>
                <a:t>Yüksek eğitim başarısı, düşük</a:t>
              </a:r>
            </a:p>
          </p:txBody>
        </p:sp>
        <p:sp>
          <p:nvSpPr>
            <p:cNvPr id="37" name="TextBox 37"/>
            <p:cNvSpPr txBox="1"/>
            <p:nvPr/>
          </p:nvSpPr>
          <p:spPr>
            <a:xfrm>
              <a:off x="6745738" y="5454968"/>
              <a:ext cx="2358123" cy="264033"/>
            </a:xfrm>
            <a:prstGeom prst="rect">
              <a:avLst/>
            </a:prstGeom>
            <a:noFill/>
            <a:ln>
              <a:noFill/>
            </a:ln>
          </p:spPr>
          <p:txBody>
            <a:bodyPr wrap="none" lIns="0" tIns="0" rIns="0" bIns="0" anchor="t" anchorCtr="0">
              <a:spAutoFit/>
            </a:bodyPr>
            <a:lstStyle/>
            <a:p>
              <a:pPr algn="ctr"/>
              <a:r>
                <a:rPr lang="tr-TR" sz="1350" dirty="0">
                  <a:solidFill>
                    <a:srgbClr val="EAF4F6"/>
                  </a:solidFill>
                  <a:latin typeface="+mn-lt"/>
                  <a:ea typeface="+mn-ea"/>
                  <a:cs typeface="+mn-cs"/>
                </a:rPr>
                <a:t>gerçek dünya performansı</a:t>
              </a:r>
            </a:p>
          </p:txBody>
        </p:sp>
        <p:sp>
          <p:nvSpPr>
            <p:cNvPr id="38" name="TextBox 38"/>
            <p:cNvSpPr txBox="1"/>
            <p:nvPr/>
          </p:nvSpPr>
          <p:spPr>
            <a:xfrm>
              <a:off x="6683644" y="5740718"/>
              <a:ext cx="2482313" cy="264033"/>
            </a:xfrm>
            <a:prstGeom prst="rect">
              <a:avLst/>
            </a:prstGeom>
            <a:noFill/>
            <a:ln>
              <a:noFill/>
            </a:ln>
          </p:spPr>
          <p:txBody>
            <a:bodyPr wrap="none" lIns="0" tIns="0" rIns="0" bIns="0" anchor="t" anchorCtr="0">
              <a:spAutoFit/>
            </a:bodyPr>
            <a:lstStyle/>
            <a:p>
              <a:pPr algn="ctr"/>
              <a:r>
                <a:rPr lang="tr-TR" sz="1350" dirty="0">
                  <a:solidFill>
                    <a:srgbClr val="00A6A6"/>
                  </a:solidFill>
                  <a:latin typeface="+mn-lt"/>
                  <a:ea typeface="+mn-ea"/>
                  <a:cs typeface="+mn-cs"/>
                </a:rPr>
                <a:t>Bu bölüm bu boşluğu kapatır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508904" cy="557403"/>
            <a:chOff x="595122" y="282892"/>
            <a:chExt cx="7508904" cy="557403"/>
          </a:xfrm>
        </p:grpSpPr>
        <p:sp>
          <p:nvSpPr>
            <p:cNvPr id="4" name="TextBox 4"/>
            <p:cNvSpPr txBox="1"/>
            <p:nvPr/>
          </p:nvSpPr>
          <p:spPr>
            <a:xfrm>
              <a:off x="595122" y="282892"/>
              <a:ext cx="750890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Eksik veri neden oluşur? Üç mekanizma</a:t>
              </a:r>
            </a:p>
          </p:txBody>
        </p:sp>
      </p:grpSp>
      <p:grpSp>
        <p:nvGrpSpPr>
          <p:cNvPr id="7" name="lead"/>
          <p:cNvGrpSpPr/>
          <p:nvPr/>
        </p:nvGrpSpPr>
        <p:grpSpPr>
          <a:xfrm>
            <a:off x="601599" y="1277779"/>
            <a:ext cx="6860855" cy="308039"/>
            <a:chOff x="601599" y="1277779"/>
            <a:chExt cx="6860855" cy="308039"/>
          </a:xfrm>
        </p:grpSpPr>
        <p:sp>
          <p:nvSpPr>
            <p:cNvPr id="6" name="TextBox 6"/>
            <p:cNvSpPr txBox="1"/>
            <p:nvPr/>
          </p:nvSpPr>
          <p:spPr>
            <a:xfrm>
              <a:off x="601599" y="1277779"/>
              <a:ext cx="686085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Eksikliğin nedenini anlamadan doğru doldurma stratejisi seçilemez.</a:t>
              </a:r>
            </a:p>
          </p:txBody>
        </p:sp>
      </p:grpSp>
      <p:grpSp>
        <p:nvGrpSpPr>
          <p:cNvPr id="23" name="card-mcar"/>
          <p:cNvGrpSpPr/>
          <p:nvPr/>
        </p:nvGrpSpPr>
        <p:grpSpPr>
          <a:xfrm>
            <a:off x="609600" y="1809750"/>
            <a:ext cx="3352800" cy="3619500"/>
            <a:chOff x="609600" y="1809750"/>
            <a:chExt cx="3352800" cy="3619500"/>
          </a:xfrm>
        </p:grpSpPr>
        <p:sp>
          <p:nvSpPr>
            <p:cNvPr id="8" name="Rectangle 8"/>
            <p:cNvSpPr/>
            <p:nvPr/>
          </p:nvSpPr>
          <p:spPr>
            <a:xfrm>
              <a:off x="609600" y="1809750"/>
              <a:ext cx="3352800" cy="3619500"/>
            </a:xfrm>
            <a:prstGeom prst="roundRect">
              <a:avLst>
                <a:gd name="adj" fmla="val 2841"/>
              </a:avLst>
            </a:prstGeom>
            <a:solidFill>
              <a:srgbClr val="FFFFFF"/>
            </a:solidFill>
            <a:ln w="14288">
              <a:solidFill>
                <a:srgbClr val="B8CBD3"/>
              </a:solidFill>
            </a:ln>
          </p:spPr>
        </p:sp>
        <p:sp>
          <p:nvSpPr>
            <p:cNvPr id="9" name="Rectangle 9"/>
            <p:cNvSpPr/>
            <p:nvPr/>
          </p:nvSpPr>
          <p:spPr>
            <a:xfrm>
              <a:off x="609600" y="1809750"/>
              <a:ext cx="3352800" cy="533400"/>
            </a:xfrm>
            <a:prstGeom prst="roundRect">
              <a:avLst>
                <a:gd name="adj" fmla="val 17857"/>
              </a:avLst>
            </a:prstGeom>
            <a:solidFill>
              <a:srgbClr val="12355B"/>
            </a:solidFill>
            <a:ln>
              <a:noFill/>
            </a:ln>
          </p:spPr>
        </p:sp>
        <p:sp>
          <p:nvSpPr>
            <p:cNvPr id="10" name="Rectangle 10"/>
            <p:cNvSpPr/>
            <p:nvPr/>
          </p:nvSpPr>
          <p:spPr>
            <a:xfrm>
              <a:off x="609600" y="2114550"/>
              <a:ext cx="3352800" cy="228600"/>
            </a:xfrm>
            <a:prstGeom prst="rect">
              <a:avLst/>
            </a:prstGeom>
            <a:solidFill>
              <a:srgbClr val="12355B"/>
            </a:solidFill>
            <a:ln>
              <a:noFill/>
            </a:ln>
          </p:spPr>
        </p:sp>
        <p:sp>
          <p:nvSpPr>
            <p:cNvPr id="11" name="TextBox 11"/>
            <p:cNvSpPr txBox="1"/>
            <p:nvPr/>
          </p:nvSpPr>
          <p:spPr>
            <a:xfrm>
              <a:off x="829056" y="1958340"/>
              <a:ext cx="663489"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MCAR</a:t>
              </a:r>
            </a:p>
          </p:txBody>
        </p:sp>
        <p:sp>
          <p:nvSpPr>
            <p:cNvPr id="12" name="TextBox 12"/>
            <p:cNvSpPr txBox="1"/>
            <p:nvPr/>
          </p:nvSpPr>
          <p:spPr>
            <a:xfrm>
              <a:off x="832104" y="2518410"/>
              <a:ext cx="171038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Missing Completely at</a:t>
              </a:r>
            </a:p>
          </p:txBody>
        </p:sp>
        <p:sp>
          <p:nvSpPr>
            <p:cNvPr id="13" name="TextBox 13"/>
            <p:cNvSpPr txBox="1"/>
            <p:nvPr/>
          </p:nvSpPr>
          <p:spPr>
            <a:xfrm>
              <a:off x="832104" y="2727960"/>
              <a:ext cx="58293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Random</a:t>
              </a:r>
            </a:p>
          </p:txBody>
        </p:sp>
        <p:sp>
          <p:nvSpPr>
            <p:cNvPr id="14" name="Line 14"/>
            <p:cNvSpPr/>
            <p:nvPr/>
          </p:nvSpPr>
          <p:spPr>
            <a:xfrm>
              <a:off x="838200" y="3009900"/>
              <a:ext cx="2514600" cy="9525"/>
            </a:xfrm>
            <a:custGeom>
              <a:avLst/>
              <a:gdLst/>
              <a:ahLst/>
              <a:cxnLst/>
              <a:rect l="l" t="t" r="r" b="b"/>
              <a:pathLst>
                <a:path w="2514600" h="9525">
                  <a:moveTo>
                    <a:pt x="0" y="0"/>
                  </a:moveTo>
                  <a:lnTo>
                    <a:pt x="2514600" y="0"/>
                  </a:lnTo>
                </a:path>
              </a:pathLst>
            </a:custGeom>
            <a:noFill/>
            <a:ln w="9525">
              <a:solidFill>
                <a:srgbClr val="B8CBD3"/>
              </a:solidFill>
            </a:ln>
          </p:spPr>
        </p:sp>
        <p:sp>
          <p:nvSpPr>
            <p:cNvPr id="15" name="TextBox 15"/>
            <p:cNvSpPr txBox="1"/>
            <p:nvPr/>
          </p:nvSpPr>
          <p:spPr>
            <a:xfrm>
              <a:off x="832104" y="3147060"/>
              <a:ext cx="202049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Eksiklik hem gözlenen hem</a:t>
              </a:r>
            </a:p>
          </p:txBody>
        </p:sp>
        <p:sp>
          <p:nvSpPr>
            <p:cNvPr id="16" name="TextBox 16"/>
            <p:cNvSpPr txBox="1"/>
            <p:nvPr/>
          </p:nvSpPr>
          <p:spPr>
            <a:xfrm>
              <a:off x="832104" y="3356610"/>
              <a:ext cx="219303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gözlenmeyen değişkenlerden</a:t>
              </a:r>
            </a:p>
          </p:txBody>
        </p:sp>
        <p:sp>
          <p:nvSpPr>
            <p:cNvPr id="17" name="TextBox 17"/>
            <p:cNvSpPr txBox="1"/>
            <p:nvPr/>
          </p:nvSpPr>
          <p:spPr>
            <a:xfrm>
              <a:off x="832104" y="3566160"/>
              <a:ext cx="23384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bağımsızdır; tamamen şans.</a:t>
              </a:r>
            </a:p>
          </p:txBody>
        </p:sp>
        <p:sp>
          <p:nvSpPr>
            <p:cNvPr id="18" name="TextBox 18"/>
            <p:cNvSpPr txBox="1"/>
            <p:nvPr/>
          </p:nvSpPr>
          <p:spPr>
            <a:xfrm>
              <a:off x="832104" y="3947160"/>
              <a:ext cx="483931"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Örnek</a:t>
              </a:r>
            </a:p>
          </p:txBody>
        </p:sp>
        <p:sp>
          <p:nvSpPr>
            <p:cNvPr id="19" name="TextBox 19"/>
            <p:cNvSpPr txBox="1"/>
            <p:nvPr/>
          </p:nvSpPr>
          <p:spPr>
            <a:xfrm>
              <a:off x="832104" y="4175760"/>
              <a:ext cx="18914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Sunucu hatası yüzünden</a:t>
              </a:r>
            </a:p>
          </p:txBody>
        </p:sp>
        <p:sp>
          <p:nvSpPr>
            <p:cNvPr id="20" name="TextBox 20"/>
            <p:cNvSpPr txBox="1"/>
            <p:nvPr/>
          </p:nvSpPr>
          <p:spPr>
            <a:xfrm>
              <a:off x="832104" y="4385310"/>
              <a:ext cx="25080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rastgele satırların kaybolması</a:t>
              </a:r>
            </a:p>
          </p:txBody>
        </p:sp>
        <p:sp>
          <p:nvSpPr>
            <p:cNvPr id="21" name="TextBox 21"/>
            <p:cNvSpPr txBox="1"/>
            <p:nvPr/>
          </p:nvSpPr>
          <p:spPr>
            <a:xfrm>
              <a:off x="832104" y="4747260"/>
              <a:ext cx="2248450"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Strateji: ortalama/medyan</a:t>
              </a:r>
            </a:p>
          </p:txBody>
        </p:sp>
        <p:sp>
          <p:nvSpPr>
            <p:cNvPr id="22" name="TextBox 22"/>
            <p:cNvSpPr txBox="1"/>
            <p:nvPr/>
          </p:nvSpPr>
          <p:spPr>
            <a:xfrm>
              <a:off x="832104" y="4956810"/>
              <a:ext cx="185258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ile doldurma güvenlidir</a:t>
              </a:r>
            </a:p>
          </p:txBody>
        </p:sp>
      </p:grpSp>
      <p:grpSp>
        <p:nvGrpSpPr>
          <p:cNvPr id="38" name="card-mar"/>
          <p:cNvGrpSpPr/>
          <p:nvPr/>
        </p:nvGrpSpPr>
        <p:grpSpPr>
          <a:xfrm>
            <a:off x="4419600" y="1809750"/>
            <a:ext cx="3352800" cy="3619500"/>
            <a:chOff x="4419600" y="1809750"/>
            <a:chExt cx="3352800" cy="3619500"/>
          </a:xfrm>
        </p:grpSpPr>
        <p:sp>
          <p:nvSpPr>
            <p:cNvPr id="24" name="Rectangle 24"/>
            <p:cNvSpPr/>
            <p:nvPr/>
          </p:nvSpPr>
          <p:spPr>
            <a:xfrm>
              <a:off x="4419600" y="1809750"/>
              <a:ext cx="3352800" cy="3619500"/>
            </a:xfrm>
            <a:prstGeom prst="roundRect">
              <a:avLst>
                <a:gd name="adj" fmla="val 2841"/>
              </a:avLst>
            </a:prstGeom>
            <a:solidFill>
              <a:srgbClr val="FFFFFF"/>
            </a:solidFill>
            <a:ln w="14288">
              <a:solidFill>
                <a:srgbClr val="B8CBD3"/>
              </a:solidFill>
            </a:ln>
          </p:spPr>
        </p:sp>
        <p:sp>
          <p:nvSpPr>
            <p:cNvPr id="25" name="Rectangle 25"/>
            <p:cNvSpPr/>
            <p:nvPr/>
          </p:nvSpPr>
          <p:spPr>
            <a:xfrm>
              <a:off x="4419600" y="1809750"/>
              <a:ext cx="3352800" cy="533400"/>
            </a:xfrm>
            <a:prstGeom prst="roundRect">
              <a:avLst>
                <a:gd name="adj" fmla="val 17857"/>
              </a:avLst>
            </a:prstGeom>
            <a:solidFill>
              <a:srgbClr val="12355B"/>
            </a:solidFill>
            <a:ln>
              <a:noFill/>
            </a:ln>
          </p:spPr>
        </p:sp>
        <p:sp>
          <p:nvSpPr>
            <p:cNvPr id="26" name="Rectangle 26"/>
            <p:cNvSpPr/>
            <p:nvPr/>
          </p:nvSpPr>
          <p:spPr>
            <a:xfrm>
              <a:off x="4419600" y="2114550"/>
              <a:ext cx="3352800" cy="228600"/>
            </a:xfrm>
            <a:prstGeom prst="rect">
              <a:avLst/>
            </a:prstGeom>
            <a:solidFill>
              <a:srgbClr val="12355B"/>
            </a:solidFill>
            <a:ln>
              <a:noFill/>
            </a:ln>
          </p:spPr>
        </p:sp>
        <p:sp>
          <p:nvSpPr>
            <p:cNvPr id="27" name="TextBox 27"/>
            <p:cNvSpPr txBox="1"/>
            <p:nvPr/>
          </p:nvSpPr>
          <p:spPr>
            <a:xfrm>
              <a:off x="4639056" y="1958340"/>
              <a:ext cx="515630"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MAR</a:t>
              </a:r>
            </a:p>
          </p:txBody>
        </p:sp>
        <p:sp>
          <p:nvSpPr>
            <p:cNvPr id="28" name="TextBox 28"/>
            <p:cNvSpPr txBox="1"/>
            <p:nvPr/>
          </p:nvSpPr>
          <p:spPr>
            <a:xfrm>
              <a:off x="4642104" y="2518410"/>
              <a:ext cx="14363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Missing at Random</a:t>
              </a:r>
            </a:p>
          </p:txBody>
        </p:sp>
        <p:sp>
          <p:nvSpPr>
            <p:cNvPr id="29" name="Line 29"/>
            <p:cNvSpPr/>
            <p:nvPr/>
          </p:nvSpPr>
          <p:spPr>
            <a:xfrm>
              <a:off x="4648200" y="3009900"/>
              <a:ext cx="2514600" cy="9525"/>
            </a:xfrm>
            <a:custGeom>
              <a:avLst/>
              <a:gdLst/>
              <a:ahLst/>
              <a:cxnLst/>
              <a:rect l="l" t="t" r="r" b="b"/>
              <a:pathLst>
                <a:path w="2514600" h="9525">
                  <a:moveTo>
                    <a:pt x="0" y="0"/>
                  </a:moveTo>
                  <a:lnTo>
                    <a:pt x="2514600" y="0"/>
                  </a:lnTo>
                </a:path>
              </a:pathLst>
            </a:custGeom>
            <a:noFill/>
            <a:ln w="9525">
              <a:solidFill>
                <a:srgbClr val="B8CBD3"/>
              </a:solidFill>
            </a:ln>
          </p:spPr>
        </p:sp>
        <p:sp>
          <p:nvSpPr>
            <p:cNvPr id="30" name="TextBox 30"/>
            <p:cNvSpPr txBox="1"/>
            <p:nvPr/>
          </p:nvSpPr>
          <p:spPr>
            <a:xfrm>
              <a:off x="4642104" y="3147060"/>
              <a:ext cx="20929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Eksiklik gözlenen başka bir</a:t>
              </a:r>
            </a:p>
          </p:txBody>
        </p:sp>
        <p:sp>
          <p:nvSpPr>
            <p:cNvPr id="31" name="TextBox 31"/>
            <p:cNvSpPr txBox="1"/>
            <p:nvPr/>
          </p:nvSpPr>
          <p:spPr>
            <a:xfrm>
              <a:off x="4642104" y="3356610"/>
              <a:ext cx="210418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değişkenle ilişkilidir; eksik</a:t>
              </a:r>
            </a:p>
          </p:txBody>
        </p:sp>
        <p:sp>
          <p:nvSpPr>
            <p:cNvPr id="32" name="TextBox 32"/>
            <p:cNvSpPr txBox="1"/>
            <p:nvPr/>
          </p:nvSpPr>
          <p:spPr>
            <a:xfrm>
              <a:off x="4642104" y="3566160"/>
              <a:ext cx="19103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değerin kendisiyle değil.</a:t>
              </a:r>
            </a:p>
          </p:txBody>
        </p:sp>
        <p:sp>
          <p:nvSpPr>
            <p:cNvPr id="33" name="TextBox 33"/>
            <p:cNvSpPr txBox="1"/>
            <p:nvPr/>
          </p:nvSpPr>
          <p:spPr>
            <a:xfrm>
              <a:off x="4642104" y="3947160"/>
              <a:ext cx="483931"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Örnek</a:t>
              </a:r>
            </a:p>
          </p:txBody>
        </p:sp>
        <p:sp>
          <p:nvSpPr>
            <p:cNvPr id="34" name="TextBox 34"/>
            <p:cNvSpPr txBox="1"/>
            <p:nvPr/>
          </p:nvSpPr>
          <p:spPr>
            <a:xfrm>
              <a:off x="4642104" y="4175760"/>
              <a:ext cx="17777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Genç kullanıcılar gelir</a:t>
              </a:r>
            </a:p>
          </p:txBody>
        </p:sp>
        <p:sp>
          <p:nvSpPr>
            <p:cNvPr id="35" name="TextBox 35"/>
            <p:cNvSpPr txBox="1"/>
            <p:nvPr/>
          </p:nvSpPr>
          <p:spPr>
            <a:xfrm>
              <a:off x="4642104" y="4385310"/>
              <a:ext cx="242727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sorusunu daha sık boş bırakır</a:t>
              </a:r>
            </a:p>
          </p:txBody>
        </p:sp>
        <p:sp>
          <p:nvSpPr>
            <p:cNvPr id="36" name="TextBox 36"/>
            <p:cNvSpPr txBox="1"/>
            <p:nvPr/>
          </p:nvSpPr>
          <p:spPr>
            <a:xfrm>
              <a:off x="4642104" y="4747260"/>
              <a:ext cx="209565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Strateji: grup bazlı veya</a:t>
              </a:r>
            </a:p>
          </p:txBody>
        </p:sp>
        <p:sp>
          <p:nvSpPr>
            <p:cNvPr id="37" name="TextBox 37"/>
            <p:cNvSpPr txBox="1"/>
            <p:nvPr/>
          </p:nvSpPr>
          <p:spPr>
            <a:xfrm>
              <a:off x="4642104" y="4956810"/>
              <a:ext cx="1920431"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model tabanlı doldurma</a:t>
              </a:r>
            </a:p>
          </p:txBody>
        </p:sp>
      </p:grpSp>
      <p:grpSp>
        <p:nvGrpSpPr>
          <p:cNvPr id="53" name="card-mnar"/>
          <p:cNvGrpSpPr/>
          <p:nvPr/>
        </p:nvGrpSpPr>
        <p:grpSpPr>
          <a:xfrm>
            <a:off x="8229600" y="1809750"/>
            <a:ext cx="3352800" cy="3619500"/>
            <a:chOff x="8229600" y="1809750"/>
            <a:chExt cx="3352800" cy="3619500"/>
          </a:xfrm>
        </p:grpSpPr>
        <p:sp>
          <p:nvSpPr>
            <p:cNvPr id="39" name="Rectangle 39"/>
            <p:cNvSpPr/>
            <p:nvPr/>
          </p:nvSpPr>
          <p:spPr>
            <a:xfrm>
              <a:off x="8229600" y="1809750"/>
              <a:ext cx="3352800" cy="3619500"/>
            </a:xfrm>
            <a:prstGeom prst="roundRect">
              <a:avLst>
                <a:gd name="adj" fmla="val 2841"/>
              </a:avLst>
            </a:prstGeom>
            <a:solidFill>
              <a:srgbClr val="FFFFFF"/>
            </a:solidFill>
            <a:ln w="14288">
              <a:solidFill>
                <a:srgbClr val="B8CBD3"/>
              </a:solidFill>
            </a:ln>
          </p:spPr>
        </p:sp>
        <p:sp>
          <p:nvSpPr>
            <p:cNvPr id="40" name="Rectangle 40"/>
            <p:cNvSpPr/>
            <p:nvPr/>
          </p:nvSpPr>
          <p:spPr>
            <a:xfrm>
              <a:off x="8229600" y="1809750"/>
              <a:ext cx="3352800" cy="533400"/>
            </a:xfrm>
            <a:prstGeom prst="roundRect">
              <a:avLst>
                <a:gd name="adj" fmla="val 17857"/>
              </a:avLst>
            </a:prstGeom>
            <a:solidFill>
              <a:srgbClr val="12355B"/>
            </a:solidFill>
            <a:ln>
              <a:noFill/>
            </a:ln>
          </p:spPr>
        </p:sp>
        <p:sp>
          <p:nvSpPr>
            <p:cNvPr id="41" name="Rectangle 41"/>
            <p:cNvSpPr/>
            <p:nvPr/>
          </p:nvSpPr>
          <p:spPr>
            <a:xfrm>
              <a:off x="8229600" y="2114550"/>
              <a:ext cx="3352800" cy="228600"/>
            </a:xfrm>
            <a:prstGeom prst="rect">
              <a:avLst/>
            </a:prstGeom>
            <a:solidFill>
              <a:srgbClr val="12355B"/>
            </a:solidFill>
            <a:ln>
              <a:noFill/>
            </a:ln>
          </p:spPr>
        </p:sp>
        <p:sp>
          <p:nvSpPr>
            <p:cNvPr id="42" name="TextBox 42"/>
            <p:cNvSpPr txBox="1"/>
            <p:nvPr/>
          </p:nvSpPr>
          <p:spPr>
            <a:xfrm>
              <a:off x="8449056" y="1958340"/>
              <a:ext cx="663489"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MNAR</a:t>
              </a:r>
            </a:p>
          </p:txBody>
        </p:sp>
        <p:sp>
          <p:nvSpPr>
            <p:cNvPr id="43" name="TextBox 43"/>
            <p:cNvSpPr txBox="1"/>
            <p:nvPr/>
          </p:nvSpPr>
          <p:spPr>
            <a:xfrm>
              <a:off x="8452104" y="2518410"/>
              <a:ext cx="175702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Missing Not at Random</a:t>
              </a:r>
            </a:p>
          </p:txBody>
        </p:sp>
        <p:sp>
          <p:nvSpPr>
            <p:cNvPr id="44" name="Line 44"/>
            <p:cNvSpPr/>
            <p:nvPr/>
          </p:nvSpPr>
          <p:spPr>
            <a:xfrm>
              <a:off x="8458200" y="3009900"/>
              <a:ext cx="2514600" cy="9525"/>
            </a:xfrm>
            <a:custGeom>
              <a:avLst/>
              <a:gdLst/>
              <a:ahLst/>
              <a:cxnLst/>
              <a:rect l="l" t="t" r="r" b="b"/>
              <a:pathLst>
                <a:path w="2514600" h="9525">
                  <a:moveTo>
                    <a:pt x="0" y="0"/>
                  </a:moveTo>
                  <a:lnTo>
                    <a:pt x="2514600" y="0"/>
                  </a:lnTo>
                </a:path>
              </a:pathLst>
            </a:custGeom>
            <a:noFill/>
            <a:ln w="9525">
              <a:solidFill>
                <a:srgbClr val="B8CBD3"/>
              </a:solidFill>
            </a:ln>
          </p:spPr>
        </p:sp>
        <p:sp>
          <p:nvSpPr>
            <p:cNvPr id="45" name="TextBox 45"/>
            <p:cNvSpPr txBox="1"/>
            <p:nvPr/>
          </p:nvSpPr>
          <p:spPr>
            <a:xfrm>
              <a:off x="8452104" y="3147060"/>
              <a:ext cx="21415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Eksiklik, eksik olan değerin</a:t>
              </a:r>
            </a:p>
          </p:txBody>
        </p:sp>
        <p:sp>
          <p:nvSpPr>
            <p:cNvPr id="46" name="TextBox 46"/>
            <p:cNvSpPr txBox="1"/>
            <p:nvPr/>
          </p:nvSpPr>
          <p:spPr>
            <a:xfrm>
              <a:off x="8452104" y="3356610"/>
              <a:ext cx="222534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kendisine bağlıdır; en riskli</a:t>
              </a:r>
            </a:p>
          </p:txBody>
        </p:sp>
        <p:sp>
          <p:nvSpPr>
            <p:cNvPr id="47" name="TextBox 47"/>
            <p:cNvSpPr txBox="1"/>
            <p:nvPr/>
          </p:nvSpPr>
          <p:spPr>
            <a:xfrm>
              <a:off x="8452104" y="3566160"/>
              <a:ext cx="163570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ve gizli örüntü türü.</a:t>
              </a:r>
            </a:p>
          </p:txBody>
        </p:sp>
        <p:sp>
          <p:nvSpPr>
            <p:cNvPr id="48" name="TextBox 48"/>
            <p:cNvSpPr txBox="1"/>
            <p:nvPr/>
          </p:nvSpPr>
          <p:spPr>
            <a:xfrm>
              <a:off x="8452104" y="3947160"/>
              <a:ext cx="483931" cy="234696"/>
            </a:xfrm>
            <a:prstGeom prst="rect">
              <a:avLst/>
            </a:prstGeom>
            <a:noFill/>
            <a:ln>
              <a:noFill/>
            </a:ln>
          </p:spPr>
          <p:txBody>
            <a:bodyPr wrap="none" lIns="0" tIns="0" rIns="0" bIns="0" anchor="t" anchorCtr="0">
              <a:spAutoFit/>
            </a:bodyPr>
            <a:lstStyle/>
            <a:p>
              <a:pPr algn="l"/>
              <a:r>
                <a:rPr lang="tr-TR" sz="1200" b="1" dirty="0">
                  <a:solidFill>
                    <a:srgbClr val="2E86AB"/>
                  </a:solidFill>
                  <a:latin typeface="+mn-lt"/>
                  <a:ea typeface="+mn-ea"/>
                  <a:cs typeface="+mn-cs"/>
                </a:rPr>
                <a:t>Örnek</a:t>
              </a:r>
            </a:p>
          </p:txBody>
        </p:sp>
        <p:sp>
          <p:nvSpPr>
            <p:cNvPr id="49" name="TextBox 49"/>
            <p:cNvSpPr txBox="1"/>
            <p:nvPr/>
          </p:nvSpPr>
          <p:spPr>
            <a:xfrm>
              <a:off x="8452104" y="4175760"/>
              <a:ext cx="194739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Yüksek gelirli müşteriler</a:t>
              </a:r>
            </a:p>
          </p:txBody>
        </p:sp>
        <p:sp>
          <p:nvSpPr>
            <p:cNvPr id="50" name="TextBox 50"/>
            <p:cNvSpPr txBox="1"/>
            <p:nvPr/>
          </p:nvSpPr>
          <p:spPr>
            <a:xfrm>
              <a:off x="8452104" y="4385310"/>
              <a:ext cx="250804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geliri bilinçli olarak boş bırakır</a:t>
              </a:r>
            </a:p>
          </p:txBody>
        </p:sp>
        <p:sp>
          <p:nvSpPr>
            <p:cNvPr id="51" name="TextBox 51"/>
            <p:cNvSpPr txBox="1"/>
            <p:nvPr/>
          </p:nvSpPr>
          <p:spPr>
            <a:xfrm>
              <a:off x="8452104" y="4747260"/>
              <a:ext cx="2036125"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Strateji: basit doldurma</a:t>
              </a:r>
            </a:p>
          </p:txBody>
        </p:sp>
        <p:sp>
          <p:nvSpPr>
            <p:cNvPr id="52" name="TextBox 52"/>
            <p:cNvSpPr txBox="1"/>
            <p:nvPr/>
          </p:nvSpPr>
          <p:spPr>
            <a:xfrm>
              <a:off x="8452104" y="4956810"/>
              <a:ext cx="2386889"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yanlıdır; alan bilgisi gerekir</a:t>
              </a:r>
            </a:p>
          </p:txBody>
        </p:sp>
      </p:grpSp>
      <p:grpSp>
        <p:nvGrpSpPr>
          <p:cNvPr id="57" name="warning-note"/>
          <p:cNvGrpSpPr/>
          <p:nvPr/>
        </p:nvGrpSpPr>
        <p:grpSpPr>
          <a:xfrm>
            <a:off x="609600" y="5600700"/>
            <a:ext cx="10972800" cy="647700"/>
            <a:chOff x="609600" y="5600700"/>
            <a:chExt cx="10972800" cy="647700"/>
          </a:xfrm>
        </p:grpSpPr>
        <p:sp>
          <p:nvSpPr>
            <p:cNvPr id="54" name="Rectangle 54"/>
            <p:cNvSpPr/>
            <p:nvPr/>
          </p:nvSpPr>
          <p:spPr>
            <a:xfrm>
              <a:off x="609600" y="5600700"/>
              <a:ext cx="10972800" cy="647700"/>
            </a:xfrm>
            <a:prstGeom prst="roundRect">
              <a:avLst>
                <a:gd name="adj" fmla="val 14706"/>
              </a:avLst>
            </a:prstGeom>
            <a:solidFill>
              <a:srgbClr val="EAF4F6"/>
            </a:solidFill>
            <a:ln>
              <a:noFill/>
            </a:ln>
          </p:spPr>
        </p:sp>
        <p:sp>
          <p:nvSpPr>
            <p:cNvPr id="55" name="TextBox 55"/>
            <p:cNvSpPr txBox="1"/>
            <p:nvPr/>
          </p:nvSpPr>
          <p:spPr>
            <a:xfrm>
              <a:off x="907542" y="5702618"/>
              <a:ext cx="673705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Dikkat: mekanizma çoğu zaman veriden değil, alan bilgisinden çıkarılır —</a:t>
              </a:r>
            </a:p>
          </p:txBody>
        </p:sp>
        <p:sp>
          <p:nvSpPr>
            <p:cNvPr id="56" name="TextBox 56"/>
            <p:cNvSpPr txBox="1"/>
            <p:nvPr/>
          </p:nvSpPr>
          <p:spPr>
            <a:xfrm>
              <a:off x="907542" y="5931218"/>
              <a:ext cx="562030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istatistiksel testler yalnızca ipucu verir, kesin kanıt vermez.</a:t>
              </a:r>
            </a:p>
          </p:txBody>
        </p:sp>
      </p:grpSp>
      <p:sp>
        <p:nvSpPr>
          <p:cNvPr id="58" name="TextBox 5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540787" cy="668845"/>
            <a:chOff x="609600" y="171450"/>
            <a:chExt cx="7540787"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685041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Eksik veriyi tespit etmek: ilk adım</a:t>
              </a:r>
            </a:p>
          </p:txBody>
        </p:sp>
      </p:grpSp>
      <p:grpSp>
        <p:nvGrpSpPr>
          <p:cNvPr id="29" name="code-panel"/>
          <p:cNvGrpSpPr/>
          <p:nvPr/>
        </p:nvGrpSpPr>
        <p:grpSpPr>
          <a:xfrm>
            <a:off x="609600" y="1257300"/>
            <a:ext cx="5638800" cy="4381500"/>
            <a:chOff x="609600" y="1257300"/>
            <a:chExt cx="5638800" cy="4381500"/>
          </a:xfrm>
        </p:grpSpPr>
        <p:sp>
          <p:nvSpPr>
            <p:cNvPr id="12" name="Rectangle 12"/>
            <p:cNvSpPr/>
            <p:nvPr/>
          </p:nvSpPr>
          <p:spPr>
            <a:xfrm>
              <a:off x="609600" y="1257300"/>
              <a:ext cx="5638800" cy="4381500"/>
            </a:xfrm>
            <a:prstGeom prst="roundRect">
              <a:avLst>
                <a:gd name="adj" fmla="val 2174"/>
              </a:avLst>
            </a:prstGeom>
            <a:solidFill>
              <a:srgbClr val="12355B"/>
            </a:solidFill>
            <a:ln>
              <a:noFill/>
            </a:ln>
          </p:spPr>
        </p:sp>
        <p:sp>
          <p:nvSpPr>
            <p:cNvPr id="13" name="Ellipse 13"/>
            <p:cNvSpPr/>
            <p:nvPr/>
          </p:nvSpPr>
          <p:spPr>
            <a:xfrm>
              <a:off x="819150" y="1447800"/>
              <a:ext cx="114300" cy="114300"/>
            </a:xfrm>
            <a:prstGeom prst="ellipse">
              <a:avLst/>
            </a:prstGeom>
            <a:solidFill>
              <a:srgbClr val="00A6A6"/>
            </a:solidFill>
            <a:ln>
              <a:noFill/>
            </a:ln>
          </p:spPr>
        </p:sp>
        <p:sp>
          <p:nvSpPr>
            <p:cNvPr id="14" name="Ellipse 14"/>
            <p:cNvSpPr/>
            <p:nvPr/>
          </p:nvSpPr>
          <p:spPr>
            <a:xfrm>
              <a:off x="1028700" y="1447800"/>
              <a:ext cx="114300" cy="114300"/>
            </a:xfrm>
            <a:prstGeom prst="ellipse">
              <a:avLst/>
            </a:prstGeom>
            <a:solidFill>
              <a:srgbClr val="2E86AB"/>
            </a:solidFill>
            <a:ln>
              <a:noFill/>
            </a:ln>
          </p:spPr>
        </p:sp>
        <p:sp>
          <p:nvSpPr>
            <p:cNvPr id="15" name="Ellipse 15"/>
            <p:cNvSpPr/>
            <p:nvPr/>
          </p:nvSpPr>
          <p:spPr>
            <a:xfrm>
              <a:off x="1238250" y="1447800"/>
              <a:ext cx="114300" cy="114300"/>
            </a:xfrm>
            <a:prstGeom prst="ellipse">
              <a:avLst/>
            </a:prstGeom>
            <a:solidFill>
              <a:srgbClr val="EAF4F6"/>
            </a:solidFill>
            <a:ln>
              <a:noFill/>
            </a:ln>
          </p:spPr>
        </p:sp>
        <p:sp>
          <p:nvSpPr>
            <p:cNvPr id="16" name="TextBox 16"/>
            <p:cNvSpPr txBox="1"/>
            <p:nvPr/>
          </p:nvSpPr>
          <p:spPr>
            <a:xfrm>
              <a:off x="831342" y="1797368"/>
              <a:ext cx="1712957"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df.isnull().sum()</a:t>
              </a:r>
            </a:p>
          </p:txBody>
        </p:sp>
        <p:sp>
          <p:nvSpPr>
            <p:cNvPr id="17" name="TextBox 17"/>
            <p:cNvSpPr txBox="1"/>
            <p:nvPr/>
          </p:nvSpPr>
          <p:spPr>
            <a:xfrm>
              <a:off x="831342" y="2102168"/>
              <a:ext cx="1513046" cy="264033"/>
            </a:xfrm>
            <a:prstGeom prst="rect">
              <a:avLst/>
            </a:prstGeom>
            <a:noFill/>
            <a:ln>
              <a:noFill/>
            </a:ln>
          </p:spPr>
          <p:txBody>
            <a:bodyPr wrap="none" lIns="0" tIns="0" rIns="0" bIns="0" anchor="t" anchorCtr="0">
              <a:spAutoFit/>
            </a:bodyPr>
            <a:lstStyle/>
            <a:p>
              <a:pPr algn="l"/>
              <a:r>
                <a:rPr lang="tr-TR" sz="1350" dirty="0">
                  <a:solidFill>
                    <a:srgbClr val="EAF4F6"/>
                  </a:solidFill>
                  <a:latin typeface="Consolas"/>
                  <a:ea typeface="Consolas"/>
                  <a:cs typeface="Consolas"/>
                </a:rPr>
                <a:t>/ len(df) * 100</a:t>
              </a:r>
            </a:p>
          </p:txBody>
        </p:sp>
        <p:sp>
          <p:nvSpPr>
            <p:cNvPr id="18" name="TextBox 18"/>
            <p:cNvSpPr txBox="1"/>
            <p:nvPr/>
          </p:nvSpPr>
          <p:spPr>
            <a:xfrm>
              <a:off x="832104" y="2575560"/>
              <a:ext cx="117377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Çıktı (yüzde)</a:t>
              </a:r>
            </a:p>
          </p:txBody>
        </p:sp>
        <p:sp>
          <p:nvSpPr>
            <p:cNvPr id="19" name="TextBox 19"/>
            <p:cNvSpPr txBox="1"/>
            <p:nvPr/>
          </p:nvSpPr>
          <p:spPr>
            <a:xfrm>
              <a:off x="832104" y="2861310"/>
              <a:ext cx="634136"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yas 0.0</a:t>
              </a:r>
            </a:p>
          </p:txBody>
        </p:sp>
        <p:sp>
          <p:nvSpPr>
            <p:cNvPr id="20" name="TextBox 20"/>
            <p:cNvSpPr txBox="1"/>
            <p:nvPr/>
          </p:nvSpPr>
          <p:spPr>
            <a:xfrm>
              <a:off x="832104" y="3089910"/>
              <a:ext cx="1344930"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aylik_gelir 4.2</a:t>
              </a:r>
            </a:p>
          </p:txBody>
        </p:sp>
        <p:sp>
          <p:nvSpPr>
            <p:cNvPr id="21" name="TextBox 21"/>
            <p:cNvSpPr txBox="1"/>
            <p:nvPr/>
          </p:nvSpPr>
          <p:spPr>
            <a:xfrm>
              <a:off x="832104" y="3318510"/>
              <a:ext cx="170032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kullanim_suresi 1.1</a:t>
              </a:r>
            </a:p>
          </p:txBody>
        </p:sp>
        <p:sp>
          <p:nvSpPr>
            <p:cNvPr id="22" name="TextBox 22"/>
            <p:cNvSpPr txBox="1"/>
            <p:nvPr/>
          </p:nvSpPr>
          <p:spPr>
            <a:xfrm>
              <a:off x="832104" y="3547110"/>
              <a:ext cx="1700327"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sikayet_sayisi 18.7</a:t>
              </a:r>
            </a:p>
          </p:txBody>
        </p:sp>
        <p:sp>
          <p:nvSpPr>
            <p:cNvPr id="23" name="TextBox 23"/>
            <p:cNvSpPr txBox="1"/>
            <p:nvPr/>
          </p:nvSpPr>
          <p:spPr>
            <a:xfrm>
              <a:off x="832104" y="3775710"/>
              <a:ext cx="811835"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sehir 0.3</a:t>
              </a:r>
            </a:p>
          </p:txBody>
        </p:sp>
        <p:sp>
          <p:nvSpPr>
            <p:cNvPr id="24" name="Line 24"/>
            <p:cNvSpPr/>
            <p:nvPr/>
          </p:nvSpPr>
          <p:spPr>
            <a:xfrm>
              <a:off x="838200" y="4133850"/>
              <a:ext cx="5105400" cy="9525"/>
            </a:xfrm>
            <a:custGeom>
              <a:avLst/>
              <a:gdLst/>
              <a:ahLst/>
              <a:cxnLst/>
              <a:rect l="l" t="t" r="r" b="b"/>
              <a:pathLst>
                <a:path w="5105400" h="9525">
                  <a:moveTo>
                    <a:pt x="0" y="0"/>
                  </a:moveTo>
                  <a:lnTo>
                    <a:pt x="5105400" y="0"/>
                  </a:lnTo>
                </a:path>
              </a:pathLst>
            </a:custGeom>
            <a:noFill/>
            <a:ln w="9525">
              <a:solidFill>
                <a:srgbClr val="2E86AB"/>
              </a:solidFill>
            </a:ln>
          </p:spPr>
        </p:sp>
        <p:sp>
          <p:nvSpPr>
            <p:cNvPr id="25" name="TextBox 25"/>
            <p:cNvSpPr txBox="1"/>
            <p:nvPr/>
          </p:nvSpPr>
          <p:spPr>
            <a:xfrm>
              <a:off x="832104" y="4290060"/>
              <a:ext cx="294421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msno.matrix(df) # eksiklik deseni</a:t>
              </a:r>
            </a:p>
          </p:txBody>
        </p:sp>
        <p:sp>
          <p:nvSpPr>
            <p:cNvPr id="26" name="TextBox 26"/>
            <p:cNvSpPr txBox="1"/>
            <p:nvPr/>
          </p:nvSpPr>
          <p:spPr>
            <a:xfrm>
              <a:off x="832104" y="4518660"/>
              <a:ext cx="294421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Consolas"/>
                  <a:ea typeface="Consolas"/>
                  <a:cs typeface="Consolas"/>
                </a:rPr>
                <a:t>msno.heatmap(df) # ilişki matrisi</a:t>
              </a:r>
            </a:p>
          </p:txBody>
        </p:sp>
        <p:sp>
          <p:nvSpPr>
            <p:cNvPr id="27" name="TextBox 27"/>
            <p:cNvSpPr txBox="1"/>
            <p:nvPr/>
          </p:nvSpPr>
          <p:spPr>
            <a:xfrm>
              <a:off x="832485" y="5136356"/>
              <a:ext cx="291383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Consolas"/>
                  <a:ea typeface="Consolas"/>
                  <a:cs typeface="Consolas"/>
                </a:rPr>
                <a:t>missingno kütüphanesi görsel örüntü</a:t>
              </a:r>
            </a:p>
          </p:txBody>
        </p:sp>
        <p:sp>
          <p:nvSpPr>
            <p:cNvPr id="28" name="TextBox 28"/>
            <p:cNvSpPr txBox="1"/>
            <p:nvPr/>
          </p:nvSpPr>
          <p:spPr>
            <a:xfrm>
              <a:off x="832485" y="5326856"/>
              <a:ext cx="191872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Consolas"/>
                  <a:ea typeface="Consolas"/>
                  <a:cs typeface="Consolas"/>
                </a:rPr>
                <a:t>tespiti için kullanılır</a:t>
              </a:r>
            </a:p>
          </p:txBody>
        </p:sp>
      </p:grpSp>
      <p:grpSp>
        <p:nvGrpSpPr>
          <p:cNvPr id="51" name="guidance"/>
          <p:cNvGrpSpPr/>
          <p:nvPr/>
        </p:nvGrpSpPr>
        <p:grpSpPr>
          <a:xfrm>
            <a:off x="6553200" y="1257300"/>
            <a:ext cx="5029200" cy="4381500"/>
            <a:chOff x="6553200" y="1257300"/>
            <a:chExt cx="5029200" cy="4381500"/>
          </a:xfrm>
        </p:grpSpPr>
        <p:grpSp>
          <p:nvGrpSpPr>
            <p:cNvPr id="34" name="guide-row1"/>
            <p:cNvGrpSpPr/>
            <p:nvPr/>
          </p:nvGrpSpPr>
          <p:grpSpPr>
            <a:xfrm>
              <a:off x="6553200" y="1257300"/>
              <a:ext cx="3493644" cy="857250"/>
              <a:chOff x="6553200" y="1257300"/>
              <a:chExt cx="3493644" cy="857250"/>
            </a:xfrm>
          </p:grpSpPr>
          <p:sp>
            <p:nvSpPr>
              <p:cNvPr id="30" name="Rectangle 30"/>
              <p:cNvSpPr/>
              <p:nvPr/>
            </p:nvSpPr>
            <p:spPr>
              <a:xfrm>
                <a:off x="6553200" y="1257300"/>
                <a:ext cx="57150" cy="857250"/>
              </a:xfrm>
              <a:prstGeom prst="rect">
                <a:avLst/>
              </a:prstGeom>
              <a:solidFill>
                <a:srgbClr val="00A6A6"/>
              </a:solidFill>
              <a:ln>
                <a:noFill/>
              </a:ln>
            </p:spPr>
          </p:sp>
          <p:sp>
            <p:nvSpPr>
              <p:cNvPr id="31" name="TextBox 31"/>
              <p:cNvSpPr txBox="1"/>
              <p:nvPr/>
            </p:nvSpPr>
            <p:spPr>
              <a:xfrm>
                <a:off x="6811518" y="1307782"/>
                <a:ext cx="2733884"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%0–5: genellikle güvenle</a:t>
                </a:r>
              </a:p>
            </p:txBody>
          </p:sp>
          <p:sp>
            <p:nvSpPr>
              <p:cNvPr id="32" name="TextBox 32"/>
              <p:cNvSpPr txBox="1"/>
              <p:nvPr/>
            </p:nvSpPr>
            <p:spPr>
              <a:xfrm>
                <a:off x="6811518" y="1574482"/>
                <a:ext cx="3235326"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silinebilir veya doldurulabilir</a:t>
                </a:r>
              </a:p>
            </p:txBody>
          </p:sp>
          <p:sp>
            <p:nvSpPr>
              <p:cNvPr id="33" name="TextBox 33"/>
              <p:cNvSpPr txBox="1"/>
              <p:nvPr/>
            </p:nvSpPr>
            <p:spPr>
              <a:xfrm>
                <a:off x="6813804" y="1870710"/>
                <a:ext cx="233520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Modeli ciddi biçimde etkilemez</a:t>
                </a:r>
              </a:p>
            </p:txBody>
          </p:sp>
        </p:grpSp>
        <p:grpSp>
          <p:nvGrpSpPr>
            <p:cNvPr id="39" name="guide-row2"/>
            <p:cNvGrpSpPr/>
            <p:nvPr/>
          </p:nvGrpSpPr>
          <p:grpSpPr>
            <a:xfrm>
              <a:off x="6553200" y="2324100"/>
              <a:ext cx="3225431" cy="857250"/>
              <a:chOff x="6553200" y="2324100"/>
              <a:chExt cx="3225431" cy="857250"/>
            </a:xfrm>
          </p:grpSpPr>
          <p:sp>
            <p:nvSpPr>
              <p:cNvPr id="35" name="Rectangle 35"/>
              <p:cNvSpPr/>
              <p:nvPr/>
            </p:nvSpPr>
            <p:spPr>
              <a:xfrm>
                <a:off x="6553200" y="2324100"/>
                <a:ext cx="57150" cy="857250"/>
              </a:xfrm>
              <a:prstGeom prst="rect">
                <a:avLst/>
              </a:prstGeom>
              <a:solidFill>
                <a:srgbClr val="00A6A6"/>
              </a:solidFill>
              <a:ln>
                <a:noFill/>
              </a:ln>
            </p:spPr>
          </p:sp>
          <p:sp>
            <p:nvSpPr>
              <p:cNvPr id="36" name="TextBox 36"/>
              <p:cNvSpPr txBox="1"/>
              <p:nvPr/>
            </p:nvSpPr>
            <p:spPr>
              <a:xfrm>
                <a:off x="6811518" y="2374582"/>
                <a:ext cx="2967113"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%5–20: dikkatli doldurma,</a:t>
                </a:r>
              </a:p>
            </p:txBody>
          </p:sp>
          <p:sp>
            <p:nvSpPr>
              <p:cNvPr id="37" name="TextBox 37"/>
              <p:cNvSpPr txBox="1"/>
              <p:nvPr/>
            </p:nvSpPr>
            <p:spPr>
              <a:xfrm>
                <a:off x="6811518" y="2641282"/>
                <a:ext cx="2582285"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mekanizmayı belirleyin</a:t>
                </a:r>
              </a:p>
            </p:txBody>
          </p:sp>
          <p:sp>
            <p:nvSpPr>
              <p:cNvPr id="38" name="TextBox 38"/>
              <p:cNvSpPr txBox="1"/>
              <p:nvPr/>
            </p:nvSpPr>
            <p:spPr>
              <a:xfrm>
                <a:off x="6813804" y="2937510"/>
                <a:ext cx="221726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sikayet_sayisi bu aralıkta —</a:t>
                </a:r>
              </a:p>
            </p:txBody>
          </p:sp>
        </p:grpSp>
        <p:grpSp>
          <p:nvGrpSpPr>
            <p:cNvPr id="44" name="guide-row3"/>
            <p:cNvGrpSpPr/>
            <p:nvPr/>
          </p:nvGrpSpPr>
          <p:grpSpPr>
            <a:xfrm>
              <a:off x="6553200" y="3390900"/>
              <a:ext cx="4111702" cy="857250"/>
              <a:chOff x="6553200" y="3390900"/>
              <a:chExt cx="4111702" cy="857250"/>
            </a:xfrm>
          </p:grpSpPr>
          <p:sp>
            <p:nvSpPr>
              <p:cNvPr id="40" name="Rectangle 40"/>
              <p:cNvSpPr/>
              <p:nvPr/>
            </p:nvSpPr>
            <p:spPr>
              <a:xfrm>
                <a:off x="6553200" y="3390900"/>
                <a:ext cx="57150" cy="857250"/>
              </a:xfrm>
              <a:prstGeom prst="rect">
                <a:avLst/>
              </a:prstGeom>
              <a:solidFill>
                <a:srgbClr val="00A6A6"/>
              </a:solidFill>
              <a:ln>
                <a:noFill/>
              </a:ln>
            </p:spPr>
          </p:sp>
          <p:sp>
            <p:nvSpPr>
              <p:cNvPr id="41" name="TextBox 41"/>
              <p:cNvSpPr txBox="1"/>
              <p:nvPr/>
            </p:nvSpPr>
            <p:spPr>
              <a:xfrm>
                <a:off x="6811518" y="3441382"/>
                <a:ext cx="334027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%20 üzeri: sütunu çıkarmayı</a:t>
                </a:r>
              </a:p>
            </p:txBody>
          </p:sp>
          <p:sp>
            <p:nvSpPr>
              <p:cNvPr id="42" name="TextBox 42"/>
              <p:cNvSpPr txBox="1"/>
              <p:nvPr/>
            </p:nvSpPr>
            <p:spPr>
              <a:xfrm>
                <a:off x="6811518" y="3708082"/>
                <a:ext cx="3853384"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veya "eksik" bilgisini işaretlemeyi</a:t>
                </a:r>
              </a:p>
            </p:txBody>
          </p:sp>
          <p:sp>
            <p:nvSpPr>
              <p:cNvPr id="43" name="TextBox 43"/>
              <p:cNvSpPr txBox="1"/>
              <p:nvPr/>
            </p:nvSpPr>
            <p:spPr>
              <a:xfrm>
                <a:off x="6813804" y="4004310"/>
                <a:ext cx="199918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düşünün (yeni ikili sütun)</a:t>
                </a:r>
              </a:p>
            </p:txBody>
          </p:sp>
        </p:grpSp>
        <p:grpSp>
          <p:nvGrpSpPr>
            <p:cNvPr id="50" name="guide-tip"/>
            <p:cNvGrpSpPr/>
            <p:nvPr/>
          </p:nvGrpSpPr>
          <p:grpSpPr>
            <a:xfrm>
              <a:off x="6553200" y="4457700"/>
              <a:ext cx="5029200" cy="1181100"/>
              <a:chOff x="6553200" y="4457700"/>
              <a:chExt cx="5029200" cy="1181100"/>
            </a:xfrm>
          </p:grpSpPr>
          <p:sp>
            <p:nvSpPr>
              <p:cNvPr id="45" name="Rectangle 45"/>
              <p:cNvSpPr/>
              <p:nvPr/>
            </p:nvSpPr>
            <p:spPr>
              <a:xfrm>
                <a:off x="6553200" y="4457700"/>
                <a:ext cx="5029200" cy="1181100"/>
              </a:xfrm>
              <a:prstGeom prst="roundRect">
                <a:avLst>
                  <a:gd name="adj" fmla="val 8065"/>
                </a:avLst>
              </a:prstGeom>
              <a:solidFill>
                <a:srgbClr val="EAF4F6"/>
              </a:solidFill>
              <a:ln>
                <a:noFill/>
              </a:ln>
            </p:spPr>
          </p:sp>
          <p:sp>
            <p:nvSpPr>
              <p:cNvPr id="46" name="TextBox 46"/>
              <p:cNvSpPr txBox="1"/>
              <p:nvPr/>
            </p:nvSpPr>
            <p:spPr>
              <a:xfrm>
                <a:off x="6813042" y="4616768"/>
                <a:ext cx="54442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İpucu</a:t>
                </a:r>
              </a:p>
            </p:txBody>
          </p:sp>
          <p:sp>
            <p:nvSpPr>
              <p:cNvPr id="47" name="TextBox 47"/>
              <p:cNvSpPr txBox="1"/>
              <p:nvPr/>
            </p:nvSpPr>
            <p:spPr>
              <a:xfrm>
                <a:off x="6813042" y="4883468"/>
                <a:ext cx="281812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Eşikler kesin kural değil; alanın</a:t>
                </a:r>
              </a:p>
            </p:txBody>
          </p:sp>
          <p:sp>
            <p:nvSpPr>
              <p:cNvPr id="48" name="TextBox 48"/>
              <p:cNvSpPr txBox="1"/>
              <p:nvPr/>
            </p:nvSpPr>
            <p:spPr>
              <a:xfrm>
                <a:off x="6813042" y="5112068"/>
                <a:ext cx="253077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riskine ve sütunun modeldeki</a:t>
                </a:r>
              </a:p>
            </p:txBody>
          </p:sp>
          <p:sp>
            <p:nvSpPr>
              <p:cNvPr id="49" name="TextBox 49"/>
              <p:cNvSpPr txBox="1"/>
              <p:nvPr/>
            </p:nvSpPr>
            <p:spPr>
              <a:xfrm>
                <a:off x="6813042" y="5340668"/>
                <a:ext cx="318502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önemine göre yeniden değerlendirin.</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697634" cy="668845"/>
            <a:chOff x="609600" y="171450"/>
            <a:chExt cx="769763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700726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Silme mi, doldurma mı? Karar akışı</a:t>
              </a:r>
            </a:p>
          </p:txBody>
        </p:sp>
      </p:grpSp>
      <p:grpSp>
        <p:nvGrpSpPr>
          <p:cNvPr id="14" name="decision-start"/>
          <p:cNvGrpSpPr/>
          <p:nvPr/>
        </p:nvGrpSpPr>
        <p:grpSpPr>
          <a:xfrm>
            <a:off x="5143500" y="1219200"/>
            <a:ext cx="1905000" cy="609600"/>
            <a:chOff x="5143500" y="1219200"/>
            <a:chExt cx="1905000" cy="609600"/>
          </a:xfrm>
        </p:grpSpPr>
        <p:sp>
          <p:nvSpPr>
            <p:cNvPr id="12" name="Rectangle 12"/>
            <p:cNvSpPr/>
            <p:nvPr/>
          </p:nvSpPr>
          <p:spPr>
            <a:xfrm>
              <a:off x="5143500" y="1219200"/>
              <a:ext cx="1905000" cy="609600"/>
            </a:xfrm>
            <a:prstGeom prst="roundRect">
              <a:avLst>
                <a:gd name="adj" fmla="val 50000"/>
              </a:avLst>
            </a:prstGeom>
            <a:solidFill>
              <a:srgbClr val="12355B"/>
            </a:solidFill>
            <a:ln>
              <a:noFill/>
            </a:ln>
          </p:spPr>
        </p:sp>
        <p:sp>
          <p:nvSpPr>
            <p:cNvPr id="13" name="TextBox 13"/>
            <p:cNvSpPr txBox="1"/>
            <p:nvPr/>
          </p:nvSpPr>
          <p:spPr>
            <a:xfrm>
              <a:off x="5289231" y="1435418"/>
              <a:ext cx="1613537" cy="264033"/>
            </a:xfrm>
            <a:prstGeom prst="rect">
              <a:avLst/>
            </a:prstGeom>
            <a:noFill/>
            <a:ln>
              <a:noFill/>
            </a:ln>
          </p:spPr>
          <p:txBody>
            <a:bodyPr wrap="none" lIns="0" tIns="0" rIns="0" bIns="0" anchor="t" anchorCtr="0">
              <a:spAutoFit/>
            </a:bodyPr>
            <a:lstStyle/>
            <a:p>
              <a:pPr algn="ctr"/>
              <a:r>
                <a:rPr lang="tr-TR" sz="1350" b="1" dirty="0">
                  <a:solidFill>
                    <a:srgbClr val="FFFFFF"/>
                  </a:solidFill>
                  <a:latin typeface="+mn-lt"/>
                  <a:ea typeface="+mn-ea"/>
                  <a:cs typeface="+mn-cs"/>
                </a:rPr>
                <a:t>Eksik oran nedir?</a:t>
              </a:r>
            </a:p>
          </p:txBody>
        </p:sp>
      </p:grpSp>
      <p:sp>
        <p:nvSpPr>
          <p:cNvPr id="15" name="Line 15"/>
          <p:cNvSpPr/>
          <p:nvPr/>
        </p:nvSpPr>
        <p:spPr>
          <a:xfrm flipH="1">
            <a:off x="4191000" y="1828800"/>
            <a:ext cx="1714500" cy="571500"/>
          </a:xfrm>
          <a:prstGeom prst="line">
            <a:avLst/>
          </a:prstGeom>
          <a:noFill/>
          <a:ln w="19050">
            <a:solidFill>
              <a:srgbClr val="52616B"/>
            </a:solidFill>
            <a:tailEnd type="arrow" w="lg" len="lg"/>
          </a:ln>
        </p:spPr>
      </p:sp>
      <p:sp>
        <p:nvSpPr>
          <p:cNvPr id="16" name="Line 16"/>
          <p:cNvSpPr/>
          <p:nvPr/>
        </p:nvSpPr>
        <p:spPr>
          <a:xfrm>
            <a:off x="6286500" y="1828800"/>
            <a:ext cx="1714500" cy="571500"/>
          </a:xfrm>
          <a:prstGeom prst="line">
            <a:avLst/>
          </a:prstGeom>
          <a:noFill/>
          <a:ln w="19050">
            <a:solidFill>
              <a:srgbClr val="52616B"/>
            </a:solidFill>
            <a:tailEnd type="arrow" w="lg" len="lg"/>
          </a:ln>
        </p:spPr>
      </p:sp>
      <p:grpSp>
        <p:nvGrpSpPr>
          <p:cNvPr id="21" name="branch-low"/>
          <p:cNvGrpSpPr/>
          <p:nvPr/>
        </p:nvGrpSpPr>
        <p:grpSpPr>
          <a:xfrm>
            <a:off x="2362200" y="2400300"/>
            <a:ext cx="3657600" cy="914400"/>
            <a:chOff x="2362200" y="2400300"/>
            <a:chExt cx="3657600" cy="914400"/>
          </a:xfrm>
        </p:grpSpPr>
        <p:sp>
          <p:nvSpPr>
            <p:cNvPr id="17" name="Rectangle 17"/>
            <p:cNvSpPr/>
            <p:nvPr/>
          </p:nvSpPr>
          <p:spPr>
            <a:xfrm>
              <a:off x="2362200" y="2400300"/>
              <a:ext cx="3657600" cy="914400"/>
            </a:xfrm>
            <a:prstGeom prst="roundRect">
              <a:avLst>
                <a:gd name="adj" fmla="val 10417"/>
              </a:avLst>
            </a:prstGeom>
            <a:solidFill>
              <a:srgbClr val="FFFFFF"/>
            </a:solidFill>
            <a:ln w="14288">
              <a:solidFill>
                <a:srgbClr val="2E86AB"/>
              </a:solidFill>
            </a:ln>
          </p:spPr>
        </p:sp>
        <p:sp>
          <p:nvSpPr>
            <p:cNvPr id="18" name="TextBox 18"/>
            <p:cNvSpPr txBox="1"/>
            <p:nvPr/>
          </p:nvSpPr>
          <p:spPr>
            <a:xfrm>
              <a:off x="3437715" y="2559368"/>
              <a:ext cx="1506571"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%5 altı ve MCAR</a:t>
              </a:r>
            </a:p>
          </p:txBody>
        </p:sp>
        <p:sp>
          <p:nvSpPr>
            <p:cNvPr id="19" name="TextBox 19"/>
            <p:cNvSpPr txBox="1"/>
            <p:nvPr/>
          </p:nvSpPr>
          <p:spPr>
            <a:xfrm>
              <a:off x="3269310" y="2842260"/>
              <a:ext cx="184338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Satırı silmek (dropna)</a:t>
              </a:r>
            </a:p>
          </p:txBody>
        </p:sp>
        <p:sp>
          <p:nvSpPr>
            <p:cNvPr id="20" name="TextBox 20"/>
            <p:cNvSpPr txBox="1"/>
            <p:nvPr/>
          </p:nvSpPr>
          <p:spPr>
            <a:xfrm>
              <a:off x="3510458" y="3051810"/>
              <a:ext cx="1361084"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yeterince güvenli</a:t>
              </a:r>
            </a:p>
          </p:txBody>
        </p:sp>
      </p:grpSp>
      <p:grpSp>
        <p:nvGrpSpPr>
          <p:cNvPr id="26" name="branch-high"/>
          <p:cNvGrpSpPr/>
          <p:nvPr/>
        </p:nvGrpSpPr>
        <p:grpSpPr>
          <a:xfrm>
            <a:off x="6172200" y="2400300"/>
            <a:ext cx="3657600" cy="914400"/>
            <a:chOff x="6172200" y="2400300"/>
            <a:chExt cx="3657600" cy="914400"/>
          </a:xfrm>
        </p:grpSpPr>
        <p:sp>
          <p:nvSpPr>
            <p:cNvPr id="22" name="Rectangle 22"/>
            <p:cNvSpPr/>
            <p:nvPr/>
          </p:nvSpPr>
          <p:spPr>
            <a:xfrm>
              <a:off x="6172200" y="2400300"/>
              <a:ext cx="3657600" cy="914400"/>
            </a:xfrm>
            <a:prstGeom prst="roundRect">
              <a:avLst>
                <a:gd name="adj" fmla="val 10417"/>
              </a:avLst>
            </a:prstGeom>
            <a:solidFill>
              <a:srgbClr val="FFFFFF"/>
            </a:solidFill>
            <a:ln w="14288">
              <a:solidFill>
                <a:srgbClr val="2E86AB"/>
              </a:solidFill>
            </a:ln>
          </p:spPr>
        </p:sp>
        <p:sp>
          <p:nvSpPr>
            <p:cNvPr id="23" name="TextBox 23"/>
            <p:cNvSpPr txBox="1"/>
            <p:nvPr/>
          </p:nvSpPr>
          <p:spPr>
            <a:xfrm>
              <a:off x="6877714" y="2559368"/>
              <a:ext cx="2246571"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%5 üstü veya MAR/MNAR</a:t>
              </a:r>
            </a:p>
          </p:txBody>
        </p:sp>
        <p:sp>
          <p:nvSpPr>
            <p:cNvPr id="24" name="TextBox 24"/>
            <p:cNvSpPr txBox="1"/>
            <p:nvPr/>
          </p:nvSpPr>
          <p:spPr>
            <a:xfrm>
              <a:off x="7071497" y="2842260"/>
              <a:ext cx="1859006"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Silme veri kaybettirir —</a:t>
              </a:r>
            </a:p>
          </p:txBody>
        </p:sp>
        <p:sp>
          <p:nvSpPr>
            <p:cNvPr id="25" name="TextBox 25"/>
            <p:cNvSpPr txBox="1"/>
            <p:nvPr/>
          </p:nvSpPr>
          <p:spPr>
            <a:xfrm>
              <a:off x="6795440" y="3051810"/>
              <a:ext cx="241112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doldurma (imputation) gerekir</a:t>
              </a:r>
            </a:p>
          </p:txBody>
        </p:sp>
      </p:grpSp>
      <p:sp>
        <p:nvSpPr>
          <p:cNvPr id="27" name="Line 27"/>
          <p:cNvSpPr/>
          <p:nvPr/>
        </p:nvSpPr>
        <p:spPr>
          <a:xfrm>
            <a:off x="4191000" y="3314700"/>
            <a:ext cx="1" cy="533400"/>
          </a:xfrm>
          <a:prstGeom prst="line">
            <a:avLst/>
          </a:prstGeom>
          <a:noFill/>
          <a:ln w="19050">
            <a:solidFill>
              <a:srgbClr val="52616B"/>
            </a:solidFill>
            <a:tailEnd type="arrow" w="lg" len="lg"/>
          </a:ln>
        </p:spPr>
      </p:sp>
      <p:sp>
        <p:nvSpPr>
          <p:cNvPr id="28" name="Line 28"/>
          <p:cNvSpPr/>
          <p:nvPr/>
        </p:nvSpPr>
        <p:spPr>
          <a:xfrm>
            <a:off x="8001000" y="3314700"/>
            <a:ext cx="1" cy="533400"/>
          </a:xfrm>
          <a:prstGeom prst="line">
            <a:avLst/>
          </a:prstGeom>
          <a:noFill/>
          <a:ln w="19050">
            <a:solidFill>
              <a:srgbClr val="52616B"/>
            </a:solidFill>
            <a:tailEnd type="arrow" w="lg" len="lg"/>
          </a:ln>
        </p:spPr>
      </p:sp>
      <p:grpSp>
        <p:nvGrpSpPr>
          <p:cNvPr id="34" name="result-drop"/>
          <p:cNvGrpSpPr/>
          <p:nvPr/>
        </p:nvGrpSpPr>
        <p:grpSpPr>
          <a:xfrm>
            <a:off x="2362200" y="3848100"/>
            <a:ext cx="3657600" cy="1238250"/>
            <a:chOff x="2362200" y="3848100"/>
            <a:chExt cx="3657600" cy="1238250"/>
          </a:xfrm>
        </p:grpSpPr>
        <p:sp>
          <p:nvSpPr>
            <p:cNvPr id="29" name="Rectangle 29"/>
            <p:cNvSpPr/>
            <p:nvPr/>
          </p:nvSpPr>
          <p:spPr>
            <a:xfrm>
              <a:off x="2362200" y="3848100"/>
              <a:ext cx="3657600" cy="1238250"/>
            </a:xfrm>
            <a:prstGeom prst="roundRect">
              <a:avLst>
                <a:gd name="adj" fmla="val 7692"/>
              </a:avLst>
            </a:prstGeom>
            <a:solidFill>
              <a:srgbClr val="EAF4F6"/>
            </a:solidFill>
            <a:ln>
              <a:noFill/>
            </a:ln>
          </p:spPr>
        </p:sp>
        <p:sp>
          <p:nvSpPr>
            <p:cNvPr id="30" name="TextBox 30"/>
            <p:cNvSpPr txBox="1"/>
            <p:nvPr/>
          </p:nvSpPr>
          <p:spPr>
            <a:xfrm>
              <a:off x="2977181" y="4007168"/>
              <a:ext cx="2427638"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df.dropna(subset=[...])</a:t>
              </a:r>
            </a:p>
          </p:txBody>
        </p:sp>
        <p:sp>
          <p:nvSpPr>
            <p:cNvPr id="31" name="TextBox 31"/>
            <p:cNvSpPr txBox="1"/>
            <p:nvPr/>
          </p:nvSpPr>
          <p:spPr>
            <a:xfrm>
              <a:off x="2990923" y="4290060"/>
              <a:ext cx="2400153"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Kalan veri hâlâ temsil edici mi?</a:t>
              </a:r>
            </a:p>
          </p:txBody>
        </p:sp>
        <p:sp>
          <p:nvSpPr>
            <p:cNvPr id="32" name="TextBox 32"/>
            <p:cNvSpPr txBox="1"/>
            <p:nvPr/>
          </p:nvSpPr>
          <p:spPr>
            <a:xfrm>
              <a:off x="3083814" y="4499610"/>
              <a:ext cx="2214372"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Satır sayısını kontrol edin</a:t>
              </a:r>
            </a:p>
          </p:txBody>
        </p:sp>
        <p:sp>
          <p:nvSpPr>
            <p:cNvPr id="33" name="TextBox 33"/>
            <p:cNvSpPr txBox="1"/>
            <p:nvPr/>
          </p:nvSpPr>
          <p:spPr>
            <a:xfrm>
              <a:off x="3035237" y="4747260"/>
              <a:ext cx="2311527"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Az veri → yanlı örneklem riski</a:t>
              </a:r>
            </a:p>
          </p:txBody>
        </p:sp>
      </p:grpSp>
      <p:grpSp>
        <p:nvGrpSpPr>
          <p:cNvPr id="40" name="result-impute"/>
          <p:cNvGrpSpPr/>
          <p:nvPr/>
        </p:nvGrpSpPr>
        <p:grpSpPr>
          <a:xfrm>
            <a:off x="6172200" y="3848100"/>
            <a:ext cx="3657600" cy="1238250"/>
            <a:chOff x="6172200" y="3848100"/>
            <a:chExt cx="3657600" cy="1238250"/>
          </a:xfrm>
        </p:grpSpPr>
        <p:sp>
          <p:nvSpPr>
            <p:cNvPr id="35" name="Rectangle 35"/>
            <p:cNvSpPr/>
            <p:nvPr/>
          </p:nvSpPr>
          <p:spPr>
            <a:xfrm>
              <a:off x="6172200" y="3848100"/>
              <a:ext cx="3657600" cy="1238250"/>
            </a:xfrm>
            <a:prstGeom prst="roundRect">
              <a:avLst>
                <a:gd name="adj" fmla="val 7692"/>
              </a:avLst>
            </a:prstGeom>
            <a:solidFill>
              <a:srgbClr val="EAF4F6"/>
            </a:solidFill>
            <a:ln>
              <a:noFill/>
            </a:ln>
          </p:spPr>
        </p:sp>
        <p:sp>
          <p:nvSpPr>
            <p:cNvPr id="36" name="TextBox 36"/>
            <p:cNvSpPr txBox="1"/>
            <p:nvPr/>
          </p:nvSpPr>
          <p:spPr>
            <a:xfrm>
              <a:off x="7024740" y="4007168"/>
              <a:ext cx="1952520" cy="264033"/>
            </a:xfrm>
            <a:prstGeom prst="rect">
              <a:avLst/>
            </a:prstGeom>
            <a:noFill/>
            <a:ln>
              <a:noFill/>
            </a:ln>
          </p:spPr>
          <p:txBody>
            <a:bodyPr wrap="none" lIns="0" tIns="0" rIns="0" bIns="0" anchor="t" anchorCtr="0">
              <a:spAutoFit/>
            </a:bodyPr>
            <a:lstStyle/>
            <a:p>
              <a:pPr algn="ctr"/>
              <a:r>
                <a:rPr lang="tr-TR" sz="1350" b="1" dirty="0">
                  <a:solidFill>
                    <a:srgbClr val="12355B"/>
                  </a:solidFill>
                  <a:latin typeface="+mn-lt"/>
                  <a:ea typeface="+mn-ea"/>
                  <a:cs typeface="+mn-cs"/>
                </a:rPr>
                <a:t>SimpleImputer seçimi</a:t>
              </a:r>
            </a:p>
          </p:txBody>
        </p:sp>
        <p:sp>
          <p:nvSpPr>
            <p:cNvPr id="37" name="TextBox 37"/>
            <p:cNvSpPr txBox="1"/>
            <p:nvPr/>
          </p:nvSpPr>
          <p:spPr>
            <a:xfrm>
              <a:off x="7083193" y="4290060"/>
              <a:ext cx="1835613"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Sayısal: mean / median</a:t>
              </a:r>
            </a:p>
          </p:txBody>
        </p:sp>
        <p:sp>
          <p:nvSpPr>
            <p:cNvPr id="38" name="TextBox 38"/>
            <p:cNvSpPr txBox="1"/>
            <p:nvPr/>
          </p:nvSpPr>
          <p:spPr>
            <a:xfrm>
              <a:off x="6950137" y="4499610"/>
              <a:ext cx="2101727" cy="234696"/>
            </a:xfrm>
            <a:prstGeom prst="rect">
              <a:avLst/>
            </a:prstGeom>
            <a:noFill/>
            <a:ln>
              <a:noFill/>
            </a:ln>
          </p:spPr>
          <p:txBody>
            <a:bodyPr wrap="none" lIns="0" tIns="0" rIns="0" bIns="0" anchor="t" anchorCtr="0">
              <a:spAutoFit/>
            </a:bodyPr>
            <a:lstStyle/>
            <a:p>
              <a:pPr algn="ctr"/>
              <a:r>
                <a:rPr lang="tr-TR" sz="1200" dirty="0">
                  <a:solidFill>
                    <a:srgbClr val="172B3A"/>
                  </a:solidFill>
                  <a:latin typeface="+mn-lt"/>
                  <a:ea typeface="+mn-ea"/>
                  <a:cs typeface="+mn-cs"/>
                </a:rPr>
                <a:t>Kategorik: most_frequent</a:t>
              </a:r>
            </a:p>
          </p:txBody>
        </p:sp>
        <p:sp>
          <p:nvSpPr>
            <p:cNvPr id="39" name="TextBox 39"/>
            <p:cNvSpPr txBox="1"/>
            <p:nvPr/>
          </p:nvSpPr>
          <p:spPr>
            <a:xfrm>
              <a:off x="7044690" y="4747260"/>
              <a:ext cx="191262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İleri düzey: KNNImputer</a:t>
              </a:r>
            </a:p>
          </p:txBody>
        </p:sp>
      </p:grpSp>
      <p:grpSp>
        <p:nvGrpSpPr>
          <p:cNvPr id="45" name="footer-note"/>
          <p:cNvGrpSpPr/>
          <p:nvPr/>
        </p:nvGrpSpPr>
        <p:grpSpPr>
          <a:xfrm>
            <a:off x="609600" y="5391150"/>
            <a:ext cx="10972800" cy="1028700"/>
            <a:chOff x="609600" y="5391150"/>
            <a:chExt cx="10972800" cy="1028700"/>
          </a:xfrm>
        </p:grpSpPr>
        <p:sp>
          <p:nvSpPr>
            <p:cNvPr id="41" name="Rectangle 41"/>
            <p:cNvSpPr/>
            <p:nvPr/>
          </p:nvSpPr>
          <p:spPr>
            <a:xfrm>
              <a:off x="609600" y="5391150"/>
              <a:ext cx="10972800" cy="1028700"/>
            </a:xfrm>
            <a:prstGeom prst="roundRect">
              <a:avLst>
                <a:gd name="adj" fmla="val 9259"/>
              </a:avLst>
            </a:prstGeom>
            <a:solidFill>
              <a:srgbClr val="FFFFFF"/>
            </a:solidFill>
            <a:ln w="14288">
              <a:solidFill>
                <a:srgbClr val="B8CBD3"/>
              </a:solidFill>
            </a:ln>
          </p:spPr>
        </p:sp>
        <p:sp>
          <p:nvSpPr>
            <p:cNvPr id="42" name="TextBox 42"/>
            <p:cNvSpPr txBox="1"/>
            <p:nvPr/>
          </p:nvSpPr>
          <p:spPr>
            <a:xfrm>
              <a:off x="906399" y="5544979"/>
              <a:ext cx="220231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Median mi, mean mi?</a:t>
              </a:r>
            </a:p>
          </p:txBody>
        </p:sp>
        <p:sp>
          <p:nvSpPr>
            <p:cNvPr id="43" name="TextBox 43"/>
            <p:cNvSpPr txBox="1"/>
            <p:nvPr/>
          </p:nvSpPr>
          <p:spPr>
            <a:xfrm>
              <a:off x="906399" y="5811679"/>
              <a:ext cx="7648476"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Dağılım çarpıksa veya aykırı değer varsa median; simetrik ve aykırısız</a:t>
              </a:r>
            </a:p>
          </p:txBody>
        </p:sp>
        <p:sp>
          <p:nvSpPr>
            <p:cNvPr id="44" name="TextBox 44"/>
            <p:cNvSpPr txBox="1"/>
            <p:nvPr/>
          </p:nvSpPr>
          <p:spPr>
            <a:xfrm>
              <a:off x="906399" y="6059329"/>
              <a:ext cx="3366021"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dağılımlarda mean tercih edilir.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87043" cy="557403"/>
            <a:chOff x="595122" y="282892"/>
            <a:chExt cx="7487043" cy="557403"/>
          </a:xfrm>
        </p:grpSpPr>
        <p:sp>
          <p:nvSpPr>
            <p:cNvPr id="4" name="TextBox 4"/>
            <p:cNvSpPr txBox="1"/>
            <p:nvPr/>
          </p:nvSpPr>
          <p:spPr>
            <a:xfrm>
              <a:off x="595122" y="282892"/>
              <a:ext cx="748704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SimpleImputer: üç doldurma stratejisi</a:t>
              </a:r>
            </a:p>
          </p:txBody>
        </p:sp>
      </p:grpSp>
      <p:grpSp>
        <p:nvGrpSpPr>
          <p:cNvPr id="18" name="strategy-mean"/>
          <p:cNvGrpSpPr/>
          <p:nvPr/>
        </p:nvGrpSpPr>
        <p:grpSpPr>
          <a:xfrm>
            <a:off x="609600" y="1257300"/>
            <a:ext cx="3352800" cy="2857500"/>
            <a:chOff x="609600" y="1257300"/>
            <a:chExt cx="3352800" cy="2857500"/>
          </a:xfrm>
        </p:grpSpPr>
        <p:sp>
          <p:nvSpPr>
            <p:cNvPr id="6" name="Rectangle 6"/>
            <p:cNvSpPr/>
            <p:nvPr/>
          </p:nvSpPr>
          <p:spPr>
            <a:xfrm>
              <a:off x="609600" y="1257300"/>
              <a:ext cx="3352800" cy="2857500"/>
            </a:xfrm>
            <a:prstGeom prst="roundRect">
              <a:avLst>
                <a:gd name="adj" fmla="val 3333"/>
              </a:avLst>
            </a:prstGeom>
            <a:solidFill>
              <a:srgbClr val="FFFFFF"/>
            </a:solidFill>
            <a:ln w="14288">
              <a:solidFill>
                <a:srgbClr val="B8CBD3"/>
              </a:solidFill>
            </a:ln>
          </p:spPr>
        </p:sp>
        <p:sp>
          <p:nvSpPr>
            <p:cNvPr id="7" name="Rectangle 7"/>
            <p:cNvSpPr/>
            <p:nvPr/>
          </p:nvSpPr>
          <p:spPr>
            <a:xfrm>
              <a:off x="609600" y="1257300"/>
              <a:ext cx="3352800" cy="457200"/>
            </a:xfrm>
            <a:prstGeom prst="roundRect">
              <a:avLst>
                <a:gd name="adj" fmla="val 20833"/>
              </a:avLst>
            </a:prstGeom>
            <a:solidFill>
              <a:srgbClr val="2E86AB"/>
            </a:solidFill>
            <a:ln>
              <a:noFill/>
            </a:ln>
          </p:spPr>
        </p:sp>
        <p:sp>
          <p:nvSpPr>
            <p:cNvPr id="8" name="Rectangle 8"/>
            <p:cNvSpPr/>
            <p:nvPr/>
          </p:nvSpPr>
          <p:spPr>
            <a:xfrm>
              <a:off x="609600" y="1485900"/>
              <a:ext cx="3352800" cy="228600"/>
            </a:xfrm>
            <a:prstGeom prst="rect">
              <a:avLst/>
            </a:prstGeom>
            <a:solidFill>
              <a:srgbClr val="2E86AB"/>
            </a:solidFill>
            <a:ln>
              <a:noFill/>
            </a:ln>
          </p:spPr>
        </p:sp>
        <p:sp>
          <p:nvSpPr>
            <p:cNvPr id="9" name="TextBox 9"/>
            <p:cNvSpPr txBox="1"/>
            <p:nvPr/>
          </p:nvSpPr>
          <p:spPr>
            <a:xfrm>
              <a:off x="830580" y="1400175"/>
              <a:ext cx="1806864"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strategy="mean"</a:t>
              </a:r>
            </a:p>
          </p:txBody>
        </p:sp>
        <p:sp>
          <p:nvSpPr>
            <p:cNvPr id="10" name="TextBox 10"/>
            <p:cNvSpPr txBox="1"/>
            <p:nvPr/>
          </p:nvSpPr>
          <p:spPr>
            <a:xfrm>
              <a:off x="832104" y="1889760"/>
              <a:ext cx="161650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 ortalamasıyla</a:t>
              </a:r>
            </a:p>
          </p:txBody>
        </p:sp>
        <p:sp>
          <p:nvSpPr>
            <p:cNvPr id="11" name="TextBox 11"/>
            <p:cNvSpPr txBox="1"/>
            <p:nvPr/>
          </p:nvSpPr>
          <p:spPr>
            <a:xfrm>
              <a:off x="832104" y="2099310"/>
              <a:ext cx="6826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doldurur</a:t>
              </a:r>
            </a:p>
          </p:txBody>
        </p:sp>
        <p:sp>
          <p:nvSpPr>
            <p:cNvPr id="12" name="TextBox 12"/>
            <p:cNvSpPr txBox="1"/>
            <p:nvPr/>
          </p:nvSpPr>
          <p:spPr>
            <a:xfrm>
              <a:off x="832104" y="2461260"/>
              <a:ext cx="85005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a:t>
              </a:r>
            </a:p>
          </p:txBody>
        </p:sp>
        <p:sp>
          <p:nvSpPr>
            <p:cNvPr id="13" name="TextBox 13"/>
            <p:cNvSpPr txBox="1"/>
            <p:nvPr/>
          </p:nvSpPr>
          <p:spPr>
            <a:xfrm>
              <a:off x="832104" y="2689860"/>
              <a:ext cx="143103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Simetrik dağılım,</a:t>
              </a:r>
            </a:p>
          </p:txBody>
        </p:sp>
        <p:sp>
          <p:nvSpPr>
            <p:cNvPr id="14" name="TextBox 14"/>
            <p:cNvSpPr txBox="1"/>
            <p:nvPr/>
          </p:nvSpPr>
          <p:spPr>
            <a:xfrm>
              <a:off x="832104" y="2899410"/>
              <a:ext cx="135300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aykırı değer yok</a:t>
              </a:r>
            </a:p>
          </p:txBody>
        </p:sp>
        <p:sp>
          <p:nvSpPr>
            <p:cNvPr id="15" name="TextBox 15"/>
            <p:cNvSpPr txBox="1"/>
            <p:nvPr/>
          </p:nvSpPr>
          <p:spPr>
            <a:xfrm>
              <a:off x="832104" y="3261360"/>
              <a:ext cx="4839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Örnek</a:t>
              </a:r>
            </a:p>
          </p:txBody>
        </p:sp>
        <p:sp>
          <p:nvSpPr>
            <p:cNvPr id="16" name="TextBox 16"/>
            <p:cNvSpPr txBox="1"/>
            <p:nvPr/>
          </p:nvSpPr>
          <p:spPr>
            <a:xfrm>
              <a:off x="832104" y="3489960"/>
              <a:ext cx="121569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kullanim_suresi</a:t>
              </a:r>
            </a:p>
          </p:txBody>
        </p:sp>
        <p:sp>
          <p:nvSpPr>
            <p:cNvPr id="17" name="TextBox 17"/>
            <p:cNvSpPr txBox="1"/>
            <p:nvPr/>
          </p:nvSpPr>
          <p:spPr>
            <a:xfrm>
              <a:off x="832104" y="3699510"/>
              <a:ext cx="54528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sütunu</a:t>
              </a:r>
            </a:p>
          </p:txBody>
        </p:sp>
      </p:grpSp>
      <p:grpSp>
        <p:nvGrpSpPr>
          <p:cNvPr id="31" name="strategy-median"/>
          <p:cNvGrpSpPr/>
          <p:nvPr/>
        </p:nvGrpSpPr>
        <p:grpSpPr>
          <a:xfrm>
            <a:off x="4419600" y="1257300"/>
            <a:ext cx="3352800" cy="2857500"/>
            <a:chOff x="4419600" y="1257300"/>
            <a:chExt cx="3352800" cy="2857500"/>
          </a:xfrm>
        </p:grpSpPr>
        <p:sp>
          <p:nvSpPr>
            <p:cNvPr id="19" name="Rectangle 19"/>
            <p:cNvSpPr/>
            <p:nvPr/>
          </p:nvSpPr>
          <p:spPr>
            <a:xfrm>
              <a:off x="4419600" y="1257300"/>
              <a:ext cx="3352800" cy="2857500"/>
            </a:xfrm>
            <a:prstGeom prst="roundRect">
              <a:avLst>
                <a:gd name="adj" fmla="val 3333"/>
              </a:avLst>
            </a:prstGeom>
            <a:solidFill>
              <a:srgbClr val="FFFFFF"/>
            </a:solidFill>
            <a:ln w="14288">
              <a:solidFill>
                <a:srgbClr val="B8CBD3"/>
              </a:solidFill>
            </a:ln>
          </p:spPr>
        </p:sp>
        <p:sp>
          <p:nvSpPr>
            <p:cNvPr id="20" name="Rectangle 20"/>
            <p:cNvSpPr/>
            <p:nvPr/>
          </p:nvSpPr>
          <p:spPr>
            <a:xfrm>
              <a:off x="4419600" y="1257300"/>
              <a:ext cx="3352800" cy="457200"/>
            </a:xfrm>
            <a:prstGeom prst="roundRect">
              <a:avLst>
                <a:gd name="adj" fmla="val 20833"/>
              </a:avLst>
            </a:prstGeom>
            <a:solidFill>
              <a:srgbClr val="12355B"/>
            </a:solidFill>
            <a:ln>
              <a:noFill/>
            </a:ln>
          </p:spPr>
        </p:sp>
        <p:sp>
          <p:nvSpPr>
            <p:cNvPr id="21" name="Rectangle 21"/>
            <p:cNvSpPr/>
            <p:nvPr/>
          </p:nvSpPr>
          <p:spPr>
            <a:xfrm>
              <a:off x="4419600" y="1485900"/>
              <a:ext cx="3352800" cy="228600"/>
            </a:xfrm>
            <a:prstGeom prst="rect">
              <a:avLst/>
            </a:prstGeom>
            <a:solidFill>
              <a:srgbClr val="12355B"/>
            </a:solidFill>
            <a:ln>
              <a:noFill/>
            </a:ln>
          </p:spPr>
        </p:sp>
        <p:sp>
          <p:nvSpPr>
            <p:cNvPr id="22" name="TextBox 22"/>
            <p:cNvSpPr txBox="1"/>
            <p:nvPr/>
          </p:nvSpPr>
          <p:spPr>
            <a:xfrm>
              <a:off x="4640580" y="1400175"/>
              <a:ext cx="1987086"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strategy="median"</a:t>
              </a:r>
            </a:p>
          </p:txBody>
        </p:sp>
        <p:sp>
          <p:nvSpPr>
            <p:cNvPr id="23" name="TextBox 23"/>
            <p:cNvSpPr txBox="1"/>
            <p:nvPr/>
          </p:nvSpPr>
          <p:spPr>
            <a:xfrm>
              <a:off x="4642104" y="1889760"/>
              <a:ext cx="139049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 medyanıyla</a:t>
              </a:r>
            </a:p>
          </p:txBody>
        </p:sp>
        <p:sp>
          <p:nvSpPr>
            <p:cNvPr id="24" name="TextBox 24"/>
            <p:cNvSpPr txBox="1"/>
            <p:nvPr/>
          </p:nvSpPr>
          <p:spPr>
            <a:xfrm>
              <a:off x="4642104" y="2099310"/>
              <a:ext cx="6826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doldurur</a:t>
              </a:r>
            </a:p>
          </p:txBody>
        </p:sp>
        <p:sp>
          <p:nvSpPr>
            <p:cNvPr id="25" name="TextBox 25"/>
            <p:cNvSpPr txBox="1"/>
            <p:nvPr/>
          </p:nvSpPr>
          <p:spPr>
            <a:xfrm>
              <a:off x="4642104" y="2461260"/>
              <a:ext cx="85005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a:t>
              </a:r>
            </a:p>
          </p:txBody>
        </p:sp>
        <p:sp>
          <p:nvSpPr>
            <p:cNvPr id="26" name="TextBox 26"/>
            <p:cNvSpPr txBox="1"/>
            <p:nvPr/>
          </p:nvSpPr>
          <p:spPr>
            <a:xfrm>
              <a:off x="4642104" y="2689860"/>
              <a:ext cx="161680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Çarpık dağılım veya</a:t>
              </a:r>
            </a:p>
          </p:txBody>
        </p:sp>
        <p:sp>
          <p:nvSpPr>
            <p:cNvPr id="27" name="TextBox 27"/>
            <p:cNvSpPr txBox="1"/>
            <p:nvPr/>
          </p:nvSpPr>
          <p:spPr>
            <a:xfrm>
              <a:off x="4642104" y="2899410"/>
              <a:ext cx="193456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aykırı değer varlığında</a:t>
              </a:r>
            </a:p>
          </p:txBody>
        </p:sp>
        <p:sp>
          <p:nvSpPr>
            <p:cNvPr id="28" name="TextBox 28"/>
            <p:cNvSpPr txBox="1"/>
            <p:nvPr/>
          </p:nvSpPr>
          <p:spPr>
            <a:xfrm>
              <a:off x="4642104" y="3261360"/>
              <a:ext cx="4839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Örnek</a:t>
              </a:r>
            </a:p>
          </p:txBody>
        </p:sp>
        <p:sp>
          <p:nvSpPr>
            <p:cNvPr id="29" name="TextBox 29"/>
            <p:cNvSpPr txBox="1"/>
            <p:nvPr/>
          </p:nvSpPr>
          <p:spPr>
            <a:xfrm>
              <a:off x="4642104" y="3489960"/>
              <a:ext cx="14095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aylik_gelir sütunu</a:t>
              </a:r>
            </a:p>
          </p:txBody>
        </p:sp>
        <p:sp>
          <p:nvSpPr>
            <p:cNvPr id="30" name="TextBox 30"/>
            <p:cNvSpPr txBox="1"/>
            <p:nvPr/>
          </p:nvSpPr>
          <p:spPr>
            <a:xfrm>
              <a:off x="4642104" y="3699510"/>
              <a:ext cx="175686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(genelde sağa çarpık)</a:t>
              </a:r>
            </a:p>
          </p:txBody>
        </p:sp>
      </p:grpSp>
      <p:grpSp>
        <p:nvGrpSpPr>
          <p:cNvPr id="43" name="strategy-mostfreq"/>
          <p:cNvGrpSpPr/>
          <p:nvPr/>
        </p:nvGrpSpPr>
        <p:grpSpPr>
          <a:xfrm>
            <a:off x="8229600" y="1257300"/>
            <a:ext cx="3352800" cy="2857500"/>
            <a:chOff x="8229600" y="1257300"/>
            <a:chExt cx="3352800" cy="2857500"/>
          </a:xfrm>
        </p:grpSpPr>
        <p:sp>
          <p:nvSpPr>
            <p:cNvPr id="32" name="Rectangle 32"/>
            <p:cNvSpPr/>
            <p:nvPr/>
          </p:nvSpPr>
          <p:spPr>
            <a:xfrm>
              <a:off x="8229600" y="1257300"/>
              <a:ext cx="3352800" cy="2857500"/>
            </a:xfrm>
            <a:prstGeom prst="roundRect">
              <a:avLst>
                <a:gd name="adj" fmla="val 3333"/>
              </a:avLst>
            </a:prstGeom>
            <a:solidFill>
              <a:srgbClr val="FFFFFF"/>
            </a:solidFill>
            <a:ln w="14288">
              <a:solidFill>
                <a:srgbClr val="B8CBD3"/>
              </a:solidFill>
            </a:ln>
          </p:spPr>
        </p:sp>
        <p:sp>
          <p:nvSpPr>
            <p:cNvPr id="33" name="Rectangle 33"/>
            <p:cNvSpPr/>
            <p:nvPr/>
          </p:nvSpPr>
          <p:spPr>
            <a:xfrm>
              <a:off x="8229600" y="1257300"/>
              <a:ext cx="3352800" cy="457200"/>
            </a:xfrm>
            <a:prstGeom prst="roundRect">
              <a:avLst>
                <a:gd name="adj" fmla="val 20833"/>
              </a:avLst>
            </a:prstGeom>
            <a:solidFill>
              <a:srgbClr val="00A6A6"/>
            </a:solidFill>
            <a:ln>
              <a:noFill/>
            </a:ln>
          </p:spPr>
        </p:sp>
        <p:sp>
          <p:nvSpPr>
            <p:cNvPr id="34" name="Rectangle 34"/>
            <p:cNvSpPr/>
            <p:nvPr/>
          </p:nvSpPr>
          <p:spPr>
            <a:xfrm>
              <a:off x="8229600" y="1485900"/>
              <a:ext cx="3352800" cy="228600"/>
            </a:xfrm>
            <a:prstGeom prst="rect">
              <a:avLst/>
            </a:prstGeom>
            <a:solidFill>
              <a:srgbClr val="00A6A6"/>
            </a:solidFill>
            <a:ln>
              <a:noFill/>
            </a:ln>
          </p:spPr>
        </p:sp>
        <p:sp>
          <p:nvSpPr>
            <p:cNvPr id="35" name="TextBox 35"/>
            <p:cNvSpPr txBox="1"/>
            <p:nvPr/>
          </p:nvSpPr>
          <p:spPr>
            <a:xfrm>
              <a:off x="8450580" y="1400175"/>
              <a:ext cx="2856395"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strategy="most_frequent"</a:t>
              </a:r>
            </a:p>
          </p:txBody>
        </p:sp>
        <p:sp>
          <p:nvSpPr>
            <p:cNvPr id="36" name="TextBox 36"/>
            <p:cNvSpPr txBox="1"/>
            <p:nvPr/>
          </p:nvSpPr>
          <p:spPr>
            <a:xfrm>
              <a:off x="8452104" y="1889760"/>
              <a:ext cx="17062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Sütunun modu (en sık</a:t>
              </a:r>
            </a:p>
          </p:txBody>
        </p:sp>
        <p:sp>
          <p:nvSpPr>
            <p:cNvPr id="37" name="TextBox 37"/>
            <p:cNvSpPr txBox="1"/>
            <p:nvPr/>
          </p:nvSpPr>
          <p:spPr>
            <a:xfrm>
              <a:off x="8452104" y="2099310"/>
              <a:ext cx="15468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değeri) ile doldurur</a:t>
              </a:r>
            </a:p>
          </p:txBody>
        </p:sp>
        <p:sp>
          <p:nvSpPr>
            <p:cNvPr id="38" name="TextBox 38"/>
            <p:cNvSpPr txBox="1"/>
            <p:nvPr/>
          </p:nvSpPr>
          <p:spPr>
            <a:xfrm>
              <a:off x="8452104" y="2461260"/>
              <a:ext cx="85005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Ne zaman?</a:t>
              </a:r>
            </a:p>
          </p:txBody>
        </p:sp>
        <p:sp>
          <p:nvSpPr>
            <p:cNvPr id="39" name="TextBox 39"/>
            <p:cNvSpPr txBox="1"/>
            <p:nvPr/>
          </p:nvSpPr>
          <p:spPr>
            <a:xfrm>
              <a:off x="8452104" y="2689860"/>
              <a:ext cx="167295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Kategorik sütunlarda</a:t>
              </a:r>
            </a:p>
          </p:txBody>
        </p:sp>
        <p:sp>
          <p:nvSpPr>
            <p:cNvPr id="40" name="TextBox 40"/>
            <p:cNvSpPr txBox="1"/>
            <p:nvPr/>
          </p:nvSpPr>
          <p:spPr>
            <a:xfrm>
              <a:off x="8452104" y="2899410"/>
              <a:ext cx="198302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(mean/median tanımsız)</a:t>
              </a:r>
            </a:p>
          </p:txBody>
        </p:sp>
        <p:sp>
          <p:nvSpPr>
            <p:cNvPr id="41" name="TextBox 41"/>
            <p:cNvSpPr txBox="1"/>
            <p:nvPr/>
          </p:nvSpPr>
          <p:spPr>
            <a:xfrm>
              <a:off x="8452104" y="3261360"/>
              <a:ext cx="4839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Örnek</a:t>
              </a:r>
            </a:p>
          </p:txBody>
        </p:sp>
        <p:sp>
          <p:nvSpPr>
            <p:cNvPr id="42" name="TextBox 42"/>
            <p:cNvSpPr txBox="1"/>
            <p:nvPr/>
          </p:nvSpPr>
          <p:spPr>
            <a:xfrm>
              <a:off x="8452104" y="3489960"/>
              <a:ext cx="9976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sehir sütunu</a:t>
              </a:r>
            </a:p>
          </p:txBody>
        </p:sp>
      </p:grpSp>
      <p:grpSp>
        <p:nvGrpSpPr>
          <p:cNvPr id="49" name="code-block"/>
          <p:cNvGrpSpPr/>
          <p:nvPr/>
        </p:nvGrpSpPr>
        <p:grpSpPr>
          <a:xfrm>
            <a:off x="609600" y="4305300"/>
            <a:ext cx="10972800" cy="1314450"/>
            <a:chOff x="609600" y="4305300"/>
            <a:chExt cx="10972800" cy="1314450"/>
          </a:xfrm>
        </p:grpSpPr>
        <p:sp>
          <p:nvSpPr>
            <p:cNvPr id="44" name="Rectangle 44"/>
            <p:cNvSpPr/>
            <p:nvPr/>
          </p:nvSpPr>
          <p:spPr>
            <a:xfrm>
              <a:off x="609600" y="4305300"/>
              <a:ext cx="10972800" cy="1314450"/>
            </a:xfrm>
            <a:prstGeom prst="roundRect">
              <a:avLst>
                <a:gd name="adj" fmla="val 7246"/>
              </a:avLst>
            </a:prstGeom>
            <a:solidFill>
              <a:srgbClr val="12355B"/>
            </a:solidFill>
            <a:ln>
              <a:noFill/>
            </a:ln>
          </p:spPr>
        </p:sp>
        <p:sp>
          <p:nvSpPr>
            <p:cNvPr id="45" name="TextBox 45"/>
            <p:cNvSpPr txBox="1"/>
            <p:nvPr/>
          </p:nvSpPr>
          <p:spPr>
            <a:xfrm>
              <a:off x="907923" y="4491514"/>
              <a:ext cx="4385827"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num_imputer = SimpleImputer(strategy="median")</a:t>
              </a:r>
            </a:p>
          </p:txBody>
        </p:sp>
        <p:sp>
          <p:nvSpPr>
            <p:cNvPr id="46" name="TextBox 46"/>
            <p:cNvSpPr txBox="1"/>
            <p:nvPr/>
          </p:nvSpPr>
          <p:spPr>
            <a:xfrm>
              <a:off x="907923" y="4758214"/>
              <a:ext cx="5523901"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X_train_num = num_imputer.fit_transform(X_train[num_cols])</a:t>
              </a:r>
            </a:p>
          </p:txBody>
        </p:sp>
        <p:sp>
          <p:nvSpPr>
            <p:cNvPr id="47" name="TextBox 47"/>
            <p:cNvSpPr txBox="1"/>
            <p:nvPr/>
          </p:nvSpPr>
          <p:spPr>
            <a:xfrm>
              <a:off x="907923" y="5024914"/>
              <a:ext cx="6188003"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X_test_num = num_imputer.transform(X_test[num_cols]) # fit değil!</a:t>
              </a:r>
            </a:p>
          </p:txBody>
        </p:sp>
        <p:sp>
          <p:nvSpPr>
            <p:cNvPr id="48" name="TextBox 48"/>
            <p:cNvSpPr txBox="1"/>
            <p:nvPr/>
          </p:nvSpPr>
          <p:spPr>
            <a:xfrm>
              <a:off x="908685" y="5307806"/>
              <a:ext cx="608187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Ortalama/medyan yalnızca X_train'den hesaplanır, X_test'e aynen uygulanır</a:t>
              </a:r>
            </a:p>
          </p:txBody>
        </p:sp>
      </p:grpSp>
      <p:sp>
        <p:nvSpPr>
          <p:cNvPr id="50" name="TextBox 5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8271" cy="668845"/>
            <a:chOff x="609600" y="171450"/>
            <a:chExt cx="852827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89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En sık doldurma hatası: veri sızıntısı</a:t>
              </a:r>
            </a:p>
          </p:txBody>
        </p:sp>
      </p:grpSp>
      <p:grpSp>
        <p:nvGrpSpPr>
          <p:cNvPr id="21" name="wrong-block"/>
          <p:cNvGrpSpPr/>
          <p:nvPr/>
        </p:nvGrpSpPr>
        <p:grpSpPr>
          <a:xfrm>
            <a:off x="609600" y="1219200"/>
            <a:ext cx="5334000" cy="2476500"/>
            <a:chOff x="609600" y="1219200"/>
            <a:chExt cx="5334000" cy="2476500"/>
          </a:xfrm>
        </p:grpSpPr>
        <p:sp>
          <p:nvSpPr>
            <p:cNvPr id="12" name="Rectangle 12"/>
            <p:cNvSpPr/>
            <p:nvPr/>
          </p:nvSpPr>
          <p:spPr>
            <a:xfrm>
              <a:off x="609600" y="1219200"/>
              <a:ext cx="5334000" cy="2476500"/>
            </a:xfrm>
            <a:prstGeom prst="roundRect">
              <a:avLst>
                <a:gd name="adj" fmla="val 3846"/>
              </a:avLst>
            </a:prstGeom>
            <a:solidFill>
              <a:srgbClr val="FFFFFF"/>
            </a:solidFill>
            <a:ln w="19050">
              <a:solidFill>
                <a:srgbClr val="12355B"/>
              </a:solidFill>
            </a:ln>
          </p:spPr>
        </p:sp>
        <p:sp>
          <p:nvSpPr>
            <p:cNvPr id="13" name="TextBox 13"/>
            <p:cNvSpPr txBox="1"/>
            <p:nvPr/>
          </p:nvSpPr>
          <p:spPr>
            <a:xfrm>
              <a:off x="868299" y="1392079"/>
              <a:ext cx="155450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Yanlış sıra</a:t>
              </a:r>
            </a:p>
          </p:txBody>
        </p:sp>
        <p:sp>
          <p:nvSpPr>
            <p:cNvPr id="14" name="Rectangle 14"/>
            <p:cNvSpPr/>
            <p:nvPr/>
          </p:nvSpPr>
          <p:spPr>
            <a:xfrm>
              <a:off x="876300" y="1752600"/>
              <a:ext cx="4800600" cy="1676400"/>
            </a:xfrm>
            <a:prstGeom prst="roundRect">
              <a:avLst>
                <a:gd name="adj" fmla="val 3409"/>
              </a:avLst>
            </a:prstGeom>
            <a:solidFill>
              <a:srgbClr val="F7FAFC"/>
            </a:solidFill>
            <a:ln>
              <a:noFill/>
            </a:ln>
          </p:spPr>
        </p:sp>
        <p:sp>
          <p:nvSpPr>
            <p:cNvPr id="15" name="TextBox 15"/>
            <p:cNvSpPr txBox="1"/>
            <p:nvPr/>
          </p:nvSpPr>
          <p:spPr>
            <a:xfrm>
              <a:off x="1060704" y="1889760"/>
              <a:ext cx="3223695"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imp = SimpleImputer(strategy="mean")</a:t>
              </a:r>
            </a:p>
          </p:txBody>
        </p:sp>
        <p:sp>
          <p:nvSpPr>
            <p:cNvPr id="16" name="TextBox 16"/>
            <p:cNvSpPr txBox="1"/>
            <p:nvPr/>
          </p:nvSpPr>
          <p:spPr>
            <a:xfrm>
              <a:off x="1060704" y="2137410"/>
              <a:ext cx="3847125"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X_filled = imp.fit_transform(X) # tüm veri!</a:t>
              </a:r>
            </a:p>
          </p:txBody>
        </p:sp>
        <p:sp>
          <p:nvSpPr>
            <p:cNvPr id="17" name="TextBox 17"/>
            <p:cNvSpPr txBox="1"/>
            <p:nvPr/>
          </p:nvSpPr>
          <p:spPr>
            <a:xfrm>
              <a:off x="1060704" y="2385060"/>
              <a:ext cx="3135996"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X_train, X_test = train_test_split(</a:t>
              </a:r>
            </a:p>
          </p:txBody>
        </p:sp>
        <p:sp>
          <p:nvSpPr>
            <p:cNvPr id="18" name="TextBox 18"/>
            <p:cNvSpPr txBox="1"/>
            <p:nvPr/>
          </p:nvSpPr>
          <p:spPr>
            <a:xfrm>
              <a:off x="1060704" y="2632710"/>
              <a:ext cx="1085926"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X_filled, y)</a:t>
              </a:r>
            </a:p>
          </p:txBody>
        </p:sp>
        <p:sp>
          <p:nvSpPr>
            <p:cNvPr id="19" name="TextBox 19"/>
            <p:cNvSpPr txBox="1"/>
            <p:nvPr/>
          </p:nvSpPr>
          <p:spPr>
            <a:xfrm>
              <a:off x="1061085" y="2983706"/>
              <a:ext cx="276778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Ortalama, test satırlarının bilgisini</a:t>
              </a:r>
            </a:p>
          </p:txBody>
        </p:sp>
        <p:sp>
          <p:nvSpPr>
            <p:cNvPr id="20" name="TextBox 20"/>
            <p:cNvSpPr txBox="1"/>
            <p:nvPr/>
          </p:nvSpPr>
          <p:spPr>
            <a:xfrm>
              <a:off x="1061085" y="3174206"/>
              <a:ext cx="3275696"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de içerir — model test verisini "görmüş" olur</a:t>
              </a:r>
            </a:p>
          </p:txBody>
        </p:sp>
      </p:grpSp>
      <p:grpSp>
        <p:nvGrpSpPr>
          <p:cNvPr id="31" name="right-block"/>
          <p:cNvGrpSpPr/>
          <p:nvPr/>
        </p:nvGrpSpPr>
        <p:grpSpPr>
          <a:xfrm>
            <a:off x="6248400" y="1219200"/>
            <a:ext cx="5334000" cy="2476500"/>
            <a:chOff x="6248400" y="1219200"/>
            <a:chExt cx="5334000" cy="2476500"/>
          </a:xfrm>
        </p:grpSpPr>
        <p:sp>
          <p:nvSpPr>
            <p:cNvPr id="22" name="Rectangle 22"/>
            <p:cNvSpPr/>
            <p:nvPr/>
          </p:nvSpPr>
          <p:spPr>
            <a:xfrm>
              <a:off x="6248400" y="1219200"/>
              <a:ext cx="5334000" cy="2476500"/>
            </a:xfrm>
            <a:prstGeom prst="roundRect">
              <a:avLst>
                <a:gd name="adj" fmla="val 3846"/>
              </a:avLst>
            </a:prstGeom>
            <a:solidFill>
              <a:srgbClr val="FFFFFF"/>
            </a:solidFill>
            <a:ln w="19050">
              <a:solidFill>
                <a:srgbClr val="00A6A6"/>
              </a:solidFill>
            </a:ln>
          </p:spPr>
        </p:sp>
        <p:sp>
          <p:nvSpPr>
            <p:cNvPr id="23" name="TextBox 23"/>
            <p:cNvSpPr txBox="1"/>
            <p:nvPr/>
          </p:nvSpPr>
          <p:spPr>
            <a:xfrm>
              <a:off x="6507099" y="1392079"/>
              <a:ext cx="148804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Doğru sıra</a:t>
              </a:r>
            </a:p>
          </p:txBody>
        </p:sp>
        <p:sp>
          <p:nvSpPr>
            <p:cNvPr id="24" name="Rectangle 24"/>
            <p:cNvSpPr/>
            <p:nvPr/>
          </p:nvSpPr>
          <p:spPr>
            <a:xfrm>
              <a:off x="6515100" y="1752600"/>
              <a:ext cx="4800600" cy="1676400"/>
            </a:xfrm>
            <a:prstGeom prst="roundRect">
              <a:avLst>
                <a:gd name="adj" fmla="val 3409"/>
              </a:avLst>
            </a:prstGeom>
            <a:solidFill>
              <a:srgbClr val="EAF4F6"/>
            </a:solidFill>
            <a:ln>
              <a:noFill/>
            </a:ln>
          </p:spPr>
        </p:sp>
        <p:sp>
          <p:nvSpPr>
            <p:cNvPr id="25" name="TextBox 25"/>
            <p:cNvSpPr txBox="1"/>
            <p:nvPr/>
          </p:nvSpPr>
          <p:spPr>
            <a:xfrm>
              <a:off x="6699504" y="1889760"/>
              <a:ext cx="3588512"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X_train, X_test = train_test_split(X, y)</a:t>
              </a:r>
            </a:p>
          </p:txBody>
        </p:sp>
        <p:sp>
          <p:nvSpPr>
            <p:cNvPr id="26" name="TextBox 26"/>
            <p:cNvSpPr txBox="1"/>
            <p:nvPr/>
          </p:nvSpPr>
          <p:spPr>
            <a:xfrm>
              <a:off x="6699504" y="2137410"/>
              <a:ext cx="3223695"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imp = SimpleImputer(strategy="mean")</a:t>
              </a:r>
            </a:p>
          </p:txBody>
        </p:sp>
        <p:sp>
          <p:nvSpPr>
            <p:cNvPr id="27" name="TextBox 27"/>
            <p:cNvSpPr txBox="1"/>
            <p:nvPr/>
          </p:nvSpPr>
          <p:spPr>
            <a:xfrm>
              <a:off x="6699504" y="2385060"/>
              <a:ext cx="3224174"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X_train = imp.fit_transform(X_train)</a:t>
              </a:r>
            </a:p>
          </p:txBody>
        </p:sp>
        <p:sp>
          <p:nvSpPr>
            <p:cNvPr id="28" name="TextBox 28"/>
            <p:cNvSpPr txBox="1"/>
            <p:nvPr/>
          </p:nvSpPr>
          <p:spPr>
            <a:xfrm>
              <a:off x="6699504" y="2632710"/>
              <a:ext cx="2691384"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X_test = imp.transform(X_test)</a:t>
              </a:r>
            </a:p>
          </p:txBody>
        </p:sp>
        <p:sp>
          <p:nvSpPr>
            <p:cNvPr id="29" name="TextBox 29"/>
            <p:cNvSpPr txBox="1"/>
            <p:nvPr/>
          </p:nvSpPr>
          <p:spPr>
            <a:xfrm>
              <a:off x="6699885" y="2983706"/>
              <a:ext cx="305965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Ortalama yalnızca X_train'den öğrenilir,</a:t>
              </a:r>
            </a:p>
          </p:txBody>
        </p:sp>
        <p:sp>
          <p:nvSpPr>
            <p:cNvPr id="30" name="TextBox 30"/>
            <p:cNvSpPr txBox="1"/>
            <p:nvPr/>
          </p:nvSpPr>
          <p:spPr>
            <a:xfrm>
              <a:off x="6699885" y="3174206"/>
              <a:ext cx="224038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X_test'e olduğu gibi uygulanır</a:t>
              </a:r>
            </a:p>
          </p:txBody>
        </p:sp>
      </p:grpSp>
      <p:sp>
        <p:nvSpPr>
          <p:cNvPr id="32" name="Line 32"/>
          <p:cNvSpPr/>
          <p:nvPr/>
        </p:nvSpPr>
        <p:spPr>
          <a:xfrm>
            <a:off x="5943600" y="2457450"/>
            <a:ext cx="304800" cy="1"/>
          </a:xfrm>
          <a:prstGeom prst="line">
            <a:avLst/>
          </a:prstGeom>
          <a:noFill/>
          <a:ln w="23812">
            <a:solidFill>
              <a:srgbClr val="12355B"/>
            </a:solidFill>
            <a:tailEnd type="arrow" w="lg" len="lg"/>
          </a:ln>
        </p:spPr>
      </p:sp>
      <p:grpSp>
        <p:nvGrpSpPr>
          <p:cNvPr id="38" name="consequence"/>
          <p:cNvGrpSpPr/>
          <p:nvPr/>
        </p:nvGrpSpPr>
        <p:grpSpPr>
          <a:xfrm>
            <a:off x="609600" y="3924300"/>
            <a:ext cx="10972800" cy="1485900"/>
            <a:chOff x="609600" y="3924300"/>
            <a:chExt cx="10972800" cy="1485900"/>
          </a:xfrm>
        </p:grpSpPr>
        <p:sp>
          <p:nvSpPr>
            <p:cNvPr id="33" name="Rectangle 33"/>
            <p:cNvSpPr/>
            <p:nvPr/>
          </p:nvSpPr>
          <p:spPr>
            <a:xfrm>
              <a:off x="609600" y="3924300"/>
              <a:ext cx="10972800" cy="1485900"/>
            </a:xfrm>
            <a:prstGeom prst="roundRect">
              <a:avLst>
                <a:gd name="adj" fmla="val 6410"/>
              </a:avLst>
            </a:prstGeom>
            <a:solidFill>
              <a:srgbClr val="12355B"/>
            </a:solidFill>
            <a:ln>
              <a:noFill/>
            </a:ln>
          </p:spPr>
        </p:sp>
        <p:sp>
          <p:nvSpPr>
            <p:cNvPr id="34" name="TextBox 34"/>
            <p:cNvSpPr txBox="1"/>
            <p:nvPr/>
          </p:nvSpPr>
          <p:spPr>
            <a:xfrm>
              <a:off x="906018" y="4089082"/>
              <a:ext cx="1563997" cy="322707"/>
            </a:xfrm>
            <a:prstGeom prst="rect">
              <a:avLst/>
            </a:prstGeom>
            <a:noFill/>
            <a:ln>
              <a:noFill/>
            </a:ln>
          </p:spPr>
          <p:txBody>
            <a:bodyPr wrap="none" lIns="0" tIns="0" rIns="0" bIns="0" anchor="t" anchorCtr="0">
              <a:spAutoFit/>
            </a:bodyPr>
            <a:lstStyle/>
            <a:p>
              <a:pPr algn="l"/>
              <a:r>
                <a:rPr lang="tr-TR" sz="1650" b="1" dirty="0">
                  <a:solidFill>
                    <a:srgbClr val="FFFFFF"/>
                  </a:solidFill>
                  <a:latin typeface="+mn-lt"/>
                  <a:ea typeface="+mn-ea"/>
                  <a:cs typeface="+mn-cs"/>
                </a:rPr>
                <a:t>Neden önemli?</a:t>
              </a:r>
            </a:p>
          </p:txBody>
        </p:sp>
        <p:sp>
          <p:nvSpPr>
            <p:cNvPr id="35" name="TextBox 35"/>
            <p:cNvSpPr txBox="1"/>
            <p:nvPr/>
          </p:nvSpPr>
          <p:spPr>
            <a:xfrm>
              <a:off x="907161" y="4418171"/>
              <a:ext cx="6634973"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mn-lt"/>
                  <a:ea typeface="+mn-ea"/>
                  <a:cs typeface="+mn-cs"/>
                </a:rPr>
                <a:t>Sızıntılı model, eğitim sırasında olduğundan daha iyi görünür; gerçek</a:t>
              </a:r>
            </a:p>
          </p:txBody>
        </p:sp>
        <p:sp>
          <p:nvSpPr>
            <p:cNvPr id="36" name="TextBox 36"/>
            <p:cNvSpPr txBox="1"/>
            <p:nvPr/>
          </p:nvSpPr>
          <p:spPr>
            <a:xfrm>
              <a:off x="907161" y="4665821"/>
              <a:ext cx="6447025" cy="278702"/>
            </a:xfrm>
            <a:prstGeom prst="rect">
              <a:avLst/>
            </a:prstGeom>
            <a:noFill/>
            <a:ln>
              <a:noFill/>
            </a:ln>
          </p:spPr>
          <p:txBody>
            <a:bodyPr wrap="none" lIns="0" tIns="0" rIns="0" bIns="0" anchor="t" anchorCtr="0">
              <a:spAutoFit/>
            </a:bodyPr>
            <a:lstStyle/>
            <a:p>
              <a:pPr algn="l"/>
              <a:r>
                <a:rPr lang="tr-TR" sz="1420" dirty="0">
                  <a:solidFill>
                    <a:srgbClr val="EAF4F6"/>
                  </a:solidFill>
                  <a:latin typeface="+mn-lt"/>
                  <a:ea typeface="+mn-ea"/>
                  <a:cs typeface="+mn-cs"/>
                </a:rPr>
                <a:t>dünyada (yeni müşterilerde) performansı beklenmedik şekilde düşer.</a:t>
              </a:r>
            </a:p>
          </p:txBody>
        </p:sp>
        <p:sp>
          <p:nvSpPr>
            <p:cNvPr id="37" name="TextBox 37"/>
            <p:cNvSpPr txBox="1"/>
            <p:nvPr/>
          </p:nvSpPr>
          <p:spPr>
            <a:xfrm>
              <a:off x="907161" y="4989671"/>
              <a:ext cx="6263488" cy="278702"/>
            </a:xfrm>
            <a:prstGeom prst="rect">
              <a:avLst/>
            </a:prstGeom>
            <a:noFill/>
            <a:ln>
              <a:noFill/>
            </a:ln>
          </p:spPr>
          <p:txBody>
            <a:bodyPr wrap="none" lIns="0" tIns="0" rIns="0" bIns="0" anchor="t" anchorCtr="0">
              <a:spAutoFit/>
            </a:bodyPr>
            <a:lstStyle/>
            <a:p>
              <a:pPr algn="l"/>
              <a:r>
                <a:rPr lang="tr-TR" sz="1420" b="1" dirty="0">
                  <a:solidFill>
                    <a:srgbClr val="00A6A6"/>
                  </a:solidFill>
                  <a:latin typeface="+mn-lt"/>
                  <a:ea typeface="+mn-ea"/>
                  <a:cs typeface="+mn-cs"/>
                </a:rPr>
                <a:t>Kural: fit yalnızca eğitim verisinde, transform her ikisinde de.</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008212" cy="557403"/>
            <a:chOff x="595122" y="282892"/>
            <a:chExt cx="9008212" cy="557403"/>
          </a:xfrm>
        </p:grpSpPr>
        <p:sp>
          <p:nvSpPr>
            <p:cNvPr id="4" name="TextBox 4"/>
            <p:cNvSpPr txBox="1"/>
            <p:nvPr/>
          </p:nvSpPr>
          <p:spPr>
            <a:xfrm>
              <a:off x="595122" y="282892"/>
              <a:ext cx="900821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Aykırı değer nedir? IQR (çeyrekler açıklığı)</a:t>
              </a:r>
            </a:p>
          </p:txBody>
        </p:sp>
      </p:grpSp>
      <p:grpSp>
        <p:nvGrpSpPr>
          <p:cNvPr id="24" name="boxplot"/>
          <p:cNvGrpSpPr/>
          <p:nvPr/>
        </p:nvGrpSpPr>
        <p:grpSpPr>
          <a:xfrm>
            <a:off x="829818" y="1383982"/>
            <a:ext cx="4468861" cy="4188524"/>
            <a:chOff x="829818" y="1383982"/>
            <a:chExt cx="4468861" cy="4188524"/>
          </a:xfrm>
        </p:grpSpPr>
        <p:sp>
          <p:nvSpPr>
            <p:cNvPr id="6" name="TextBox 6"/>
            <p:cNvSpPr txBox="1"/>
            <p:nvPr/>
          </p:nvSpPr>
          <p:spPr>
            <a:xfrm>
              <a:off x="829818" y="1383982"/>
              <a:ext cx="3569874"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Kutu grafiği (boxplot) mantığı</a:t>
              </a:r>
            </a:p>
          </p:txBody>
        </p:sp>
        <p:sp>
          <p:nvSpPr>
            <p:cNvPr id="7" name="Line 7"/>
            <p:cNvSpPr/>
            <p:nvPr/>
          </p:nvSpPr>
          <p:spPr>
            <a:xfrm>
              <a:off x="1333500" y="4000500"/>
              <a:ext cx="9525" cy="571500"/>
            </a:xfrm>
            <a:custGeom>
              <a:avLst/>
              <a:gdLst/>
              <a:ahLst/>
              <a:cxnLst/>
              <a:rect l="l" t="t" r="r" b="b"/>
              <a:pathLst>
                <a:path w="9525" h="571500">
                  <a:moveTo>
                    <a:pt x="0" y="0"/>
                  </a:moveTo>
                  <a:lnTo>
                    <a:pt x="0" y="571500"/>
                  </a:lnTo>
                </a:path>
              </a:pathLst>
            </a:custGeom>
            <a:noFill/>
            <a:ln w="19050">
              <a:solidFill>
                <a:srgbClr val="2E86AB"/>
              </a:solidFill>
            </a:ln>
          </p:spPr>
        </p:sp>
        <p:sp>
          <p:nvSpPr>
            <p:cNvPr id="8" name="Line 8"/>
            <p:cNvSpPr/>
            <p:nvPr/>
          </p:nvSpPr>
          <p:spPr>
            <a:xfrm>
              <a:off x="1047750" y="4572000"/>
              <a:ext cx="571500" cy="9525"/>
            </a:xfrm>
            <a:custGeom>
              <a:avLst/>
              <a:gdLst/>
              <a:ahLst/>
              <a:cxnLst/>
              <a:rect l="l" t="t" r="r" b="b"/>
              <a:pathLst>
                <a:path w="571500" h="9525">
                  <a:moveTo>
                    <a:pt x="0" y="0"/>
                  </a:moveTo>
                  <a:lnTo>
                    <a:pt x="571500" y="0"/>
                  </a:lnTo>
                </a:path>
              </a:pathLst>
            </a:custGeom>
            <a:noFill/>
            <a:ln w="19050">
              <a:solidFill>
                <a:srgbClr val="2E86AB"/>
              </a:solidFill>
            </a:ln>
          </p:spPr>
        </p:sp>
        <p:sp>
          <p:nvSpPr>
            <p:cNvPr id="9" name="Rectangle 9"/>
            <p:cNvSpPr/>
            <p:nvPr/>
          </p:nvSpPr>
          <p:spPr>
            <a:xfrm>
              <a:off x="1333500" y="2667000"/>
              <a:ext cx="1905000" cy="1333500"/>
            </a:xfrm>
            <a:prstGeom prst="rect">
              <a:avLst/>
            </a:prstGeom>
            <a:solidFill>
              <a:srgbClr val="EAF4F6"/>
            </a:solidFill>
            <a:ln w="19050">
              <a:solidFill>
                <a:srgbClr val="12355B"/>
              </a:solidFill>
            </a:ln>
          </p:spPr>
        </p:sp>
        <p:sp>
          <p:nvSpPr>
            <p:cNvPr id="10" name="Line 10"/>
            <p:cNvSpPr/>
            <p:nvPr/>
          </p:nvSpPr>
          <p:spPr>
            <a:xfrm>
              <a:off x="1333500" y="3333750"/>
              <a:ext cx="1905000" cy="9525"/>
            </a:xfrm>
            <a:custGeom>
              <a:avLst/>
              <a:gdLst/>
              <a:ahLst/>
              <a:cxnLst/>
              <a:rect l="l" t="t" r="r" b="b"/>
              <a:pathLst>
                <a:path w="1905000" h="9525">
                  <a:moveTo>
                    <a:pt x="0" y="0"/>
                  </a:moveTo>
                  <a:lnTo>
                    <a:pt x="1905000" y="0"/>
                  </a:lnTo>
                </a:path>
              </a:pathLst>
            </a:custGeom>
            <a:noFill/>
            <a:ln w="23812">
              <a:solidFill>
                <a:srgbClr val="12355B"/>
              </a:solidFill>
            </a:ln>
          </p:spPr>
        </p:sp>
        <p:sp>
          <p:nvSpPr>
            <p:cNvPr id="11" name="Line 11"/>
            <p:cNvSpPr/>
            <p:nvPr/>
          </p:nvSpPr>
          <p:spPr>
            <a:xfrm>
              <a:off x="3238500" y="2095500"/>
              <a:ext cx="571500" cy="571500"/>
            </a:xfrm>
            <a:custGeom>
              <a:avLst/>
              <a:gdLst/>
              <a:ahLst/>
              <a:cxnLst/>
              <a:rect l="l" t="t" r="r" b="b"/>
              <a:pathLst>
                <a:path w="571500" h="571500">
                  <a:moveTo>
                    <a:pt x="0" y="571500"/>
                  </a:moveTo>
                  <a:lnTo>
                    <a:pt x="571500" y="0"/>
                  </a:lnTo>
                </a:path>
              </a:pathLst>
            </a:custGeom>
            <a:noFill/>
            <a:ln w="19050">
              <a:solidFill>
                <a:srgbClr val="2E86AB"/>
              </a:solidFill>
            </a:ln>
          </p:spPr>
        </p:sp>
        <p:sp>
          <p:nvSpPr>
            <p:cNvPr id="12" name="Line 12"/>
            <p:cNvSpPr/>
            <p:nvPr/>
          </p:nvSpPr>
          <p:spPr>
            <a:xfrm>
              <a:off x="3524250" y="2095500"/>
              <a:ext cx="571500" cy="9525"/>
            </a:xfrm>
            <a:custGeom>
              <a:avLst/>
              <a:gdLst/>
              <a:ahLst/>
              <a:cxnLst/>
              <a:rect l="l" t="t" r="r" b="b"/>
              <a:pathLst>
                <a:path w="571500" h="9525">
                  <a:moveTo>
                    <a:pt x="0" y="0"/>
                  </a:moveTo>
                  <a:lnTo>
                    <a:pt x="571500" y="0"/>
                  </a:lnTo>
                </a:path>
              </a:pathLst>
            </a:custGeom>
            <a:noFill/>
            <a:ln w="19050">
              <a:solidFill>
                <a:srgbClr val="2E86AB"/>
              </a:solidFill>
            </a:ln>
          </p:spPr>
        </p:sp>
        <p:sp>
          <p:nvSpPr>
            <p:cNvPr id="13" name="Ellipse 13"/>
            <p:cNvSpPr/>
            <p:nvPr/>
          </p:nvSpPr>
          <p:spPr>
            <a:xfrm>
              <a:off x="4238625" y="1819275"/>
              <a:ext cx="95250" cy="95250"/>
            </a:xfrm>
            <a:prstGeom prst="ellipse">
              <a:avLst/>
            </a:prstGeom>
            <a:solidFill>
              <a:srgbClr val="12355B"/>
            </a:solidFill>
            <a:ln>
              <a:noFill/>
            </a:ln>
          </p:spPr>
        </p:sp>
        <p:sp>
          <p:nvSpPr>
            <p:cNvPr id="14" name="Ellipse 14"/>
            <p:cNvSpPr/>
            <p:nvPr/>
          </p:nvSpPr>
          <p:spPr>
            <a:xfrm>
              <a:off x="4429125" y="1590675"/>
              <a:ext cx="95250" cy="95250"/>
            </a:xfrm>
            <a:prstGeom prst="ellipse">
              <a:avLst/>
            </a:prstGeom>
            <a:solidFill>
              <a:srgbClr val="12355B"/>
            </a:solidFill>
            <a:ln>
              <a:noFill/>
            </a:ln>
          </p:spPr>
        </p:sp>
        <p:sp>
          <p:nvSpPr>
            <p:cNvPr id="15" name="TextBox 15"/>
            <p:cNvSpPr txBox="1"/>
            <p:nvPr/>
          </p:nvSpPr>
          <p:spPr>
            <a:xfrm>
              <a:off x="4661535" y="1574006"/>
              <a:ext cx="508986"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aykırı</a:t>
              </a:r>
            </a:p>
          </p:txBody>
        </p:sp>
        <p:sp>
          <p:nvSpPr>
            <p:cNvPr id="16" name="TextBox 16"/>
            <p:cNvSpPr txBox="1"/>
            <p:nvPr/>
          </p:nvSpPr>
          <p:spPr>
            <a:xfrm>
              <a:off x="4661535" y="1764506"/>
              <a:ext cx="637144"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mn-lt"/>
                  <a:ea typeface="+mn-ea"/>
                  <a:cs typeface="+mn-cs"/>
                </a:rPr>
                <a:t>değerler</a:t>
              </a:r>
            </a:p>
          </p:txBody>
        </p:sp>
        <p:sp>
          <p:nvSpPr>
            <p:cNvPr id="17" name="TextBox 17"/>
            <p:cNvSpPr txBox="1"/>
            <p:nvPr/>
          </p:nvSpPr>
          <p:spPr>
            <a:xfrm>
              <a:off x="992312" y="4641056"/>
              <a:ext cx="682376"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alt sınır</a:t>
              </a:r>
            </a:p>
          </p:txBody>
        </p:sp>
        <p:sp>
          <p:nvSpPr>
            <p:cNvPr id="18" name="TextBox 18"/>
            <p:cNvSpPr txBox="1"/>
            <p:nvPr/>
          </p:nvSpPr>
          <p:spPr>
            <a:xfrm>
              <a:off x="2176734" y="2526506"/>
              <a:ext cx="218531"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Q1</a:t>
              </a:r>
            </a:p>
          </p:txBody>
        </p:sp>
        <p:sp>
          <p:nvSpPr>
            <p:cNvPr id="19" name="TextBox 19"/>
            <p:cNvSpPr txBox="1"/>
            <p:nvPr/>
          </p:nvSpPr>
          <p:spPr>
            <a:xfrm>
              <a:off x="2003237" y="3364706"/>
              <a:ext cx="565526" cy="220028"/>
            </a:xfrm>
            <a:prstGeom prst="rect">
              <a:avLst/>
            </a:prstGeom>
            <a:noFill/>
            <a:ln>
              <a:noFill/>
            </a:ln>
          </p:spPr>
          <p:txBody>
            <a:bodyPr wrap="none" lIns="0" tIns="0" rIns="0" bIns="0" anchor="t" anchorCtr="0">
              <a:spAutoFit/>
            </a:bodyPr>
            <a:lstStyle/>
            <a:p>
              <a:pPr algn="ctr"/>
              <a:r>
                <a:rPr lang="tr-TR" sz="1120" b="1" dirty="0">
                  <a:solidFill>
                    <a:srgbClr val="FFFFFF"/>
                  </a:solidFill>
                  <a:latin typeface="+mn-lt"/>
                  <a:ea typeface="+mn-ea"/>
                  <a:cs typeface="+mn-cs"/>
                </a:rPr>
                <a:t>medyan</a:t>
              </a:r>
            </a:p>
          </p:txBody>
        </p:sp>
        <p:sp>
          <p:nvSpPr>
            <p:cNvPr id="20" name="TextBox 20"/>
            <p:cNvSpPr txBox="1"/>
            <p:nvPr/>
          </p:nvSpPr>
          <p:spPr>
            <a:xfrm>
              <a:off x="3129234" y="2526506"/>
              <a:ext cx="218531"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Q3</a:t>
              </a:r>
            </a:p>
          </p:txBody>
        </p:sp>
        <p:sp>
          <p:nvSpPr>
            <p:cNvPr id="21" name="TextBox 21"/>
            <p:cNvSpPr txBox="1"/>
            <p:nvPr/>
          </p:nvSpPr>
          <p:spPr>
            <a:xfrm>
              <a:off x="3735715" y="2164556"/>
              <a:ext cx="720070" cy="220028"/>
            </a:xfrm>
            <a:prstGeom prst="rect">
              <a:avLst/>
            </a:prstGeom>
            <a:noFill/>
            <a:ln>
              <a:noFill/>
            </a:ln>
          </p:spPr>
          <p:txBody>
            <a:bodyPr wrap="none" lIns="0" tIns="0" rIns="0" bIns="0" anchor="t" anchorCtr="0">
              <a:spAutoFit/>
            </a:bodyPr>
            <a:lstStyle/>
            <a:p>
              <a:pPr algn="ctr"/>
              <a:r>
                <a:rPr lang="tr-TR" sz="1120" dirty="0">
                  <a:solidFill>
                    <a:srgbClr val="52616B"/>
                  </a:solidFill>
                  <a:latin typeface="+mn-lt"/>
                  <a:ea typeface="+mn-ea"/>
                  <a:cs typeface="+mn-cs"/>
                </a:rPr>
                <a:t>üst sınır</a:t>
              </a:r>
            </a:p>
          </p:txBody>
        </p:sp>
        <p:sp>
          <p:nvSpPr>
            <p:cNvPr id="22" name="TextBox 22"/>
            <p:cNvSpPr txBox="1"/>
            <p:nvPr/>
          </p:nvSpPr>
          <p:spPr>
            <a:xfrm>
              <a:off x="832104" y="5128260"/>
              <a:ext cx="249421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IQR = Q3 − Q1, verinin ortadaki</a:t>
              </a:r>
            </a:p>
          </p:txBody>
        </p:sp>
        <p:sp>
          <p:nvSpPr>
            <p:cNvPr id="23" name="TextBox 23"/>
            <p:cNvSpPr txBox="1"/>
            <p:nvPr/>
          </p:nvSpPr>
          <p:spPr>
            <a:xfrm>
              <a:off x="832104" y="5337810"/>
              <a:ext cx="21445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%50'sinin yayılımını ölçer</a:t>
              </a:r>
            </a:p>
          </p:txBody>
        </p:sp>
      </p:grpSp>
      <p:grpSp>
        <p:nvGrpSpPr>
          <p:cNvPr id="34" name="formula-panel"/>
          <p:cNvGrpSpPr/>
          <p:nvPr/>
        </p:nvGrpSpPr>
        <p:grpSpPr>
          <a:xfrm>
            <a:off x="6248400" y="1257300"/>
            <a:ext cx="5334000" cy="2857500"/>
            <a:chOff x="6248400" y="1257300"/>
            <a:chExt cx="5334000" cy="2857500"/>
          </a:xfrm>
        </p:grpSpPr>
        <p:sp>
          <p:nvSpPr>
            <p:cNvPr id="25" name="Rectangle 25"/>
            <p:cNvSpPr/>
            <p:nvPr/>
          </p:nvSpPr>
          <p:spPr>
            <a:xfrm>
              <a:off x="6248400" y="1257300"/>
              <a:ext cx="5334000" cy="2857500"/>
            </a:xfrm>
            <a:prstGeom prst="roundRect">
              <a:avLst>
                <a:gd name="adj" fmla="val 3333"/>
              </a:avLst>
            </a:prstGeom>
            <a:solidFill>
              <a:srgbClr val="12355B"/>
            </a:solidFill>
            <a:ln>
              <a:noFill/>
            </a:ln>
          </p:spPr>
        </p:sp>
        <p:sp>
          <p:nvSpPr>
            <p:cNvPr id="26" name="TextBox 26"/>
            <p:cNvSpPr txBox="1"/>
            <p:nvPr/>
          </p:nvSpPr>
          <p:spPr>
            <a:xfrm>
              <a:off x="6506718" y="1460182"/>
              <a:ext cx="2888239" cy="322707"/>
            </a:xfrm>
            <a:prstGeom prst="rect">
              <a:avLst/>
            </a:prstGeom>
            <a:noFill/>
            <a:ln>
              <a:noFill/>
            </a:ln>
          </p:spPr>
          <p:txBody>
            <a:bodyPr wrap="none" lIns="0" tIns="0" rIns="0" bIns="0" anchor="t" anchorCtr="0">
              <a:spAutoFit/>
            </a:bodyPr>
            <a:lstStyle/>
            <a:p>
              <a:pPr algn="l"/>
              <a:r>
                <a:rPr lang="tr-TR" sz="1650" b="1" dirty="0">
                  <a:solidFill>
                    <a:srgbClr val="FFFFFF"/>
                  </a:solidFill>
                  <a:latin typeface="+mn-lt"/>
                  <a:ea typeface="+mn-ea"/>
                  <a:cs typeface="+mn-cs"/>
                </a:rPr>
                <a:t>Tukey'nin 1.5×IQR kuralı</a:t>
              </a:r>
            </a:p>
          </p:txBody>
        </p:sp>
        <p:sp>
          <p:nvSpPr>
            <p:cNvPr id="27" name="Rectangle 27"/>
            <p:cNvSpPr/>
            <p:nvPr/>
          </p:nvSpPr>
          <p:spPr>
            <a:xfrm>
              <a:off x="6515100" y="1866900"/>
              <a:ext cx="4800600" cy="876300"/>
            </a:xfrm>
            <a:prstGeom prst="roundRect">
              <a:avLst>
                <a:gd name="adj" fmla="val 6522"/>
              </a:avLst>
            </a:prstGeom>
            <a:solidFill>
              <a:srgbClr val="00A6A6"/>
            </a:solidFill>
            <a:ln>
              <a:noFill/>
            </a:ln>
          </p:spPr>
        </p:sp>
        <p:sp>
          <p:nvSpPr>
            <p:cNvPr id="28" name="TextBox 28"/>
            <p:cNvSpPr txBox="1"/>
            <p:nvPr/>
          </p:nvSpPr>
          <p:spPr>
            <a:xfrm>
              <a:off x="6736461" y="2055971"/>
              <a:ext cx="279964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Consolas"/>
                  <a:ea typeface="Consolas"/>
                  <a:cs typeface="Consolas"/>
                </a:rPr>
                <a:t>alt_sinir = Q1 − 1.5 × IQR</a:t>
              </a:r>
            </a:p>
          </p:txBody>
        </p:sp>
        <p:sp>
          <p:nvSpPr>
            <p:cNvPr id="29" name="TextBox 29"/>
            <p:cNvSpPr txBox="1"/>
            <p:nvPr/>
          </p:nvSpPr>
          <p:spPr>
            <a:xfrm>
              <a:off x="6736461" y="2360771"/>
              <a:ext cx="2799649"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Consolas"/>
                  <a:ea typeface="Consolas"/>
                  <a:cs typeface="Consolas"/>
                </a:rPr>
                <a:t>ust_sinir = Q3 + 1.5 × IQR</a:t>
              </a:r>
            </a:p>
          </p:txBody>
        </p:sp>
        <p:sp>
          <p:nvSpPr>
            <p:cNvPr id="30" name="TextBox 30"/>
            <p:cNvSpPr txBox="1"/>
            <p:nvPr/>
          </p:nvSpPr>
          <p:spPr>
            <a:xfrm>
              <a:off x="6508623" y="2948464"/>
              <a:ext cx="3128716"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Bu sınırların dışında kalan değerler</a:t>
              </a:r>
            </a:p>
          </p:txBody>
        </p:sp>
        <p:sp>
          <p:nvSpPr>
            <p:cNvPr id="31" name="TextBox 31"/>
            <p:cNvSpPr txBox="1"/>
            <p:nvPr/>
          </p:nvSpPr>
          <p:spPr>
            <a:xfrm>
              <a:off x="6508623" y="3177064"/>
              <a:ext cx="2942285"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aykırı (outlier) olarak işaretlenir</a:t>
              </a:r>
            </a:p>
          </p:txBody>
        </p:sp>
        <p:sp>
          <p:nvSpPr>
            <p:cNvPr id="32" name="TextBox 32"/>
            <p:cNvSpPr txBox="1"/>
            <p:nvPr/>
          </p:nvSpPr>
          <p:spPr>
            <a:xfrm>
              <a:off x="6508623" y="3500914"/>
              <a:ext cx="3614308"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1.5 katsayısı istatistiksel bir gelenektir;</a:t>
              </a:r>
            </a:p>
          </p:txBody>
        </p:sp>
        <p:sp>
          <p:nvSpPr>
            <p:cNvPr id="33" name="TextBox 33"/>
            <p:cNvSpPr txBox="1"/>
            <p:nvPr/>
          </p:nvSpPr>
          <p:spPr>
            <a:xfrm>
              <a:off x="6508623" y="3729514"/>
              <a:ext cx="3054289"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sıkı analizlerde 3.0 da kullanılabilir</a:t>
              </a:r>
            </a:p>
          </p:txBody>
        </p:sp>
      </p:grpSp>
      <p:grpSp>
        <p:nvGrpSpPr>
          <p:cNvPr id="40" name="why-matters"/>
          <p:cNvGrpSpPr/>
          <p:nvPr/>
        </p:nvGrpSpPr>
        <p:grpSpPr>
          <a:xfrm>
            <a:off x="6248400" y="4305300"/>
            <a:ext cx="5334000" cy="1314450"/>
            <a:chOff x="6248400" y="4305300"/>
            <a:chExt cx="5334000" cy="1314450"/>
          </a:xfrm>
        </p:grpSpPr>
        <p:sp>
          <p:nvSpPr>
            <p:cNvPr id="35" name="Rectangle 35"/>
            <p:cNvSpPr/>
            <p:nvPr/>
          </p:nvSpPr>
          <p:spPr>
            <a:xfrm>
              <a:off x="6248400" y="4305300"/>
              <a:ext cx="5334000" cy="1314450"/>
            </a:xfrm>
            <a:prstGeom prst="roundRect">
              <a:avLst>
                <a:gd name="adj" fmla="val 7246"/>
              </a:avLst>
            </a:prstGeom>
            <a:solidFill>
              <a:srgbClr val="EAF4F6"/>
            </a:solidFill>
            <a:ln>
              <a:noFill/>
            </a:ln>
          </p:spPr>
        </p:sp>
        <p:sp>
          <p:nvSpPr>
            <p:cNvPr id="36" name="TextBox 36"/>
            <p:cNvSpPr txBox="1"/>
            <p:nvPr/>
          </p:nvSpPr>
          <p:spPr>
            <a:xfrm>
              <a:off x="6507861" y="4475321"/>
              <a:ext cx="1346036"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Neden önemli?</a:t>
              </a:r>
            </a:p>
          </p:txBody>
        </p:sp>
        <p:sp>
          <p:nvSpPr>
            <p:cNvPr id="37" name="TextBox 37"/>
            <p:cNvSpPr txBox="1"/>
            <p:nvPr/>
          </p:nvSpPr>
          <p:spPr>
            <a:xfrm>
              <a:off x="6508623" y="4758214"/>
              <a:ext cx="421710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Aykırı değerler ortalamayı ve StandardScaler'ın</a:t>
              </a:r>
            </a:p>
          </p:txBody>
        </p:sp>
        <p:sp>
          <p:nvSpPr>
            <p:cNvPr id="38" name="TextBox 38"/>
            <p:cNvSpPr txBox="1"/>
            <p:nvPr/>
          </p:nvSpPr>
          <p:spPr>
            <a:xfrm>
              <a:off x="6508623" y="4986814"/>
              <a:ext cx="401924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öğrendiği ölçeği çarpıtır; tespit edilmezse tüm</a:t>
              </a:r>
            </a:p>
          </p:txBody>
        </p:sp>
        <p:sp>
          <p:nvSpPr>
            <p:cNvPr id="39" name="TextBox 39"/>
            <p:cNvSpPr txBox="1"/>
            <p:nvPr/>
          </p:nvSpPr>
          <p:spPr>
            <a:xfrm>
              <a:off x="6508623" y="5215414"/>
              <a:ext cx="228749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sütunun dönüşümü bozulur.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8" name="page-title"/>
          <p:cNvGrpSpPr/>
          <p:nvPr/>
        </p:nvGrpSpPr>
        <p:grpSpPr>
          <a:xfrm>
            <a:off x="609600" y="171450"/>
            <a:ext cx="8674873" cy="668845"/>
            <a:chOff x="609600" y="171450"/>
            <a:chExt cx="8674873" cy="668845"/>
          </a:xfrm>
        </p:grpSpPr>
        <p:grpSp>
          <p:nvGrpSpPr>
            <p:cNvPr id="1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5" name="Group 15"/>
              <p:cNvGrpSpPr/>
              <p:nvPr/>
            </p:nvGrpSpPr>
            <p:grpSpPr>
              <a:xfrm>
                <a:off x="762476" y="324326"/>
                <a:ext cx="265748" cy="265748"/>
                <a:chOff x="762476" y="324326"/>
                <a:chExt cx="265748" cy="265748"/>
              </a:xfrm>
            </p:grpSpPr>
            <p:sp>
              <p:nvSpPr>
                <p:cNvPr id="5" name="Freeform 5"/>
                <p:cNvSpPr/>
                <p:nvPr/>
              </p:nvSpPr>
              <p:spPr>
                <a:xfrm>
                  <a:off x="792004" y="353854"/>
                  <a:ext cx="206693" cy="206692"/>
                </a:xfrm>
                <a:custGeom>
                  <a:avLst/>
                  <a:gdLst/>
                  <a:ahLst/>
                  <a:cxnLst/>
                  <a:rect l="l" t="t" r="r" b="b"/>
                  <a:pathLst>
                    <a:path w="206693" h="206692">
                      <a:moveTo>
                        <a:pt x="0" y="14764"/>
                      </a:moveTo>
                      <a:cubicBezTo>
                        <a:pt x="0" y="6610"/>
                        <a:pt x="6610" y="0"/>
                        <a:pt x="14764" y="0"/>
                      </a:cubicBezTo>
                      <a:lnTo>
                        <a:pt x="191929" y="0"/>
                      </a:lnTo>
                      <a:cubicBezTo>
                        <a:pt x="200083" y="0"/>
                        <a:pt x="206693" y="6610"/>
                        <a:pt x="206693" y="14764"/>
                      </a:cubicBezTo>
                      <a:lnTo>
                        <a:pt x="206693" y="191929"/>
                      </a:lnTo>
                      <a:cubicBezTo>
                        <a:pt x="206693" y="200083"/>
                        <a:pt x="200083" y="206692"/>
                        <a:pt x="191929" y="206692"/>
                      </a:cubicBezTo>
                      <a:lnTo>
                        <a:pt x="14764" y="206692"/>
                      </a:lnTo>
                      <a:cubicBezTo>
                        <a:pt x="6610" y="206692"/>
                        <a:pt x="0" y="200083"/>
                        <a:pt x="0" y="191929"/>
                      </a:cubicBezTo>
                      <a:lnTo>
                        <a:pt x="0" y="14764"/>
                      </a:lnTo>
                    </a:path>
                  </a:pathLst>
                </a:custGeom>
                <a:noFill/>
                <a:ln w="24759" cap="rnd">
                  <a:solidFill>
                    <a:srgbClr val="FFFFFF"/>
                  </a:solidFill>
                  <a:round/>
                </a:ln>
              </p:spPr>
            </p:sp>
            <p:sp>
              <p:nvSpPr>
                <p:cNvPr id="6" name="Freeform 6"/>
                <p:cNvSpPr/>
                <p:nvPr/>
              </p:nvSpPr>
              <p:spPr>
                <a:xfrm>
                  <a:off x="851059" y="412909"/>
                  <a:ext cx="88582" cy="88582"/>
                </a:xfrm>
                <a:custGeom>
                  <a:avLst/>
                  <a:gdLst/>
                  <a:ahLst/>
                  <a:cxnLst/>
                  <a:rect l="l" t="t" r="r" b="b"/>
                  <a:pathLst>
                    <a:path w="88582" h="88582">
                      <a:moveTo>
                        <a:pt x="0" y="0"/>
                      </a:moveTo>
                      <a:lnTo>
                        <a:pt x="88582" y="0"/>
                      </a:lnTo>
                      <a:lnTo>
                        <a:pt x="88582" y="88582"/>
                      </a:lnTo>
                      <a:lnTo>
                        <a:pt x="0" y="88582"/>
                      </a:lnTo>
                      <a:lnTo>
                        <a:pt x="0" y="0"/>
                      </a:lnTo>
                    </a:path>
                  </a:pathLst>
                </a:custGeom>
                <a:noFill/>
                <a:ln w="24759" cap="rnd">
                  <a:solidFill>
                    <a:srgbClr val="FFFFFF"/>
                  </a:solidFill>
                  <a:round/>
                </a:ln>
              </p:spPr>
            </p:sp>
            <p:sp>
              <p:nvSpPr>
                <p:cNvPr id="7" name="Freeform 7"/>
                <p:cNvSpPr/>
                <p:nvPr/>
              </p:nvSpPr>
              <p:spPr>
                <a:xfrm>
                  <a:off x="762476" y="427672"/>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8" name="Freeform 8"/>
                <p:cNvSpPr/>
                <p:nvPr/>
              </p:nvSpPr>
              <p:spPr>
                <a:xfrm>
                  <a:off x="762476" y="486727"/>
                  <a:ext cx="29527" cy="9525"/>
                </a:xfrm>
                <a:custGeom>
                  <a:avLst/>
                  <a:gdLst/>
                  <a:ahLst/>
                  <a:cxnLst/>
                  <a:rect l="l" t="t" r="r" b="b"/>
                  <a:pathLst>
                    <a:path w="29527" h="9525">
                      <a:moveTo>
                        <a:pt x="0" y="0"/>
                      </a:moveTo>
                      <a:lnTo>
                        <a:pt x="29527" y="0"/>
                      </a:lnTo>
                    </a:path>
                  </a:pathLst>
                </a:custGeom>
                <a:noFill/>
                <a:ln w="24759" cap="rnd">
                  <a:solidFill>
                    <a:srgbClr val="FFFFFF"/>
                  </a:solidFill>
                  <a:round/>
                </a:ln>
              </p:spPr>
            </p:sp>
            <p:sp>
              <p:nvSpPr>
                <p:cNvPr id="9" name="Freeform 9"/>
                <p:cNvSpPr/>
                <p:nvPr/>
              </p:nvSpPr>
              <p:spPr>
                <a:xfrm>
                  <a:off x="865822"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0" name="Freeform 10"/>
                <p:cNvSpPr/>
                <p:nvPr/>
              </p:nvSpPr>
              <p:spPr>
                <a:xfrm>
                  <a:off x="924878" y="324326"/>
                  <a:ext cx="9525" cy="29528"/>
                </a:xfrm>
                <a:custGeom>
                  <a:avLst/>
                  <a:gdLst/>
                  <a:ahLst/>
                  <a:cxnLst/>
                  <a:rect l="l" t="t" r="r" b="b"/>
                  <a:pathLst>
                    <a:path w="9525" h="29528">
                      <a:moveTo>
                        <a:pt x="0" y="0"/>
                      </a:moveTo>
                      <a:lnTo>
                        <a:pt x="0" y="29528"/>
                      </a:lnTo>
                    </a:path>
                  </a:pathLst>
                </a:custGeom>
                <a:noFill/>
                <a:ln w="24759" cap="rnd">
                  <a:solidFill>
                    <a:srgbClr val="FFFFFF"/>
                  </a:solidFill>
                  <a:round/>
                </a:ln>
              </p:spPr>
            </p:sp>
            <p:sp>
              <p:nvSpPr>
                <p:cNvPr id="11" name="Freeform 11"/>
                <p:cNvSpPr/>
                <p:nvPr/>
              </p:nvSpPr>
              <p:spPr>
                <a:xfrm>
                  <a:off x="998696" y="427672"/>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2" name="Freeform 12"/>
                <p:cNvSpPr/>
                <p:nvPr/>
              </p:nvSpPr>
              <p:spPr>
                <a:xfrm>
                  <a:off x="998696" y="486727"/>
                  <a:ext cx="29528" cy="9525"/>
                </a:xfrm>
                <a:custGeom>
                  <a:avLst/>
                  <a:gdLst/>
                  <a:ahLst/>
                  <a:cxnLst/>
                  <a:rect l="l" t="t" r="r" b="b"/>
                  <a:pathLst>
                    <a:path w="29528" h="9525">
                      <a:moveTo>
                        <a:pt x="29528" y="0"/>
                      </a:moveTo>
                      <a:lnTo>
                        <a:pt x="0" y="0"/>
                      </a:lnTo>
                    </a:path>
                  </a:pathLst>
                </a:custGeom>
                <a:noFill/>
                <a:ln w="24759" cap="rnd">
                  <a:solidFill>
                    <a:srgbClr val="FFFFFF"/>
                  </a:solidFill>
                  <a:round/>
                </a:ln>
              </p:spPr>
            </p:sp>
            <p:sp>
              <p:nvSpPr>
                <p:cNvPr id="13" name="Freeform 13"/>
                <p:cNvSpPr/>
                <p:nvPr/>
              </p:nvSpPr>
              <p:spPr>
                <a:xfrm>
                  <a:off x="924878"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sp>
              <p:nvSpPr>
                <p:cNvPr id="14" name="Freeform 14"/>
                <p:cNvSpPr/>
                <p:nvPr/>
              </p:nvSpPr>
              <p:spPr>
                <a:xfrm>
                  <a:off x="865822" y="560546"/>
                  <a:ext cx="9525" cy="29528"/>
                </a:xfrm>
                <a:custGeom>
                  <a:avLst/>
                  <a:gdLst/>
                  <a:ahLst/>
                  <a:cxnLst/>
                  <a:rect l="l" t="t" r="r" b="b"/>
                  <a:pathLst>
                    <a:path w="9525" h="29528">
                      <a:moveTo>
                        <a:pt x="0" y="29528"/>
                      </a:moveTo>
                      <a:lnTo>
                        <a:pt x="0" y="0"/>
                      </a:lnTo>
                    </a:path>
                  </a:pathLst>
                </a:custGeom>
                <a:noFill/>
                <a:ln w="24759" cap="rnd">
                  <a:solidFill>
                    <a:srgbClr val="FFFFFF"/>
                  </a:solidFill>
                  <a:round/>
                </a:ln>
              </p:spPr>
            </p:sp>
          </p:grpSp>
        </p:grpSp>
        <p:sp>
          <p:nvSpPr>
            <p:cNvPr id="17" name="TextBox 17"/>
            <p:cNvSpPr txBox="1"/>
            <p:nvPr/>
          </p:nvSpPr>
          <p:spPr>
            <a:xfrm>
              <a:off x="1299972" y="282892"/>
              <a:ext cx="798450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IQR hesaplama örneği: aylik_gelir sütunu</a:t>
              </a:r>
            </a:p>
          </p:txBody>
        </p:sp>
      </p:grpSp>
      <p:grpSp>
        <p:nvGrpSpPr>
          <p:cNvPr id="34" name="code-steps"/>
          <p:cNvGrpSpPr/>
          <p:nvPr/>
        </p:nvGrpSpPr>
        <p:grpSpPr>
          <a:xfrm>
            <a:off x="609600" y="1257300"/>
            <a:ext cx="5334000" cy="4381500"/>
            <a:chOff x="609600" y="1257300"/>
            <a:chExt cx="5334000" cy="4381500"/>
          </a:xfrm>
        </p:grpSpPr>
        <p:sp>
          <p:nvSpPr>
            <p:cNvPr id="19" name="Rectangle 19"/>
            <p:cNvSpPr/>
            <p:nvPr/>
          </p:nvSpPr>
          <p:spPr>
            <a:xfrm>
              <a:off x="609600" y="1257300"/>
              <a:ext cx="5334000" cy="4381500"/>
            </a:xfrm>
            <a:prstGeom prst="roundRect">
              <a:avLst>
                <a:gd name="adj" fmla="val 2174"/>
              </a:avLst>
            </a:prstGeom>
            <a:solidFill>
              <a:srgbClr val="12355B"/>
            </a:solidFill>
            <a:ln>
              <a:noFill/>
            </a:ln>
          </p:spPr>
        </p:sp>
        <p:sp>
          <p:nvSpPr>
            <p:cNvPr id="20" name="TextBox 20"/>
            <p:cNvSpPr txBox="1"/>
            <p:nvPr/>
          </p:nvSpPr>
          <p:spPr>
            <a:xfrm>
              <a:off x="869823" y="1462564"/>
              <a:ext cx="3528987"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Q1 = df["aylik_gelir"].quantile(0.25)</a:t>
              </a:r>
            </a:p>
          </p:txBody>
        </p:sp>
        <p:sp>
          <p:nvSpPr>
            <p:cNvPr id="21" name="TextBox 21"/>
            <p:cNvSpPr txBox="1"/>
            <p:nvPr/>
          </p:nvSpPr>
          <p:spPr>
            <a:xfrm>
              <a:off x="869823" y="1729264"/>
              <a:ext cx="3528987"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Q3 = df["aylik_gelir"].quantile(0.75)</a:t>
              </a:r>
            </a:p>
          </p:txBody>
        </p:sp>
        <p:sp>
          <p:nvSpPr>
            <p:cNvPr id="22" name="TextBox 22"/>
            <p:cNvSpPr txBox="1"/>
            <p:nvPr/>
          </p:nvSpPr>
          <p:spPr>
            <a:xfrm>
              <a:off x="869823" y="1995964"/>
              <a:ext cx="1314734"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IQR = Q3 - Q1</a:t>
              </a:r>
            </a:p>
          </p:txBody>
        </p:sp>
        <p:sp>
          <p:nvSpPr>
            <p:cNvPr id="23" name="Line 23"/>
            <p:cNvSpPr/>
            <p:nvPr/>
          </p:nvSpPr>
          <p:spPr>
            <a:xfrm>
              <a:off x="876300" y="2362200"/>
              <a:ext cx="4800600" cy="9525"/>
            </a:xfrm>
            <a:custGeom>
              <a:avLst/>
              <a:gdLst/>
              <a:ahLst/>
              <a:cxnLst/>
              <a:rect l="l" t="t" r="r" b="b"/>
              <a:pathLst>
                <a:path w="4800600" h="9525">
                  <a:moveTo>
                    <a:pt x="0" y="0"/>
                  </a:moveTo>
                  <a:lnTo>
                    <a:pt x="4800600" y="0"/>
                  </a:lnTo>
                </a:path>
              </a:pathLst>
            </a:custGeom>
            <a:noFill/>
            <a:ln w="9525">
              <a:solidFill>
                <a:srgbClr val="2E86AB"/>
              </a:solidFill>
            </a:ln>
          </p:spPr>
        </p:sp>
        <p:sp>
          <p:nvSpPr>
            <p:cNvPr id="24" name="TextBox 24"/>
            <p:cNvSpPr txBox="1"/>
            <p:nvPr/>
          </p:nvSpPr>
          <p:spPr>
            <a:xfrm>
              <a:off x="868680" y="2505075"/>
              <a:ext cx="1423416"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Q1 = 3 250 ₺</a:t>
              </a:r>
            </a:p>
          </p:txBody>
        </p:sp>
        <p:sp>
          <p:nvSpPr>
            <p:cNvPr id="25" name="TextBox 25"/>
            <p:cNvSpPr txBox="1"/>
            <p:nvPr/>
          </p:nvSpPr>
          <p:spPr>
            <a:xfrm>
              <a:off x="868680" y="2771775"/>
              <a:ext cx="1423416"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Q3 = 7 800 ₺</a:t>
              </a:r>
            </a:p>
          </p:txBody>
        </p:sp>
        <p:sp>
          <p:nvSpPr>
            <p:cNvPr id="26" name="TextBox 26"/>
            <p:cNvSpPr txBox="1"/>
            <p:nvPr/>
          </p:nvSpPr>
          <p:spPr>
            <a:xfrm>
              <a:off x="868680" y="3038475"/>
              <a:ext cx="3418332" cy="293370"/>
            </a:xfrm>
            <a:prstGeom prst="rect">
              <a:avLst/>
            </a:prstGeom>
            <a:noFill/>
            <a:ln>
              <a:noFill/>
            </a:ln>
          </p:spPr>
          <p:txBody>
            <a:bodyPr wrap="none" lIns="0" tIns="0" rIns="0" bIns="0" anchor="t" anchorCtr="0">
              <a:spAutoFit/>
            </a:bodyPr>
            <a:lstStyle/>
            <a:p>
              <a:pPr algn="l"/>
              <a:r>
                <a:rPr lang="tr-TR" sz="1500" dirty="0">
                  <a:solidFill>
                    <a:srgbClr val="00A6A6"/>
                  </a:solidFill>
                  <a:latin typeface="Consolas"/>
                  <a:ea typeface="Consolas"/>
                  <a:cs typeface="Consolas"/>
                </a:rPr>
                <a:t>IQR = 7 800 − 3 250 = 4 550 ₺</a:t>
              </a:r>
            </a:p>
          </p:txBody>
        </p:sp>
        <p:sp>
          <p:nvSpPr>
            <p:cNvPr id="27" name="Line 27"/>
            <p:cNvSpPr/>
            <p:nvPr/>
          </p:nvSpPr>
          <p:spPr>
            <a:xfrm>
              <a:off x="876300" y="3429000"/>
              <a:ext cx="4800600" cy="9525"/>
            </a:xfrm>
            <a:custGeom>
              <a:avLst/>
              <a:gdLst/>
              <a:ahLst/>
              <a:cxnLst/>
              <a:rect l="l" t="t" r="r" b="b"/>
              <a:pathLst>
                <a:path w="4800600" h="9525">
                  <a:moveTo>
                    <a:pt x="0" y="0"/>
                  </a:moveTo>
                  <a:lnTo>
                    <a:pt x="4800600" y="0"/>
                  </a:lnTo>
                </a:path>
              </a:pathLst>
            </a:custGeom>
            <a:noFill/>
            <a:ln w="9525">
              <a:solidFill>
                <a:srgbClr val="2E86AB"/>
              </a:solidFill>
            </a:ln>
          </p:spPr>
        </p:sp>
        <p:sp>
          <p:nvSpPr>
            <p:cNvPr id="28" name="TextBox 28"/>
            <p:cNvSpPr txBox="1"/>
            <p:nvPr/>
          </p:nvSpPr>
          <p:spPr>
            <a:xfrm>
              <a:off x="868680" y="3571875"/>
              <a:ext cx="3458147" cy="293370"/>
            </a:xfrm>
            <a:prstGeom prst="rect">
              <a:avLst/>
            </a:prstGeom>
            <a:noFill/>
            <a:ln>
              <a:noFill/>
            </a:ln>
          </p:spPr>
          <p:txBody>
            <a:bodyPr wrap="none" lIns="0" tIns="0" rIns="0" bIns="0" anchor="t" anchorCtr="0">
              <a:spAutoFit/>
            </a:bodyPr>
            <a:lstStyle/>
            <a:p>
              <a:pPr algn="l"/>
              <a:r>
                <a:rPr lang="tr-TR" sz="1500" dirty="0">
                  <a:solidFill>
                    <a:srgbClr val="FFFFFF"/>
                  </a:solidFill>
                  <a:latin typeface="Consolas"/>
                  <a:ea typeface="Consolas"/>
                  <a:cs typeface="Consolas"/>
                </a:rPr>
                <a:t>alt_sinir = 3 250 − 1.5 × 4 550</a:t>
              </a:r>
            </a:p>
          </p:txBody>
        </p:sp>
        <p:sp>
          <p:nvSpPr>
            <p:cNvPr id="29" name="TextBox 29"/>
            <p:cNvSpPr txBox="1"/>
            <p:nvPr/>
          </p:nvSpPr>
          <p:spPr>
            <a:xfrm>
              <a:off x="868680" y="3819525"/>
              <a:ext cx="1125855" cy="293370"/>
            </a:xfrm>
            <a:prstGeom prst="rect">
              <a:avLst/>
            </a:prstGeom>
            <a:noFill/>
            <a:ln>
              <a:noFill/>
            </a:ln>
          </p:spPr>
          <p:txBody>
            <a:bodyPr wrap="none" lIns="0" tIns="0" rIns="0" bIns="0" anchor="t" anchorCtr="0">
              <a:spAutoFit/>
            </a:bodyPr>
            <a:lstStyle/>
            <a:p>
              <a:pPr algn="l"/>
              <a:r>
                <a:rPr lang="tr-TR" sz="1500" dirty="0">
                  <a:solidFill>
                    <a:srgbClr val="FFFFFF"/>
                  </a:solidFill>
                  <a:latin typeface="Consolas"/>
                  <a:ea typeface="Consolas"/>
                  <a:cs typeface="Consolas"/>
                </a:rPr>
                <a:t>= −3 575 ₺</a:t>
              </a:r>
            </a:p>
          </p:txBody>
        </p:sp>
        <p:sp>
          <p:nvSpPr>
            <p:cNvPr id="30" name="TextBox 30"/>
            <p:cNvSpPr txBox="1"/>
            <p:nvPr/>
          </p:nvSpPr>
          <p:spPr>
            <a:xfrm>
              <a:off x="868680" y="4162425"/>
              <a:ext cx="3458147" cy="293370"/>
            </a:xfrm>
            <a:prstGeom prst="rect">
              <a:avLst/>
            </a:prstGeom>
            <a:noFill/>
            <a:ln>
              <a:noFill/>
            </a:ln>
          </p:spPr>
          <p:txBody>
            <a:bodyPr wrap="none" lIns="0" tIns="0" rIns="0" bIns="0" anchor="t" anchorCtr="0">
              <a:spAutoFit/>
            </a:bodyPr>
            <a:lstStyle/>
            <a:p>
              <a:pPr algn="l"/>
              <a:r>
                <a:rPr lang="tr-TR" sz="1500" dirty="0">
                  <a:solidFill>
                    <a:srgbClr val="FFFFFF"/>
                  </a:solidFill>
                  <a:latin typeface="Consolas"/>
                  <a:ea typeface="Consolas"/>
                  <a:cs typeface="Consolas"/>
                </a:rPr>
                <a:t>ust_sinir = 7 800 + 1.5 × 4 550</a:t>
              </a:r>
            </a:p>
          </p:txBody>
        </p:sp>
        <p:sp>
          <p:nvSpPr>
            <p:cNvPr id="31" name="TextBox 31"/>
            <p:cNvSpPr txBox="1"/>
            <p:nvPr/>
          </p:nvSpPr>
          <p:spPr>
            <a:xfrm>
              <a:off x="868680" y="4410075"/>
              <a:ext cx="1125855" cy="293370"/>
            </a:xfrm>
            <a:prstGeom prst="rect">
              <a:avLst/>
            </a:prstGeom>
            <a:noFill/>
            <a:ln>
              <a:noFill/>
            </a:ln>
          </p:spPr>
          <p:txBody>
            <a:bodyPr wrap="none" lIns="0" tIns="0" rIns="0" bIns="0" anchor="t" anchorCtr="0">
              <a:spAutoFit/>
            </a:bodyPr>
            <a:lstStyle/>
            <a:p>
              <a:pPr algn="l"/>
              <a:r>
                <a:rPr lang="tr-TR" sz="1500" dirty="0">
                  <a:solidFill>
                    <a:srgbClr val="FFFFFF"/>
                  </a:solidFill>
                  <a:latin typeface="Consolas"/>
                  <a:ea typeface="Consolas"/>
                  <a:cs typeface="Consolas"/>
                </a:rPr>
                <a:t>= 14 625 ₺</a:t>
              </a:r>
            </a:p>
          </p:txBody>
        </p:sp>
        <p:sp>
          <p:nvSpPr>
            <p:cNvPr id="32" name="TextBox 32"/>
            <p:cNvSpPr txBox="1"/>
            <p:nvPr/>
          </p:nvSpPr>
          <p:spPr>
            <a:xfrm>
              <a:off x="870204" y="4956810"/>
              <a:ext cx="312724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Negatif gelir mümkün olmadığından, alt</a:t>
              </a:r>
            </a:p>
          </p:txBody>
        </p:sp>
        <p:sp>
          <p:nvSpPr>
            <p:cNvPr id="33" name="TextBox 33"/>
            <p:cNvSpPr txBox="1"/>
            <p:nvPr/>
          </p:nvSpPr>
          <p:spPr>
            <a:xfrm>
              <a:off x="870204" y="5166360"/>
              <a:ext cx="3420770"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sınır bu sütunda pratikte devre dışı kalır</a:t>
              </a:r>
            </a:p>
          </p:txBody>
        </p:sp>
      </p:grpSp>
      <p:grpSp>
        <p:nvGrpSpPr>
          <p:cNvPr id="52" name="interpretation"/>
          <p:cNvGrpSpPr/>
          <p:nvPr/>
        </p:nvGrpSpPr>
        <p:grpSpPr>
          <a:xfrm>
            <a:off x="6248400" y="1257300"/>
            <a:ext cx="5334000" cy="4381500"/>
            <a:chOff x="6248400" y="1257300"/>
            <a:chExt cx="5334000" cy="4381500"/>
          </a:xfrm>
        </p:grpSpPr>
        <p:sp>
          <p:nvSpPr>
            <p:cNvPr id="35" name="Rectangle 35"/>
            <p:cNvSpPr/>
            <p:nvPr/>
          </p:nvSpPr>
          <p:spPr>
            <a:xfrm>
              <a:off x="6248400" y="1257300"/>
              <a:ext cx="5334000" cy="1714500"/>
            </a:xfrm>
            <a:prstGeom prst="roundRect">
              <a:avLst>
                <a:gd name="adj" fmla="val 5556"/>
              </a:avLst>
            </a:prstGeom>
            <a:solidFill>
              <a:srgbClr val="FFFFFF"/>
            </a:solidFill>
            <a:ln w="14288">
              <a:solidFill>
                <a:srgbClr val="B8CBD3"/>
              </a:solidFill>
            </a:ln>
          </p:spPr>
        </p:sp>
        <p:sp>
          <p:nvSpPr>
            <p:cNvPr id="36" name="TextBox 36"/>
            <p:cNvSpPr txBox="1"/>
            <p:nvPr/>
          </p:nvSpPr>
          <p:spPr>
            <a:xfrm>
              <a:off x="6507099" y="1430179"/>
              <a:ext cx="63712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Sonuç</a:t>
              </a:r>
            </a:p>
          </p:txBody>
        </p:sp>
        <p:sp>
          <p:nvSpPr>
            <p:cNvPr id="37" name="TextBox 37"/>
            <p:cNvSpPr txBox="1"/>
            <p:nvPr/>
          </p:nvSpPr>
          <p:spPr>
            <a:xfrm>
              <a:off x="6508242" y="1740218"/>
              <a:ext cx="268525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14 625 ₺ üzerindeki müşteriler</a:t>
              </a:r>
            </a:p>
          </p:txBody>
        </p:sp>
        <p:sp>
          <p:nvSpPr>
            <p:cNvPr id="38" name="TextBox 38"/>
            <p:cNvSpPr txBox="1"/>
            <p:nvPr/>
          </p:nvSpPr>
          <p:spPr>
            <a:xfrm>
              <a:off x="6508242" y="1987868"/>
              <a:ext cx="264890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aykırı olarak işaretlenir — bu</a:t>
              </a:r>
            </a:p>
          </p:txBody>
        </p:sp>
        <p:sp>
          <p:nvSpPr>
            <p:cNvPr id="39" name="TextBox 39"/>
            <p:cNvSpPr txBox="1"/>
            <p:nvPr/>
          </p:nvSpPr>
          <p:spPr>
            <a:xfrm>
              <a:off x="6508242" y="2235518"/>
              <a:ext cx="245807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kümede yaklaşık 37 müşteri</a:t>
              </a:r>
            </a:p>
          </p:txBody>
        </p:sp>
        <p:sp>
          <p:nvSpPr>
            <p:cNvPr id="40" name="TextBox 40"/>
            <p:cNvSpPr txBox="1"/>
            <p:nvPr/>
          </p:nvSpPr>
          <p:spPr>
            <a:xfrm>
              <a:off x="6508242" y="2483168"/>
              <a:ext cx="246716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(%1.8) bu sınırın üzerinde</a:t>
              </a:r>
            </a:p>
          </p:txBody>
        </p:sp>
        <p:grpSp>
          <p:nvGrpSpPr>
            <p:cNvPr id="45" name="code-mask"/>
            <p:cNvGrpSpPr/>
            <p:nvPr/>
          </p:nvGrpSpPr>
          <p:grpSpPr>
            <a:xfrm>
              <a:off x="6248400" y="3162300"/>
              <a:ext cx="5334000" cy="1143000"/>
              <a:chOff x="6248400" y="3162300"/>
              <a:chExt cx="5334000" cy="1143000"/>
            </a:xfrm>
          </p:grpSpPr>
          <p:sp>
            <p:nvSpPr>
              <p:cNvPr id="41" name="Rectangle 41"/>
              <p:cNvSpPr/>
              <p:nvPr/>
            </p:nvSpPr>
            <p:spPr>
              <a:xfrm>
                <a:off x="6248400" y="3162300"/>
                <a:ext cx="5334000" cy="1143000"/>
              </a:xfrm>
              <a:prstGeom prst="roundRect">
                <a:avLst>
                  <a:gd name="adj" fmla="val 8333"/>
                </a:avLst>
              </a:prstGeom>
              <a:solidFill>
                <a:srgbClr val="EAF4F6"/>
              </a:solidFill>
              <a:ln>
                <a:noFill/>
              </a:ln>
            </p:spPr>
          </p:sp>
          <p:sp>
            <p:nvSpPr>
              <p:cNvPr id="42" name="TextBox 42"/>
              <p:cNvSpPr txBox="1"/>
              <p:nvPr/>
            </p:nvSpPr>
            <p:spPr>
              <a:xfrm>
                <a:off x="6509004" y="3356610"/>
                <a:ext cx="3388462"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mask = (df["aylik_gelir"] &gt; ust_sinir)</a:t>
                </a:r>
              </a:p>
            </p:txBody>
          </p:sp>
          <p:sp>
            <p:nvSpPr>
              <p:cNvPr id="43" name="TextBox 43"/>
              <p:cNvSpPr txBox="1"/>
              <p:nvPr/>
            </p:nvSpPr>
            <p:spPr>
              <a:xfrm>
                <a:off x="6509004" y="3604260"/>
                <a:ext cx="3477311"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df.loc[mask, "aylik_gelir"] = ust_sinir</a:t>
                </a:r>
              </a:p>
            </p:txBody>
          </p:sp>
          <p:sp>
            <p:nvSpPr>
              <p:cNvPr id="44" name="TextBox 44"/>
              <p:cNvSpPr txBox="1"/>
              <p:nvPr/>
            </p:nvSpPr>
            <p:spPr>
              <a:xfrm>
                <a:off x="6509385" y="3917156"/>
                <a:ext cx="293391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Silmek yerine sınıra kırpmak (clipping)</a:t>
                </a:r>
              </a:p>
            </p:txBody>
          </p:sp>
        </p:grpSp>
        <p:grpSp>
          <p:nvGrpSpPr>
            <p:cNvPr id="51" name="why-clip"/>
            <p:cNvGrpSpPr/>
            <p:nvPr/>
          </p:nvGrpSpPr>
          <p:grpSpPr>
            <a:xfrm>
              <a:off x="6248400" y="4533900"/>
              <a:ext cx="5334000" cy="1104900"/>
              <a:chOff x="6248400" y="4533900"/>
              <a:chExt cx="5334000" cy="1104900"/>
            </a:xfrm>
          </p:grpSpPr>
          <p:sp>
            <p:nvSpPr>
              <p:cNvPr id="46" name="Rectangle 46"/>
              <p:cNvSpPr/>
              <p:nvPr/>
            </p:nvSpPr>
            <p:spPr>
              <a:xfrm>
                <a:off x="6248400" y="4533900"/>
                <a:ext cx="5334000" cy="1104900"/>
              </a:xfrm>
              <a:prstGeom prst="roundRect">
                <a:avLst>
                  <a:gd name="adj" fmla="val 8621"/>
                </a:avLst>
              </a:prstGeom>
              <a:solidFill>
                <a:srgbClr val="12355B"/>
              </a:solidFill>
              <a:ln>
                <a:noFill/>
              </a:ln>
            </p:spPr>
          </p:sp>
          <p:sp>
            <p:nvSpPr>
              <p:cNvPr id="47" name="TextBox 47"/>
              <p:cNvSpPr txBox="1"/>
              <p:nvPr/>
            </p:nvSpPr>
            <p:spPr>
              <a:xfrm>
                <a:off x="6508242" y="4635818"/>
                <a:ext cx="2596178"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Neden silmek değil kırpmak?</a:t>
                </a:r>
              </a:p>
            </p:txBody>
          </p:sp>
          <p:sp>
            <p:nvSpPr>
              <p:cNvPr id="48" name="TextBox 48"/>
              <p:cNvSpPr txBox="1"/>
              <p:nvPr/>
            </p:nvSpPr>
            <p:spPr>
              <a:xfrm>
                <a:off x="6509385" y="4907756"/>
                <a:ext cx="257172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Yüksek gelirli müşteriler gerçek ve</a:t>
                </a:r>
              </a:p>
            </p:txBody>
          </p:sp>
          <p:sp>
            <p:nvSpPr>
              <p:cNvPr id="49" name="TextBox 49"/>
              <p:cNvSpPr txBox="1"/>
              <p:nvPr/>
            </p:nvSpPr>
            <p:spPr>
              <a:xfrm>
                <a:off x="6509385" y="5117306"/>
                <a:ext cx="2657521"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değerli olabilir — veriyi kaybetmeden</a:t>
                </a:r>
              </a:p>
            </p:txBody>
          </p:sp>
          <p:sp>
            <p:nvSpPr>
              <p:cNvPr id="50" name="TextBox 50"/>
              <p:cNvSpPr txBox="1"/>
              <p:nvPr/>
            </p:nvSpPr>
            <p:spPr>
              <a:xfrm>
                <a:off x="6509385" y="5326856"/>
                <a:ext cx="155686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aşırılığı sınırlarız</a:t>
                </a:r>
              </a:p>
            </p:txBody>
          </p:sp>
        </p:grpSp>
      </p:grpSp>
      <p:sp>
        <p:nvSpPr>
          <p:cNvPr id="53" name="TextBox 5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172427" cy="557403"/>
            <a:chOff x="595122" y="282892"/>
            <a:chExt cx="7172427" cy="557403"/>
          </a:xfrm>
        </p:grpSpPr>
        <p:sp>
          <p:nvSpPr>
            <p:cNvPr id="4" name="TextBox 4"/>
            <p:cNvSpPr txBox="1"/>
            <p:nvPr/>
          </p:nvSpPr>
          <p:spPr>
            <a:xfrm>
              <a:off x="595122" y="282892"/>
              <a:ext cx="717242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Aykırı değer tespitinde üç yaklaşım</a:t>
              </a:r>
            </a:p>
          </p:txBody>
        </p:sp>
      </p:grpSp>
      <p:grpSp>
        <p:nvGrpSpPr>
          <p:cNvPr id="10" name="table-header"/>
          <p:cNvGrpSpPr/>
          <p:nvPr/>
        </p:nvGrpSpPr>
        <p:grpSpPr>
          <a:xfrm>
            <a:off x="609600" y="1219200"/>
            <a:ext cx="10972800" cy="533400"/>
            <a:chOff x="609600" y="1219200"/>
            <a:chExt cx="10972800" cy="533400"/>
          </a:xfrm>
        </p:grpSpPr>
        <p:sp>
          <p:nvSpPr>
            <p:cNvPr id="6" name="Rectangle 6"/>
            <p:cNvSpPr/>
            <p:nvPr/>
          </p:nvSpPr>
          <p:spPr>
            <a:xfrm>
              <a:off x="609600" y="1219200"/>
              <a:ext cx="10972800" cy="533400"/>
            </a:xfrm>
            <a:prstGeom prst="rect">
              <a:avLst/>
            </a:prstGeom>
            <a:solidFill>
              <a:srgbClr val="12355B"/>
            </a:solidFill>
            <a:ln>
              <a:noFill/>
            </a:ln>
          </p:spPr>
        </p:sp>
        <p:sp>
          <p:nvSpPr>
            <p:cNvPr id="7" name="TextBox 7"/>
            <p:cNvSpPr txBox="1"/>
            <p:nvPr/>
          </p:nvSpPr>
          <p:spPr>
            <a:xfrm>
              <a:off x="907161" y="1389221"/>
              <a:ext cx="723620"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Yöntem</a:t>
              </a:r>
            </a:p>
          </p:txBody>
        </p:sp>
        <p:sp>
          <p:nvSpPr>
            <p:cNvPr id="8" name="TextBox 8"/>
            <p:cNvSpPr txBox="1"/>
            <p:nvPr/>
          </p:nvSpPr>
          <p:spPr>
            <a:xfrm>
              <a:off x="4336161" y="1389221"/>
              <a:ext cx="944316"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Varsayım</a:t>
              </a:r>
            </a:p>
          </p:txBody>
        </p:sp>
        <p:sp>
          <p:nvSpPr>
            <p:cNvPr id="9" name="TextBox 9"/>
            <p:cNvSpPr txBox="1"/>
            <p:nvPr/>
          </p:nvSpPr>
          <p:spPr>
            <a:xfrm>
              <a:off x="7955661" y="1389221"/>
              <a:ext cx="1907513"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Ne zaman kullanılır</a:t>
              </a:r>
            </a:p>
          </p:txBody>
        </p:sp>
      </p:grpSp>
      <p:grpSp>
        <p:nvGrpSpPr>
          <p:cNvPr id="19" name="row-iqr"/>
          <p:cNvGrpSpPr/>
          <p:nvPr/>
        </p:nvGrpSpPr>
        <p:grpSpPr>
          <a:xfrm>
            <a:off x="609600" y="1752600"/>
            <a:ext cx="10972800" cy="1028700"/>
            <a:chOff x="609600" y="1752600"/>
            <a:chExt cx="10972800" cy="1028700"/>
          </a:xfrm>
        </p:grpSpPr>
        <p:sp>
          <p:nvSpPr>
            <p:cNvPr id="11" name="Rectangle 11"/>
            <p:cNvSpPr/>
            <p:nvPr/>
          </p:nvSpPr>
          <p:spPr>
            <a:xfrm>
              <a:off x="609600" y="1752600"/>
              <a:ext cx="10972800" cy="1028700"/>
            </a:xfrm>
            <a:prstGeom prst="rect">
              <a:avLst/>
            </a:prstGeom>
            <a:solidFill>
              <a:srgbClr val="FFFFFF"/>
            </a:solidFill>
            <a:ln>
              <a:noFill/>
            </a:ln>
          </p:spPr>
        </p:sp>
        <p:sp>
          <p:nvSpPr>
            <p:cNvPr id="12" name="TextBox 12"/>
            <p:cNvSpPr txBox="1"/>
            <p:nvPr/>
          </p:nvSpPr>
          <p:spPr>
            <a:xfrm>
              <a:off x="906399" y="1887379"/>
              <a:ext cx="1243078"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IQR (1.5×)</a:t>
              </a:r>
            </a:p>
          </p:txBody>
        </p:sp>
        <p:sp>
          <p:nvSpPr>
            <p:cNvPr id="13" name="TextBox 13"/>
            <p:cNvSpPr txBox="1"/>
            <p:nvPr/>
          </p:nvSpPr>
          <p:spPr>
            <a:xfrm>
              <a:off x="908304" y="2175510"/>
              <a:ext cx="168943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Dağılımdan bağımsız</a:t>
              </a:r>
            </a:p>
          </p:txBody>
        </p:sp>
        <p:sp>
          <p:nvSpPr>
            <p:cNvPr id="14" name="TextBox 14"/>
            <p:cNvSpPr txBox="1"/>
            <p:nvPr/>
          </p:nvSpPr>
          <p:spPr>
            <a:xfrm>
              <a:off x="908304" y="2385060"/>
              <a:ext cx="133685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(nonparametrik)</a:t>
              </a:r>
            </a:p>
          </p:txBody>
        </p:sp>
        <p:sp>
          <p:nvSpPr>
            <p:cNvPr id="15" name="TextBox 15"/>
            <p:cNvSpPr txBox="1"/>
            <p:nvPr/>
          </p:nvSpPr>
          <p:spPr>
            <a:xfrm>
              <a:off x="4336542" y="1911668"/>
              <a:ext cx="202759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Dağılım şekli hakkında</a:t>
              </a:r>
            </a:p>
          </p:txBody>
        </p:sp>
        <p:sp>
          <p:nvSpPr>
            <p:cNvPr id="16" name="TextBox 16"/>
            <p:cNvSpPr txBox="1"/>
            <p:nvPr/>
          </p:nvSpPr>
          <p:spPr>
            <a:xfrm>
              <a:off x="4336542" y="2159318"/>
              <a:ext cx="1994649"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varsayım gerektirmez</a:t>
              </a:r>
            </a:p>
          </p:txBody>
        </p:sp>
        <p:sp>
          <p:nvSpPr>
            <p:cNvPr id="17" name="TextBox 17"/>
            <p:cNvSpPr txBox="1"/>
            <p:nvPr/>
          </p:nvSpPr>
          <p:spPr>
            <a:xfrm>
              <a:off x="7956042" y="1911668"/>
              <a:ext cx="210991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Çarpık, normal olmayan</a:t>
              </a:r>
            </a:p>
          </p:txBody>
        </p:sp>
        <p:sp>
          <p:nvSpPr>
            <p:cNvPr id="18" name="TextBox 18"/>
            <p:cNvSpPr txBox="1"/>
            <p:nvPr/>
          </p:nvSpPr>
          <p:spPr>
            <a:xfrm>
              <a:off x="7956042" y="2159318"/>
              <a:ext cx="2539860"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dağılımlar (gelir, süre gibi)</a:t>
              </a:r>
            </a:p>
          </p:txBody>
        </p:sp>
      </p:grpSp>
      <p:sp>
        <p:nvSpPr>
          <p:cNvPr id="20" name="Line 20"/>
          <p:cNvSpPr/>
          <p:nvPr/>
        </p:nvSpPr>
        <p:spPr>
          <a:xfrm>
            <a:off x="609600" y="27813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28" name="row-zscore"/>
          <p:cNvGrpSpPr/>
          <p:nvPr/>
        </p:nvGrpSpPr>
        <p:grpSpPr>
          <a:xfrm>
            <a:off x="609600" y="2781300"/>
            <a:ext cx="10972800" cy="1028700"/>
            <a:chOff x="609600" y="2781300"/>
            <a:chExt cx="10972800" cy="1028700"/>
          </a:xfrm>
        </p:grpSpPr>
        <p:sp>
          <p:nvSpPr>
            <p:cNvPr id="21" name="Rectangle 21"/>
            <p:cNvSpPr/>
            <p:nvPr/>
          </p:nvSpPr>
          <p:spPr>
            <a:xfrm>
              <a:off x="609600" y="2781300"/>
              <a:ext cx="10972800" cy="1028700"/>
            </a:xfrm>
            <a:prstGeom prst="rect">
              <a:avLst/>
            </a:prstGeom>
            <a:solidFill>
              <a:srgbClr val="FFFFFF"/>
            </a:solidFill>
            <a:ln>
              <a:noFill/>
            </a:ln>
          </p:spPr>
        </p:sp>
        <p:sp>
          <p:nvSpPr>
            <p:cNvPr id="22" name="TextBox 22"/>
            <p:cNvSpPr txBox="1"/>
            <p:nvPr/>
          </p:nvSpPr>
          <p:spPr>
            <a:xfrm>
              <a:off x="906399" y="2916079"/>
              <a:ext cx="1839640"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Z-score (|z| &gt; 3)</a:t>
              </a:r>
            </a:p>
          </p:txBody>
        </p:sp>
        <p:sp>
          <p:nvSpPr>
            <p:cNvPr id="23" name="TextBox 23"/>
            <p:cNvSpPr txBox="1"/>
            <p:nvPr/>
          </p:nvSpPr>
          <p:spPr>
            <a:xfrm>
              <a:off x="908304" y="3204210"/>
              <a:ext cx="120471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Normal dağılım</a:t>
              </a:r>
            </a:p>
          </p:txBody>
        </p:sp>
        <p:sp>
          <p:nvSpPr>
            <p:cNvPr id="24" name="TextBox 24"/>
            <p:cNvSpPr txBox="1"/>
            <p:nvPr/>
          </p:nvSpPr>
          <p:spPr>
            <a:xfrm>
              <a:off x="4336542" y="2940368"/>
              <a:ext cx="182768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Veri yaklaşık normal</a:t>
              </a:r>
            </a:p>
          </p:txBody>
        </p:sp>
        <p:sp>
          <p:nvSpPr>
            <p:cNvPr id="25" name="TextBox 25"/>
            <p:cNvSpPr txBox="1"/>
            <p:nvPr/>
          </p:nvSpPr>
          <p:spPr>
            <a:xfrm>
              <a:off x="4336542" y="3188018"/>
              <a:ext cx="1912868"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dağılıma sahip olmalı</a:t>
              </a:r>
            </a:p>
          </p:txBody>
        </p:sp>
        <p:sp>
          <p:nvSpPr>
            <p:cNvPr id="26" name="TextBox 26"/>
            <p:cNvSpPr txBox="1"/>
            <p:nvPr/>
          </p:nvSpPr>
          <p:spPr>
            <a:xfrm>
              <a:off x="7956042" y="2940368"/>
              <a:ext cx="178243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Simetrik, çan eğrisi</a:t>
              </a:r>
            </a:p>
          </p:txBody>
        </p:sp>
        <p:sp>
          <p:nvSpPr>
            <p:cNvPr id="27" name="TextBox 27"/>
            <p:cNvSpPr txBox="1"/>
            <p:nvPr/>
          </p:nvSpPr>
          <p:spPr>
            <a:xfrm>
              <a:off x="7956042" y="3188018"/>
              <a:ext cx="146761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benzeri ölçümler</a:t>
              </a:r>
            </a:p>
          </p:txBody>
        </p:sp>
      </p:grpSp>
      <p:sp>
        <p:nvSpPr>
          <p:cNvPr id="29" name="Line 29"/>
          <p:cNvSpPr/>
          <p:nvPr/>
        </p:nvSpPr>
        <p:spPr>
          <a:xfrm>
            <a:off x="609600" y="38100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37" name="row-domain"/>
          <p:cNvGrpSpPr/>
          <p:nvPr/>
        </p:nvGrpSpPr>
        <p:grpSpPr>
          <a:xfrm>
            <a:off x="609600" y="3810000"/>
            <a:ext cx="10972800" cy="1028700"/>
            <a:chOff x="609600" y="3810000"/>
            <a:chExt cx="10972800" cy="1028700"/>
          </a:xfrm>
        </p:grpSpPr>
        <p:sp>
          <p:nvSpPr>
            <p:cNvPr id="30" name="Rectangle 30"/>
            <p:cNvSpPr/>
            <p:nvPr/>
          </p:nvSpPr>
          <p:spPr>
            <a:xfrm>
              <a:off x="609600" y="3810000"/>
              <a:ext cx="10972800" cy="1028700"/>
            </a:xfrm>
            <a:prstGeom prst="rect">
              <a:avLst/>
            </a:prstGeom>
            <a:solidFill>
              <a:srgbClr val="FFFFFF"/>
            </a:solidFill>
            <a:ln>
              <a:noFill/>
            </a:ln>
          </p:spPr>
        </p:sp>
        <p:sp>
          <p:nvSpPr>
            <p:cNvPr id="31" name="TextBox 31"/>
            <p:cNvSpPr txBox="1"/>
            <p:nvPr/>
          </p:nvSpPr>
          <p:spPr>
            <a:xfrm>
              <a:off x="906399" y="3944779"/>
              <a:ext cx="1160869" cy="308039"/>
            </a:xfrm>
            <a:prstGeom prst="rect">
              <a:avLst/>
            </a:prstGeom>
            <a:noFill/>
            <a:ln>
              <a:noFill/>
            </a:ln>
          </p:spPr>
          <p:txBody>
            <a:bodyPr wrap="none" lIns="0" tIns="0" rIns="0" bIns="0" anchor="t" anchorCtr="0">
              <a:spAutoFit/>
            </a:bodyPr>
            <a:lstStyle/>
            <a:p>
              <a:pPr algn="l"/>
              <a:r>
                <a:rPr lang="tr-TR" sz="1580" b="1" dirty="0">
                  <a:solidFill>
                    <a:srgbClr val="00A6A6"/>
                  </a:solidFill>
                  <a:latin typeface="+mn-lt"/>
                  <a:ea typeface="+mn-ea"/>
                  <a:cs typeface="+mn-cs"/>
                </a:rPr>
                <a:t>Alan bilgisi</a:t>
              </a:r>
            </a:p>
          </p:txBody>
        </p:sp>
        <p:sp>
          <p:nvSpPr>
            <p:cNvPr id="32" name="TextBox 32"/>
            <p:cNvSpPr txBox="1"/>
            <p:nvPr/>
          </p:nvSpPr>
          <p:spPr>
            <a:xfrm>
              <a:off x="908304" y="4232910"/>
              <a:ext cx="146255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İstatistiksel değil</a:t>
              </a:r>
            </a:p>
          </p:txBody>
        </p:sp>
        <p:sp>
          <p:nvSpPr>
            <p:cNvPr id="33" name="TextBox 33"/>
            <p:cNvSpPr txBox="1"/>
            <p:nvPr/>
          </p:nvSpPr>
          <p:spPr>
            <a:xfrm>
              <a:off x="4336542" y="3969068"/>
              <a:ext cx="205440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İş kuralları istatistiği</a:t>
              </a:r>
            </a:p>
          </p:txBody>
        </p:sp>
        <p:sp>
          <p:nvSpPr>
            <p:cNvPr id="34" name="TextBox 34"/>
            <p:cNvSpPr txBox="1"/>
            <p:nvPr/>
          </p:nvSpPr>
          <p:spPr>
            <a:xfrm>
              <a:off x="4336542" y="4216718"/>
              <a:ext cx="154030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geçersiz kılabilir</a:t>
              </a:r>
            </a:p>
          </p:txBody>
        </p:sp>
        <p:sp>
          <p:nvSpPr>
            <p:cNvPr id="35" name="TextBox 35"/>
            <p:cNvSpPr txBox="1"/>
            <p:nvPr/>
          </p:nvSpPr>
          <p:spPr>
            <a:xfrm>
              <a:off x="7956042" y="3969068"/>
              <a:ext cx="223927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"Yaş &gt; 120 imkânsız" gibi</a:t>
              </a:r>
            </a:p>
          </p:txBody>
        </p:sp>
        <p:sp>
          <p:nvSpPr>
            <p:cNvPr id="36" name="TextBox 36"/>
            <p:cNvSpPr txBox="1"/>
            <p:nvPr/>
          </p:nvSpPr>
          <p:spPr>
            <a:xfrm>
              <a:off x="7956042" y="4216718"/>
              <a:ext cx="171295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mantıksal sınırlar</a:t>
              </a:r>
            </a:p>
          </p:txBody>
        </p:sp>
      </p:grpSp>
      <p:sp>
        <p:nvSpPr>
          <p:cNvPr id="38" name="Line 38"/>
          <p:cNvSpPr/>
          <p:nvPr/>
        </p:nvSpPr>
        <p:spPr>
          <a:xfrm>
            <a:off x="609600" y="48387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42" name="key-takeaway"/>
          <p:cNvGrpSpPr/>
          <p:nvPr/>
        </p:nvGrpSpPr>
        <p:grpSpPr>
          <a:xfrm>
            <a:off x="609600" y="5219700"/>
            <a:ext cx="10972800" cy="952500"/>
            <a:chOff x="609600" y="5219700"/>
            <a:chExt cx="10972800" cy="952500"/>
          </a:xfrm>
        </p:grpSpPr>
        <p:sp>
          <p:nvSpPr>
            <p:cNvPr id="39" name="Rectangle 39"/>
            <p:cNvSpPr/>
            <p:nvPr/>
          </p:nvSpPr>
          <p:spPr>
            <a:xfrm>
              <a:off x="609600" y="5219700"/>
              <a:ext cx="10972800" cy="952500"/>
            </a:xfrm>
            <a:prstGeom prst="roundRect">
              <a:avLst>
                <a:gd name="adj" fmla="val 10000"/>
              </a:avLst>
            </a:prstGeom>
            <a:solidFill>
              <a:srgbClr val="EAF4F6"/>
            </a:solidFill>
            <a:ln>
              <a:noFill/>
            </a:ln>
          </p:spPr>
        </p:sp>
        <p:sp>
          <p:nvSpPr>
            <p:cNvPr id="40" name="TextBox 40"/>
            <p:cNvSpPr txBox="1"/>
            <p:nvPr/>
          </p:nvSpPr>
          <p:spPr>
            <a:xfrm>
              <a:off x="906399" y="5373529"/>
              <a:ext cx="475793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üç yöntem çelişirse alan bilgisi kazanır —</a:t>
              </a:r>
            </a:p>
          </p:txBody>
        </p:sp>
        <p:sp>
          <p:nvSpPr>
            <p:cNvPr id="41" name="TextBox 41"/>
            <p:cNvSpPr txBox="1"/>
            <p:nvPr/>
          </p:nvSpPr>
          <p:spPr>
            <a:xfrm>
              <a:off x="906399" y="5640229"/>
              <a:ext cx="6386355"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istatistik yalnızca bir araçtır, iş bağlamının yerini tutmaz.</a:t>
              </a:r>
            </a:p>
          </p:txBody>
        </p:sp>
      </p:grpSp>
      <p:sp>
        <p:nvSpPr>
          <p:cNvPr id="43" name="TextBox 4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260394" cy="557403"/>
            <a:chOff x="595122" y="282892"/>
            <a:chExt cx="8260394" cy="557403"/>
          </a:xfrm>
        </p:grpSpPr>
        <p:sp>
          <p:nvSpPr>
            <p:cNvPr id="4" name="TextBox 4"/>
            <p:cNvSpPr txBox="1"/>
            <p:nvPr/>
          </p:nvSpPr>
          <p:spPr>
            <a:xfrm>
              <a:off x="595122" y="282892"/>
              <a:ext cx="82603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Aykırı değer yönetimi: silme değil kırpma</a:t>
              </a:r>
            </a:p>
          </p:txBody>
        </p:sp>
      </p:grpSp>
      <p:grpSp>
        <p:nvGrpSpPr>
          <p:cNvPr id="18" name="code-clip"/>
          <p:cNvGrpSpPr/>
          <p:nvPr/>
        </p:nvGrpSpPr>
        <p:grpSpPr>
          <a:xfrm>
            <a:off x="609600" y="1257300"/>
            <a:ext cx="5334000" cy="3146584"/>
            <a:chOff x="609600" y="1257300"/>
            <a:chExt cx="5334000" cy="3146584"/>
          </a:xfrm>
        </p:grpSpPr>
        <p:sp>
          <p:nvSpPr>
            <p:cNvPr id="6" name="Rectangle 6"/>
            <p:cNvSpPr/>
            <p:nvPr/>
          </p:nvSpPr>
          <p:spPr>
            <a:xfrm>
              <a:off x="609600" y="1257300"/>
              <a:ext cx="5334000" cy="2857500"/>
            </a:xfrm>
            <a:prstGeom prst="roundRect">
              <a:avLst>
                <a:gd name="adj" fmla="val 3333"/>
              </a:avLst>
            </a:prstGeom>
            <a:solidFill>
              <a:srgbClr val="12355B"/>
            </a:solidFill>
            <a:ln>
              <a:noFill/>
            </a:ln>
          </p:spPr>
        </p:sp>
        <p:sp>
          <p:nvSpPr>
            <p:cNvPr id="7" name="TextBox 7"/>
            <p:cNvSpPr txBox="1"/>
            <p:nvPr/>
          </p:nvSpPr>
          <p:spPr>
            <a:xfrm>
              <a:off x="868680" y="1438275"/>
              <a:ext cx="2018890"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clip() ile sınırlama</a:t>
              </a:r>
            </a:p>
          </p:txBody>
        </p:sp>
        <p:sp>
          <p:nvSpPr>
            <p:cNvPr id="8" name="Rectangle 8"/>
            <p:cNvSpPr/>
            <p:nvPr/>
          </p:nvSpPr>
          <p:spPr>
            <a:xfrm>
              <a:off x="876300" y="1790700"/>
              <a:ext cx="4800600" cy="1066800"/>
            </a:xfrm>
            <a:prstGeom prst="roundRect">
              <a:avLst>
                <a:gd name="adj" fmla="val 5357"/>
              </a:avLst>
            </a:prstGeom>
            <a:solidFill>
              <a:srgbClr val="00A6A6"/>
            </a:solidFill>
            <a:ln>
              <a:noFill/>
            </a:ln>
          </p:spPr>
        </p:sp>
        <p:sp>
          <p:nvSpPr>
            <p:cNvPr id="9" name="TextBox 9"/>
            <p:cNvSpPr txBox="1"/>
            <p:nvPr/>
          </p:nvSpPr>
          <p:spPr>
            <a:xfrm>
              <a:off x="1060704" y="1965960"/>
              <a:ext cx="3299612"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df["aylik_gelir"] = df["aylik_gelir"]</a:t>
              </a:r>
            </a:p>
          </p:txBody>
        </p:sp>
        <p:sp>
          <p:nvSpPr>
            <p:cNvPr id="10" name="TextBox 10"/>
            <p:cNvSpPr txBox="1"/>
            <p:nvPr/>
          </p:nvSpPr>
          <p:spPr>
            <a:xfrm>
              <a:off x="1060704" y="2194560"/>
              <a:ext cx="1966874"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.clip(lower=alt_sinir,</a:t>
              </a:r>
            </a:p>
          </p:txBody>
        </p:sp>
        <p:sp>
          <p:nvSpPr>
            <p:cNvPr id="11" name="TextBox 11"/>
            <p:cNvSpPr txBox="1"/>
            <p:nvPr/>
          </p:nvSpPr>
          <p:spPr>
            <a:xfrm>
              <a:off x="1060704" y="2423160"/>
              <a:ext cx="1433779" cy="234696"/>
            </a:xfrm>
            <a:prstGeom prst="rect">
              <a:avLst/>
            </a:prstGeom>
            <a:noFill/>
            <a:ln>
              <a:noFill/>
            </a:ln>
          </p:spPr>
          <p:txBody>
            <a:bodyPr wrap="none" lIns="0" tIns="0" rIns="0" bIns="0" anchor="t" anchorCtr="0">
              <a:spAutoFit/>
            </a:bodyPr>
            <a:lstStyle/>
            <a:p>
              <a:pPr algn="l"/>
              <a:r>
                <a:rPr lang="tr-TR" sz="1200" dirty="0">
                  <a:solidFill>
                    <a:srgbClr val="12355B"/>
                  </a:solidFill>
                  <a:latin typeface="Consolas"/>
                  <a:ea typeface="Consolas"/>
                  <a:cs typeface="Consolas"/>
                </a:rPr>
                <a:t>upper=ust_sinir)</a:t>
              </a:r>
            </a:p>
          </p:txBody>
        </p:sp>
        <p:sp>
          <p:nvSpPr>
            <p:cNvPr id="12" name="TextBox 12"/>
            <p:cNvSpPr txBox="1"/>
            <p:nvPr/>
          </p:nvSpPr>
          <p:spPr>
            <a:xfrm>
              <a:off x="870204" y="3070860"/>
              <a:ext cx="256993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Sınırların dışındaki her değer,</a:t>
              </a:r>
            </a:p>
          </p:txBody>
        </p:sp>
        <p:sp>
          <p:nvSpPr>
            <p:cNvPr id="13" name="TextBox 13"/>
            <p:cNvSpPr txBox="1"/>
            <p:nvPr/>
          </p:nvSpPr>
          <p:spPr>
            <a:xfrm>
              <a:off x="870204" y="3280410"/>
              <a:ext cx="262112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en yakın sınıra eşitlenir — satır</a:t>
              </a:r>
            </a:p>
          </p:txBody>
        </p:sp>
        <p:sp>
          <p:nvSpPr>
            <p:cNvPr id="14" name="TextBox 14"/>
            <p:cNvSpPr txBox="1"/>
            <p:nvPr/>
          </p:nvSpPr>
          <p:spPr>
            <a:xfrm>
              <a:off x="870204" y="3489960"/>
              <a:ext cx="2645359"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kaybı olmaz, aşırılık sınırlanır</a:t>
              </a:r>
            </a:p>
          </p:txBody>
        </p:sp>
        <p:sp>
          <p:nvSpPr>
            <p:cNvPr id="15" name="TextBox 15"/>
            <p:cNvSpPr txBox="1"/>
            <p:nvPr/>
          </p:nvSpPr>
          <p:spPr>
            <a:xfrm>
              <a:off x="870585" y="3802856"/>
              <a:ext cx="233936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Alternatif: IsolationForest gibi</a:t>
              </a:r>
            </a:p>
          </p:txBody>
        </p:sp>
        <p:sp>
          <p:nvSpPr>
            <p:cNvPr id="16" name="TextBox 16"/>
            <p:cNvSpPr txBox="1"/>
            <p:nvPr/>
          </p:nvSpPr>
          <p:spPr>
            <a:xfrm>
              <a:off x="870585" y="3993356"/>
              <a:ext cx="216750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model tabanlı yöntemler (çok</a:t>
              </a:r>
            </a:p>
          </p:txBody>
        </p:sp>
        <p:sp>
          <p:nvSpPr>
            <p:cNvPr id="17" name="TextBox 17"/>
            <p:cNvSpPr txBox="1"/>
            <p:nvPr/>
          </p:nvSpPr>
          <p:spPr>
            <a:xfrm>
              <a:off x="870585" y="4183856"/>
              <a:ext cx="190364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boyutlu aykırılıklar için)</a:t>
              </a:r>
            </a:p>
          </p:txBody>
        </p:sp>
      </p:grpSp>
      <p:grpSp>
        <p:nvGrpSpPr>
          <p:cNvPr id="35" name="visual-clip"/>
          <p:cNvGrpSpPr/>
          <p:nvPr/>
        </p:nvGrpSpPr>
        <p:grpSpPr>
          <a:xfrm>
            <a:off x="6248400" y="1257300"/>
            <a:ext cx="5334000" cy="2857500"/>
            <a:chOff x="6248400" y="1257300"/>
            <a:chExt cx="5334000" cy="2857500"/>
          </a:xfrm>
        </p:grpSpPr>
        <p:sp>
          <p:nvSpPr>
            <p:cNvPr id="19" name="Rectangle 19"/>
            <p:cNvSpPr/>
            <p:nvPr/>
          </p:nvSpPr>
          <p:spPr>
            <a:xfrm>
              <a:off x="6248400" y="1257300"/>
              <a:ext cx="5334000" cy="2857500"/>
            </a:xfrm>
            <a:prstGeom prst="roundRect">
              <a:avLst>
                <a:gd name="adj" fmla="val 3333"/>
              </a:avLst>
            </a:prstGeom>
            <a:solidFill>
              <a:srgbClr val="FFFFFF"/>
            </a:solidFill>
            <a:ln w="14288">
              <a:solidFill>
                <a:srgbClr val="B8CBD3"/>
              </a:solidFill>
            </a:ln>
          </p:spPr>
        </p:sp>
        <p:sp>
          <p:nvSpPr>
            <p:cNvPr id="20" name="TextBox 20"/>
            <p:cNvSpPr txBox="1"/>
            <p:nvPr/>
          </p:nvSpPr>
          <p:spPr>
            <a:xfrm>
              <a:off x="6507480" y="1438275"/>
              <a:ext cx="253523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Kırpma öncesi / sonrası</a:t>
              </a:r>
            </a:p>
          </p:txBody>
        </p:sp>
        <p:sp>
          <p:nvSpPr>
            <p:cNvPr id="21" name="Line 21"/>
            <p:cNvSpPr/>
            <p:nvPr/>
          </p:nvSpPr>
          <p:spPr>
            <a:xfrm>
              <a:off x="6667500" y="3619500"/>
              <a:ext cx="4191000" cy="9525"/>
            </a:xfrm>
            <a:custGeom>
              <a:avLst/>
              <a:gdLst/>
              <a:ahLst/>
              <a:cxnLst/>
              <a:rect l="l" t="t" r="r" b="b"/>
              <a:pathLst>
                <a:path w="4191000" h="9525">
                  <a:moveTo>
                    <a:pt x="0" y="0"/>
                  </a:moveTo>
                  <a:lnTo>
                    <a:pt x="4191000" y="0"/>
                  </a:lnTo>
                </a:path>
              </a:pathLst>
            </a:custGeom>
            <a:noFill/>
            <a:ln w="14288">
              <a:solidFill>
                <a:srgbClr val="52616B"/>
              </a:solidFill>
            </a:ln>
          </p:spPr>
        </p:sp>
        <p:sp>
          <p:nvSpPr>
            <p:cNvPr id="22" name="Line 22"/>
            <p:cNvSpPr/>
            <p:nvPr/>
          </p:nvSpPr>
          <p:spPr>
            <a:xfrm>
              <a:off x="7810500" y="1905000"/>
              <a:ext cx="9525" cy="1714500"/>
            </a:xfrm>
            <a:custGeom>
              <a:avLst/>
              <a:gdLst/>
              <a:ahLst/>
              <a:cxnLst/>
              <a:rect l="l" t="t" r="r" b="b"/>
              <a:pathLst>
                <a:path w="9525" h="1714500">
                  <a:moveTo>
                    <a:pt x="0" y="0"/>
                  </a:moveTo>
                  <a:lnTo>
                    <a:pt x="0" y="1714500"/>
                  </a:lnTo>
                </a:path>
              </a:pathLst>
            </a:custGeom>
            <a:noFill/>
            <a:ln w="14288">
              <a:solidFill>
                <a:srgbClr val="B8CBD3"/>
              </a:solidFill>
              <a:prstDash val="dash"/>
            </a:ln>
          </p:spPr>
        </p:sp>
        <p:sp>
          <p:nvSpPr>
            <p:cNvPr id="23" name="Line 23"/>
            <p:cNvSpPr/>
            <p:nvPr/>
          </p:nvSpPr>
          <p:spPr>
            <a:xfrm>
              <a:off x="9144000" y="1905000"/>
              <a:ext cx="9525" cy="1714500"/>
            </a:xfrm>
            <a:custGeom>
              <a:avLst/>
              <a:gdLst/>
              <a:ahLst/>
              <a:cxnLst/>
              <a:rect l="l" t="t" r="r" b="b"/>
              <a:pathLst>
                <a:path w="9525" h="1714500">
                  <a:moveTo>
                    <a:pt x="0" y="0"/>
                  </a:moveTo>
                  <a:lnTo>
                    <a:pt x="0" y="1714500"/>
                  </a:lnTo>
                </a:path>
              </a:pathLst>
            </a:custGeom>
            <a:noFill/>
            <a:ln w="14288">
              <a:solidFill>
                <a:srgbClr val="B8CBD3"/>
              </a:solidFill>
              <a:prstDash val="dash"/>
            </a:ln>
          </p:spPr>
        </p:sp>
        <p:sp>
          <p:nvSpPr>
            <p:cNvPr id="24" name="TextBox 24"/>
            <p:cNvSpPr txBox="1"/>
            <p:nvPr/>
          </p:nvSpPr>
          <p:spPr>
            <a:xfrm>
              <a:off x="7508329" y="3677602"/>
              <a:ext cx="604342"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alt_sinir</a:t>
              </a:r>
            </a:p>
          </p:txBody>
        </p:sp>
        <p:sp>
          <p:nvSpPr>
            <p:cNvPr id="25" name="TextBox 25"/>
            <p:cNvSpPr txBox="1"/>
            <p:nvPr/>
          </p:nvSpPr>
          <p:spPr>
            <a:xfrm>
              <a:off x="8824160" y="3677602"/>
              <a:ext cx="639680"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ust_sinir</a:t>
              </a:r>
            </a:p>
          </p:txBody>
        </p:sp>
        <p:sp>
          <p:nvSpPr>
            <p:cNvPr id="26" name="Ellipse 26"/>
            <p:cNvSpPr/>
            <p:nvPr/>
          </p:nvSpPr>
          <p:spPr>
            <a:xfrm>
              <a:off x="7000875" y="3190875"/>
              <a:ext cx="95250" cy="95250"/>
            </a:xfrm>
            <a:prstGeom prst="ellipse">
              <a:avLst/>
            </a:prstGeom>
            <a:solidFill>
              <a:srgbClr val="2E86AB"/>
            </a:solidFill>
            <a:ln>
              <a:noFill/>
            </a:ln>
          </p:spPr>
        </p:sp>
        <p:sp>
          <p:nvSpPr>
            <p:cNvPr id="27" name="Ellipse 27"/>
            <p:cNvSpPr/>
            <p:nvPr/>
          </p:nvSpPr>
          <p:spPr>
            <a:xfrm>
              <a:off x="8143875" y="2809875"/>
              <a:ext cx="95250" cy="95250"/>
            </a:xfrm>
            <a:prstGeom prst="ellipse">
              <a:avLst/>
            </a:prstGeom>
            <a:solidFill>
              <a:srgbClr val="2E86AB"/>
            </a:solidFill>
            <a:ln>
              <a:noFill/>
            </a:ln>
          </p:spPr>
        </p:sp>
        <p:sp>
          <p:nvSpPr>
            <p:cNvPr id="28" name="Ellipse 28"/>
            <p:cNvSpPr/>
            <p:nvPr/>
          </p:nvSpPr>
          <p:spPr>
            <a:xfrm>
              <a:off x="8524875" y="3000375"/>
              <a:ext cx="95250" cy="95250"/>
            </a:xfrm>
            <a:prstGeom prst="ellipse">
              <a:avLst/>
            </a:prstGeom>
            <a:solidFill>
              <a:srgbClr val="2E86AB"/>
            </a:solidFill>
            <a:ln>
              <a:noFill/>
            </a:ln>
          </p:spPr>
        </p:sp>
        <p:sp>
          <p:nvSpPr>
            <p:cNvPr id="29" name="Ellipse 29"/>
            <p:cNvSpPr/>
            <p:nvPr/>
          </p:nvSpPr>
          <p:spPr>
            <a:xfrm>
              <a:off x="9763125" y="2428875"/>
              <a:ext cx="95250" cy="95250"/>
            </a:xfrm>
            <a:prstGeom prst="ellipse">
              <a:avLst/>
            </a:prstGeom>
            <a:solidFill>
              <a:srgbClr val="12355B"/>
            </a:solidFill>
            <a:ln>
              <a:noFill/>
            </a:ln>
          </p:spPr>
        </p:sp>
        <p:sp>
          <p:nvSpPr>
            <p:cNvPr id="30" name="Ellipse 30"/>
            <p:cNvSpPr/>
            <p:nvPr/>
          </p:nvSpPr>
          <p:spPr>
            <a:xfrm>
              <a:off x="10334625" y="2143125"/>
              <a:ext cx="95250" cy="95250"/>
            </a:xfrm>
            <a:prstGeom prst="ellipse">
              <a:avLst/>
            </a:prstGeom>
            <a:solidFill>
              <a:srgbClr val="12355B"/>
            </a:solidFill>
            <a:ln>
              <a:noFill/>
            </a:ln>
          </p:spPr>
        </p:sp>
        <p:sp>
          <p:nvSpPr>
            <p:cNvPr id="31" name="Ellipse 31"/>
            <p:cNvSpPr/>
            <p:nvPr/>
          </p:nvSpPr>
          <p:spPr>
            <a:xfrm>
              <a:off x="9096375" y="2428875"/>
              <a:ext cx="95250" cy="95250"/>
            </a:xfrm>
            <a:prstGeom prst="ellipse">
              <a:avLst/>
            </a:prstGeom>
            <a:solidFill>
              <a:srgbClr val="00A6A6"/>
            </a:solidFill>
            <a:ln w="14288">
              <a:solidFill>
                <a:srgbClr val="12355B"/>
              </a:solidFill>
            </a:ln>
          </p:spPr>
        </p:sp>
        <p:sp>
          <p:nvSpPr>
            <p:cNvPr id="32" name="Ellipse 32"/>
            <p:cNvSpPr/>
            <p:nvPr/>
          </p:nvSpPr>
          <p:spPr>
            <a:xfrm>
              <a:off x="9096375" y="2143125"/>
              <a:ext cx="95250" cy="95250"/>
            </a:xfrm>
            <a:prstGeom prst="ellipse">
              <a:avLst/>
            </a:prstGeom>
            <a:solidFill>
              <a:srgbClr val="00A6A6"/>
            </a:solidFill>
            <a:ln w="14288">
              <a:solidFill>
                <a:srgbClr val="12355B"/>
              </a:solidFill>
            </a:ln>
          </p:spPr>
        </p:sp>
        <p:sp>
          <p:nvSpPr>
            <p:cNvPr id="33" name="TextBox 33"/>
            <p:cNvSpPr txBox="1"/>
            <p:nvPr/>
          </p:nvSpPr>
          <p:spPr>
            <a:xfrm>
              <a:off x="9660677" y="2656999"/>
              <a:ext cx="300147" cy="190690"/>
            </a:xfrm>
            <a:prstGeom prst="rect">
              <a:avLst/>
            </a:prstGeom>
            <a:noFill/>
            <a:ln>
              <a:noFill/>
            </a:ln>
          </p:spPr>
          <p:txBody>
            <a:bodyPr wrap="none" lIns="0" tIns="0" rIns="0" bIns="0" anchor="t" anchorCtr="0">
              <a:spAutoFit/>
            </a:bodyPr>
            <a:lstStyle/>
            <a:p>
              <a:pPr algn="ctr"/>
              <a:r>
                <a:rPr lang="tr-TR" sz="980" dirty="0">
                  <a:solidFill>
                    <a:srgbClr val="12355B"/>
                  </a:solidFill>
                  <a:latin typeface="+mn-lt"/>
                  <a:ea typeface="+mn-ea"/>
                  <a:cs typeface="+mn-cs"/>
                </a:rPr>
                <a:t>önce</a:t>
              </a:r>
            </a:p>
          </p:txBody>
        </p:sp>
        <p:sp>
          <p:nvSpPr>
            <p:cNvPr id="34" name="TextBox 34"/>
            <p:cNvSpPr txBox="1"/>
            <p:nvPr/>
          </p:nvSpPr>
          <p:spPr>
            <a:xfrm>
              <a:off x="8423340" y="1914049"/>
              <a:ext cx="1441320" cy="190690"/>
            </a:xfrm>
            <a:prstGeom prst="rect">
              <a:avLst/>
            </a:prstGeom>
            <a:noFill/>
            <a:ln>
              <a:noFill/>
            </a:ln>
          </p:spPr>
          <p:txBody>
            <a:bodyPr wrap="none" lIns="0" tIns="0" rIns="0" bIns="0" anchor="t" anchorCtr="0">
              <a:spAutoFit/>
            </a:bodyPr>
            <a:lstStyle/>
            <a:p>
              <a:pPr algn="ctr"/>
              <a:r>
                <a:rPr lang="tr-TR" sz="980" dirty="0">
                  <a:solidFill>
                    <a:srgbClr val="00A6A6"/>
                  </a:solidFill>
                  <a:latin typeface="+mn-lt"/>
                  <a:ea typeface="+mn-ea"/>
                  <a:cs typeface="+mn-cs"/>
                </a:rPr>
                <a:t>sonra (sınıra çekildi)</a:t>
              </a:r>
            </a:p>
          </p:txBody>
        </p:sp>
      </p:grpSp>
      <p:grpSp>
        <p:nvGrpSpPr>
          <p:cNvPr id="41" name="caution"/>
          <p:cNvGrpSpPr/>
          <p:nvPr/>
        </p:nvGrpSpPr>
        <p:grpSpPr>
          <a:xfrm>
            <a:off x="609600" y="4438650"/>
            <a:ext cx="10972800" cy="1733550"/>
            <a:chOff x="609600" y="4438650"/>
            <a:chExt cx="10972800" cy="1733550"/>
          </a:xfrm>
        </p:grpSpPr>
        <p:sp>
          <p:nvSpPr>
            <p:cNvPr id="36" name="Rectangle 36"/>
            <p:cNvSpPr/>
            <p:nvPr/>
          </p:nvSpPr>
          <p:spPr>
            <a:xfrm>
              <a:off x="609600" y="4438650"/>
              <a:ext cx="10972800" cy="1733550"/>
            </a:xfrm>
            <a:prstGeom prst="roundRect">
              <a:avLst>
                <a:gd name="adj" fmla="val 5495"/>
              </a:avLst>
            </a:prstGeom>
            <a:solidFill>
              <a:srgbClr val="EAF4F6"/>
            </a:solidFill>
            <a:ln>
              <a:noFill/>
            </a:ln>
          </p:spPr>
        </p:sp>
        <p:sp>
          <p:nvSpPr>
            <p:cNvPr id="37" name="TextBox 37"/>
            <p:cNvSpPr txBox="1"/>
            <p:nvPr/>
          </p:nvSpPr>
          <p:spPr>
            <a:xfrm>
              <a:off x="906399" y="4592479"/>
              <a:ext cx="408836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Dikkat: kırpma da sızıntıya açıktır</a:t>
              </a:r>
            </a:p>
          </p:txBody>
        </p:sp>
        <p:sp>
          <p:nvSpPr>
            <p:cNvPr id="38" name="TextBox 38"/>
            <p:cNvSpPr txBox="1"/>
            <p:nvPr/>
          </p:nvSpPr>
          <p:spPr>
            <a:xfrm>
              <a:off x="907161" y="4894421"/>
              <a:ext cx="591807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alt_sinir ve ust_sinir yalnızca X_train üzerinden hesaplanmalı;</a:t>
              </a:r>
            </a:p>
          </p:txBody>
        </p:sp>
        <p:sp>
          <p:nvSpPr>
            <p:cNvPr id="39" name="TextBox 39"/>
            <p:cNvSpPr txBox="1"/>
            <p:nvPr/>
          </p:nvSpPr>
          <p:spPr>
            <a:xfrm>
              <a:off x="907161" y="5142071"/>
              <a:ext cx="603314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aynı sınırlar X_test'e (yeniden hesaplamadan) uygulanmalıdır.</a:t>
              </a:r>
            </a:p>
          </p:txBody>
        </p:sp>
        <p:sp>
          <p:nvSpPr>
            <p:cNvPr id="40" name="TextBox 40"/>
            <p:cNvSpPr txBox="1"/>
            <p:nvPr/>
          </p:nvSpPr>
          <p:spPr>
            <a:xfrm>
              <a:off x="907161" y="5446871"/>
              <a:ext cx="6504218" cy="278702"/>
            </a:xfrm>
            <a:prstGeom prst="rect">
              <a:avLst/>
            </a:prstGeom>
            <a:noFill/>
            <a:ln>
              <a:noFill/>
            </a:ln>
          </p:spPr>
          <p:txBody>
            <a:bodyPr wrap="none" lIns="0" tIns="0" rIns="0" bIns="0" anchor="t" anchorCtr="0">
              <a:spAutoFit/>
            </a:bodyPr>
            <a:lstStyle/>
            <a:p>
              <a:pPr algn="l"/>
              <a:r>
                <a:rPr lang="tr-TR" sz="1420" b="1" dirty="0">
                  <a:solidFill>
                    <a:srgbClr val="00A6A6"/>
                  </a:solidFill>
                  <a:latin typeface="+mn-lt"/>
                  <a:ea typeface="+mn-ea"/>
                  <a:cs typeface="+mn-cs"/>
                </a:rPr>
                <a:t>ChurnOnIslemeHatti sınıfında bu adım fit/transform ile ayrılır.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5298552" cy="557403"/>
            <a:chOff x="595122" y="282892"/>
            <a:chExt cx="5298552" cy="557403"/>
          </a:xfrm>
        </p:grpSpPr>
        <p:sp>
          <p:nvSpPr>
            <p:cNvPr id="4" name="TextBox 4"/>
            <p:cNvSpPr txBox="1"/>
            <p:nvPr/>
          </p:nvSpPr>
          <p:spPr>
            <a:xfrm>
              <a:off x="595122" y="282892"/>
              <a:ext cx="529855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Ölçekler neden eşitlenmeli?</a:t>
              </a:r>
            </a:p>
          </p:txBody>
        </p:sp>
      </p:grpSp>
      <p:grpSp>
        <p:nvGrpSpPr>
          <p:cNvPr id="22" name="scale-compare"/>
          <p:cNvGrpSpPr/>
          <p:nvPr/>
        </p:nvGrpSpPr>
        <p:grpSpPr>
          <a:xfrm>
            <a:off x="830199" y="1392079"/>
            <a:ext cx="4944730" cy="2853499"/>
            <a:chOff x="830199" y="1392079"/>
            <a:chExt cx="4944730" cy="2853499"/>
          </a:xfrm>
        </p:grpSpPr>
        <p:sp>
          <p:nvSpPr>
            <p:cNvPr id="6" name="TextBox 6"/>
            <p:cNvSpPr txBox="1"/>
            <p:nvPr/>
          </p:nvSpPr>
          <p:spPr>
            <a:xfrm>
              <a:off x="830199" y="1392079"/>
              <a:ext cx="174316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Ham ölçek farkı</a:t>
              </a:r>
            </a:p>
          </p:txBody>
        </p:sp>
        <p:sp>
          <p:nvSpPr>
            <p:cNvPr id="7" name="TextBox 7"/>
            <p:cNvSpPr txBox="1"/>
            <p:nvPr/>
          </p:nvSpPr>
          <p:spPr>
            <a:xfrm>
              <a:off x="831723" y="1748314"/>
              <a:ext cx="883138"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aylik_gelir</a:t>
              </a:r>
            </a:p>
          </p:txBody>
        </p:sp>
        <p:sp>
          <p:nvSpPr>
            <p:cNvPr id="8" name="Rectangle 8"/>
            <p:cNvSpPr/>
            <p:nvPr/>
          </p:nvSpPr>
          <p:spPr>
            <a:xfrm>
              <a:off x="1905000" y="1752600"/>
              <a:ext cx="3143250" cy="228600"/>
            </a:xfrm>
            <a:prstGeom prst="rect">
              <a:avLst/>
            </a:prstGeom>
            <a:solidFill>
              <a:srgbClr val="EAF4F6"/>
            </a:solidFill>
            <a:ln>
              <a:noFill/>
            </a:ln>
          </p:spPr>
        </p:sp>
        <p:sp>
          <p:nvSpPr>
            <p:cNvPr id="9" name="Rectangle 9"/>
            <p:cNvSpPr/>
            <p:nvPr/>
          </p:nvSpPr>
          <p:spPr>
            <a:xfrm>
              <a:off x="1905000" y="1752600"/>
              <a:ext cx="3143250" cy="228600"/>
            </a:xfrm>
            <a:prstGeom prst="rect">
              <a:avLst/>
            </a:prstGeom>
            <a:solidFill>
              <a:srgbClr val="2E86AB"/>
            </a:solidFill>
            <a:ln>
              <a:noFill/>
            </a:ln>
          </p:spPr>
        </p:sp>
        <p:sp>
          <p:nvSpPr>
            <p:cNvPr id="10" name="TextBox 10"/>
            <p:cNvSpPr txBox="1"/>
            <p:nvPr/>
          </p:nvSpPr>
          <p:spPr>
            <a:xfrm>
              <a:off x="5137785" y="1802606"/>
              <a:ext cx="63714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0–20 000</a:t>
              </a:r>
            </a:p>
          </p:txBody>
        </p:sp>
        <p:sp>
          <p:nvSpPr>
            <p:cNvPr id="11" name="TextBox 11"/>
            <p:cNvSpPr txBox="1"/>
            <p:nvPr/>
          </p:nvSpPr>
          <p:spPr>
            <a:xfrm>
              <a:off x="831723" y="2167414"/>
              <a:ext cx="297271"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yas</a:t>
              </a:r>
            </a:p>
          </p:txBody>
        </p:sp>
        <p:sp>
          <p:nvSpPr>
            <p:cNvPr id="12" name="Rectangle 12"/>
            <p:cNvSpPr/>
            <p:nvPr/>
          </p:nvSpPr>
          <p:spPr>
            <a:xfrm>
              <a:off x="1905000" y="2171700"/>
              <a:ext cx="285750" cy="228600"/>
            </a:xfrm>
            <a:prstGeom prst="rect">
              <a:avLst/>
            </a:prstGeom>
            <a:solidFill>
              <a:srgbClr val="00A6A6"/>
            </a:solidFill>
            <a:ln>
              <a:noFill/>
            </a:ln>
          </p:spPr>
        </p:sp>
        <p:sp>
          <p:nvSpPr>
            <p:cNvPr id="13" name="TextBox 13"/>
            <p:cNvSpPr txBox="1"/>
            <p:nvPr/>
          </p:nvSpPr>
          <p:spPr>
            <a:xfrm>
              <a:off x="2280285" y="2221706"/>
              <a:ext cx="426060"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18–70</a:t>
              </a:r>
            </a:p>
          </p:txBody>
        </p:sp>
        <p:sp>
          <p:nvSpPr>
            <p:cNvPr id="14" name="TextBox 14"/>
            <p:cNvSpPr txBox="1"/>
            <p:nvPr/>
          </p:nvSpPr>
          <p:spPr>
            <a:xfrm>
              <a:off x="831723" y="2586514"/>
              <a:ext cx="1296690" cy="249364"/>
            </a:xfrm>
            <a:prstGeom prst="rect">
              <a:avLst/>
            </a:prstGeom>
            <a:noFill/>
            <a:ln>
              <a:noFill/>
            </a:ln>
          </p:spPr>
          <p:txBody>
            <a:bodyPr wrap="none" lIns="0" tIns="0" rIns="0" bIns="0" anchor="t" anchorCtr="0">
              <a:spAutoFit/>
            </a:bodyPr>
            <a:lstStyle/>
            <a:p>
              <a:pPr algn="l"/>
              <a:r>
                <a:rPr lang="tr-TR" sz="1280" dirty="0">
                  <a:solidFill>
                    <a:srgbClr val="52616B"/>
                  </a:solidFill>
                  <a:latin typeface="+mn-lt"/>
                  <a:ea typeface="+mn-ea"/>
                  <a:cs typeface="+mn-cs"/>
                </a:rPr>
                <a:t>kullanim_suresi</a:t>
              </a:r>
            </a:p>
          </p:txBody>
        </p:sp>
        <p:sp>
          <p:nvSpPr>
            <p:cNvPr id="15" name="Rectangle 15"/>
            <p:cNvSpPr/>
            <p:nvPr/>
          </p:nvSpPr>
          <p:spPr>
            <a:xfrm>
              <a:off x="1905000" y="2590800"/>
              <a:ext cx="457200" cy="228600"/>
            </a:xfrm>
            <a:prstGeom prst="rect">
              <a:avLst/>
            </a:prstGeom>
            <a:solidFill>
              <a:srgbClr val="00A6A6"/>
            </a:solidFill>
            <a:ln>
              <a:noFill/>
            </a:ln>
          </p:spPr>
        </p:sp>
        <p:sp>
          <p:nvSpPr>
            <p:cNvPr id="16" name="TextBox 16"/>
            <p:cNvSpPr txBox="1"/>
            <p:nvPr/>
          </p:nvSpPr>
          <p:spPr>
            <a:xfrm>
              <a:off x="2451735" y="2640806"/>
              <a:ext cx="554218"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0–72 ay</a:t>
              </a:r>
            </a:p>
          </p:txBody>
        </p:sp>
        <p:sp>
          <p:nvSpPr>
            <p:cNvPr id="17" name="Line 17"/>
            <p:cNvSpPr/>
            <p:nvPr/>
          </p:nvSpPr>
          <p:spPr>
            <a:xfrm>
              <a:off x="838200" y="3086100"/>
              <a:ext cx="4800600" cy="9525"/>
            </a:xfrm>
            <a:custGeom>
              <a:avLst/>
              <a:gdLst/>
              <a:ahLst/>
              <a:cxnLst/>
              <a:rect l="l" t="t" r="r" b="b"/>
              <a:pathLst>
                <a:path w="4800600" h="9525">
                  <a:moveTo>
                    <a:pt x="0" y="0"/>
                  </a:moveTo>
                  <a:lnTo>
                    <a:pt x="4800600" y="0"/>
                  </a:lnTo>
                </a:path>
              </a:pathLst>
            </a:custGeom>
            <a:noFill/>
            <a:ln w="9525">
              <a:solidFill>
                <a:srgbClr val="B8CBD3"/>
              </a:solidFill>
            </a:ln>
          </p:spPr>
        </p:sp>
        <p:sp>
          <p:nvSpPr>
            <p:cNvPr id="18" name="TextBox 18"/>
            <p:cNvSpPr txBox="1"/>
            <p:nvPr/>
          </p:nvSpPr>
          <p:spPr>
            <a:xfrm>
              <a:off x="831723" y="3253264"/>
              <a:ext cx="293123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Mesafe tabanlı algoritmalar (KNN,</a:t>
              </a:r>
            </a:p>
          </p:txBody>
        </p:sp>
        <p:sp>
          <p:nvSpPr>
            <p:cNvPr id="19" name="TextBox 19"/>
            <p:cNvSpPr txBox="1"/>
            <p:nvPr/>
          </p:nvSpPr>
          <p:spPr>
            <a:xfrm>
              <a:off x="831723" y="3500914"/>
              <a:ext cx="320275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SVM, k-means, regülerize regresyon)</a:t>
              </a:r>
            </a:p>
          </p:txBody>
        </p:sp>
        <p:sp>
          <p:nvSpPr>
            <p:cNvPr id="20" name="TextBox 20"/>
            <p:cNvSpPr txBox="1"/>
            <p:nvPr/>
          </p:nvSpPr>
          <p:spPr>
            <a:xfrm>
              <a:off x="831723" y="3748564"/>
              <a:ext cx="260627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aylik_gelir'i, yas'tan çok daha</a:t>
              </a:r>
            </a:p>
          </p:txBody>
        </p:sp>
        <p:sp>
          <p:nvSpPr>
            <p:cNvPr id="21" name="TextBox 21"/>
            <p:cNvSpPr txBox="1"/>
            <p:nvPr/>
          </p:nvSpPr>
          <p:spPr>
            <a:xfrm>
              <a:off x="831723" y="3996214"/>
              <a:ext cx="204625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önemliymiş gibi yorumlar</a:t>
              </a:r>
            </a:p>
          </p:txBody>
        </p:sp>
      </p:grpSp>
      <p:grpSp>
        <p:nvGrpSpPr>
          <p:cNvPr id="32" name="formula-z"/>
          <p:cNvGrpSpPr/>
          <p:nvPr/>
        </p:nvGrpSpPr>
        <p:grpSpPr>
          <a:xfrm>
            <a:off x="6248400" y="1257300"/>
            <a:ext cx="5334000" cy="2857500"/>
            <a:chOff x="6248400" y="1257300"/>
            <a:chExt cx="5334000" cy="2857500"/>
          </a:xfrm>
        </p:grpSpPr>
        <p:sp>
          <p:nvSpPr>
            <p:cNvPr id="23" name="Rectangle 23"/>
            <p:cNvSpPr/>
            <p:nvPr/>
          </p:nvSpPr>
          <p:spPr>
            <a:xfrm>
              <a:off x="6248400" y="1257300"/>
              <a:ext cx="5334000" cy="2857500"/>
            </a:xfrm>
            <a:prstGeom prst="roundRect">
              <a:avLst>
                <a:gd name="adj" fmla="val 3333"/>
              </a:avLst>
            </a:prstGeom>
            <a:solidFill>
              <a:srgbClr val="12355B"/>
            </a:solidFill>
            <a:ln>
              <a:noFill/>
            </a:ln>
          </p:spPr>
        </p:sp>
        <p:sp>
          <p:nvSpPr>
            <p:cNvPr id="24" name="TextBox 24"/>
            <p:cNvSpPr txBox="1"/>
            <p:nvPr/>
          </p:nvSpPr>
          <p:spPr>
            <a:xfrm>
              <a:off x="6507099" y="1430179"/>
              <a:ext cx="2609422"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StandardScaler formülü</a:t>
              </a:r>
            </a:p>
          </p:txBody>
        </p:sp>
        <p:sp>
          <p:nvSpPr>
            <p:cNvPr id="25" name="Rectangle 25"/>
            <p:cNvSpPr/>
            <p:nvPr/>
          </p:nvSpPr>
          <p:spPr>
            <a:xfrm>
              <a:off x="6515100" y="1790700"/>
              <a:ext cx="4800600" cy="762000"/>
            </a:xfrm>
            <a:prstGeom prst="roundRect">
              <a:avLst>
                <a:gd name="adj" fmla="val 7500"/>
              </a:avLst>
            </a:prstGeom>
            <a:solidFill>
              <a:srgbClr val="00A6A6"/>
            </a:solidFill>
            <a:ln>
              <a:noFill/>
            </a:ln>
          </p:spPr>
        </p:sp>
        <p:sp>
          <p:nvSpPr>
            <p:cNvPr id="26" name="TextBox 26"/>
            <p:cNvSpPr txBox="1"/>
            <p:nvPr/>
          </p:nvSpPr>
          <p:spPr>
            <a:xfrm>
              <a:off x="7822644" y="2056448"/>
              <a:ext cx="2185511" cy="381381"/>
            </a:xfrm>
            <a:prstGeom prst="rect">
              <a:avLst/>
            </a:prstGeom>
            <a:noFill/>
            <a:ln>
              <a:noFill/>
            </a:ln>
          </p:spPr>
          <p:txBody>
            <a:bodyPr wrap="none" lIns="0" tIns="0" rIns="0" bIns="0" anchor="t" anchorCtr="0">
              <a:spAutoFit/>
            </a:bodyPr>
            <a:lstStyle/>
            <a:p>
              <a:pPr algn="ctr"/>
              <a:r>
                <a:rPr lang="el-GR" sz="1950" b="1" dirty="0">
                  <a:solidFill>
                    <a:srgbClr val="12355B"/>
                  </a:solidFill>
                  <a:latin typeface="Consolas"/>
                  <a:ea typeface="Consolas"/>
                  <a:cs typeface="Consolas"/>
                </a:rPr>
                <a:t>z = (x − μ) / σ</a:t>
              </a:r>
            </a:p>
          </p:txBody>
        </p:sp>
        <p:sp>
          <p:nvSpPr>
            <p:cNvPr id="27" name="TextBox 27"/>
            <p:cNvSpPr txBox="1"/>
            <p:nvPr/>
          </p:nvSpPr>
          <p:spPr>
            <a:xfrm>
              <a:off x="6509004" y="2727960"/>
              <a:ext cx="2152650" cy="234696"/>
            </a:xfrm>
            <a:prstGeom prst="rect">
              <a:avLst/>
            </a:prstGeom>
            <a:noFill/>
            <a:ln>
              <a:noFill/>
            </a:ln>
          </p:spPr>
          <p:txBody>
            <a:bodyPr wrap="none" lIns="0" tIns="0" rIns="0" bIns="0" anchor="t" anchorCtr="0">
              <a:spAutoFit/>
            </a:bodyPr>
            <a:lstStyle/>
            <a:p>
              <a:pPr algn="l"/>
              <a:r>
                <a:rPr lang="el-GR" sz="1200" dirty="0">
                  <a:solidFill>
                    <a:srgbClr val="EAF4F6"/>
                  </a:solidFill>
                  <a:latin typeface="+mn-lt"/>
                  <a:ea typeface="+mn-ea"/>
                  <a:cs typeface="+mn-cs"/>
                </a:rPr>
                <a:t>μ: eğitim verisi ortalaması</a:t>
              </a:r>
            </a:p>
          </p:txBody>
        </p:sp>
        <p:sp>
          <p:nvSpPr>
            <p:cNvPr id="28" name="TextBox 28"/>
            <p:cNvSpPr txBox="1"/>
            <p:nvPr/>
          </p:nvSpPr>
          <p:spPr>
            <a:xfrm>
              <a:off x="6509004" y="2956560"/>
              <a:ext cx="2685745" cy="234696"/>
            </a:xfrm>
            <a:prstGeom prst="rect">
              <a:avLst/>
            </a:prstGeom>
            <a:noFill/>
            <a:ln>
              <a:noFill/>
            </a:ln>
          </p:spPr>
          <p:txBody>
            <a:bodyPr wrap="none" lIns="0" tIns="0" rIns="0" bIns="0" anchor="t" anchorCtr="0">
              <a:spAutoFit/>
            </a:bodyPr>
            <a:lstStyle/>
            <a:p>
              <a:pPr algn="l"/>
              <a:r>
                <a:rPr lang="el-GR" sz="1200" dirty="0">
                  <a:solidFill>
                    <a:srgbClr val="EAF4F6"/>
                  </a:solidFill>
                  <a:latin typeface="+mn-lt"/>
                  <a:ea typeface="+mn-ea"/>
                  <a:cs typeface="+mn-cs"/>
                </a:rPr>
                <a:t>σ: eğitim verisi standart sapması</a:t>
              </a:r>
            </a:p>
          </p:txBody>
        </p:sp>
        <p:sp>
          <p:nvSpPr>
            <p:cNvPr id="29" name="TextBox 29"/>
            <p:cNvSpPr txBox="1"/>
            <p:nvPr/>
          </p:nvSpPr>
          <p:spPr>
            <a:xfrm>
              <a:off x="6509004" y="3299460"/>
              <a:ext cx="2514189"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Sonuç: her sütun ortalaması 0,</a:t>
              </a:r>
            </a:p>
          </p:txBody>
        </p:sp>
        <p:sp>
          <p:nvSpPr>
            <p:cNvPr id="30" name="TextBox 30"/>
            <p:cNvSpPr txBox="1"/>
            <p:nvPr/>
          </p:nvSpPr>
          <p:spPr>
            <a:xfrm>
              <a:off x="6509004" y="3528060"/>
              <a:ext cx="192648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standart sapması 1 olur</a:t>
              </a:r>
            </a:p>
          </p:txBody>
        </p:sp>
        <p:sp>
          <p:nvSpPr>
            <p:cNvPr id="31" name="TextBox 31"/>
            <p:cNvSpPr txBox="1"/>
            <p:nvPr/>
          </p:nvSpPr>
          <p:spPr>
            <a:xfrm>
              <a:off x="6509385" y="3840956"/>
              <a:ext cx="2866269" cy="220028"/>
            </a:xfrm>
            <a:prstGeom prst="rect">
              <a:avLst/>
            </a:prstGeom>
            <a:noFill/>
            <a:ln>
              <a:noFill/>
            </a:ln>
          </p:spPr>
          <p:txBody>
            <a:bodyPr wrap="none" lIns="0" tIns="0" rIns="0" bIns="0" anchor="t" anchorCtr="0">
              <a:spAutoFit/>
            </a:bodyPr>
            <a:lstStyle/>
            <a:p>
              <a:pPr algn="l"/>
              <a:r>
                <a:rPr lang="el-GR" sz="1120" dirty="0">
                  <a:solidFill>
                    <a:srgbClr val="B8CBD3"/>
                  </a:solidFill>
                  <a:latin typeface="+mn-lt"/>
                  <a:ea typeface="+mn-ea"/>
                  <a:cs typeface="+mn-cs"/>
                </a:rPr>
                <a:t>μ ve σ yalnızca X_train'den hesaplanır</a:t>
              </a:r>
            </a:p>
          </p:txBody>
        </p:sp>
      </p:grpSp>
      <p:grpSp>
        <p:nvGrpSpPr>
          <p:cNvPr id="38" name="bottom-note"/>
          <p:cNvGrpSpPr/>
          <p:nvPr/>
        </p:nvGrpSpPr>
        <p:grpSpPr>
          <a:xfrm>
            <a:off x="609600" y="4438650"/>
            <a:ext cx="10972800" cy="1733550"/>
            <a:chOff x="609600" y="4438650"/>
            <a:chExt cx="10972800" cy="1733550"/>
          </a:xfrm>
        </p:grpSpPr>
        <p:sp>
          <p:nvSpPr>
            <p:cNvPr id="33" name="Rectangle 33"/>
            <p:cNvSpPr/>
            <p:nvPr/>
          </p:nvSpPr>
          <p:spPr>
            <a:xfrm>
              <a:off x="609600" y="4438650"/>
              <a:ext cx="10972800" cy="1733550"/>
            </a:xfrm>
            <a:prstGeom prst="roundRect">
              <a:avLst>
                <a:gd name="adj" fmla="val 5495"/>
              </a:avLst>
            </a:prstGeom>
            <a:solidFill>
              <a:srgbClr val="EAF4F6"/>
            </a:solidFill>
            <a:ln>
              <a:noFill/>
            </a:ln>
          </p:spPr>
        </p:sp>
        <p:sp>
          <p:nvSpPr>
            <p:cNvPr id="34" name="TextBox 34"/>
            <p:cNvSpPr txBox="1"/>
            <p:nvPr/>
          </p:nvSpPr>
          <p:spPr>
            <a:xfrm>
              <a:off x="906399" y="4592479"/>
              <a:ext cx="538308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Ağaç tabanlı modeller ölçeklemeye ihtiyaç duymaz</a:t>
              </a:r>
            </a:p>
          </p:txBody>
        </p:sp>
        <p:sp>
          <p:nvSpPr>
            <p:cNvPr id="35" name="TextBox 35"/>
            <p:cNvSpPr txBox="1"/>
            <p:nvPr/>
          </p:nvSpPr>
          <p:spPr>
            <a:xfrm>
              <a:off x="907161" y="4894421"/>
              <a:ext cx="6251129"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DecisionTree, RandomForest, XGBoost gibi modeller eşik değerlerle</a:t>
              </a:r>
            </a:p>
          </p:txBody>
        </p:sp>
        <p:sp>
          <p:nvSpPr>
            <p:cNvPr id="36" name="TextBox 36"/>
            <p:cNvSpPr txBox="1"/>
            <p:nvPr/>
          </p:nvSpPr>
          <p:spPr>
            <a:xfrm>
              <a:off x="907161" y="5142071"/>
              <a:ext cx="7297847"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çalışır; ölçek değişse de bölünme kararı değişmez. Ancak ColumnTransformer</a:t>
              </a:r>
            </a:p>
          </p:txBody>
        </p:sp>
        <p:sp>
          <p:nvSpPr>
            <p:cNvPr id="37" name="TextBox 37"/>
            <p:cNvSpPr txBox="1"/>
            <p:nvPr/>
          </p:nvSpPr>
          <p:spPr>
            <a:xfrm>
              <a:off x="907161" y="5389721"/>
              <a:ext cx="782338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içine koymak zararsızdır — farklı modellere geçişte yeniden yazmaya gerek kalmaz.</a:t>
              </a:r>
            </a:p>
          </p:txBody>
        </p:sp>
      </p:grpSp>
      <p:sp>
        <p:nvSpPr>
          <p:cNvPr id="39" name="TextBox 39"/>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74238" cy="557403"/>
            <a:chOff x="595122" y="282892"/>
            <a:chExt cx="8174238" cy="557403"/>
          </a:xfrm>
        </p:grpSpPr>
        <p:sp>
          <p:nvSpPr>
            <p:cNvPr id="4" name="TextBox 4"/>
            <p:cNvSpPr txBox="1"/>
            <p:nvPr/>
          </p:nvSpPr>
          <p:spPr>
            <a:xfrm>
              <a:off x="595122" y="282892"/>
              <a:ext cx="8174238"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StandardScaler uygulaması: önce / sonra</a:t>
              </a:r>
            </a:p>
          </p:txBody>
        </p:sp>
      </p:grpSp>
      <p:grpSp>
        <p:nvGrpSpPr>
          <p:cNvPr id="9" name="code-fit"/>
          <p:cNvGrpSpPr/>
          <p:nvPr/>
        </p:nvGrpSpPr>
        <p:grpSpPr>
          <a:xfrm>
            <a:off x="609600" y="1219200"/>
            <a:ext cx="10972800" cy="914400"/>
            <a:chOff x="609600" y="1219200"/>
            <a:chExt cx="10972800" cy="914400"/>
          </a:xfrm>
        </p:grpSpPr>
        <p:sp>
          <p:nvSpPr>
            <p:cNvPr id="6" name="Rectangle 6"/>
            <p:cNvSpPr/>
            <p:nvPr/>
          </p:nvSpPr>
          <p:spPr>
            <a:xfrm>
              <a:off x="609600" y="1219200"/>
              <a:ext cx="10972800" cy="914400"/>
            </a:xfrm>
            <a:prstGeom prst="roundRect">
              <a:avLst>
                <a:gd name="adj" fmla="val 10417"/>
              </a:avLst>
            </a:prstGeom>
            <a:solidFill>
              <a:srgbClr val="12355B"/>
            </a:solidFill>
            <a:ln>
              <a:noFill/>
            </a:ln>
          </p:spPr>
        </p:sp>
        <p:sp>
          <p:nvSpPr>
            <p:cNvPr id="7" name="TextBox 7"/>
            <p:cNvSpPr txBox="1"/>
            <p:nvPr/>
          </p:nvSpPr>
          <p:spPr>
            <a:xfrm>
              <a:off x="907923" y="1405414"/>
              <a:ext cx="2395677"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scaler = StandardScaler()</a:t>
              </a:r>
            </a:p>
          </p:txBody>
        </p:sp>
        <p:sp>
          <p:nvSpPr>
            <p:cNvPr id="8" name="TextBox 8"/>
            <p:cNvSpPr txBox="1"/>
            <p:nvPr/>
          </p:nvSpPr>
          <p:spPr>
            <a:xfrm>
              <a:off x="907923" y="1672114"/>
              <a:ext cx="5334185"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X_train_scaled = scaler.fit_transform(X_train[num_cols])</a:t>
              </a:r>
            </a:p>
          </p:txBody>
        </p:sp>
      </p:grpSp>
      <p:grpSp>
        <p:nvGrpSpPr>
          <p:cNvPr id="41" name="result-table"/>
          <p:cNvGrpSpPr/>
          <p:nvPr/>
        </p:nvGrpSpPr>
        <p:grpSpPr>
          <a:xfrm>
            <a:off x="609600" y="2362200"/>
            <a:ext cx="10972800" cy="3019425"/>
            <a:chOff x="609600" y="2362200"/>
            <a:chExt cx="10972800" cy="3019425"/>
          </a:xfrm>
        </p:grpSpPr>
        <p:sp>
          <p:nvSpPr>
            <p:cNvPr id="10" name="Rectangle 10"/>
            <p:cNvSpPr/>
            <p:nvPr/>
          </p:nvSpPr>
          <p:spPr>
            <a:xfrm>
              <a:off x="609600" y="2362200"/>
              <a:ext cx="10972800" cy="533400"/>
            </a:xfrm>
            <a:prstGeom prst="rect">
              <a:avLst/>
            </a:prstGeom>
            <a:solidFill>
              <a:srgbClr val="EAF4F6"/>
            </a:solidFill>
            <a:ln>
              <a:noFill/>
            </a:ln>
          </p:spPr>
        </p:sp>
        <p:sp>
          <p:nvSpPr>
            <p:cNvPr id="11" name="TextBox 11"/>
            <p:cNvSpPr txBox="1"/>
            <p:nvPr/>
          </p:nvSpPr>
          <p:spPr>
            <a:xfrm>
              <a:off x="907542" y="2540318"/>
              <a:ext cx="744710"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Müşteri</a:t>
              </a:r>
            </a:p>
          </p:txBody>
        </p:sp>
        <p:sp>
          <p:nvSpPr>
            <p:cNvPr id="12" name="TextBox 12"/>
            <p:cNvSpPr txBox="1"/>
            <p:nvPr/>
          </p:nvSpPr>
          <p:spPr>
            <a:xfrm>
              <a:off x="3193542" y="2540318"/>
              <a:ext cx="1597554"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aylik_gelir (ham)</a:t>
              </a:r>
            </a:p>
          </p:txBody>
        </p:sp>
        <p:sp>
          <p:nvSpPr>
            <p:cNvPr id="13" name="TextBox 13"/>
            <p:cNvSpPr txBox="1"/>
            <p:nvPr/>
          </p:nvSpPr>
          <p:spPr>
            <a:xfrm>
              <a:off x="5860542" y="2540318"/>
              <a:ext cx="1349483"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aylik_gelir (z)</a:t>
              </a:r>
            </a:p>
          </p:txBody>
        </p:sp>
        <p:sp>
          <p:nvSpPr>
            <p:cNvPr id="14" name="TextBox 14"/>
            <p:cNvSpPr txBox="1"/>
            <p:nvPr/>
          </p:nvSpPr>
          <p:spPr>
            <a:xfrm>
              <a:off x="8527542" y="2540318"/>
              <a:ext cx="70068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yas (z)</a:t>
              </a:r>
            </a:p>
          </p:txBody>
        </p:sp>
        <p:sp>
          <p:nvSpPr>
            <p:cNvPr id="15" name="Line 15"/>
            <p:cNvSpPr/>
            <p:nvPr/>
          </p:nvSpPr>
          <p:spPr>
            <a:xfrm>
              <a:off x="609600" y="2895600"/>
              <a:ext cx="10972800" cy="9525"/>
            </a:xfrm>
            <a:custGeom>
              <a:avLst/>
              <a:gdLst/>
              <a:ahLst/>
              <a:cxnLst/>
              <a:rect l="l" t="t" r="r" b="b"/>
              <a:pathLst>
                <a:path w="10972800" h="9525">
                  <a:moveTo>
                    <a:pt x="0" y="0"/>
                  </a:moveTo>
                  <a:lnTo>
                    <a:pt x="10972800" y="0"/>
                  </a:lnTo>
                </a:path>
              </a:pathLst>
            </a:custGeom>
            <a:noFill/>
            <a:ln w="9525">
              <a:solidFill>
                <a:srgbClr val="B8CBD3"/>
              </a:solidFill>
            </a:ln>
          </p:spPr>
        </p:sp>
        <p:sp>
          <p:nvSpPr>
            <p:cNvPr id="16" name="TextBox 16"/>
            <p:cNvSpPr txBox="1"/>
            <p:nvPr/>
          </p:nvSpPr>
          <p:spPr>
            <a:xfrm>
              <a:off x="907542" y="3054668"/>
              <a:ext cx="4135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#101</a:t>
              </a:r>
            </a:p>
          </p:txBody>
        </p:sp>
        <p:sp>
          <p:nvSpPr>
            <p:cNvPr id="17" name="TextBox 17"/>
            <p:cNvSpPr txBox="1"/>
            <p:nvPr/>
          </p:nvSpPr>
          <p:spPr>
            <a:xfrm>
              <a:off x="3193542" y="3054668"/>
              <a:ext cx="62253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3 100 ₺</a:t>
              </a:r>
            </a:p>
          </p:txBody>
        </p:sp>
        <p:sp>
          <p:nvSpPr>
            <p:cNvPr id="18" name="TextBox 18"/>
            <p:cNvSpPr txBox="1"/>
            <p:nvPr/>
          </p:nvSpPr>
          <p:spPr>
            <a:xfrm>
              <a:off x="5860542" y="3054668"/>
              <a:ext cx="513493"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−0.91</a:t>
              </a:r>
            </a:p>
          </p:txBody>
        </p:sp>
        <p:sp>
          <p:nvSpPr>
            <p:cNvPr id="19" name="TextBox 19"/>
            <p:cNvSpPr txBox="1"/>
            <p:nvPr/>
          </p:nvSpPr>
          <p:spPr>
            <a:xfrm>
              <a:off x="8527542" y="3054668"/>
              <a:ext cx="513493"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−0.35</a:t>
              </a:r>
            </a:p>
          </p:txBody>
        </p:sp>
        <p:sp>
          <p:nvSpPr>
            <p:cNvPr id="20" name="Line 20"/>
            <p:cNvSpPr/>
            <p:nvPr/>
          </p:nvSpPr>
          <p:spPr>
            <a:xfrm>
              <a:off x="609600" y="3390900"/>
              <a:ext cx="10972800" cy="9525"/>
            </a:xfrm>
            <a:custGeom>
              <a:avLst/>
              <a:gdLst/>
              <a:ahLst/>
              <a:cxnLst/>
              <a:rect l="l" t="t" r="r" b="b"/>
              <a:pathLst>
                <a:path w="10972800" h="9525">
                  <a:moveTo>
                    <a:pt x="0" y="0"/>
                  </a:moveTo>
                  <a:lnTo>
                    <a:pt x="10972800" y="0"/>
                  </a:lnTo>
                </a:path>
              </a:pathLst>
            </a:custGeom>
            <a:noFill/>
            <a:ln w="4762">
              <a:solidFill>
                <a:srgbClr val="B8CBD3"/>
              </a:solidFill>
            </a:ln>
          </p:spPr>
        </p:sp>
        <p:sp>
          <p:nvSpPr>
            <p:cNvPr id="21" name="TextBox 21"/>
            <p:cNvSpPr txBox="1"/>
            <p:nvPr/>
          </p:nvSpPr>
          <p:spPr>
            <a:xfrm>
              <a:off x="907542" y="3549968"/>
              <a:ext cx="4135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#102</a:t>
              </a:r>
            </a:p>
          </p:txBody>
        </p:sp>
        <p:sp>
          <p:nvSpPr>
            <p:cNvPr id="22" name="TextBox 22"/>
            <p:cNvSpPr txBox="1"/>
            <p:nvPr/>
          </p:nvSpPr>
          <p:spPr>
            <a:xfrm>
              <a:off x="3193542" y="3549968"/>
              <a:ext cx="62253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6 450 ₺</a:t>
              </a:r>
            </a:p>
          </p:txBody>
        </p:sp>
        <p:sp>
          <p:nvSpPr>
            <p:cNvPr id="23" name="TextBox 23"/>
            <p:cNvSpPr txBox="1"/>
            <p:nvPr/>
          </p:nvSpPr>
          <p:spPr>
            <a:xfrm>
              <a:off x="5860542" y="3549968"/>
              <a:ext cx="41353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0.12</a:t>
              </a:r>
            </a:p>
          </p:txBody>
        </p:sp>
        <p:sp>
          <p:nvSpPr>
            <p:cNvPr id="24" name="TextBox 24"/>
            <p:cNvSpPr txBox="1"/>
            <p:nvPr/>
          </p:nvSpPr>
          <p:spPr>
            <a:xfrm>
              <a:off x="8527542" y="3549968"/>
              <a:ext cx="41353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1.48</a:t>
              </a:r>
            </a:p>
          </p:txBody>
        </p:sp>
        <p:sp>
          <p:nvSpPr>
            <p:cNvPr id="25" name="Line 25"/>
            <p:cNvSpPr/>
            <p:nvPr/>
          </p:nvSpPr>
          <p:spPr>
            <a:xfrm>
              <a:off x="609600" y="3886200"/>
              <a:ext cx="10972800" cy="9525"/>
            </a:xfrm>
            <a:custGeom>
              <a:avLst/>
              <a:gdLst/>
              <a:ahLst/>
              <a:cxnLst/>
              <a:rect l="l" t="t" r="r" b="b"/>
              <a:pathLst>
                <a:path w="10972800" h="9525">
                  <a:moveTo>
                    <a:pt x="0" y="0"/>
                  </a:moveTo>
                  <a:lnTo>
                    <a:pt x="10972800" y="0"/>
                  </a:lnTo>
                </a:path>
              </a:pathLst>
            </a:custGeom>
            <a:noFill/>
            <a:ln w="4762">
              <a:solidFill>
                <a:srgbClr val="B8CBD3"/>
              </a:solidFill>
            </a:ln>
          </p:spPr>
        </p:sp>
        <p:sp>
          <p:nvSpPr>
            <p:cNvPr id="26" name="TextBox 26"/>
            <p:cNvSpPr txBox="1"/>
            <p:nvPr/>
          </p:nvSpPr>
          <p:spPr>
            <a:xfrm>
              <a:off x="907542" y="4045268"/>
              <a:ext cx="4135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#103</a:t>
              </a:r>
            </a:p>
          </p:txBody>
        </p:sp>
        <p:sp>
          <p:nvSpPr>
            <p:cNvPr id="27" name="TextBox 27"/>
            <p:cNvSpPr txBox="1"/>
            <p:nvPr/>
          </p:nvSpPr>
          <p:spPr>
            <a:xfrm>
              <a:off x="3193542" y="4045268"/>
              <a:ext cx="18674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14 625 ₺ (kırpılmış)</a:t>
              </a:r>
            </a:p>
          </p:txBody>
        </p:sp>
        <p:sp>
          <p:nvSpPr>
            <p:cNvPr id="28" name="TextBox 28"/>
            <p:cNvSpPr txBox="1"/>
            <p:nvPr/>
          </p:nvSpPr>
          <p:spPr>
            <a:xfrm>
              <a:off x="5860542" y="4045268"/>
              <a:ext cx="41353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2.61</a:t>
              </a:r>
            </a:p>
          </p:txBody>
        </p:sp>
        <p:sp>
          <p:nvSpPr>
            <p:cNvPr id="29" name="TextBox 29"/>
            <p:cNvSpPr txBox="1"/>
            <p:nvPr/>
          </p:nvSpPr>
          <p:spPr>
            <a:xfrm>
              <a:off x="8527542" y="4045268"/>
              <a:ext cx="41353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0.08</a:t>
              </a:r>
            </a:p>
          </p:txBody>
        </p:sp>
        <p:sp>
          <p:nvSpPr>
            <p:cNvPr id="30" name="Line 30"/>
            <p:cNvSpPr/>
            <p:nvPr/>
          </p:nvSpPr>
          <p:spPr>
            <a:xfrm>
              <a:off x="609600" y="4381500"/>
              <a:ext cx="10972800" cy="9525"/>
            </a:xfrm>
            <a:custGeom>
              <a:avLst/>
              <a:gdLst/>
              <a:ahLst/>
              <a:cxnLst/>
              <a:rect l="l" t="t" r="r" b="b"/>
              <a:pathLst>
                <a:path w="10972800" h="9525">
                  <a:moveTo>
                    <a:pt x="0" y="0"/>
                  </a:moveTo>
                  <a:lnTo>
                    <a:pt x="10972800" y="0"/>
                  </a:lnTo>
                </a:path>
              </a:pathLst>
            </a:custGeom>
            <a:noFill/>
            <a:ln w="4762">
              <a:solidFill>
                <a:srgbClr val="B8CBD3"/>
              </a:solidFill>
            </a:ln>
          </p:spPr>
        </p:sp>
        <p:sp>
          <p:nvSpPr>
            <p:cNvPr id="31" name="TextBox 31"/>
            <p:cNvSpPr txBox="1"/>
            <p:nvPr/>
          </p:nvSpPr>
          <p:spPr>
            <a:xfrm>
              <a:off x="907542" y="4540568"/>
              <a:ext cx="4135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#104</a:t>
              </a:r>
            </a:p>
          </p:txBody>
        </p:sp>
        <p:sp>
          <p:nvSpPr>
            <p:cNvPr id="32" name="TextBox 32"/>
            <p:cNvSpPr txBox="1"/>
            <p:nvPr/>
          </p:nvSpPr>
          <p:spPr>
            <a:xfrm>
              <a:off x="3193542" y="4540568"/>
              <a:ext cx="62253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4 890 ₺</a:t>
              </a:r>
            </a:p>
          </p:txBody>
        </p:sp>
        <p:sp>
          <p:nvSpPr>
            <p:cNvPr id="33" name="TextBox 33"/>
            <p:cNvSpPr txBox="1"/>
            <p:nvPr/>
          </p:nvSpPr>
          <p:spPr>
            <a:xfrm>
              <a:off x="5860542" y="4540568"/>
              <a:ext cx="513493"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−0.42</a:t>
              </a:r>
            </a:p>
          </p:txBody>
        </p:sp>
        <p:sp>
          <p:nvSpPr>
            <p:cNvPr id="34" name="TextBox 34"/>
            <p:cNvSpPr txBox="1"/>
            <p:nvPr/>
          </p:nvSpPr>
          <p:spPr>
            <a:xfrm>
              <a:off x="8527542" y="4540568"/>
              <a:ext cx="513493"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−1.02</a:t>
              </a:r>
            </a:p>
          </p:txBody>
        </p:sp>
        <p:sp>
          <p:nvSpPr>
            <p:cNvPr id="35" name="Line 35"/>
            <p:cNvSpPr/>
            <p:nvPr/>
          </p:nvSpPr>
          <p:spPr>
            <a:xfrm>
              <a:off x="609600" y="4876800"/>
              <a:ext cx="10972800" cy="9525"/>
            </a:xfrm>
            <a:custGeom>
              <a:avLst/>
              <a:gdLst/>
              <a:ahLst/>
              <a:cxnLst/>
              <a:rect l="l" t="t" r="r" b="b"/>
              <a:pathLst>
                <a:path w="10972800" h="9525">
                  <a:moveTo>
                    <a:pt x="0" y="0"/>
                  </a:moveTo>
                  <a:lnTo>
                    <a:pt x="10972800" y="0"/>
                  </a:lnTo>
                </a:path>
              </a:pathLst>
            </a:custGeom>
            <a:noFill/>
            <a:ln w="4762">
              <a:solidFill>
                <a:srgbClr val="B8CBD3"/>
              </a:solidFill>
            </a:ln>
          </p:spPr>
        </p:sp>
        <p:sp>
          <p:nvSpPr>
            <p:cNvPr id="36" name="TextBox 36"/>
            <p:cNvSpPr txBox="1"/>
            <p:nvPr/>
          </p:nvSpPr>
          <p:spPr>
            <a:xfrm>
              <a:off x="907542" y="5035868"/>
              <a:ext cx="41353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#105</a:t>
              </a:r>
            </a:p>
          </p:txBody>
        </p:sp>
        <p:sp>
          <p:nvSpPr>
            <p:cNvPr id="37" name="TextBox 37"/>
            <p:cNvSpPr txBox="1"/>
            <p:nvPr/>
          </p:nvSpPr>
          <p:spPr>
            <a:xfrm>
              <a:off x="3193542" y="5035868"/>
              <a:ext cx="622535"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9 200 ₺</a:t>
              </a:r>
            </a:p>
          </p:txBody>
        </p:sp>
        <p:sp>
          <p:nvSpPr>
            <p:cNvPr id="38" name="TextBox 38"/>
            <p:cNvSpPr txBox="1"/>
            <p:nvPr/>
          </p:nvSpPr>
          <p:spPr>
            <a:xfrm>
              <a:off x="5860542" y="5035868"/>
              <a:ext cx="41353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0.86</a:t>
              </a:r>
            </a:p>
          </p:txBody>
        </p:sp>
        <p:sp>
          <p:nvSpPr>
            <p:cNvPr id="39" name="TextBox 39"/>
            <p:cNvSpPr txBox="1"/>
            <p:nvPr/>
          </p:nvSpPr>
          <p:spPr>
            <a:xfrm>
              <a:off x="8527542" y="5035868"/>
              <a:ext cx="413537" cy="264033"/>
            </a:xfrm>
            <a:prstGeom prst="rect">
              <a:avLst/>
            </a:prstGeom>
            <a:noFill/>
            <a:ln>
              <a:noFill/>
            </a:ln>
          </p:spPr>
          <p:txBody>
            <a:bodyPr wrap="none" lIns="0" tIns="0" rIns="0" bIns="0" anchor="t" anchorCtr="0">
              <a:spAutoFit/>
            </a:bodyPr>
            <a:lstStyle/>
            <a:p>
              <a:pPr algn="l"/>
              <a:r>
                <a:rPr lang="tr-TR" sz="1350" dirty="0">
                  <a:solidFill>
                    <a:srgbClr val="2E86AB"/>
                  </a:solidFill>
                  <a:latin typeface="Consolas"/>
                  <a:ea typeface="Consolas"/>
                  <a:cs typeface="Consolas"/>
                </a:rPr>
                <a:t>0.55</a:t>
              </a:r>
            </a:p>
          </p:txBody>
        </p:sp>
        <p:sp>
          <p:nvSpPr>
            <p:cNvPr id="40" name="Line 40"/>
            <p:cNvSpPr/>
            <p:nvPr/>
          </p:nvSpPr>
          <p:spPr>
            <a:xfrm>
              <a:off x="609600" y="5372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5" name="interpret-note"/>
          <p:cNvGrpSpPr/>
          <p:nvPr/>
        </p:nvGrpSpPr>
        <p:grpSpPr>
          <a:xfrm>
            <a:off x="609600" y="5638800"/>
            <a:ext cx="10972800" cy="723900"/>
            <a:chOff x="609600" y="5638800"/>
            <a:chExt cx="10972800" cy="723900"/>
          </a:xfrm>
        </p:grpSpPr>
        <p:sp>
          <p:nvSpPr>
            <p:cNvPr id="42" name="Rectangle 42"/>
            <p:cNvSpPr/>
            <p:nvPr/>
          </p:nvSpPr>
          <p:spPr>
            <a:xfrm>
              <a:off x="609600" y="5638800"/>
              <a:ext cx="10972800" cy="723900"/>
            </a:xfrm>
            <a:prstGeom prst="roundRect">
              <a:avLst>
                <a:gd name="adj" fmla="val 13158"/>
              </a:avLst>
            </a:prstGeom>
            <a:solidFill>
              <a:srgbClr val="FFFFFF"/>
            </a:solidFill>
            <a:ln w="14288">
              <a:solidFill>
                <a:srgbClr val="B8CBD3"/>
              </a:solidFill>
            </a:ln>
          </p:spPr>
        </p:sp>
        <p:sp>
          <p:nvSpPr>
            <p:cNvPr id="43" name="TextBox 43"/>
            <p:cNvSpPr txBox="1"/>
            <p:nvPr/>
          </p:nvSpPr>
          <p:spPr>
            <a:xfrm>
              <a:off x="907542" y="5740718"/>
              <a:ext cx="508008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z değeri "kaç standart sapma uzakta" anlamına gelir —</a:t>
              </a:r>
            </a:p>
          </p:txBody>
        </p:sp>
        <p:sp>
          <p:nvSpPr>
            <p:cNvPr id="44" name="TextBox 44"/>
            <p:cNvSpPr txBox="1"/>
            <p:nvPr/>
          </p:nvSpPr>
          <p:spPr>
            <a:xfrm>
              <a:off x="907542" y="5988368"/>
              <a:ext cx="709237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#103'ün z=2.61 olması, geliri kırpmaya rağmen hâlâ yüksek kaldığını gösterir.</a:t>
              </a:r>
            </a:p>
          </p:txBody>
        </p:sp>
      </p:grpSp>
      <p:sp>
        <p:nvSpPr>
          <p:cNvPr id="46" name="TextBox 4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199502" cy="557403"/>
            <a:chOff x="595122" y="282892"/>
            <a:chExt cx="8199502" cy="557403"/>
          </a:xfrm>
        </p:grpSpPr>
        <p:sp>
          <p:nvSpPr>
            <p:cNvPr id="4" name="TextBox 4"/>
            <p:cNvSpPr txBox="1"/>
            <p:nvPr/>
          </p:nvSpPr>
          <p:spPr>
            <a:xfrm>
              <a:off x="595122" y="282892"/>
              <a:ext cx="819950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Ölçekleyici seçimi: hangi durumda hangisi?</a:t>
              </a:r>
            </a:p>
          </p:txBody>
        </p:sp>
      </p:grpSp>
      <p:grpSp>
        <p:nvGrpSpPr>
          <p:cNvPr id="21" name="scaler-standard"/>
          <p:cNvGrpSpPr/>
          <p:nvPr/>
        </p:nvGrpSpPr>
        <p:grpSpPr>
          <a:xfrm>
            <a:off x="609600" y="1257300"/>
            <a:ext cx="3352800" cy="3810000"/>
            <a:chOff x="609600" y="1257300"/>
            <a:chExt cx="3352800" cy="3810000"/>
          </a:xfrm>
        </p:grpSpPr>
        <p:sp>
          <p:nvSpPr>
            <p:cNvPr id="6" name="Rectangle 6"/>
            <p:cNvSpPr/>
            <p:nvPr/>
          </p:nvSpPr>
          <p:spPr>
            <a:xfrm>
              <a:off x="609600" y="1257300"/>
              <a:ext cx="3352800" cy="3810000"/>
            </a:xfrm>
            <a:prstGeom prst="roundRect">
              <a:avLst>
                <a:gd name="adj" fmla="val 2841"/>
              </a:avLst>
            </a:prstGeom>
            <a:solidFill>
              <a:srgbClr val="FFFFFF"/>
            </a:solidFill>
            <a:ln w="14288">
              <a:solidFill>
                <a:srgbClr val="B8CBD3"/>
              </a:solidFill>
            </a:ln>
          </p:spPr>
        </p:sp>
        <p:sp>
          <p:nvSpPr>
            <p:cNvPr id="7" name="Rectangle 7"/>
            <p:cNvSpPr/>
            <p:nvPr/>
          </p:nvSpPr>
          <p:spPr>
            <a:xfrm>
              <a:off x="609600" y="1257300"/>
              <a:ext cx="3352800" cy="495300"/>
            </a:xfrm>
            <a:prstGeom prst="roundRect">
              <a:avLst>
                <a:gd name="adj" fmla="val 19231"/>
              </a:avLst>
            </a:prstGeom>
            <a:solidFill>
              <a:srgbClr val="12355B"/>
            </a:solidFill>
            <a:ln>
              <a:noFill/>
            </a:ln>
          </p:spPr>
        </p:sp>
        <p:sp>
          <p:nvSpPr>
            <p:cNvPr id="8" name="Rectangle 8"/>
            <p:cNvSpPr/>
            <p:nvPr/>
          </p:nvSpPr>
          <p:spPr>
            <a:xfrm>
              <a:off x="609600" y="1504950"/>
              <a:ext cx="3352800" cy="247650"/>
            </a:xfrm>
            <a:prstGeom prst="rect">
              <a:avLst/>
            </a:prstGeom>
            <a:solidFill>
              <a:srgbClr val="12355B"/>
            </a:solidFill>
            <a:ln>
              <a:noFill/>
            </a:ln>
          </p:spPr>
        </p:sp>
        <p:sp>
          <p:nvSpPr>
            <p:cNvPr id="9" name="TextBox 9"/>
            <p:cNvSpPr txBox="1"/>
            <p:nvPr/>
          </p:nvSpPr>
          <p:spPr>
            <a:xfrm>
              <a:off x="830961" y="1408271"/>
              <a:ext cx="1521922"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StandardScaler</a:t>
              </a:r>
            </a:p>
          </p:txBody>
        </p:sp>
        <p:sp>
          <p:nvSpPr>
            <p:cNvPr id="10" name="TextBox 10"/>
            <p:cNvSpPr txBox="1"/>
            <p:nvPr/>
          </p:nvSpPr>
          <p:spPr>
            <a:xfrm>
              <a:off x="831723" y="1919764"/>
              <a:ext cx="1434541" cy="249364"/>
            </a:xfrm>
            <a:prstGeom prst="rect">
              <a:avLst/>
            </a:prstGeom>
            <a:noFill/>
            <a:ln>
              <a:noFill/>
            </a:ln>
          </p:spPr>
          <p:txBody>
            <a:bodyPr wrap="none" lIns="0" tIns="0" rIns="0" bIns="0" anchor="t" anchorCtr="0">
              <a:spAutoFit/>
            </a:bodyPr>
            <a:lstStyle/>
            <a:p>
              <a:pPr algn="l"/>
              <a:r>
                <a:rPr lang="el-GR" sz="1280" dirty="0">
                  <a:solidFill>
                    <a:srgbClr val="00A6A6"/>
                  </a:solidFill>
                  <a:latin typeface="Consolas"/>
                  <a:ea typeface="Consolas"/>
                  <a:cs typeface="Consolas"/>
                </a:rPr>
                <a:t>z = (x − μ) / σ</a:t>
              </a:r>
            </a:p>
          </p:txBody>
        </p:sp>
        <p:sp>
          <p:nvSpPr>
            <p:cNvPr id="11" name="TextBox 11"/>
            <p:cNvSpPr txBox="1"/>
            <p:nvPr/>
          </p:nvSpPr>
          <p:spPr>
            <a:xfrm>
              <a:off x="832104" y="2289810"/>
              <a:ext cx="17387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Ortalama 0, standart</a:t>
              </a:r>
            </a:p>
          </p:txBody>
        </p:sp>
        <p:sp>
          <p:nvSpPr>
            <p:cNvPr id="12" name="TextBox 12"/>
            <p:cNvSpPr txBox="1"/>
            <p:nvPr/>
          </p:nvSpPr>
          <p:spPr>
            <a:xfrm>
              <a:off x="832104" y="2499360"/>
              <a:ext cx="111876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sapma 1 yapar</a:t>
              </a:r>
            </a:p>
          </p:txBody>
        </p:sp>
        <p:sp>
          <p:nvSpPr>
            <p:cNvPr id="13" name="TextBox 13"/>
            <p:cNvSpPr txBox="1"/>
            <p:nvPr/>
          </p:nvSpPr>
          <p:spPr>
            <a:xfrm>
              <a:off x="832104" y="2842260"/>
              <a:ext cx="160376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Uygun olduğu durum</a:t>
              </a:r>
            </a:p>
          </p:txBody>
        </p:sp>
        <p:sp>
          <p:nvSpPr>
            <p:cNvPr id="14" name="TextBox 14"/>
            <p:cNvSpPr txBox="1"/>
            <p:nvPr/>
          </p:nvSpPr>
          <p:spPr>
            <a:xfrm>
              <a:off x="832104" y="3070860"/>
              <a:ext cx="179476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Normale yakın, aykırı</a:t>
              </a:r>
            </a:p>
          </p:txBody>
        </p:sp>
        <p:sp>
          <p:nvSpPr>
            <p:cNvPr id="15" name="TextBox 15"/>
            <p:cNvSpPr txBox="1"/>
            <p:nvPr/>
          </p:nvSpPr>
          <p:spPr>
            <a:xfrm>
              <a:off x="832104" y="3280410"/>
              <a:ext cx="14499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değeri az sütunlar</a:t>
              </a:r>
            </a:p>
          </p:txBody>
        </p:sp>
        <p:sp>
          <p:nvSpPr>
            <p:cNvPr id="16" name="TextBox 16"/>
            <p:cNvSpPr txBox="1"/>
            <p:nvPr/>
          </p:nvSpPr>
          <p:spPr>
            <a:xfrm>
              <a:off x="832104" y="3623310"/>
              <a:ext cx="90830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Zayıf yanı</a:t>
              </a:r>
            </a:p>
          </p:txBody>
        </p:sp>
        <p:sp>
          <p:nvSpPr>
            <p:cNvPr id="17" name="TextBox 17"/>
            <p:cNvSpPr txBox="1"/>
            <p:nvPr/>
          </p:nvSpPr>
          <p:spPr>
            <a:xfrm>
              <a:off x="832104" y="3851910"/>
              <a:ext cx="18509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Aykırı değerlere karşı</a:t>
              </a:r>
            </a:p>
          </p:txBody>
        </p:sp>
        <p:sp>
          <p:nvSpPr>
            <p:cNvPr id="18" name="TextBox 18"/>
            <p:cNvSpPr txBox="1"/>
            <p:nvPr/>
          </p:nvSpPr>
          <p:spPr>
            <a:xfrm>
              <a:off x="832104" y="4061460"/>
              <a:ext cx="1845716" cy="234696"/>
            </a:xfrm>
            <a:prstGeom prst="rect">
              <a:avLst/>
            </a:prstGeom>
            <a:noFill/>
            <a:ln>
              <a:noFill/>
            </a:ln>
          </p:spPr>
          <p:txBody>
            <a:bodyPr wrap="none" lIns="0" tIns="0" rIns="0" bIns="0" anchor="t" anchorCtr="0">
              <a:spAutoFit/>
            </a:bodyPr>
            <a:lstStyle/>
            <a:p>
              <a:pPr algn="l"/>
              <a:r>
                <a:rPr lang="el-GR" sz="1200" dirty="0">
                  <a:solidFill>
                    <a:srgbClr val="52616B"/>
                  </a:solidFill>
                  <a:latin typeface="+mn-lt"/>
                  <a:ea typeface="+mn-ea"/>
                  <a:cs typeface="+mn-cs"/>
                </a:rPr>
                <a:t>hassastır (μ, σ kayar)</a:t>
              </a:r>
            </a:p>
          </p:txBody>
        </p:sp>
        <p:sp>
          <p:nvSpPr>
            <p:cNvPr id="19" name="TextBox 19"/>
            <p:cNvSpPr txBox="1"/>
            <p:nvPr/>
          </p:nvSpPr>
          <p:spPr>
            <a:xfrm>
              <a:off x="832104" y="4404360"/>
              <a:ext cx="201239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Bu bölümde kullandığımız</a:t>
              </a:r>
            </a:p>
          </p:txBody>
        </p:sp>
        <p:sp>
          <p:nvSpPr>
            <p:cNvPr id="20" name="TextBox 20"/>
            <p:cNvSpPr txBox="1"/>
            <p:nvPr/>
          </p:nvSpPr>
          <p:spPr>
            <a:xfrm>
              <a:off x="832104" y="4613910"/>
              <a:ext cx="134493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mn-lt"/>
                  <a:ea typeface="+mn-ea"/>
                  <a:cs typeface="+mn-cs"/>
                </a:rPr>
                <a:t>varsayılan seçim</a:t>
              </a:r>
            </a:p>
          </p:txBody>
        </p:sp>
      </p:grpSp>
      <p:grpSp>
        <p:nvGrpSpPr>
          <p:cNvPr id="35" name="scaler-minmax"/>
          <p:cNvGrpSpPr/>
          <p:nvPr/>
        </p:nvGrpSpPr>
        <p:grpSpPr>
          <a:xfrm>
            <a:off x="4419600" y="1257300"/>
            <a:ext cx="3352800" cy="3810000"/>
            <a:chOff x="4419600" y="1257300"/>
            <a:chExt cx="3352800" cy="3810000"/>
          </a:xfrm>
        </p:grpSpPr>
        <p:sp>
          <p:nvSpPr>
            <p:cNvPr id="22" name="Rectangle 22"/>
            <p:cNvSpPr/>
            <p:nvPr/>
          </p:nvSpPr>
          <p:spPr>
            <a:xfrm>
              <a:off x="4419600" y="1257300"/>
              <a:ext cx="3352800" cy="3810000"/>
            </a:xfrm>
            <a:prstGeom prst="roundRect">
              <a:avLst>
                <a:gd name="adj" fmla="val 2841"/>
              </a:avLst>
            </a:prstGeom>
            <a:solidFill>
              <a:srgbClr val="FFFFFF"/>
            </a:solidFill>
            <a:ln w="14288">
              <a:solidFill>
                <a:srgbClr val="B8CBD3"/>
              </a:solidFill>
            </a:ln>
          </p:spPr>
        </p:sp>
        <p:sp>
          <p:nvSpPr>
            <p:cNvPr id="23" name="Rectangle 23"/>
            <p:cNvSpPr/>
            <p:nvPr/>
          </p:nvSpPr>
          <p:spPr>
            <a:xfrm>
              <a:off x="4419600" y="1257300"/>
              <a:ext cx="3352800" cy="495300"/>
            </a:xfrm>
            <a:prstGeom prst="roundRect">
              <a:avLst>
                <a:gd name="adj" fmla="val 19231"/>
              </a:avLst>
            </a:prstGeom>
            <a:solidFill>
              <a:srgbClr val="2E86AB"/>
            </a:solidFill>
            <a:ln>
              <a:noFill/>
            </a:ln>
          </p:spPr>
        </p:sp>
        <p:sp>
          <p:nvSpPr>
            <p:cNvPr id="24" name="Rectangle 24"/>
            <p:cNvSpPr/>
            <p:nvPr/>
          </p:nvSpPr>
          <p:spPr>
            <a:xfrm>
              <a:off x="4419600" y="1504950"/>
              <a:ext cx="3352800" cy="247650"/>
            </a:xfrm>
            <a:prstGeom prst="rect">
              <a:avLst/>
            </a:prstGeom>
            <a:solidFill>
              <a:srgbClr val="2E86AB"/>
            </a:solidFill>
            <a:ln>
              <a:noFill/>
            </a:ln>
          </p:spPr>
        </p:sp>
        <p:sp>
          <p:nvSpPr>
            <p:cNvPr id="25" name="TextBox 25"/>
            <p:cNvSpPr txBox="1"/>
            <p:nvPr/>
          </p:nvSpPr>
          <p:spPr>
            <a:xfrm>
              <a:off x="4640961" y="1408271"/>
              <a:ext cx="1337610" cy="278702"/>
            </a:xfrm>
            <a:prstGeom prst="rect">
              <a:avLst/>
            </a:prstGeom>
            <a:noFill/>
            <a:ln>
              <a:noFill/>
            </a:ln>
          </p:spPr>
          <p:txBody>
            <a:bodyPr wrap="none" lIns="0" tIns="0" rIns="0" bIns="0" anchor="t" anchorCtr="0">
              <a:spAutoFit/>
            </a:bodyPr>
            <a:lstStyle/>
            <a:p>
              <a:pPr algn="l"/>
              <a:r>
                <a:rPr lang="tr-TR" sz="1420" b="1" dirty="0">
                  <a:solidFill>
                    <a:srgbClr val="FFFFFF"/>
                  </a:solidFill>
                  <a:latin typeface="+mn-lt"/>
                  <a:ea typeface="+mn-ea"/>
                  <a:cs typeface="+mn-cs"/>
                </a:rPr>
                <a:t>MinMaxScaler</a:t>
              </a:r>
            </a:p>
          </p:txBody>
        </p:sp>
        <p:sp>
          <p:nvSpPr>
            <p:cNvPr id="26" name="TextBox 26"/>
            <p:cNvSpPr txBox="1"/>
            <p:nvPr/>
          </p:nvSpPr>
          <p:spPr>
            <a:xfrm>
              <a:off x="4641723" y="1919764"/>
              <a:ext cx="2097949"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x' = (x−min)/(max−min)</a:t>
              </a:r>
            </a:p>
          </p:txBody>
        </p:sp>
        <p:sp>
          <p:nvSpPr>
            <p:cNvPr id="27" name="TextBox 27"/>
            <p:cNvSpPr txBox="1"/>
            <p:nvPr/>
          </p:nvSpPr>
          <p:spPr>
            <a:xfrm>
              <a:off x="4642104" y="2289810"/>
              <a:ext cx="12801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Değerleri [0, 1]</a:t>
              </a:r>
            </a:p>
          </p:txBody>
        </p:sp>
        <p:sp>
          <p:nvSpPr>
            <p:cNvPr id="28" name="TextBox 28"/>
            <p:cNvSpPr txBox="1"/>
            <p:nvPr/>
          </p:nvSpPr>
          <p:spPr>
            <a:xfrm>
              <a:off x="4642104" y="2499360"/>
              <a:ext cx="170840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aralığına sıkıştırır</a:t>
              </a:r>
            </a:p>
          </p:txBody>
        </p:sp>
        <p:sp>
          <p:nvSpPr>
            <p:cNvPr id="29" name="TextBox 29"/>
            <p:cNvSpPr txBox="1"/>
            <p:nvPr/>
          </p:nvSpPr>
          <p:spPr>
            <a:xfrm>
              <a:off x="4642104" y="2842260"/>
              <a:ext cx="160376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Uygun olduğu durum</a:t>
              </a:r>
            </a:p>
          </p:txBody>
        </p:sp>
        <p:sp>
          <p:nvSpPr>
            <p:cNvPr id="30" name="TextBox 30"/>
            <p:cNvSpPr txBox="1"/>
            <p:nvPr/>
          </p:nvSpPr>
          <p:spPr>
            <a:xfrm>
              <a:off x="4642104" y="3070860"/>
              <a:ext cx="181040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Sınırlı aralık gereken</a:t>
              </a:r>
            </a:p>
          </p:txBody>
        </p:sp>
        <p:sp>
          <p:nvSpPr>
            <p:cNvPr id="31" name="TextBox 31"/>
            <p:cNvSpPr txBox="1"/>
            <p:nvPr/>
          </p:nvSpPr>
          <p:spPr>
            <a:xfrm>
              <a:off x="4642104" y="3280410"/>
              <a:ext cx="137723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sinir ağı girdileri</a:t>
              </a:r>
            </a:p>
          </p:txBody>
        </p:sp>
        <p:sp>
          <p:nvSpPr>
            <p:cNvPr id="32" name="TextBox 32"/>
            <p:cNvSpPr txBox="1"/>
            <p:nvPr/>
          </p:nvSpPr>
          <p:spPr>
            <a:xfrm>
              <a:off x="4642104" y="3623310"/>
              <a:ext cx="90830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Zayıf yanı</a:t>
              </a:r>
            </a:p>
          </p:txBody>
        </p:sp>
        <p:sp>
          <p:nvSpPr>
            <p:cNvPr id="33" name="TextBox 33"/>
            <p:cNvSpPr txBox="1"/>
            <p:nvPr/>
          </p:nvSpPr>
          <p:spPr>
            <a:xfrm>
              <a:off x="4642104" y="3851910"/>
              <a:ext cx="198050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Tek bir aykırı değer tüm</a:t>
              </a:r>
            </a:p>
          </p:txBody>
        </p:sp>
        <p:sp>
          <p:nvSpPr>
            <p:cNvPr id="34" name="TextBox 34"/>
            <p:cNvSpPr txBox="1"/>
            <p:nvPr/>
          </p:nvSpPr>
          <p:spPr>
            <a:xfrm>
              <a:off x="4642104" y="4061460"/>
              <a:ext cx="176494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aralığı sıkıştırabilir</a:t>
              </a:r>
            </a:p>
          </p:txBody>
        </p:sp>
      </p:grpSp>
      <p:grpSp>
        <p:nvGrpSpPr>
          <p:cNvPr id="49" name="scaler-robust"/>
          <p:cNvGrpSpPr/>
          <p:nvPr/>
        </p:nvGrpSpPr>
        <p:grpSpPr>
          <a:xfrm>
            <a:off x="8229600" y="1257300"/>
            <a:ext cx="3352800" cy="3810000"/>
            <a:chOff x="8229600" y="1257300"/>
            <a:chExt cx="3352800" cy="3810000"/>
          </a:xfrm>
        </p:grpSpPr>
        <p:sp>
          <p:nvSpPr>
            <p:cNvPr id="36" name="Rectangle 36"/>
            <p:cNvSpPr/>
            <p:nvPr/>
          </p:nvSpPr>
          <p:spPr>
            <a:xfrm>
              <a:off x="8229600" y="1257300"/>
              <a:ext cx="3352800" cy="3810000"/>
            </a:xfrm>
            <a:prstGeom prst="roundRect">
              <a:avLst>
                <a:gd name="adj" fmla="val 2841"/>
              </a:avLst>
            </a:prstGeom>
            <a:solidFill>
              <a:srgbClr val="FFFFFF"/>
            </a:solidFill>
            <a:ln w="14288">
              <a:solidFill>
                <a:srgbClr val="B8CBD3"/>
              </a:solidFill>
            </a:ln>
          </p:spPr>
        </p:sp>
        <p:sp>
          <p:nvSpPr>
            <p:cNvPr id="37" name="Rectangle 37"/>
            <p:cNvSpPr/>
            <p:nvPr/>
          </p:nvSpPr>
          <p:spPr>
            <a:xfrm>
              <a:off x="8229600" y="1257300"/>
              <a:ext cx="3352800" cy="495300"/>
            </a:xfrm>
            <a:prstGeom prst="roundRect">
              <a:avLst>
                <a:gd name="adj" fmla="val 19231"/>
              </a:avLst>
            </a:prstGeom>
            <a:solidFill>
              <a:srgbClr val="00A6A6"/>
            </a:solidFill>
            <a:ln>
              <a:noFill/>
            </a:ln>
          </p:spPr>
        </p:sp>
        <p:sp>
          <p:nvSpPr>
            <p:cNvPr id="38" name="Rectangle 38"/>
            <p:cNvSpPr/>
            <p:nvPr/>
          </p:nvSpPr>
          <p:spPr>
            <a:xfrm>
              <a:off x="8229600" y="1504950"/>
              <a:ext cx="3352800" cy="247650"/>
            </a:xfrm>
            <a:prstGeom prst="rect">
              <a:avLst/>
            </a:prstGeom>
            <a:solidFill>
              <a:srgbClr val="00A6A6"/>
            </a:solidFill>
            <a:ln>
              <a:noFill/>
            </a:ln>
          </p:spPr>
        </p:sp>
        <p:sp>
          <p:nvSpPr>
            <p:cNvPr id="39" name="TextBox 39"/>
            <p:cNvSpPr txBox="1"/>
            <p:nvPr/>
          </p:nvSpPr>
          <p:spPr>
            <a:xfrm>
              <a:off x="8450961" y="1408271"/>
              <a:ext cx="1301064"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RobustScaler</a:t>
              </a:r>
            </a:p>
          </p:txBody>
        </p:sp>
        <p:sp>
          <p:nvSpPr>
            <p:cNvPr id="40" name="TextBox 40"/>
            <p:cNvSpPr txBox="1"/>
            <p:nvPr/>
          </p:nvSpPr>
          <p:spPr>
            <a:xfrm>
              <a:off x="8451723" y="1919764"/>
              <a:ext cx="2226371"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x' = (x − medyan) / IQR</a:t>
              </a:r>
            </a:p>
          </p:txBody>
        </p:sp>
        <p:sp>
          <p:nvSpPr>
            <p:cNvPr id="41" name="TextBox 41"/>
            <p:cNvSpPr txBox="1"/>
            <p:nvPr/>
          </p:nvSpPr>
          <p:spPr>
            <a:xfrm>
              <a:off x="8452104" y="2289810"/>
              <a:ext cx="113330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Medyan ve IQR</a:t>
              </a:r>
            </a:p>
          </p:txBody>
        </p:sp>
        <p:sp>
          <p:nvSpPr>
            <p:cNvPr id="42" name="TextBox 42"/>
            <p:cNvSpPr txBox="1"/>
            <p:nvPr/>
          </p:nvSpPr>
          <p:spPr>
            <a:xfrm>
              <a:off x="8452104" y="2499360"/>
              <a:ext cx="642214"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kullanır</a:t>
              </a:r>
            </a:p>
          </p:txBody>
        </p:sp>
        <p:sp>
          <p:nvSpPr>
            <p:cNvPr id="43" name="TextBox 43"/>
            <p:cNvSpPr txBox="1"/>
            <p:nvPr/>
          </p:nvSpPr>
          <p:spPr>
            <a:xfrm>
              <a:off x="8452104" y="2842260"/>
              <a:ext cx="160376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Uygun olduğu durum</a:t>
              </a:r>
            </a:p>
          </p:txBody>
        </p:sp>
        <p:sp>
          <p:nvSpPr>
            <p:cNvPr id="44" name="TextBox 44"/>
            <p:cNvSpPr txBox="1"/>
            <p:nvPr/>
          </p:nvSpPr>
          <p:spPr>
            <a:xfrm>
              <a:off x="8452104" y="3070860"/>
              <a:ext cx="168105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Aykırı değeri bilerek</a:t>
              </a:r>
            </a:p>
          </p:txBody>
        </p:sp>
        <p:sp>
          <p:nvSpPr>
            <p:cNvPr id="45" name="TextBox 45"/>
            <p:cNvSpPr txBox="1"/>
            <p:nvPr/>
          </p:nvSpPr>
          <p:spPr>
            <a:xfrm>
              <a:off x="8452104" y="3280410"/>
              <a:ext cx="174071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koruduğumuz sütunlar</a:t>
              </a:r>
            </a:p>
          </p:txBody>
        </p:sp>
        <p:sp>
          <p:nvSpPr>
            <p:cNvPr id="46" name="TextBox 46"/>
            <p:cNvSpPr txBox="1"/>
            <p:nvPr/>
          </p:nvSpPr>
          <p:spPr>
            <a:xfrm>
              <a:off x="8452104" y="3623310"/>
              <a:ext cx="90830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Zayıf yanı</a:t>
              </a:r>
            </a:p>
          </p:txBody>
        </p:sp>
        <p:sp>
          <p:nvSpPr>
            <p:cNvPr id="47" name="TextBox 47"/>
            <p:cNvSpPr txBox="1"/>
            <p:nvPr/>
          </p:nvSpPr>
          <p:spPr>
            <a:xfrm>
              <a:off x="8452104" y="3851910"/>
              <a:ext cx="209337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Ortalama/varyansa dayalı</a:t>
              </a:r>
            </a:p>
          </p:txBody>
        </p:sp>
        <p:sp>
          <p:nvSpPr>
            <p:cNvPr id="48" name="TextBox 48"/>
            <p:cNvSpPr txBox="1"/>
            <p:nvPr/>
          </p:nvSpPr>
          <p:spPr>
            <a:xfrm>
              <a:off x="8452104" y="4061460"/>
              <a:ext cx="20153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modellerle daha az uyumlu</a:t>
              </a:r>
            </a:p>
          </p:txBody>
        </p:sp>
      </p:grpSp>
      <p:grpSp>
        <p:nvGrpSpPr>
          <p:cNvPr id="54" name="scaler-footer"/>
          <p:cNvGrpSpPr/>
          <p:nvPr/>
        </p:nvGrpSpPr>
        <p:grpSpPr>
          <a:xfrm>
            <a:off x="609600" y="5295900"/>
            <a:ext cx="10972800" cy="1028700"/>
            <a:chOff x="609600" y="5295900"/>
            <a:chExt cx="10972800" cy="1028700"/>
          </a:xfrm>
        </p:grpSpPr>
        <p:sp>
          <p:nvSpPr>
            <p:cNvPr id="50" name="Rectangle 50"/>
            <p:cNvSpPr/>
            <p:nvPr/>
          </p:nvSpPr>
          <p:spPr>
            <a:xfrm>
              <a:off x="609600" y="5295900"/>
              <a:ext cx="10972800" cy="1028700"/>
            </a:xfrm>
            <a:prstGeom prst="roundRect">
              <a:avLst>
                <a:gd name="adj" fmla="val 9259"/>
              </a:avLst>
            </a:prstGeom>
            <a:solidFill>
              <a:srgbClr val="EAF4F6"/>
            </a:solidFill>
            <a:ln>
              <a:noFill/>
            </a:ln>
          </p:spPr>
        </p:sp>
        <p:sp>
          <p:nvSpPr>
            <p:cNvPr id="51" name="TextBox 51"/>
            <p:cNvSpPr txBox="1"/>
            <p:nvPr/>
          </p:nvSpPr>
          <p:spPr>
            <a:xfrm>
              <a:off x="906399" y="5449729"/>
              <a:ext cx="567398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bölümde önce clip() ile aykırı değeri sınırlayıp,</a:t>
              </a:r>
            </a:p>
          </p:txBody>
        </p:sp>
        <p:sp>
          <p:nvSpPr>
            <p:cNvPr id="52" name="TextBox 52"/>
            <p:cNvSpPr txBox="1"/>
            <p:nvPr/>
          </p:nvSpPr>
          <p:spPr>
            <a:xfrm>
              <a:off x="906399" y="5716429"/>
              <a:ext cx="7389529"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ardından StandardScaler uyguluyoruz — bu sıralama, aykırı değerlerin</a:t>
              </a:r>
            </a:p>
          </p:txBody>
        </p:sp>
        <p:sp>
          <p:nvSpPr>
            <p:cNvPr id="53" name="TextBox 53"/>
            <p:cNvSpPr txBox="1"/>
            <p:nvPr/>
          </p:nvSpPr>
          <p:spPr>
            <a:xfrm>
              <a:off x="906399" y="5983129"/>
              <a:ext cx="5262188" cy="308039"/>
            </a:xfrm>
            <a:prstGeom prst="rect">
              <a:avLst/>
            </a:prstGeom>
            <a:noFill/>
            <a:ln>
              <a:noFill/>
            </a:ln>
          </p:spPr>
          <p:txBody>
            <a:bodyPr wrap="none" lIns="0" tIns="0" rIns="0" bIns="0" anchor="t" anchorCtr="0">
              <a:spAutoFit/>
            </a:bodyPr>
            <a:lstStyle/>
            <a:p>
              <a:pPr algn="l"/>
              <a:r>
                <a:rPr lang="tr-TR" sz="1580" dirty="0">
                  <a:solidFill>
                    <a:srgbClr val="172B3A"/>
                  </a:solidFill>
                  <a:latin typeface="+mn-lt"/>
                  <a:ea typeface="+mn-ea"/>
                  <a:cs typeface="+mn-cs"/>
                </a:rPr>
                <a:t>StandardScaler'ın hassasiyetini bozmasını önler.</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736596" cy="557403"/>
            <a:chOff x="595122" y="282892"/>
            <a:chExt cx="7736596" cy="557403"/>
          </a:xfrm>
        </p:grpSpPr>
        <p:sp>
          <p:nvSpPr>
            <p:cNvPr id="4" name="TextBox 4"/>
            <p:cNvSpPr txBox="1"/>
            <p:nvPr/>
          </p:nvSpPr>
          <p:spPr>
            <a:xfrm>
              <a:off x="595122" y="282892"/>
              <a:ext cx="773659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Kategorik veri neden sayıya dönüşmeli?</a:t>
              </a:r>
            </a:p>
          </p:txBody>
        </p:sp>
      </p:grpSp>
      <p:grpSp>
        <p:nvGrpSpPr>
          <p:cNvPr id="14" name="wrong-approach"/>
          <p:cNvGrpSpPr/>
          <p:nvPr/>
        </p:nvGrpSpPr>
        <p:grpSpPr>
          <a:xfrm>
            <a:off x="609600" y="1257300"/>
            <a:ext cx="5029200" cy="2095500"/>
            <a:chOff x="609600" y="1257300"/>
            <a:chExt cx="5029200" cy="2095500"/>
          </a:xfrm>
        </p:grpSpPr>
        <p:sp>
          <p:nvSpPr>
            <p:cNvPr id="6" name="Rectangle 6"/>
            <p:cNvSpPr/>
            <p:nvPr/>
          </p:nvSpPr>
          <p:spPr>
            <a:xfrm>
              <a:off x="609600" y="1257300"/>
              <a:ext cx="5029200" cy="2095500"/>
            </a:xfrm>
            <a:prstGeom prst="roundRect">
              <a:avLst>
                <a:gd name="adj" fmla="val 4545"/>
              </a:avLst>
            </a:prstGeom>
            <a:solidFill>
              <a:srgbClr val="FFFFFF"/>
            </a:solidFill>
            <a:ln w="14288">
              <a:solidFill>
                <a:srgbClr val="B8CBD3"/>
              </a:solidFill>
            </a:ln>
          </p:spPr>
        </p:sp>
        <p:sp>
          <p:nvSpPr>
            <p:cNvPr id="7" name="TextBox 7"/>
            <p:cNvSpPr txBox="1"/>
            <p:nvPr/>
          </p:nvSpPr>
          <p:spPr>
            <a:xfrm>
              <a:off x="868680" y="1419225"/>
              <a:ext cx="281399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 sehir sütununu doğrudan</a:t>
              </a:r>
            </a:p>
          </p:txBody>
        </p:sp>
        <p:sp>
          <p:nvSpPr>
            <p:cNvPr id="8" name="TextBox 8"/>
            <p:cNvSpPr txBox="1"/>
            <p:nvPr/>
          </p:nvSpPr>
          <p:spPr>
            <a:xfrm>
              <a:off x="868680" y="1666875"/>
              <a:ext cx="335855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sayıya çevirmek (LabelEncoder)</a:t>
              </a:r>
            </a:p>
          </p:txBody>
        </p:sp>
        <p:sp>
          <p:nvSpPr>
            <p:cNvPr id="9" name="TextBox 9"/>
            <p:cNvSpPr txBox="1"/>
            <p:nvPr/>
          </p:nvSpPr>
          <p:spPr>
            <a:xfrm>
              <a:off x="870204" y="2023110"/>
              <a:ext cx="301931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"Ankara"→0, "İzmir"→1, "İstanbul"→2</a:t>
              </a:r>
            </a:p>
          </p:txBody>
        </p:sp>
        <p:sp>
          <p:nvSpPr>
            <p:cNvPr id="10" name="TextBox 10"/>
            <p:cNvSpPr txBox="1"/>
            <p:nvPr/>
          </p:nvSpPr>
          <p:spPr>
            <a:xfrm>
              <a:off x="870204" y="2385060"/>
              <a:ext cx="247690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Model, İstanbul'un Ankara'nın</a:t>
              </a:r>
            </a:p>
          </p:txBody>
        </p:sp>
        <p:sp>
          <p:nvSpPr>
            <p:cNvPr id="11" name="TextBox 11"/>
            <p:cNvSpPr txBox="1"/>
            <p:nvPr/>
          </p:nvSpPr>
          <p:spPr>
            <a:xfrm>
              <a:off x="870204" y="2594610"/>
              <a:ext cx="253227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 katı" olduğunu sanır — oysa</a:t>
              </a:r>
            </a:p>
          </p:txBody>
        </p:sp>
        <p:sp>
          <p:nvSpPr>
            <p:cNvPr id="12" name="TextBox 12"/>
            <p:cNvSpPr txBox="1"/>
            <p:nvPr/>
          </p:nvSpPr>
          <p:spPr>
            <a:xfrm>
              <a:off x="870204" y="2804160"/>
              <a:ext cx="27342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şehirler arasında sıralama yoktur</a:t>
              </a:r>
            </a:p>
          </p:txBody>
        </p:sp>
        <p:sp>
          <p:nvSpPr>
            <p:cNvPr id="13" name="TextBox 13"/>
            <p:cNvSpPr txBox="1"/>
            <p:nvPr/>
          </p:nvSpPr>
          <p:spPr>
            <a:xfrm>
              <a:off x="870585" y="3078956"/>
              <a:ext cx="323046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(sıralı kategorilerde — küçük/orta/büyük —</a:t>
              </a:r>
            </a:p>
          </p:txBody>
        </p:sp>
      </p:grpSp>
      <p:grpSp>
        <p:nvGrpSpPr>
          <p:cNvPr id="23" name="right-approach"/>
          <p:cNvGrpSpPr/>
          <p:nvPr/>
        </p:nvGrpSpPr>
        <p:grpSpPr>
          <a:xfrm>
            <a:off x="6248400" y="1257300"/>
            <a:ext cx="5334000" cy="2095500"/>
            <a:chOff x="6248400" y="1257300"/>
            <a:chExt cx="5334000" cy="2095500"/>
          </a:xfrm>
        </p:grpSpPr>
        <p:sp>
          <p:nvSpPr>
            <p:cNvPr id="15" name="Rectangle 15"/>
            <p:cNvSpPr/>
            <p:nvPr/>
          </p:nvSpPr>
          <p:spPr>
            <a:xfrm>
              <a:off x="6248400" y="1257300"/>
              <a:ext cx="5334000" cy="2095500"/>
            </a:xfrm>
            <a:prstGeom prst="roundRect">
              <a:avLst>
                <a:gd name="adj" fmla="val 4545"/>
              </a:avLst>
            </a:prstGeom>
            <a:solidFill>
              <a:srgbClr val="FFFFFF"/>
            </a:solidFill>
            <a:ln w="19050">
              <a:solidFill>
                <a:srgbClr val="00A6A6"/>
              </a:solidFill>
            </a:ln>
          </p:spPr>
        </p:sp>
        <p:sp>
          <p:nvSpPr>
            <p:cNvPr id="16" name="TextBox 16"/>
            <p:cNvSpPr txBox="1"/>
            <p:nvPr/>
          </p:nvSpPr>
          <p:spPr>
            <a:xfrm>
              <a:off x="6507480" y="1419225"/>
              <a:ext cx="2179435"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 OneHotEncoder ile</a:t>
              </a:r>
            </a:p>
          </p:txBody>
        </p:sp>
        <p:sp>
          <p:nvSpPr>
            <p:cNvPr id="17" name="TextBox 17"/>
            <p:cNvSpPr txBox="1"/>
            <p:nvPr/>
          </p:nvSpPr>
          <p:spPr>
            <a:xfrm>
              <a:off x="6507480" y="1666875"/>
              <a:ext cx="3195638"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ikili (binary) sütunlar üretmek</a:t>
              </a:r>
            </a:p>
          </p:txBody>
        </p:sp>
        <p:sp>
          <p:nvSpPr>
            <p:cNvPr id="18" name="TextBox 18"/>
            <p:cNvSpPr txBox="1"/>
            <p:nvPr/>
          </p:nvSpPr>
          <p:spPr>
            <a:xfrm>
              <a:off x="6509004" y="2023110"/>
              <a:ext cx="342155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sehir_Ankara, sehir_İzmir, sehir_İstanbul</a:t>
              </a:r>
            </a:p>
          </p:txBody>
        </p:sp>
        <p:sp>
          <p:nvSpPr>
            <p:cNvPr id="19" name="TextBox 19"/>
            <p:cNvSpPr txBox="1"/>
            <p:nvPr/>
          </p:nvSpPr>
          <p:spPr>
            <a:xfrm>
              <a:off x="6509004" y="2385060"/>
              <a:ext cx="264299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şehir için 0/1 değerli ayrı bir</a:t>
              </a:r>
            </a:p>
          </p:txBody>
        </p:sp>
        <p:sp>
          <p:nvSpPr>
            <p:cNvPr id="20" name="TextBox 20"/>
            <p:cNvSpPr txBox="1"/>
            <p:nvPr/>
          </p:nvSpPr>
          <p:spPr>
            <a:xfrm>
              <a:off x="6509004" y="2594610"/>
              <a:ext cx="283921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 oluşur — kategoriler arasında</a:t>
              </a:r>
            </a:p>
          </p:txBody>
        </p:sp>
        <p:sp>
          <p:nvSpPr>
            <p:cNvPr id="21" name="TextBox 21"/>
            <p:cNvSpPr txBox="1"/>
            <p:nvPr/>
          </p:nvSpPr>
          <p:spPr>
            <a:xfrm>
              <a:off x="6509004" y="2804160"/>
              <a:ext cx="223342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sahte bir sıralama kurulmaz</a:t>
              </a:r>
            </a:p>
          </p:txBody>
        </p:sp>
        <p:sp>
          <p:nvSpPr>
            <p:cNvPr id="22" name="TextBox 22"/>
            <p:cNvSpPr txBox="1"/>
            <p:nvPr/>
          </p:nvSpPr>
          <p:spPr>
            <a:xfrm>
              <a:off x="6509385" y="3078956"/>
              <a:ext cx="3460963" cy="220028"/>
            </a:xfrm>
            <a:prstGeom prst="rect">
              <a:avLst/>
            </a:prstGeom>
            <a:noFill/>
            <a:ln>
              <a:noFill/>
            </a:ln>
          </p:spPr>
          <p:txBody>
            <a:bodyPr wrap="none" lIns="0" tIns="0" rIns="0" bIns="0" anchor="t" anchorCtr="0">
              <a:spAutoFit/>
            </a:bodyPr>
            <a:lstStyle/>
            <a:p>
              <a:pPr algn="l"/>
              <a:r>
                <a:rPr lang="tr-TR" sz="1120" dirty="0">
                  <a:solidFill>
                    <a:srgbClr val="00A6A6"/>
                  </a:solidFill>
                  <a:latin typeface="+mn-lt"/>
                  <a:ea typeface="+mn-ea"/>
                  <a:cs typeface="+mn-cs"/>
                </a:rPr>
                <a:t>LabelEncoder de OrdinalEncoder ile uygun olur)</a:t>
              </a:r>
            </a:p>
          </p:txBody>
        </p:sp>
      </p:grpSp>
      <p:grpSp>
        <p:nvGrpSpPr>
          <p:cNvPr id="29" name="code-onehot"/>
          <p:cNvGrpSpPr/>
          <p:nvPr/>
        </p:nvGrpSpPr>
        <p:grpSpPr>
          <a:xfrm>
            <a:off x="609600" y="3619500"/>
            <a:ext cx="10972800" cy="1219200"/>
            <a:chOff x="609600" y="3619500"/>
            <a:chExt cx="10972800" cy="1219200"/>
          </a:xfrm>
        </p:grpSpPr>
        <p:sp>
          <p:nvSpPr>
            <p:cNvPr id="24" name="Rectangle 24"/>
            <p:cNvSpPr/>
            <p:nvPr/>
          </p:nvSpPr>
          <p:spPr>
            <a:xfrm>
              <a:off x="609600" y="3619500"/>
              <a:ext cx="10972800" cy="1219200"/>
            </a:xfrm>
            <a:prstGeom prst="roundRect">
              <a:avLst>
                <a:gd name="adj" fmla="val 7812"/>
              </a:avLst>
            </a:prstGeom>
            <a:solidFill>
              <a:srgbClr val="12355B"/>
            </a:solidFill>
            <a:ln>
              <a:noFill/>
            </a:ln>
          </p:spPr>
        </p:sp>
        <p:sp>
          <p:nvSpPr>
            <p:cNvPr id="25" name="TextBox 25"/>
            <p:cNvSpPr txBox="1"/>
            <p:nvPr/>
          </p:nvSpPr>
          <p:spPr>
            <a:xfrm>
              <a:off x="907923" y="3824764"/>
              <a:ext cx="4581840"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encoder = OneHotEncoder(handle_unknown="ignore")</a:t>
              </a:r>
            </a:p>
          </p:txBody>
        </p:sp>
        <p:sp>
          <p:nvSpPr>
            <p:cNvPr id="26" name="TextBox 26"/>
            <p:cNvSpPr txBox="1"/>
            <p:nvPr/>
          </p:nvSpPr>
          <p:spPr>
            <a:xfrm>
              <a:off x="907923" y="4091464"/>
              <a:ext cx="5240571" cy="249364"/>
            </a:xfrm>
            <a:prstGeom prst="rect">
              <a:avLst/>
            </a:prstGeom>
            <a:noFill/>
            <a:ln>
              <a:noFill/>
            </a:ln>
          </p:spPr>
          <p:txBody>
            <a:bodyPr wrap="none" lIns="0" tIns="0" rIns="0" bIns="0" anchor="t" anchorCtr="0">
              <a:spAutoFit/>
            </a:bodyPr>
            <a:lstStyle/>
            <a:p>
              <a:pPr algn="l"/>
              <a:r>
                <a:rPr lang="tr-TR" sz="1280" dirty="0">
                  <a:solidFill>
                    <a:srgbClr val="FFFFFF"/>
                  </a:solidFill>
                  <a:latin typeface="Consolas"/>
                  <a:ea typeface="Consolas"/>
                  <a:cs typeface="Consolas"/>
                </a:rPr>
                <a:t>X_train_cat = encoder.fit_transform(X_train[["sehir"]])</a:t>
              </a:r>
            </a:p>
          </p:txBody>
        </p:sp>
        <p:sp>
          <p:nvSpPr>
            <p:cNvPr id="27" name="TextBox 27"/>
            <p:cNvSpPr txBox="1"/>
            <p:nvPr/>
          </p:nvSpPr>
          <p:spPr>
            <a:xfrm>
              <a:off x="907923" y="4358164"/>
              <a:ext cx="4672268"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Consolas"/>
                  <a:ea typeface="Consolas"/>
                  <a:cs typeface="Consolas"/>
                </a:rPr>
                <a:t>X_test_cat = encoder.transform(X_test[["sehir"]])</a:t>
              </a:r>
            </a:p>
          </p:txBody>
        </p:sp>
        <p:sp>
          <p:nvSpPr>
            <p:cNvPr id="28" name="TextBox 28"/>
            <p:cNvSpPr txBox="1"/>
            <p:nvPr/>
          </p:nvSpPr>
          <p:spPr>
            <a:xfrm>
              <a:off x="909066" y="4611052"/>
              <a:ext cx="7608284" cy="205359"/>
            </a:xfrm>
            <a:prstGeom prst="rect">
              <a:avLst/>
            </a:prstGeom>
            <a:noFill/>
            <a:ln>
              <a:noFill/>
            </a:ln>
          </p:spPr>
          <p:txBody>
            <a:bodyPr wrap="none" lIns="0" tIns="0" rIns="0" bIns="0" anchor="t" anchorCtr="0">
              <a:spAutoFit/>
            </a:bodyPr>
            <a:lstStyle/>
            <a:p>
              <a:pPr algn="l"/>
              <a:r>
                <a:rPr lang="tr-TR" sz="1050" dirty="0">
                  <a:solidFill>
                    <a:srgbClr val="B8CBD3"/>
                  </a:solidFill>
                  <a:latin typeface="+mn-lt"/>
                  <a:ea typeface="+mn-ea"/>
                  <a:cs typeface="+mn-cs"/>
                </a:rPr>
                <a:t>handle_unknown="ignore": eğitimde görülmeyen bir şehir test'te çıkarsa hata vermez, tüm sütunları 0 yapar</a:t>
              </a:r>
            </a:p>
          </p:txBody>
        </p:sp>
      </p:grpSp>
      <p:grpSp>
        <p:nvGrpSpPr>
          <p:cNvPr id="34" name="tip-note"/>
          <p:cNvGrpSpPr/>
          <p:nvPr/>
        </p:nvGrpSpPr>
        <p:grpSpPr>
          <a:xfrm>
            <a:off x="609600" y="5143500"/>
            <a:ext cx="10972800" cy="1028700"/>
            <a:chOff x="609600" y="5143500"/>
            <a:chExt cx="10972800" cy="1028700"/>
          </a:xfrm>
        </p:grpSpPr>
        <p:sp>
          <p:nvSpPr>
            <p:cNvPr id="30" name="Rectangle 30"/>
            <p:cNvSpPr/>
            <p:nvPr/>
          </p:nvSpPr>
          <p:spPr>
            <a:xfrm>
              <a:off x="609600" y="5143500"/>
              <a:ext cx="10972800" cy="1028700"/>
            </a:xfrm>
            <a:prstGeom prst="roundRect">
              <a:avLst>
                <a:gd name="adj" fmla="val 9259"/>
              </a:avLst>
            </a:prstGeom>
            <a:solidFill>
              <a:srgbClr val="EAF4F6"/>
            </a:solidFill>
            <a:ln>
              <a:noFill/>
            </a:ln>
          </p:spPr>
        </p:sp>
        <p:sp>
          <p:nvSpPr>
            <p:cNvPr id="31" name="TextBox 31"/>
            <p:cNvSpPr txBox="1"/>
            <p:nvPr/>
          </p:nvSpPr>
          <p:spPr>
            <a:xfrm>
              <a:off x="906399" y="5297329"/>
              <a:ext cx="634523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Sık hata: OneHotEncoder'a tek boyutlu (1-D) dizi vermek</a:t>
              </a:r>
            </a:p>
          </p:txBody>
        </p:sp>
        <p:sp>
          <p:nvSpPr>
            <p:cNvPr id="32" name="TextBox 32"/>
            <p:cNvSpPr txBox="1"/>
            <p:nvPr/>
          </p:nvSpPr>
          <p:spPr>
            <a:xfrm>
              <a:off x="907161" y="5580221"/>
              <a:ext cx="6633858"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X_train["sehir"] değil, X_train[["sehir"]] — çift köşeli parantez, 2-D</a:t>
              </a:r>
            </a:p>
          </p:txBody>
        </p:sp>
        <p:sp>
          <p:nvSpPr>
            <p:cNvPr id="33" name="TextBox 33"/>
            <p:cNvSpPr txBox="1"/>
            <p:nvPr/>
          </p:nvSpPr>
          <p:spPr>
            <a:xfrm>
              <a:off x="907161" y="5808821"/>
              <a:ext cx="5387167"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DataFrame üretir; encoder yalnızca 2-D girdi kabul eder.</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807464" cy="557403"/>
            <a:chOff x="595122" y="282892"/>
            <a:chExt cx="7807464" cy="557403"/>
          </a:xfrm>
        </p:grpSpPr>
        <p:sp>
          <p:nvSpPr>
            <p:cNvPr id="4" name="TextBox 4"/>
            <p:cNvSpPr txBox="1"/>
            <p:nvPr/>
          </p:nvSpPr>
          <p:spPr>
            <a:xfrm>
              <a:off x="595122" y="282892"/>
              <a:ext cx="78074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OneHotEncoder dönüşümü: önce / sonra</a:t>
              </a:r>
            </a:p>
          </p:txBody>
        </p:sp>
      </p:grpSp>
      <p:grpSp>
        <p:nvGrpSpPr>
          <p:cNvPr id="22" name="before-table"/>
          <p:cNvGrpSpPr/>
          <p:nvPr/>
        </p:nvGrpSpPr>
        <p:grpSpPr>
          <a:xfrm>
            <a:off x="830580" y="1362075"/>
            <a:ext cx="3208020" cy="2066925"/>
            <a:chOff x="830580" y="1362075"/>
            <a:chExt cx="3208020" cy="2066925"/>
          </a:xfrm>
        </p:grpSpPr>
        <p:sp>
          <p:nvSpPr>
            <p:cNvPr id="6" name="TextBox 6"/>
            <p:cNvSpPr txBox="1"/>
            <p:nvPr/>
          </p:nvSpPr>
          <p:spPr>
            <a:xfrm>
              <a:off x="830580" y="1362075"/>
              <a:ext cx="488299"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Önce</a:t>
              </a:r>
            </a:p>
          </p:txBody>
        </p:sp>
        <p:sp>
          <p:nvSpPr>
            <p:cNvPr id="7" name="Rectangle 7"/>
            <p:cNvSpPr/>
            <p:nvPr/>
          </p:nvSpPr>
          <p:spPr>
            <a:xfrm>
              <a:off x="838200" y="1676400"/>
              <a:ext cx="3200400" cy="381000"/>
            </a:xfrm>
            <a:prstGeom prst="rect">
              <a:avLst/>
            </a:prstGeom>
            <a:solidFill>
              <a:srgbClr val="12355B"/>
            </a:solidFill>
            <a:ln>
              <a:noFill/>
            </a:ln>
          </p:spPr>
        </p:sp>
        <p:sp>
          <p:nvSpPr>
            <p:cNvPr id="8" name="TextBox 8"/>
            <p:cNvSpPr txBox="1"/>
            <p:nvPr/>
          </p:nvSpPr>
          <p:spPr>
            <a:xfrm>
              <a:off x="1003554" y="1794510"/>
              <a:ext cx="661965"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Müşteri</a:t>
              </a:r>
            </a:p>
          </p:txBody>
        </p:sp>
        <p:sp>
          <p:nvSpPr>
            <p:cNvPr id="9" name="TextBox 9"/>
            <p:cNvSpPr txBox="1"/>
            <p:nvPr/>
          </p:nvSpPr>
          <p:spPr>
            <a:xfrm>
              <a:off x="2470404" y="1794510"/>
              <a:ext cx="436245" cy="234696"/>
            </a:xfrm>
            <a:prstGeom prst="rect">
              <a:avLst/>
            </a:prstGeom>
            <a:noFill/>
            <a:ln>
              <a:noFill/>
            </a:ln>
          </p:spPr>
          <p:txBody>
            <a:bodyPr wrap="none" lIns="0" tIns="0" rIns="0" bIns="0" anchor="t" anchorCtr="0">
              <a:spAutoFit/>
            </a:bodyPr>
            <a:lstStyle/>
            <a:p>
              <a:pPr algn="l"/>
              <a:r>
                <a:rPr lang="tr-TR" sz="1200" b="1" dirty="0">
                  <a:solidFill>
                    <a:srgbClr val="FFFFFF"/>
                  </a:solidFill>
                  <a:latin typeface="+mn-lt"/>
                  <a:ea typeface="+mn-ea"/>
                  <a:cs typeface="+mn-cs"/>
                </a:rPr>
                <a:t>sehir</a:t>
              </a:r>
            </a:p>
          </p:txBody>
        </p:sp>
        <p:sp>
          <p:nvSpPr>
            <p:cNvPr id="10" name="Rectangle 10"/>
            <p:cNvSpPr/>
            <p:nvPr/>
          </p:nvSpPr>
          <p:spPr>
            <a:xfrm>
              <a:off x="838200" y="2057400"/>
              <a:ext cx="3200400" cy="342900"/>
            </a:xfrm>
            <a:prstGeom prst="rect">
              <a:avLst/>
            </a:prstGeom>
            <a:solidFill>
              <a:srgbClr val="FFFFFF"/>
            </a:solidFill>
            <a:ln w="9525">
              <a:solidFill>
                <a:srgbClr val="B8CBD3"/>
              </a:solidFill>
            </a:ln>
          </p:spPr>
        </p:sp>
        <p:sp>
          <p:nvSpPr>
            <p:cNvPr id="11" name="TextBox 11"/>
            <p:cNvSpPr txBox="1"/>
            <p:nvPr/>
          </p:nvSpPr>
          <p:spPr>
            <a:xfrm>
              <a:off x="1003554" y="21564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#101</a:t>
              </a:r>
            </a:p>
          </p:txBody>
        </p:sp>
        <p:sp>
          <p:nvSpPr>
            <p:cNvPr id="12" name="TextBox 12"/>
            <p:cNvSpPr txBox="1"/>
            <p:nvPr/>
          </p:nvSpPr>
          <p:spPr>
            <a:xfrm>
              <a:off x="2470404" y="2156460"/>
              <a:ext cx="5503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Ankara</a:t>
              </a:r>
            </a:p>
          </p:txBody>
        </p:sp>
        <p:sp>
          <p:nvSpPr>
            <p:cNvPr id="13" name="Rectangle 13"/>
            <p:cNvSpPr/>
            <p:nvPr/>
          </p:nvSpPr>
          <p:spPr>
            <a:xfrm>
              <a:off x="838200" y="2400300"/>
              <a:ext cx="3200400" cy="342900"/>
            </a:xfrm>
            <a:prstGeom prst="rect">
              <a:avLst/>
            </a:prstGeom>
            <a:solidFill>
              <a:srgbClr val="FFFFFF"/>
            </a:solidFill>
            <a:ln w="9525">
              <a:solidFill>
                <a:srgbClr val="B8CBD3"/>
              </a:solidFill>
            </a:ln>
          </p:spPr>
        </p:sp>
        <p:sp>
          <p:nvSpPr>
            <p:cNvPr id="14" name="TextBox 14"/>
            <p:cNvSpPr txBox="1"/>
            <p:nvPr/>
          </p:nvSpPr>
          <p:spPr>
            <a:xfrm>
              <a:off x="1003554" y="24993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#102</a:t>
              </a:r>
            </a:p>
          </p:txBody>
        </p:sp>
        <p:sp>
          <p:nvSpPr>
            <p:cNvPr id="15" name="TextBox 15"/>
            <p:cNvSpPr txBox="1"/>
            <p:nvPr/>
          </p:nvSpPr>
          <p:spPr>
            <a:xfrm>
              <a:off x="2470404" y="2499360"/>
              <a:ext cx="45329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İzmir</a:t>
              </a:r>
            </a:p>
          </p:txBody>
        </p:sp>
        <p:sp>
          <p:nvSpPr>
            <p:cNvPr id="16" name="Rectangle 16"/>
            <p:cNvSpPr/>
            <p:nvPr/>
          </p:nvSpPr>
          <p:spPr>
            <a:xfrm>
              <a:off x="838200" y="2743200"/>
              <a:ext cx="3200400" cy="342900"/>
            </a:xfrm>
            <a:prstGeom prst="rect">
              <a:avLst/>
            </a:prstGeom>
            <a:solidFill>
              <a:srgbClr val="FFFFFF"/>
            </a:solidFill>
            <a:ln w="9525">
              <a:solidFill>
                <a:srgbClr val="B8CBD3"/>
              </a:solidFill>
            </a:ln>
          </p:spPr>
        </p:sp>
        <p:sp>
          <p:nvSpPr>
            <p:cNvPr id="17" name="TextBox 17"/>
            <p:cNvSpPr txBox="1"/>
            <p:nvPr/>
          </p:nvSpPr>
          <p:spPr>
            <a:xfrm>
              <a:off x="1003554" y="28422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#103</a:t>
              </a:r>
            </a:p>
          </p:txBody>
        </p:sp>
        <p:sp>
          <p:nvSpPr>
            <p:cNvPr id="18" name="TextBox 18"/>
            <p:cNvSpPr txBox="1"/>
            <p:nvPr/>
          </p:nvSpPr>
          <p:spPr>
            <a:xfrm>
              <a:off x="2470404" y="2842260"/>
              <a:ext cx="6873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İstanbul</a:t>
              </a:r>
            </a:p>
          </p:txBody>
        </p:sp>
        <p:sp>
          <p:nvSpPr>
            <p:cNvPr id="19" name="Rectangle 19"/>
            <p:cNvSpPr/>
            <p:nvPr/>
          </p:nvSpPr>
          <p:spPr>
            <a:xfrm>
              <a:off x="838200" y="3086100"/>
              <a:ext cx="3200400" cy="342900"/>
            </a:xfrm>
            <a:prstGeom prst="rect">
              <a:avLst/>
            </a:prstGeom>
            <a:solidFill>
              <a:srgbClr val="FFFFFF"/>
            </a:solidFill>
            <a:ln w="9525">
              <a:solidFill>
                <a:srgbClr val="B8CBD3"/>
              </a:solidFill>
            </a:ln>
          </p:spPr>
        </p:sp>
        <p:sp>
          <p:nvSpPr>
            <p:cNvPr id="20" name="TextBox 20"/>
            <p:cNvSpPr txBox="1"/>
            <p:nvPr/>
          </p:nvSpPr>
          <p:spPr>
            <a:xfrm>
              <a:off x="1003554" y="31851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#104</a:t>
              </a:r>
            </a:p>
          </p:txBody>
        </p:sp>
        <p:sp>
          <p:nvSpPr>
            <p:cNvPr id="21" name="TextBox 21"/>
            <p:cNvSpPr txBox="1"/>
            <p:nvPr/>
          </p:nvSpPr>
          <p:spPr>
            <a:xfrm>
              <a:off x="2470404" y="3185160"/>
              <a:ext cx="55031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Ankara</a:t>
              </a:r>
            </a:p>
          </p:txBody>
        </p:sp>
      </p:grpSp>
      <p:sp>
        <p:nvSpPr>
          <p:cNvPr id="23" name="Line 23"/>
          <p:cNvSpPr/>
          <p:nvPr/>
        </p:nvSpPr>
        <p:spPr>
          <a:xfrm>
            <a:off x="4572000" y="2590800"/>
            <a:ext cx="685800" cy="1"/>
          </a:xfrm>
          <a:prstGeom prst="line">
            <a:avLst/>
          </a:prstGeom>
          <a:noFill/>
          <a:ln w="23812">
            <a:solidFill>
              <a:srgbClr val="00A6A6"/>
            </a:solidFill>
            <a:tailEnd type="arrow" w="lg" len="lg"/>
          </a:ln>
        </p:spPr>
      </p:sp>
      <p:grpSp>
        <p:nvGrpSpPr>
          <p:cNvPr id="50" name="after-table"/>
          <p:cNvGrpSpPr/>
          <p:nvPr/>
        </p:nvGrpSpPr>
        <p:grpSpPr>
          <a:xfrm>
            <a:off x="5631180" y="1362075"/>
            <a:ext cx="5650960" cy="2066925"/>
            <a:chOff x="5631180" y="1362075"/>
            <a:chExt cx="5650960" cy="2066925"/>
          </a:xfrm>
        </p:grpSpPr>
        <p:sp>
          <p:nvSpPr>
            <p:cNvPr id="24" name="TextBox 24"/>
            <p:cNvSpPr txBox="1"/>
            <p:nvPr/>
          </p:nvSpPr>
          <p:spPr>
            <a:xfrm>
              <a:off x="5631180" y="1362075"/>
              <a:ext cx="60491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Sonra</a:t>
              </a:r>
            </a:p>
          </p:txBody>
        </p:sp>
        <p:sp>
          <p:nvSpPr>
            <p:cNvPr id="25" name="Rectangle 25"/>
            <p:cNvSpPr/>
            <p:nvPr/>
          </p:nvSpPr>
          <p:spPr>
            <a:xfrm>
              <a:off x="5638800" y="1676400"/>
              <a:ext cx="5257800" cy="381000"/>
            </a:xfrm>
            <a:prstGeom prst="rect">
              <a:avLst/>
            </a:prstGeom>
            <a:solidFill>
              <a:srgbClr val="00A6A6"/>
            </a:solidFill>
            <a:ln>
              <a:noFill/>
            </a:ln>
          </p:spPr>
        </p:sp>
        <p:sp>
          <p:nvSpPr>
            <p:cNvPr id="26" name="TextBox 26"/>
            <p:cNvSpPr txBox="1"/>
            <p:nvPr/>
          </p:nvSpPr>
          <p:spPr>
            <a:xfrm>
              <a:off x="5785485" y="1802606"/>
              <a:ext cx="617884"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Müşteri</a:t>
              </a:r>
            </a:p>
          </p:txBody>
        </p:sp>
        <p:sp>
          <p:nvSpPr>
            <p:cNvPr id="27" name="TextBox 27"/>
            <p:cNvSpPr txBox="1"/>
            <p:nvPr/>
          </p:nvSpPr>
          <p:spPr>
            <a:xfrm>
              <a:off x="7023735" y="1802606"/>
              <a:ext cx="1021891"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sehir_Ankara</a:t>
              </a:r>
            </a:p>
          </p:txBody>
        </p:sp>
        <p:sp>
          <p:nvSpPr>
            <p:cNvPr id="28" name="TextBox 28"/>
            <p:cNvSpPr txBox="1"/>
            <p:nvPr/>
          </p:nvSpPr>
          <p:spPr>
            <a:xfrm>
              <a:off x="8833485" y="1802606"/>
              <a:ext cx="926883"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sehir_İzmir</a:t>
              </a:r>
            </a:p>
          </p:txBody>
        </p:sp>
        <p:sp>
          <p:nvSpPr>
            <p:cNvPr id="29" name="TextBox 29"/>
            <p:cNvSpPr txBox="1"/>
            <p:nvPr/>
          </p:nvSpPr>
          <p:spPr>
            <a:xfrm>
              <a:off x="10433685" y="1802606"/>
              <a:ext cx="848455"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sehir_İst.</a:t>
              </a:r>
            </a:p>
          </p:txBody>
        </p:sp>
        <p:sp>
          <p:nvSpPr>
            <p:cNvPr id="30" name="Rectangle 30"/>
            <p:cNvSpPr/>
            <p:nvPr/>
          </p:nvSpPr>
          <p:spPr>
            <a:xfrm>
              <a:off x="5638800" y="2057400"/>
              <a:ext cx="5257800" cy="342900"/>
            </a:xfrm>
            <a:prstGeom prst="rect">
              <a:avLst/>
            </a:prstGeom>
            <a:solidFill>
              <a:srgbClr val="EAF4F6"/>
            </a:solidFill>
            <a:ln>
              <a:noFill/>
            </a:ln>
          </p:spPr>
        </p:sp>
        <p:sp>
          <p:nvSpPr>
            <p:cNvPr id="31" name="TextBox 31"/>
            <p:cNvSpPr txBox="1"/>
            <p:nvPr/>
          </p:nvSpPr>
          <p:spPr>
            <a:xfrm>
              <a:off x="5785104" y="21564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#101</a:t>
              </a:r>
            </a:p>
          </p:txBody>
        </p:sp>
        <p:sp>
          <p:nvSpPr>
            <p:cNvPr id="32" name="TextBox 32"/>
            <p:cNvSpPr txBox="1"/>
            <p:nvPr/>
          </p:nvSpPr>
          <p:spPr>
            <a:xfrm>
              <a:off x="7331354" y="21564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1</a:t>
              </a:r>
            </a:p>
          </p:txBody>
        </p:sp>
        <p:sp>
          <p:nvSpPr>
            <p:cNvPr id="33" name="TextBox 33"/>
            <p:cNvSpPr txBox="1"/>
            <p:nvPr/>
          </p:nvSpPr>
          <p:spPr>
            <a:xfrm>
              <a:off x="9093479" y="21564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sp>
          <p:nvSpPr>
            <p:cNvPr id="34" name="TextBox 34"/>
            <p:cNvSpPr txBox="1"/>
            <p:nvPr/>
          </p:nvSpPr>
          <p:spPr>
            <a:xfrm>
              <a:off x="10693679" y="21564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sp>
          <p:nvSpPr>
            <p:cNvPr id="35" name="Rectangle 35"/>
            <p:cNvSpPr/>
            <p:nvPr/>
          </p:nvSpPr>
          <p:spPr>
            <a:xfrm>
              <a:off x="5638800" y="2400300"/>
              <a:ext cx="5257800" cy="342900"/>
            </a:xfrm>
            <a:prstGeom prst="rect">
              <a:avLst/>
            </a:prstGeom>
            <a:solidFill>
              <a:srgbClr val="EAF4F6"/>
            </a:solidFill>
            <a:ln>
              <a:noFill/>
            </a:ln>
          </p:spPr>
        </p:sp>
        <p:sp>
          <p:nvSpPr>
            <p:cNvPr id="36" name="TextBox 36"/>
            <p:cNvSpPr txBox="1"/>
            <p:nvPr/>
          </p:nvSpPr>
          <p:spPr>
            <a:xfrm>
              <a:off x="5785104" y="24993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#102</a:t>
              </a:r>
            </a:p>
          </p:txBody>
        </p:sp>
        <p:sp>
          <p:nvSpPr>
            <p:cNvPr id="37" name="TextBox 37"/>
            <p:cNvSpPr txBox="1"/>
            <p:nvPr/>
          </p:nvSpPr>
          <p:spPr>
            <a:xfrm>
              <a:off x="7331354" y="24993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sp>
          <p:nvSpPr>
            <p:cNvPr id="38" name="TextBox 38"/>
            <p:cNvSpPr txBox="1"/>
            <p:nvPr/>
          </p:nvSpPr>
          <p:spPr>
            <a:xfrm>
              <a:off x="9093479" y="24993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1</a:t>
              </a:r>
            </a:p>
          </p:txBody>
        </p:sp>
        <p:sp>
          <p:nvSpPr>
            <p:cNvPr id="39" name="TextBox 39"/>
            <p:cNvSpPr txBox="1"/>
            <p:nvPr/>
          </p:nvSpPr>
          <p:spPr>
            <a:xfrm>
              <a:off x="10693679" y="24993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sp>
          <p:nvSpPr>
            <p:cNvPr id="40" name="Rectangle 40"/>
            <p:cNvSpPr/>
            <p:nvPr/>
          </p:nvSpPr>
          <p:spPr>
            <a:xfrm>
              <a:off x="5638800" y="2743200"/>
              <a:ext cx="5257800" cy="342900"/>
            </a:xfrm>
            <a:prstGeom prst="rect">
              <a:avLst/>
            </a:prstGeom>
            <a:solidFill>
              <a:srgbClr val="EAF4F6"/>
            </a:solidFill>
            <a:ln>
              <a:noFill/>
            </a:ln>
          </p:spPr>
        </p:sp>
        <p:sp>
          <p:nvSpPr>
            <p:cNvPr id="41" name="TextBox 41"/>
            <p:cNvSpPr txBox="1"/>
            <p:nvPr/>
          </p:nvSpPr>
          <p:spPr>
            <a:xfrm>
              <a:off x="5785104" y="28422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#103</a:t>
              </a:r>
            </a:p>
          </p:txBody>
        </p:sp>
        <p:sp>
          <p:nvSpPr>
            <p:cNvPr id="42" name="TextBox 42"/>
            <p:cNvSpPr txBox="1"/>
            <p:nvPr/>
          </p:nvSpPr>
          <p:spPr>
            <a:xfrm>
              <a:off x="7331354" y="28422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sp>
          <p:nvSpPr>
            <p:cNvPr id="43" name="TextBox 43"/>
            <p:cNvSpPr txBox="1"/>
            <p:nvPr/>
          </p:nvSpPr>
          <p:spPr>
            <a:xfrm>
              <a:off x="9093479" y="28422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sp>
          <p:nvSpPr>
            <p:cNvPr id="44" name="TextBox 44"/>
            <p:cNvSpPr txBox="1"/>
            <p:nvPr/>
          </p:nvSpPr>
          <p:spPr>
            <a:xfrm>
              <a:off x="10693679" y="28422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1</a:t>
              </a:r>
            </a:p>
          </p:txBody>
        </p:sp>
        <p:sp>
          <p:nvSpPr>
            <p:cNvPr id="45" name="Rectangle 45"/>
            <p:cNvSpPr/>
            <p:nvPr/>
          </p:nvSpPr>
          <p:spPr>
            <a:xfrm>
              <a:off x="5638800" y="3086100"/>
              <a:ext cx="5257800" cy="342900"/>
            </a:xfrm>
            <a:prstGeom prst="rect">
              <a:avLst/>
            </a:prstGeom>
            <a:solidFill>
              <a:srgbClr val="EAF4F6"/>
            </a:solidFill>
            <a:ln>
              <a:noFill/>
            </a:ln>
          </p:spPr>
        </p:sp>
        <p:sp>
          <p:nvSpPr>
            <p:cNvPr id="46" name="TextBox 46"/>
            <p:cNvSpPr txBox="1"/>
            <p:nvPr/>
          </p:nvSpPr>
          <p:spPr>
            <a:xfrm>
              <a:off x="5785104" y="3185160"/>
              <a:ext cx="3675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#104</a:t>
              </a:r>
            </a:p>
          </p:txBody>
        </p:sp>
        <p:sp>
          <p:nvSpPr>
            <p:cNvPr id="47" name="TextBox 47"/>
            <p:cNvSpPr txBox="1"/>
            <p:nvPr/>
          </p:nvSpPr>
          <p:spPr>
            <a:xfrm>
              <a:off x="7331354" y="31851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1</a:t>
              </a:r>
            </a:p>
          </p:txBody>
        </p:sp>
        <p:sp>
          <p:nvSpPr>
            <p:cNvPr id="48" name="TextBox 48"/>
            <p:cNvSpPr txBox="1"/>
            <p:nvPr/>
          </p:nvSpPr>
          <p:spPr>
            <a:xfrm>
              <a:off x="9093479" y="31851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sp>
          <p:nvSpPr>
            <p:cNvPr id="49" name="TextBox 49"/>
            <p:cNvSpPr txBox="1"/>
            <p:nvPr/>
          </p:nvSpPr>
          <p:spPr>
            <a:xfrm>
              <a:off x="10693679" y="3185160"/>
              <a:ext cx="101041" cy="234696"/>
            </a:xfrm>
            <a:prstGeom prst="rect">
              <a:avLst/>
            </a:prstGeom>
            <a:noFill/>
            <a:ln>
              <a:noFill/>
            </a:ln>
          </p:spPr>
          <p:txBody>
            <a:bodyPr wrap="none" lIns="0" tIns="0" rIns="0" bIns="0" anchor="t" anchorCtr="0">
              <a:spAutoFit/>
            </a:bodyPr>
            <a:lstStyle/>
            <a:p>
              <a:pPr algn="ctr"/>
              <a:r>
                <a:rPr lang="tr-TR" sz="1200" dirty="0">
                  <a:solidFill>
                    <a:srgbClr val="12355B"/>
                  </a:solidFill>
                  <a:latin typeface="Consolas"/>
                  <a:ea typeface="Consolas"/>
                  <a:cs typeface="Consolas"/>
                </a:rPr>
                <a:t>0</a:t>
              </a:r>
            </a:p>
          </p:txBody>
        </p:sp>
      </p:grpSp>
      <p:grpSp>
        <p:nvGrpSpPr>
          <p:cNvPr id="55" name="drop-note"/>
          <p:cNvGrpSpPr/>
          <p:nvPr/>
        </p:nvGrpSpPr>
        <p:grpSpPr>
          <a:xfrm>
            <a:off x="609600" y="4305300"/>
            <a:ext cx="10972800" cy="1028700"/>
            <a:chOff x="609600" y="4305300"/>
            <a:chExt cx="10972800" cy="1028700"/>
          </a:xfrm>
        </p:grpSpPr>
        <p:sp>
          <p:nvSpPr>
            <p:cNvPr id="51" name="Rectangle 51"/>
            <p:cNvSpPr/>
            <p:nvPr/>
          </p:nvSpPr>
          <p:spPr>
            <a:xfrm>
              <a:off x="609600" y="4305300"/>
              <a:ext cx="10972800" cy="1028700"/>
            </a:xfrm>
            <a:prstGeom prst="roundRect">
              <a:avLst>
                <a:gd name="adj" fmla="val 9259"/>
              </a:avLst>
            </a:prstGeom>
            <a:solidFill>
              <a:srgbClr val="FFFFFF"/>
            </a:solidFill>
            <a:ln w="14288">
              <a:solidFill>
                <a:srgbClr val="B8CBD3"/>
              </a:solidFill>
            </a:ln>
          </p:spPr>
        </p:sp>
        <p:sp>
          <p:nvSpPr>
            <p:cNvPr id="52" name="TextBox 52"/>
            <p:cNvSpPr txBox="1"/>
            <p:nvPr/>
          </p:nvSpPr>
          <p:spPr>
            <a:xfrm>
              <a:off x="906399" y="4459129"/>
              <a:ext cx="242801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drop="first" seçeneği</a:t>
              </a:r>
            </a:p>
          </p:txBody>
        </p:sp>
        <p:sp>
          <p:nvSpPr>
            <p:cNvPr id="53" name="TextBox 53"/>
            <p:cNvSpPr txBox="1"/>
            <p:nvPr/>
          </p:nvSpPr>
          <p:spPr>
            <a:xfrm>
              <a:off x="907161" y="4742021"/>
              <a:ext cx="6615632"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İlk kategoriyi çıkarıp çok eşdoğrusallığı (multicollinearity) azaltır —</a:t>
              </a:r>
            </a:p>
          </p:txBody>
        </p:sp>
        <p:sp>
          <p:nvSpPr>
            <p:cNvPr id="54" name="TextBox 54"/>
            <p:cNvSpPr txBox="1"/>
            <p:nvPr/>
          </p:nvSpPr>
          <p:spPr>
            <a:xfrm>
              <a:off x="907161" y="4989671"/>
              <a:ext cx="502288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doğrusal modellerde (lojistik regresyon gibi) önerilir.</a:t>
              </a:r>
            </a:p>
          </p:txBody>
        </p:sp>
      </p:grpSp>
      <p:grpSp>
        <p:nvGrpSpPr>
          <p:cNvPr id="59" name="cardinality-note"/>
          <p:cNvGrpSpPr/>
          <p:nvPr/>
        </p:nvGrpSpPr>
        <p:grpSpPr>
          <a:xfrm>
            <a:off x="609600" y="5524500"/>
            <a:ext cx="10972800" cy="876300"/>
            <a:chOff x="609600" y="5524500"/>
            <a:chExt cx="10972800" cy="876300"/>
          </a:xfrm>
        </p:grpSpPr>
        <p:sp>
          <p:nvSpPr>
            <p:cNvPr id="56" name="Rectangle 56"/>
            <p:cNvSpPr/>
            <p:nvPr/>
          </p:nvSpPr>
          <p:spPr>
            <a:xfrm>
              <a:off x="609600" y="5524500"/>
              <a:ext cx="10972800" cy="876300"/>
            </a:xfrm>
            <a:prstGeom prst="roundRect">
              <a:avLst>
                <a:gd name="adj" fmla="val 10870"/>
              </a:avLst>
            </a:prstGeom>
            <a:solidFill>
              <a:srgbClr val="EAF4F6"/>
            </a:solidFill>
            <a:ln>
              <a:noFill/>
            </a:ln>
          </p:spPr>
        </p:sp>
        <p:sp>
          <p:nvSpPr>
            <p:cNvPr id="57" name="TextBox 57"/>
            <p:cNvSpPr txBox="1"/>
            <p:nvPr/>
          </p:nvSpPr>
          <p:spPr>
            <a:xfrm>
              <a:off x="907161" y="5675471"/>
              <a:ext cx="6547195" cy="278702"/>
            </a:xfrm>
            <a:prstGeom prst="rect">
              <a:avLst/>
            </a:prstGeom>
            <a:noFill/>
            <a:ln>
              <a:noFill/>
            </a:ln>
          </p:spPr>
          <p:txBody>
            <a:bodyPr wrap="none" lIns="0" tIns="0" rIns="0" bIns="0" anchor="t" anchorCtr="0">
              <a:spAutoFit/>
            </a:bodyPr>
            <a:lstStyle/>
            <a:p>
              <a:pPr algn="l"/>
              <a:r>
                <a:rPr lang="tr-TR" sz="1420" b="1" dirty="0">
                  <a:solidFill>
                    <a:srgbClr val="12355B"/>
                  </a:solidFill>
                  <a:latin typeface="+mn-lt"/>
                  <a:ea typeface="+mn-ea"/>
                  <a:cs typeface="+mn-cs"/>
                </a:rPr>
                <a:t>Yüksek kardinaliteli sütunlarda (yüzlerce benzersiz değer) OneHot</a:t>
              </a:r>
            </a:p>
          </p:txBody>
        </p:sp>
        <p:sp>
          <p:nvSpPr>
            <p:cNvPr id="58" name="TextBox 58"/>
            <p:cNvSpPr txBox="1"/>
            <p:nvPr/>
          </p:nvSpPr>
          <p:spPr>
            <a:xfrm>
              <a:off x="907161" y="5923121"/>
              <a:ext cx="828216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sütun sayısını patlatabilir — bu durumda hedef kodlama (target encoding) düşünülebilir.</a:t>
              </a:r>
            </a:p>
          </p:txBody>
        </p:sp>
      </p:grpSp>
      <p:sp>
        <p:nvSpPr>
          <p:cNvPr id="60" name="TextBox 6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8381841" cy="557403"/>
            <a:chOff x="595122" y="282892"/>
            <a:chExt cx="8381841" cy="557403"/>
          </a:xfrm>
        </p:grpSpPr>
        <p:sp>
          <p:nvSpPr>
            <p:cNvPr id="4" name="TextBox 4"/>
            <p:cNvSpPr txBox="1"/>
            <p:nvPr/>
          </p:nvSpPr>
          <p:spPr>
            <a:xfrm>
              <a:off x="595122" y="282892"/>
              <a:ext cx="838184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Eğitim-test ayrımı: her şeyden önce gelir</a:t>
              </a:r>
            </a:p>
          </p:txBody>
        </p:sp>
      </p:grpSp>
      <p:grpSp>
        <p:nvGrpSpPr>
          <p:cNvPr id="14" name="split-visual"/>
          <p:cNvGrpSpPr/>
          <p:nvPr/>
        </p:nvGrpSpPr>
        <p:grpSpPr>
          <a:xfrm>
            <a:off x="603504" y="1257300"/>
            <a:ext cx="10978896" cy="1133856"/>
            <a:chOff x="603504" y="1257300"/>
            <a:chExt cx="10978896" cy="1133856"/>
          </a:xfrm>
        </p:grpSpPr>
        <p:sp>
          <p:nvSpPr>
            <p:cNvPr id="6" name="Rectangle 6"/>
            <p:cNvSpPr/>
            <p:nvPr/>
          </p:nvSpPr>
          <p:spPr>
            <a:xfrm>
              <a:off x="609600" y="1257300"/>
              <a:ext cx="10972800" cy="762000"/>
            </a:xfrm>
            <a:prstGeom prst="roundRect">
              <a:avLst>
                <a:gd name="adj" fmla="val 10000"/>
              </a:avLst>
            </a:prstGeom>
            <a:solidFill>
              <a:srgbClr val="B8CBD3"/>
            </a:solidFill>
            <a:ln>
              <a:noFill/>
            </a:ln>
          </p:spPr>
        </p:sp>
        <p:sp>
          <p:nvSpPr>
            <p:cNvPr id="7" name="Rectangle 7"/>
            <p:cNvSpPr/>
            <p:nvPr/>
          </p:nvSpPr>
          <p:spPr>
            <a:xfrm>
              <a:off x="609600" y="1257300"/>
              <a:ext cx="7677150" cy="762000"/>
            </a:xfrm>
            <a:prstGeom prst="roundRect">
              <a:avLst>
                <a:gd name="adj" fmla="val 10000"/>
              </a:avLst>
            </a:prstGeom>
            <a:solidFill>
              <a:srgbClr val="12355B"/>
            </a:solidFill>
            <a:ln>
              <a:noFill/>
            </a:ln>
          </p:spPr>
        </p:sp>
        <p:sp>
          <p:nvSpPr>
            <p:cNvPr id="8" name="TextBox 8"/>
            <p:cNvSpPr txBox="1"/>
            <p:nvPr/>
          </p:nvSpPr>
          <p:spPr>
            <a:xfrm>
              <a:off x="3423353" y="1533525"/>
              <a:ext cx="2049644" cy="293370"/>
            </a:xfrm>
            <a:prstGeom prst="rect">
              <a:avLst/>
            </a:prstGeom>
            <a:noFill/>
            <a:ln>
              <a:noFill/>
            </a:ln>
          </p:spPr>
          <p:txBody>
            <a:bodyPr wrap="none" lIns="0" tIns="0" rIns="0" bIns="0" anchor="t" anchorCtr="0">
              <a:spAutoFit/>
            </a:bodyPr>
            <a:lstStyle/>
            <a:p>
              <a:pPr algn="ctr"/>
              <a:r>
                <a:rPr lang="tr-TR" sz="1500" b="1" dirty="0">
                  <a:solidFill>
                    <a:srgbClr val="FFFFFF"/>
                  </a:solidFill>
                  <a:latin typeface="+mn-lt"/>
                  <a:ea typeface="+mn-ea"/>
                  <a:cs typeface="+mn-cs"/>
                </a:rPr>
                <a:t>Eğitim kümesi — %70</a:t>
              </a:r>
            </a:p>
          </p:txBody>
        </p:sp>
        <p:sp>
          <p:nvSpPr>
            <p:cNvPr id="9" name="Rectangle 9"/>
            <p:cNvSpPr/>
            <p:nvPr/>
          </p:nvSpPr>
          <p:spPr>
            <a:xfrm>
              <a:off x="8362950" y="1257300"/>
              <a:ext cx="3219450" cy="762000"/>
            </a:xfrm>
            <a:prstGeom prst="roundRect">
              <a:avLst>
                <a:gd name="adj" fmla="val 10000"/>
              </a:avLst>
            </a:prstGeom>
            <a:solidFill>
              <a:srgbClr val="00A6A6"/>
            </a:solidFill>
            <a:ln>
              <a:noFill/>
            </a:ln>
          </p:spPr>
        </p:sp>
        <p:sp>
          <p:nvSpPr>
            <p:cNvPr id="10" name="TextBox 10"/>
            <p:cNvSpPr txBox="1"/>
            <p:nvPr/>
          </p:nvSpPr>
          <p:spPr>
            <a:xfrm>
              <a:off x="9032188" y="1533525"/>
              <a:ext cx="1880973"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Test kümesi — %30</a:t>
              </a:r>
            </a:p>
          </p:txBody>
        </p:sp>
        <p:sp>
          <p:nvSpPr>
            <p:cNvPr id="11" name="Line 11"/>
            <p:cNvSpPr/>
            <p:nvPr/>
          </p:nvSpPr>
          <p:spPr>
            <a:xfrm>
              <a:off x="8286750" y="1257300"/>
              <a:ext cx="9525" cy="762000"/>
            </a:xfrm>
            <a:custGeom>
              <a:avLst/>
              <a:gdLst/>
              <a:ahLst/>
              <a:cxnLst/>
              <a:rect l="l" t="t" r="r" b="b"/>
              <a:pathLst>
                <a:path w="9525" h="762000">
                  <a:moveTo>
                    <a:pt x="0" y="0"/>
                  </a:moveTo>
                  <a:lnTo>
                    <a:pt x="0" y="762000"/>
                  </a:lnTo>
                </a:path>
              </a:pathLst>
            </a:custGeom>
            <a:noFill/>
            <a:ln w="28575">
              <a:solidFill>
                <a:srgbClr val="F7FAFC"/>
              </a:solidFill>
            </a:ln>
          </p:spPr>
        </p:sp>
        <p:sp>
          <p:nvSpPr>
            <p:cNvPr id="12" name="TextBox 12"/>
            <p:cNvSpPr txBox="1"/>
            <p:nvPr/>
          </p:nvSpPr>
          <p:spPr>
            <a:xfrm>
              <a:off x="603504" y="2156460"/>
              <a:ext cx="421233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fit + transform (imputer, scaler, encoder öğrenilir)</a:t>
              </a:r>
            </a:p>
          </p:txBody>
        </p:sp>
        <p:sp>
          <p:nvSpPr>
            <p:cNvPr id="13" name="TextBox 13"/>
            <p:cNvSpPr txBox="1"/>
            <p:nvPr/>
          </p:nvSpPr>
          <p:spPr>
            <a:xfrm>
              <a:off x="8356854" y="2156460"/>
              <a:ext cx="2790749"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yalnızca transform (asla fit değil)</a:t>
              </a:r>
            </a:p>
          </p:txBody>
        </p:sp>
      </p:grpSp>
      <p:grpSp>
        <p:nvGrpSpPr>
          <p:cNvPr id="24" name="code-split"/>
          <p:cNvGrpSpPr/>
          <p:nvPr/>
        </p:nvGrpSpPr>
        <p:grpSpPr>
          <a:xfrm>
            <a:off x="609600" y="2705100"/>
            <a:ext cx="5334000" cy="2476500"/>
            <a:chOff x="609600" y="2705100"/>
            <a:chExt cx="5334000" cy="2476500"/>
          </a:xfrm>
        </p:grpSpPr>
        <p:sp>
          <p:nvSpPr>
            <p:cNvPr id="15" name="Rectangle 15"/>
            <p:cNvSpPr/>
            <p:nvPr/>
          </p:nvSpPr>
          <p:spPr>
            <a:xfrm>
              <a:off x="609600" y="2705100"/>
              <a:ext cx="5334000" cy="2476500"/>
            </a:xfrm>
            <a:prstGeom prst="roundRect">
              <a:avLst>
                <a:gd name="adj" fmla="val 3846"/>
              </a:avLst>
            </a:prstGeom>
            <a:solidFill>
              <a:srgbClr val="12355B"/>
            </a:solidFill>
            <a:ln>
              <a:noFill/>
            </a:ln>
          </p:spPr>
        </p:sp>
        <p:sp>
          <p:nvSpPr>
            <p:cNvPr id="16" name="TextBox 16"/>
            <p:cNvSpPr txBox="1"/>
            <p:nvPr/>
          </p:nvSpPr>
          <p:spPr>
            <a:xfrm>
              <a:off x="870204" y="2918460"/>
              <a:ext cx="3227222"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X_train, X_test, y_train, y_test = \</a:t>
              </a:r>
            </a:p>
          </p:txBody>
        </p:sp>
        <p:sp>
          <p:nvSpPr>
            <p:cNvPr id="17" name="TextBox 17"/>
            <p:cNvSpPr txBox="1"/>
            <p:nvPr/>
          </p:nvSpPr>
          <p:spPr>
            <a:xfrm>
              <a:off x="870204" y="3166110"/>
              <a:ext cx="1522628"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train_test_split(</a:t>
              </a:r>
            </a:p>
          </p:txBody>
        </p:sp>
        <p:sp>
          <p:nvSpPr>
            <p:cNvPr id="18" name="TextBox 18"/>
            <p:cNvSpPr txBox="1"/>
            <p:nvPr/>
          </p:nvSpPr>
          <p:spPr>
            <a:xfrm>
              <a:off x="870204" y="3413760"/>
              <a:ext cx="1799234"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X, y, test_size=0.3,</a:t>
              </a:r>
            </a:p>
          </p:txBody>
        </p:sp>
        <p:sp>
          <p:nvSpPr>
            <p:cNvPr id="19" name="TextBox 19"/>
            <p:cNvSpPr txBox="1"/>
            <p:nvPr/>
          </p:nvSpPr>
          <p:spPr>
            <a:xfrm>
              <a:off x="870204" y="3661410"/>
              <a:ext cx="989533"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stratify=y,</a:t>
              </a:r>
            </a:p>
          </p:txBody>
        </p:sp>
        <p:sp>
          <p:nvSpPr>
            <p:cNvPr id="20" name="TextBox 20"/>
            <p:cNvSpPr txBox="1"/>
            <p:nvPr/>
          </p:nvSpPr>
          <p:spPr>
            <a:xfrm>
              <a:off x="870204" y="3909060"/>
              <a:ext cx="1344930"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random_state=42</a:t>
              </a:r>
            </a:p>
          </p:txBody>
        </p:sp>
        <p:sp>
          <p:nvSpPr>
            <p:cNvPr id="21" name="TextBox 21"/>
            <p:cNvSpPr txBox="1"/>
            <p:nvPr/>
          </p:nvSpPr>
          <p:spPr>
            <a:xfrm>
              <a:off x="870204" y="4156710"/>
              <a:ext cx="101041" cy="234696"/>
            </a:xfrm>
            <a:prstGeom prst="rect">
              <a:avLst/>
            </a:prstGeom>
            <a:noFill/>
            <a:ln>
              <a:noFill/>
            </a:ln>
          </p:spPr>
          <p:txBody>
            <a:bodyPr wrap="none" lIns="0" tIns="0" rIns="0" bIns="0" anchor="t" anchorCtr="0">
              <a:spAutoFit/>
            </a:bodyPr>
            <a:lstStyle/>
            <a:p>
              <a:pPr algn="l"/>
              <a:r>
                <a:rPr lang="tr-TR" sz="1200" dirty="0">
                  <a:solidFill>
                    <a:srgbClr val="FFFFFF"/>
                  </a:solidFill>
                  <a:latin typeface="Consolas"/>
                  <a:ea typeface="Consolas"/>
                  <a:cs typeface="Consolas"/>
                </a:rPr>
                <a:t>)</a:t>
              </a:r>
            </a:p>
          </p:txBody>
        </p:sp>
        <p:sp>
          <p:nvSpPr>
            <p:cNvPr id="22" name="TextBox 22"/>
            <p:cNvSpPr txBox="1"/>
            <p:nvPr/>
          </p:nvSpPr>
          <p:spPr>
            <a:xfrm>
              <a:off x="870585" y="4545806"/>
              <a:ext cx="3094766" cy="220028"/>
            </a:xfrm>
            <a:prstGeom prst="rect">
              <a:avLst/>
            </a:prstGeom>
            <a:noFill/>
            <a:ln>
              <a:noFill/>
            </a:ln>
          </p:spPr>
          <p:txBody>
            <a:bodyPr wrap="none" lIns="0" tIns="0" rIns="0" bIns="0" anchor="t" anchorCtr="0">
              <a:spAutoFit/>
            </a:bodyPr>
            <a:lstStyle/>
            <a:p>
              <a:pPr algn="l"/>
              <a:r>
                <a:rPr lang="tr-TR" sz="1120" dirty="0">
                  <a:solidFill>
                    <a:srgbClr val="B8CBD3"/>
                  </a:solidFill>
                  <a:latin typeface="+mn-lt"/>
                  <a:ea typeface="+mn-ea"/>
                  <a:cs typeface="+mn-cs"/>
                </a:rPr>
                <a:t>random_state: sonuçların tekrarlanabilir</a:t>
              </a:r>
            </a:p>
          </p:txBody>
        </p:sp>
        <p:sp>
          <p:nvSpPr>
            <p:cNvPr id="23" name="TextBox 23"/>
            <p:cNvSpPr txBox="1"/>
            <p:nvPr/>
          </p:nvSpPr>
          <p:spPr>
            <a:xfrm>
              <a:off x="870585" y="4736306"/>
              <a:ext cx="1172393" cy="220028"/>
            </a:xfrm>
            <a:prstGeom prst="rect">
              <a:avLst/>
            </a:prstGeom>
            <a:noFill/>
            <a:ln>
              <a:noFill/>
            </a:ln>
          </p:spPr>
          <p:txBody>
            <a:bodyPr wrap="none" lIns="0" tIns="0" rIns="0" bIns="0" anchor="t" anchorCtr="0">
              <a:spAutoFit/>
            </a:bodyPr>
            <a:lstStyle/>
            <a:p>
              <a:pPr algn="l"/>
              <a:r>
                <a:rPr lang="tr-TR" sz="1120" dirty="0">
                  <a:solidFill>
                    <a:srgbClr val="B8CBD3"/>
                  </a:solidFill>
                  <a:latin typeface="+mn-lt"/>
                  <a:ea typeface="+mn-ea"/>
                  <a:cs typeface="+mn-cs"/>
                </a:rPr>
                <a:t>olmasını sağlar</a:t>
              </a:r>
            </a:p>
          </p:txBody>
        </p:sp>
      </p:grpSp>
      <p:grpSp>
        <p:nvGrpSpPr>
          <p:cNvPr id="34" name="stratify-explain"/>
          <p:cNvGrpSpPr/>
          <p:nvPr/>
        </p:nvGrpSpPr>
        <p:grpSpPr>
          <a:xfrm>
            <a:off x="6248400" y="2705100"/>
            <a:ext cx="5334000" cy="2476500"/>
            <a:chOff x="6248400" y="2705100"/>
            <a:chExt cx="5334000" cy="2476500"/>
          </a:xfrm>
        </p:grpSpPr>
        <p:sp>
          <p:nvSpPr>
            <p:cNvPr id="25" name="Rectangle 25"/>
            <p:cNvSpPr/>
            <p:nvPr/>
          </p:nvSpPr>
          <p:spPr>
            <a:xfrm>
              <a:off x="6248400" y="2705100"/>
              <a:ext cx="5334000" cy="2476500"/>
            </a:xfrm>
            <a:prstGeom prst="roundRect">
              <a:avLst>
                <a:gd name="adj" fmla="val 3846"/>
              </a:avLst>
            </a:prstGeom>
            <a:solidFill>
              <a:srgbClr val="EAF4F6"/>
            </a:solidFill>
            <a:ln>
              <a:noFill/>
            </a:ln>
          </p:spPr>
        </p:sp>
        <p:sp>
          <p:nvSpPr>
            <p:cNvPr id="26" name="TextBox 26"/>
            <p:cNvSpPr txBox="1"/>
            <p:nvPr/>
          </p:nvSpPr>
          <p:spPr>
            <a:xfrm>
              <a:off x="6507099" y="2877979"/>
              <a:ext cx="230518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stratify=y ne yapar?</a:t>
              </a:r>
            </a:p>
          </p:txBody>
        </p:sp>
        <p:sp>
          <p:nvSpPr>
            <p:cNvPr id="27" name="TextBox 27"/>
            <p:cNvSpPr txBox="1"/>
            <p:nvPr/>
          </p:nvSpPr>
          <p:spPr>
            <a:xfrm>
              <a:off x="6508242" y="3207068"/>
              <a:ext cx="2691066"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Churn oranı zaten dengesizdir</a:t>
              </a:r>
            </a:p>
          </p:txBody>
        </p:sp>
        <p:sp>
          <p:nvSpPr>
            <p:cNvPr id="28" name="TextBox 28"/>
            <p:cNvSpPr txBox="1"/>
            <p:nvPr/>
          </p:nvSpPr>
          <p:spPr>
            <a:xfrm>
              <a:off x="6508242" y="3435668"/>
              <a:ext cx="2703424"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(örn. %20 churn, %80 sadık).</a:t>
              </a:r>
            </a:p>
          </p:txBody>
        </p:sp>
        <p:sp>
          <p:nvSpPr>
            <p:cNvPr id="29" name="TextBox 29"/>
            <p:cNvSpPr txBox="1"/>
            <p:nvPr/>
          </p:nvSpPr>
          <p:spPr>
            <a:xfrm>
              <a:off x="6508242" y="3664268"/>
              <a:ext cx="262164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stratify=y olmadan, rastgele</a:t>
              </a:r>
            </a:p>
          </p:txBody>
        </p:sp>
        <p:sp>
          <p:nvSpPr>
            <p:cNvPr id="30" name="TextBox 30"/>
            <p:cNvSpPr txBox="1"/>
            <p:nvPr/>
          </p:nvSpPr>
          <p:spPr>
            <a:xfrm>
              <a:off x="6508242" y="3892868"/>
              <a:ext cx="2230907"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bölme bu oranı bozabilir.</a:t>
              </a:r>
            </a:p>
          </p:txBody>
        </p:sp>
        <p:sp>
          <p:nvSpPr>
            <p:cNvPr id="31" name="TextBox 31"/>
            <p:cNvSpPr txBox="1"/>
            <p:nvPr/>
          </p:nvSpPr>
          <p:spPr>
            <a:xfrm>
              <a:off x="6508242" y="4254818"/>
              <a:ext cx="2666168" cy="264033"/>
            </a:xfrm>
            <a:prstGeom prst="rect">
              <a:avLst/>
            </a:prstGeom>
            <a:noFill/>
            <a:ln>
              <a:noFill/>
            </a:ln>
          </p:spPr>
          <p:txBody>
            <a:bodyPr wrap="none" lIns="0" tIns="0" rIns="0" bIns="0" anchor="t" anchorCtr="0">
              <a:spAutoFit/>
            </a:bodyPr>
            <a:lstStyle/>
            <a:p>
              <a:pPr algn="l"/>
              <a:r>
                <a:rPr lang="tr-TR" sz="1350" b="1" dirty="0">
                  <a:solidFill>
                    <a:srgbClr val="00A6A6"/>
                  </a:solidFill>
                  <a:latin typeface="+mn-lt"/>
                  <a:ea typeface="+mn-ea"/>
                  <a:cs typeface="+mn-cs"/>
                </a:rPr>
                <a:t>stratify=y ile eğitim ve test</a:t>
              </a:r>
            </a:p>
          </p:txBody>
        </p:sp>
        <p:sp>
          <p:nvSpPr>
            <p:cNvPr id="32" name="TextBox 32"/>
            <p:cNvSpPr txBox="1"/>
            <p:nvPr/>
          </p:nvSpPr>
          <p:spPr>
            <a:xfrm>
              <a:off x="6508242" y="4483418"/>
              <a:ext cx="3229098" cy="264033"/>
            </a:xfrm>
            <a:prstGeom prst="rect">
              <a:avLst/>
            </a:prstGeom>
            <a:noFill/>
            <a:ln>
              <a:noFill/>
            </a:ln>
          </p:spPr>
          <p:txBody>
            <a:bodyPr wrap="none" lIns="0" tIns="0" rIns="0" bIns="0" anchor="t" anchorCtr="0">
              <a:spAutoFit/>
            </a:bodyPr>
            <a:lstStyle/>
            <a:p>
              <a:pPr algn="l"/>
              <a:r>
                <a:rPr lang="tr-TR" sz="1350" b="1" dirty="0">
                  <a:solidFill>
                    <a:srgbClr val="00A6A6"/>
                  </a:solidFill>
                  <a:latin typeface="+mn-lt"/>
                  <a:ea typeface="+mn-ea"/>
                  <a:cs typeface="+mn-cs"/>
                </a:rPr>
                <a:t>kümeleri aynı churn oranını korur</a:t>
              </a:r>
            </a:p>
          </p:txBody>
        </p:sp>
        <p:sp>
          <p:nvSpPr>
            <p:cNvPr id="33" name="TextBox 33"/>
            <p:cNvSpPr txBox="1"/>
            <p:nvPr/>
          </p:nvSpPr>
          <p:spPr>
            <a:xfrm>
              <a:off x="6509385" y="4812506"/>
              <a:ext cx="4210467"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Şiddetli dengesizlikte 11. bölümdeki SMOTE devreye girer</a:t>
              </a:r>
            </a:p>
          </p:txBody>
        </p:sp>
      </p:grpSp>
      <p:grpSp>
        <p:nvGrpSpPr>
          <p:cNvPr id="39" name="rule-note"/>
          <p:cNvGrpSpPr/>
          <p:nvPr/>
        </p:nvGrpSpPr>
        <p:grpSpPr>
          <a:xfrm>
            <a:off x="609600" y="5391150"/>
            <a:ext cx="10972800" cy="1028700"/>
            <a:chOff x="609600" y="5391150"/>
            <a:chExt cx="10972800" cy="1028700"/>
          </a:xfrm>
        </p:grpSpPr>
        <p:sp>
          <p:nvSpPr>
            <p:cNvPr id="35" name="Rectangle 35"/>
            <p:cNvSpPr/>
            <p:nvPr/>
          </p:nvSpPr>
          <p:spPr>
            <a:xfrm>
              <a:off x="609600" y="5391150"/>
              <a:ext cx="10972800" cy="1028700"/>
            </a:xfrm>
            <a:prstGeom prst="roundRect">
              <a:avLst>
                <a:gd name="adj" fmla="val 9259"/>
              </a:avLst>
            </a:prstGeom>
            <a:solidFill>
              <a:srgbClr val="FFFFFF"/>
            </a:solidFill>
            <a:ln w="14288">
              <a:solidFill>
                <a:srgbClr val="B8CBD3"/>
              </a:solidFill>
            </a:ln>
          </p:spPr>
        </p:sp>
        <p:sp>
          <p:nvSpPr>
            <p:cNvPr id="36" name="TextBox 36"/>
            <p:cNvSpPr txBox="1"/>
            <p:nvPr/>
          </p:nvSpPr>
          <p:spPr>
            <a:xfrm>
              <a:off x="906399" y="5506879"/>
              <a:ext cx="484761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Altın kural: ayırma, ön işlemeden önce gelir</a:t>
              </a:r>
            </a:p>
          </p:txBody>
        </p:sp>
        <p:sp>
          <p:nvSpPr>
            <p:cNvPr id="37" name="TextBox 37"/>
            <p:cNvSpPr txBox="1"/>
            <p:nvPr/>
          </p:nvSpPr>
          <p:spPr>
            <a:xfrm>
              <a:off x="907161" y="5789771"/>
              <a:ext cx="5851605"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Imputer, scaler, encoder — hepsi bu ayrımdan sonra fit edilir.</a:t>
              </a:r>
            </a:p>
          </p:txBody>
        </p:sp>
        <p:sp>
          <p:nvSpPr>
            <p:cNvPr id="38" name="TextBox 38"/>
            <p:cNvSpPr txBox="1"/>
            <p:nvPr/>
          </p:nvSpPr>
          <p:spPr>
            <a:xfrm>
              <a:off x="907161" y="6037421"/>
              <a:ext cx="4933620"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Sıra tersine dönerse veri sızıntısı kaçınılmazdır.</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83501" cy="668845"/>
            <a:chOff x="609600" y="171450"/>
            <a:chExt cx="978350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909312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Pipeline + ColumnTransformer: hepsi bir arada</a:t>
              </a:r>
            </a:p>
          </p:txBody>
        </p:sp>
      </p:grpSp>
      <p:grpSp>
        <p:nvGrpSpPr>
          <p:cNvPr id="20" name="num-branch"/>
          <p:cNvGrpSpPr/>
          <p:nvPr/>
        </p:nvGrpSpPr>
        <p:grpSpPr>
          <a:xfrm>
            <a:off x="609600" y="1219200"/>
            <a:ext cx="4572000" cy="1676400"/>
            <a:chOff x="609600" y="1219200"/>
            <a:chExt cx="4572000" cy="1676400"/>
          </a:xfrm>
        </p:grpSpPr>
        <p:sp>
          <p:nvSpPr>
            <p:cNvPr id="12" name="Rectangle 12"/>
            <p:cNvSpPr/>
            <p:nvPr/>
          </p:nvSpPr>
          <p:spPr>
            <a:xfrm>
              <a:off x="609600" y="1219200"/>
              <a:ext cx="4572000" cy="1676400"/>
            </a:xfrm>
            <a:prstGeom prst="roundRect">
              <a:avLst>
                <a:gd name="adj" fmla="val 5682"/>
              </a:avLst>
            </a:prstGeom>
            <a:solidFill>
              <a:srgbClr val="FFFFFF"/>
            </a:solidFill>
            <a:ln w="14288">
              <a:solidFill>
                <a:srgbClr val="2E86AB"/>
              </a:solidFill>
            </a:ln>
          </p:spPr>
        </p:sp>
        <p:sp>
          <p:nvSpPr>
            <p:cNvPr id="13" name="TextBox 13"/>
            <p:cNvSpPr txBox="1"/>
            <p:nvPr/>
          </p:nvSpPr>
          <p:spPr>
            <a:xfrm>
              <a:off x="831342" y="1359218"/>
              <a:ext cx="1555645"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Sayısal sütunlar</a:t>
              </a:r>
            </a:p>
          </p:txBody>
        </p:sp>
        <p:sp>
          <p:nvSpPr>
            <p:cNvPr id="14" name="Rectangle 14"/>
            <p:cNvSpPr/>
            <p:nvPr/>
          </p:nvSpPr>
          <p:spPr>
            <a:xfrm>
              <a:off x="838200" y="1638300"/>
              <a:ext cx="4114800" cy="381000"/>
            </a:xfrm>
            <a:prstGeom prst="roundRect">
              <a:avLst>
                <a:gd name="adj" fmla="val 15000"/>
              </a:avLst>
            </a:prstGeom>
            <a:solidFill>
              <a:srgbClr val="EAF4F6"/>
            </a:solidFill>
            <a:ln>
              <a:noFill/>
            </a:ln>
          </p:spPr>
        </p:sp>
        <p:sp>
          <p:nvSpPr>
            <p:cNvPr id="15" name="TextBox 15"/>
            <p:cNvSpPr txBox="1"/>
            <p:nvPr/>
          </p:nvSpPr>
          <p:spPr>
            <a:xfrm>
              <a:off x="984885" y="1754981"/>
              <a:ext cx="2676186"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SimpleImputer(strategy="median")</a:t>
              </a:r>
            </a:p>
          </p:txBody>
        </p:sp>
        <p:sp>
          <p:nvSpPr>
            <p:cNvPr id="16" name="Line 16"/>
            <p:cNvSpPr/>
            <p:nvPr/>
          </p:nvSpPr>
          <p:spPr>
            <a:xfrm>
              <a:off x="2895600" y="2019300"/>
              <a:ext cx="1" cy="152400"/>
            </a:xfrm>
            <a:prstGeom prst="line">
              <a:avLst/>
            </a:prstGeom>
            <a:noFill/>
            <a:ln w="19050">
              <a:solidFill>
                <a:srgbClr val="00A6A6"/>
              </a:solidFill>
              <a:tailEnd type="arrow" w="lg" len="lg"/>
            </a:ln>
          </p:spPr>
        </p:sp>
        <p:sp>
          <p:nvSpPr>
            <p:cNvPr id="17" name="Rectangle 17"/>
            <p:cNvSpPr/>
            <p:nvPr/>
          </p:nvSpPr>
          <p:spPr>
            <a:xfrm>
              <a:off x="838200" y="2190750"/>
              <a:ext cx="4114800" cy="381000"/>
            </a:xfrm>
            <a:prstGeom prst="roundRect">
              <a:avLst>
                <a:gd name="adj" fmla="val 15000"/>
              </a:avLst>
            </a:prstGeom>
            <a:solidFill>
              <a:srgbClr val="EAF4F6"/>
            </a:solidFill>
            <a:ln>
              <a:noFill/>
            </a:ln>
          </p:spPr>
        </p:sp>
        <p:sp>
          <p:nvSpPr>
            <p:cNvPr id="18" name="TextBox 18"/>
            <p:cNvSpPr txBox="1"/>
            <p:nvPr/>
          </p:nvSpPr>
          <p:spPr>
            <a:xfrm>
              <a:off x="984885" y="2307431"/>
              <a:ext cx="1348974"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StandardScaler()</a:t>
              </a:r>
            </a:p>
          </p:txBody>
        </p:sp>
        <p:sp>
          <p:nvSpPr>
            <p:cNvPr id="19" name="TextBox 19"/>
            <p:cNvSpPr txBox="1"/>
            <p:nvPr/>
          </p:nvSpPr>
          <p:spPr>
            <a:xfrm>
              <a:off x="985266" y="2667952"/>
              <a:ext cx="209471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num_pipeline = Pipeline([...])</a:t>
              </a:r>
            </a:p>
          </p:txBody>
        </p:sp>
      </p:grpSp>
      <p:grpSp>
        <p:nvGrpSpPr>
          <p:cNvPr id="29" name="cat-branch"/>
          <p:cNvGrpSpPr/>
          <p:nvPr/>
        </p:nvGrpSpPr>
        <p:grpSpPr>
          <a:xfrm>
            <a:off x="7010400" y="1219200"/>
            <a:ext cx="4572000" cy="1676400"/>
            <a:chOff x="7010400" y="1219200"/>
            <a:chExt cx="4572000" cy="1676400"/>
          </a:xfrm>
        </p:grpSpPr>
        <p:sp>
          <p:nvSpPr>
            <p:cNvPr id="21" name="Rectangle 21"/>
            <p:cNvSpPr/>
            <p:nvPr/>
          </p:nvSpPr>
          <p:spPr>
            <a:xfrm>
              <a:off x="7010400" y="1219200"/>
              <a:ext cx="4572000" cy="1676400"/>
            </a:xfrm>
            <a:prstGeom prst="roundRect">
              <a:avLst>
                <a:gd name="adj" fmla="val 5682"/>
              </a:avLst>
            </a:prstGeom>
            <a:solidFill>
              <a:srgbClr val="FFFFFF"/>
            </a:solidFill>
            <a:ln w="14288">
              <a:solidFill>
                <a:srgbClr val="2E86AB"/>
              </a:solidFill>
            </a:ln>
          </p:spPr>
        </p:sp>
        <p:sp>
          <p:nvSpPr>
            <p:cNvPr id="22" name="TextBox 22"/>
            <p:cNvSpPr txBox="1"/>
            <p:nvPr/>
          </p:nvSpPr>
          <p:spPr>
            <a:xfrm>
              <a:off x="7232142" y="1359218"/>
              <a:ext cx="1765568"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Kategorik sütunlar</a:t>
              </a:r>
            </a:p>
          </p:txBody>
        </p:sp>
        <p:sp>
          <p:nvSpPr>
            <p:cNvPr id="23" name="Rectangle 23"/>
            <p:cNvSpPr/>
            <p:nvPr/>
          </p:nvSpPr>
          <p:spPr>
            <a:xfrm>
              <a:off x="7239000" y="1638300"/>
              <a:ext cx="4114800" cy="381000"/>
            </a:xfrm>
            <a:prstGeom prst="roundRect">
              <a:avLst>
                <a:gd name="adj" fmla="val 15000"/>
              </a:avLst>
            </a:prstGeom>
            <a:solidFill>
              <a:srgbClr val="EAF4F6"/>
            </a:solidFill>
            <a:ln>
              <a:noFill/>
            </a:ln>
          </p:spPr>
        </p:sp>
        <p:sp>
          <p:nvSpPr>
            <p:cNvPr id="24" name="TextBox 24"/>
            <p:cNvSpPr txBox="1"/>
            <p:nvPr/>
          </p:nvSpPr>
          <p:spPr>
            <a:xfrm>
              <a:off x="7385685" y="1754981"/>
              <a:ext cx="3256636"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SimpleImputer(strategy="most_frequent")</a:t>
              </a:r>
            </a:p>
          </p:txBody>
        </p:sp>
        <p:sp>
          <p:nvSpPr>
            <p:cNvPr id="25" name="Line 25"/>
            <p:cNvSpPr/>
            <p:nvPr/>
          </p:nvSpPr>
          <p:spPr>
            <a:xfrm>
              <a:off x="9296400" y="2019300"/>
              <a:ext cx="1" cy="152400"/>
            </a:xfrm>
            <a:prstGeom prst="line">
              <a:avLst/>
            </a:prstGeom>
            <a:noFill/>
            <a:ln w="19050">
              <a:solidFill>
                <a:srgbClr val="00A6A6"/>
              </a:solidFill>
              <a:tailEnd type="arrow" w="lg" len="lg"/>
            </a:ln>
          </p:spPr>
        </p:sp>
        <p:sp>
          <p:nvSpPr>
            <p:cNvPr id="26" name="Rectangle 26"/>
            <p:cNvSpPr/>
            <p:nvPr/>
          </p:nvSpPr>
          <p:spPr>
            <a:xfrm>
              <a:off x="7239000" y="2190750"/>
              <a:ext cx="4114800" cy="381000"/>
            </a:xfrm>
            <a:prstGeom prst="roundRect">
              <a:avLst>
                <a:gd name="adj" fmla="val 15000"/>
              </a:avLst>
            </a:prstGeom>
            <a:solidFill>
              <a:srgbClr val="EAF4F6"/>
            </a:solidFill>
            <a:ln>
              <a:noFill/>
            </a:ln>
          </p:spPr>
        </p:sp>
        <p:sp>
          <p:nvSpPr>
            <p:cNvPr id="27" name="TextBox 27"/>
            <p:cNvSpPr txBox="1"/>
            <p:nvPr/>
          </p:nvSpPr>
          <p:spPr>
            <a:xfrm>
              <a:off x="7385685" y="2307431"/>
              <a:ext cx="3179337"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OneHotEncoder(handle_unknown="ignore")</a:t>
              </a:r>
            </a:p>
          </p:txBody>
        </p:sp>
        <p:sp>
          <p:nvSpPr>
            <p:cNvPr id="28" name="TextBox 28"/>
            <p:cNvSpPr txBox="1"/>
            <p:nvPr/>
          </p:nvSpPr>
          <p:spPr>
            <a:xfrm>
              <a:off x="7386066" y="2667952"/>
              <a:ext cx="206636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cat_pipeline = Pipeline([...])</a:t>
              </a:r>
            </a:p>
          </p:txBody>
        </p:sp>
      </p:grpSp>
      <p:sp>
        <p:nvSpPr>
          <p:cNvPr id="30" name="Line 30"/>
          <p:cNvSpPr/>
          <p:nvPr/>
        </p:nvSpPr>
        <p:spPr>
          <a:xfrm>
            <a:off x="2895600" y="2895600"/>
            <a:ext cx="2438400" cy="609600"/>
          </a:xfrm>
          <a:prstGeom prst="line">
            <a:avLst/>
          </a:prstGeom>
          <a:noFill/>
          <a:ln w="23812">
            <a:solidFill>
              <a:srgbClr val="00A6A6"/>
            </a:solidFill>
            <a:tailEnd type="arrow" w="lg" len="lg"/>
          </a:ln>
        </p:spPr>
      </p:sp>
      <p:sp>
        <p:nvSpPr>
          <p:cNvPr id="31" name="Line 31"/>
          <p:cNvSpPr/>
          <p:nvPr/>
        </p:nvSpPr>
        <p:spPr>
          <a:xfrm flipH="1">
            <a:off x="6858000" y="2895600"/>
            <a:ext cx="2438400" cy="609600"/>
          </a:xfrm>
          <a:prstGeom prst="line">
            <a:avLst/>
          </a:prstGeom>
          <a:noFill/>
          <a:ln w="23812">
            <a:solidFill>
              <a:srgbClr val="00A6A6"/>
            </a:solidFill>
            <a:tailEnd type="arrow" w="lg" len="lg"/>
          </a:ln>
        </p:spPr>
      </p:sp>
      <p:grpSp>
        <p:nvGrpSpPr>
          <p:cNvPr id="36" name="col-transformer"/>
          <p:cNvGrpSpPr/>
          <p:nvPr/>
        </p:nvGrpSpPr>
        <p:grpSpPr>
          <a:xfrm>
            <a:off x="4191000" y="3543300"/>
            <a:ext cx="3810000" cy="876300"/>
            <a:chOff x="4191000" y="3543300"/>
            <a:chExt cx="3810000" cy="876300"/>
          </a:xfrm>
        </p:grpSpPr>
        <p:sp>
          <p:nvSpPr>
            <p:cNvPr id="32" name="Rectangle 32"/>
            <p:cNvSpPr/>
            <p:nvPr/>
          </p:nvSpPr>
          <p:spPr>
            <a:xfrm>
              <a:off x="4191000" y="3543300"/>
              <a:ext cx="3810000" cy="876300"/>
            </a:xfrm>
            <a:prstGeom prst="roundRect">
              <a:avLst>
                <a:gd name="adj" fmla="val 10870"/>
              </a:avLst>
            </a:prstGeom>
            <a:solidFill>
              <a:srgbClr val="12355B"/>
            </a:solidFill>
            <a:ln>
              <a:noFill/>
            </a:ln>
          </p:spPr>
        </p:sp>
        <p:sp>
          <p:nvSpPr>
            <p:cNvPr id="33" name="TextBox 33"/>
            <p:cNvSpPr txBox="1"/>
            <p:nvPr/>
          </p:nvSpPr>
          <p:spPr>
            <a:xfrm>
              <a:off x="5128999" y="3694271"/>
              <a:ext cx="1934001" cy="278702"/>
            </a:xfrm>
            <a:prstGeom prst="rect">
              <a:avLst/>
            </a:prstGeom>
            <a:noFill/>
            <a:ln>
              <a:noFill/>
            </a:ln>
          </p:spPr>
          <p:txBody>
            <a:bodyPr wrap="none" lIns="0" tIns="0" rIns="0" bIns="0" anchor="t" anchorCtr="0">
              <a:spAutoFit/>
            </a:bodyPr>
            <a:lstStyle/>
            <a:p>
              <a:pPr algn="ctr"/>
              <a:r>
                <a:rPr lang="tr-TR" sz="1420" b="1" dirty="0">
                  <a:solidFill>
                    <a:srgbClr val="FFFFFF"/>
                  </a:solidFill>
                  <a:latin typeface="+mn-lt"/>
                  <a:ea typeface="+mn-ea"/>
                  <a:cs typeface="+mn-cs"/>
                </a:rPr>
                <a:t>ColumnTransformer</a:t>
              </a:r>
            </a:p>
          </p:txBody>
        </p:sp>
        <p:sp>
          <p:nvSpPr>
            <p:cNvPr id="34" name="TextBox 34"/>
            <p:cNvSpPr txBox="1"/>
            <p:nvPr/>
          </p:nvSpPr>
          <p:spPr>
            <a:xfrm>
              <a:off x="5193177" y="3974306"/>
              <a:ext cx="1805645" cy="220028"/>
            </a:xfrm>
            <a:prstGeom prst="rect">
              <a:avLst/>
            </a:prstGeom>
            <a:noFill/>
            <a:ln>
              <a:noFill/>
            </a:ln>
          </p:spPr>
          <p:txBody>
            <a:bodyPr wrap="none" lIns="0" tIns="0" rIns="0" bIns="0" anchor="t" anchorCtr="0">
              <a:spAutoFit/>
            </a:bodyPr>
            <a:lstStyle/>
            <a:p>
              <a:pPr algn="ctr"/>
              <a:r>
                <a:rPr lang="tr-TR" sz="1120" dirty="0">
                  <a:solidFill>
                    <a:srgbClr val="EAF4F6"/>
                  </a:solidFill>
                  <a:latin typeface="+mn-lt"/>
                  <a:ea typeface="+mn-ea"/>
                  <a:cs typeface="+mn-cs"/>
                </a:rPr>
                <a:t>her sütun grubuna doğru</a:t>
              </a:r>
            </a:p>
          </p:txBody>
        </p:sp>
        <p:sp>
          <p:nvSpPr>
            <p:cNvPr id="35" name="TextBox 35"/>
            <p:cNvSpPr txBox="1"/>
            <p:nvPr/>
          </p:nvSpPr>
          <p:spPr>
            <a:xfrm>
              <a:off x="4959477" y="4164806"/>
              <a:ext cx="2273046" cy="220028"/>
            </a:xfrm>
            <a:prstGeom prst="rect">
              <a:avLst/>
            </a:prstGeom>
            <a:noFill/>
            <a:ln>
              <a:noFill/>
            </a:ln>
          </p:spPr>
          <p:txBody>
            <a:bodyPr wrap="none" lIns="0" tIns="0" rIns="0" bIns="0" anchor="t" anchorCtr="0">
              <a:spAutoFit/>
            </a:bodyPr>
            <a:lstStyle/>
            <a:p>
              <a:pPr algn="ctr"/>
              <a:r>
                <a:rPr lang="tr-TR" sz="1120" dirty="0">
                  <a:solidFill>
                    <a:srgbClr val="EAF4F6"/>
                  </a:solidFill>
                  <a:latin typeface="+mn-lt"/>
                  <a:ea typeface="+mn-ea"/>
                  <a:cs typeface="+mn-cs"/>
                </a:rPr>
                <a:t>pipeline'ı otomatik yönlendirir</a:t>
              </a:r>
            </a:p>
          </p:txBody>
        </p:sp>
      </p:grpSp>
      <p:sp>
        <p:nvSpPr>
          <p:cNvPr id="37" name="Line 37"/>
          <p:cNvSpPr/>
          <p:nvPr/>
        </p:nvSpPr>
        <p:spPr>
          <a:xfrm>
            <a:off x="6096000" y="4419600"/>
            <a:ext cx="1" cy="342900"/>
          </a:xfrm>
          <a:prstGeom prst="line">
            <a:avLst/>
          </a:prstGeom>
          <a:noFill/>
          <a:ln w="23812">
            <a:solidFill>
              <a:srgbClr val="00A6A6"/>
            </a:solidFill>
            <a:tailEnd type="arrow" w="lg" len="lg"/>
          </a:ln>
        </p:spPr>
      </p:sp>
      <p:grpSp>
        <p:nvGrpSpPr>
          <p:cNvPr id="41" name="final-pipeline"/>
          <p:cNvGrpSpPr/>
          <p:nvPr/>
        </p:nvGrpSpPr>
        <p:grpSpPr>
          <a:xfrm>
            <a:off x="3238500" y="4800600"/>
            <a:ext cx="5715000" cy="876300"/>
            <a:chOff x="3238500" y="4800600"/>
            <a:chExt cx="5715000" cy="876300"/>
          </a:xfrm>
        </p:grpSpPr>
        <p:sp>
          <p:nvSpPr>
            <p:cNvPr id="38" name="Rectangle 38"/>
            <p:cNvSpPr/>
            <p:nvPr/>
          </p:nvSpPr>
          <p:spPr>
            <a:xfrm>
              <a:off x="3238500" y="4800600"/>
              <a:ext cx="5715000" cy="876300"/>
            </a:xfrm>
            <a:prstGeom prst="roundRect">
              <a:avLst>
                <a:gd name="adj" fmla="val 10870"/>
              </a:avLst>
            </a:prstGeom>
            <a:solidFill>
              <a:srgbClr val="00A6A6"/>
            </a:solidFill>
            <a:ln>
              <a:noFill/>
            </a:ln>
          </p:spPr>
        </p:sp>
        <p:sp>
          <p:nvSpPr>
            <p:cNvPr id="39" name="TextBox 39"/>
            <p:cNvSpPr txBox="1"/>
            <p:nvPr/>
          </p:nvSpPr>
          <p:spPr>
            <a:xfrm>
              <a:off x="4282376" y="4981575"/>
              <a:ext cx="3627247" cy="293370"/>
            </a:xfrm>
            <a:prstGeom prst="rect">
              <a:avLst/>
            </a:prstGeom>
            <a:noFill/>
            <a:ln>
              <a:noFill/>
            </a:ln>
          </p:spPr>
          <p:txBody>
            <a:bodyPr wrap="none" lIns="0" tIns="0" rIns="0" bIns="0" anchor="t" anchorCtr="0">
              <a:spAutoFit/>
            </a:bodyPr>
            <a:lstStyle/>
            <a:p>
              <a:pPr algn="ctr"/>
              <a:r>
                <a:rPr lang="tr-TR" sz="1500" b="1" dirty="0">
                  <a:solidFill>
                    <a:srgbClr val="12355B"/>
                  </a:solidFill>
                  <a:latin typeface="+mn-lt"/>
                  <a:ea typeface="+mn-ea"/>
                  <a:cs typeface="+mn-cs"/>
                </a:rPr>
                <a:t>full_pipeline.fit(X_train, y_train)</a:t>
              </a:r>
            </a:p>
          </p:txBody>
        </p:sp>
        <p:sp>
          <p:nvSpPr>
            <p:cNvPr id="40" name="TextBox 40"/>
            <p:cNvSpPr txBox="1"/>
            <p:nvPr/>
          </p:nvSpPr>
          <p:spPr>
            <a:xfrm>
              <a:off x="4107602" y="5269706"/>
              <a:ext cx="3976797" cy="220028"/>
            </a:xfrm>
            <a:prstGeom prst="rect">
              <a:avLst/>
            </a:prstGeom>
            <a:noFill/>
            <a:ln>
              <a:noFill/>
            </a:ln>
          </p:spPr>
          <p:txBody>
            <a:bodyPr wrap="none" lIns="0" tIns="0" rIns="0" bIns="0" anchor="t" anchorCtr="0">
              <a:spAutoFit/>
            </a:bodyPr>
            <a:lstStyle/>
            <a:p>
              <a:pPr algn="ctr"/>
              <a:r>
                <a:rPr lang="tr-TR" sz="1120" dirty="0">
                  <a:solidFill>
                    <a:srgbClr val="12355B"/>
                  </a:solidFill>
                  <a:latin typeface="+mn-lt"/>
                  <a:ea typeface="+mn-ea"/>
                  <a:cs typeface="+mn-cs"/>
                </a:rPr>
                <a:t>tek çağrı: tüm adımlar sırayla öğrenilir ve uygulanır</a:t>
              </a:r>
            </a:p>
          </p:txBody>
        </p:sp>
      </p:grpSp>
      <p:grpSp>
        <p:nvGrpSpPr>
          <p:cNvPr id="44" name="side-benefit"/>
          <p:cNvGrpSpPr/>
          <p:nvPr/>
        </p:nvGrpSpPr>
        <p:grpSpPr>
          <a:xfrm>
            <a:off x="1676856" y="5865971"/>
            <a:ext cx="8838288" cy="494157"/>
            <a:chOff x="1676856" y="5865971"/>
            <a:chExt cx="8838288" cy="494157"/>
          </a:xfrm>
        </p:grpSpPr>
        <p:sp>
          <p:nvSpPr>
            <p:cNvPr id="42" name="TextBox 42"/>
            <p:cNvSpPr txBox="1"/>
            <p:nvPr/>
          </p:nvSpPr>
          <p:spPr>
            <a:xfrm>
              <a:off x="1676856" y="5865971"/>
              <a:ext cx="8838288" cy="278702"/>
            </a:xfrm>
            <a:prstGeom prst="rect">
              <a:avLst/>
            </a:prstGeom>
            <a:noFill/>
            <a:ln>
              <a:noFill/>
            </a:ln>
          </p:spPr>
          <p:txBody>
            <a:bodyPr wrap="none" lIns="0" tIns="0" rIns="0" bIns="0" anchor="t" anchorCtr="0">
              <a:spAutoFit/>
            </a:bodyPr>
            <a:lstStyle/>
            <a:p>
              <a:pPr algn="ctr"/>
              <a:r>
                <a:rPr lang="tr-TR" sz="1420" b="1" dirty="0">
                  <a:solidFill>
                    <a:srgbClr val="12355B"/>
                  </a:solidFill>
                  <a:latin typeface="+mn-lt"/>
                  <a:ea typeface="+mn-ea"/>
                  <a:cs typeface="+mn-cs"/>
                </a:rPr>
                <a:t>Fayda: fit_transform yalnızca X_train'de, transform X_test'te — kod bunu asla unutmaz</a:t>
              </a:r>
            </a:p>
          </p:txBody>
        </p:sp>
        <p:sp>
          <p:nvSpPr>
            <p:cNvPr id="43" name="TextBox 43"/>
            <p:cNvSpPr txBox="1"/>
            <p:nvPr/>
          </p:nvSpPr>
          <p:spPr>
            <a:xfrm>
              <a:off x="2868848" y="6110764"/>
              <a:ext cx="6454304" cy="249364"/>
            </a:xfrm>
            <a:prstGeom prst="rect">
              <a:avLst/>
            </a:prstGeom>
            <a:noFill/>
            <a:ln>
              <a:noFill/>
            </a:ln>
          </p:spPr>
          <p:txBody>
            <a:bodyPr wrap="none" lIns="0" tIns="0" rIns="0" bIns="0" anchor="t" anchorCtr="0">
              <a:spAutoFit/>
            </a:bodyPr>
            <a:lstStyle/>
            <a:p>
              <a:pPr algn="ctr"/>
              <a:r>
                <a:rPr lang="tr-TR" sz="1280" dirty="0">
                  <a:solidFill>
                    <a:srgbClr val="52616B"/>
                  </a:solidFill>
                  <a:latin typeface="+mn-lt"/>
                  <a:ea typeface="+mn-ea"/>
                  <a:cs typeface="+mn-cs"/>
                </a:rPr>
                <a:t>Tekrarlanabilir, üretime taşınabilir, tek nesnede saklanabilir (pickle/joblib)</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8" name="page-title"/>
          <p:cNvGrpSpPr/>
          <p:nvPr/>
        </p:nvGrpSpPr>
        <p:grpSpPr>
          <a:xfrm>
            <a:off x="609600" y="171450"/>
            <a:ext cx="9062986" cy="668845"/>
            <a:chOff x="609600" y="171450"/>
            <a:chExt cx="9062986" cy="668845"/>
          </a:xfrm>
        </p:grpSpPr>
        <p:grpSp>
          <p:nvGrpSpPr>
            <p:cNvPr id="6"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sp>
            <p:nvSpPr>
              <p:cNvPr id="5" name="Freeform 5"/>
              <p:cNvSpPr/>
              <p:nvPr/>
            </p:nvSpPr>
            <p:spPr>
              <a:xfrm>
                <a:off x="792004" y="383381"/>
                <a:ext cx="221456" cy="147638"/>
              </a:xfrm>
              <a:custGeom>
                <a:avLst/>
                <a:gdLst/>
                <a:ahLst/>
                <a:cxnLst/>
                <a:rect l="l" t="t" r="r" b="b"/>
                <a:pathLst>
                  <a:path w="221456" h="147638">
                    <a:moveTo>
                      <a:pt x="0" y="73819"/>
                    </a:moveTo>
                    <a:lnTo>
                      <a:pt x="73819" y="147638"/>
                    </a:lnTo>
                    <a:lnTo>
                      <a:pt x="221456" y="0"/>
                    </a:lnTo>
                  </a:path>
                </a:pathLst>
              </a:custGeom>
              <a:noFill/>
              <a:ln w="24759" cap="rnd">
                <a:solidFill>
                  <a:srgbClr val="FFFFFF"/>
                </a:solidFill>
                <a:round/>
              </a:ln>
            </p:spPr>
          </p:sp>
        </p:grpSp>
        <p:sp>
          <p:nvSpPr>
            <p:cNvPr id="7" name="TextBox 7"/>
            <p:cNvSpPr txBox="1"/>
            <p:nvPr/>
          </p:nvSpPr>
          <p:spPr>
            <a:xfrm>
              <a:off x="1299972" y="282892"/>
              <a:ext cx="837261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Mini uygulama: ChurnOnIslemeHatti sınıfı</a:t>
              </a:r>
            </a:p>
          </p:txBody>
        </p:sp>
      </p:grpSp>
      <p:grpSp>
        <p:nvGrpSpPr>
          <p:cNvPr id="27" name="class-code"/>
          <p:cNvGrpSpPr/>
          <p:nvPr/>
        </p:nvGrpSpPr>
        <p:grpSpPr>
          <a:xfrm>
            <a:off x="609600" y="1219200"/>
            <a:ext cx="6096000" cy="4419600"/>
            <a:chOff x="609600" y="1219200"/>
            <a:chExt cx="6096000" cy="4419600"/>
          </a:xfrm>
        </p:grpSpPr>
        <p:sp>
          <p:nvSpPr>
            <p:cNvPr id="9" name="Rectangle 9"/>
            <p:cNvSpPr/>
            <p:nvPr/>
          </p:nvSpPr>
          <p:spPr>
            <a:xfrm>
              <a:off x="609600" y="1219200"/>
              <a:ext cx="6096000" cy="4419600"/>
            </a:xfrm>
            <a:prstGeom prst="roundRect">
              <a:avLst>
                <a:gd name="adj" fmla="val 2155"/>
              </a:avLst>
            </a:prstGeom>
            <a:solidFill>
              <a:srgbClr val="12355B"/>
            </a:solidFill>
            <a:ln>
              <a:noFill/>
            </a:ln>
          </p:spPr>
        </p:sp>
        <p:sp>
          <p:nvSpPr>
            <p:cNvPr id="10" name="TextBox 10"/>
            <p:cNvSpPr txBox="1"/>
            <p:nvPr/>
          </p:nvSpPr>
          <p:spPr>
            <a:xfrm>
              <a:off x="870204" y="1413510"/>
              <a:ext cx="2255288" cy="234696"/>
            </a:xfrm>
            <a:prstGeom prst="rect">
              <a:avLst/>
            </a:prstGeom>
            <a:noFill/>
            <a:ln>
              <a:noFill/>
            </a:ln>
          </p:spPr>
          <p:txBody>
            <a:bodyPr wrap="none" lIns="0" tIns="0" rIns="0" bIns="0" anchor="t" anchorCtr="0">
              <a:spAutoFit/>
            </a:bodyPr>
            <a:lstStyle/>
            <a:p>
              <a:pPr algn="l"/>
              <a:r>
                <a:rPr lang="tr-TR" sz="1200" dirty="0">
                  <a:solidFill>
                    <a:srgbClr val="00A6A6"/>
                  </a:solidFill>
                  <a:latin typeface="Consolas"/>
                  <a:ea typeface="Consolas"/>
                  <a:cs typeface="Consolas"/>
                </a:rPr>
                <a:t>class ChurnOnIslemeHatti:</a:t>
              </a:r>
            </a:p>
          </p:txBody>
        </p:sp>
        <p:sp>
          <p:nvSpPr>
            <p:cNvPr id="11" name="TextBox 11"/>
            <p:cNvSpPr txBox="1"/>
            <p:nvPr/>
          </p:nvSpPr>
          <p:spPr>
            <a:xfrm>
              <a:off x="1061085" y="1688306"/>
              <a:ext cx="3245541"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def __init__(self, num_cols, cat_cols):</a:t>
              </a:r>
            </a:p>
          </p:txBody>
        </p:sp>
        <p:sp>
          <p:nvSpPr>
            <p:cNvPr id="12" name="TextBox 12"/>
            <p:cNvSpPr txBox="1"/>
            <p:nvPr/>
          </p:nvSpPr>
          <p:spPr>
            <a:xfrm>
              <a:off x="1251585" y="1916906"/>
              <a:ext cx="200165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self.num_cols = num_cols</a:t>
              </a:r>
            </a:p>
          </p:txBody>
        </p:sp>
        <p:sp>
          <p:nvSpPr>
            <p:cNvPr id="13" name="TextBox 13"/>
            <p:cNvSpPr txBox="1"/>
            <p:nvPr/>
          </p:nvSpPr>
          <p:spPr>
            <a:xfrm>
              <a:off x="1251585" y="2145506"/>
              <a:ext cx="200165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self.cat_cols = cat_cols</a:t>
              </a:r>
            </a:p>
          </p:txBody>
        </p:sp>
        <p:sp>
          <p:nvSpPr>
            <p:cNvPr id="14" name="TextBox 14"/>
            <p:cNvSpPr txBox="1"/>
            <p:nvPr/>
          </p:nvSpPr>
          <p:spPr>
            <a:xfrm>
              <a:off x="1251585" y="2374106"/>
              <a:ext cx="166994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self.alt_sinir_ = {}</a:t>
              </a:r>
            </a:p>
          </p:txBody>
        </p:sp>
        <p:sp>
          <p:nvSpPr>
            <p:cNvPr id="15" name="TextBox 15"/>
            <p:cNvSpPr txBox="1"/>
            <p:nvPr/>
          </p:nvSpPr>
          <p:spPr>
            <a:xfrm>
              <a:off x="1251585" y="2602706"/>
              <a:ext cx="1669948"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self.ust_sinir_ = {}</a:t>
              </a:r>
            </a:p>
          </p:txBody>
        </p:sp>
        <p:sp>
          <p:nvSpPr>
            <p:cNvPr id="16" name="TextBox 16"/>
            <p:cNvSpPr txBox="1"/>
            <p:nvPr/>
          </p:nvSpPr>
          <p:spPr>
            <a:xfrm>
              <a:off x="1251585" y="2831306"/>
              <a:ext cx="175903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self.pipeline_ = None</a:t>
              </a:r>
            </a:p>
          </p:txBody>
        </p:sp>
        <p:sp>
          <p:nvSpPr>
            <p:cNvPr id="17" name="TextBox 17"/>
            <p:cNvSpPr txBox="1"/>
            <p:nvPr/>
          </p:nvSpPr>
          <p:spPr>
            <a:xfrm>
              <a:off x="1061085" y="3136106"/>
              <a:ext cx="2099247"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def fit(self, X, y=None):</a:t>
              </a:r>
            </a:p>
          </p:txBody>
        </p:sp>
        <p:sp>
          <p:nvSpPr>
            <p:cNvPr id="18" name="TextBox 18"/>
            <p:cNvSpPr txBox="1"/>
            <p:nvPr/>
          </p:nvSpPr>
          <p:spPr>
            <a:xfrm>
              <a:off x="1251585" y="3364706"/>
              <a:ext cx="2601976"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1) her sayısal sütun için IQR</a:t>
              </a:r>
            </a:p>
          </p:txBody>
        </p:sp>
        <p:sp>
          <p:nvSpPr>
            <p:cNvPr id="19" name="TextBox 19"/>
            <p:cNvSpPr txBox="1"/>
            <p:nvPr/>
          </p:nvSpPr>
          <p:spPr>
            <a:xfrm>
              <a:off x="1251585" y="3574256"/>
              <a:ext cx="209044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sınırlarını X'ten öğren</a:t>
              </a:r>
            </a:p>
          </p:txBody>
        </p:sp>
        <p:sp>
          <p:nvSpPr>
            <p:cNvPr id="20" name="TextBox 20"/>
            <p:cNvSpPr txBox="1"/>
            <p:nvPr/>
          </p:nvSpPr>
          <p:spPr>
            <a:xfrm>
              <a:off x="1251585" y="3802856"/>
              <a:ext cx="234587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2) ColumnTransformer'ı kur</a:t>
              </a:r>
            </a:p>
          </p:txBody>
        </p:sp>
        <p:sp>
          <p:nvSpPr>
            <p:cNvPr id="21" name="TextBox 21"/>
            <p:cNvSpPr txBox="1"/>
            <p:nvPr/>
          </p:nvSpPr>
          <p:spPr>
            <a:xfrm>
              <a:off x="1251585" y="4012406"/>
              <a:ext cx="92361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ve fit et</a:t>
              </a:r>
            </a:p>
          </p:txBody>
        </p:sp>
        <p:sp>
          <p:nvSpPr>
            <p:cNvPr id="22" name="TextBox 22"/>
            <p:cNvSpPr txBox="1"/>
            <p:nvPr/>
          </p:nvSpPr>
          <p:spPr>
            <a:xfrm>
              <a:off x="1251585" y="4241006"/>
              <a:ext cx="923615"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self</a:t>
              </a:r>
            </a:p>
          </p:txBody>
        </p:sp>
        <p:sp>
          <p:nvSpPr>
            <p:cNvPr id="23" name="TextBox 23"/>
            <p:cNvSpPr txBox="1"/>
            <p:nvPr/>
          </p:nvSpPr>
          <p:spPr>
            <a:xfrm>
              <a:off x="1061085" y="4545806"/>
              <a:ext cx="1925077" cy="220028"/>
            </a:xfrm>
            <a:prstGeom prst="rect">
              <a:avLst/>
            </a:prstGeom>
            <a:noFill/>
            <a:ln>
              <a:noFill/>
            </a:ln>
          </p:spPr>
          <p:txBody>
            <a:bodyPr wrap="none" lIns="0" tIns="0" rIns="0" bIns="0" anchor="t" anchorCtr="0">
              <a:spAutoFit/>
            </a:bodyPr>
            <a:lstStyle/>
            <a:p>
              <a:pPr algn="l"/>
              <a:r>
                <a:rPr lang="tr-TR" sz="1120" dirty="0">
                  <a:solidFill>
                    <a:srgbClr val="FFFFFF"/>
                  </a:solidFill>
                  <a:latin typeface="Consolas"/>
                  <a:ea typeface="Consolas"/>
                  <a:cs typeface="Consolas"/>
                </a:rPr>
                <a:t>def transform(self, X):</a:t>
              </a:r>
            </a:p>
          </p:txBody>
        </p:sp>
        <p:sp>
          <p:nvSpPr>
            <p:cNvPr id="24" name="TextBox 24"/>
            <p:cNvSpPr txBox="1"/>
            <p:nvPr/>
          </p:nvSpPr>
          <p:spPr>
            <a:xfrm>
              <a:off x="1251585" y="4774406"/>
              <a:ext cx="241628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öğrenilen sınırlarla clip()</a:t>
              </a:r>
            </a:p>
          </p:txBody>
        </p:sp>
        <p:sp>
          <p:nvSpPr>
            <p:cNvPr id="25" name="TextBox 25"/>
            <p:cNvSpPr txBox="1"/>
            <p:nvPr/>
          </p:nvSpPr>
          <p:spPr>
            <a:xfrm>
              <a:off x="1251585" y="4983956"/>
              <a:ext cx="217428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 + pipeline_.transform(X)</a:t>
              </a:r>
            </a:p>
          </p:txBody>
        </p:sp>
        <p:sp>
          <p:nvSpPr>
            <p:cNvPr id="26" name="TextBox 26"/>
            <p:cNvSpPr txBox="1"/>
            <p:nvPr/>
          </p:nvSpPr>
          <p:spPr>
            <a:xfrm>
              <a:off x="1251585" y="5212556"/>
              <a:ext cx="291950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Consolas"/>
                  <a:ea typeface="Consolas"/>
                  <a:cs typeface="Consolas"/>
                </a:rPr>
                <a:t>return self.pipeline_.transform(Xc)</a:t>
              </a:r>
            </a:p>
          </p:txBody>
        </p:sp>
      </p:grpSp>
      <p:grpSp>
        <p:nvGrpSpPr>
          <p:cNvPr id="40" name="explain-panel"/>
          <p:cNvGrpSpPr/>
          <p:nvPr/>
        </p:nvGrpSpPr>
        <p:grpSpPr>
          <a:xfrm>
            <a:off x="7010400" y="1219200"/>
            <a:ext cx="4572000" cy="2857500"/>
            <a:chOff x="7010400" y="1219200"/>
            <a:chExt cx="4572000" cy="2857500"/>
          </a:xfrm>
        </p:grpSpPr>
        <p:sp>
          <p:nvSpPr>
            <p:cNvPr id="28" name="Rectangle 28"/>
            <p:cNvSpPr/>
            <p:nvPr/>
          </p:nvSpPr>
          <p:spPr>
            <a:xfrm>
              <a:off x="7010400" y="1219200"/>
              <a:ext cx="4572000" cy="2857500"/>
            </a:xfrm>
            <a:prstGeom prst="roundRect">
              <a:avLst>
                <a:gd name="adj" fmla="val 3333"/>
              </a:avLst>
            </a:prstGeom>
            <a:solidFill>
              <a:srgbClr val="FFFFFF"/>
            </a:solidFill>
            <a:ln w="14288">
              <a:solidFill>
                <a:srgbClr val="B8CBD3"/>
              </a:solidFill>
            </a:ln>
          </p:spPr>
        </p:sp>
        <p:sp>
          <p:nvSpPr>
            <p:cNvPr id="29" name="TextBox 29"/>
            <p:cNvSpPr txBox="1"/>
            <p:nvPr/>
          </p:nvSpPr>
          <p:spPr>
            <a:xfrm>
              <a:off x="7231380" y="1381125"/>
              <a:ext cx="2206384"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Neden özel bir sınıf?</a:t>
              </a:r>
            </a:p>
          </p:txBody>
        </p:sp>
        <p:sp>
          <p:nvSpPr>
            <p:cNvPr id="30" name="TextBox 30"/>
            <p:cNvSpPr txBox="1"/>
            <p:nvPr/>
          </p:nvSpPr>
          <p:spPr>
            <a:xfrm>
              <a:off x="7232523" y="1710214"/>
              <a:ext cx="258042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scikit-learn'ün fit/transform</a:t>
              </a:r>
            </a:p>
          </p:txBody>
        </p:sp>
        <p:sp>
          <p:nvSpPr>
            <p:cNvPr id="31" name="TextBox 31"/>
            <p:cNvSpPr txBox="1"/>
            <p:nvPr/>
          </p:nvSpPr>
          <p:spPr>
            <a:xfrm>
              <a:off x="7232523" y="1938814"/>
              <a:ext cx="196871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sözleşmesine uyar — bir</a:t>
              </a:r>
            </a:p>
          </p:txBody>
        </p:sp>
        <p:sp>
          <p:nvSpPr>
            <p:cNvPr id="32" name="TextBox 32"/>
            <p:cNvSpPr txBox="1"/>
            <p:nvPr/>
          </p:nvSpPr>
          <p:spPr>
            <a:xfrm>
              <a:off x="7232523" y="2167414"/>
              <a:ext cx="202581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Pipeline adımı olarak da</a:t>
              </a:r>
            </a:p>
          </p:txBody>
        </p:sp>
        <p:sp>
          <p:nvSpPr>
            <p:cNvPr id="33" name="TextBox 33"/>
            <p:cNvSpPr txBox="1"/>
            <p:nvPr/>
          </p:nvSpPr>
          <p:spPr>
            <a:xfrm>
              <a:off x="7232523" y="2396014"/>
              <a:ext cx="1081298"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kullanılabilir</a:t>
              </a:r>
            </a:p>
          </p:txBody>
        </p:sp>
        <p:sp>
          <p:nvSpPr>
            <p:cNvPr id="34" name="Line 34"/>
            <p:cNvSpPr/>
            <p:nvPr/>
          </p:nvSpPr>
          <p:spPr>
            <a:xfrm>
              <a:off x="7239000" y="2743200"/>
              <a:ext cx="4114800" cy="9525"/>
            </a:xfrm>
            <a:custGeom>
              <a:avLst/>
              <a:gdLst/>
              <a:ahLst/>
              <a:cxnLst/>
              <a:rect l="l" t="t" r="r" b="b"/>
              <a:pathLst>
                <a:path w="4114800" h="9525">
                  <a:moveTo>
                    <a:pt x="0" y="0"/>
                  </a:moveTo>
                  <a:lnTo>
                    <a:pt x="4114800" y="0"/>
                  </a:lnTo>
                </a:path>
              </a:pathLst>
            </a:custGeom>
            <a:noFill/>
            <a:ln w="9525">
              <a:solidFill>
                <a:srgbClr val="B8CBD3"/>
              </a:solidFill>
            </a:ln>
          </p:spPr>
        </p:sp>
        <p:sp>
          <p:nvSpPr>
            <p:cNvPr id="35" name="TextBox 35"/>
            <p:cNvSpPr txBox="1"/>
            <p:nvPr/>
          </p:nvSpPr>
          <p:spPr>
            <a:xfrm>
              <a:off x="7232523" y="2872264"/>
              <a:ext cx="1076837" cy="249364"/>
            </a:xfrm>
            <a:prstGeom prst="rect">
              <a:avLst/>
            </a:prstGeom>
            <a:noFill/>
            <a:ln>
              <a:noFill/>
            </a:ln>
          </p:spPr>
          <p:txBody>
            <a:bodyPr wrap="none" lIns="0" tIns="0" rIns="0" bIns="0" anchor="t" anchorCtr="0">
              <a:spAutoFit/>
            </a:bodyPr>
            <a:lstStyle/>
            <a:p>
              <a:pPr algn="l"/>
              <a:r>
                <a:rPr lang="tr-TR" sz="1280" b="1" dirty="0">
                  <a:solidFill>
                    <a:srgbClr val="12355B"/>
                  </a:solidFill>
                  <a:latin typeface="+mn-lt"/>
                  <a:ea typeface="+mn-ea"/>
                  <a:cs typeface="+mn-cs"/>
                </a:rPr>
                <a:t>Kritik nokta</a:t>
              </a:r>
            </a:p>
          </p:txBody>
        </p:sp>
        <p:sp>
          <p:nvSpPr>
            <p:cNvPr id="36" name="TextBox 36"/>
            <p:cNvSpPr txBox="1"/>
            <p:nvPr/>
          </p:nvSpPr>
          <p:spPr>
            <a:xfrm>
              <a:off x="7232904" y="3128010"/>
              <a:ext cx="226609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IQR sınırları yalnızca fit()</a:t>
              </a:r>
            </a:p>
          </p:txBody>
        </p:sp>
        <p:sp>
          <p:nvSpPr>
            <p:cNvPr id="37" name="TextBox 37"/>
            <p:cNvSpPr txBox="1"/>
            <p:nvPr/>
          </p:nvSpPr>
          <p:spPr>
            <a:xfrm>
              <a:off x="7232904" y="3337560"/>
              <a:ext cx="189234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sırasında (X_train'de)</a:t>
              </a:r>
            </a:p>
          </p:txBody>
        </p:sp>
        <p:sp>
          <p:nvSpPr>
            <p:cNvPr id="38" name="TextBox 38"/>
            <p:cNvSpPr txBox="1"/>
            <p:nvPr/>
          </p:nvSpPr>
          <p:spPr>
            <a:xfrm>
              <a:off x="7232904" y="3547110"/>
              <a:ext cx="223342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hesaplanır; transform() bu</a:t>
              </a:r>
            </a:p>
          </p:txBody>
        </p:sp>
        <p:sp>
          <p:nvSpPr>
            <p:cNvPr id="39" name="TextBox 39"/>
            <p:cNvSpPr txBox="1"/>
            <p:nvPr/>
          </p:nvSpPr>
          <p:spPr>
            <a:xfrm>
              <a:off x="7232904" y="3756660"/>
              <a:ext cx="225765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öğrenilmiş değerleri kullanır</a:t>
              </a:r>
            </a:p>
          </p:txBody>
        </p:sp>
      </p:grpSp>
      <p:grpSp>
        <p:nvGrpSpPr>
          <p:cNvPr id="46" name="usage-panel"/>
          <p:cNvGrpSpPr/>
          <p:nvPr/>
        </p:nvGrpSpPr>
        <p:grpSpPr>
          <a:xfrm>
            <a:off x="7010400" y="4305300"/>
            <a:ext cx="4572000" cy="1333500"/>
            <a:chOff x="7010400" y="4305300"/>
            <a:chExt cx="4572000" cy="1333500"/>
          </a:xfrm>
        </p:grpSpPr>
        <p:sp>
          <p:nvSpPr>
            <p:cNvPr id="41" name="Rectangle 41"/>
            <p:cNvSpPr/>
            <p:nvPr/>
          </p:nvSpPr>
          <p:spPr>
            <a:xfrm>
              <a:off x="7010400" y="4305300"/>
              <a:ext cx="4572000" cy="1333500"/>
            </a:xfrm>
            <a:prstGeom prst="roundRect">
              <a:avLst>
                <a:gd name="adj" fmla="val 7143"/>
              </a:avLst>
            </a:prstGeom>
            <a:solidFill>
              <a:srgbClr val="EAF4F6"/>
            </a:solidFill>
            <a:ln>
              <a:noFill/>
            </a:ln>
          </p:spPr>
        </p:sp>
        <p:sp>
          <p:nvSpPr>
            <p:cNvPr id="42" name="TextBox 42"/>
            <p:cNvSpPr txBox="1"/>
            <p:nvPr/>
          </p:nvSpPr>
          <p:spPr>
            <a:xfrm>
              <a:off x="7232142" y="4464368"/>
              <a:ext cx="801629"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Kullanım</a:t>
              </a:r>
            </a:p>
          </p:txBody>
        </p:sp>
        <p:sp>
          <p:nvSpPr>
            <p:cNvPr id="43" name="TextBox 43"/>
            <p:cNvSpPr txBox="1"/>
            <p:nvPr/>
          </p:nvSpPr>
          <p:spPr>
            <a:xfrm>
              <a:off x="7233285" y="4755356"/>
              <a:ext cx="3020071"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hatti = ChurnOnIslemeHatti(num, cat)</a:t>
              </a:r>
            </a:p>
          </p:txBody>
        </p:sp>
        <p:sp>
          <p:nvSpPr>
            <p:cNvPr id="44" name="TextBox 44"/>
            <p:cNvSpPr txBox="1"/>
            <p:nvPr/>
          </p:nvSpPr>
          <p:spPr>
            <a:xfrm>
              <a:off x="7233285" y="4983956"/>
              <a:ext cx="1510132"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hatti.fit(X_train)</a:t>
              </a:r>
            </a:p>
          </p:txBody>
        </p:sp>
        <p:sp>
          <p:nvSpPr>
            <p:cNvPr id="45" name="TextBox 45"/>
            <p:cNvSpPr txBox="1"/>
            <p:nvPr/>
          </p:nvSpPr>
          <p:spPr>
            <a:xfrm>
              <a:off x="7233285" y="5212556"/>
              <a:ext cx="3174916"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X_test_hazir = hatti.transform(X_test)</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26968" cy="668845"/>
            <a:chOff x="609600" y="171450"/>
            <a:chExt cx="842696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62476" y="339090"/>
                <a:ext cx="265748" cy="236220"/>
                <a:chOff x="762476" y="339090"/>
                <a:chExt cx="265748" cy="236220"/>
              </a:xfrm>
            </p:grpSpPr>
            <p:sp>
              <p:nvSpPr>
                <p:cNvPr id="5" name="Freeform 5"/>
                <p:cNvSpPr/>
                <p:nvPr/>
              </p:nvSpPr>
              <p:spPr>
                <a:xfrm>
                  <a:off x="762476" y="398145"/>
                  <a:ext cx="59055" cy="118110"/>
                </a:xfrm>
                <a:custGeom>
                  <a:avLst/>
                  <a:gdLst/>
                  <a:ahLst/>
                  <a:cxnLst/>
                  <a:rect l="l" t="t" r="r" b="b"/>
                  <a:pathLst>
                    <a:path w="59055" h="118110">
                      <a:moveTo>
                        <a:pt x="59055" y="0"/>
                      </a:moveTo>
                      <a:lnTo>
                        <a:pt x="0" y="59055"/>
                      </a:lnTo>
                      <a:lnTo>
                        <a:pt x="59055" y="118110"/>
                      </a:lnTo>
                    </a:path>
                  </a:pathLst>
                </a:custGeom>
                <a:noFill/>
                <a:ln w="24759" cap="rnd">
                  <a:solidFill>
                    <a:srgbClr val="FFFFFF"/>
                  </a:solidFill>
                  <a:round/>
                </a:ln>
              </p:spPr>
            </p:sp>
            <p:sp>
              <p:nvSpPr>
                <p:cNvPr id="6" name="Freeform 6"/>
                <p:cNvSpPr/>
                <p:nvPr/>
              </p:nvSpPr>
              <p:spPr>
                <a:xfrm>
                  <a:off x="969169" y="398145"/>
                  <a:ext cx="59055" cy="118110"/>
                </a:xfrm>
                <a:custGeom>
                  <a:avLst/>
                  <a:gdLst/>
                  <a:ahLst/>
                  <a:cxnLst/>
                  <a:rect l="l" t="t" r="r" b="b"/>
                  <a:pathLst>
                    <a:path w="59055" h="118110">
                      <a:moveTo>
                        <a:pt x="0" y="0"/>
                      </a:moveTo>
                      <a:lnTo>
                        <a:pt x="59055" y="59055"/>
                      </a:lnTo>
                      <a:lnTo>
                        <a:pt x="0" y="118110"/>
                      </a:lnTo>
                    </a:path>
                  </a:pathLst>
                </a:custGeom>
                <a:noFill/>
                <a:ln w="24759" cap="rnd">
                  <a:solidFill>
                    <a:srgbClr val="FFFFFF"/>
                  </a:solidFill>
                  <a:round/>
                </a:ln>
              </p:spPr>
            </p:sp>
            <p:sp>
              <p:nvSpPr>
                <p:cNvPr id="7" name="Freeform 7"/>
                <p:cNvSpPr/>
                <p:nvPr/>
              </p:nvSpPr>
              <p:spPr>
                <a:xfrm>
                  <a:off x="865822" y="339090"/>
                  <a:ext cx="59055" cy="236220"/>
                </a:xfrm>
                <a:custGeom>
                  <a:avLst/>
                  <a:gdLst/>
                  <a:ahLst/>
                  <a:cxnLst/>
                  <a:rect l="l" t="t" r="r" b="b"/>
                  <a:pathLst>
                    <a:path w="59055" h="236220">
                      <a:moveTo>
                        <a:pt x="59055" y="0"/>
                      </a:moveTo>
                      <a:lnTo>
                        <a:pt x="0" y="236220"/>
                      </a:lnTo>
                    </a:path>
                  </a:pathLst>
                </a:custGeom>
                <a:noFill/>
                <a:ln w="24759" cap="rnd">
                  <a:solidFill>
                    <a:srgbClr val="FFFFFF"/>
                  </a:solidFill>
                  <a:round/>
                </a:ln>
              </p:spPr>
            </p:sp>
          </p:grpSp>
        </p:grpSp>
        <p:sp>
          <p:nvSpPr>
            <p:cNvPr id="10" name="TextBox 10"/>
            <p:cNvSpPr txBox="1"/>
            <p:nvPr/>
          </p:nvSpPr>
          <p:spPr>
            <a:xfrm>
              <a:off x="1299972" y="282892"/>
              <a:ext cx="773659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sık kod hataları</a:t>
              </a:r>
            </a:p>
          </p:txBody>
        </p:sp>
      </p:grpSp>
      <p:grpSp>
        <p:nvGrpSpPr>
          <p:cNvPr id="15" name="table-head"/>
          <p:cNvGrpSpPr/>
          <p:nvPr/>
        </p:nvGrpSpPr>
        <p:grpSpPr>
          <a:xfrm>
            <a:off x="609600" y="1219200"/>
            <a:ext cx="10972800" cy="419100"/>
            <a:chOff x="609600" y="1219200"/>
            <a:chExt cx="10972800" cy="419100"/>
          </a:xfrm>
        </p:grpSpPr>
        <p:sp>
          <p:nvSpPr>
            <p:cNvPr id="12" name="Rectangle 12"/>
            <p:cNvSpPr/>
            <p:nvPr/>
          </p:nvSpPr>
          <p:spPr>
            <a:xfrm>
              <a:off x="609600" y="1219200"/>
              <a:ext cx="10972800" cy="419100"/>
            </a:xfrm>
            <a:prstGeom prst="rect">
              <a:avLst/>
            </a:prstGeom>
            <a:solidFill>
              <a:srgbClr val="12355B"/>
            </a:solidFill>
            <a:ln>
              <a:noFill/>
            </a:ln>
          </p:spPr>
        </p:sp>
        <p:sp>
          <p:nvSpPr>
            <p:cNvPr id="13" name="TextBox 13"/>
            <p:cNvSpPr txBox="1"/>
            <p:nvPr/>
          </p:nvSpPr>
          <p:spPr>
            <a:xfrm>
              <a:off x="907542" y="1340168"/>
              <a:ext cx="1880831"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Yanlış inanış / hata</a:t>
              </a:r>
            </a:p>
          </p:txBody>
        </p:sp>
        <p:sp>
          <p:nvSpPr>
            <p:cNvPr id="14" name="TextBox 14"/>
            <p:cNvSpPr txBox="1"/>
            <p:nvPr/>
          </p:nvSpPr>
          <p:spPr>
            <a:xfrm>
              <a:off x="6432042" y="1340168"/>
              <a:ext cx="649375"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Gerçek</a:t>
              </a:r>
            </a:p>
          </p:txBody>
        </p:sp>
      </p:grpSp>
      <p:grpSp>
        <p:nvGrpSpPr>
          <p:cNvPr id="21" name="row-1"/>
          <p:cNvGrpSpPr/>
          <p:nvPr/>
        </p:nvGrpSpPr>
        <p:grpSpPr>
          <a:xfrm>
            <a:off x="609600" y="1638300"/>
            <a:ext cx="10972800" cy="590550"/>
            <a:chOff x="609600" y="1638300"/>
            <a:chExt cx="10972800" cy="590550"/>
          </a:xfrm>
        </p:grpSpPr>
        <p:sp>
          <p:nvSpPr>
            <p:cNvPr id="16" name="Rectangle 16"/>
            <p:cNvSpPr/>
            <p:nvPr/>
          </p:nvSpPr>
          <p:spPr>
            <a:xfrm>
              <a:off x="609600" y="1638300"/>
              <a:ext cx="10972800" cy="590550"/>
            </a:xfrm>
            <a:prstGeom prst="rect">
              <a:avLst/>
            </a:prstGeom>
            <a:solidFill>
              <a:srgbClr val="FFFFFF"/>
            </a:solidFill>
            <a:ln>
              <a:noFill/>
            </a:ln>
          </p:spPr>
        </p:sp>
        <p:sp>
          <p:nvSpPr>
            <p:cNvPr id="17" name="TextBox 17"/>
            <p:cNvSpPr txBox="1"/>
            <p:nvPr/>
          </p:nvSpPr>
          <p:spPr>
            <a:xfrm>
              <a:off x="907923" y="1767364"/>
              <a:ext cx="3085923"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"Ölçeklemeyi ayırmadan önce yapsam</a:t>
              </a:r>
            </a:p>
          </p:txBody>
        </p:sp>
        <p:sp>
          <p:nvSpPr>
            <p:cNvPr id="18" name="TextBox 18"/>
            <p:cNvSpPr txBox="1"/>
            <p:nvPr/>
          </p:nvSpPr>
          <p:spPr>
            <a:xfrm>
              <a:off x="907923" y="1976914"/>
              <a:ext cx="1357000"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daha hızlı olur"</a:t>
              </a:r>
            </a:p>
          </p:txBody>
        </p:sp>
        <p:sp>
          <p:nvSpPr>
            <p:cNvPr id="19" name="TextBox 19"/>
            <p:cNvSpPr txBox="1"/>
            <p:nvPr/>
          </p:nvSpPr>
          <p:spPr>
            <a:xfrm>
              <a:off x="6432423" y="1767364"/>
              <a:ext cx="3430128"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Test verisinin istatistiği eğitime sızar —</a:t>
              </a:r>
            </a:p>
          </p:txBody>
        </p:sp>
        <p:sp>
          <p:nvSpPr>
            <p:cNvPr id="20" name="TextBox 20"/>
            <p:cNvSpPr txBox="1"/>
            <p:nvPr/>
          </p:nvSpPr>
          <p:spPr>
            <a:xfrm>
              <a:off x="6432423" y="1976914"/>
              <a:ext cx="2795819"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sonuçlar yapay olarak iyi görünür</a:t>
              </a:r>
            </a:p>
          </p:txBody>
        </p:sp>
      </p:grpSp>
      <p:sp>
        <p:nvSpPr>
          <p:cNvPr id="22" name="Line 22"/>
          <p:cNvSpPr/>
          <p:nvPr/>
        </p:nvSpPr>
        <p:spPr>
          <a:xfrm>
            <a:off x="609600" y="2228850"/>
            <a:ext cx="10972800" cy="9525"/>
          </a:xfrm>
          <a:custGeom>
            <a:avLst/>
            <a:gdLst/>
            <a:ahLst/>
            <a:cxnLst/>
            <a:rect l="l" t="t" r="r" b="b"/>
            <a:pathLst>
              <a:path w="10972800" h="9525">
                <a:moveTo>
                  <a:pt x="0" y="0"/>
                </a:moveTo>
                <a:lnTo>
                  <a:pt x="10972800" y="0"/>
                </a:lnTo>
              </a:path>
            </a:pathLst>
          </a:custGeom>
          <a:noFill/>
          <a:ln w="4762">
            <a:solidFill>
              <a:srgbClr val="B8CBD3"/>
            </a:solidFill>
          </a:ln>
        </p:spPr>
      </p:sp>
      <p:grpSp>
        <p:nvGrpSpPr>
          <p:cNvPr id="27" name="row-2"/>
          <p:cNvGrpSpPr/>
          <p:nvPr/>
        </p:nvGrpSpPr>
        <p:grpSpPr>
          <a:xfrm>
            <a:off x="609600" y="2228850"/>
            <a:ext cx="10972800" cy="590550"/>
            <a:chOff x="609600" y="2228850"/>
            <a:chExt cx="10972800" cy="590550"/>
          </a:xfrm>
        </p:grpSpPr>
        <p:sp>
          <p:nvSpPr>
            <p:cNvPr id="23" name="Rectangle 23"/>
            <p:cNvSpPr/>
            <p:nvPr/>
          </p:nvSpPr>
          <p:spPr>
            <a:xfrm>
              <a:off x="609600" y="2228850"/>
              <a:ext cx="10972800" cy="590550"/>
            </a:xfrm>
            <a:prstGeom prst="rect">
              <a:avLst/>
            </a:prstGeom>
            <a:solidFill>
              <a:srgbClr val="FFFFFF"/>
            </a:solidFill>
            <a:ln>
              <a:noFill/>
            </a:ln>
          </p:spPr>
        </p:sp>
        <p:sp>
          <p:nvSpPr>
            <p:cNvPr id="24" name="TextBox 24"/>
            <p:cNvSpPr txBox="1"/>
            <p:nvPr/>
          </p:nvSpPr>
          <p:spPr>
            <a:xfrm>
              <a:off x="907923" y="2357914"/>
              <a:ext cx="3441995"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df.drop("kolon") her zaman sütunu siler</a:t>
              </a:r>
            </a:p>
          </p:txBody>
        </p:sp>
        <p:sp>
          <p:nvSpPr>
            <p:cNvPr id="25" name="TextBox 25"/>
            <p:cNvSpPr txBox="1"/>
            <p:nvPr/>
          </p:nvSpPr>
          <p:spPr>
            <a:xfrm>
              <a:off x="6432423" y="2357914"/>
              <a:ext cx="3209371"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axis/columns belirtilmezse satır siler</a:t>
              </a:r>
            </a:p>
          </p:txBody>
        </p:sp>
        <p:sp>
          <p:nvSpPr>
            <p:cNvPr id="26" name="TextBox 26"/>
            <p:cNvSpPr txBox="1"/>
            <p:nvPr/>
          </p:nvSpPr>
          <p:spPr>
            <a:xfrm>
              <a:off x="6432423" y="2567464"/>
              <a:ext cx="2873360"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sanılır — columns="kolon" gerekir</a:t>
              </a:r>
            </a:p>
          </p:txBody>
        </p:sp>
      </p:grpSp>
      <p:sp>
        <p:nvSpPr>
          <p:cNvPr id="28" name="Line 28"/>
          <p:cNvSpPr/>
          <p:nvPr/>
        </p:nvSpPr>
        <p:spPr>
          <a:xfrm>
            <a:off x="609600" y="2819400"/>
            <a:ext cx="10972800" cy="9525"/>
          </a:xfrm>
          <a:custGeom>
            <a:avLst/>
            <a:gdLst/>
            <a:ahLst/>
            <a:cxnLst/>
            <a:rect l="l" t="t" r="r" b="b"/>
            <a:pathLst>
              <a:path w="10972800" h="9525">
                <a:moveTo>
                  <a:pt x="0" y="0"/>
                </a:moveTo>
                <a:lnTo>
                  <a:pt x="10972800" y="0"/>
                </a:lnTo>
              </a:path>
            </a:pathLst>
          </a:custGeom>
          <a:noFill/>
          <a:ln w="4762">
            <a:solidFill>
              <a:srgbClr val="B8CBD3"/>
            </a:solidFill>
          </a:ln>
        </p:spPr>
      </p:sp>
      <p:grpSp>
        <p:nvGrpSpPr>
          <p:cNvPr id="33" name="row-3"/>
          <p:cNvGrpSpPr/>
          <p:nvPr/>
        </p:nvGrpSpPr>
        <p:grpSpPr>
          <a:xfrm>
            <a:off x="609600" y="2819400"/>
            <a:ext cx="10972800" cy="590550"/>
            <a:chOff x="609600" y="2819400"/>
            <a:chExt cx="10972800" cy="590550"/>
          </a:xfrm>
        </p:grpSpPr>
        <p:sp>
          <p:nvSpPr>
            <p:cNvPr id="29" name="Rectangle 29"/>
            <p:cNvSpPr/>
            <p:nvPr/>
          </p:nvSpPr>
          <p:spPr>
            <a:xfrm>
              <a:off x="609600" y="2819400"/>
              <a:ext cx="10972800" cy="590550"/>
            </a:xfrm>
            <a:prstGeom prst="rect">
              <a:avLst/>
            </a:prstGeom>
            <a:solidFill>
              <a:srgbClr val="FFFFFF"/>
            </a:solidFill>
            <a:ln>
              <a:noFill/>
            </a:ln>
          </p:spPr>
        </p:sp>
        <p:sp>
          <p:nvSpPr>
            <p:cNvPr id="30" name="TextBox 30"/>
            <p:cNvSpPr txBox="1"/>
            <p:nvPr/>
          </p:nvSpPr>
          <p:spPr>
            <a:xfrm>
              <a:off x="907923" y="2948464"/>
              <a:ext cx="364877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df[df["x"] == np.nan] ile eksikleri bulurum</a:t>
              </a:r>
            </a:p>
          </p:txBody>
        </p:sp>
        <p:sp>
          <p:nvSpPr>
            <p:cNvPr id="31" name="TextBox 31"/>
            <p:cNvSpPr txBox="1"/>
            <p:nvPr/>
          </p:nvSpPr>
          <p:spPr>
            <a:xfrm>
              <a:off x="6432423" y="2948464"/>
              <a:ext cx="2677710"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NaN hiçbir değere eşit değildir —</a:t>
              </a:r>
            </a:p>
          </p:txBody>
        </p:sp>
        <p:sp>
          <p:nvSpPr>
            <p:cNvPr id="32" name="TextBox 32"/>
            <p:cNvSpPr txBox="1"/>
            <p:nvPr/>
          </p:nvSpPr>
          <p:spPr>
            <a:xfrm>
              <a:off x="6432423" y="3158014"/>
              <a:ext cx="2347803"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df["x"].isna() kullanılmalı</a:t>
              </a:r>
            </a:p>
          </p:txBody>
        </p:sp>
      </p:grpSp>
      <p:sp>
        <p:nvSpPr>
          <p:cNvPr id="34" name="Line 34"/>
          <p:cNvSpPr/>
          <p:nvPr/>
        </p:nvSpPr>
        <p:spPr>
          <a:xfrm>
            <a:off x="609600" y="3409950"/>
            <a:ext cx="10972800" cy="9525"/>
          </a:xfrm>
          <a:custGeom>
            <a:avLst/>
            <a:gdLst/>
            <a:ahLst/>
            <a:cxnLst/>
            <a:rect l="l" t="t" r="r" b="b"/>
            <a:pathLst>
              <a:path w="10972800" h="9525">
                <a:moveTo>
                  <a:pt x="0" y="0"/>
                </a:moveTo>
                <a:lnTo>
                  <a:pt x="10972800" y="0"/>
                </a:lnTo>
              </a:path>
            </a:pathLst>
          </a:custGeom>
          <a:noFill/>
          <a:ln w="4762">
            <a:solidFill>
              <a:srgbClr val="B8CBD3"/>
            </a:solidFill>
          </a:ln>
        </p:spPr>
      </p:sp>
      <p:grpSp>
        <p:nvGrpSpPr>
          <p:cNvPr id="39" name="row-4"/>
          <p:cNvGrpSpPr/>
          <p:nvPr/>
        </p:nvGrpSpPr>
        <p:grpSpPr>
          <a:xfrm>
            <a:off x="609600" y="3409950"/>
            <a:ext cx="10972800" cy="590550"/>
            <a:chOff x="609600" y="3409950"/>
            <a:chExt cx="10972800" cy="590550"/>
          </a:xfrm>
        </p:grpSpPr>
        <p:sp>
          <p:nvSpPr>
            <p:cNvPr id="35" name="Rectangle 35"/>
            <p:cNvSpPr/>
            <p:nvPr/>
          </p:nvSpPr>
          <p:spPr>
            <a:xfrm>
              <a:off x="609600" y="3409950"/>
              <a:ext cx="10972800" cy="590550"/>
            </a:xfrm>
            <a:prstGeom prst="rect">
              <a:avLst/>
            </a:prstGeom>
            <a:solidFill>
              <a:srgbClr val="FFFFFF"/>
            </a:solidFill>
            <a:ln>
              <a:noFill/>
            </a:ln>
          </p:spPr>
        </p:sp>
        <p:sp>
          <p:nvSpPr>
            <p:cNvPr id="36" name="TextBox 36"/>
            <p:cNvSpPr txBox="1"/>
            <p:nvPr/>
          </p:nvSpPr>
          <p:spPr>
            <a:xfrm>
              <a:off x="907923" y="3539014"/>
              <a:ext cx="3706604"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X_test'e fit_transform çağırmak zararsız</a:t>
              </a:r>
            </a:p>
          </p:txBody>
        </p:sp>
        <p:sp>
          <p:nvSpPr>
            <p:cNvPr id="37" name="TextBox 37"/>
            <p:cNvSpPr txBox="1"/>
            <p:nvPr/>
          </p:nvSpPr>
          <p:spPr>
            <a:xfrm>
              <a:off x="6432423" y="3539014"/>
              <a:ext cx="3146347"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Test'ten yeniden öğrenmek, eğitimde</a:t>
              </a:r>
            </a:p>
          </p:txBody>
        </p:sp>
        <p:sp>
          <p:nvSpPr>
            <p:cNvPr id="38" name="TextBox 38"/>
            <p:cNvSpPr txBox="1"/>
            <p:nvPr/>
          </p:nvSpPr>
          <p:spPr>
            <a:xfrm>
              <a:off x="6432423" y="3748564"/>
              <a:ext cx="3933088"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öğrenileni geçersiz kılar — yalnızca transform</a:t>
              </a:r>
            </a:p>
          </p:txBody>
        </p:sp>
      </p:grpSp>
      <p:sp>
        <p:nvSpPr>
          <p:cNvPr id="40" name="Line 40"/>
          <p:cNvSpPr/>
          <p:nvPr/>
        </p:nvSpPr>
        <p:spPr>
          <a:xfrm>
            <a:off x="609600" y="4000500"/>
            <a:ext cx="10972800" cy="9525"/>
          </a:xfrm>
          <a:custGeom>
            <a:avLst/>
            <a:gdLst/>
            <a:ahLst/>
            <a:cxnLst/>
            <a:rect l="l" t="t" r="r" b="b"/>
            <a:pathLst>
              <a:path w="10972800" h="9525">
                <a:moveTo>
                  <a:pt x="0" y="0"/>
                </a:moveTo>
                <a:lnTo>
                  <a:pt x="10972800" y="0"/>
                </a:lnTo>
              </a:path>
            </a:pathLst>
          </a:custGeom>
          <a:noFill/>
          <a:ln w="4762">
            <a:solidFill>
              <a:srgbClr val="B8CBD3"/>
            </a:solidFill>
          </a:ln>
        </p:spPr>
      </p:sp>
      <p:grpSp>
        <p:nvGrpSpPr>
          <p:cNvPr id="45" name="row-5"/>
          <p:cNvGrpSpPr/>
          <p:nvPr/>
        </p:nvGrpSpPr>
        <p:grpSpPr>
          <a:xfrm>
            <a:off x="609600" y="4000500"/>
            <a:ext cx="10972800" cy="590550"/>
            <a:chOff x="609600" y="4000500"/>
            <a:chExt cx="10972800" cy="590550"/>
          </a:xfrm>
        </p:grpSpPr>
        <p:sp>
          <p:nvSpPr>
            <p:cNvPr id="41" name="Rectangle 41"/>
            <p:cNvSpPr/>
            <p:nvPr/>
          </p:nvSpPr>
          <p:spPr>
            <a:xfrm>
              <a:off x="609600" y="4000500"/>
              <a:ext cx="10972800" cy="590550"/>
            </a:xfrm>
            <a:prstGeom prst="rect">
              <a:avLst/>
            </a:prstGeom>
            <a:solidFill>
              <a:srgbClr val="FFFFFF"/>
            </a:solidFill>
            <a:ln>
              <a:noFill/>
            </a:ln>
          </p:spPr>
        </p:sp>
        <p:sp>
          <p:nvSpPr>
            <p:cNvPr id="42" name="TextBox 42"/>
            <p:cNvSpPr txBox="1"/>
            <p:nvPr/>
          </p:nvSpPr>
          <p:spPr>
            <a:xfrm>
              <a:off x="907923" y="4129564"/>
              <a:ext cx="3841941"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Aykırı sınır her zaman Q1−IQR / Q3+IQR'dir</a:t>
              </a:r>
            </a:p>
          </p:txBody>
        </p:sp>
        <p:sp>
          <p:nvSpPr>
            <p:cNvPr id="43" name="TextBox 43"/>
            <p:cNvSpPr txBox="1"/>
            <p:nvPr/>
          </p:nvSpPr>
          <p:spPr>
            <a:xfrm>
              <a:off x="6432423" y="4129564"/>
              <a:ext cx="3227488"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Doğrusu 1.5×IQR — katsayı unutulursa</a:t>
              </a:r>
            </a:p>
          </p:txBody>
        </p:sp>
        <p:sp>
          <p:nvSpPr>
            <p:cNvPr id="44" name="TextBox 44"/>
            <p:cNvSpPr txBox="1"/>
            <p:nvPr/>
          </p:nvSpPr>
          <p:spPr>
            <a:xfrm>
              <a:off x="6432423" y="4339114"/>
              <a:ext cx="2356419"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sınırlar çok dar hesaplanır</a:t>
              </a:r>
            </a:p>
          </p:txBody>
        </p:sp>
      </p:grpSp>
      <p:sp>
        <p:nvSpPr>
          <p:cNvPr id="46" name="Line 46"/>
          <p:cNvSpPr/>
          <p:nvPr/>
        </p:nvSpPr>
        <p:spPr>
          <a:xfrm>
            <a:off x="609600" y="4591050"/>
            <a:ext cx="10972800" cy="9525"/>
          </a:xfrm>
          <a:custGeom>
            <a:avLst/>
            <a:gdLst/>
            <a:ahLst/>
            <a:cxnLst/>
            <a:rect l="l" t="t" r="r" b="b"/>
            <a:pathLst>
              <a:path w="10972800" h="9525">
                <a:moveTo>
                  <a:pt x="0" y="0"/>
                </a:moveTo>
                <a:lnTo>
                  <a:pt x="10972800" y="0"/>
                </a:lnTo>
              </a:path>
            </a:pathLst>
          </a:custGeom>
          <a:noFill/>
          <a:ln w="4762">
            <a:solidFill>
              <a:srgbClr val="B8CBD3"/>
            </a:solidFill>
          </a:ln>
        </p:spPr>
      </p:sp>
      <p:grpSp>
        <p:nvGrpSpPr>
          <p:cNvPr id="51" name="row-6"/>
          <p:cNvGrpSpPr/>
          <p:nvPr/>
        </p:nvGrpSpPr>
        <p:grpSpPr>
          <a:xfrm>
            <a:off x="609600" y="4591050"/>
            <a:ext cx="10972800" cy="590550"/>
            <a:chOff x="609600" y="4591050"/>
            <a:chExt cx="10972800" cy="590550"/>
          </a:xfrm>
        </p:grpSpPr>
        <p:sp>
          <p:nvSpPr>
            <p:cNvPr id="47" name="Rectangle 47"/>
            <p:cNvSpPr/>
            <p:nvPr/>
          </p:nvSpPr>
          <p:spPr>
            <a:xfrm>
              <a:off x="609600" y="4591050"/>
              <a:ext cx="10972800" cy="590550"/>
            </a:xfrm>
            <a:prstGeom prst="rect">
              <a:avLst/>
            </a:prstGeom>
            <a:solidFill>
              <a:srgbClr val="FFFFFF"/>
            </a:solidFill>
            <a:ln>
              <a:noFill/>
            </a:ln>
          </p:spPr>
        </p:sp>
        <p:sp>
          <p:nvSpPr>
            <p:cNvPr id="48" name="TextBox 48"/>
            <p:cNvSpPr txBox="1"/>
            <p:nvPr/>
          </p:nvSpPr>
          <p:spPr>
            <a:xfrm>
              <a:off x="907923" y="4720114"/>
              <a:ext cx="3536767" cy="249364"/>
            </a:xfrm>
            <a:prstGeom prst="rect">
              <a:avLst/>
            </a:prstGeom>
            <a:noFill/>
            <a:ln>
              <a:noFill/>
            </a:ln>
          </p:spPr>
          <p:txBody>
            <a:bodyPr wrap="none" lIns="0" tIns="0" rIns="0" bIns="0" anchor="t" anchorCtr="0">
              <a:spAutoFit/>
            </a:bodyPr>
            <a:lstStyle/>
            <a:p>
              <a:pPr algn="l"/>
              <a:r>
                <a:rPr lang="tr-TR" sz="1280" dirty="0">
                  <a:solidFill>
                    <a:srgbClr val="172B3A"/>
                  </a:solidFill>
                  <a:latin typeface="+mn-lt"/>
                  <a:ea typeface="+mn-ea"/>
                  <a:cs typeface="+mn-cs"/>
                </a:rPr>
                <a:t>stratify ve random_state isteğe bağlıdır</a:t>
              </a:r>
            </a:p>
          </p:txBody>
        </p:sp>
        <p:sp>
          <p:nvSpPr>
            <p:cNvPr id="49" name="TextBox 49"/>
            <p:cNvSpPr txBox="1"/>
            <p:nvPr/>
          </p:nvSpPr>
          <p:spPr>
            <a:xfrm>
              <a:off x="6432423" y="4720114"/>
              <a:ext cx="3429845"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Dengesiz sınıflarda ve tekrarlanabilirlik</a:t>
              </a:r>
            </a:p>
          </p:txBody>
        </p:sp>
        <p:sp>
          <p:nvSpPr>
            <p:cNvPr id="50" name="TextBox 50"/>
            <p:cNvSpPr txBox="1"/>
            <p:nvPr/>
          </p:nvSpPr>
          <p:spPr>
            <a:xfrm>
              <a:off x="6432423" y="4929664"/>
              <a:ext cx="2666583" cy="249364"/>
            </a:xfrm>
            <a:prstGeom prst="rect">
              <a:avLst/>
            </a:prstGeom>
            <a:noFill/>
            <a:ln>
              <a:noFill/>
            </a:ln>
          </p:spPr>
          <p:txBody>
            <a:bodyPr wrap="none" lIns="0" tIns="0" rIns="0" bIns="0" anchor="t" anchorCtr="0">
              <a:spAutoFit/>
            </a:bodyPr>
            <a:lstStyle/>
            <a:p>
              <a:pPr algn="l"/>
              <a:r>
                <a:rPr lang="tr-TR" sz="1280" dirty="0">
                  <a:solidFill>
                    <a:srgbClr val="12355B"/>
                  </a:solidFill>
                  <a:latin typeface="+mn-lt"/>
                  <a:ea typeface="+mn-ea"/>
                  <a:cs typeface="+mn-cs"/>
                </a:rPr>
                <a:t>için ikisi de pratikte zorunludur</a:t>
              </a:r>
            </a:p>
          </p:txBody>
        </p:sp>
      </p:grpSp>
      <p:sp>
        <p:nvSpPr>
          <p:cNvPr id="52" name="Line 52"/>
          <p:cNvSpPr/>
          <p:nvPr/>
        </p:nvSpPr>
        <p:spPr>
          <a:xfrm>
            <a:off x="609600" y="51816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nvGrpSpPr>
          <p:cNvPr id="56" name="summary-note"/>
          <p:cNvGrpSpPr/>
          <p:nvPr/>
        </p:nvGrpSpPr>
        <p:grpSpPr>
          <a:xfrm>
            <a:off x="609600" y="5429250"/>
            <a:ext cx="10972800" cy="800100"/>
            <a:chOff x="609600" y="5429250"/>
            <a:chExt cx="10972800" cy="800100"/>
          </a:xfrm>
        </p:grpSpPr>
        <p:sp>
          <p:nvSpPr>
            <p:cNvPr id="53" name="Rectangle 53"/>
            <p:cNvSpPr/>
            <p:nvPr/>
          </p:nvSpPr>
          <p:spPr>
            <a:xfrm>
              <a:off x="609600" y="5429250"/>
              <a:ext cx="10972800" cy="800100"/>
            </a:xfrm>
            <a:prstGeom prst="roundRect">
              <a:avLst>
                <a:gd name="adj" fmla="val 11905"/>
              </a:avLst>
            </a:prstGeom>
            <a:solidFill>
              <a:srgbClr val="EAF4F6"/>
            </a:solidFill>
            <a:ln>
              <a:noFill/>
            </a:ln>
          </p:spPr>
        </p:sp>
        <p:sp>
          <p:nvSpPr>
            <p:cNvPr id="54" name="TextBox 54"/>
            <p:cNvSpPr txBox="1"/>
            <p:nvPr/>
          </p:nvSpPr>
          <p:spPr>
            <a:xfrm>
              <a:off x="906780" y="5572125"/>
              <a:ext cx="6897592"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Ortak payda: sınırları X_train'den öğren, X_test'e aynen uygula</a:t>
              </a:r>
            </a:p>
          </p:txBody>
        </p:sp>
        <p:sp>
          <p:nvSpPr>
            <p:cNvPr id="55" name="TextBox 55"/>
            <p:cNvSpPr txBox="1"/>
            <p:nvPr/>
          </p:nvSpPr>
          <p:spPr>
            <a:xfrm>
              <a:off x="907542" y="5835968"/>
              <a:ext cx="504443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Yedi hatanın altısı bu tek ilkenin ihlalinden kaynaklanır.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15" name="summary-1"/>
          <p:cNvGrpSpPr/>
          <p:nvPr/>
        </p:nvGrpSpPr>
        <p:grpSpPr>
          <a:xfrm>
            <a:off x="609600" y="1257300"/>
            <a:ext cx="3352800" cy="2095500"/>
            <a:chOff x="609600" y="1257300"/>
            <a:chExt cx="3352800" cy="2095500"/>
          </a:xfrm>
        </p:grpSpPr>
        <p:sp>
          <p:nvSpPr>
            <p:cNvPr id="6" name="Rectangle 6"/>
            <p:cNvSpPr/>
            <p:nvPr/>
          </p:nvSpPr>
          <p:spPr>
            <a:xfrm>
              <a:off x="609600" y="1257300"/>
              <a:ext cx="3352800" cy="2095500"/>
            </a:xfrm>
            <a:prstGeom prst="roundRect">
              <a:avLst>
                <a:gd name="adj" fmla="val 4545"/>
              </a:avLst>
            </a:prstGeom>
            <a:solidFill>
              <a:srgbClr val="FFFFFF"/>
            </a:solidFill>
            <a:ln w="14288">
              <a:solidFill>
                <a:srgbClr val="B8CBD3"/>
              </a:solidFill>
            </a:ln>
          </p:spPr>
        </p:sp>
        <p:sp>
          <p:nvSpPr>
            <p:cNvPr id="7" name="Rectangle 7"/>
            <p:cNvSpPr/>
            <p:nvPr/>
          </p:nvSpPr>
          <p:spPr>
            <a:xfrm>
              <a:off x="609600" y="1257300"/>
              <a:ext cx="57150" cy="2095500"/>
            </a:xfrm>
            <a:prstGeom prst="rect">
              <a:avLst/>
            </a:prstGeom>
            <a:solidFill>
              <a:srgbClr val="00A6A6"/>
            </a:solidFill>
            <a:ln>
              <a:noFill/>
            </a:ln>
          </p:spPr>
        </p:sp>
        <p:sp>
          <p:nvSpPr>
            <p:cNvPr id="8" name="TextBox 8"/>
            <p:cNvSpPr txBox="1"/>
            <p:nvPr/>
          </p:nvSpPr>
          <p:spPr>
            <a:xfrm>
              <a:off x="868680" y="1438275"/>
              <a:ext cx="102870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Eksik veri</a:t>
              </a:r>
            </a:p>
          </p:txBody>
        </p:sp>
        <p:sp>
          <p:nvSpPr>
            <p:cNvPr id="9" name="TextBox 9"/>
            <p:cNvSpPr txBox="1"/>
            <p:nvPr/>
          </p:nvSpPr>
          <p:spPr>
            <a:xfrm>
              <a:off x="870204" y="1756410"/>
              <a:ext cx="20384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MCAR/MAR/MNAR ayrımı,</a:t>
              </a:r>
            </a:p>
          </p:txBody>
        </p:sp>
        <p:sp>
          <p:nvSpPr>
            <p:cNvPr id="10" name="TextBox 10"/>
            <p:cNvSpPr txBox="1"/>
            <p:nvPr/>
          </p:nvSpPr>
          <p:spPr>
            <a:xfrm>
              <a:off x="870204" y="1965960"/>
              <a:ext cx="239496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doldurma stratejisini belirler;</a:t>
              </a:r>
            </a:p>
          </p:txBody>
        </p:sp>
        <p:sp>
          <p:nvSpPr>
            <p:cNvPr id="11" name="TextBox 11"/>
            <p:cNvSpPr txBox="1"/>
            <p:nvPr/>
          </p:nvSpPr>
          <p:spPr>
            <a:xfrm>
              <a:off x="870204" y="2175510"/>
              <a:ext cx="216234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SimpleImputer ile uygulanır</a:t>
              </a:r>
            </a:p>
          </p:txBody>
        </p:sp>
        <p:sp>
          <p:nvSpPr>
            <p:cNvPr id="12" name="TextBox 12"/>
            <p:cNvSpPr txBox="1"/>
            <p:nvPr/>
          </p:nvSpPr>
          <p:spPr>
            <a:xfrm>
              <a:off x="870204" y="2461260"/>
              <a:ext cx="246766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(mean/median/most_frequent)</a:t>
              </a:r>
            </a:p>
          </p:txBody>
        </p:sp>
        <p:sp>
          <p:nvSpPr>
            <p:cNvPr id="13" name="TextBox 13"/>
            <p:cNvSpPr txBox="1"/>
            <p:nvPr/>
          </p:nvSpPr>
          <p:spPr>
            <a:xfrm>
              <a:off x="870204" y="2766060"/>
              <a:ext cx="216072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%20 üzeri eksiklikte sütunu</a:t>
              </a:r>
            </a:p>
          </p:txBody>
        </p:sp>
        <p:sp>
          <p:nvSpPr>
            <p:cNvPr id="14" name="TextBox 14"/>
            <p:cNvSpPr txBox="1"/>
            <p:nvPr/>
          </p:nvSpPr>
          <p:spPr>
            <a:xfrm>
              <a:off x="870204" y="2975610"/>
              <a:ext cx="151455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çıkarmayı düşünün</a:t>
              </a:r>
            </a:p>
          </p:txBody>
        </p:sp>
      </p:grpSp>
      <p:grpSp>
        <p:nvGrpSpPr>
          <p:cNvPr id="25" name="summary-2"/>
          <p:cNvGrpSpPr/>
          <p:nvPr/>
        </p:nvGrpSpPr>
        <p:grpSpPr>
          <a:xfrm>
            <a:off x="4419600" y="1257300"/>
            <a:ext cx="3352800" cy="2095500"/>
            <a:chOff x="4419600" y="1257300"/>
            <a:chExt cx="3352800" cy="2095500"/>
          </a:xfrm>
        </p:grpSpPr>
        <p:sp>
          <p:nvSpPr>
            <p:cNvPr id="16" name="Rectangle 16"/>
            <p:cNvSpPr/>
            <p:nvPr/>
          </p:nvSpPr>
          <p:spPr>
            <a:xfrm>
              <a:off x="4419600" y="1257300"/>
              <a:ext cx="3352800" cy="2095500"/>
            </a:xfrm>
            <a:prstGeom prst="roundRect">
              <a:avLst>
                <a:gd name="adj" fmla="val 4545"/>
              </a:avLst>
            </a:prstGeom>
            <a:solidFill>
              <a:srgbClr val="FFFFFF"/>
            </a:solidFill>
            <a:ln w="14288">
              <a:solidFill>
                <a:srgbClr val="B8CBD3"/>
              </a:solidFill>
            </a:ln>
          </p:spPr>
        </p:sp>
        <p:sp>
          <p:nvSpPr>
            <p:cNvPr id="17" name="Rectangle 17"/>
            <p:cNvSpPr/>
            <p:nvPr/>
          </p:nvSpPr>
          <p:spPr>
            <a:xfrm>
              <a:off x="4419600" y="1257300"/>
              <a:ext cx="57150" cy="2095500"/>
            </a:xfrm>
            <a:prstGeom prst="rect">
              <a:avLst/>
            </a:prstGeom>
            <a:solidFill>
              <a:srgbClr val="00A6A6"/>
            </a:solidFill>
            <a:ln>
              <a:noFill/>
            </a:ln>
          </p:spPr>
        </p:sp>
        <p:sp>
          <p:nvSpPr>
            <p:cNvPr id="18" name="TextBox 18"/>
            <p:cNvSpPr txBox="1"/>
            <p:nvPr/>
          </p:nvSpPr>
          <p:spPr>
            <a:xfrm>
              <a:off x="4678680" y="1438275"/>
              <a:ext cx="136853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Aykırı değer</a:t>
              </a:r>
            </a:p>
          </p:txBody>
        </p:sp>
        <p:sp>
          <p:nvSpPr>
            <p:cNvPr id="19" name="TextBox 19"/>
            <p:cNvSpPr txBox="1"/>
            <p:nvPr/>
          </p:nvSpPr>
          <p:spPr>
            <a:xfrm>
              <a:off x="4680204" y="1756410"/>
              <a:ext cx="2409993"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Q1 − 1.5×IQR ve Q3 + 1.5×IQR</a:t>
              </a:r>
            </a:p>
          </p:txBody>
        </p:sp>
        <p:sp>
          <p:nvSpPr>
            <p:cNvPr id="20" name="TextBox 20"/>
            <p:cNvSpPr txBox="1"/>
            <p:nvPr/>
          </p:nvSpPr>
          <p:spPr>
            <a:xfrm>
              <a:off x="4680204" y="1965960"/>
              <a:ext cx="1813408"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ile sınırlar hesaplanır</a:t>
              </a:r>
            </a:p>
          </p:txBody>
        </p:sp>
        <p:sp>
          <p:nvSpPr>
            <p:cNvPr id="21" name="TextBox 21"/>
            <p:cNvSpPr txBox="1"/>
            <p:nvPr/>
          </p:nvSpPr>
          <p:spPr>
            <a:xfrm>
              <a:off x="4680204" y="2270760"/>
              <a:ext cx="177826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Silmek yerine clip() ile</a:t>
              </a:r>
            </a:p>
          </p:txBody>
        </p:sp>
        <p:sp>
          <p:nvSpPr>
            <p:cNvPr id="22" name="TextBox 22"/>
            <p:cNvSpPr txBox="1"/>
            <p:nvPr/>
          </p:nvSpPr>
          <p:spPr>
            <a:xfrm>
              <a:off x="4680204" y="2480310"/>
              <a:ext cx="1659941"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kırpmak veriyi korur</a:t>
              </a:r>
            </a:p>
          </p:txBody>
        </p:sp>
        <p:sp>
          <p:nvSpPr>
            <p:cNvPr id="23" name="TextBox 23"/>
            <p:cNvSpPr txBox="1"/>
            <p:nvPr/>
          </p:nvSpPr>
          <p:spPr>
            <a:xfrm>
              <a:off x="4680204" y="2785110"/>
              <a:ext cx="239764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Sınırlar yalnızca X_train'den</a:t>
              </a:r>
            </a:p>
          </p:txBody>
        </p:sp>
        <p:sp>
          <p:nvSpPr>
            <p:cNvPr id="24" name="TextBox 24"/>
            <p:cNvSpPr txBox="1"/>
            <p:nvPr/>
          </p:nvSpPr>
          <p:spPr>
            <a:xfrm>
              <a:off x="4680204" y="2994660"/>
              <a:ext cx="690677"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öğrenilir</a:t>
              </a:r>
            </a:p>
          </p:txBody>
        </p:sp>
      </p:grpSp>
      <p:grpSp>
        <p:nvGrpSpPr>
          <p:cNvPr id="35" name="summary-3"/>
          <p:cNvGrpSpPr/>
          <p:nvPr/>
        </p:nvGrpSpPr>
        <p:grpSpPr>
          <a:xfrm>
            <a:off x="8229600" y="1257300"/>
            <a:ext cx="3352800" cy="2095500"/>
            <a:chOff x="8229600" y="1257300"/>
            <a:chExt cx="3352800" cy="2095500"/>
          </a:xfrm>
        </p:grpSpPr>
        <p:sp>
          <p:nvSpPr>
            <p:cNvPr id="26" name="Rectangle 26"/>
            <p:cNvSpPr/>
            <p:nvPr/>
          </p:nvSpPr>
          <p:spPr>
            <a:xfrm>
              <a:off x="8229600" y="1257300"/>
              <a:ext cx="3352800" cy="2095500"/>
            </a:xfrm>
            <a:prstGeom prst="roundRect">
              <a:avLst>
                <a:gd name="adj" fmla="val 4545"/>
              </a:avLst>
            </a:prstGeom>
            <a:solidFill>
              <a:srgbClr val="FFFFFF"/>
            </a:solidFill>
            <a:ln w="14288">
              <a:solidFill>
                <a:srgbClr val="B8CBD3"/>
              </a:solidFill>
            </a:ln>
          </p:spPr>
        </p:sp>
        <p:sp>
          <p:nvSpPr>
            <p:cNvPr id="27" name="Rectangle 27"/>
            <p:cNvSpPr/>
            <p:nvPr/>
          </p:nvSpPr>
          <p:spPr>
            <a:xfrm>
              <a:off x="8229600" y="1257300"/>
              <a:ext cx="57150" cy="2095500"/>
            </a:xfrm>
            <a:prstGeom prst="rect">
              <a:avLst/>
            </a:prstGeom>
            <a:solidFill>
              <a:srgbClr val="00A6A6"/>
            </a:solidFill>
            <a:ln>
              <a:noFill/>
            </a:ln>
          </p:spPr>
        </p:sp>
        <p:sp>
          <p:nvSpPr>
            <p:cNvPr id="28" name="TextBox 28"/>
            <p:cNvSpPr txBox="1"/>
            <p:nvPr/>
          </p:nvSpPr>
          <p:spPr>
            <a:xfrm>
              <a:off x="8488680" y="1438275"/>
              <a:ext cx="2174076"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Ölçekleme ve kodlama</a:t>
              </a:r>
            </a:p>
          </p:txBody>
        </p:sp>
        <p:sp>
          <p:nvSpPr>
            <p:cNvPr id="29" name="TextBox 29"/>
            <p:cNvSpPr txBox="1"/>
            <p:nvPr/>
          </p:nvSpPr>
          <p:spPr>
            <a:xfrm>
              <a:off x="8490204" y="1756410"/>
              <a:ext cx="2255520" cy="234696"/>
            </a:xfrm>
            <a:prstGeom prst="rect">
              <a:avLst/>
            </a:prstGeom>
            <a:noFill/>
            <a:ln>
              <a:noFill/>
            </a:ln>
          </p:spPr>
          <p:txBody>
            <a:bodyPr wrap="none" lIns="0" tIns="0" rIns="0" bIns="0" anchor="t" anchorCtr="0">
              <a:spAutoFit/>
            </a:bodyPr>
            <a:lstStyle/>
            <a:p>
              <a:pPr algn="l"/>
              <a:r>
                <a:rPr lang="el-GR" sz="1200" dirty="0">
                  <a:solidFill>
                    <a:srgbClr val="172B3A"/>
                  </a:solidFill>
                  <a:latin typeface="+mn-lt"/>
                  <a:ea typeface="+mn-ea"/>
                  <a:cs typeface="+mn-cs"/>
                </a:rPr>
                <a:t>StandardScaler: z=(x−μ)/σ,</a:t>
              </a:r>
            </a:p>
          </p:txBody>
        </p:sp>
        <p:sp>
          <p:nvSpPr>
            <p:cNvPr id="30" name="TextBox 30"/>
            <p:cNvSpPr txBox="1"/>
            <p:nvPr/>
          </p:nvSpPr>
          <p:spPr>
            <a:xfrm>
              <a:off x="8490204" y="1965960"/>
              <a:ext cx="199110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sayısal sütunları eşitler</a:t>
              </a:r>
            </a:p>
          </p:txBody>
        </p:sp>
        <p:sp>
          <p:nvSpPr>
            <p:cNvPr id="31" name="TextBox 31"/>
            <p:cNvSpPr txBox="1"/>
            <p:nvPr/>
          </p:nvSpPr>
          <p:spPr>
            <a:xfrm>
              <a:off x="8490204" y="2270760"/>
              <a:ext cx="211219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OneHotEncoder: kategorik</a:t>
              </a:r>
            </a:p>
          </p:txBody>
        </p:sp>
        <p:sp>
          <p:nvSpPr>
            <p:cNvPr id="32" name="TextBox 32"/>
            <p:cNvSpPr txBox="1"/>
            <p:nvPr/>
          </p:nvSpPr>
          <p:spPr>
            <a:xfrm>
              <a:off x="8490204" y="2480310"/>
              <a:ext cx="249997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sütunları ikili sütunlara çevirir</a:t>
              </a:r>
            </a:p>
          </p:txBody>
        </p:sp>
        <p:sp>
          <p:nvSpPr>
            <p:cNvPr id="33" name="TextBox 33"/>
            <p:cNvSpPr txBox="1"/>
            <p:nvPr/>
          </p:nvSpPr>
          <p:spPr>
            <a:xfrm>
              <a:off x="8490204" y="2785110"/>
              <a:ext cx="200726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handle_unknown="ignore"</a:t>
              </a:r>
            </a:p>
          </p:txBody>
        </p:sp>
        <p:sp>
          <p:nvSpPr>
            <p:cNvPr id="34" name="TextBox 34"/>
            <p:cNvSpPr txBox="1"/>
            <p:nvPr/>
          </p:nvSpPr>
          <p:spPr>
            <a:xfrm>
              <a:off x="8490204" y="2994660"/>
              <a:ext cx="2613050"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bilinmeyen kategoriyi tolere eder</a:t>
              </a:r>
            </a:p>
          </p:txBody>
        </p:sp>
      </p:grpSp>
      <p:grpSp>
        <p:nvGrpSpPr>
          <p:cNvPr id="43" name="summary-4"/>
          <p:cNvGrpSpPr/>
          <p:nvPr/>
        </p:nvGrpSpPr>
        <p:grpSpPr>
          <a:xfrm>
            <a:off x="609600" y="3657600"/>
            <a:ext cx="6477000" cy="1905000"/>
            <a:chOff x="609600" y="3657600"/>
            <a:chExt cx="6477000" cy="1905000"/>
          </a:xfrm>
        </p:grpSpPr>
        <p:sp>
          <p:nvSpPr>
            <p:cNvPr id="36" name="Rectangle 36"/>
            <p:cNvSpPr/>
            <p:nvPr/>
          </p:nvSpPr>
          <p:spPr>
            <a:xfrm>
              <a:off x="609600" y="3657600"/>
              <a:ext cx="6477000" cy="1905000"/>
            </a:xfrm>
            <a:prstGeom prst="roundRect">
              <a:avLst>
                <a:gd name="adj" fmla="val 5000"/>
              </a:avLst>
            </a:prstGeom>
            <a:solidFill>
              <a:srgbClr val="12355B"/>
            </a:solidFill>
            <a:ln>
              <a:noFill/>
            </a:ln>
          </p:spPr>
        </p:sp>
        <p:sp>
          <p:nvSpPr>
            <p:cNvPr id="37" name="TextBox 37"/>
            <p:cNvSpPr txBox="1"/>
            <p:nvPr/>
          </p:nvSpPr>
          <p:spPr>
            <a:xfrm>
              <a:off x="868680" y="3838575"/>
              <a:ext cx="3188190" cy="293370"/>
            </a:xfrm>
            <a:prstGeom prst="rect">
              <a:avLst/>
            </a:prstGeom>
            <a:noFill/>
            <a:ln>
              <a:noFill/>
            </a:ln>
          </p:spPr>
          <p:txBody>
            <a:bodyPr wrap="none" lIns="0" tIns="0" rIns="0" bIns="0" anchor="t" anchorCtr="0">
              <a:spAutoFit/>
            </a:bodyPr>
            <a:lstStyle/>
            <a:p>
              <a:pPr algn="l"/>
              <a:r>
                <a:rPr lang="tr-TR" sz="1500" b="1" dirty="0">
                  <a:solidFill>
                    <a:srgbClr val="FFFFFF"/>
                  </a:solidFill>
                  <a:latin typeface="+mn-lt"/>
                  <a:ea typeface="+mn-ea"/>
                  <a:cs typeface="+mn-cs"/>
                </a:rPr>
                <a:t>Eğitim-test ayrımı ve Pipeline</a:t>
              </a:r>
            </a:p>
          </p:txBody>
        </p:sp>
        <p:sp>
          <p:nvSpPr>
            <p:cNvPr id="38" name="TextBox 38"/>
            <p:cNvSpPr txBox="1"/>
            <p:nvPr/>
          </p:nvSpPr>
          <p:spPr>
            <a:xfrm>
              <a:off x="869823" y="4167664"/>
              <a:ext cx="3821085"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train_test_split her zaman ön işlemeden önce</a:t>
              </a:r>
            </a:p>
          </p:txBody>
        </p:sp>
        <p:sp>
          <p:nvSpPr>
            <p:cNvPr id="39" name="TextBox 39"/>
            <p:cNvSpPr txBox="1"/>
            <p:nvPr/>
          </p:nvSpPr>
          <p:spPr>
            <a:xfrm>
              <a:off x="869823" y="4396264"/>
              <a:ext cx="4079555" cy="249364"/>
            </a:xfrm>
            <a:prstGeom prst="rect">
              <a:avLst/>
            </a:prstGeom>
            <a:noFill/>
            <a:ln>
              <a:noFill/>
            </a:ln>
          </p:spPr>
          <p:txBody>
            <a:bodyPr wrap="none" lIns="0" tIns="0" rIns="0" bIns="0" anchor="t" anchorCtr="0">
              <a:spAutoFit/>
            </a:bodyPr>
            <a:lstStyle/>
            <a:p>
              <a:pPr algn="l"/>
              <a:r>
                <a:rPr lang="tr-TR" sz="1280" dirty="0">
                  <a:solidFill>
                    <a:srgbClr val="EAF4F6"/>
                  </a:solidFill>
                  <a:latin typeface="+mn-lt"/>
                  <a:ea typeface="+mn-ea"/>
                  <a:cs typeface="+mn-cs"/>
                </a:rPr>
                <a:t>gelir; stratify=y dengesiz sınıf oranını korur.</a:t>
              </a:r>
            </a:p>
          </p:txBody>
        </p:sp>
        <p:sp>
          <p:nvSpPr>
            <p:cNvPr id="40" name="TextBox 40"/>
            <p:cNvSpPr txBox="1"/>
            <p:nvPr/>
          </p:nvSpPr>
          <p:spPr>
            <a:xfrm>
              <a:off x="869823" y="4701064"/>
              <a:ext cx="3665921"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mn-lt"/>
                  <a:ea typeface="+mn-ea"/>
                  <a:cs typeface="+mn-cs"/>
                </a:rPr>
                <a:t>ColumnTransformer + Pipeline tüm adımları</a:t>
              </a:r>
            </a:p>
          </p:txBody>
        </p:sp>
        <p:sp>
          <p:nvSpPr>
            <p:cNvPr id="41" name="TextBox 41"/>
            <p:cNvSpPr txBox="1"/>
            <p:nvPr/>
          </p:nvSpPr>
          <p:spPr>
            <a:xfrm>
              <a:off x="869823" y="4929664"/>
              <a:ext cx="4613727" cy="249364"/>
            </a:xfrm>
            <a:prstGeom prst="rect">
              <a:avLst/>
            </a:prstGeom>
            <a:noFill/>
            <a:ln>
              <a:noFill/>
            </a:ln>
          </p:spPr>
          <p:txBody>
            <a:bodyPr wrap="none" lIns="0" tIns="0" rIns="0" bIns="0" anchor="t" anchorCtr="0">
              <a:spAutoFit/>
            </a:bodyPr>
            <a:lstStyle/>
            <a:p>
              <a:pPr algn="l"/>
              <a:r>
                <a:rPr lang="tr-TR" sz="1280" dirty="0">
                  <a:solidFill>
                    <a:srgbClr val="00A6A6"/>
                  </a:solidFill>
                  <a:latin typeface="+mn-lt"/>
                  <a:ea typeface="+mn-ea"/>
                  <a:cs typeface="+mn-cs"/>
                </a:rPr>
                <a:t>tek, sızıntısız ve tekrarlanabilir bir nesnede toplar.</a:t>
              </a:r>
            </a:p>
          </p:txBody>
        </p:sp>
        <p:sp>
          <p:nvSpPr>
            <p:cNvPr id="42" name="TextBox 42"/>
            <p:cNvSpPr txBox="1"/>
            <p:nvPr/>
          </p:nvSpPr>
          <p:spPr>
            <a:xfrm>
              <a:off x="870585" y="5231606"/>
              <a:ext cx="4922835" cy="220028"/>
            </a:xfrm>
            <a:prstGeom prst="rect">
              <a:avLst/>
            </a:prstGeom>
            <a:noFill/>
            <a:ln>
              <a:noFill/>
            </a:ln>
          </p:spPr>
          <p:txBody>
            <a:bodyPr wrap="none" lIns="0" tIns="0" rIns="0" bIns="0" anchor="t" anchorCtr="0">
              <a:spAutoFit/>
            </a:bodyPr>
            <a:lstStyle/>
            <a:p>
              <a:pPr algn="l"/>
              <a:r>
                <a:rPr lang="tr-TR" sz="1120" dirty="0">
                  <a:solidFill>
                    <a:srgbClr val="B8CBD3"/>
                  </a:solidFill>
                  <a:latin typeface="+mn-lt"/>
                  <a:ea typeface="+mn-ea"/>
                  <a:cs typeface="+mn-cs"/>
                </a:rPr>
                <a:t>ChurnOnIslemeHatti sınıfı bu ilkeyi uygulayan çalışan bir örnektir</a:t>
              </a:r>
            </a:p>
          </p:txBody>
        </p:sp>
      </p:grpSp>
      <p:grpSp>
        <p:nvGrpSpPr>
          <p:cNvPr id="51" name="summary-golden-rule"/>
          <p:cNvGrpSpPr/>
          <p:nvPr/>
        </p:nvGrpSpPr>
        <p:grpSpPr>
          <a:xfrm>
            <a:off x="7315200" y="3657600"/>
            <a:ext cx="4267200" cy="1905000"/>
            <a:chOff x="7315200" y="3657600"/>
            <a:chExt cx="4267200" cy="1905000"/>
          </a:xfrm>
        </p:grpSpPr>
        <p:sp>
          <p:nvSpPr>
            <p:cNvPr id="44" name="Rectangle 44"/>
            <p:cNvSpPr/>
            <p:nvPr/>
          </p:nvSpPr>
          <p:spPr>
            <a:xfrm>
              <a:off x="7315200" y="3657600"/>
              <a:ext cx="4267200" cy="1905000"/>
            </a:xfrm>
            <a:prstGeom prst="roundRect">
              <a:avLst>
                <a:gd name="adj" fmla="val 5000"/>
              </a:avLst>
            </a:prstGeom>
            <a:solidFill>
              <a:srgbClr val="EAF4F6"/>
            </a:solidFill>
            <a:ln>
              <a:noFill/>
            </a:ln>
          </p:spPr>
        </p:sp>
        <p:sp>
          <p:nvSpPr>
            <p:cNvPr id="45" name="TextBox 45"/>
            <p:cNvSpPr txBox="1"/>
            <p:nvPr/>
          </p:nvSpPr>
          <p:spPr>
            <a:xfrm>
              <a:off x="7574280" y="3857625"/>
              <a:ext cx="975360" cy="293370"/>
            </a:xfrm>
            <a:prstGeom prst="rect">
              <a:avLst/>
            </a:prstGeom>
            <a:noFill/>
            <a:ln>
              <a:noFill/>
            </a:ln>
          </p:spPr>
          <p:txBody>
            <a:bodyPr wrap="none" lIns="0" tIns="0" rIns="0" bIns="0" anchor="t" anchorCtr="0">
              <a:spAutoFit/>
            </a:bodyPr>
            <a:lstStyle/>
            <a:p>
              <a:pPr algn="l"/>
              <a:r>
                <a:rPr lang="tr-TR" sz="1500" b="1" dirty="0">
                  <a:solidFill>
                    <a:srgbClr val="12355B"/>
                  </a:solidFill>
                  <a:latin typeface="+mn-lt"/>
                  <a:ea typeface="+mn-ea"/>
                  <a:cs typeface="+mn-cs"/>
                </a:rPr>
                <a:t>Altın ilke</a:t>
              </a:r>
            </a:p>
          </p:txBody>
        </p:sp>
        <p:sp>
          <p:nvSpPr>
            <p:cNvPr id="46" name="TextBox 46"/>
            <p:cNvSpPr txBox="1"/>
            <p:nvPr/>
          </p:nvSpPr>
          <p:spPr>
            <a:xfrm>
              <a:off x="7575042" y="4178618"/>
              <a:ext cx="2191943"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fit yalnızca X_train'de,</a:t>
              </a:r>
            </a:p>
          </p:txBody>
        </p:sp>
        <p:sp>
          <p:nvSpPr>
            <p:cNvPr id="47" name="TextBox 47"/>
            <p:cNvSpPr txBox="1"/>
            <p:nvPr/>
          </p:nvSpPr>
          <p:spPr>
            <a:xfrm>
              <a:off x="7575042" y="4426268"/>
              <a:ext cx="2276342" cy="264033"/>
            </a:xfrm>
            <a:prstGeom prst="rect">
              <a:avLst/>
            </a:prstGeom>
            <a:noFill/>
            <a:ln>
              <a:noFill/>
            </a:ln>
          </p:spPr>
          <p:txBody>
            <a:bodyPr wrap="none" lIns="0" tIns="0" rIns="0" bIns="0" anchor="t" anchorCtr="0">
              <a:spAutoFit/>
            </a:bodyPr>
            <a:lstStyle/>
            <a:p>
              <a:pPr algn="l"/>
              <a:r>
                <a:rPr lang="tr-TR" sz="1350" dirty="0">
                  <a:solidFill>
                    <a:srgbClr val="172B3A"/>
                  </a:solidFill>
                  <a:latin typeface="+mn-lt"/>
                  <a:ea typeface="+mn-ea"/>
                  <a:cs typeface="+mn-cs"/>
                </a:rPr>
                <a:t>transform her ikisinde de</a:t>
              </a:r>
            </a:p>
          </p:txBody>
        </p:sp>
        <p:sp>
          <p:nvSpPr>
            <p:cNvPr id="48" name="TextBox 48"/>
            <p:cNvSpPr txBox="1"/>
            <p:nvPr/>
          </p:nvSpPr>
          <p:spPr>
            <a:xfrm>
              <a:off x="7575804" y="4766310"/>
              <a:ext cx="21903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Bu bölümdeki neredeyse tüm</a:t>
              </a:r>
            </a:p>
          </p:txBody>
        </p:sp>
        <p:sp>
          <p:nvSpPr>
            <p:cNvPr id="49" name="TextBox 49"/>
            <p:cNvSpPr txBox="1"/>
            <p:nvPr/>
          </p:nvSpPr>
          <p:spPr>
            <a:xfrm>
              <a:off x="7575804" y="4975860"/>
              <a:ext cx="2637282"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hatalar bu ilkenin ihlalinden doğar</a:t>
              </a:r>
            </a:p>
          </p:txBody>
        </p:sp>
        <p:sp>
          <p:nvSpPr>
            <p:cNvPr id="50" name="TextBox 50"/>
            <p:cNvSpPr txBox="1"/>
            <p:nvPr/>
          </p:nvSpPr>
          <p:spPr>
            <a:xfrm>
              <a:off x="7575804" y="5223510"/>
              <a:ext cx="277459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 akılda kalması gereken tek cümle</a:t>
              </a:r>
            </a:p>
          </p:txBody>
        </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150951" cy="557403"/>
            <a:chOff x="595122" y="282892"/>
            <a:chExt cx="4150951" cy="557403"/>
          </a:xfrm>
        </p:grpSpPr>
        <p:sp>
          <p:nvSpPr>
            <p:cNvPr id="4" name="TextBox 4"/>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13" name="current-node"/>
          <p:cNvGrpSpPr/>
          <p:nvPr/>
        </p:nvGrpSpPr>
        <p:grpSpPr>
          <a:xfrm>
            <a:off x="609600" y="1600200"/>
            <a:ext cx="3048000" cy="1905000"/>
            <a:chOff x="609600" y="1600200"/>
            <a:chExt cx="3048000" cy="1905000"/>
          </a:xfrm>
        </p:grpSpPr>
        <p:sp>
          <p:nvSpPr>
            <p:cNvPr id="6" name="Rectangle 6"/>
            <p:cNvSpPr/>
            <p:nvPr/>
          </p:nvSpPr>
          <p:spPr>
            <a:xfrm>
              <a:off x="609600" y="1600200"/>
              <a:ext cx="3048000" cy="1905000"/>
            </a:xfrm>
            <a:prstGeom prst="roundRect">
              <a:avLst>
                <a:gd name="adj" fmla="val 5000"/>
              </a:avLst>
            </a:prstGeom>
            <a:solidFill>
              <a:srgbClr val="EAF4F6"/>
            </a:solidFill>
            <a:ln>
              <a:noFill/>
            </a:ln>
          </p:spPr>
        </p:sp>
        <p:sp>
          <p:nvSpPr>
            <p:cNvPr id="7" name="TextBox 7"/>
            <p:cNvSpPr txBox="1"/>
            <p:nvPr/>
          </p:nvSpPr>
          <p:spPr>
            <a:xfrm>
              <a:off x="870204" y="1813560"/>
              <a:ext cx="904037" cy="234696"/>
            </a:xfrm>
            <a:prstGeom prst="rect">
              <a:avLst/>
            </a:prstGeom>
            <a:noFill/>
            <a:ln>
              <a:noFill/>
            </a:ln>
          </p:spPr>
          <p:txBody>
            <a:bodyPr wrap="none" lIns="0" tIns="0" rIns="0" bIns="0" anchor="t" anchorCtr="0">
              <a:spAutoFit/>
            </a:bodyPr>
            <a:lstStyle/>
            <a:p>
              <a:pPr algn="l"/>
              <a:r>
                <a:rPr lang="tr-TR" sz="1200" spc="150" dirty="0">
                  <a:solidFill>
                    <a:srgbClr val="2E86AB"/>
                  </a:solidFill>
                  <a:latin typeface="+mn-lt"/>
                  <a:ea typeface="+mn-ea"/>
                  <a:cs typeface="+mn-cs"/>
                </a:rPr>
                <a:t>BÖLÜM 03</a:t>
              </a:r>
            </a:p>
          </p:txBody>
        </p:sp>
        <p:sp>
          <p:nvSpPr>
            <p:cNvPr id="8" name="TextBox 8"/>
            <p:cNvSpPr txBox="1"/>
            <p:nvPr/>
          </p:nvSpPr>
          <p:spPr>
            <a:xfrm>
              <a:off x="867918" y="2126932"/>
              <a:ext cx="1648818"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Veri Ön İşleme</a:t>
              </a:r>
            </a:p>
          </p:txBody>
        </p:sp>
        <p:sp>
          <p:nvSpPr>
            <p:cNvPr id="9" name="TextBox 9"/>
            <p:cNvSpPr txBox="1"/>
            <p:nvPr/>
          </p:nvSpPr>
          <p:spPr>
            <a:xfrm>
              <a:off x="870204" y="2461260"/>
              <a:ext cx="203720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Eksik veri, aykırı değer,</a:t>
              </a:r>
            </a:p>
          </p:txBody>
        </p:sp>
        <p:sp>
          <p:nvSpPr>
            <p:cNvPr id="10" name="TextBox 10"/>
            <p:cNvSpPr txBox="1"/>
            <p:nvPr/>
          </p:nvSpPr>
          <p:spPr>
            <a:xfrm>
              <a:off x="870204" y="2670810"/>
              <a:ext cx="160340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ölçekleme, kodlama,</a:t>
              </a:r>
            </a:p>
          </p:txBody>
        </p:sp>
        <p:sp>
          <p:nvSpPr>
            <p:cNvPr id="11" name="TextBox 11"/>
            <p:cNvSpPr txBox="1"/>
            <p:nvPr/>
          </p:nvSpPr>
          <p:spPr>
            <a:xfrm>
              <a:off x="870204" y="2880360"/>
              <a:ext cx="228723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eğitim-test ayrımı, Pipeline</a:t>
              </a:r>
            </a:p>
          </p:txBody>
        </p:sp>
        <p:sp>
          <p:nvSpPr>
            <p:cNvPr id="12" name="TextBox 12"/>
            <p:cNvSpPr txBox="1"/>
            <p:nvPr/>
          </p:nvSpPr>
          <p:spPr>
            <a:xfrm>
              <a:off x="870204" y="3185160"/>
              <a:ext cx="2273706"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Model-hazır veri elde ettik</a:t>
              </a:r>
            </a:p>
          </p:txBody>
        </p:sp>
      </p:grpSp>
      <p:sp>
        <p:nvSpPr>
          <p:cNvPr id="14" name="Line 14"/>
          <p:cNvSpPr/>
          <p:nvPr/>
        </p:nvSpPr>
        <p:spPr>
          <a:xfrm>
            <a:off x="3810000" y="2552700"/>
            <a:ext cx="685800" cy="1"/>
          </a:xfrm>
          <a:prstGeom prst="line">
            <a:avLst/>
          </a:prstGeom>
          <a:noFill/>
          <a:ln w="28575">
            <a:solidFill>
              <a:srgbClr val="00A6A6"/>
            </a:solidFill>
            <a:tailEnd type="arrow" w="lg" len="lg"/>
          </a:ln>
        </p:spPr>
      </p:sp>
      <p:grpSp>
        <p:nvGrpSpPr>
          <p:cNvPr id="22" name="next-node"/>
          <p:cNvGrpSpPr/>
          <p:nvPr/>
        </p:nvGrpSpPr>
        <p:grpSpPr>
          <a:xfrm>
            <a:off x="4648200" y="1600200"/>
            <a:ext cx="3276600" cy="1905000"/>
            <a:chOff x="4648200" y="1600200"/>
            <a:chExt cx="3276600" cy="1905000"/>
          </a:xfrm>
        </p:grpSpPr>
        <p:sp>
          <p:nvSpPr>
            <p:cNvPr id="15" name="Rectangle 15"/>
            <p:cNvSpPr/>
            <p:nvPr/>
          </p:nvSpPr>
          <p:spPr>
            <a:xfrm>
              <a:off x="4648200" y="1600200"/>
              <a:ext cx="3276600" cy="1905000"/>
            </a:xfrm>
            <a:prstGeom prst="roundRect">
              <a:avLst>
                <a:gd name="adj" fmla="val 5000"/>
              </a:avLst>
            </a:prstGeom>
            <a:solidFill>
              <a:srgbClr val="12355B"/>
            </a:solidFill>
            <a:ln>
              <a:noFill/>
            </a:ln>
          </p:spPr>
        </p:sp>
        <p:sp>
          <p:nvSpPr>
            <p:cNvPr id="16" name="TextBox 16"/>
            <p:cNvSpPr txBox="1"/>
            <p:nvPr/>
          </p:nvSpPr>
          <p:spPr>
            <a:xfrm>
              <a:off x="4908804" y="1813560"/>
              <a:ext cx="904037" cy="234696"/>
            </a:xfrm>
            <a:prstGeom prst="rect">
              <a:avLst/>
            </a:prstGeom>
            <a:noFill/>
            <a:ln>
              <a:noFill/>
            </a:ln>
          </p:spPr>
          <p:txBody>
            <a:bodyPr wrap="none" lIns="0" tIns="0" rIns="0" bIns="0" anchor="t" anchorCtr="0">
              <a:spAutoFit/>
            </a:bodyPr>
            <a:lstStyle/>
            <a:p>
              <a:pPr algn="l"/>
              <a:r>
                <a:rPr lang="tr-TR" sz="1200" spc="150" dirty="0">
                  <a:solidFill>
                    <a:srgbClr val="00A6A6"/>
                  </a:solidFill>
                  <a:latin typeface="+mn-lt"/>
                  <a:ea typeface="+mn-ea"/>
                  <a:cs typeface="+mn-cs"/>
                </a:rPr>
                <a:t>BÖLÜM 11</a:t>
              </a:r>
            </a:p>
          </p:txBody>
        </p:sp>
        <p:sp>
          <p:nvSpPr>
            <p:cNvPr id="17" name="TextBox 17"/>
            <p:cNvSpPr txBox="1"/>
            <p:nvPr/>
          </p:nvSpPr>
          <p:spPr>
            <a:xfrm>
              <a:off x="4906518" y="2126932"/>
              <a:ext cx="2036726" cy="322707"/>
            </a:xfrm>
            <a:prstGeom prst="rect">
              <a:avLst/>
            </a:prstGeom>
            <a:noFill/>
            <a:ln>
              <a:noFill/>
            </a:ln>
          </p:spPr>
          <p:txBody>
            <a:bodyPr wrap="none" lIns="0" tIns="0" rIns="0" bIns="0" anchor="t" anchorCtr="0">
              <a:spAutoFit/>
            </a:bodyPr>
            <a:lstStyle/>
            <a:p>
              <a:pPr algn="l"/>
              <a:r>
                <a:rPr lang="tr-TR" sz="1650" b="1" dirty="0">
                  <a:solidFill>
                    <a:srgbClr val="FFFFFF"/>
                  </a:solidFill>
                  <a:latin typeface="+mn-lt"/>
                  <a:ea typeface="+mn-ea"/>
                  <a:cs typeface="+mn-cs"/>
                </a:rPr>
                <a:t>Dengesiz Sınıflar</a:t>
              </a:r>
            </a:p>
          </p:txBody>
        </p:sp>
        <p:sp>
          <p:nvSpPr>
            <p:cNvPr id="18" name="TextBox 18"/>
            <p:cNvSpPr txBox="1"/>
            <p:nvPr/>
          </p:nvSpPr>
          <p:spPr>
            <a:xfrm>
              <a:off x="4908804" y="2461260"/>
              <a:ext cx="2015338"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stratify=y yetmediğinde:</a:t>
              </a:r>
            </a:p>
          </p:txBody>
        </p:sp>
        <p:sp>
          <p:nvSpPr>
            <p:cNvPr id="19" name="TextBox 19"/>
            <p:cNvSpPr txBox="1"/>
            <p:nvPr/>
          </p:nvSpPr>
          <p:spPr>
            <a:xfrm>
              <a:off x="4908804" y="2670810"/>
              <a:ext cx="2244401"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SMOTE ve yeniden örnekleme</a:t>
              </a:r>
            </a:p>
          </p:txBody>
        </p:sp>
        <p:sp>
          <p:nvSpPr>
            <p:cNvPr id="20" name="TextBox 20"/>
            <p:cNvSpPr txBox="1"/>
            <p:nvPr/>
          </p:nvSpPr>
          <p:spPr>
            <a:xfrm>
              <a:off x="4908804" y="2880360"/>
              <a:ext cx="779526" cy="234696"/>
            </a:xfrm>
            <a:prstGeom prst="rect">
              <a:avLst/>
            </a:prstGeom>
            <a:noFill/>
            <a:ln>
              <a:noFill/>
            </a:ln>
          </p:spPr>
          <p:txBody>
            <a:bodyPr wrap="none" lIns="0" tIns="0" rIns="0" bIns="0" anchor="t" anchorCtr="0">
              <a:spAutoFit/>
            </a:bodyPr>
            <a:lstStyle/>
            <a:p>
              <a:pPr algn="l"/>
              <a:r>
                <a:rPr lang="tr-TR" sz="1200" dirty="0">
                  <a:solidFill>
                    <a:srgbClr val="EAF4F6"/>
                  </a:solidFill>
                  <a:latin typeface="+mn-lt"/>
                  <a:ea typeface="+mn-ea"/>
                  <a:cs typeface="+mn-cs"/>
                </a:rPr>
                <a:t>teknikleri</a:t>
              </a:r>
            </a:p>
          </p:txBody>
        </p:sp>
        <p:sp>
          <p:nvSpPr>
            <p:cNvPr id="21" name="TextBox 21"/>
            <p:cNvSpPr txBox="1"/>
            <p:nvPr/>
          </p:nvSpPr>
          <p:spPr>
            <a:xfrm>
              <a:off x="4908804" y="3185160"/>
              <a:ext cx="2410297"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Churn oranı %20 gibi düşükse</a:t>
              </a:r>
            </a:p>
          </p:txBody>
        </p:sp>
      </p:grpSp>
      <p:grpSp>
        <p:nvGrpSpPr>
          <p:cNvPr id="30" name="also-node"/>
          <p:cNvGrpSpPr/>
          <p:nvPr/>
        </p:nvGrpSpPr>
        <p:grpSpPr>
          <a:xfrm>
            <a:off x="8229600" y="1600200"/>
            <a:ext cx="3352800" cy="1905000"/>
            <a:chOff x="8229600" y="1600200"/>
            <a:chExt cx="3352800" cy="1905000"/>
          </a:xfrm>
        </p:grpSpPr>
        <p:sp>
          <p:nvSpPr>
            <p:cNvPr id="23" name="Rectangle 23"/>
            <p:cNvSpPr/>
            <p:nvPr/>
          </p:nvSpPr>
          <p:spPr>
            <a:xfrm>
              <a:off x="8229600" y="1600200"/>
              <a:ext cx="3352800" cy="1905000"/>
            </a:xfrm>
            <a:prstGeom prst="roundRect">
              <a:avLst>
                <a:gd name="adj" fmla="val 5000"/>
              </a:avLst>
            </a:prstGeom>
            <a:solidFill>
              <a:srgbClr val="FFFFFF"/>
            </a:solidFill>
            <a:ln w="14288">
              <a:solidFill>
                <a:srgbClr val="2E86AB"/>
              </a:solidFill>
            </a:ln>
          </p:spPr>
        </p:sp>
        <p:sp>
          <p:nvSpPr>
            <p:cNvPr id="24" name="TextBox 24"/>
            <p:cNvSpPr txBox="1"/>
            <p:nvPr/>
          </p:nvSpPr>
          <p:spPr>
            <a:xfrm>
              <a:off x="8490204" y="1813560"/>
              <a:ext cx="904037" cy="234696"/>
            </a:xfrm>
            <a:prstGeom prst="rect">
              <a:avLst/>
            </a:prstGeom>
            <a:noFill/>
            <a:ln>
              <a:noFill/>
            </a:ln>
          </p:spPr>
          <p:txBody>
            <a:bodyPr wrap="none" lIns="0" tIns="0" rIns="0" bIns="0" anchor="t" anchorCtr="0">
              <a:spAutoFit/>
            </a:bodyPr>
            <a:lstStyle/>
            <a:p>
              <a:pPr algn="l"/>
              <a:r>
                <a:rPr lang="tr-TR" sz="1200" spc="150" dirty="0">
                  <a:solidFill>
                    <a:srgbClr val="2E86AB"/>
                  </a:solidFill>
                  <a:latin typeface="+mn-lt"/>
                  <a:ea typeface="+mn-ea"/>
                  <a:cs typeface="+mn-cs"/>
                </a:rPr>
                <a:t>BÖLÜM 04</a:t>
              </a:r>
            </a:p>
          </p:txBody>
        </p:sp>
        <p:sp>
          <p:nvSpPr>
            <p:cNvPr id="25" name="TextBox 25"/>
            <p:cNvSpPr txBox="1"/>
            <p:nvPr/>
          </p:nvSpPr>
          <p:spPr>
            <a:xfrm>
              <a:off x="8487918" y="2126932"/>
              <a:ext cx="1885929" cy="322707"/>
            </a:xfrm>
            <a:prstGeom prst="rect">
              <a:avLst/>
            </a:prstGeom>
            <a:noFill/>
            <a:ln>
              <a:noFill/>
            </a:ln>
          </p:spPr>
          <p:txBody>
            <a:bodyPr wrap="none" lIns="0" tIns="0" rIns="0" bIns="0" anchor="t" anchorCtr="0">
              <a:spAutoFit/>
            </a:bodyPr>
            <a:lstStyle/>
            <a:p>
              <a:pPr algn="l"/>
              <a:r>
                <a:rPr lang="tr-TR" sz="1650" b="1" dirty="0">
                  <a:solidFill>
                    <a:srgbClr val="12355B"/>
                  </a:solidFill>
                  <a:latin typeface="+mn-lt"/>
                  <a:ea typeface="+mn-ea"/>
                  <a:cs typeface="+mn-cs"/>
                </a:rPr>
                <a:t>Boyut İndirgeme</a:t>
              </a:r>
            </a:p>
          </p:txBody>
        </p:sp>
        <p:sp>
          <p:nvSpPr>
            <p:cNvPr id="26" name="TextBox 26"/>
            <p:cNvSpPr txBox="1"/>
            <p:nvPr/>
          </p:nvSpPr>
          <p:spPr>
            <a:xfrm>
              <a:off x="8490204" y="2461260"/>
              <a:ext cx="2144753"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Aynı ColumnTransformer'a</a:t>
              </a:r>
            </a:p>
          </p:txBody>
        </p:sp>
        <p:sp>
          <p:nvSpPr>
            <p:cNvPr id="27" name="TextBox 27"/>
            <p:cNvSpPr txBox="1"/>
            <p:nvPr/>
          </p:nvSpPr>
          <p:spPr>
            <a:xfrm>
              <a:off x="8490204" y="2670810"/>
              <a:ext cx="177982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PCA ve öznitelik seçimi</a:t>
              </a:r>
            </a:p>
          </p:txBody>
        </p:sp>
        <p:sp>
          <p:nvSpPr>
            <p:cNvPr id="28" name="TextBox 28"/>
            <p:cNvSpPr txBox="1"/>
            <p:nvPr/>
          </p:nvSpPr>
          <p:spPr>
            <a:xfrm>
              <a:off x="8490204" y="2880360"/>
              <a:ext cx="152262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adımları eklenecek</a:t>
              </a:r>
            </a:p>
          </p:txBody>
        </p:sp>
        <p:sp>
          <p:nvSpPr>
            <p:cNvPr id="29" name="TextBox 29"/>
            <p:cNvSpPr txBox="1"/>
            <p:nvPr/>
          </p:nvSpPr>
          <p:spPr>
            <a:xfrm>
              <a:off x="8490204" y="3185160"/>
              <a:ext cx="1959352" cy="234696"/>
            </a:xfrm>
            <a:prstGeom prst="rect">
              <a:avLst/>
            </a:prstGeom>
            <a:noFill/>
            <a:ln>
              <a:noFill/>
            </a:ln>
          </p:spPr>
          <p:txBody>
            <a:bodyPr wrap="none" lIns="0" tIns="0" rIns="0" bIns="0" anchor="t" anchorCtr="0">
              <a:spAutoFit/>
            </a:bodyPr>
            <a:lstStyle/>
            <a:p>
              <a:pPr algn="l"/>
              <a:r>
                <a:rPr lang="tr-TR" sz="1200" b="1" dirty="0">
                  <a:solidFill>
                    <a:srgbClr val="00A6A6"/>
                  </a:solidFill>
                  <a:latin typeface="+mn-lt"/>
                  <a:ea typeface="+mn-ea"/>
                  <a:cs typeface="+mn-cs"/>
                </a:rPr>
                <a:t>Pipeline yapısı genişler</a:t>
              </a:r>
            </a:p>
          </p:txBody>
        </p:sp>
      </p:grpSp>
      <p:sp>
        <p:nvSpPr>
          <p:cNvPr id="31" name="Line 31"/>
          <p:cNvSpPr/>
          <p:nvPr/>
        </p:nvSpPr>
        <p:spPr>
          <a:xfrm>
            <a:off x="3848100" y="3143250"/>
            <a:ext cx="4229100" cy="1"/>
          </a:xfrm>
          <a:prstGeom prst="line">
            <a:avLst/>
          </a:prstGeom>
          <a:noFill/>
          <a:ln w="19050">
            <a:solidFill>
              <a:srgbClr val="B8CBD3"/>
            </a:solidFill>
            <a:custDash>
              <a:ds d="300000" sp="200000"/>
            </a:custDash>
            <a:tailEnd type="arrow" w="lg" len="lg"/>
          </a:ln>
        </p:spPr>
      </p:sp>
      <p:grpSp>
        <p:nvGrpSpPr>
          <p:cNvPr id="38" name="bridge-note"/>
          <p:cNvGrpSpPr/>
          <p:nvPr/>
        </p:nvGrpSpPr>
        <p:grpSpPr>
          <a:xfrm>
            <a:off x="609600" y="4000500"/>
            <a:ext cx="10972800" cy="1600200"/>
            <a:chOff x="609600" y="4000500"/>
            <a:chExt cx="10972800" cy="1600200"/>
          </a:xfrm>
        </p:grpSpPr>
        <p:sp>
          <p:nvSpPr>
            <p:cNvPr id="32" name="Rectangle 32"/>
            <p:cNvSpPr/>
            <p:nvPr/>
          </p:nvSpPr>
          <p:spPr>
            <a:xfrm>
              <a:off x="609600" y="4000500"/>
              <a:ext cx="10972800" cy="1600200"/>
            </a:xfrm>
            <a:prstGeom prst="roundRect">
              <a:avLst>
                <a:gd name="adj" fmla="val 5952"/>
              </a:avLst>
            </a:prstGeom>
            <a:solidFill>
              <a:srgbClr val="EAF4F6"/>
            </a:solidFill>
            <a:ln>
              <a:noFill/>
            </a:ln>
          </p:spPr>
        </p:sp>
        <p:sp>
          <p:nvSpPr>
            <p:cNvPr id="33" name="TextBox 33"/>
            <p:cNvSpPr txBox="1"/>
            <p:nvPr/>
          </p:nvSpPr>
          <p:spPr>
            <a:xfrm>
              <a:off x="906399" y="4173379"/>
              <a:ext cx="658487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Bu bölümde kurduğunuz Pipeline, sonraki bölümlerin temelidir</a:t>
              </a:r>
            </a:p>
          </p:txBody>
        </p:sp>
        <p:sp>
          <p:nvSpPr>
            <p:cNvPr id="34" name="TextBox 34"/>
            <p:cNvSpPr txBox="1"/>
            <p:nvPr/>
          </p:nvSpPr>
          <p:spPr>
            <a:xfrm>
              <a:off x="907161" y="4475321"/>
              <a:ext cx="6791114"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11. bölümde, ön işlemeden geçmiş ama hâlâ dengesiz olan churn verisi için</a:t>
              </a:r>
            </a:p>
          </p:txBody>
        </p:sp>
        <p:sp>
          <p:nvSpPr>
            <p:cNvPr id="35" name="TextBox 35"/>
            <p:cNvSpPr txBox="1"/>
            <p:nvPr/>
          </p:nvSpPr>
          <p:spPr>
            <a:xfrm>
              <a:off x="907161" y="4722971"/>
              <a:ext cx="6899374"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SMOTE gibi yeniden örnekleme yöntemlerini öğreneceksiniz. 4. bölümde ise</a:t>
              </a:r>
            </a:p>
          </p:txBody>
        </p:sp>
        <p:sp>
          <p:nvSpPr>
            <p:cNvPr id="36" name="TextBox 36"/>
            <p:cNvSpPr txBox="1"/>
            <p:nvPr/>
          </p:nvSpPr>
          <p:spPr>
            <a:xfrm>
              <a:off x="907161" y="4970621"/>
              <a:ext cx="6689167" cy="278702"/>
            </a:xfrm>
            <a:prstGeom prst="rect">
              <a:avLst/>
            </a:prstGeom>
            <a:noFill/>
            <a:ln>
              <a:noFill/>
            </a:ln>
          </p:spPr>
          <p:txBody>
            <a:bodyPr wrap="none" lIns="0" tIns="0" rIns="0" bIns="0" anchor="t" anchorCtr="0">
              <a:spAutoFit/>
            </a:bodyPr>
            <a:lstStyle/>
            <a:p>
              <a:pPr algn="l"/>
              <a:r>
                <a:rPr lang="tr-TR" sz="1420" dirty="0">
                  <a:solidFill>
                    <a:srgbClr val="172B3A"/>
                  </a:solidFill>
                  <a:latin typeface="+mn-lt"/>
                  <a:ea typeface="+mn-ea"/>
                  <a:cs typeface="+mn-cs"/>
                </a:rPr>
                <a:t>aynı ColumnTransformer'a PCA ve öznitelik seçimi adımları eklenecek —</a:t>
              </a:r>
            </a:p>
          </p:txBody>
        </p:sp>
        <p:sp>
          <p:nvSpPr>
            <p:cNvPr id="37" name="TextBox 37"/>
            <p:cNvSpPr txBox="1"/>
            <p:nvPr/>
          </p:nvSpPr>
          <p:spPr>
            <a:xfrm>
              <a:off x="907161" y="5218271"/>
              <a:ext cx="6136390" cy="278702"/>
            </a:xfrm>
            <a:prstGeom prst="rect">
              <a:avLst/>
            </a:prstGeom>
            <a:noFill/>
            <a:ln>
              <a:noFill/>
            </a:ln>
          </p:spPr>
          <p:txBody>
            <a:bodyPr wrap="none" lIns="0" tIns="0" rIns="0" bIns="0" anchor="t" anchorCtr="0">
              <a:spAutoFit/>
            </a:bodyPr>
            <a:lstStyle/>
            <a:p>
              <a:pPr algn="l"/>
              <a:r>
                <a:rPr lang="tr-TR" sz="1420" b="1" dirty="0">
                  <a:solidFill>
                    <a:srgbClr val="00A6A6"/>
                  </a:solidFill>
                  <a:latin typeface="+mn-lt"/>
                  <a:ea typeface="+mn-ea"/>
                  <a:cs typeface="+mn-cs"/>
                </a:rPr>
                <a:t>bugün öğrendiğiniz fit/transform disiplini değişmeden kalacak.</a:t>
              </a:r>
            </a:p>
          </p:txBody>
        </p:sp>
      </p:grpSp>
      <p:grpSp>
        <p:nvGrpSpPr>
          <p:cNvPr id="40" name="closing-line"/>
          <p:cNvGrpSpPr/>
          <p:nvPr/>
        </p:nvGrpSpPr>
        <p:grpSpPr>
          <a:xfrm>
            <a:off x="4097567" y="5980271"/>
            <a:ext cx="3996866" cy="278702"/>
            <a:chOff x="4097567" y="5980271"/>
            <a:chExt cx="3996866" cy="278702"/>
          </a:xfrm>
        </p:grpSpPr>
        <p:sp>
          <p:nvSpPr>
            <p:cNvPr id="39" name="TextBox 39"/>
            <p:cNvSpPr txBox="1"/>
            <p:nvPr/>
          </p:nvSpPr>
          <p:spPr>
            <a:xfrm>
              <a:off x="4097567" y="5980271"/>
              <a:ext cx="3996866" cy="278702"/>
            </a:xfrm>
            <a:prstGeom prst="rect">
              <a:avLst/>
            </a:prstGeom>
            <a:noFill/>
            <a:ln>
              <a:noFill/>
            </a:ln>
          </p:spPr>
          <p:txBody>
            <a:bodyPr wrap="none" lIns="0" tIns="0" rIns="0" bIns="0" anchor="t" anchorCtr="0">
              <a:spAutoFit/>
            </a:bodyPr>
            <a:lstStyle/>
            <a:p>
              <a:pPr algn="ctr"/>
              <a:r>
                <a:rPr lang="tr-TR" sz="1420" dirty="0">
                  <a:solidFill>
                    <a:srgbClr val="52616B"/>
                  </a:solidFill>
                  <a:latin typeface="+mn-lt"/>
                  <a:ea typeface="+mn-ea"/>
                  <a:cs typeface="+mn-cs"/>
                </a:rPr>
                <a:t>Temiz veri, güvenilir modelin ön koşuludur.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ch03_veri_on_isleme-20260916">
  <a:themeElements>
    <a:clrScheme name="ch03_veri_on_isleme-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3_veri_on_isleme-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3_veri_on_isleme-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h03_veri_on_isleme-20260916">
  <a:themeElements>
    <a:clrScheme name="ch03_veri_on_isleme-2026091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h03_veri_on_isleme-20260916">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03_veri_on_isleme-2026091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2026-09-19T21:22:18Z</dcterms:created>
  <dcterms:modified xsi:type="dcterms:W3CDTF">2026-09-19T21:22:18Z</dcterms:modified>
  <cp:category/>
  <cp:contentStatus/>
</cp:coreProperties>
</file>