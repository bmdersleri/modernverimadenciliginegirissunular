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  <Relationship Id="rId3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 kitabın üretim odaklı son aşamasına geçişi temsil eder. Şimdiye kadar model kurmayı ve açıklamayı öğrendiniz; bu bölümde ise bir modelin gerçek dünyada, zaman içinde ve toplumsal sorumluluk taşıyarak nasıl çalıştırılacağını ele alacağız. Büyük veri, MLOps, etik ve veri gizliliği başlıkları ayrı gibi görünse de hepsi aynı sorunun farklı yüzleridir: bir model üretime girdiğinde ona nasıl güvenebiliriz. Bölüm boyunca kullanacağımız örnekler, kitabın Telco Churn projesiyle doğrudan bağlantılıdır; bu yüzden burada öğrenilenler doğrudan capstone raporunuza taşınacaktır.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Bir önceki bölümde model doğru kurulduğunda görev bitmiş sayılabilirdi; bu bölüm tam olarak bu varsayımı sorgulayarak başlıyor. Üç sorumluluk alanı bilinçli olarak seçildi: ölçek ve akış teknik bir zorluğu, zaman içindeki bozulma istatistiksel bir riski, toplumsal sorumluluk ise hukuki ve etik bir yükümlülüğü temsil eder. Bu üçü birlikte ele alınmazsa, teknik olarak çalışan bir model bile güvenilmez veya adaletsiz sonuçlar üretebilir. Bu üç alan, bölümün geri kalanında sırasıyla büyük veri, kavram kayması ve adillik/KVKK başlıkları altında derinleştirilecek; bu yüzden bu sayfa aslında bölümün haritasını da örtük biçimde çizmektedir.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beş hedef, bölümün pratik omurgasını oluşturur ve her biri bölüm içinde çalışan bir Python koduyla desteklenir. Parça tabanlı işleme hedefi, belleğe sığmayan verilerle çalışmanın artık istisna değil norm olduğu gerçeğine dayanır. MLOps hedefi, bir modelin yalnızca doğru tahmin üretmesinin yetmediğini, o tahminin hangi sürümle ve ne zaman üretildiğinin de kayıt altında olması gerektiğini vurgular. Kavram kayması ve adillik hedefleri, modelin zaman içinde ve gruplar arasında nasıl davrandığını sayısal olarak izlemeyi öğretir. Son hedef olan KVKK ve veri minimizasyonu ise teknik başarımın hukuki ve etik sınırlarla birlikte değerlendirilmesi gerektiğini hatırlatır; bu nedenle bu hedef listesi yalnızca teknik değil, aynı zamanda sorumluluk odaklı bir öğrenme yol haritasıdır.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Haritanın merkezinde "üretimdeki veri ve model döngüsü" yer alır; çünkü bölümdeki beş kavramın hiçbiri tek başına anlamlı değildir, hepsi bu döngünün farklı aşamalarını temsil eder. Büyük veri ve MLOps doğrudan üretim akışının parçasıyken, kavram kayması, adillik ve KVKK bu akışın sürekli izlenmesi gereken risk boyutlarıdır. Kesikli çizgiler özellikle önemlidir: kavram kayması ile adillik arasındaki ilişki, bir modelin zamanla bozulmasının bazen belirli gruplarda daha şiddetli hissedilebileceğini; adillik ile KVKK arasındaki ilişki ise her iki konunun da aynı etik inceleme sürecinden geçmesi gerektiğini gösterir. Bu harita, bölümün geri kalanında karşınıza çıkacak sayfaların birbirinden bağımsız konular değil, tek bir üretim sorumluluğu zincirinin halkaları olduğunu hatırlatmak için tasarlandı.</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Büyük veri kavramı çoğu zaman yalnızca "çok fazla veri" olarak algılanır, ancak beş boyut bu basitleştirmenin neden yetersiz olduğunu gösterir. Hacim ve hız teknik altyapı gereksinimlerini belirlerken, çeşitlilik farklı format ve kaynaklardan gelen veriyi birleştirmenin zorluğuna işaret eder. Doğruluk boyutu özellikle kritiktir çünkü büyük veri kümeleri küçük, temiz veri setlerinin aksine eksik ve gürültülü kayıtlar içerir; bu da ileride göreceğimiz hata yönetimi pratiklerinin neden zorunlu olduğunu açıklar. Değer boyutu ise en sık unutulanıdır: büyük olması bir verinin otomatik olarak faydalı olduğu anlamına gelmez, iş kararına dönüşebilmesi gerekir. Kütüphane benzetmesi, belleği aşan bir veri kümesiyle çalışırken neden tek seferde değil, disiplinli biçimde parça parça ilerlemek gerektiğini somutlaştırır.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koddaki en kritik satır `yield satir` ifadesidir; çünkü bu, fonksiyonun bir liste değil bir üreteç (generator) döndürmesini sağlar ve dosyanın tamamının asla aynı anda bellekte tutulmamasını garanti eder. Counter nesnesinin tek geçişte kullanılması, büyük veri işlemede yaygın bir prensibi gösterir: veriyi birden fazla kez okumak yerine, gerekli özet istatistikleri ilk geçişte biriktirmek. try-except bloğu ise büyük veri gerçekliğinin bir parçasıdır; gerçek dünyada bazı kayıtlar eksik sütunlu olacaktır ve tek bir bozuk satırın tüm analiz sürecini durdurmasına izin verilmemelidir. Pandas'ın chunksize parametresi ile karşılaştırma, aynı prensibin farklı araçlarla da uygulanabileceğini, ancak sıralama veya tam medyan gibi işlemler için ek algoritmik çözümler gerektiğini hatırlatır.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tablo, "büyük veri" etiketinin otomatik olarak karmaşık bir mimari gerektirdiği yanılgısını çürütmek için tasarlandı. Üç yaklaşım arasındaki seçim, veri hacminden çok, verinin işleme hızına ve maliyet kısıtlarına bağlıdır; küçük bir CSV dosyası için dağıtık işleme kurmak yalnızca operasyonel yük ekler. Yaygın hatalar bölümündeki ilk madde, önceki sayfadaki koddaki `yield` kullanımının neden bu kadar önemli olduğunu pekiştirir: `list(kayitlari_oku(...))` yazmak, üretecin tüm avantajını ortadan kaldırır. İkinci hata, veri kalitesi sorunlarının sessizce yok sayılmasının, ileride kavram kayması veya adillik analizlerinde yanıltıcı sonuçlara yol açabileceğini gösterir; çünkü eksik kayıtlar rastgele dağılmamış olabilir.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MLOps'un tanımındaki kritik ayrım şudur: bir modelin "çalışıyor olması" ile "güvenilir biçimde üretimde yaşaması" aynı şey değildir. Fabrika bakım benzetmesi bunu güçlü biçimde anlatır; bir fabrika yalnızca açılış gününde değil, sürekli izlenir. Elle dağıtılan modellerde model dosyası, eğitim verisi ve başarı raporu birbirinden kopabilir; bu durumda yanlış bir tahmin oluştuğunda hangi sürümün sorumlu olduğu saptanamaz hale gelir ve hesap verebilirlik kaybolur. dataclasses ve pathlib gibi araçların vurgulanması tesadüfi değildir; bu bölümdeki tüm MLOps örnekleri bu iki araç üzerine inşa edilmiştir ve yapılandırılmış, tekrarsız kayıt tutmayı mümkün kılar. Üç sütun (sürümleme, izleme, geri alma) birbirini tamamlar; sürüm bilgisi olmadan izleme anlamsızdır, izleme olmadan da ne zaman geri alınması gerektiği bilinemez.</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kod, bir tahminin yalnızca bir sayı değil, izlenebilir bir olay olarak ele alınması gerektiğini gösterir. model_surumu alanının sözlüğe eklenmesi, ileride bir hata raporlandığında "bu tahmin hangi model tarafından üretildi?" sorusunun anında yanıtlanabilmesini sağlar. jsonl (JSON Lines) formatının tercih edilmesinin nedeni, her satırın bağımsız bir kayıt olması; bu sayede günlük dosyası çok büyüse bile satır satır işlenebilir, tüm dosyanın belleğe yüklenmesi gerekmez ve bu da beşinci sayfada gördüğümüz parça tabanlı işleme prensibiyle doğrudan örtüşür. UTC zaman damgası kullanımı, özellikle birden fazla sunucu veya bölgede çalışan sistemlerde zaman karışıklığını önlemek için standart bir pratiktir. Bu basit fonksiyon, az sonra göreceğimiz ChurnIzlemeSistemi sınıfının temel yapı taşlarından biridir.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Üç seçenek arasındaki geçiş noktası nettir: tek seferlik bir ders projesinde dosya kopyalama yeterli olabilirken, birden fazla geliştiricinin yönettiği veya müşteri kararını etkileyen bir modelde tam MLOps hattı zorunlu hale gelir. Bu tablonun asıl mesajı, izlenebilirlik ile risk arasındaki ters orantıdır; izlenebilirlik arttıkça operasyonel risk azalır. Yaygın hatalardaki ikinci madde özellikle dikkat çekicidir: günlükte kişisel veri saklamak, MLOps disiplininin KVKK ile kesiştiği ilk noktadır ve bu kesişim bölümün ilerleyen sayfalarında veri minimizasyonu başlığı altında derinleştirilecektir. Üçüncü hata, "izliyoruz" demenin yeterli olmadığını, somut ve sayısal bir eşik tanımlanmadan izlemenin anlamsız kaldığını vurgular; bu da bir sonraki başlık olan kavram kayması için doğrudan bir köprü oluşturur.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Kavram kayması, modelin kendisinin bozulması değil, dünyanın modelin öğrendiği ilişkiden uzaklaşmasıdır; bu ayrım önemlidir çünkü çözüm genellikle modeli "düzeltmek" değil, durumu anlamaktır. Formüldeki mutlak fark, yalnızca büyüklüğü ölçer, yönü değil; bu nedenle güncel ortalamanın referanstan yüksek ya da düşük olması aynı şekilde uyarı üretebilir. Mevsim benzetmesi özellikle öğretici çünkü kayma her zaman kötü niyetli veya beklenmedik bir olay değildir; bazen yalnızca doğal bir döngüsel değişimdir, ama yine de modelin tahminlerini etkiler. Buradaki en önemli uyarı, kaymanın genel başarım metriklerinde görünmeyebileceğidir; toplam doğruluk sabit kalırken belirli bir müşteri segmentindeki hata oranı sessizce artabilir, bu da adillik başlığıyla doğrudan bağlantılıdır.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Koddaki iki fonksiyonun ayrılması bilinçli bir tasarım kararıdır: ortalama_farki_hesapla saf bir hesaplama fonksiyonu iken, kayma_raporu_uret bu hesaplamayı bir karar ve raporlama katmanına dönüştürür. Grafikteki referans noktalarının 45-67 aralığında, güncel noktaların ise 58-82 aralığında toplanması, sadece sayısal bir fark değil, görsel olarak da net bir kayma göstermektedir; bu tür bir görselleştirme, ham sayılara bakmaktan çok daha hızlı bir sezgi sağlar. 14.40'lık fark, önceden belirlenen 8.0 eşiğini aştığı için UYARI durumu tetiklenmiştir; ancak bu uyarının otomatik bir eylem değil, bir inceleme başlangıcı olduğu unutulmamalıdır. Bu basit ortalama karşılaştırması, bir sonraki sayfada göreceğimiz gibi yalnızca başlangıç seviyesi bir izleme yöntemidir ve daha karmaşık dağılım değişimlerini yakalamakta sınırlı kalabilir.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Dört yöntemin sıralanışı bir olgunluk eğrisini de temsil eder: ortalama farkı en basit ve en kolay yorumlanan yöntemken, PSI ve KS testi dağılımın şeklini de dikkate alarak daha ince kaymaları yakalayabilir. Başarım izleme yönteminin gerçek etiket gerektirmesi önemli bir kısıttır; çünkü churn gibi senaryolarda gerçek sonucun (müşterinin gerçekten ayrılıp ayrılmadığının) öğrenilmesi haftalar sürebilir, bu da "girdi kayması önce, etiket kayması sonra izlenmeli" ilkesinin nedenidir. Yaygın hatalardaki eşik seçimi konusu, önceki sayfadaki 8.0 değerinin nereden geldiği sorusunu gündeme getirir; gerçek bir sistemde bu değer keyfi değil, tarihsel dalgalanma ve yanlış alarm maliyetiyle gerekçelendirilmelidir. Üçüncü hata, bu bölümün tekrar eden bir temasını pekiştirir: bir uyarı sinyali, otomatik bir eylem komutu değildir; insan değerlendirmesi her zaman araya girmelidir.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Adillik tanımındaki en önemli cümle, "herkese aynı sonuç" ile adillik'in eş anlamlı olmadığıdır; bunun yerine gruplar arasındaki karar ve hata oranı farkları ölçülür. Demografik parite farkı sonuç odaklıdır ve "kim ne kadar olumlu karar alıyor" sorusuna yanıt verirken, eşit fırsat farkı yalnızca gerçekten olumlu olması gereken durumlara odaklanarak "kim ne kadar doğru tanınıyor" sorusuna yanıt verir. Bu iki metriğin aynı anda kusursuz sağlanamayabileceği gerçeği, adillik değerlendirmesinin tek bir sayıya indirgenemeyecek kadar bağlamsal olduğunu gösterir. Teslimat süresi benzetmesi özellikle güçlüdür çünkü genel ortalama başarımın iyi görünmesinin, belirli bir alt grubun sistematik olarak dezavantajlı olmadığı anlamına gelmediğini somutlaştırır; tarihsel veride belirli gruplara daha az kampanya sunulmuşsa model bu örüntüyü "başarılı karar" gibi öğrenebilir.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defaultdict kullanımı, her grup için ayrı bir sayaç yapısını sıfırdan tanımlamak zorunda kalmadan dinamik olarak oluşturmayı sağlar; bu, kodun kısa ve genişletilebilir kalmasını mümkün kılar. guvenli_oran fonksiyonunun ayrı tanımlanması küçük ama önemli bir tasarım kararıdır; sıfıra bölme hatasını önler ve bu, bölümün ilerleyen sayfalarındaki hata ayıklama örneğinde tekrar karşımıza çıkacak bir temadır. Çıktıdaki A grubu için yüksek hata oranı (0.33) ile B grubu için sıfır hata oranı arasındaki fark, tek başına kesin bir önyargı kanıtı değildir; örneklem küçük olduğunda bu tür farklar rastlantısal da olabilir. Bu nedenle metnin vurguladığı gibi, bu iki metrik tek başına etik bir hüküm vermek için yeterli değildir; bağlam, yasal dayanak ve iş kararının etkisi birlikte değerlendirilmelidir.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Etik ile KVKK arasındaki ayrım nettir: etik daha geniş bir toplumsal kabul edilebilirlik sorusuyken, KVKK bu sorunun Türkiye'deki somut hukuki çerçevesidir. Kırmızı dikkat kutusundaki cümle bölümün en sık tekrarlanan ilkelerinden biridir: bir verinin model başarımını artırması, onun işlenmesini hukuka uygun kılmaz; bu, veri bilimcilerin sıkça düştüğü bir tuzaktır çünkü performans iyileştirmesi teknik olarak cazip görünür. Veri minimizasyonu ilkesi somut bir örnekle açıklanır: Telco Churn tahmini için müşteri adı veya açık telefon numarası neredeyse hiçbir zaman gerekli değildir çünkü model bu bilgilerle değil, davranışsal ve sözleşmesel özelliklerle karar verir. Evrak dolabı benzetmesi, minimizasyonun karmaşık bir teknik kısıtlama değil, sağduyulu bir pratik olduğunu vurgular: yalnızca gerekli olanı taşımak, hem daha güvenli hem daha yönetilebilirdir.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GuvenliMusteriKaydi veri sınıfının tasarımı, veri minimizasyonunun kodda nasıl somutlaştığını gösterir; sınıf yalnızca dört alan taşır ve ad-soyad gibi analiz için gereksiz kişisel bilgiler bu sınıfa hiç girmez, yani sızıntı riski kaynağında ortadan kaldırılır. telefonu_maskele fonksiyonu basit görünse de önemli bir prensip içerir: yalnızca son dört haneyi göstererek, doğrulama için gereken minimum bilgiyi korurken geri kalanını gizler. Ancak bu çıktının açıkladığı gibi, maskeleme yalnızca ekrana yazdırma aşamasında uygulanıyorsa, dosyanın kendisinde hâlâ tam numara saklanıyor olabilir; bu, ilerleyen sayfalarda göreceğimiz gerçek dünya tuzaklarından biridir. asdict fonksiyonunun kullanılması, dataclass nesnesini kolayca bir sözlüğe, dolayısıyla JSON'a dönüştürülebilir hale getirir; bu da önceki MLOps kaydıyla aynı günlükleme mantığına entegre edilebileceği anlamına gelir.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akış, bir tahminin doğrudan model çıktısından karara geçmediğini, aradan geçen iki ek katmanı gösterir. Etik inceleme adımı, önceki sayfalarda gördüğümüz kayma ve adillik sinyallerinin bir araya getirildiği noktadır; burada otomatik bir onay değil, sinyallerin insan tarafından yorumlandığı bir aşama söz konusudur. Kayıt deposu adımı ise MLOps'un izlenebilirlik ilkesini tamamlar: sürüm, zaman ve karar birlikte saklanmazsa, geriye dönük bir denetim mümkün olmaz. Capstone notu, bu akışın soyut bir şema olmadığını, doğrudan sizin projenizin model kartı bölümüne dönüşeceğini hatırlatır; bu nedenle bu dört adımı yalnızca teorik değil, kendi projenizde uygulayacağınız somut bir kontrol listesi olarak düşünmelisiniz.</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sınıf, bölümün tüm kavramlarını -- büyük veri disiplini, MLOps izlenebilirliği, kavram kayması tespiti ve adillik raporlaması -- tek bir nesnede birleştirir ve bu bilinçli bir tasarım kararıdır. tahmin_ekle metodunun her çağrıda otomatik olarak zaman damgası eklemesi, geliştiricinin bunu unutma riskini ortadan kaldırır. kayma_kontrolu ve adillik_kontrolu metotlarının kasıtlı olarak ayrı tutulması, iki farklı riskin -- zamansal bozulma ve grup adaletsizliği -- birbirinden bağımsız olarak tetiklenip değerlendirilebilmesini sağlar; biri alarm vermeden diğeri de incelenebilir. Örnek çalıştırmada kayma farkının eşiği aşması nedeniyle sistemin "insan incelemesine gönderildi" kararı vermesi, otomasyonun burada nihai karar mercii olmadığını, yalnızca bir insan denetimini tetiklediğini gösterir. Musteri veri sınıfının yalnızca üç alan taşıması tesadüfi değildir; bu, sınıfın kendisinin bir veri minimizasyonu örneği olduğu anlamına gelir.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PSI formülü, önceki sayfalarda gördüğümüz basit ortalama farkından daha ince bir izleme aracıdır çünkü dağılımın şeklindeki değişimi de yakalar; ancak bölme seçimine duyarlı olması, sonucun mutlak bir gerçek değil, bir inceleme sinyali olarak okunması gerektiği anlamına gelir. Dört satırlı tablo, izlemenin tek boyutlu olmadığını gösterir: veri kayması girdi tarafında, kavram kayması ilişki tarafında, başarım bozulması sonuç tarafında, operasyonel kayma ise altyapı tarafında ortaya çıkar ve her biri farklı bir ilk inceleme gerektirir. Sağ sütundaki riskler özellikle önemlidir çünkü her biri, bir otomatik karar sisteminin düşebileceği tuzağı somutlaştırır; örneğin mevsimsel bir değişimi model hatası sanmak, gereksiz ve maliyetli bir yeniden eğitime yol açabilir. Alttaki not, bölümün tekrar eden mesajını yönetişim diline taşır: yeniden eğitim kararı tek bir sinyale değil, istatistiksel kanıt, veri kalitesi, etik inceleme ve sorumlu onayın birleşimine dayanmalıdır.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üç yanılgı, bölümdeki en sık karşılaşılan yanlış anlamaları temsil eder ve her biri daha önceki sayfalarda işlenen bir konuyu farklı bir açıdan tekrar ele alır. Vekil değişken yanılgısı, adillik sayfasında değinilen bir noktayı derinleştirir: posta kodu veya cihaz modeli gibi görünüşte tarafsız değişkenler, korunan bir özelliği dolaylı olarak taşıyabilir ve sütunu silmek bu ilişkiyi ortadan kaldırmaz. Doğruluk yanılgısı, bir modelin genel başarımının yüksek olmasının onu otomatik olarak adil veya hukuka uygun kılmadığını hatırlatır; bu iki kavramın farklı eksenlerde değerlendirilmesi gerekir. Kayma yanılgısı ise MLOps ve kavram kayması sayfalarında defalarca vurgulanan bir ilkeyi özetler: bir uyarı sinyali, otomatik bir eylem komutu değil, insan incelemesini başlatan bir tetikleyicidir; bu üç yanılgının ortak paydası, teknik bir sinyali nihai bir karara dönüştürme aceleciliğidir.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yedi tuzak, bölümde öğrenilen tekniklerin doğru uygulanmadığında nasıl başarısız olabileceğini gösteren pratik bir kontrol listesidir. İlk tuzak, dosya adına sürüm eklemenin MLOps disiplininin yerine geçmediğini hatırlatır; dosya taşınır veya yeniden adlandırılırsa bu bilgi kaybolur, oysa tahmin kaydına yazılan sürüm bilgisi kalıcıdır. Dördüncü tuzak özellikle inceliklidir çünkü maskeleme ile minimizasyonu birbirine karıştırma riskini gösterir: ekranda son dört haneyi göstermek, dosyanın kendisinde tam numaranın hâlâ saklandığı anlamına gelebilir. Beşinci tuzak, erken optimizasyonun büyük veri bağlamındaki karşılığıdır; ölçülmeyen bir hacim varsayımıyla dağıtık mimari kurmak, gereksiz karmaşıklık ve maliyet yaratır. Son tuzak ise bir önceliklendirme ilkesidir: kişisel veri sızıntısı ile küçük bir başarım düşüşü aynı aciliyette değildir ve müdahale sırası riskin büyüklüğüne göre belirlenmelidir.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Soldaki kod, bu bölümde öğrendiğimiz üç prensibi aynı anda ihlal eder: tür güvenliği yoktur (kayma_farki bir metin olarak karşılaştırılıyor), sıfıra bölme durumu ele alınmamıştır ve kişisel veri doğrudan ekrana yazdırılmaktadır. Sağdaki düzeltilmiş versiyon, bu üç sorunu da bağımsız ama birbiriyle tutarlı çözümlerle ele alır: float dönüşümü tür hatasını önler, toplam_sayi kontrolü sıfıra bölmeyi güvenli hale getirir, müsteri_kodu kullanımı ise KVKK riskini azaltır. Bu üç düzeltmenin hiçbiri karmaşık değildir; asıl mesaj, küçük ve gözden kaçan kod hatalarının, teknik bir çökme ile bir KVKK ihlalini aynı anda tetikleyebileceğidir. Alttaki beklenen çıktı notu, düzeltmenin yalnızca "hata vermemesi" değil, aynı zamanda güvenli bir uyarı üretmesi gerektiğini vurgular; bu, hata ayıklamanın işlevsellik kadar sorumluluk içerdiğini gösteren bir örnektir.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Altı kart, bölümün beş ana kavramını ve bunları birbirine bağlayan izlenebilirlik ilkesini özetler. Büyük veri ve MLOps kartları teknik altyapıyı temsil ederken, kavram kayması ve adillik kartları bu altyapının zaman içinde ve gruplar arasında nasıl izleneceğini gösterir. KVKK kartı, tüm bu teknik çalışmanın hukuki bir çerçeve içinde yürütülmesi gerektiğini hatırlatır ve altıncı kart olan izlenebilirlik, bu beş unsurun hepsinin ortak paydası olduğunu vurgular: hiçbiri kayıt altına alınmadan anlamlı değildir. Alttaki sınav notu, bölümün en önemli tek cümlesidir; çünkü öğrencilerin en sık yaptığı hata, yüksek doğruluğu tek başına yeterli bir başarı ölçütü olarak görmektir, oysa bu bölüm boyunca gördüğümüz gibi adillik, izlenebilirlik ve hukuka uygunluk ayrı ayrı değerlendirilmesi gereken boyutlardır.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sayfadaki karşılaştırma -- açıklama araçlarının "neden bu tahmin?" sorusuna, bu bölümdeki araçların ise "bu tahmin hâlâ güvenilir ve adil mi?" sorusuna yanıt vermesi -- önceki bölümle bu bölüm arasındaki ilişkiyi netleştirir; ikisi rakip değil, tamamlayıcı katmanlardır. Artık yapabildikleriniz listesi, bölüm başındaki öğrenme hedefleriyle doğrudan örtüşür ve bu üç yeteneğin hepsinin pratik kodlarla desteklendiğini hatırlatır. Sonraki bölüm olan Ek A capstone projesi, bu bölümde ayrı ayrı öğrenilen izleme, adillik ve minimizasyon araçlarını, önceki bölümlerin modelleme ve açıklama bileşenleriyle birleştirerek tek bir savunulabilir sistem haline getirmenizi bekleyecektir. Kapanış notundaki sınav uyarısı bilinçli olarak tekrarlanmıştır; çünkü bu bölümün tek bir cümleye indirgenebilecek mesajı, yüksek doğruluğun tek başına yeterli olmadığıdır ve bu mesajın capstone raporunuzda somut biçimde görünmesi beklenir.</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ch14_buyuk_veri_mlops_etik-20260916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ch14_buyuk_veri_mlops_etik-20260916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cover-panel"/>
          <p:cNvSpPr/>
          <p:nvPr/>
        </p:nvSpPr>
        <p:spPr>
          <a:xfrm>
            <a:off x="0" y="0"/>
            <a:ext cx="4191000" cy="6858000"/>
          </a:xfrm>
          <a:prstGeom prst="rect">
            <a:avLst/>
          </a:prstGeom>
          <a:solidFill>
            <a:srgbClr val="12355B"/>
          </a:solidFill>
          <a:ln>
            <a:noFill/>
          </a:ln>
        </p:spPr>
      </p:sp>
      <p:sp>
        <p:nvSpPr>
          <p:cNvPr id="3" name="Line 3"/>
          <p:cNvSpPr/>
          <p:nvPr/>
        </p:nvSpPr>
        <p:spPr>
          <a:xfrm>
            <a:off x="685800" y="5905500"/>
            <a:ext cx="10553700" cy="1"/>
          </a:xfrm>
          <a:prstGeom prst="line">
            <a:avLst/>
          </a:prstGeom>
          <a:noFill/>
          <a:ln w="19050">
            <a:solidFill>
              <a:srgbClr val="00A6A6"/>
            </a:solidFill>
            <a:tailEnd type="arrow" w="lg" len="lg"/>
          </a:ln>
        </p:spPr>
      </p:sp>
      <p:grpSp>
        <p:nvGrpSpPr>
          <p:cNvPr id="6" name="cover-chapter"/>
          <p:cNvGrpSpPr/>
          <p:nvPr/>
        </p:nvGrpSpPr>
        <p:grpSpPr>
          <a:xfrm>
            <a:off x="666750" y="2251710"/>
            <a:ext cx="1787319" cy="2410777"/>
            <a:chOff x="666750" y="2251710"/>
            <a:chExt cx="1787319" cy="2410777"/>
          </a:xfrm>
        </p:grpSpPr>
        <p:sp>
          <p:nvSpPr>
            <p:cNvPr id="4" name="TextBox 4"/>
            <p:cNvSpPr txBox="1"/>
            <p:nvPr/>
          </p:nvSpPr>
          <p:spPr>
            <a:xfrm>
              <a:off x="679704" y="2251710"/>
              <a:ext cx="668914" cy="234696"/>
            </a:xfrm>
            <a:prstGeom prst="rect">
              <a:avLst/>
            </a:prstGeom>
            <a:noFill/>
            <a:ln>
              <a:noFill/>
            </a:ln>
          </p:spPr>
          <p:txBody>
            <a:bodyPr wrap="none" lIns="0" tIns="0" rIns="0" bIns="0" anchor="t" anchorCtr="0">
              <a:spAutoFit/>
            </a:bodyPr>
            <a:lstStyle/>
            <a:p>
              <a:pPr algn="l"/>
              <a:r>
                <a:rPr lang="tr-TR" sz="1200" b="1" spc="225" dirty="0">
                  <a:solidFill>
                    <a:srgbClr val="EAF4F6"/>
                  </a:solidFill>
                  <a:latin typeface="+mn-lt"/>
                  <a:ea typeface="+mn-ea"/>
                  <a:cs typeface="+mn-cs"/>
                </a:rPr>
                <a:t>BÖLÜM</a:t>
              </a:r>
            </a:p>
          </p:txBody>
        </p:sp>
        <p:sp>
          <p:nvSpPr>
            <p:cNvPr id="5" name="TextBox 5"/>
            <p:cNvSpPr txBox="1"/>
            <p:nvPr/>
          </p:nvSpPr>
          <p:spPr>
            <a:xfrm>
              <a:off x="666750" y="2500312"/>
              <a:ext cx="1787319" cy="2162175"/>
            </a:xfrm>
            <a:prstGeom prst="rect">
              <a:avLst/>
            </a:prstGeom>
            <a:noFill/>
            <a:ln>
              <a:noFill/>
            </a:ln>
          </p:spPr>
          <p:txBody>
            <a:bodyPr wrap="none" lIns="0" tIns="0" rIns="0" bIns="0" anchor="t" anchorCtr="0">
              <a:spAutoFit/>
            </a:bodyPr>
            <a:lstStyle/>
            <a:p>
              <a:pPr algn="l"/>
              <a:r>
                <a:rPr lang="tr-TR" sz="11250" b="1" dirty="0">
                  <a:solidFill>
                    <a:srgbClr val="00A6A6"/>
                  </a:solidFill>
                  <a:latin typeface="+mj-lt"/>
                  <a:ea typeface="+mj-ea"/>
                  <a:cs typeface="+mj-cs"/>
                </a:rPr>
                <a:t>14</a:t>
              </a:r>
            </a:p>
          </p:txBody>
        </p:sp>
      </p:grpSp>
      <p:grpSp>
        <p:nvGrpSpPr>
          <p:cNvPr id="8" name="cover-title"/>
          <p:cNvGrpSpPr/>
          <p:nvPr/>
        </p:nvGrpSpPr>
        <p:grpSpPr>
          <a:xfrm>
            <a:off x="4933950" y="1750695"/>
            <a:ext cx="4406646" cy="2533650"/>
            <a:chOff x="4933950" y="1750695"/>
            <a:chExt cx="4406646" cy="2533650"/>
          </a:xfrm>
        </p:grpSpPr>
        <p:sp>
          <p:nvSpPr>
            <p:cNvPr id="7" name="TextBox 7"/>
            <p:cNvSpPr txBox="1"/>
            <p:nvPr/>
          </p:nvSpPr>
          <p:spPr>
            <a:xfrm>
              <a:off x="4933950" y="1750695"/>
              <a:ext cx="4406646" cy="2533650"/>
            </a:xfrm>
            <a:prstGeom prst="rect">
              <a:avLst/>
            </a:prstGeom>
            <a:noFill/>
            <a:ln>
              <a:noFill/>
            </a:ln>
          </p:spPr>
          <p:txBody>
            <a:bodyPr wrap="none" lIns="0" tIns="0" rIns="0" bIns="0" anchor="t" anchorCtr="0">
              <a:spAutoFit/>
            </a:bodyPr>
            <a:lstStyle/>
            <a:p>
              <a:pPr algn="l">
                <a:lnSpc>
                  <a:spcPts val="4650"/>
                </a:lnSpc>
              </a:pPr>
              <a:r>
                <a:rPr lang="tr-TR" sz="3900" b="1" dirty="0">
                  <a:solidFill>
                    <a:srgbClr val="12355B"/>
                  </a:solidFill>
                  <a:latin typeface="+mj-lt"/>
                  <a:ea typeface="+mj-ea"/>
                  <a:cs typeface="+mj-cs"/>
                </a:rPr>
                <a:t>Büyük Veri,</a:t>
              </a:r>
              <a:br/>
              <a:r>
                <a:rPr lang="tr-TR" sz="3900" b="1" dirty="0">
                  <a:solidFill>
                    <a:srgbClr val="12355B"/>
                  </a:solidFill>
                  <a:latin typeface="+mj-lt"/>
                  <a:ea typeface="+mj-ea"/>
                  <a:cs typeface="+mj-cs"/>
                </a:rPr>
                <a:t>MLOps Temelleri,</a:t>
              </a:r>
              <a:br/>
              <a:r>
                <a:rPr lang="tr-TR" sz="3900" b="1" dirty="0">
                  <a:solidFill>
                    <a:srgbClr val="12355B"/>
                  </a:solidFill>
                  <a:latin typeface="+mj-lt"/>
                  <a:ea typeface="+mj-ea"/>
                  <a:cs typeface="+mj-cs"/>
                </a:rPr>
                <a:t>Etik ve Veri</a:t>
              </a:r>
              <a:br/>
              <a:r>
                <a:rPr lang="tr-TR" sz="3900" b="1" dirty="0">
                  <a:solidFill>
                    <a:srgbClr val="12355B"/>
                  </a:solidFill>
                  <a:latin typeface="+mj-lt"/>
                  <a:ea typeface="+mj-ea"/>
                  <a:cs typeface="+mj-cs"/>
                </a:rPr>
                <a:t>Gizliliği</a:t>
              </a:r>
            </a:p>
          </p:txBody>
        </p:sp>
      </p:grpSp>
      <p:grpSp>
        <p:nvGrpSpPr>
          <p:cNvPr id="12" name="cover-subtitle"/>
          <p:cNvGrpSpPr/>
          <p:nvPr/>
        </p:nvGrpSpPr>
        <p:grpSpPr>
          <a:xfrm>
            <a:off x="4943094" y="4400550"/>
            <a:ext cx="3976056" cy="861918"/>
            <a:chOff x="4943094" y="4400550"/>
            <a:chExt cx="3976056" cy="861918"/>
          </a:xfrm>
        </p:grpSpPr>
        <p:sp>
          <p:nvSpPr>
            <p:cNvPr id="9" name="Rectangle 9"/>
            <p:cNvSpPr/>
            <p:nvPr/>
          </p:nvSpPr>
          <p:spPr>
            <a:xfrm>
              <a:off x="4953000" y="4400550"/>
              <a:ext cx="1143000" cy="38100"/>
            </a:xfrm>
            <a:prstGeom prst="rect">
              <a:avLst/>
            </a:prstGeom>
            <a:solidFill>
              <a:srgbClr val="00A6A6"/>
            </a:solidFill>
            <a:ln>
              <a:noFill/>
            </a:ln>
          </p:spPr>
        </p:sp>
        <p:sp>
          <p:nvSpPr>
            <p:cNvPr id="10" name="TextBox 10"/>
            <p:cNvSpPr txBox="1"/>
            <p:nvPr/>
          </p:nvSpPr>
          <p:spPr>
            <a:xfrm>
              <a:off x="4943094" y="4532948"/>
              <a:ext cx="3976056"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Modern Veri Madenciliğine Giriş</a:t>
              </a:r>
            </a:p>
          </p:txBody>
        </p:sp>
        <p:sp>
          <p:nvSpPr>
            <p:cNvPr id="11" name="TextBox 11"/>
            <p:cNvSpPr txBox="1"/>
            <p:nvPr/>
          </p:nvSpPr>
          <p:spPr>
            <a:xfrm>
              <a:off x="4944999" y="4954429"/>
              <a:ext cx="249846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a:t>
              </a:r>
            </a:p>
          </p:txBody>
        </p:sp>
      </p:grpSp>
      <p:grpSp>
        <p:nvGrpSpPr>
          <p:cNvPr id="14" name="cover-meta"/>
          <p:cNvGrpSpPr/>
          <p:nvPr/>
        </p:nvGrpSpPr>
        <p:grpSpPr>
          <a:xfrm>
            <a:off x="4946904" y="6233160"/>
            <a:ext cx="4681179" cy="234696"/>
            <a:chOff x="4946904" y="6233160"/>
            <a:chExt cx="4681179" cy="234696"/>
          </a:xfrm>
        </p:grpSpPr>
        <p:sp>
          <p:nvSpPr>
            <p:cNvPr id="13" name="TextBox 13"/>
            <p:cNvSpPr txBox="1"/>
            <p:nvPr/>
          </p:nvSpPr>
          <p:spPr>
            <a:xfrm>
              <a:off x="4946904" y="6233160"/>
              <a:ext cx="468117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Modern Veri Madenciliğine Giriş · Telco Churn Projesi · 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5581212" cy="557403"/>
            <a:chOff x="595122" y="282892"/>
            <a:chExt cx="5581212" cy="557403"/>
          </a:xfrm>
        </p:grpSpPr>
        <p:sp>
          <p:nvSpPr>
            <p:cNvPr id="4" name="TextBox 4"/>
            <p:cNvSpPr txBox="1"/>
            <p:nvPr/>
          </p:nvSpPr>
          <p:spPr>
            <a:xfrm>
              <a:off x="595122" y="282892"/>
              <a:ext cx="558121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açılışı ve motivasyon</a:t>
              </a:r>
            </a:p>
          </p:txBody>
        </p:sp>
      </p:grpSp>
      <p:grpSp>
        <p:nvGrpSpPr>
          <p:cNvPr id="8" name="opening-quote"/>
          <p:cNvGrpSpPr/>
          <p:nvPr/>
        </p:nvGrpSpPr>
        <p:grpSpPr>
          <a:xfrm>
            <a:off x="609600" y="1257300"/>
            <a:ext cx="6672501" cy="799529"/>
            <a:chOff x="609600" y="1257300"/>
            <a:chExt cx="6672501" cy="799529"/>
          </a:xfrm>
        </p:grpSpPr>
        <p:sp>
          <p:nvSpPr>
            <p:cNvPr id="6" name="Rectangle 6"/>
            <p:cNvSpPr/>
            <p:nvPr/>
          </p:nvSpPr>
          <p:spPr>
            <a:xfrm>
              <a:off x="609600" y="1257300"/>
              <a:ext cx="57150" cy="685800"/>
            </a:xfrm>
            <a:prstGeom prst="rect">
              <a:avLst/>
            </a:prstGeom>
            <a:solidFill>
              <a:srgbClr val="00A6A6"/>
            </a:solidFill>
            <a:ln>
              <a:noFill/>
            </a:ln>
          </p:spPr>
        </p:sp>
        <p:sp>
          <p:nvSpPr>
            <p:cNvPr id="7" name="TextBox 7"/>
            <p:cNvSpPr txBox="1"/>
            <p:nvPr/>
          </p:nvSpPr>
          <p:spPr>
            <a:xfrm>
              <a:off x="904494" y="1351598"/>
              <a:ext cx="6377607" cy="705231"/>
            </a:xfrm>
            <a:prstGeom prst="rect">
              <a:avLst/>
            </a:prstGeom>
            <a:noFill/>
            <a:ln>
              <a:noFill/>
            </a:ln>
          </p:spPr>
          <p:txBody>
            <a:bodyPr wrap="none" lIns="0" tIns="0" rIns="0" bIns="0" anchor="t" anchorCtr="0">
              <a:spAutoFit/>
            </a:bodyPr>
            <a:lstStyle/>
            <a:p>
              <a:pPr algn="l">
                <a:lnSpc>
                  <a:spcPts val="2550"/>
                </a:lnSpc>
              </a:pPr>
              <a:r>
                <a:rPr lang="tr-TR" sz="1950" b="1" dirty="0">
                  <a:solidFill>
                    <a:srgbClr val="12355B"/>
                  </a:solidFill>
                  <a:latin typeface="+mn-lt"/>
                  <a:ea typeface="+mn-ea"/>
                  <a:cs typeface="+mn-cs"/>
                </a:rPr>
                <a:t>"Bu model altı ay sonra da bugünkü kadar güvenilir</a:t>
              </a:r>
              <a:br/>
              <a:r>
                <a:rPr lang="tr-TR" sz="1950" b="1" dirty="0">
                  <a:solidFill>
                    <a:srgbClr val="12355B"/>
                  </a:solidFill>
                  <a:latin typeface="+mn-lt"/>
                  <a:ea typeface="+mn-ea"/>
                  <a:cs typeface="+mn-cs"/>
                </a:rPr>
                <a:t>çalışacak mı?"</a:t>
              </a:r>
            </a:p>
          </p:txBody>
        </p:sp>
      </p:grpSp>
      <p:grpSp>
        <p:nvGrpSpPr>
          <p:cNvPr id="10" name="opening-lead"/>
          <p:cNvGrpSpPr/>
          <p:nvPr/>
        </p:nvGrpSpPr>
        <p:grpSpPr>
          <a:xfrm>
            <a:off x="600456" y="2358390"/>
            <a:ext cx="7939278" cy="637794"/>
            <a:chOff x="600456" y="2358390"/>
            <a:chExt cx="7939278" cy="637794"/>
          </a:xfrm>
        </p:grpSpPr>
        <p:sp>
          <p:nvSpPr>
            <p:cNvPr id="9" name="TextBox 9"/>
            <p:cNvSpPr txBox="1"/>
            <p:nvPr/>
          </p:nvSpPr>
          <p:spPr>
            <a:xfrm>
              <a:off x="600456" y="2358390"/>
              <a:ext cx="7939278" cy="637794"/>
            </a:xfrm>
            <a:prstGeom prst="rect">
              <a:avLst/>
            </a:prstGeom>
            <a:noFill/>
            <a:ln>
              <a:noFill/>
            </a:ln>
          </p:spPr>
          <p:txBody>
            <a:bodyPr wrap="none" lIns="0" tIns="0" rIns="0" bIns="0" anchor="t" anchorCtr="0">
              <a:spAutoFit/>
            </a:bodyPr>
            <a:lstStyle/>
            <a:p>
              <a:pPr algn="l">
                <a:lnSpc>
                  <a:spcPts val="2250"/>
                </a:lnSpc>
              </a:pPr>
              <a:r>
                <a:rPr lang="tr-TR" sz="1800" dirty="0">
                  <a:solidFill>
                    <a:srgbClr val="172B3A"/>
                  </a:solidFill>
                  <a:latin typeface="+mn-lt"/>
                  <a:ea typeface="+mn-ea"/>
                  <a:cs typeface="+mn-cs"/>
                </a:rPr>
                <a:t>Bir önceki bölümde model doğru kurulduğunda görev bitmiş sayılabilirdi.</a:t>
              </a:r>
              <a:br/>
              <a:r>
                <a:rPr lang="tr-TR" sz="1800" dirty="0">
                  <a:solidFill>
                    <a:srgbClr val="172B3A"/>
                  </a:solidFill>
                  <a:latin typeface="+mn-lt"/>
                  <a:ea typeface="+mn-ea"/>
                  <a:cs typeface="+mn-cs"/>
                </a:rPr>
                <a:t>Gerçek üretim ortamında görev tam da o noktada başlar.</a:t>
              </a:r>
            </a:p>
          </p:txBody>
        </p:sp>
      </p:grpSp>
      <p:grpSp>
        <p:nvGrpSpPr>
          <p:cNvPr id="19" name="area-scale"/>
          <p:cNvGrpSpPr/>
          <p:nvPr/>
        </p:nvGrpSpPr>
        <p:grpSpPr>
          <a:xfrm>
            <a:off x="609600" y="3238500"/>
            <a:ext cx="3409950" cy="2095500"/>
            <a:chOff x="609600" y="3238500"/>
            <a:chExt cx="3409950" cy="2095500"/>
          </a:xfrm>
        </p:grpSpPr>
        <p:sp>
          <p:nvSpPr>
            <p:cNvPr id="11" name="Rectangle 11"/>
            <p:cNvSpPr/>
            <p:nvPr/>
          </p:nvSpPr>
          <p:spPr>
            <a:xfrm>
              <a:off x="609600" y="3238500"/>
              <a:ext cx="3409950" cy="2095500"/>
            </a:xfrm>
            <a:prstGeom prst="roundRect">
              <a:avLst>
                <a:gd name="adj" fmla="val 4545"/>
              </a:avLst>
            </a:prstGeom>
            <a:solidFill>
              <a:srgbClr val="FFFFFF"/>
            </a:solidFill>
            <a:ln w="14288">
              <a:solidFill>
                <a:srgbClr val="B8CBD3"/>
              </a:solidFill>
            </a:ln>
          </p:spPr>
        </p:sp>
        <p:grpSp>
          <p:nvGrpSpPr>
            <p:cNvPr id="16" name="icon-database"/>
            <p:cNvGrpSpPr/>
            <p:nvPr/>
          </p:nvGrpSpPr>
          <p:grpSpPr>
            <a:xfrm>
              <a:off x="857250" y="3448050"/>
              <a:ext cx="419100" cy="419100"/>
              <a:chOff x="857250" y="3448050"/>
              <a:chExt cx="419100" cy="419100"/>
            </a:xfrm>
          </p:grpSpPr>
          <p:sp>
            <p:nvSpPr>
              <p:cNvPr id="12" name="Ellipse 12"/>
              <p:cNvSpPr/>
              <p:nvPr/>
            </p:nvSpPr>
            <p:spPr>
              <a:xfrm>
                <a:off x="857250" y="3448050"/>
                <a:ext cx="419100" cy="419100"/>
              </a:xfrm>
              <a:prstGeom prst="ellipse">
                <a:avLst/>
              </a:prstGeom>
              <a:solidFill>
                <a:srgbClr val="EAF4F6"/>
              </a:solidFill>
              <a:ln>
                <a:noFill/>
              </a:ln>
            </p:spPr>
          </p:sp>
          <p:sp>
            <p:nvSpPr>
              <p:cNvPr id="13" name="Freeform 13"/>
              <p:cNvSpPr/>
              <p:nvPr/>
            </p:nvSpPr>
            <p:spPr>
              <a:xfrm>
                <a:off x="952500" y="3524250"/>
                <a:ext cx="228600" cy="114300"/>
              </a:xfrm>
              <a:custGeom>
                <a:avLst/>
                <a:gdLst/>
                <a:ahLst/>
                <a:cxnLst/>
                <a:rect l="l" t="t" r="r" b="b"/>
                <a:pathLst>
                  <a:path w="228600" h="114300">
                    <a:moveTo>
                      <a:pt x="0" y="57150"/>
                    </a:moveTo>
                    <a:cubicBezTo>
                      <a:pt x="0" y="25717"/>
                      <a:pt x="51435" y="0"/>
                      <a:pt x="114300" y="0"/>
                    </a:cubicBezTo>
                    <a:cubicBezTo>
                      <a:pt x="177165" y="0"/>
                      <a:pt x="228600" y="25717"/>
                      <a:pt x="228600" y="57150"/>
                    </a:cubicBezTo>
                    <a:cubicBezTo>
                      <a:pt x="228600" y="88583"/>
                      <a:pt x="177165" y="114300"/>
                      <a:pt x="114300" y="114300"/>
                    </a:cubicBezTo>
                    <a:cubicBezTo>
                      <a:pt x="51435" y="114300"/>
                      <a:pt x="0" y="88583"/>
                      <a:pt x="0" y="57150"/>
                    </a:cubicBezTo>
                    <a:close/>
                  </a:path>
                </a:pathLst>
              </a:custGeom>
              <a:noFill/>
              <a:ln w="17145">
                <a:solidFill>
                  <a:srgbClr val="12355B"/>
                </a:solidFill>
              </a:ln>
            </p:spPr>
          </p:sp>
          <p:sp>
            <p:nvSpPr>
              <p:cNvPr id="14" name="Freeform 14"/>
              <p:cNvSpPr/>
              <p:nvPr/>
            </p:nvSpPr>
            <p:spPr>
              <a:xfrm>
                <a:off x="952500" y="3581400"/>
                <a:ext cx="228600" cy="209550"/>
              </a:xfrm>
              <a:custGeom>
                <a:avLst/>
                <a:gdLst/>
                <a:ahLst/>
                <a:cxnLst/>
                <a:rect l="l" t="t" r="r" b="b"/>
                <a:pathLst>
                  <a:path w="228600" h="209550">
                    <a:moveTo>
                      <a:pt x="0" y="0"/>
                    </a:moveTo>
                    <a:lnTo>
                      <a:pt x="0" y="152400"/>
                    </a:lnTo>
                    <a:cubicBezTo>
                      <a:pt x="0" y="183833"/>
                      <a:pt x="51435" y="209550"/>
                      <a:pt x="114300" y="209550"/>
                    </a:cubicBezTo>
                    <a:cubicBezTo>
                      <a:pt x="177165" y="209550"/>
                      <a:pt x="228600" y="183833"/>
                      <a:pt x="228600" y="152400"/>
                    </a:cubicBezTo>
                    <a:lnTo>
                      <a:pt x="228600" y="0"/>
                    </a:lnTo>
                  </a:path>
                </a:pathLst>
              </a:custGeom>
              <a:noFill/>
              <a:ln w="17145">
                <a:solidFill>
                  <a:srgbClr val="12355B"/>
                </a:solidFill>
              </a:ln>
            </p:spPr>
          </p:sp>
          <p:sp>
            <p:nvSpPr>
              <p:cNvPr id="15" name="Freeform 15"/>
              <p:cNvSpPr/>
              <p:nvPr/>
            </p:nvSpPr>
            <p:spPr>
              <a:xfrm>
                <a:off x="952500" y="3657600"/>
                <a:ext cx="228600" cy="57150"/>
              </a:xfrm>
              <a:custGeom>
                <a:avLst/>
                <a:gdLst/>
                <a:ahLst/>
                <a:cxnLst/>
                <a:rect l="l" t="t" r="r" b="b"/>
                <a:pathLst>
                  <a:path w="228600" h="57150">
                    <a:moveTo>
                      <a:pt x="0" y="0"/>
                    </a:moveTo>
                    <a:cubicBezTo>
                      <a:pt x="0" y="31433"/>
                      <a:pt x="51435" y="57150"/>
                      <a:pt x="114300" y="57150"/>
                    </a:cubicBezTo>
                    <a:cubicBezTo>
                      <a:pt x="177165" y="57150"/>
                      <a:pt x="228600" y="31433"/>
                      <a:pt x="228600" y="0"/>
                    </a:cubicBezTo>
                  </a:path>
                </a:pathLst>
              </a:custGeom>
              <a:noFill/>
              <a:ln w="17145">
                <a:solidFill>
                  <a:srgbClr val="12355B"/>
                </a:solidFill>
              </a:ln>
            </p:spPr>
          </p:sp>
        </p:grpSp>
        <p:sp>
          <p:nvSpPr>
            <p:cNvPr id="17" name="TextBox 17"/>
            <p:cNvSpPr txBox="1"/>
            <p:nvPr/>
          </p:nvSpPr>
          <p:spPr>
            <a:xfrm>
              <a:off x="905256" y="3996690"/>
              <a:ext cx="165503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Ölçek ve akış</a:t>
              </a:r>
            </a:p>
          </p:txBody>
        </p:sp>
        <p:sp>
          <p:nvSpPr>
            <p:cNvPr id="18" name="TextBox 18"/>
            <p:cNvSpPr txBox="1"/>
            <p:nvPr/>
          </p:nvSpPr>
          <p:spPr>
            <a:xfrm>
              <a:off x="908304" y="4385310"/>
              <a:ext cx="22600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Veri artık bir dosyaya değil,</a:t>
              </a:r>
              <a:br/>
              <a:r>
                <a:rPr lang="tr-TR" sz="1200" dirty="0">
                  <a:solidFill>
                    <a:srgbClr val="172B3A"/>
                  </a:solidFill>
                  <a:latin typeface="+mn-lt"/>
                  <a:ea typeface="+mn-ea"/>
                  <a:cs typeface="+mn-cs"/>
                </a:rPr>
                <a:t>sürekli akan bir nehre benzer;</a:t>
              </a:r>
              <a:br/>
              <a:r>
                <a:rPr lang="tr-TR" sz="1200" dirty="0">
                  <a:solidFill>
                    <a:srgbClr val="172B3A"/>
                  </a:solidFill>
                  <a:latin typeface="+mn-lt"/>
                  <a:ea typeface="+mn-ea"/>
                  <a:cs typeface="+mn-cs"/>
                </a:rPr>
                <a:t>belleğe tek seferde sığmaz.</a:t>
              </a:r>
            </a:p>
          </p:txBody>
        </p:sp>
      </p:grpSp>
      <p:grpSp>
        <p:nvGrpSpPr>
          <p:cNvPr id="27" name="area-time"/>
          <p:cNvGrpSpPr/>
          <p:nvPr/>
        </p:nvGrpSpPr>
        <p:grpSpPr>
          <a:xfrm>
            <a:off x="4286250" y="3238500"/>
            <a:ext cx="3409950" cy="2095500"/>
            <a:chOff x="4286250" y="3238500"/>
            <a:chExt cx="3409950" cy="2095500"/>
          </a:xfrm>
        </p:grpSpPr>
        <p:sp>
          <p:nvSpPr>
            <p:cNvPr id="20" name="Rectangle 20"/>
            <p:cNvSpPr/>
            <p:nvPr/>
          </p:nvSpPr>
          <p:spPr>
            <a:xfrm>
              <a:off x="4286250" y="3238500"/>
              <a:ext cx="3409950" cy="2095500"/>
            </a:xfrm>
            <a:prstGeom prst="roundRect">
              <a:avLst>
                <a:gd name="adj" fmla="val 4545"/>
              </a:avLst>
            </a:prstGeom>
            <a:solidFill>
              <a:srgbClr val="FFFFFF"/>
            </a:solidFill>
            <a:ln w="14288">
              <a:solidFill>
                <a:srgbClr val="B8CBD3"/>
              </a:solidFill>
            </a:ln>
          </p:spPr>
        </p:sp>
        <p:grpSp>
          <p:nvGrpSpPr>
            <p:cNvPr id="24" name="icon-clock"/>
            <p:cNvGrpSpPr/>
            <p:nvPr/>
          </p:nvGrpSpPr>
          <p:grpSpPr>
            <a:xfrm>
              <a:off x="4533900" y="3448050"/>
              <a:ext cx="419100" cy="419100"/>
              <a:chOff x="4533900" y="3448050"/>
              <a:chExt cx="419100" cy="419100"/>
            </a:xfrm>
          </p:grpSpPr>
          <p:sp>
            <p:nvSpPr>
              <p:cNvPr id="21" name="Ellipse 21"/>
              <p:cNvSpPr/>
              <p:nvPr/>
            </p:nvSpPr>
            <p:spPr>
              <a:xfrm>
                <a:off x="4533900" y="3448050"/>
                <a:ext cx="419100" cy="419100"/>
              </a:xfrm>
              <a:prstGeom prst="ellipse">
                <a:avLst/>
              </a:prstGeom>
              <a:solidFill>
                <a:srgbClr val="EAF4F6"/>
              </a:solidFill>
              <a:ln>
                <a:noFill/>
              </a:ln>
            </p:spPr>
          </p:sp>
          <p:sp>
            <p:nvSpPr>
              <p:cNvPr id="22" name="Ellipse 22"/>
              <p:cNvSpPr/>
              <p:nvPr/>
            </p:nvSpPr>
            <p:spPr>
              <a:xfrm>
                <a:off x="4619625" y="3533775"/>
                <a:ext cx="247650" cy="247650"/>
              </a:xfrm>
              <a:prstGeom prst="ellipse">
                <a:avLst/>
              </a:prstGeom>
              <a:noFill/>
              <a:ln w="17145">
                <a:solidFill>
                  <a:srgbClr val="12355B"/>
                </a:solidFill>
              </a:ln>
            </p:spPr>
          </p:sp>
          <p:sp>
            <p:nvSpPr>
              <p:cNvPr id="23" name="Freeform 23"/>
              <p:cNvSpPr/>
              <p:nvPr/>
            </p:nvSpPr>
            <p:spPr>
              <a:xfrm>
                <a:off x="4743450" y="3581400"/>
                <a:ext cx="57150" cy="114300"/>
              </a:xfrm>
              <a:custGeom>
                <a:avLst/>
                <a:gdLst/>
                <a:ahLst/>
                <a:cxnLst/>
                <a:rect l="l" t="t" r="r" b="b"/>
                <a:pathLst>
                  <a:path w="57150" h="114300">
                    <a:moveTo>
                      <a:pt x="0" y="0"/>
                    </a:moveTo>
                    <a:lnTo>
                      <a:pt x="0" y="76200"/>
                    </a:lnTo>
                    <a:lnTo>
                      <a:pt x="57150" y="114300"/>
                    </a:lnTo>
                  </a:path>
                </a:pathLst>
              </a:custGeom>
              <a:noFill/>
              <a:ln w="17145" cap="rnd">
                <a:solidFill>
                  <a:srgbClr val="12355B"/>
                </a:solidFill>
              </a:ln>
            </p:spPr>
          </p:sp>
        </p:grpSp>
        <p:sp>
          <p:nvSpPr>
            <p:cNvPr id="25" name="TextBox 25"/>
            <p:cNvSpPr txBox="1"/>
            <p:nvPr/>
          </p:nvSpPr>
          <p:spPr>
            <a:xfrm>
              <a:off x="4581906" y="3996690"/>
              <a:ext cx="260889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Zaman içinde bozulma</a:t>
              </a:r>
            </a:p>
          </p:txBody>
        </p:sp>
        <p:sp>
          <p:nvSpPr>
            <p:cNvPr id="26" name="TextBox 26"/>
            <p:cNvSpPr txBox="1"/>
            <p:nvPr/>
          </p:nvSpPr>
          <p:spPr>
            <a:xfrm>
              <a:off x="4584954" y="4385310"/>
              <a:ext cx="24658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Dünya değişir, model sabit kalır;</a:t>
              </a:r>
              <a:br/>
              <a:r>
                <a:rPr lang="tr-TR" sz="1200" dirty="0">
                  <a:solidFill>
                    <a:srgbClr val="172B3A"/>
                  </a:solidFill>
                  <a:latin typeface="+mn-lt"/>
                  <a:ea typeface="+mn-ea"/>
                  <a:cs typeface="+mn-cs"/>
                </a:rPr>
                <a:t>aradaki fark sessizce büyür ve</a:t>
              </a:r>
              <a:br/>
              <a:r>
                <a:rPr lang="tr-TR" sz="1200" dirty="0">
                  <a:solidFill>
                    <a:srgbClr val="172B3A"/>
                  </a:solidFill>
                  <a:latin typeface="+mn-lt"/>
                  <a:ea typeface="+mn-ea"/>
                  <a:cs typeface="+mn-cs"/>
                </a:rPr>
                <a:t>fark edilmeden hataya dönüşür.</a:t>
              </a:r>
            </a:p>
          </p:txBody>
        </p:sp>
      </p:grpSp>
      <p:grpSp>
        <p:nvGrpSpPr>
          <p:cNvPr id="35" name="area-society"/>
          <p:cNvGrpSpPr/>
          <p:nvPr/>
        </p:nvGrpSpPr>
        <p:grpSpPr>
          <a:xfrm>
            <a:off x="7962900" y="3238500"/>
            <a:ext cx="3409950" cy="2095500"/>
            <a:chOff x="7962900" y="3238500"/>
            <a:chExt cx="3409950" cy="2095500"/>
          </a:xfrm>
        </p:grpSpPr>
        <p:sp>
          <p:nvSpPr>
            <p:cNvPr id="28" name="Rectangle 28"/>
            <p:cNvSpPr/>
            <p:nvPr/>
          </p:nvSpPr>
          <p:spPr>
            <a:xfrm>
              <a:off x="7962900" y="3238500"/>
              <a:ext cx="3409950" cy="2095500"/>
            </a:xfrm>
            <a:prstGeom prst="roundRect">
              <a:avLst>
                <a:gd name="adj" fmla="val 4545"/>
              </a:avLst>
            </a:prstGeom>
            <a:solidFill>
              <a:srgbClr val="FFFFFF"/>
            </a:solidFill>
            <a:ln w="14288">
              <a:solidFill>
                <a:srgbClr val="00A6A6"/>
              </a:solidFill>
            </a:ln>
          </p:spPr>
        </p:sp>
        <p:grpSp>
          <p:nvGrpSpPr>
            <p:cNvPr id="32" name="icon-user"/>
            <p:cNvGrpSpPr/>
            <p:nvPr/>
          </p:nvGrpSpPr>
          <p:grpSpPr>
            <a:xfrm>
              <a:off x="8210550" y="3448050"/>
              <a:ext cx="419100" cy="419100"/>
              <a:chOff x="8210550" y="3448050"/>
              <a:chExt cx="419100" cy="419100"/>
            </a:xfrm>
          </p:grpSpPr>
          <p:sp>
            <p:nvSpPr>
              <p:cNvPr id="29" name="Ellipse 29"/>
              <p:cNvSpPr/>
              <p:nvPr/>
            </p:nvSpPr>
            <p:spPr>
              <a:xfrm>
                <a:off x="8210550" y="3448050"/>
                <a:ext cx="419100" cy="419100"/>
              </a:xfrm>
              <a:prstGeom prst="ellipse">
                <a:avLst/>
              </a:prstGeom>
              <a:solidFill>
                <a:srgbClr val="EAF4F6"/>
              </a:solidFill>
              <a:ln>
                <a:noFill/>
              </a:ln>
            </p:spPr>
          </p:sp>
          <p:sp>
            <p:nvSpPr>
              <p:cNvPr id="30" name="Ellipse 30"/>
              <p:cNvSpPr/>
              <p:nvPr/>
            </p:nvSpPr>
            <p:spPr>
              <a:xfrm>
                <a:off x="8362950" y="3562350"/>
                <a:ext cx="114300" cy="114300"/>
              </a:xfrm>
              <a:prstGeom prst="ellipse">
                <a:avLst/>
              </a:prstGeom>
              <a:noFill/>
              <a:ln w="17145">
                <a:solidFill>
                  <a:srgbClr val="12355B"/>
                </a:solidFill>
              </a:ln>
            </p:spPr>
          </p:sp>
          <p:sp>
            <p:nvSpPr>
              <p:cNvPr id="31" name="Freeform 31"/>
              <p:cNvSpPr/>
              <p:nvPr/>
            </p:nvSpPr>
            <p:spPr>
              <a:xfrm>
                <a:off x="8305800" y="3686175"/>
                <a:ext cx="228600" cy="85725"/>
              </a:xfrm>
              <a:custGeom>
                <a:avLst/>
                <a:gdLst/>
                <a:ahLst/>
                <a:cxnLst/>
                <a:rect l="l" t="t" r="r" b="b"/>
                <a:pathLst>
                  <a:path w="228600" h="85725">
                    <a:moveTo>
                      <a:pt x="0" y="85725"/>
                    </a:moveTo>
                    <a:cubicBezTo>
                      <a:pt x="19050" y="28575"/>
                      <a:pt x="76200" y="0"/>
                      <a:pt x="114300" y="0"/>
                    </a:cubicBezTo>
                    <a:cubicBezTo>
                      <a:pt x="152400" y="0"/>
                      <a:pt x="209550" y="28575"/>
                      <a:pt x="228600" y="85725"/>
                    </a:cubicBezTo>
                  </a:path>
                </a:pathLst>
              </a:custGeom>
              <a:noFill/>
              <a:ln w="17145" cap="rnd">
                <a:solidFill>
                  <a:srgbClr val="12355B"/>
                </a:solidFill>
              </a:ln>
            </p:spPr>
          </p:sp>
        </p:grpSp>
        <p:sp>
          <p:nvSpPr>
            <p:cNvPr id="33" name="TextBox 33"/>
            <p:cNvSpPr txBox="1"/>
            <p:nvPr/>
          </p:nvSpPr>
          <p:spPr>
            <a:xfrm>
              <a:off x="8258556" y="3996690"/>
              <a:ext cx="260846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Toplumsal sorumluluk</a:t>
              </a:r>
            </a:p>
          </p:txBody>
        </p:sp>
        <p:sp>
          <p:nvSpPr>
            <p:cNvPr id="34" name="TextBox 34"/>
            <p:cNvSpPr txBox="1"/>
            <p:nvPr/>
          </p:nvSpPr>
          <p:spPr>
            <a:xfrm>
              <a:off x="8261604" y="4385310"/>
              <a:ext cx="27782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Kararlar gerçek insanları etkiler;</a:t>
              </a:r>
              <a:br/>
              <a:r>
                <a:rPr lang="tr-TR" sz="1200" dirty="0">
                  <a:solidFill>
                    <a:srgbClr val="172B3A"/>
                  </a:solidFill>
                  <a:latin typeface="+mn-lt"/>
                  <a:ea typeface="+mn-ea"/>
                  <a:cs typeface="+mn-cs"/>
                </a:rPr>
                <a:t>adillik ve gizlilik artık isteğe</a:t>
              </a:r>
              <a:br/>
              <a:r>
                <a:rPr lang="tr-TR" sz="1200" dirty="0">
                  <a:solidFill>
                    <a:srgbClr val="172B3A"/>
                  </a:solidFill>
                  <a:latin typeface="+mn-lt"/>
                  <a:ea typeface="+mn-ea"/>
                  <a:cs typeface="+mn-cs"/>
                </a:rPr>
                <a:t>bağlı değil, hukuki bir zorunluluktur.</a:t>
              </a:r>
            </a:p>
          </p:txBody>
        </p:sp>
      </p:grpSp>
      <p:grpSp>
        <p:nvGrpSpPr>
          <p:cNvPr id="38" name="opening-closing"/>
          <p:cNvGrpSpPr/>
          <p:nvPr/>
        </p:nvGrpSpPr>
        <p:grpSpPr>
          <a:xfrm>
            <a:off x="609600" y="5676900"/>
            <a:ext cx="10972800" cy="671417"/>
            <a:chOff x="609600" y="5676900"/>
            <a:chExt cx="10972800" cy="671417"/>
          </a:xfrm>
        </p:grpSpPr>
        <p:sp>
          <p:nvSpPr>
            <p:cNvPr id="36" name="Rectangle 36"/>
            <p:cNvSpPr/>
            <p:nvPr/>
          </p:nvSpPr>
          <p:spPr>
            <a:xfrm>
              <a:off x="609600" y="5676900"/>
              <a:ext cx="10972800" cy="666750"/>
            </a:xfrm>
            <a:prstGeom prst="roundRect">
              <a:avLst>
                <a:gd name="adj" fmla="val 11429"/>
              </a:avLst>
            </a:prstGeom>
            <a:solidFill>
              <a:srgbClr val="EAF4F6"/>
            </a:solidFill>
            <a:ln>
              <a:noFill/>
            </a:ln>
          </p:spPr>
        </p:sp>
        <p:sp>
          <p:nvSpPr>
            <p:cNvPr id="37" name="TextBox 37"/>
            <p:cNvSpPr txBox="1"/>
            <p:nvPr/>
          </p:nvSpPr>
          <p:spPr>
            <a:xfrm>
              <a:off x="906399" y="5792629"/>
              <a:ext cx="6874059" cy="55568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Bu bölüm, büyük veri işleme, MLOps disiplini, kavram kayması,</a:t>
              </a:r>
              <a:br/>
              <a:r>
                <a:rPr lang="tr-TR" sz="1580" b="1" dirty="0">
                  <a:solidFill>
                    <a:srgbClr val="12355B"/>
                  </a:solidFill>
                  <a:latin typeface="+mn-lt"/>
                  <a:ea typeface="+mn-ea"/>
                  <a:cs typeface="+mn-cs"/>
                </a:rPr>
                <a:t>algoritmik adillik ve KVKK'yı tek bir üretim döngüsünde birleştirir.</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3586581" cy="557403"/>
            <a:chOff x="595122" y="282892"/>
            <a:chExt cx="3586581" cy="557403"/>
          </a:xfrm>
        </p:grpSpPr>
        <p:sp>
          <p:nvSpPr>
            <p:cNvPr id="4" name="TextBox 4"/>
            <p:cNvSpPr txBox="1"/>
            <p:nvPr/>
          </p:nvSpPr>
          <p:spPr>
            <a:xfrm>
              <a:off x="595122" y="282892"/>
              <a:ext cx="358658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hedefleri</a:t>
              </a:r>
            </a:p>
          </p:txBody>
        </p:sp>
      </p:grpSp>
      <p:grpSp>
        <p:nvGrpSpPr>
          <p:cNvPr id="9" name="objective-1"/>
          <p:cNvGrpSpPr/>
          <p:nvPr/>
        </p:nvGrpSpPr>
        <p:grpSpPr>
          <a:xfrm>
            <a:off x="609600" y="1238250"/>
            <a:ext cx="8178691" cy="742950"/>
            <a:chOff x="609600" y="1238250"/>
            <a:chExt cx="8178691" cy="742950"/>
          </a:xfrm>
        </p:grpSpPr>
        <p:sp>
          <p:nvSpPr>
            <p:cNvPr id="6" name="Rectangle 6"/>
            <p:cNvSpPr/>
            <p:nvPr/>
          </p:nvSpPr>
          <p:spPr>
            <a:xfrm>
              <a:off x="609600" y="1238250"/>
              <a:ext cx="57150" cy="742950"/>
            </a:xfrm>
            <a:prstGeom prst="rect">
              <a:avLst/>
            </a:prstGeom>
            <a:solidFill>
              <a:srgbClr val="00A6A6"/>
            </a:solidFill>
            <a:ln>
              <a:noFill/>
            </a:ln>
          </p:spPr>
        </p:sp>
        <p:sp>
          <p:nvSpPr>
            <p:cNvPr id="7" name="TextBox 7"/>
            <p:cNvSpPr txBox="1"/>
            <p:nvPr/>
          </p:nvSpPr>
          <p:spPr>
            <a:xfrm>
              <a:off x="905256" y="1310640"/>
              <a:ext cx="758346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Büyük veriyi parça parça (chunk) işleyen bir akış tasarlamak</a:t>
              </a:r>
            </a:p>
          </p:txBody>
        </p:sp>
        <p:sp>
          <p:nvSpPr>
            <p:cNvPr id="8" name="TextBox 8"/>
            <p:cNvSpPr txBox="1"/>
            <p:nvPr/>
          </p:nvSpPr>
          <p:spPr>
            <a:xfrm>
              <a:off x="906399" y="1620679"/>
              <a:ext cx="7881892"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Belleğe sığmayan bir veri kümesini generator ile sabit bellekte işleyebilmek.</a:t>
              </a:r>
            </a:p>
          </p:txBody>
        </p:sp>
      </p:grpSp>
      <p:grpSp>
        <p:nvGrpSpPr>
          <p:cNvPr id="13" name="objective-2"/>
          <p:cNvGrpSpPr/>
          <p:nvPr/>
        </p:nvGrpSpPr>
        <p:grpSpPr>
          <a:xfrm>
            <a:off x="609600" y="2152650"/>
            <a:ext cx="7445192" cy="742950"/>
            <a:chOff x="609600" y="2152650"/>
            <a:chExt cx="7445192" cy="742950"/>
          </a:xfrm>
        </p:grpSpPr>
        <p:sp>
          <p:nvSpPr>
            <p:cNvPr id="10" name="Rectangle 10"/>
            <p:cNvSpPr/>
            <p:nvPr/>
          </p:nvSpPr>
          <p:spPr>
            <a:xfrm>
              <a:off x="609600" y="2152650"/>
              <a:ext cx="57150" cy="742950"/>
            </a:xfrm>
            <a:prstGeom prst="rect">
              <a:avLst/>
            </a:prstGeom>
            <a:solidFill>
              <a:srgbClr val="00A6A6"/>
            </a:solidFill>
            <a:ln>
              <a:noFill/>
            </a:ln>
          </p:spPr>
        </p:sp>
        <p:sp>
          <p:nvSpPr>
            <p:cNvPr id="11" name="TextBox 11"/>
            <p:cNvSpPr txBox="1"/>
            <p:nvPr/>
          </p:nvSpPr>
          <p:spPr>
            <a:xfrm>
              <a:off x="905256" y="2225040"/>
              <a:ext cx="613544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MLOps disiplinini üretimdeki bir modele uygulamak</a:t>
              </a:r>
            </a:p>
          </p:txBody>
        </p:sp>
        <p:sp>
          <p:nvSpPr>
            <p:cNvPr id="12" name="TextBox 12"/>
            <p:cNvSpPr txBox="1"/>
            <p:nvPr/>
          </p:nvSpPr>
          <p:spPr>
            <a:xfrm>
              <a:off x="906399" y="2535079"/>
              <a:ext cx="714839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Sürümleme, izleme ve geri alma mekanizmalarını birlikte kurabilmek.</a:t>
              </a:r>
            </a:p>
          </p:txBody>
        </p:sp>
      </p:grpSp>
      <p:grpSp>
        <p:nvGrpSpPr>
          <p:cNvPr id="17" name="objective-3"/>
          <p:cNvGrpSpPr/>
          <p:nvPr/>
        </p:nvGrpSpPr>
        <p:grpSpPr>
          <a:xfrm>
            <a:off x="609600" y="3067050"/>
            <a:ext cx="8699846" cy="742950"/>
            <a:chOff x="609600" y="3067050"/>
            <a:chExt cx="8699846" cy="742950"/>
          </a:xfrm>
        </p:grpSpPr>
        <p:sp>
          <p:nvSpPr>
            <p:cNvPr id="14" name="Rectangle 14"/>
            <p:cNvSpPr/>
            <p:nvPr/>
          </p:nvSpPr>
          <p:spPr>
            <a:xfrm>
              <a:off x="609600" y="3067050"/>
              <a:ext cx="57150" cy="742950"/>
            </a:xfrm>
            <a:prstGeom prst="rect">
              <a:avLst/>
            </a:prstGeom>
            <a:solidFill>
              <a:srgbClr val="00A6A6"/>
            </a:solidFill>
            <a:ln>
              <a:noFill/>
            </a:ln>
          </p:spPr>
        </p:sp>
        <p:sp>
          <p:nvSpPr>
            <p:cNvPr id="15" name="TextBox 15"/>
            <p:cNvSpPr txBox="1"/>
            <p:nvPr/>
          </p:nvSpPr>
          <p:spPr>
            <a:xfrm>
              <a:off x="905256" y="3139440"/>
              <a:ext cx="582775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Kavram kaymasını sayısal olarak tespit etmek</a:t>
              </a:r>
            </a:p>
          </p:txBody>
        </p:sp>
        <p:sp>
          <p:nvSpPr>
            <p:cNvPr id="16" name="TextBox 16"/>
            <p:cNvSpPr txBox="1"/>
            <p:nvPr/>
          </p:nvSpPr>
          <p:spPr>
            <a:xfrm>
              <a:off x="906399" y="3449479"/>
              <a:ext cx="840304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Referans ve güncel veri dağılımlarını karşılaştırıp uyarı eşiği belirleyebilmek.</a:t>
              </a:r>
            </a:p>
          </p:txBody>
        </p:sp>
      </p:grpSp>
      <p:grpSp>
        <p:nvGrpSpPr>
          <p:cNvPr id="21" name="objective-4"/>
          <p:cNvGrpSpPr/>
          <p:nvPr/>
        </p:nvGrpSpPr>
        <p:grpSpPr>
          <a:xfrm>
            <a:off x="609600" y="3981450"/>
            <a:ext cx="8561771" cy="742950"/>
            <a:chOff x="609600" y="3981450"/>
            <a:chExt cx="8561771" cy="742950"/>
          </a:xfrm>
        </p:grpSpPr>
        <p:sp>
          <p:nvSpPr>
            <p:cNvPr id="18" name="Rectangle 18"/>
            <p:cNvSpPr/>
            <p:nvPr/>
          </p:nvSpPr>
          <p:spPr>
            <a:xfrm>
              <a:off x="609600" y="3981450"/>
              <a:ext cx="57150" cy="742950"/>
            </a:xfrm>
            <a:prstGeom prst="rect">
              <a:avLst/>
            </a:prstGeom>
            <a:solidFill>
              <a:srgbClr val="00A6A6"/>
            </a:solidFill>
            <a:ln>
              <a:noFill/>
            </a:ln>
          </p:spPr>
        </p:sp>
        <p:sp>
          <p:nvSpPr>
            <p:cNvPr id="19" name="TextBox 19"/>
            <p:cNvSpPr txBox="1"/>
            <p:nvPr/>
          </p:nvSpPr>
          <p:spPr>
            <a:xfrm>
              <a:off x="905256" y="4053840"/>
              <a:ext cx="709904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Algoritmik önyargıyı ölçüp adillik ölçütleriyle raporlamak</a:t>
              </a:r>
            </a:p>
          </p:txBody>
        </p:sp>
        <p:sp>
          <p:nvSpPr>
            <p:cNvPr id="20" name="TextBox 20"/>
            <p:cNvSpPr txBox="1"/>
            <p:nvPr/>
          </p:nvSpPr>
          <p:spPr>
            <a:xfrm>
              <a:off x="906399" y="4363879"/>
              <a:ext cx="8264972"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Demografik parite ve eşit fırsat farklarını gruplar arasında hesaplayabilmek.</a:t>
              </a:r>
            </a:p>
          </p:txBody>
        </p:sp>
      </p:grpSp>
      <p:grpSp>
        <p:nvGrpSpPr>
          <p:cNvPr id="25" name="objective-5"/>
          <p:cNvGrpSpPr/>
          <p:nvPr/>
        </p:nvGrpSpPr>
        <p:grpSpPr>
          <a:xfrm>
            <a:off x="609600" y="4895850"/>
            <a:ext cx="8781861" cy="742950"/>
            <a:chOff x="609600" y="4895850"/>
            <a:chExt cx="8781861" cy="742950"/>
          </a:xfrm>
        </p:grpSpPr>
        <p:sp>
          <p:nvSpPr>
            <p:cNvPr id="22" name="Rectangle 22"/>
            <p:cNvSpPr/>
            <p:nvPr/>
          </p:nvSpPr>
          <p:spPr>
            <a:xfrm>
              <a:off x="609600" y="4895850"/>
              <a:ext cx="57150" cy="742950"/>
            </a:xfrm>
            <a:prstGeom prst="rect">
              <a:avLst/>
            </a:prstGeom>
            <a:solidFill>
              <a:srgbClr val="00A6A6"/>
            </a:solidFill>
            <a:ln>
              <a:noFill/>
            </a:ln>
          </p:spPr>
        </p:sp>
        <p:sp>
          <p:nvSpPr>
            <p:cNvPr id="23" name="TextBox 23"/>
            <p:cNvSpPr txBox="1"/>
            <p:nvPr/>
          </p:nvSpPr>
          <p:spPr>
            <a:xfrm>
              <a:off x="905256" y="4968240"/>
              <a:ext cx="848620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KVKK'ya uygun, veri minimizasyonu ilkesine dayalı bir sistem kurmak</a:t>
              </a:r>
            </a:p>
          </p:txBody>
        </p:sp>
        <p:sp>
          <p:nvSpPr>
            <p:cNvPr id="24" name="TextBox 24"/>
            <p:cNvSpPr txBox="1"/>
            <p:nvPr/>
          </p:nvSpPr>
          <p:spPr>
            <a:xfrm>
              <a:off x="906399" y="5278279"/>
              <a:ext cx="789234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Kişisel verileri maskeleyip yalnızca amaç için gerekli alanları saklayabilmek.</a:t>
              </a:r>
            </a:p>
          </p:txBody>
        </p:sp>
      </p:grpSp>
      <p:sp>
        <p:nvSpPr>
          <p:cNvPr id="26" name="TextBox 2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 / 25</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3934937" cy="668845"/>
            <a:chOff x="609600" y="171450"/>
            <a:chExt cx="3934937"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771334" y="412909"/>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7" name="Freeform 7"/>
                <p:cNvSpPr/>
                <p:nvPr/>
              </p:nvSpPr>
              <p:spPr>
                <a:xfrm>
                  <a:off x="771334" y="501491"/>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8" name="Freeform 8"/>
                <p:cNvSpPr/>
                <p:nvPr/>
              </p:nvSpPr>
              <p:spPr>
                <a:xfrm>
                  <a:off x="837224" y="324326"/>
                  <a:ext cx="50744" cy="265748"/>
                </a:xfrm>
                <a:custGeom>
                  <a:avLst/>
                  <a:gdLst/>
                  <a:ahLst/>
                  <a:cxnLst/>
                  <a:rect l="l" t="t" r="r" b="b"/>
                  <a:pathLst>
                    <a:path w="50744" h="265748">
                      <a:moveTo>
                        <a:pt x="50744" y="0"/>
                      </a:moveTo>
                      <a:cubicBezTo>
                        <a:pt x="0" y="81315"/>
                        <a:pt x="0" y="184432"/>
                        <a:pt x="50744" y="265748"/>
                      </a:cubicBezTo>
                    </a:path>
                  </a:pathLst>
                </a:custGeom>
                <a:noFill/>
                <a:ln w="24759" cap="rnd">
                  <a:solidFill>
                    <a:srgbClr val="FFFFFF"/>
                  </a:solidFill>
                  <a:round/>
                </a:ln>
              </p:spPr>
            </p:sp>
            <p:sp>
              <p:nvSpPr>
                <p:cNvPr id="9" name="Freeform 9"/>
                <p:cNvSpPr/>
                <p:nvPr/>
              </p:nvSpPr>
              <p:spPr>
                <a:xfrm>
                  <a:off x="902732" y="324326"/>
                  <a:ext cx="50744" cy="265748"/>
                </a:xfrm>
                <a:custGeom>
                  <a:avLst/>
                  <a:gdLst/>
                  <a:ahLst/>
                  <a:cxnLst/>
                  <a:rect l="l" t="t" r="r" b="b"/>
                  <a:pathLst>
                    <a:path w="50744" h="265748">
                      <a:moveTo>
                        <a:pt x="0" y="0"/>
                      </a:moveTo>
                      <a:cubicBezTo>
                        <a:pt x="50744" y="81315"/>
                        <a:pt x="50744" y="184432"/>
                        <a:pt x="0" y="265748"/>
                      </a:cubicBezTo>
                    </a:path>
                  </a:pathLst>
                </a:custGeom>
                <a:noFill/>
                <a:ln w="24759" cap="rnd">
                  <a:solidFill>
                    <a:srgbClr val="FFFFFF"/>
                  </a:solidFill>
                  <a:round/>
                </a:ln>
              </p:spPr>
            </p:sp>
          </p:grpSp>
        </p:grpSp>
        <p:sp>
          <p:nvSpPr>
            <p:cNvPr id="12" name="TextBox 12"/>
            <p:cNvSpPr txBox="1"/>
            <p:nvPr/>
          </p:nvSpPr>
          <p:spPr>
            <a:xfrm>
              <a:off x="1299972" y="282892"/>
              <a:ext cx="324456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a:t>
              </a:r>
            </a:p>
          </p:txBody>
        </p:sp>
      </p:grpSp>
      <p:grpSp>
        <p:nvGrpSpPr>
          <p:cNvPr id="16" name="map-hub"/>
          <p:cNvGrpSpPr/>
          <p:nvPr/>
        </p:nvGrpSpPr>
        <p:grpSpPr>
          <a:xfrm>
            <a:off x="609600" y="2857500"/>
            <a:ext cx="2095500" cy="1524000"/>
            <a:chOff x="609600" y="2857500"/>
            <a:chExt cx="2095500" cy="1524000"/>
          </a:xfrm>
        </p:grpSpPr>
        <p:sp>
          <p:nvSpPr>
            <p:cNvPr id="14" name="Rectangle 14"/>
            <p:cNvSpPr/>
            <p:nvPr/>
          </p:nvSpPr>
          <p:spPr>
            <a:xfrm>
              <a:off x="609600" y="2857500"/>
              <a:ext cx="2095500" cy="1524000"/>
            </a:xfrm>
            <a:prstGeom prst="roundRect">
              <a:avLst>
                <a:gd name="adj" fmla="val 6250"/>
              </a:avLst>
            </a:prstGeom>
            <a:solidFill>
              <a:srgbClr val="12355B"/>
            </a:solidFill>
            <a:ln>
              <a:noFill/>
            </a:ln>
          </p:spPr>
        </p:sp>
        <p:sp>
          <p:nvSpPr>
            <p:cNvPr id="15" name="TextBox 15"/>
            <p:cNvSpPr txBox="1"/>
            <p:nvPr/>
          </p:nvSpPr>
          <p:spPr>
            <a:xfrm>
              <a:off x="1038339" y="3258979"/>
              <a:ext cx="1238021" cy="803338"/>
            </a:xfrm>
            <a:prstGeom prst="rect">
              <a:avLst/>
            </a:prstGeom>
            <a:noFill/>
            <a:ln>
              <a:noFill/>
            </a:ln>
          </p:spPr>
          <p:txBody>
            <a:bodyPr wrap="none" lIns="0" tIns="0" rIns="0" bIns="0" anchor="t" anchorCtr="0">
              <a:spAutoFit/>
            </a:bodyPr>
            <a:lstStyle/>
            <a:p>
              <a:pPr algn="ctr">
                <a:lnSpc>
                  <a:spcPts val="1950"/>
                </a:lnSpc>
              </a:pPr>
              <a:r>
                <a:rPr lang="tr-TR" sz="1580" b="1" dirty="0">
                  <a:solidFill>
                    <a:srgbClr val="FFFFFF"/>
                  </a:solidFill>
                  <a:latin typeface="+mn-lt"/>
                  <a:ea typeface="+mn-ea"/>
                  <a:cs typeface="+mn-cs"/>
                </a:rPr>
                <a:t>Üretimdeki</a:t>
              </a:r>
              <a:br/>
              <a:r>
                <a:rPr lang="tr-TR" sz="1580" b="1" dirty="0">
                  <a:solidFill>
                    <a:srgbClr val="FFFFFF"/>
                  </a:solidFill>
                  <a:latin typeface="+mn-lt"/>
                  <a:ea typeface="+mn-ea"/>
                  <a:cs typeface="+mn-cs"/>
                </a:rPr>
                <a:t>veri &amp; model</a:t>
              </a:r>
              <a:br/>
              <a:r>
                <a:rPr lang="tr-TR" sz="1580" b="1" dirty="0">
                  <a:solidFill>
                    <a:srgbClr val="FFFFFF"/>
                  </a:solidFill>
                  <a:latin typeface="+mn-lt"/>
                  <a:ea typeface="+mn-ea"/>
                  <a:cs typeface="+mn-cs"/>
                </a:rPr>
                <a:t>döngüsü</a:t>
              </a:r>
            </a:p>
          </p:txBody>
        </p:sp>
      </p:grpSp>
      <p:grpSp>
        <p:nvGrpSpPr>
          <p:cNvPr id="20" name="map-bigdata"/>
          <p:cNvGrpSpPr/>
          <p:nvPr/>
        </p:nvGrpSpPr>
        <p:grpSpPr>
          <a:xfrm>
            <a:off x="4000500" y="914400"/>
            <a:ext cx="2381250" cy="952500"/>
            <a:chOff x="4000500" y="914400"/>
            <a:chExt cx="2381250" cy="952500"/>
          </a:xfrm>
        </p:grpSpPr>
        <p:sp>
          <p:nvSpPr>
            <p:cNvPr id="17" name="Rectangle 17"/>
            <p:cNvSpPr/>
            <p:nvPr/>
          </p:nvSpPr>
          <p:spPr>
            <a:xfrm>
              <a:off x="4000500" y="914400"/>
              <a:ext cx="2381250" cy="952500"/>
            </a:xfrm>
            <a:prstGeom prst="roundRect">
              <a:avLst>
                <a:gd name="adj" fmla="val 8000"/>
              </a:avLst>
            </a:prstGeom>
            <a:solidFill>
              <a:srgbClr val="FFFFFF"/>
            </a:solidFill>
            <a:ln w="14288">
              <a:solidFill>
                <a:srgbClr val="2E86AB"/>
              </a:solidFill>
            </a:ln>
          </p:spPr>
        </p:sp>
        <p:sp>
          <p:nvSpPr>
            <p:cNvPr id="18" name="TextBox 18"/>
            <p:cNvSpPr txBox="1"/>
            <p:nvPr/>
          </p:nvSpPr>
          <p:spPr>
            <a:xfrm>
              <a:off x="4617764" y="1144429"/>
              <a:ext cx="1146721"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Büyük Veri</a:t>
              </a:r>
            </a:p>
          </p:txBody>
        </p:sp>
        <p:sp>
          <p:nvSpPr>
            <p:cNvPr id="19" name="TextBox 19"/>
            <p:cNvSpPr txBox="1"/>
            <p:nvPr/>
          </p:nvSpPr>
          <p:spPr>
            <a:xfrm>
              <a:off x="4378820" y="1432560"/>
              <a:ext cx="1624609"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Parça tabanlı işleme</a:t>
              </a:r>
            </a:p>
          </p:txBody>
        </p:sp>
      </p:grpSp>
      <p:grpSp>
        <p:nvGrpSpPr>
          <p:cNvPr id="24" name="map-mlops"/>
          <p:cNvGrpSpPr/>
          <p:nvPr/>
        </p:nvGrpSpPr>
        <p:grpSpPr>
          <a:xfrm>
            <a:off x="4000500" y="2952750"/>
            <a:ext cx="2381250" cy="952500"/>
            <a:chOff x="4000500" y="2952750"/>
            <a:chExt cx="2381250" cy="952500"/>
          </a:xfrm>
        </p:grpSpPr>
        <p:sp>
          <p:nvSpPr>
            <p:cNvPr id="21" name="Rectangle 21"/>
            <p:cNvSpPr/>
            <p:nvPr/>
          </p:nvSpPr>
          <p:spPr>
            <a:xfrm>
              <a:off x="4000500" y="2952750"/>
              <a:ext cx="2381250" cy="952500"/>
            </a:xfrm>
            <a:prstGeom prst="roundRect">
              <a:avLst>
                <a:gd name="adj" fmla="val 8000"/>
              </a:avLst>
            </a:prstGeom>
            <a:solidFill>
              <a:srgbClr val="FFFFFF"/>
            </a:solidFill>
            <a:ln w="14288">
              <a:solidFill>
                <a:srgbClr val="2E86AB"/>
              </a:solidFill>
            </a:ln>
          </p:spPr>
        </p:sp>
        <p:sp>
          <p:nvSpPr>
            <p:cNvPr id="22" name="TextBox 22"/>
            <p:cNvSpPr txBox="1"/>
            <p:nvPr/>
          </p:nvSpPr>
          <p:spPr>
            <a:xfrm>
              <a:off x="4819426" y="3182779"/>
              <a:ext cx="743399"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MLOps</a:t>
              </a:r>
            </a:p>
          </p:txBody>
        </p:sp>
        <p:sp>
          <p:nvSpPr>
            <p:cNvPr id="23" name="TextBox 23"/>
            <p:cNvSpPr txBox="1"/>
            <p:nvPr/>
          </p:nvSpPr>
          <p:spPr>
            <a:xfrm>
              <a:off x="4435069" y="3470910"/>
              <a:ext cx="1512113"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Sürümleme &amp; izleme</a:t>
              </a:r>
            </a:p>
          </p:txBody>
        </p:sp>
      </p:grpSp>
      <p:grpSp>
        <p:nvGrpSpPr>
          <p:cNvPr id="28" name="map-drift"/>
          <p:cNvGrpSpPr/>
          <p:nvPr/>
        </p:nvGrpSpPr>
        <p:grpSpPr>
          <a:xfrm>
            <a:off x="4000500" y="4991100"/>
            <a:ext cx="2381250" cy="952500"/>
            <a:chOff x="4000500" y="4991100"/>
            <a:chExt cx="2381250" cy="952500"/>
          </a:xfrm>
        </p:grpSpPr>
        <p:sp>
          <p:nvSpPr>
            <p:cNvPr id="25" name="Rectangle 25"/>
            <p:cNvSpPr/>
            <p:nvPr/>
          </p:nvSpPr>
          <p:spPr>
            <a:xfrm>
              <a:off x="4000500" y="4991100"/>
              <a:ext cx="2381250" cy="952500"/>
            </a:xfrm>
            <a:prstGeom prst="roundRect">
              <a:avLst>
                <a:gd name="adj" fmla="val 8000"/>
              </a:avLst>
            </a:prstGeom>
            <a:solidFill>
              <a:srgbClr val="FFFFFF"/>
            </a:solidFill>
            <a:ln w="14288">
              <a:solidFill>
                <a:srgbClr val="2E86AB"/>
              </a:solidFill>
            </a:ln>
          </p:spPr>
        </p:sp>
        <p:sp>
          <p:nvSpPr>
            <p:cNvPr id="26" name="TextBox 26"/>
            <p:cNvSpPr txBox="1"/>
            <p:nvPr/>
          </p:nvSpPr>
          <p:spPr>
            <a:xfrm>
              <a:off x="4298902" y="5221129"/>
              <a:ext cx="1784446"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Kavram Kayması</a:t>
              </a:r>
            </a:p>
          </p:txBody>
        </p:sp>
        <p:sp>
          <p:nvSpPr>
            <p:cNvPr id="27" name="TextBox 27"/>
            <p:cNvSpPr txBox="1"/>
            <p:nvPr/>
          </p:nvSpPr>
          <p:spPr>
            <a:xfrm>
              <a:off x="4318194" y="5509260"/>
              <a:ext cx="1745862"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Zamanla sapma tespiti</a:t>
              </a:r>
            </a:p>
          </p:txBody>
        </p:sp>
      </p:grpSp>
      <p:grpSp>
        <p:nvGrpSpPr>
          <p:cNvPr id="32" name="map-fairness"/>
          <p:cNvGrpSpPr/>
          <p:nvPr/>
        </p:nvGrpSpPr>
        <p:grpSpPr>
          <a:xfrm>
            <a:off x="8096250" y="1714500"/>
            <a:ext cx="2381250" cy="952500"/>
            <a:chOff x="8096250" y="1714500"/>
            <a:chExt cx="2381250" cy="952500"/>
          </a:xfrm>
        </p:grpSpPr>
        <p:sp>
          <p:nvSpPr>
            <p:cNvPr id="29" name="Rectangle 29"/>
            <p:cNvSpPr/>
            <p:nvPr/>
          </p:nvSpPr>
          <p:spPr>
            <a:xfrm>
              <a:off x="8096250" y="1714500"/>
              <a:ext cx="2381250" cy="952500"/>
            </a:xfrm>
            <a:prstGeom prst="roundRect">
              <a:avLst>
                <a:gd name="adj" fmla="val 8000"/>
              </a:avLst>
            </a:prstGeom>
            <a:solidFill>
              <a:srgbClr val="FFFFFF"/>
            </a:solidFill>
            <a:ln w="14288">
              <a:solidFill>
                <a:srgbClr val="2E86AB"/>
              </a:solidFill>
            </a:ln>
          </p:spPr>
        </p:sp>
        <p:sp>
          <p:nvSpPr>
            <p:cNvPr id="30" name="TextBox 30"/>
            <p:cNvSpPr txBox="1"/>
            <p:nvPr/>
          </p:nvSpPr>
          <p:spPr>
            <a:xfrm>
              <a:off x="8958049" y="1944529"/>
              <a:ext cx="657652"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Adillik</a:t>
              </a:r>
            </a:p>
          </p:txBody>
        </p:sp>
        <p:sp>
          <p:nvSpPr>
            <p:cNvPr id="31" name="TextBox 31"/>
            <p:cNvSpPr txBox="1"/>
            <p:nvPr/>
          </p:nvSpPr>
          <p:spPr>
            <a:xfrm>
              <a:off x="8680464" y="2232660"/>
              <a:ext cx="1212823"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Önyargı ölçümü</a:t>
              </a:r>
            </a:p>
          </p:txBody>
        </p:sp>
      </p:grpSp>
      <p:grpSp>
        <p:nvGrpSpPr>
          <p:cNvPr id="36" name="map-kvkk"/>
          <p:cNvGrpSpPr/>
          <p:nvPr/>
        </p:nvGrpSpPr>
        <p:grpSpPr>
          <a:xfrm>
            <a:off x="8096250" y="4000500"/>
            <a:ext cx="2381250" cy="952500"/>
            <a:chOff x="8096250" y="4000500"/>
            <a:chExt cx="2381250" cy="952500"/>
          </a:xfrm>
        </p:grpSpPr>
        <p:sp>
          <p:nvSpPr>
            <p:cNvPr id="33" name="Rectangle 33"/>
            <p:cNvSpPr/>
            <p:nvPr/>
          </p:nvSpPr>
          <p:spPr>
            <a:xfrm>
              <a:off x="8096250" y="4000500"/>
              <a:ext cx="2381250" cy="952500"/>
            </a:xfrm>
            <a:prstGeom prst="roundRect">
              <a:avLst>
                <a:gd name="adj" fmla="val 8000"/>
              </a:avLst>
            </a:prstGeom>
            <a:solidFill>
              <a:srgbClr val="FFFFFF"/>
            </a:solidFill>
            <a:ln w="14288">
              <a:solidFill>
                <a:srgbClr val="2E86AB"/>
              </a:solidFill>
            </a:ln>
          </p:spPr>
        </p:sp>
        <p:sp>
          <p:nvSpPr>
            <p:cNvPr id="34" name="TextBox 34"/>
            <p:cNvSpPr txBox="1"/>
            <p:nvPr/>
          </p:nvSpPr>
          <p:spPr>
            <a:xfrm>
              <a:off x="9019300" y="4230529"/>
              <a:ext cx="535150"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KVKK</a:t>
              </a:r>
            </a:p>
          </p:txBody>
        </p:sp>
        <p:sp>
          <p:nvSpPr>
            <p:cNvPr id="35" name="TextBox 35"/>
            <p:cNvSpPr txBox="1"/>
            <p:nvPr/>
          </p:nvSpPr>
          <p:spPr>
            <a:xfrm>
              <a:off x="8547358" y="4518660"/>
              <a:ext cx="1479033"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Veri minimizasyonu</a:t>
              </a:r>
            </a:p>
          </p:txBody>
        </p:sp>
      </p:grpSp>
      <p:sp>
        <p:nvSpPr>
          <p:cNvPr id="37" name="Freeform 37"/>
          <p:cNvSpPr/>
          <p:nvPr/>
        </p:nvSpPr>
        <p:spPr>
          <a:xfrm>
            <a:off x="2705100" y="1428750"/>
            <a:ext cx="1295400" cy="1809750"/>
          </a:xfrm>
          <a:custGeom>
            <a:avLst/>
            <a:gdLst/>
            <a:ahLst/>
            <a:cxnLst/>
            <a:rect l="l" t="t" r="r" b="b"/>
            <a:pathLst>
              <a:path w="1295400" h="1809750">
                <a:moveTo>
                  <a:pt x="0" y="1809750"/>
                </a:moveTo>
                <a:cubicBezTo>
                  <a:pt x="533400" y="857250"/>
                  <a:pt x="914400" y="285750"/>
                  <a:pt x="1295400" y="0"/>
                </a:cubicBezTo>
              </a:path>
            </a:pathLst>
          </a:custGeom>
          <a:noFill/>
          <a:ln w="20955">
            <a:solidFill>
              <a:srgbClr val="00A6A6"/>
            </a:solidFill>
            <a:tailEnd type="arrow" w="lg" len="lg"/>
          </a:ln>
        </p:spPr>
      </p:sp>
      <p:sp>
        <p:nvSpPr>
          <p:cNvPr id="38" name="Freeform 38"/>
          <p:cNvSpPr/>
          <p:nvPr/>
        </p:nvSpPr>
        <p:spPr>
          <a:xfrm>
            <a:off x="2705100" y="3429000"/>
            <a:ext cx="1295400" cy="95250"/>
          </a:xfrm>
          <a:custGeom>
            <a:avLst/>
            <a:gdLst/>
            <a:ahLst/>
            <a:cxnLst/>
            <a:rect l="l" t="t" r="r" b="b"/>
            <a:pathLst>
              <a:path w="1295400" h="95250">
                <a:moveTo>
                  <a:pt x="0" y="95250"/>
                </a:moveTo>
                <a:lnTo>
                  <a:pt x="1295400" y="0"/>
                </a:lnTo>
              </a:path>
            </a:pathLst>
          </a:custGeom>
          <a:noFill/>
          <a:ln w="20955">
            <a:solidFill>
              <a:srgbClr val="00A6A6"/>
            </a:solidFill>
            <a:tailEnd type="arrow" w="lg" len="lg"/>
          </a:ln>
        </p:spPr>
      </p:sp>
      <p:sp>
        <p:nvSpPr>
          <p:cNvPr id="39" name="Freeform 39"/>
          <p:cNvSpPr/>
          <p:nvPr/>
        </p:nvSpPr>
        <p:spPr>
          <a:xfrm>
            <a:off x="2705100" y="3810000"/>
            <a:ext cx="1295400" cy="1619250"/>
          </a:xfrm>
          <a:custGeom>
            <a:avLst/>
            <a:gdLst/>
            <a:ahLst/>
            <a:cxnLst/>
            <a:rect l="l" t="t" r="r" b="b"/>
            <a:pathLst>
              <a:path w="1295400" h="1619250">
                <a:moveTo>
                  <a:pt x="0" y="0"/>
                </a:moveTo>
                <a:cubicBezTo>
                  <a:pt x="533400" y="952500"/>
                  <a:pt x="914400" y="1428750"/>
                  <a:pt x="1295400" y="1619250"/>
                </a:cubicBezTo>
              </a:path>
            </a:pathLst>
          </a:custGeom>
          <a:noFill/>
          <a:ln w="20955">
            <a:solidFill>
              <a:srgbClr val="00A6A6"/>
            </a:solidFill>
            <a:tailEnd type="arrow" w="lg" len="lg"/>
          </a:ln>
        </p:spPr>
      </p:sp>
      <p:sp>
        <p:nvSpPr>
          <p:cNvPr id="40" name="Freeform 40"/>
          <p:cNvSpPr/>
          <p:nvPr/>
        </p:nvSpPr>
        <p:spPr>
          <a:xfrm>
            <a:off x="6381750" y="1638300"/>
            <a:ext cx="1714500" cy="514350"/>
          </a:xfrm>
          <a:custGeom>
            <a:avLst/>
            <a:gdLst/>
            <a:ahLst/>
            <a:cxnLst/>
            <a:rect l="l" t="t" r="r" b="b"/>
            <a:pathLst>
              <a:path w="1714500" h="514350">
                <a:moveTo>
                  <a:pt x="0" y="0"/>
                </a:moveTo>
                <a:cubicBezTo>
                  <a:pt x="857250" y="266700"/>
                  <a:pt x="1238250" y="361950"/>
                  <a:pt x="1714500" y="514350"/>
                </a:cubicBezTo>
              </a:path>
            </a:pathLst>
          </a:custGeom>
          <a:noFill/>
          <a:ln w="20955">
            <a:solidFill>
              <a:srgbClr val="00A6A6"/>
            </a:solidFill>
            <a:tailEnd type="arrow" w="lg" len="lg"/>
          </a:ln>
        </p:spPr>
      </p:sp>
      <p:sp>
        <p:nvSpPr>
          <p:cNvPr id="41" name="Freeform 41"/>
          <p:cNvSpPr/>
          <p:nvPr/>
        </p:nvSpPr>
        <p:spPr>
          <a:xfrm>
            <a:off x="6381750" y="3810000"/>
            <a:ext cx="1714500" cy="590550"/>
          </a:xfrm>
          <a:custGeom>
            <a:avLst/>
            <a:gdLst/>
            <a:ahLst/>
            <a:cxnLst/>
            <a:rect l="l" t="t" r="r" b="b"/>
            <a:pathLst>
              <a:path w="1714500" h="590550">
                <a:moveTo>
                  <a:pt x="0" y="0"/>
                </a:moveTo>
                <a:cubicBezTo>
                  <a:pt x="857250" y="381000"/>
                  <a:pt x="1238250" y="476250"/>
                  <a:pt x="1714500" y="590550"/>
                </a:cubicBezTo>
              </a:path>
            </a:pathLst>
          </a:custGeom>
          <a:noFill/>
          <a:ln w="20955">
            <a:solidFill>
              <a:srgbClr val="00A6A6"/>
            </a:solidFill>
            <a:tailEnd type="arrow" w="lg" len="lg"/>
          </a:ln>
        </p:spPr>
      </p:sp>
      <p:sp>
        <p:nvSpPr>
          <p:cNvPr id="42" name="Freeform 42"/>
          <p:cNvSpPr/>
          <p:nvPr/>
        </p:nvSpPr>
        <p:spPr>
          <a:xfrm>
            <a:off x="6667500" y="4381500"/>
            <a:ext cx="1905000" cy="1238250"/>
          </a:xfrm>
          <a:custGeom>
            <a:avLst/>
            <a:gdLst/>
            <a:ahLst/>
            <a:cxnLst/>
            <a:rect l="l" t="t" r="r" b="b"/>
            <a:pathLst>
              <a:path w="1905000" h="1238250">
                <a:moveTo>
                  <a:pt x="0" y="1238250"/>
                </a:moveTo>
                <a:cubicBezTo>
                  <a:pt x="762000" y="762000"/>
                  <a:pt x="1428750" y="381000"/>
                  <a:pt x="1905000" y="0"/>
                </a:cubicBezTo>
              </a:path>
            </a:pathLst>
          </a:custGeom>
          <a:noFill/>
          <a:ln w="15240">
            <a:solidFill>
              <a:srgbClr val="52616B"/>
            </a:solidFill>
            <a:custDash>
              <a:ds d="375000" sp="250000"/>
            </a:custDash>
            <a:tailEnd type="arrow" w="lg" len="lg"/>
          </a:ln>
        </p:spPr>
      </p:sp>
      <p:sp>
        <p:nvSpPr>
          <p:cNvPr id="43" name="Freeform 43"/>
          <p:cNvSpPr/>
          <p:nvPr/>
        </p:nvSpPr>
        <p:spPr>
          <a:xfrm>
            <a:off x="9286875" y="2667000"/>
            <a:ext cx="9525" cy="1333500"/>
          </a:xfrm>
          <a:custGeom>
            <a:avLst/>
            <a:gdLst/>
            <a:ahLst/>
            <a:cxnLst/>
            <a:rect l="l" t="t" r="r" b="b"/>
            <a:pathLst>
              <a:path w="9525" h="1333500">
                <a:moveTo>
                  <a:pt x="0" y="0"/>
                </a:moveTo>
                <a:lnTo>
                  <a:pt x="0" y="1333500"/>
                </a:lnTo>
              </a:path>
            </a:pathLst>
          </a:custGeom>
          <a:noFill/>
          <a:ln w="15240">
            <a:solidFill>
              <a:srgbClr val="52616B"/>
            </a:solidFill>
            <a:custDash>
              <a:ds d="375000" sp="250000"/>
            </a:custDash>
            <a:tailEnd type="arrow" w="lg" len="lg"/>
          </a:ln>
        </p:spPr>
      </p:sp>
      <p:grpSp>
        <p:nvGrpSpPr>
          <p:cNvPr id="48" name="map-legend"/>
          <p:cNvGrpSpPr/>
          <p:nvPr/>
        </p:nvGrpSpPr>
        <p:grpSpPr>
          <a:xfrm>
            <a:off x="762000" y="6166485"/>
            <a:ext cx="8167514" cy="234696"/>
            <a:chOff x="762000" y="6166485"/>
            <a:chExt cx="8167514" cy="234696"/>
          </a:xfrm>
        </p:grpSpPr>
        <p:sp>
          <p:nvSpPr>
            <p:cNvPr id="44" name="Line 44"/>
            <p:cNvSpPr/>
            <p:nvPr/>
          </p:nvSpPr>
          <p:spPr>
            <a:xfrm>
              <a:off x="762000" y="6248400"/>
              <a:ext cx="381000" cy="9525"/>
            </a:xfrm>
            <a:custGeom>
              <a:avLst/>
              <a:gdLst/>
              <a:ahLst/>
              <a:cxnLst/>
              <a:rect l="l" t="t" r="r" b="b"/>
              <a:pathLst>
                <a:path w="381000" h="9525">
                  <a:moveTo>
                    <a:pt x="0" y="0"/>
                  </a:moveTo>
                  <a:lnTo>
                    <a:pt x="381000" y="0"/>
                  </a:lnTo>
                </a:path>
              </a:pathLst>
            </a:custGeom>
            <a:noFill/>
            <a:ln w="20955">
              <a:solidFill>
                <a:srgbClr val="00A6A6"/>
              </a:solidFill>
            </a:ln>
          </p:spPr>
        </p:sp>
        <p:sp>
          <p:nvSpPr>
            <p:cNvPr id="45" name="TextBox 45"/>
            <p:cNvSpPr txBox="1"/>
            <p:nvPr/>
          </p:nvSpPr>
          <p:spPr>
            <a:xfrm>
              <a:off x="1232154" y="6166485"/>
              <a:ext cx="290911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Üretim döngüsünün doğrudan parçası</a:t>
              </a:r>
            </a:p>
          </p:txBody>
        </p:sp>
        <p:sp>
          <p:nvSpPr>
            <p:cNvPr id="46" name="Line 46"/>
            <p:cNvSpPr/>
            <p:nvPr/>
          </p:nvSpPr>
          <p:spPr>
            <a:xfrm>
              <a:off x="4953000" y="6248400"/>
              <a:ext cx="381000" cy="9525"/>
            </a:xfrm>
            <a:custGeom>
              <a:avLst/>
              <a:gdLst/>
              <a:ahLst/>
              <a:cxnLst/>
              <a:rect l="l" t="t" r="r" b="b"/>
              <a:pathLst>
                <a:path w="381000" h="9525">
                  <a:moveTo>
                    <a:pt x="0" y="0"/>
                  </a:moveTo>
                  <a:lnTo>
                    <a:pt x="381000" y="0"/>
                  </a:lnTo>
                </a:path>
              </a:pathLst>
            </a:custGeom>
            <a:noFill/>
            <a:ln w="15240">
              <a:solidFill>
                <a:srgbClr val="52616B"/>
              </a:solidFill>
              <a:custDash>
                <a:ds d="375000" sp="250000"/>
              </a:custDash>
            </a:ln>
          </p:spPr>
        </p:sp>
        <p:sp>
          <p:nvSpPr>
            <p:cNvPr id="47" name="TextBox 47"/>
            <p:cNvSpPr txBox="1"/>
            <p:nvPr/>
          </p:nvSpPr>
          <p:spPr>
            <a:xfrm>
              <a:off x="5423154" y="6166485"/>
              <a:ext cx="350636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Birlikte izlenmesi gereken tamamlayıcı ilişki</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6857095" cy="668845"/>
            <a:chOff x="609600" y="171450"/>
            <a:chExt cx="6857095"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47712" y="349277"/>
                <a:ext cx="295275" cy="196565"/>
              </a:xfrm>
              <a:custGeom>
                <a:avLst/>
                <a:gdLst/>
                <a:ahLst/>
                <a:cxnLst/>
                <a:rect l="l" t="t" r="r" b="b"/>
                <a:pathLst>
                  <a:path w="295275" h="196565">
                    <a:moveTo>
                      <a:pt x="68755" y="196506"/>
                    </a:moveTo>
                    <a:cubicBezTo>
                      <a:pt x="30782" y="196506"/>
                      <a:pt x="0" y="166875"/>
                      <a:pt x="0" y="130320"/>
                    </a:cubicBezTo>
                    <a:cubicBezTo>
                      <a:pt x="0" y="93779"/>
                      <a:pt x="30782" y="64148"/>
                      <a:pt x="68755" y="64148"/>
                    </a:cubicBezTo>
                    <a:cubicBezTo>
                      <a:pt x="74557" y="38135"/>
                      <a:pt x="95241" y="16904"/>
                      <a:pt x="123012" y="8445"/>
                    </a:cubicBezTo>
                    <a:cubicBezTo>
                      <a:pt x="150767" y="0"/>
                      <a:pt x="181417" y="5595"/>
                      <a:pt x="203385" y="23209"/>
                    </a:cubicBezTo>
                    <a:cubicBezTo>
                      <a:pt x="225354" y="40777"/>
                      <a:pt x="235305" y="67603"/>
                      <a:pt x="229517" y="93617"/>
                    </a:cubicBezTo>
                    <a:lnTo>
                      <a:pt x="244133" y="93617"/>
                    </a:lnTo>
                    <a:cubicBezTo>
                      <a:pt x="272376" y="93617"/>
                      <a:pt x="295275" y="116648"/>
                      <a:pt x="295275" y="145083"/>
                    </a:cubicBezTo>
                    <a:cubicBezTo>
                      <a:pt x="295275" y="173533"/>
                      <a:pt x="272376" y="196565"/>
                      <a:pt x="244119" y="196565"/>
                    </a:cubicBezTo>
                    <a:lnTo>
                      <a:pt x="68755" y="196565"/>
                    </a:lnTo>
                  </a:path>
                </a:pathLst>
              </a:custGeom>
              <a:noFill/>
              <a:ln w="24759" cap="rnd">
                <a:solidFill>
                  <a:srgbClr val="FFFFFF"/>
                </a:solidFill>
                <a:round/>
              </a:ln>
            </p:spPr>
          </p:sp>
        </p:grpSp>
        <p:sp>
          <p:nvSpPr>
            <p:cNvPr id="7" name="TextBox 7"/>
            <p:cNvSpPr txBox="1"/>
            <p:nvPr/>
          </p:nvSpPr>
          <p:spPr>
            <a:xfrm>
              <a:off x="1299972" y="282892"/>
              <a:ext cx="616672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Büyük veri: tanım ve beş boyut</a:t>
              </a:r>
            </a:p>
          </p:txBody>
        </p:sp>
      </p:grpSp>
      <p:grpSp>
        <p:nvGrpSpPr>
          <p:cNvPr id="10" name="def-lead"/>
          <p:cNvGrpSpPr/>
          <p:nvPr/>
        </p:nvGrpSpPr>
        <p:grpSpPr>
          <a:xfrm>
            <a:off x="600456" y="1253490"/>
            <a:ext cx="8625078" cy="637794"/>
            <a:chOff x="600456" y="1253490"/>
            <a:chExt cx="8625078" cy="637794"/>
          </a:xfrm>
        </p:grpSpPr>
        <p:sp>
          <p:nvSpPr>
            <p:cNvPr id="9" name="TextBox 9"/>
            <p:cNvSpPr txBox="1"/>
            <p:nvPr/>
          </p:nvSpPr>
          <p:spPr>
            <a:xfrm>
              <a:off x="600456" y="1253490"/>
              <a:ext cx="8625078" cy="637794"/>
            </a:xfrm>
            <a:prstGeom prst="rect">
              <a:avLst/>
            </a:prstGeom>
            <a:noFill/>
            <a:ln>
              <a:noFill/>
            </a:ln>
          </p:spPr>
          <p:txBody>
            <a:bodyPr wrap="none" lIns="0" tIns="0" rIns="0" bIns="0" anchor="t" anchorCtr="0">
              <a:spAutoFit/>
            </a:bodyPr>
            <a:lstStyle/>
            <a:p>
              <a:pPr algn="l">
                <a:lnSpc>
                  <a:spcPts val="2250"/>
                </a:lnSpc>
              </a:pPr>
              <a:r>
                <a:rPr lang="tr-TR" sz="1800" dirty="0">
                  <a:solidFill>
                    <a:srgbClr val="172B3A"/>
                  </a:solidFill>
                  <a:latin typeface="+mn-lt"/>
                  <a:ea typeface="+mn-ea"/>
                  <a:cs typeface="+mn-cs"/>
                </a:rPr>
                <a:t>Büyük veri; tek bir bilgisayarın belleğine sığmayan, sürekli akan ve genellikle</a:t>
              </a:r>
              <a:br/>
              <a:r>
                <a:rPr lang="tr-TR" sz="1800" dirty="0">
                  <a:solidFill>
                    <a:srgbClr val="172B3A"/>
                  </a:solidFill>
                  <a:latin typeface="+mn-lt"/>
                  <a:ea typeface="+mn-ea"/>
                  <a:cs typeface="+mn-cs"/>
                </a:rPr>
                <a:t>eksik veya gürültülü olan veri kümelerini ifade eder.</a:t>
              </a:r>
            </a:p>
          </p:txBody>
        </p:sp>
      </p:grpSp>
      <p:grpSp>
        <p:nvGrpSpPr>
          <p:cNvPr id="18" name="v-volume"/>
          <p:cNvGrpSpPr/>
          <p:nvPr/>
        </p:nvGrpSpPr>
        <p:grpSpPr>
          <a:xfrm>
            <a:off x="609600" y="2095500"/>
            <a:ext cx="1981200" cy="1809750"/>
            <a:chOff x="609600" y="2095500"/>
            <a:chExt cx="1981200" cy="1809750"/>
          </a:xfrm>
        </p:grpSpPr>
        <p:sp>
          <p:nvSpPr>
            <p:cNvPr id="11" name="Rectangle 11"/>
            <p:cNvSpPr/>
            <p:nvPr/>
          </p:nvSpPr>
          <p:spPr>
            <a:xfrm>
              <a:off x="609600" y="2095500"/>
              <a:ext cx="1981200" cy="1809750"/>
            </a:xfrm>
            <a:prstGeom prst="roundRect">
              <a:avLst>
                <a:gd name="adj" fmla="val 5263"/>
              </a:avLst>
            </a:prstGeom>
            <a:solidFill>
              <a:srgbClr val="FFFFFF"/>
            </a:solidFill>
            <a:ln w="14288">
              <a:solidFill>
                <a:srgbClr val="B8CBD3"/>
              </a:solidFill>
            </a:ln>
          </p:spPr>
        </p:sp>
        <p:grpSp>
          <p:nvGrpSpPr>
            <p:cNvPr id="15" name="Group 15"/>
            <p:cNvGrpSpPr/>
            <p:nvPr/>
          </p:nvGrpSpPr>
          <p:grpSpPr>
            <a:xfrm>
              <a:off x="876300" y="2286000"/>
              <a:ext cx="381000" cy="381000"/>
              <a:chOff x="876300" y="2286000"/>
              <a:chExt cx="381000" cy="381000"/>
            </a:xfrm>
          </p:grpSpPr>
          <p:sp>
            <p:nvSpPr>
              <p:cNvPr id="12" name="Ellipse 12"/>
              <p:cNvSpPr/>
              <p:nvPr/>
            </p:nvSpPr>
            <p:spPr>
              <a:xfrm>
                <a:off x="876300" y="2286000"/>
                <a:ext cx="381000" cy="381000"/>
              </a:xfrm>
              <a:prstGeom prst="ellipse">
                <a:avLst/>
              </a:prstGeom>
              <a:solidFill>
                <a:srgbClr val="EAF4F6"/>
              </a:solidFill>
              <a:ln>
                <a:noFill/>
              </a:ln>
            </p:spPr>
          </p:sp>
          <p:sp>
            <p:nvSpPr>
              <p:cNvPr id="13" name="Freeform 13"/>
              <p:cNvSpPr/>
              <p:nvPr/>
            </p:nvSpPr>
            <p:spPr>
              <a:xfrm>
                <a:off x="952500" y="2343150"/>
                <a:ext cx="228600" cy="114300"/>
              </a:xfrm>
              <a:custGeom>
                <a:avLst/>
                <a:gdLst/>
                <a:ahLst/>
                <a:cxnLst/>
                <a:rect l="l" t="t" r="r" b="b"/>
                <a:pathLst>
                  <a:path w="228600" h="114300">
                    <a:moveTo>
                      <a:pt x="0" y="57150"/>
                    </a:moveTo>
                    <a:cubicBezTo>
                      <a:pt x="0" y="25717"/>
                      <a:pt x="51435" y="0"/>
                      <a:pt x="114300" y="0"/>
                    </a:cubicBezTo>
                    <a:cubicBezTo>
                      <a:pt x="177165" y="0"/>
                      <a:pt x="228600" y="25717"/>
                      <a:pt x="228600" y="57150"/>
                    </a:cubicBezTo>
                    <a:cubicBezTo>
                      <a:pt x="228600" y="88583"/>
                      <a:pt x="177165" y="114300"/>
                      <a:pt x="114300" y="114300"/>
                    </a:cubicBezTo>
                    <a:cubicBezTo>
                      <a:pt x="51435" y="114300"/>
                      <a:pt x="0" y="88583"/>
                      <a:pt x="0" y="57150"/>
                    </a:cubicBezTo>
                    <a:close/>
                  </a:path>
                </a:pathLst>
              </a:custGeom>
              <a:noFill/>
              <a:ln w="15240">
                <a:solidFill>
                  <a:srgbClr val="12355B"/>
                </a:solidFill>
              </a:ln>
            </p:spPr>
          </p:sp>
          <p:sp>
            <p:nvSpPr>
              <p:cNvPr id="14" name="Freeform 14"/>
              <p:cNvSpPr/>
              <p:nvPr/>
            </p:nvSpPr>
            <p:spPr>
              <a:xfrm>
                <a:off x="952500" y="2400300"/>
                <a:ext cx="228600" cy="209550"/>
              </a:xfrm>
              <a:custGeom>
                <a:avLst/>
                <a:gdLst/>
                <a:ahLst/>
                <a:cxnLst/>
                <a:rect l="l" t="t" r="r" b="b"/>
                <a:pathLst>
                  <a:path w="228600" h="209550">
                    <a:moveTo>
                      <a:pt x="0" y="0"/>
                    </a:moveTo>
                    <a:lnTo>
                      <a:pt x="0" y="152400"/>
                    </a:lnTo>
                    <a:cubicBezTo>
                      <a:pt x="0" y="183833"/>
                      <a:pt x="51435" y="209550"/>
                      <a:pt x="114300" y="209550"/>
                    </a:cubicBezTo>
                    <a:cubicBezTo>
                      <a:pt x="177165" y="209550"/>
                      <a:pt x="228600" y="183833"/>
                      <a:pt x="228600" y="152400"/>
                    </a:cubicBezTo>
                    <a:lnTo>
                      <a:pt x="228600" y="0"/>
                    </a:lnTo>
                  </a:path>
                </a:pathLst>
              </a:custGeom>
              <a:noFill/>
              <a:ln w="15240">
                <a:solidFill>
                  <a:srgbClr val="12355B"/>
                </a:solidFill>
              </a:ln>
            </p:spPr>
          </p:sp>
        </p:grpSp>
        <p:sp>
          <p:nvSpPr>
            <p:cNvPr id="16" name="TextBox 16"/>
            <p:cNvSpPr txBox="1"/>
            <p:nvPr/>
          </p:nvSpPr>
          <p:spPr>
            <a:xfrm>
              <a:off x="906399" y="2897029"/>
              <a:ext cx="62583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Hacim</a:t>
              </a:r>
            </a:p>
          </p:txBody>
        </p:sp>
        <p:sp>
          <p:nvSpPr>
            <p:cNvPr id="17" name="TextBox 17"/>
            <p:cNvSpPr txBox="1"/>
            <p:nvPr/>
          </p:nvSpPr>
          <p:spPr>
            <a:xfrm>
              <a:off x="908304" y="3204210"/>
              <a:ext cx="15819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Terabaytlarla ölçülen</a:t>
              </a:r>
              <a:br/>
              <a:r>
                <a:rPr lang="tr-TR" sz="1200" dirty="0">
                  <a:solidFill>
                    <a:srgbClr val="172B3A"/>
                  </a:solidFill>
                  <a:latin typeface="+mn-lt"/>
                  <a:ea typeface="+mn-ea"/>
                  <a:cs typeface="+mn-cs"/>
                </a:rPr>
                <a:t>kayıt sayısı.</a:t>
              </a:r>
            </a:p>
          </p:txBody>
        </p:sp>
      </p:grpSp>
      <p:grpSp>
        <p:nvGrpSpPr>
          <p:cNvPr id="26" name="v-velocity"/>
          <p:cNvGrpSpPr/>
          <p:nvPr/>
        </p:nvGrpSpPr>
        <p:grpSpPr>
          <a:xfrm>
            <a:off x="2743200" y="2095500"/>
            <a:ext cx="1981200" cy="1809750"/>
            <a:chOff x="2743200" y="2095500"/>
            <a:chExt cx="1981200" cy="1809750"/>
          </a:xfrm>
        </p:grpSpPr>
        <p:sp>
          <p:nvSpPr>
            <p:cNvPr id="19" name="Rectangle 19"/>
            <p:cNvSpPr/>
            <p:nvPr/>
          </p:nvSpPr>
          <p:spPr>
            <a:xfrm>
              <a:off x="2743200" y="2095500"/>
              <a:ext cx="1981200" cy="1809750"/>
            </a:xfrm>
            <a:prstGeom prst="roundRect">
              <a:avLst>
                <a:gd name="adj" fmla="val 5263"/>
              </a:avLst>
            </a:prstGeom>
            <a:solidFill>
              <a:srgbClr val="FFFFFF"/>
            </a:solidFill>
            <a:ln w="14288">
              <a:solidFill>
                <a:srgbClr val="B8CBD3"/>
              </a:solidFill>
            </a:ln>
          </p:spPr>
        </p:sp>
        <p:grpSp>
          <p:nvGrpSpPr>
            <p:cNvPr id="23" name="Group 23"/>
            <p:cNvGrpSpPr/>
            <p:nvPr/>
          </p:nvGrpSpPr>
          <p:grpSpPr>
            <a:xfrm>
              <a:off x="3009900" y="2286000"/>
              <a:ext cx="381000" cy="381000"/>
              <a:chOff x="3009900" y="2286000"/>
              <a:chExt cx="381000" cy="381000"/>
            </a:xfrm>
          </p:grpSpPr>
          <p:sp>
            <p:nvSpPr>
              <p:cNvPr id="20" name="Ellipse 20"/>
              <p:cNvSpPr/>
              <p:nvPr/>
            </p:nvSpPr>
            <p:spPr>
              <a:xfrm>
                <a:off x="3009900" y="2286000"/>
                <a:ext cx="381000" cy="381000"/>
              </a:xfrm>
              <a:prstGeom prst="ellipse">
                <a:avLst/>
              </a:prstGeom>
              <a:solidFill>
                <a:srgbClr val="EAF4F6"/>
              </a:solidFill>
              <a:ln>
                <a:noFill/>
              </a:ln>
            </p:spPr>
          </p:sp>
          <p:sp>
            <p:nvSpPr>
              <p:cNvPr id="21" name="Ellipse 21"/>
              <p:cNvSpPr/>
              <p:nvPr/>
            </p:nvSpPr>
            <p:spPr>
              <a:xfrm>
                <a:off x="3076575" y="2352675"/>
                <a:ext cx="247650" cy="247650"/>
              </a:xfrm>
              <a:prstGeom prst="ellipse">
                <a:avLst/>
              </a:prstGeom>
              <a:noFill/>
              <a:ln w="15240">
                <a:solidFill>
                  <a:srgbClr val="12355B"/>
                </a:solidFill>
              </a:ln>
            </p:spPr>
          </p:sp>
          <p:sp>
            <p:nvSpPr>
              <p:cNvPr id="22" name="Freeform 22"/>
              <p:cNvSpPr/>
              <p:nvPr/>
            </p:nvSpPr>
            <p:spPr>
              <a:xfrm>
                <a:off x="3200400" y="2400300"/>
                <a:ext cx="57150" cy="114300"/>
              </a:xfrm>
              <a:custGeom>
                <a:avLst/>
                <a:gdLst/>
                <a:ahLst/>
                <a:cxnLst/>
                <a:rect l="l" t="t" r="r" b="b"/>
                <a:pathLst>
                  <a:path w="57150" h="114300">
                    <a:moveTo>
                      <a:pt x="0" y="0"/>
                    </a:moveTo>
                    <a:lnTo>
                      <a:pt x="0" y="76200"/>
                    </a:lnTo>
                    <a:lnTo>
                      <a:pt x="57150" y="114300"/>
                    </a:lnTo>
                  </a:path>
                </a:pathLst>
              </a:custGeom>
              <a:noFill/>
              <a:ln w="15240" cap="rnd">
                <a:solidFill>
                  <a:srgbClr val="12355B"/>
                </a:solidFill>
              </a:ln>
            </p:spPr>
          </p:sp>
        </p:grpSp>
        <p:sp>
          <p:nvSpPr>
            <p:cNvPr id="24" name="TextBox 24"/>
            <p:cNvSpPr txBox="1"/>
            <p:nvPr/>
          </p:nvSpPr>
          <p:spPr>
            <a:xfrm>
              <a:off x="3039999" y="2897029"/>
              <a:ext cx="39145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Hız</a:t>
              </a:r>
            </a:p>
          </p:txBody>
        </p:sp>
        <p:sp>
          <p:nvSpPr>
            <p:cNvPr id="25" name="TextBox 25"/>
            <p:cNvSpPr txBox="1"/>
            <p:nvPr/>
          </p:nvSpPr>
          <p:spPr>
            <a:xfrm>
              <a:off x="3041904" y="3204210"/>
              <a:ext cx="13228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Verinin saniyeler</a:t>
              </a:r>
              <a:br/>
              <a:r>
                <a:rPr lang="tr-TR" sz="1200" dirty="0">
                  <a:solidFill>
                    <a:srgbClr val="172B3A"/>
                  </a:solidFill>
                  <a:latin typeface="+mn-lt"/>
                  <a:ea typeface="+mn-ea"/>
                  <a:cs typeface="+mn-cs"/>
                </a:rPr>
                <a:t>içinde üretilmesi.</a:t>
              </a:r>
            </a:p>
          </p:txBody>
        </p:sp>
      </p:grpSp>
      <p:grpSp>
        <p:nvGrpSpPr>
          <p:cNvPr id="35" name="v-variety"/>
          <p:cNvGrpSpPr/>
          <p:nvPr/>
        </p:nvGrpSpPr>
        <p:grpSpPr>
          <a:xfrm>
            <a:off x="4876800" y="2095500"/>
            <a:ext cx="1981200" cy="1809750"/>
            <a:chOff x="4876800" y="2095500"/>
            <a:chExt cx="1981200" cy="1809750"/>
          </a:xfrm>
        </p:grpSpPr>
        <p:sp>
          <p:nvSpPr>
            <p:cNvPr id="27" name="Rectangle 27"/>
            <p:cNvSpPr/>
            <p:nvPr/>
          </p:nvSpPr>
          <p:spPr>
            <a:xfrm>
              <a:off x="4876800" y="2095500"/>
              <a:ext cx="1981200" cy="1809750"/>
            </a:xfrm>
            <a:prstGeom prst="roundRect">
              <a:avLst>
                <a:gd name="adj" fmla="val 5263"/>
              </a:avLst>
            </a:prstGeom>
            <a:solidFill>
              <a:srgbClr val="FFFFFF"/>
            </a:solidFill>
            <a:ln w="14288">
              <a:solidFill>
                <a:srgbClr val="B8CBD3"/>
              </a:solidFill>
            </a:ln>
          </p:spPr>
        </p:sp>
        <p:grpSp>
          <p:nvGrpSpPr>
            <p:cNvPr id="32" name="Group 32"/>
            <p:cNvGrpSpPr/>
            <p:nvPr/>
          </p:nvGrpSpPr>
          <p:grpSpPr>
            <a:xfrm>
              <a:off x="5143500" y="2286000"/>
              <a:ext cx="381000" cy="381000"/>
              <a:chOff x="5143500" y="2286000"/>
              <a:chExt cx="381000" cy="381000"/>
            </a:xfrm>
          </p:grpSpPr>
          <p:sp>
            <p:nvSpPr>
              <p:cNvPr id="28" name="Ellipse 28"/>
              <p:cNvSpPr/>
              <p:nvPr/>
            </p:nvSpPr>
            <p:spPr>
              <a:xfrm>
                <a:off x="5143500" y="2286000"/>
                <a:ext cx="381000" cy="381000"/>
              </a:xfrm>
              <a:prstGeom prst="ellipse">
                <a:avLst/>
              </a:prstGeom>
              <a:solidFill>
                <a:srgbClr val="EAF4F6"/>
              </a:solidFill>
              <a:ln>
                <a:noFill/>
              </a:ln>
            </p:spPr>
          </p:sp>
          <p:sp>
            <p:nvSpPr>
              <p:cNvPr id="29" name="Rectangle 29"/>
              <p:cNvSpPr/>
              <p:nvPr/>
            </p:nvSpPr>
            <p:spPr>
              <a:xfrm>
                <a:off x="5238750" y="2381250"/>
                <a:ext cx="85725" cy="85725"/>
              </a:xfrm>
              <a:prstGeom prst="roundRect">
                <a:avLst>
                  <a:gd name="adj" fmla="val 16667"/>
                </a:avLst>
              </a:prstGeom>
              <a:noFill/>
              <a:ln w="15240">
                <a:solidFill>
                  <a:srgbClr val="12355B"/>
                </a:solidFill>
              </a:ln>
            </p:spPr>
          </p:sp>
          <p:sp>
            <p:nvSpPr>
              <p:cNvPr id="30" name="Ellipse 30"/>
              <p:cNvSpPr/>
              <p:nvPr/>
            </p:nvSpPr>
            <p:spPr>
              <a:xfrm>
                <a:off x="5357812" y="2381250"/>
                <a:ext cx="85725" cy="85725"/>
              </a:xfrm>
              <a:prstGeom prst="ellipse">
                <a:avLst/>
              </a:prstGeom>
              <a:noFill/>
              <a:ln w="15240">
                <a:solidFill>
                  <a:srgbClr val="12355B"/>
                </a:solidFill>
              </a:ln>
            </p:spPr>
          </p:sp>
          <p:sp>
            <p:nvSpPr>
              <p:cNvPr id="31" name="Freeform 31"/>
              <p:cNvSpPr/>
              <p:nvPr/>
            </p:nvSpPr>
            <p:spPr>
              <a:xfrm>
                <a:off x="5238750" y="2466975"/>
                <a:ext cx="171450" cy="85725"/>
              </a:xfrm>
              <a:custGeom>
                <a:avLst/>
                <a:gdLst/>
                <a:ahLst/>
                <a:cxnLst/>
                <a:rect l="l" t="t" r="r" b="b"/>
                <a:pathLst>
                  <a:path w="171450" h="85725">
                    <a:moveTo>
                      <a:pt x="0" y="85725"/>
                    </a:moveTo>
                    <a:lnTo>
                      <a:pt x="85725" y="0"/>
                    </a:lnTo>
                    <a:lnTo>
                      <a:pt x="171450" y="85725"/>
                    </a:lnTo>
                  </a:path>
                </a:pathLst>
              </a:custGeom>
              <a:noFill/>
              <a:ln w="15240">
                <a:solidFill>
                  <a:srgbClr val="12355B"/>
                </a:solidFill>
              </a:ln>
            </p:spPr>
          </p:sp>
        </p:grpSp>
        <p:sp>
          <p:nvSpPr>
            <p:cNvPr id="33" name="TextBox 33"/>
            <p:cNvSpPr txBox="1"/>
            <p:nvPr/>
          </p:nvSpPr>
          <p:spPr>
            <a:xfrm>
              <a:off x="5173599" y="2897029"/>
              <a:ext cx="97054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Çeşitlilik</a:t>
              </a:r>
            </a:p>
          </p:txBody>
        </p:sp>
        <p:sp>
          <p:nvSpPr>
            <p:cNvPr id="34" name="TextBox 34"/>
            <p:cNvSpPr txBox="1"/>
            <p:nvPr/>
          </p:nvSpPr>
          <p:spPr>
            <a:xfrm>
              <a:off x="5175504" y="3204210"/>
              <a:ext cx="16123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Metin, günlük, görsel</a:t>
              </a:r>
              <a:br/>
              <a:r>
                <a:rPr lang="tr-TR" sz="1200" dirty="0">
                  <a:solidFill>
                    <a:srgbClr val="172B3A"/>
                  </a:solidFill>
                  <a:latin typeface="+mn-lt"/>
                  <a:ea typeface="+mn-ea"/>
                  <a:cs typeface="+mn-cs"/>
                </a:rPr>
                <a:t>gibi farklı biçimler.</a:t>
              </a:r>
            </a:p>
          </p:txBody>
        </p:sp>
      </p:grpSp>
      <p:grpSp>
        <p:nvGrpSpPr>
          <p:cNvPr id="43" name="v-veracity"/>
          <p:cNvGrpSpPr/>
          <p:nvPr/>
        </p:nvGrpSpPr>
        <p:grpSpPr>
          <a:xfrm>
            <a:off x="7010400" y="2095500"/>
            <a:ext cx="1981200" cy="1809750"/>
            <a:chOff x="7010400" y="2095500"/>
            <a:chExt cx="1981200" cy="1809750"/>
          </a:xfrm>
        </p:grpSpPr>
        <p:sp>
          <p:nvSpPr>
            <p:cNvPr id="36" name="Rectangle 36"/>
            <p:cNvSpPr/>
            <p:nvPr/>
          </p:nvSpPr>
          <p:spPr>
            <a:xfrm>
              <a:off x="7010400" y="2095500"/>
              <a:ext cx="1981200" cy="1809750"/>
            </a:xfrm>
            <a:prstGeom prst="roundRect">
              <a:avLst>
                <a:gd name="adj" fmla="val 5263"/>
              </a:avLst>
            </a:prstGeom>
            <a:solidFill>
              <a:srgbClr val="FFFFFF"/>
            </a:solidFill>
            <a:ln w="14288">
              <a:solidFill>
                <a:srgbClr val="B8CBD3"/>
              </a:solidFill>
            </a:ln>
          </p:spPr>
        </p:sp>
        <p:grpSp>
          <p:nvGrpSpPr>
            <p:cNvPr id="40" name="Group 40"/>
            <p:cNvGrpSpPr/>
            <p:nvPr/>
          </p:nvGrpSpPr>
          <p:grpSpPr>
            <a:xfrm>
              <a:off x="7277100" y="2286000"/>
              <a:ext cx="381000" cy="381000"/>
              <a:chOff x="7277100" y="2286000"/>
              <a:chExt cx="381000" cy="381000"/>
            </a:xfrm>
          </p:grpSpPr>
          <p:sp>
            <p:nvSpPr>
              <p:cNvPr id="37" name="Ellipse 37"/>
              <p:cNvSpPr/>
              <p:nvPr/>
            </p:nvSpPr>
            <p:spPr>
              <a:xfrm>
                <a:off x="7277100" y="2286000"/>
                <a:ext cx="381000" cy="381000"/>
              </a:xfrm>
              <a:prstGeom prst="ellipse">
                <a:avLst/>
              </a:prstGeom>
              <a:solidFill>
                <a:srgbClr val="EAF4F6"/>
              </a:solidFill>
              <a:ln>
                <a:noFill/>
              </a:ln>
            </p:spPr>
          </p:sp>
          <p:sp>
            <p:nvSpPr>
              <p:cNvPr id="38" name="Freeform 38"/>
              <p:cNvSpPr/>
              <p:nvPr/>
            </p:nvSpPr>
            <p:spPr>
              <a:xfrm>
                <a:off x="7353300" y="2362200"/>
                <a:ext cx="228600" cy="276225"/>
              </a:xfrm>
              <a:custGeom>
                <a:avLst/>
                <a:gdLst/>
                <a:ahLst/>
                <a:cxnLst/>
                <a:rect l="l" t="t" r="r" b="b"/>
                <a:pathLst>
                  <a:path w="228600" h="276225">
                    <a:moveTo>
                      <a:pt x="114300" y="0"/>
                    </a:moveTo>
                    <a:lnTo>
                      <a:pt x="228600" y="47625"/>
                    </a:lnTo>
                    <a:lnTo>
                      <a:pt x="228600" y="133350"/>
                    </a:lnTo>
                    <a:cubicBezTo>
                      <a:pt x="228600" y="209550"/>
                      <a:pt x="176212" y="257175"/>
                      <a:pt x="114300" y="276225"/>
                    </a:cubicBezTo>
                    <a:cubicBezTo>
                      <a:pt x="52388" y="257175"/>
                      <a:pt x="0" y="209550"/>
                      <a:pt x="0" y="133350"/>
                    </a:cubicBezTo>
                    <a:lnTo>
                      <a:pt x="0" y="47625"/>
                    </a:lnTo>
                    <a:close/>
                  </a:path>
                </a:pathLst>
              </a:custGeom>
              <a:noFill/>
              <a:ln w="15240">
                <a:solidFill>
                  <a:srgbClr val="12355B"/>
                </a:solidFill>
              </a:ln>
            </p:spPr>
          </p:sp>
          <p:sp>
            <p:nvSpPr>
              <p:cNvPr id="39" name="Freeform 39"/>
              <p:cNvSpPr/>
              <p:nvPr/>
            </p:nvSpPr>
            <p:spPr>
              <a:xfrm>
                <a:off x="7419975" y="2438400"/>
                <a:ext cx="114300" cy="76200"/>
              </a:xfrm>
              <a:custGeom>
                <a:avLst/>
                <a:gdLst/>
                <a:ahLst/>
                <a:cxnLst/>
                <a:rect l="l" t="t" r="r" b="b"/>
                <a:pathLst>
                  <a:path w="114300" h="76200">
                    <a:moveTo>
                      <a:pt x="0" y="38100"/>
                    </a:moveTo>
                    <a:lnTo>
                      <a:pt x="38100" y="76200"/>
                    </a:lnTo>
                    <a:lnTo>
                      <a:pt x="114300" y="0"/>
                    </a:lnTo>
                  </a:path>
                </a:pathLst>
              </a:custGeom>
              <a:noFill/>
              <a:ln w="17145" cap="rnd">
                <a:solidFill>
                  <a:srgbClr val="00A6A6"/>
                </a:solidFill>
              </a:ln>
            </p:spPr>
          </p:sp>
        </p:grpSp>
        <p:sp>
          <p:nvSpPr>
            <p:cNvPr id="41" name="TextBox 41"/>
            <p:cNvSpPr txBox="1"/>
            <p:nvPr/>
          </p:nvSpPr>
          <p:spPr>
            <a:xfrm>
              <a:off x="7307199" y="2897029"/>
              <a:ext cx="9493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Doğruluk</a:t>
              </a:r>
            </a:p>
          </p:txBody>
        </p:sp>
        <p:sp>
          <p:nvSpPr>
            <p:cNvPr id="42" name="TextBox 42"/>
            <p:cNvSpPr txBox="1"/>
            <p:nvPr/>
          </p:nvSpPr>
          <p:spPr>
            <a:xfrm>
              <a:off x="7309104" y="3204210"/>
              <a:ext cx="149047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Eksik ve gürültülü</a:t>
              </a:r>
              <a:br/>
              <a:r>
                <a:rPr lang="tr-TR" sz="1200" dirty="0">
                  <a:solidFill>
                    <a:srgbClr val="172B3A"/>
                  </a:solidFill>
                  <a:latin typeface="+mn-lt"/>
                  <a:ea typeface="+mn-ea"/>
                  <a:cs typeface="+mn-cs"/>
                </a:rPr>
                <a:t>kayıtların varlığı.</a:t>
              </a:r>
            </a:p>
          </p:txBody>
        </p:sp>
      </p:grpSp>
      <p:grpSp>
        <p:nvGrpSpPr>
          <p:cNvPr id="50" name="v-value"/>
          <p:cNvGrpSpPr/>
          <p:nvPr/>
        </p:nvGrpSpPr>
        <p:grpSpPr>
          <a:xfrm>
            <a:off x="9144000" y="2095500"/>
            <a:ext cx="1981200" cy="1809750"/>
            <a:chOff x="9144000" y="2095500"/>
            <a:chExt cx="1981200" cy="1809750"/>
          </a:xfrm>
        </p:grpSpPr>
        <p:sp>
          <p:nvSpPr>
            <p:cNvPr id="44" name="Rectangle 44"/>
            <p:cNvSpPr/>
            <p:nvPr/>
          </p:nvSpPr>
          <p:spPr>
            <a:xfrm>
              <a:off x="9144000" y="2095500"/>
              <a:ext cx="1981200" cy="1809750"/>
            </a:xfrm>
            <a:prstGeom prst="roundRect">
              <a:avLst>
                <a:gd name="adj" fmla="val 5263"/>
              </a:avLst>
            </a:prstGeom>
            <a:solidFill>
              <a:srgbClr val="FFFFFF"/>
            </a:solidFill>
            <a:ln w="14288">
              <a:solidFill>
                <a:srgbClr val="00A6A6"/>
              </a:solidFill>
            </a:ln>
          </p:spPr>
        </p:sp>
        <p:grpSp>
          <p:nvGrpSpPr>
            <p:cNvPr id="47" name="Group 47"/>
            <p:cNvGrpSpPr/>
            <p:nvPr/>
          </p:nvGrpSpPr>
          <p:grpSpPr>
            <a:xfrm>
              <a:off x="9410700" y="2286000"/>
              <a:ext cx="381000" cy="381000"/>
              <a:chOff x="9410700" y="2286000"/>
              <a:chExt cx="381000" cy="381000"/>
            </a:xfrm>
          </p:grpSpPr>
          <p:sp>
            <p:nvSpPr>
              <p:cNvPr id="45" name="Ellipse 45"/>
              <p:cNvSpPr/>
              <p:nvPr/>
            </p:nvSpPr>
            <p:spPr>
              <a:xfrm>
                <a:off x="9410700" y="2286000"/>
                <a:ext cx="381000" cy="381000"/>
              </a:xfrm>
              <a:prstGeom prst="ellipse">
                <a:avLst/>
              </a:prstGeom>
              <a:solidFill>
                <a:srgbClr val="EAF4F6"/>
              </a:solidFill>
              <a:ln>
                <a:noFill/>
              </a:ln>
            </p:spPr>
          </p:sp>
          <p:sp>
            <p:nvSpPr>
              <p:cNvPr id="46" name="Freeform 46"/>
              <p:cNvSpPr/>
              <p:nvPr/>
            </p:nvSpPr>
            <p:spPr>
              <a:xfrm>
                <a:off x="9534525" y="2362200"/>
                <a:ext cx="133350" cy="228600"/>
              </a:xfrm>
              <a:custGeom>
                <a:avLst/>
                <a:gdLst/>
                <a:ahLst/>
                <a:cxnLst/>
                <a:rect l="l" t="t" r="r" b="b"/>
                <a:pathLst>
                  <a:path w="133350" h="228600">
                    <a:moveTo>
                      <a:pt x="66675" y="0"/>
                    </a:moveTo>
                    <a:lnTo>
                      <a:pt x="66675" y="228600"/>
                    </a:lnTo>
                    <a:moveTo>
                      <a:pt x="0" y="57150"/>
                    </a:moveTo>
                    <a:cubicBezTo>
                      <a:pt x="0" y="28575"/>
                      <a:pt x="28575" y="19050"/>
                      <a:pt x="66675" y="19050"/>
                    </a:cubicBezTo>
                    <a:cubicBezTo>
                      <a:pt x="104775" y="19050"/>
                      <a:pt x="133350" y="38100"/>
                      <a:pt x="133350" y="66675"/>
                    </a:cubicBezTo>
                    <a:cubicBezTo>
                      <a:pt x="133350" y="95250"/>
                      <a:pt x="104775" y="104775"/>
                      <a:pt x="66675" y="104775"/>
                    </a:cubicBezTo>
                    <a:cubicBezTo>
                      <a:pt x="28575" y="104775"/>
                      <a:pt x="0" y="114300"/>
                      <a:pt x="0" y="142875"/>
                    </a:cubicBezTo>
                    <a:cubicBezTo>
                      <a:pt x="0" y="171450"/>
                      <a:pt x="28575" y="190500"/>
                      <a:pt x="66675" y="190500"/>
                    </a:cubicBezTo>
                    <a:cubicBezTo>
                      <a:pt x="104775" y="190500"/>
                      <a:pt x="133350" y="180975"/>
                      <a:pt x="133350" y="152400"/>
                    </a:cubicBezTo>
                  </a:path>
                </a:pathLst>
              </a:custGeom>
              <a:noFill/>
              <a:ln w="15240" cap="rnd">
                <a:solidFill>
                  <a:srgbClr val="12355B"/>
                </a:solidFill>
              </a:ln>
            </p:spPr>
          </p:sp>
        </p:grpSp>
        <p:sp>
          <p:nvSpPr>
            <p:cNvPr id="48" name="TextBox 48"/>
            <p:cNvSpPr txBox="1"/>
            <p:nvPr/>
          </p:nvSpPr>
          <p:spPr>
            <a:xfrm>
              <a:off x="9440799" y="2897029"/>
              <a:ext cx="63712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Değer</a:t>
              </a:r>
            </a:p>
          </p:txBody>
        </p:sp>
        <p:sp>
          <p:nvSpPr>
            <p:cNvPr id="49" name="TextBox 49"/>
            <p:cNvSpPr txBox="1"/>
            <p:nvPr/>
          </p:nvSpPr>
          <p:spPr>
            <a:xfrm>
              <a:off x="9442704" y="3204210"/>
              <a:ext cx="152857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İş kararına dönüşen</a:t>
              </a:r>
              <a:br/>
              <a:r>
                <a:rPr lang="tr-TR" sz="1200" dirty="0">
                  <a:solidFill>
                    <a:srgbClr val="172B3A"/>
                  </a:solidFill>
                  <a:latin typeface="+mn-lt"/>
                  <a:ea typeface="+mn-ea"/>
                  <a:cs typeface="+mn-cs"/>
                </a:rPr>
                <a:t>anlamlı bilgi.</a:t>
              </a:r>
            </a:p>
          </p:txBody>
        </p:sp>
      </p:grpSp>
      <p:grpSp>
        <p:nvGrpSpPr>
          <p:cNvPr id="55" name="def-note"/>
          <p:cNvGrpSpPr/>
          <p:nvPr/>
        </p:nvGrpSpPr>
        <p:grpSpPr>
          <a:xfrm>
            <a:off x="609600" y="4229100"/>
            <a:ext cx="10972800" cy="914400"/>
            <a:chOff x="609600" y="4229100"/>
            <a:chExt cx="10972800" cy="914400"/>
          </a:xfrm>
        </p:grpSpPr>
        <p:sp>
          <p:nvSpPr>
            <p:cNvPr id="51" name="Rectangle 51"/>
            <p:cNvSpPr/>
            <p:nvPr/>
          </p:nvSpPr>
          <p:spPr>
            <a:xfrm>
              <a:off x="609600" y="4229100"/>
              <a:ext cx="10972800" cy="914400"/>
            </a:xfrm>
            <a:prstGeom prst="roundRect">
              <a:avLst>
                <a:gd name="adj" fmla="val 8333"/>
              </a:avLst>
            </a:prstGeom>
            <a:solidFill>
              <a:srgbClr val="EAF4F6"/>
            </a:solidFill>
            <a:ln>
              <a:noFill/>
            </a:ln>
          </p:spPr>
        </p:sp>
        <p:sp>
          <p:nvSpPr>
            <p:cNvPr id="52" name="TextBox 52"/>
            <p:cNvSpPr txBox="1"/>
            <p:nvPr/>
          </p:nvSpPr>
          <p:spPr>
            <a:xfrm>
              <a:off x="906399" y="4382929"/>
              <a:ext cx="316157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Benzetme: dev bir kütüphane</a:t>
              </a:r>
            </a:p>
          </p:txBody>
        </p:sp>
        <p:sp>
          <p:nvSpPr>
            <p:cNvPr id="53" name="TextBox 53"/>
            <p:cNvSpPr txBox="1"/>
            <p:nvPr/>
          </p:nvSpPr>
          <p:spPr>
            <a:xfrm>
              <a:off x="908304" y="4709160"/>
              <a:ext cx="622905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Tüm kitapları aynı anda masaya yığmak yerine, raf raf gezip her seferinde bir</a:t>
              </a:r>
            </a:p>
          </p:txBody>
        </p:sp>
        <p:sp>
          <p:nvSpPr>
            <p:cNvPr id="54" name="TextBox 54"/>
            <p:cNvSpPr txBox="1"/>
            <p:nvPr/>
          </p:nvSpPr>
          <p:spPr>
            <a:xfrm>
              <a:off x="908304" y="4899660"/>
              <a:ext cx="531083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bölümü not almak; büyük veri işleme de belleği aynı disiplinle korur.</a:t>
              </a:r>
            </a:p>
          </p:txBody>
        </p:sp>
      </p:grpSp>
      <p:grpSp>
        <p:nvGrpSpPr>
          <p:cNvPr id="58" name="def-close"/>
          <p:cNvGrpSpPr/>
          <p:nvPr/>
        </p:nvGrpSpPr>
        <p:grpSpPr>
          <a:xfrm>
            <a:off x="601599" y="5487829"/>
            <a:ext cx="8107238" cy="555689"/>
            <a:chOff x="601599" y="5487829"/>
            <a:chExt cx="8107238" cy="555689"/>
          </a:xfrm>
        </p:grpSpPr>
        <p:sp>
          <p:nvSpPr>
            <p:cNvPr id="56" name="TextBox 56"/>
            <p:cNvSpPr txBox="1"/>
            <p:nvPr/>
          </p:nvSpPr>
          <p:spPr>
            <a:xfrm>
              <a:off x="601599" y="5487829"/>
              <a:ext cx="8107238"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10 GB'lık bir dosyayı 1 GB'lık belleğe sığdırmak için veriyi tek seferde değil,</a:t>
              </a:r>
            </a:p>
          </p:txBody>
        </p:sp>
        <p:sp>
          <p:nvSpPr>
            <p:cNvPr id="57" name="TextBox 57"/>
            <p:cNvSpPr txBox="1"/>
            <p:nvPr/>
          </p:nvSpPr>
          <p:spPr>
            <a:xfrm>
              <a:off x="601599" y="5735479"/>
              <a:ext cx="525904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10 parça (chunk) hâlinde, sırayla okumak gerekir.</a:t>
              </a:r>
            </a:p>
          </p:txBody>
        </p:sp>
      </p:grpSp>
      <p:sp>
        <p:nvSpPr>
          <p:cNvPr id="59" name="TextBox 5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 / 25</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7097707" cy="668845"/>
            <a:chOff x="609600" y="171450"/>
            <a:chExt cx="7097707"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47712" y="349277"/>
                <a:ext cx="295275" cy="196565"/>
              </a:xfrm>
              <a:custGeom>
                <a:avLst/>
                <a:gdLst/>
                <a:ahLst/>
                <a:cxnLst/>
                <a:rect l="l" t="t" r="r" b="b"/>
                <a:pathLst>
                  <a:path w="295275" h="196565">
                    <a:moveTo>
                      <a:pt x="68755" y="196506"/>
                    </a:moveTo>
                    <a:cubicBezTo>
                      <a:pt x="30782" y="196506"/>
                      <a:pt x="0" y="166875"/>
                      <a:pt x="0" y="130320"/>
                    </a:cubicBezTo>
                    <a:cubicBezTo>
                      <a:pt x="0" y="93779"/>
                      <a:pt x="30782" y="64148"/>
                      <a:pt x="68755" y="64148"/>
                    </a:cubicBezTo>
                    <a:cubicBezTo>
                      <a:pt x="74557" y="38135"/>
                      <a:pt x="95241" y="16904"/>
                      <a:pt x="123012" y="8445"/>
                    </a:cubicBezTo>
                    <a:cubicBezTo>
                      <a:pt x="150767" y="0"/>
                      <a:pt x="181417" y="5595"/>
                      <a:pt x="203385" y="23209"/>
                    </a:cubicBezTo>
                    <a:cubicBezTo>
                      <a:pt x="225354" y="40777"/>
                      <a:pt x="235305" y="67603"/>
                      <a:pt x="229517" y="93617"/>
                    </a:cubicBezTo>
                    <a:lnTo>
                      <a:pt x="244133" y="93617"/>
                    </a:lnTo>
                    <a:cubicBezTo>
                      <a:pt x="272376" y="93617"/>
                      <a:pt x="295275" y="116648"/>
                      <a:pt x="295275" y="145083"/>
                    </a:cubicBezTo>
                    <a:cubicBezTo>
                      <a:pt x="295275" y="173533"/>
                      <a:pt x="272376" y="196565"/>
                      <a:pt x="244119" y="196565"/>
                    </a:cubicBezTo>
                    <a:lnTo>
                      <a:pt x="68755" y="196565"/>
                    </a:lnTo>
                  </a:path>
                </a:pathLst>
              </a:custGeom>
              <a:noFill/>
              <a:ln w="24759" cap="rnd">
                <a:solidFill>
                  <a:srgbClr val="FFFFFF"/>
                </a:solidFill>
                <a:round/>
              </a:ln>
            </p:spPr>
          </p:sp>
        </p:grpSp>
        <p:sp>
          <p:nvSpPr>
            <p:cNvPr id="7" name="TextBox 7"/>
            <p:cNvSpPr txBox="1"/>
            <p:nvPr/>
          </p:nvSpPr>
          <p:spPr>
            <a:xfrm>
              <a:off x="1299972" y="282892"/>
              <a:ext cx="640733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Büyük veri: parça tabanlı işleme</a:t>
              </a:r>
            </a:p>
          </p:txBody>
        </p:sp>
      </p:grpSp>
      <p:grpSp>
        <p:nvGrpSpPr>
          <p:cNvPr id="26" name="code-panel"/>
          <p:cNvGrpSpPr/>
          <p:nvPr/>
        </p:nvGrpSpPr>
        <p:grpSpPr>
          <a:xfrm>
            <a:off x="609600" y="1219200"/>
            <a:ext cx="6286500" cy="4495800"/>
            <a:chOff x="609600" y="1219200"/>
            <a:chExt cx="6286500" cy="4495800"/>
          </a:xfrm>
        </p:grpSpPr>
        <p:sp>
          <p:nvSpPr>
            <p:cNvPr id="9" name="Rectangle 9"/>
            <p:cNvSpPr/>
            <p:nvPr/>
          </p:nvSpPr>
          <p:spPr>
            <a:xfrm>
              <a:off x="609600" y="1219200"/>
              <a:ext cx="6286500" cy="4495800"/>
            </a:xfrm>
            <a:prstGeom prst="roundRect">
              <a:avLst>
                <a:gd name="adj" fmla="val 2119"/>
              </a:avLst>
            </a:prstGeom>
            <a:solidFill>
              <a:srgbClr val="12355B"/>
            </a:solidFill>
            <a:ln>
              <a:noFill/>
            </a:ln>
          </p:spPr>
        </p:sp>
        <p:sp>
          <p:nvSpPr>
            <p:cNvPr id="10" name="TextBox 10"/>
            <p:cNvSpPr txBox="1"/>
            <p:nvPr/>
          </p:nvSpPr>
          <p:spPr>
            <a:xfrm>
              <a:off x="851154" y="1432560"/>
              <a:ext cx="3217229"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def kayitlari_oku(dosya_yolu: Path):</a:t>
              </a:r>
            </a:p>
          </p:txBody>
        </p:sp>
        <p:sp>
          <p:nvSpPr>
            <p:cNvPr id="11" name="TextBox 11"/>
            <p:cNvSpPr txBox="1"/>
            <p:nvPr/>
          </p:nvSpPr>
          <p:spPr>
            <a:xfrm>
              <a:off x="1041654" y="1680210"/>
              <a:ext cx="285536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with dosya_yolu.open() as dosya:</a:t>
              </a:r>
            </a:p>
          </p:txBody>
        </p:sp>
        <p:sp>
          <p:nvSpPr>
            <p:cNvPr id="12" name="TextBox 12"/>
            <p:cNvSpPr txBox="1"/>
            <p:nvPr/>
          </p:nvSpPr>
          <p:spPr>
            <a:xfrm>
              <a:off x="1232154" y="1927860"/>
              <a:ext cx="1700327"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for satir in dosya:</a:t>
              </a:r>
            </a:p>
          </p:txBody>
        </p:sp>
        <p:sp>
          <p:nvSpPr>
            <p:cNvPr id="13" name="TextBox 13"/>
            <p:cNvSpPr txBox="1"/>
            <p:nvPr/>
          </p:nvSpPr>
          <p:spPr>
            <a:xfrm>
              <a:off x="1422654" y="2175510"/>
              <a:ext cx="989533"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yield satir</a:t>
              </a:r>
            </a:p>
          </p:txBody>
        </p:sp>
        <p:sp>
          <p:nvSpPr>
            <p:cNvPr id="14" name="TextBox 14"/>
            <p:cNvSpPr txBox="1"/>
            <p:nvPr/>
          </p:nvSpPr>
          <p:spPr>
            <a:xfrm>
              <a:off x="851154" y="2575560"/>
              <a:ext cx="3580529"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def ozet_uret(dosya_yolu: Path) -&gt; None:</a:t>
              </a:r>
            </a:p>
          </p:txBody>
        </p:sp>
        <p:sp>
          <p:nvSpPr>
            <p:cNvPr id="15" name="TextBox 15"/>
            <p:cNvSpPr txBox="1"/>
            <p:nvPr/>
          </p:nvSpPr>
          <p:spPr>
            <a:xfrm>
              <a:off x="1041654" y="2823210"/>
              <a:ext cx="1529753"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sayac = Counter()</a:t>
              </a:r>
            </a:p>
          </p:txBody>
        </p:sp>
        <p:sp>
          <p:nvSpPr>
            <p:cNvPr id="16" name="TextBox 16"/>
            <p:cNvSpPr txBox="1"/>
            <p:nvPr/>
          </p:nvSpPr>
          <p:spPr>
            <a:xfrm>
              <a:off x="1041654" y="3070860"/>
              <a:ext cx="347731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for satir in kayitlari_oku(dosya_yolu):</a:t>
              </a:r>
            </a:p>
          </p:txBody>
        </p:sp>
        <p:sp>
          <p:nvSpPr>
            <p:cNvPr id="17" name="TextBox 17"/>
            <p:cNvSpPr txBox="1"/>
            <p:nvPr/>
          </p:nvSpPr>
          <p:spPr>
            <a:xfrm>
              <a:off x="1232154" y="3318510"/>
              <a:ext cx="36758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try:</a:t>
              </a:r>
            </a:p>
          </p:txBody>
        </p:sp>
        <p:sp>
          <p:nvSpPr>
            <p:cNvPr id="18" name="TextBox 18"/>
            <p:cNvSpPr txBox="1"/>
            <p:nvPr/>
          </p:nvSpPr>
          <p:spPr>
            <a:xfrm>
              <a:off x="1422654" y="3566160"/>
              <a:ext cx="303306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alanlar = satir.strip().split(",")</a:t>
              </a:r>
            </a:p>
          </p:txBody>
        </p:sp>
        <p:sp>
          <p:nvSpPr>
            <p:cNvPr id="19" name="TextBox 19"/>
            <p:cNvSpPr txBox="1"/>
            <p:nvPr/>
          </p:nvSpPr>
          <p:spPr>
            <a:xfrm>
              <a:off x="1422654" y="3813810"/>
              <a:ext cx="2055724"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sayac[alanlar[-1]] += 1</a:t>
              </a:r>
            </a:p>
          </p:txBody>
        </p:sp>
        <p:sp>
          <p:nvSpPr>
            <p:cNvPr id="20" name="TextBox 20"/>
            <p:cNvSpPr txBox="1"/>
            <p:nvPr/>
          </p:nvSpPr>
          <p:spPr>
            <a:xfrm>
              <a:off x="1232154" y="4061460"/>
              <a:ext cx="1622793"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except IndexError:</a:t>
              </a:r>
            </a:p>
          </p:txBody>
        </p:sp>
        <p:sp>
          <p:nvSpPr>
            <p:cNvPr id="21" name="TextBox 21"/>
            <p:cNvSpPr txBox="1"/>
            <p:nvPr/>
          </p:nvSpPr>
          <p:spPr>
            <a:xfrm>
              <a:off x="1422654" y="4309110"/>
              <a:ext cx="232227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Consolas"/>
                  <a:ea typeface="Consolas"/>
                  <a:cs typeface="Consolas"/>
                </a:rPr>
                <a:t># eksik sütunlu kaydı atla</a:t>
              </a:r>
            </a:p>
          </p:txBody>
        </p:sp>
        <p:sp>
          <p:nvSpPr>
            <p:cNvPr id="22" name="TextBox 22"/>
            <p:cNvSpPr txBox="1"/>
            <p:nvPr/>
          </p:nvSpPr>
          <p:spPr>
            <a:xfrm>
              <a:off x="1422654" y="4556760"/>
              <a:ext cx="72298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continue</a:t>
              </a:r>
            </a:p>
          </p:txBody>
        </p:sp>
        <p:sp>
          <p:nvSpPr>
            <p:cNvPr id="23" name="TextBox 23"/>
            <p:cNvSpPr txBox="1"/>
            <p:nvPr/>
          </p:nvSpPr>
          <p:spPr>
            <a:xfrm>
              <a:off x="851154" y="4899660"/>
              <a:ext cx="107838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print(sayac)</a:t>
              </a:r>
            </a:p>
          </p:txBody>
        </p:sp>
        <p:sp>
          <p:nvSpPr>
            <p:cNvPr id="24" name="Line 24"/>
            <p:cNvSpPr/>
            <p:nvPr/>
          </p:nvSpPr>
          <p:spPr>
            <a:xfrm>
              <a:off x="857250" y="5219700"/>
              <a:ext cx="5753100" cy="9525"/>
            </a:xfrm>
            <a:custGeom>
              <a:avLst/>
              <a:gdLst/>
              <a:ahLst/>
              <a:cxnLst/>
              <a:rect l="l" t="t" r="r" b="b"/>
              <a:pathLst>
                <a:path w="5753100" h="9525">
                  <a:moveTo>
                    <a:pt x="0" y="0"/>
                  </a:moveTo>
                  <a:lnTo>
                    <a:pt x="5753100" y="0"/>
                  </a:lnTo>
                </a:path>
              </a:pathLst>
            </a:custGeom>
            <a:noFill/>
            <a:ln w="9525">
              <a:solidFill>
                <a:srgbClr val="2E86AB"/>
              </a:solidFill>
            </a:ln>
          </p:spPr>
        </p:sp>
        <p:sp>
          <p:nvSpPr>
            <p:cNvPr id="25" name="TextBox 25"/>
            <p:cNvSpPr txBox="1"/>
            <p:nvPr/>
          </p:nvSpPr>
          <p:spPr>
            <a:xfrm>
              <a:off x="851154" y="5356860"/>
              <a:ext cx="2878357"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&gt;&gt;&gt; Counter({'0': 412, '1': 88})</a:t>
              </a:r>
            </a:p>
          </p:txBody>
        </p:sp>
      </p:grpSp>
      <p:grpSp>
        <p:nvGrpSpPr>
          <p:cNvPr id="34" name="code-explain"/>
          <p:cNvGrpSpPr/>
          <p:nvPr/>
        </p:nvGrpSpPr>
        <p:grpSpPr>
          <a:xfrm>
            <a:off x="7116699" y="1353979"/>
            <a:ext cx="3176351" cy="1837277"/>
            <a:chOff x="7116699" y="1353979"/>
            <a:chExt cx="3176351" cy="1837277"/>
          </a:xfrm>
        </p:grpSpPr>
        <p:sp>
          <p:nvSpPr>
            <p:cNvPr id="27" name="TextBox 27"/>
            <p:cNvSpPr txBox="1"/>
            <p:nvPr/>
          </p:nvSpPr>
          <p:spPr>
            <a:xfrm>
              <a:off x="7116699" y="1353979"/>
              <a:ext cx="250281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Bu çıktı ne anlatıyor?</a:t>
              </a:r>
            </a:p>
          </p:txBody>
        </p:sp>
        <p:sp>
          <p:nvSpPr>
            <p:cNvPr id="28" name="TextBox 28"/>
            <p:cNvSpPr txBox="1"/>
            <p:nvPr/>
          </p:nvSpPr>
          <p:spPr>
            <a:xfrm>
              <a:off x="7118604" y="1718310"/>
              <a:ext cx="3025391" cy="234696"/>
            </a:xfrm>
            <a:prstGeom prst="rect">
              <a:avLst/>
            </a:prstGeom>
            <a:noFill/>
            <a:ln>
              <a:noFill/>
            </a:ln>
          </p:spPr>
          <p:txBody>
            <a:bodyPr wrap="none" lIns="0" tIns="0" rIns="0" bIns="0" anchor="t" anchorCtr="0">
              <a:spAutoFit/>
            </a:bodyPr>
            <a:lstStyle/>
            <a:p>
              <a:pPr algn="l"/>
              <a:r>
                <a:rPr lang="tr-TR" sz="1200" b="1" dirty="0">
                  <a:solidFill>
                    <a:srgbClr val="172B3A"/>
                  </a:solidFill>
                  <a:latin typeface="+mn-lt"/>
                  <a:ea typeface="+mn-ea"/>
                  <a:cs typeface="+mn-cs"/>
                </a:rPr>
                <a:t>yield satir</a:t>
              </a:r>
              <a:r>
                <a:rPr lang="tr-TR" sz="1200" dirty="0">
                  <a:solidFill>
                    <a:srgbClr val="172B3A"/>
                  </a:solidFill>
                  <a:latin typeface="+mn-lt"/>
                  <a:ea typeface="+mn-ea"/>
                  <a:cs typeface="+mn-cs"/>
                </a:rPr>
                <a:t xml:space="preserve"> her satırı tek tek üretir;</a:t>
              </a:r>
            </a:p>
          </p:txBody>
        </p:sp>
        <p:sp>
          <p:nvSpPr>
            <p:cNvPr id="29" name="TextBox 29"/>
            <p:cNvSpPr txBox="1"/>
            <p:nvPr/>
          </p:nvSpPr>
          <p:spPr>
            <a:xfrm>
              <a:off x="7118604" y="1927860"/>
              <a:ext cx="288767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dosyanın tamamı belleğe yüklenmez.</a:t>
              </a:r>
            </a:p>
          </p:txBody>
        </p:sp>
        <p:sp>
          <p:nvSpPr>
            <p:cNvPr id="30" name="TextBox 30"/>
            <p:cNvSpPr txBox="1"/>
            <p:nvPr/>
          </p:nvSpPr>
          <p:spPr>
            <a:xfrm>
              <a:off x="7118604" y="2232660"/>
              <a:ext cx="3174446" cy="234696"/>
            </a:xfrm>
            <a:prstGeom prst="rect">
              <a:avLst/>
            </a:prstGeom>
            <a:noFill/>
            <a:ln>
              <a:noFill/>
            </a:ln>
          </p:spPr>
          <p:txBody>
            <a:bodyPr wrap="none" lIns="0" tIns="0" rIns="0" bIns="0" anchor="t" anchorCtr="0">
              <a:spAutoFit/>
            </a:bodyPr>
            <a:lstStyle/>
            <a:p>
              <a:pPr algn="l"/>
              <a:r>
                <a:rPr lang="tr-TR" sz="1200" b="1" dirty="0">
                  <a:solidFill>
                    <a:srgbClr val="172B3A"/>
                  </a:solidFill>
                  <a:latin typeface="+mn-lt"/>
                  <a:ea typeface="+mn-ea"/>
                  <a:cs typeface="+mn-cs"/>
                </a:rPr>
                <a:t>Counter</a:t>
              </a:r>
              <a:r>
                <a:rPr lang="tr-TR" sz="1200" dirty="0">
                  <a:solidFill>
                    <a:srgbClr val="172B3A"/>
                  </a:solidFill>
                  <a:latin typeface="+mn-lt"/>
                  <a:ea typeface="+mn-ea"/>
                  <a:cs typeface="+mn-cs"/>
                </a:rPr>
                <a:t>, her churn sınıfının sayısını</a:t>
              </a:r>
            </a:p>
          </p:txBody>
        </p:sp>
        <p:sp>
          <p:nvSpPr>
            <p:cNvPr id="31" name="TextBox 31"/>
            <p:cNvSpPr txBox="1"/>
            <p:nvPr/>
          </p:nvSpPr>
          <p:spPr>
            <a:xfrm>
              <a:off x="7118604" y="2442210"/>
              <a:ext cx="149032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tek geçişte tutar.</a:t>
              </a:r>
            </a:p>
          </p:txBody>
        </p:sp>
        <p:sp>
          <p:nvSpPr>
            <p:cNvPr id="32" name="TextBox 32"/>
            <p:cNvSpPr txBox="1"/>
            <p:nvPr/>
          </p:nvSpPr>
          <p:spPr>
            <a:xfrm>
              <a:off x="7118604" y="2747010"/>
              <a:ext cx="3012872" cy="234696"/>
            </a:xfrm>
            <a:prstGeom prst="rect">
              <a:avLst/>
            </a:prstGeom>
            <a:noFill/>
            <a:ln>
              <a:noFill/>
            </a:ln>
          </p:spPr>
          <p:txBody>
            <a:bodyPr wrap="none" lIns="0" tIns="0" rIns="0" bIns="0" anchor="t" anchorCtr="0">
              <a:spAutoFit/>
            </a:bodyPr>
            <a:lstStyle/>
            <a:p>
              <a:pPr algn="l"/>
              <a:r>
                <a:rPr lang="tr-TR" sz="1200" b="1" dirty="0">
                  <a:solidFill>
                    <a:srgbClr val="172B3A"/>
                  </a:solidFill>
                  <a:latin typeface="+mn-lt"/>
                  <a:ea typeface="+mn-ea"/>
                  <a:cs typeface="+mn-cs"/>
                </a:rPr>
                <a:t>try-except</a:t>
              </a:r>
              <a:r>
                <a:rPr lang="tr-TR" sz="1200" dirty="0">
                  <a:solidFill>
                    <a:srgbClr val="172B3A"/>
                  </a:solidFill>
                  <a:latin typeface="+mn-lt"/>
                  <a:ea typeface="+mn-ea"/>
                  <a:cs typeface="+mn-cs"/>
                </a:rPr>
                <a:t xml:space="preserve"> yapısı, eksik sütunlu tek</a:t>
              </a:r>
            </a:p>
          </p:txBody>
        </p:sp>
        <p:sp>
          <p:nvSpPr>
            <p:cNvPr id="33" name="TextBox 33"/>
            <p:cNvSpPr txBox="1"/>
            <p:nvPr/>
          </p:nvSpPr>
          <p:spPr>
            <a:xfrm>
              <a:off x="7118604" y="2956560"/>
              <a:ext cx="313806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bir kaydın tüm analizi bozmasını önler.</a:t>
              </a:r>
            </a:p>
          </p:txBody>
        </p:sp>
      </p:grpSp>
      <p:grpSp>
        <p:nvGrpSpPr>
          <p:cNvPr id="41" name="code-note"/>
          <p:cNvGrpSpPr/>
          <p:nvPr/>
        </p:nvGrpSpPr>
        <p:grpSpPr>
          <a:xfrm>
            <a:off x="7124700" y="4305300"/>
            <a:ext cx="4457700" cy="1409700"/>
            <a:chOff x="7124700" y="4305300"/>
            <a:chExt cx="4457700" cy="1409700"/>
          </a:xfrm>
        </p:grpSpPr>
        <p:sp>
          <p:nvSpPr>
            <p:cNvPr id="35" name="Rectangle 35"/>
            <p:cNvSpPr/>
            <p:nvPr/>
          </p:nvSpPr>
          <p:spPr>
            <a:xfrm>
              <a:off x="7124700" y="4305300"/>
              <a:ext cx="4457700" cy="1409700"/>
            </a:xfrm>
            <a:prstGeom prst="roundRect">
              <a:avLst>
                <a:gd name="adj" fmla="val 5405"/>
              </a:avLst>
            </a:prstGeom>
            <a:solidFill>
              <a:srgbClr val="EAF4F6"/>
            </a:solidFill>
            <a:ln>
              <a:noFill/>
            </a:ln>
          </p:spPr>
        </p:sp>
        <p:sp>
          <p:nvSpPr>
            <p:cNvPr id="36" name="TextBox 36"/>
            <p:cNvSpPr txBox="1"/>
            <p:nvPr/>
          </p:nvSpPr>
          <p:spPr>
            <a:xfrm>
              <a:off x="7347204" y="4480560"/>
              <a:ext cx="2417766"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Alternatif: pandas chunksize</a:t>
              </a:r>
            </a:p>
          </p:txBody>
        </p:sp>
        <p:sp>
          <p:nvSpPr>
            <p:cNvPr id="37" name="TextBox 37"/>
            <p:cNvSpPr txBox="1"/>
            <p:nvPr/>
          </p:nvSpPr>
          <p:spPr>
            <a:xfrm>
              <a:off x="7347204" y="4728210"/>
              <a:ext cx="279074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chunksize=100_000 ile her parçanın</a:t>
              </a:r>
            </a:p>
          </p:txBody>
        </p:sp>
        <p:sp>
          <p:nvSpPr>
            <p:cNvPr id="38" name="TextBox 38"/>
            <p:cNvSpPr txBox="1"/>
            <p:nvPr/>
          </p:nvSpPr>
          <p:spPr>
            <a:xfrm>
              <a:off x="7347204" y="4937760"/>
              <a:ext cx="270997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özeti hesaplanır, yalnızca gerekli</a:t>
              </a:r>
            </a:p>
          </p:txBody>
        </p:sp>
        <p:sp>
          <p:nvSpPr>
            <p:cNvPr id="39" name="TextBox 39"/>
            <p:cNvSpPr txBox="1"/>
            <p:nvPr/>
          </p:nvSpPr>
          <p:spPr>
            <a:xfrm>
              <a:off x="7347204" y="5147310"/>
              <a:ext cx="277459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sayaçlar saklanır; tam medyan gibi</a:t>
              </a:r>
            </a:p>
          </p:txBody>
        </p:sp>
        <p:sp>
          <p:nvSpPr>
            <p:cNvPr id="40" name="TextBox 40"/>
            <p:cNvSpPr txBox="1"/>
            <p:nvPr/>
          </p:nvSpPr>
          <p:spPr>
            <a:xfrm>
              <a:off x="7347204" y="5356860"/>
              <a:ext cx="260497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işlemler ek algoritma gerektirir.</a:t>
              </a:r>
            </a:p>
          </p:txBody>
        </p:sp>
      </p:grpSp>
      <p:sp>
        <p:nvSpPr>
          <p:cNvPr id="42" name="TextBox 4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 / 25</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8306311" cy="668845"/>
            <a:chOff x="609600" y="171450"/>
            <a:chExt cx="8306311"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47712" y="349277"/>
                <a:ext cx="295275" cy="196565"/>
              </a:xfrm>
              <a:custGeom>
                <a:avLst/>
                <a:gdLst/>
                <a:ahLst/>
                <a:cxnLst/>
                <a:rect l="l" t="t" r="r" b="b"/>
                <a:pathLst>
                  <a:path w="295275" h="196565">
                    <a:moveTo>
                      <a:pt x="68755" y="196506"/>
                    </a:moveTo>
                    <a:cubicBezTo>
                      <a:pt x="30782" y="196506"/>
                      <a:pt x="0" y="166875"/>
                      <a:pt x="0" y="130320"/>
                    </a:cubicBezTo>
                    <a:cubicBezTo>
                      <a:pt x="0" y="93779"/>
                      <a:pt x="30782" y="64148"/>
                      <a:pt x="68755" y="64148"/>
                    </a:cubicBezTo>
                    <a:cubicBezTo>
                      <a:pt x="74557" y="38135"/>
                      <a:pt x="95241" y="16904"/>
                      <a:pt x="123012" y="8445"/>
                    </a:cubicBezTo>
                    <a:cubicBezTo>
                      <a:pt x="150767" y="0"/>
                      <a:pt x="181417" y="5595"/>
                      <a:pt x="203385" y="23209"/>
                    </a:cubicBezTo>
                    <a:cubicBezTo>
                      <a:pt x="225354" y="40777"/>
                      <a:pt x="235305" y="67603"/>
                      <a:pt x="229517" y="93617"/>
                    </a:cubicBezTo>
                    <a:lnTo>
                      <a:pt x="244133" y="93617"/>
                    </a:lnTo>
                    <a:cubicBezTo>
                      <a:pt x="272376" y="93617"/>
                      <a:pt x="295275" y="116648"/>
                      <a:pt x="295275" y="145083"/>
                    </a:cubicBezTo>
                    <a:cubicBezTo>
                      <a:pt x="295275" y="173533"/>
                      <a:pt x="272376" y="196565"/>
                      <a:pt x="244119" y="196565"/>
                    </a:cubicBezTo>
                    <a:lnTo>
                      <a:pt x="68755" y="196565"/>
                    </a:lnTo>
                  </a:path>
                </a:pathLst>
              </a:custGeom>
              <a:noFill/>
              <a:ln w="24759" cap="rnd">
                <a:solidFill>
                  <a:srgbClr val="FFFFFF"/>
                </a:solidFill>
                <a:round/>
              </a:ln>
            </p:spPr>
          </p:sp>
        </p:grpSp>
        <p:sp>
          <p:nvSpPr>
            <p:cNvPr id="7" name="TextBox 7"/>
            <p:cNvSpPr txBox="1"/>
            <p:nvPr/>
          </p:nvSpPr>
          <p:spPr>
            <a:xfrm>
              <a:off x="1299972" y="282892"/>
              <a:ext cx="761593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Büyük veri: yaklaşım seçimi ve hatalar</a:t>
              </a:r>
            </a:p>
          </p:txBody>
        </p:sp>
      </p:grpSp>
      <p:grpSp>
        <p:nvGrpSpPr>
          <p:cNvPr id="32" name="approach-table"/>
          <p:cNvGrpSpPr/>
          <p:nvPr/>
        </p:nvGrpSpPr>
        <p:grpSpPr>
          <a:xfrm>
            <a:off x="609600" y="1219200"/>
            <a:ext cx="10972800" cy="2505456"/>
            <a:chOff x="609600" y="1219200"/>
            <a:chExt cx="10972800" cy="2505456"/>
          </a:xfrm>
        </p:grpSpPr>
        <p:sp>
          <p:nvSpPr>
            <p:cNvPr id="9" name="Rectangle 9"/>
            <p:cNvSpPr/>
            <p:nvPr/>
          </p:nvSpPr>
          <p:spPr>
            <a:xfrm>
              <a:off x="609600" y="1219200"/>
              <a:ext cx="10972800" cy="381000"/>
            </a:xfrm>
            <a:prstGeom prst="rect">
              <a:avLst/>
            </a:prstGeom>
            <a:solidFill>
              <a:srgbClr val="12355B"/>
            </a:solidFill>
            <a:ln>
              <a:noFill/>
            </a:ln>
          </p:spPr>
        </p:sp>
        <p:sp>
          <p:nvSpPr>
            <p:cNvPr id="10" name="TextBox 10"/>
            <p:cNvSpPr txBox="1"/>
            <p:nvPr/>
          </p:nvSpPr>
          <p:spPr>
            <a:xfrm>
              <a:off x="832104" y="1337310"/>
              <a:ext cx="791809"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YAKLAŞIM</a:t>
              </a:r>
            </a:p>
          </p:txBody>
        </p:sp>
        <p:sp>
          <p:nvSpPr>
            <p:cNvPr id="11" name="TextBox 11"/>
            <p:cNvSpPr txBox="1"/>
            <p:nvPr/>
          </p:nvSpPr>
          <p:spPr>
            <a:xfrm>
              <a:off x="3499104" y="1337310"/>
              <a:ext cx="702198"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AVANTAJ</a:t>
              </a:r>
            </a:p>
          </p:txBody>
        </p:sp>
        <p:sp>
          <p:nvSpPr>
            <p:cNvPr id="12" name="TextBox 12"/>
            <p:cNvSpPr txBox="1"/>
            <p:nvPr/>
          </p:nvSpPr>
          <p:spPr>
            <a:xfrm>
              <a:off x="5823204" y="1337310"/>
              <a:ext cx="818693"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SINIRLILIK</a:t>
              </a:r>
            </a:p>
          </p:txBody>
        </p:sp>
        <p:sp>
          <p:nvSpPr>
            <p:cNvPr id="13" name="TextBox 13"/>
            <p:cNvSpPr txBox="1"/>
            <p:nvPr/>
          </p:nvSpPr>
          <p:spPr>
            <a:xfrm>
              <a:off x="8375904" y="1337310"/>
              <a:ext cx="1284671"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UYGUN SENARYO</a:t>
              </a:r>
            </a:p>
          </p:txBody>
        </p:sp>
        <p:sp>
          <p:nvSpPr>
            <p:cNvPr id="14" name="TextBox 14"/>
            <p:cNvSpPr txBox="1"/>
            <p:nvPr/>
          </p:nvSpPr>
          <p:spPr>
            <a:xfrm>
              <a:off x="830199" y="1734979"/>
              <a:ext cx="249083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Tüm veriyi belleğe alma</a:t>
              </a:r>
            </a:p>
          </p:txBody>
        </p:sp>
        <p:sp>
          <p:nvSpPr>
            <p:cNvPr id="15" name="TextBox 15"/>
            <p:cNvSpPr txBox="1"/>
            <p:nvPr/>
          </p:nvSpPr>
          <p:spPr>
            <a:xfrm>
              <a:off x="3499104" y="1775460"/>
              <a:ext cx="92149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Basit analiz</a:t>
              </a:r>
            </a:p>
          </p:txBody>
        </p:sp>
        <p:sp>
          <p:nvSpPr>
            <p:cNvPr id="16" name="TextBox 16"/>
            <p:cNvSpPr txBox="1"/>
            <p:nvPr/>
          </p:nvSpPr>
          <p:spPr>
            <a:xfrm>
              <a:off x="5823204" y="1775460"/>
              <a:ext cx="176180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Bellek tüketimi yüksek</a:t>
              </a:r>
            </a:p>
          </p:txBody>
        </p:sp>
        <p:sp>
          <p:nvSpPr>
            <p:cNvPr id="17" name="TextBox 17"/>
            <p:cNvSpPr txBox="1"/>
            <p:nvPr/>
          </p:nvSpPr>
          <p:spPr>
            <a:xfrm>
              <a:off x="8375904" y="1775460"/>
              <a:ext cx="146343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Küçük CSV dosyası</a:t>
              </a:r>
            </a:p>
          </p:txBody>
        </p:sp>
        <p:sp>
          <p:nvSpPr>
            <p:cNvPr id="18" name="Line 18"/>
            <p:cNvSpPr/>
            <p:nvPr/>
          </p:nvSpPr>
          <p:spPr>
            <a:xfrm>
              <a:off x="609600" y="211455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19" name="Rectangle 19"/>
            <p:cNvSpPr/>
            <p:nvPr/>
          </p:nvSpPr>
          <p:spPr>
            <a:xfrm>
              <a:off x="609600" y="2190750"/>
              <a:ext cx="10972800" cy="552450"/>
            </a:xfrm>
            <a:prstGeom prst="rect">
              <a:avLst/>
            </a:prstGeom>
            <a:solidFill>
              <a:srgbClr val="EAF4F6"/>
            </a:solidFill>
            <a:ln>
              <a:noFill/>
            </a:ln>
          </p:spPr>
        </p:sp>
        <p:sp>
          <p:nvSpPr>
            <p:cNvPr id="20" name="TextBox 20"/>
            <p:cNvSpPr txBox="1"/>
            <p:nvPr/>
          </p:nvSpPr>
          <p:spPr>
            <a:xfrm>
              <a:off x="830199" y="2268379"/>
              <a:ext cx="224516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Parça tabanlı işleme</a:t>
              </a:r>
            </a:p>
          </p:txBody>
        </p:sp>
        <p:sp>
          <p:nvSpPr>
            <p:cNvPr id="21" name="TextBox 21"/>
            <p:cNvSpPr txBox="1"/>
            <p:nvPr/>
          </p:nvSpPr>
          <p:spPr>
            <a:xfrm>
              <a:off x="3499104" y="2308860"/>
              <a:ext cx="105836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Ölçeklenebilir</a:t>
              </a:r>
            </a:p>
          </p:txBody>
        </p:sp>
        <p:sp>
          <p:nvSpPr>
            <p:cNvPr id="22" name="TextBox 22"/>
            <p:cNvSpPr txBox="1"/>
            <p:nvPr/>
          </p:nvSpPr>
          <p:spPr>
            <a:xfrm>
              <a:off x="5823204" y="2308860"/>
              <a:ext cx="254546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Karmaşık hesaplamalar zorlaşır</a:t>
              </a:r>
            </a:p>
          </p:txBody>
        </p:sp>
        <p:sp>
          <p:nvSpPr>
            <p:cNvPr id="23" name="TextBox 23"/>
            <p:cNvSpPr txBox="1"/>
            <p:nvPr/>
          </p:nvSpPr>
          <p:spPr>
            <a:xfrm>
              <a:off x="8375904" y="2308860"/>
              <a:ext cx="167322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Büyük günlük dosyası</a:t>
              </a:r>
            </a:p>
          </p:txBody>
        </p:sp>
        <p:sp>
          <p:nvSpPr>
            <p:cNvPr id="24" name="Line 24"/>
            <p:cNvSpPr/>
            <p:nvPr/>
          </p:nvSpPr>
          <p:spPr>
            <a:xfrm>
              <a:off x="609600" y="27432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25" name="TextBox 25"/>
            <p:cNvSpPr txBox="1"/>
            <p:nvPr/>
          </p:nvSpPr>
          <p:spPr>
            <a:xfrm>
              <a:off x="830199" y="2820829"/>
              <a:ext cx="161979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Dağıtık işleme</a:t>
              </a:r>
            </a:p>
          </p:txBody>
        </p:sp>
        <p:sp>
          <p:nvSpPr>
            <p:cNvPr id="26" name="TextBox 26"/>
            <p:cNvSpPr txBox="1"/>
            <p:nvPr/>
          </p:nvSpPr>
          <p:spPr>
            <a:xfrm>
              <a:off x="3499104" y="2861310"/>
              <a:ext cx="158438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Çok yüksek kapasite</a:t>
              </a:r>
            </a:p>
          </p:txBody>
        </p:sp>
        <p:sp>
          <p:nvSpPr>
            <p:cNvPr id="27" name="TextBox 27"/>
            <p:cNvSpPr txBox="1"/>
            <p:nvPr/>
          </p:nvSpPr>
          <p:spPr>
            <a:xfrm>
              <a:off x="5823204" y="2861310"/>
              <a:ext cx="126888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Altyapı maliyeti</a:t>
              </a:r>
            </a:p>
          </p:txBody>
        </p:sp>
        <p:sp>
          <p:nvSpPr>
            <p:cNvPr id="28" name="TextBox 28"/>
            <p:cNvSpPr txBox="1"/>
            <p:nvPr/>
          </p:nvSpPr>
          <p:spPr>
            <a:xfrm>
              <a:off x="8375904" y="2861310"/>
              <a:ext cx="144691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Kurumsal veri gölü</a:t>
              </a:r>
            </a:p>
          </p:txBody>
        </p:sp>
        <p:sp>
          <p:nvSpPr>
            <p:cNvPr id="29" name="Line 29"/>
            <p:cNvSpPr/>
            <p:nvPr/>
          </p:nvSpPr>
          <p:spPr>
            <a:xfrm>
              <a:off x="609600" y="32004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30" name="TextBox 30"/>
            <p:cNvSpPr txBox="1"/>
            <p:nvPr/>
          </p:nvSpPr>
          <p:spPr>
            <a:xfrm>
              <a:off x="832104" y="3299460"/>
              <a:ext cx="616874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Veri tek bilgisayarda rahatça işlenebiliyorsa Pandas ile toplu analiz yeterlidir;</a:t>
              </a:r>
            </a:p>
          </p:txBody>
        </p:sp>
        <p:sp>
          <p:nvSpPr>
            <p:cNvPr id="31" name="TextBox 31"/>
            <p:cNvSpPr txBox="1"/>
            <p:nvPr/>
          </p:nvSpPr>
          <p:spPr>
            <a:xfrm>
              <a:off x="832104" y="3489960"/>
              <a:ext cx="842055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bellek aşılıyorsa, veri sürekli akıyorsa veya yalnızca özet gerekiyorsa parça tabanlı işleme tercih edilir.</a:t>
              </a:r>
            </a:p>
          </p:txBody>
        </p:sp>
      </p:grpSp>
      <p:grpSp>
        <p:nvGrpSpPr>
          <p:cNvPr id="43" name="mistakes"/>
          <p:cNvGrpSpPr/>
          <p:nvPr/>
        </p:nvGrpSpPr>
        <p:grpSpPr>
          <a:xfrm>
            <a:off x="600456" y="3844290"/>
            <a:ext cx="7069166" cy="2337816"/>
            <a:chOff x="600456" y="3844290"/>
            <a:chExt cx="7069166" cy="2337816"/>
          </a:xfrm>
        </p:grpSpPr>
        <p:sp>
          <p:nvSpPr>
            <p:cNvPr id="33" name="TextBox 33"/>
            <p:cNvSpPr txBox="1"/>
            <p:nvPr/>
          </p:nvSpPr>
          <p:spPr>
            <a:xfrm>
              <a:off x="600456" y="3844290"/>
              <a:ext cx="185817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Yaygın hatalar</a:t>
              </a:r>
            </a:p>
          </p:txBody>
        </p:sp>
        <p:sp>
          <p:nvSpPr>
            <p:cNvPr id="34" name="Rectangle 34"/>
            <p:cNvSpPr/>
            <p:nvPr/>
          </p:nvSpPr>
          <p:spPr>
            <a:xfrm>
              <a:off x="609600" y="4191000"/>
              <a:ext cx="57150" cy="628650"/>
            </a:xfrm>
            <a:prstGeom prst="rect">
              <a:avLst/>
            </a:prstGeom>
            <a:solidFill>
              <a:srgbClr val="00A6A6"/>
            </a:solidFill>
            <a:ln>
              <a:noFill/>
            </a:ln>
          </p:spPr>
        </p:sp>
        <p:sp>
          <p:nvSpPr>
            <p:cNvPr id="35" name="TextBox 35"/>
            <p:cNvSpPr txBox="1"/>
            <p:nvPr/>
          </p:nvSpPr>
          <p:spPr>
            <a:xfrm>
              <a:off x="851154" y="4251960"/>
              <a:ext cx="4481711" cy="234696"/>
            </a:xfrm>
            <a:prstGeom prst="rect">
              <a:avLst/>
            </a:prstGeom>
            <a:noFill/>
            <a:ln>
              <a:noFill/>
            </a:ln>
          </p:spPr>
          <p:txBody>
            <a:bodyPr wrap="none" lIns="0" tIns="0" rIns="0" bIns="0" anchor="t" anchorCtr="0">
              <a:spAutoFit/>
            </a:bodyPr>
            <a:lstStyle/>
            <a:p>
              <a:pPr algn="l"/>
              <a:r>
                <a:rPr lang="tr-TR" sz="1200" b="1" dirty="0">
                  <a:solidFill>
                    <a:srgbClr val="172B3A"/>
                  </a:solidFill>
                  <a:latin typeface="+mn-lt"/>
                  <a:ea typeface="+mn-ea"/>
                  <a:cs typeface="+mn-cs"/>
                </a:rPr>
                <a:t>list(kayitlari_oku(...)) ile tüm dosyayı belleğe almak</a:t>
              </a:r>
            </a:p>
          </p:txBody>
        </p:sp>
        <p:sp>
          <p:nvSpPr>
            <p:cNvPr id="36" name="TextBox 36"/>
            <p:cNvSpPr txBox="1"/>
            <p:nvPr/>
          </p:nvSpPr>
          <p:spPr>
            <a:xfrm>
              <a:off x="851154" y="4461510"/>
              <a:ext cx="426614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Doğrusu: üreteci doğrudan döngü içinde kullanmaktır.</a:t>
              </a:r>
            </a:p>
          </p:txBody>
        </p:sp>
        <p:sp>
          <p:nvSpPr>
            <p:cNvPr id="37" name="Rectangle 37"/>
            <p:cNvSpPr/>
            <p:nvPr/>
          </p:nvSpPr>
          <p:spPr>
            <a:xfrm>
              <a:off x="609600" y="4933950"/>
              <a:ext cx="57150" cy="628650"/>
            </a:xfrm>
            <a:prstGeom prst="rect">
              <a:avLst/>
            </a:prstGeom>
            <a:solidFill>
              <a:srgbClr val="00A6A6"/>
            </a:solidFill>
            <a:ln>
              <a:noFill/>
            </a:ln>
          </p:spPr>
        </p:sp>
        <p:sp>
          <p:nvSpPr>
            <p:cNvPr id="38" name="TextBox 38"/>
            <p:cNvSpPr txBox="1"/>
            <p:nvPr/>
          </p:nvSpPr>
          <p:spPr>
            <a:xfrm>
              <a:off x="851154" y="4994910"/>
              <a:ext cx="2782607" cy="234696"/>
            </a:xfrm>
            <a:prstGeom prst="rect">
              <a:avLst/>
            </a:prstGeom>
            <a:noFill/>
            <a:ln>
              <a:noFill/>
            </a:ln>
          </p:spPr>
          <p:txBody>
            <a:bodyPr wrap="none" lIns="0" tIns="0" rIns="0" bIns="0" anchor="t" anchorCtr="0">
              <a:spAutoFit/>
            </a:bodyPr>
            <a:lstStyle/>
            <a:p>
              <a:pPr algn="l"/>
              <a:r>
                <a:rPr lang="tr-TR" sz="1200" b="1" dirty="0">
                  <a:solidFill>
                    <a:srgbClr val="172B3A"/>
                  </a:solidFill>
                  <a:latin typeface="+mn-lt"/>
                  <a:ea typeface="+mn-ea"/>
                  <a:cs typeface="+mn-cs"/>
                </a:rPr>
                <a:t>Hatalı kaydı sessizce yok saymak</a:t>
              </a:r>
            </a:p>
          </p:txBody>
        </p:sp>
        <p:sp>
          <p:nvSpPr>
            <p:cNvPr id="39" name="TextBox 39"/>
            <p:cNvSpPr txBox="1"/>
            <p:nvPr/>
          </p:nvSpPr>
          <p:spPr>
            <a:xfrm>
              <a:off x="851154" y="5204460"/>
              <a:ext cx="681846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Doğrusu: atlanan kayıt sayısını günlüklemek ve veri kalitesini ayrıca raporlamaktır.</a:t>
              </a:r>
            </a:p>
          </p:txBody>
        </p:sp>
        <p:sp>
          <p:nvSpPr>
            <p:cNvPr id="40" name="Rectangle 40"/>
            <p:cNvSpPr/>
            <p:nvPr/>
          </p:nvSpPr>
          <p:spPr>
            <a:xfrm>
              <a:off x="609600" y="5676900"/>
              <a:ext cx="57150" cy="400050"/>
            </a:xfrm>
            <a:prstGeom prst="rect">
              <a:avLst/>
            </a:prstGeom>
            <a:solidFill>
              <a:srgbClr val="00A6A6"/>
            </a:solidFill>
            <a:ln>
              <a:noFill/>
            </a:ln>
          </p:spPr>
        </p:sp>
        <p:sp>
          <p:nvSpPr>
            <p:cNvPr id="41" name="TextBox 41"/>
            <p:cNvSpPr txBox="1"/>
            <p:nvPr/>
          </p:nvSpPr>
          <p:spPr>
            <a:xfrm>
              <a:off x="851154" y="5737860"/>
              <a:ext cx="4606091" cy="234696"/>
            </a:xfrm>
            <a:prstGeom prst="rect">
              <a:avLst/>
            </a:prstGeom>
            <a:noFill/>
            <a:ln>
              <a:noFill/>
            </a:ln>
          </p:spPr>
          <p:txBody>
            <a:bodyPr wrap="none" lIns="0" tIns="0" rIns="0" bIns="0" anchor="t" anchorCtr="0">
              <a:spAutoFit/>
            </a:bodyPr>
            <a:lstStyle/>
            <a:p>
              <a:pPr algn="l"/>
              <a:r>
                <a:rPr lang="tr-TR" sz="1200" b="1" dirty="0">
                  <a:solidFill>
                    <a:srgbClr val="172B3A"/>
                  </a:solidFill>
                  <a:latin typeface="+mn-lt"/>
                  <a:ea typeface="+mn-ea"/>
                  <a:cs typeface="+mn-cs"/>
                </a:rPr>
                <a:t>"Büyük veri" etiketiyle gereksiz dağıtık mimari kurmak</a:t>
              </a:r>
            </a:p>
          </p:txBody>
        </p:sp>
        <p:sp>
          <p:nvSpPr>
            <p:cNvPr id="42" name="TextBox 42"/>
            <p:cNvSpPr txBox="1"/>
            <p:nvPr/>
          </p:nvSpPr>
          <p:spPr>
            <a:xfrm>
              <a:off x="851154" y="5947410"/>
              <a:ext cx="520309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Doğrusu: önce veri hacmi, hız gereksinimi ve maliyet ölçülmelidir.</a:t>
              </a:r>
            </a:p>
          </p:txBody>
        </p:sp>
      </p:grpSp>
      <p:sp>
        <p:nvSpPr>
          <p:cNvPr id="44" name="TextBox 4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 / 25</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8027094" cy="668845"/>
            <a:chOff x="609600" y="171450"/>
            <a:chExt cx="8027094"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47712" y="349277"/>
                <a:ext cx="295275" cy="196565"/>
              </a:xfrm>
              <a:custGeom>
                <a:avLst/>
                <a:gdLst/>
                <a:ahLst/>
                <a:cxnLst/>
                <a:rect l="l" t="t" r="r" b="b"/>
                <a:pathLst>
                  <a:path w="295275" h="196565">
                    <a:moveTo>
                      <a:pt x="68755" y="196506"/>
                    </a:moveTo>
                    <a:cubicBezTo>
                      <a:pt x="30782" y="196506"/>
                      <a:pt x="0" y="166875"/>
                      <a:pt x="0" y="130320"/>
                    </a:cubicBezTo>
                    <a:cubicBezTo>
                      <a:pt x="0" y="93779"/>
                      <a:pt x="30782" y="64148"/>
                      <a:pt x="68755" y="64148"/>
                    </a:cubicBezTo>
                    <a:cubicBezTo>
                      <a:pt x="74557" y="38135"/>
                      <a:pt x="95241" y="16904"/>
                      <a:pt x="123012" y="8445"/>
                    </a:cubicBezTo>
                    <a:cubicBezTo>
                      <a:pt x="150767" y="0"/>
                      <a:pt x="181417" y="5595"/>
                      <a:pt x="203385" y="23209"/>
                    </a:cubicBezTo>
                    <a:cubicBezTo>
                      <a:pt x="225354" y="40777"/>
                      <a:pt x="235305" y="67603"/>
                      <a:pt x="229517" y="93617"/>
                    </a:cubicBezTo>
                    <a:lnTo>
                      <a:pt x="244133" y="93617"/>
                    </a:lnTo>
                    <a:cubicBezTo>
                      <a:pt x="272376" y="93617"/>
                      <a:pt x="295275" y="116648"/>
                      <a:pt x="295275" y="145083"/>
                    </a:cubicBezTo>
                    <a:cubicBezTo>
                      <a:pt x="295275" y="173533"/>
                      <a:pt x="272376" y="196565"/>
                      <a:pt x="244119" y="196565"/>
                    </a:cubicBezTo>
                    <a:lnTo>
                      <a:pt x="68755" y="196565"/>
                    </a:lnTo>
                  </a:path>
                </a:pathLst>
              </a:custGeom>
              <a:noFill/>
              <a:ln w="24759" cap="rnd">
                <a:solidFill>
                  <a:srgbClr val="FFFFFF"/>
                </a:solidFill>
                <a:round/>
              </a:ln>
            </p:spPr>
          </p:sp>
        </p:grpSp>
        <p:sp>
          <p:nvSpPr>
            <p:cNvPr id="7" name="TextBox 7"/>
            <p:cNvSpPr txBox="1"/>
            <p:nvPr/>
          </p:nvSpPr>
          <p:spPr>
            <a:xfrm>
              <a:off x="1299972" y="282892"/>
              <a:ext cx="733672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MLOps: izlenebilir bir üretim disiplini</a:t>
              </a:r>
            </a:p>
          </p:txBody>
        </p:sp>
      </p:grpSp>
      <p:grpSp>
        <p:nvGrpSpPr>
          <p:cNvPr id="12" name="mlops-def"/>
          <p:cNvGrpSpPr/>
          <p:nvPr/>
        </p:nvGrpSpPr>
        <p:grpSpPr>
          <a:xfrm>
            <a:off x="600456" y="1253490"/>
            <a:ext cx="9646012" cy="923544"/>
            <a:chOff x="600456" y="1253490"/>
            <a:chExt cx="9646012" cy="923544"/>
          </a:xfrm>
        </p:grpSpPr>
        <p:sp>
          <p:nvSpPr>
            <p:cNvPr id="9" name="TextBox 9"/>
            <p:cNvSpPr txBox="1"/>
            <p:nvPr/>
          </p:nvSpPr>
          <p:spPr>
            <a:xfrm>
              <a:off x="600456" y="1253490"/>
              <a:ext cx="9565809"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MLOps; model, veri, kod ve değerlendirme sonuçlarının sürümlenmesini sağlayan</a:t>
              </a:r>
            </a:p>
          </p:txBody>
        </p:sp>
        <p:sp>
          <p:nvSpPr>
            <p:cNvPr id="10" name="TextBox 10"/>
            <p:cNvSpPr txBox="1"/>
            <p:nvPr/>
          </p:nvSpPr>
          <p:spPr>
            <a:xfrm>
              <a:off x="600456" y="1539240"/>
              <a:ext cx="9646012"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disiplinler arası çalışma biçimidir. Bir modelin "çalışıyor olması", onun güvenilir</a:t>
              </a:r>
            </a:p>
          </p:txBody>
        </p:sp>
        <p:sp>
          <p:nvSpPr>
            <p:cNvPr id="11" name="TextBox 11"/>
            <p:cNvSpPr txBox="1"/>
            <p:nvPr/>
          </p:nvSpPr>
          <p:spPr>
            <a:xfrm>
              <a:off x="600456" y="1824990"/>
              <a:ext cx="5264429"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biçimde üretimde yaşadığı anlamına gelmez.</a:t>
              </a:r>
            </a:p>
          </p:txBody>
        </p:sp>
      </p:grpSp>
      <p:grpSp>
        <p:nvGrpSpPr>
          <p:cNvPr id="20" name="mlops-analogy"/>
          <p:cNvGrpSpPr/>
          <p:nvPr/>
        </p:nvGrpSpPr>
        <p:grpSpPr>
          <a:xfrm>
            <a:off x="609600" y="2324100"/>
            <a:ext cx="10972800" cy="857250"/>
            <a:chOff x="609600" y="2324100"/>
            <a:chExt cx="10972800" cy="857250"/>
          </a:xfrm>
        </p:grpSpPr>
        <p:sp>
          <p:nvSpPr>
            <p:cNvPr id="13" name="Rectangle 13"/>
            <p:cNvSpPr/>
            <p:nvPr/>
          </p:nvSpPr>
          <p:spPr>
            <a:xfrm>
              <a:off x="609600" y="2324100"/>
              <a:ext cx="10972800" cy="857250"/>
            </a:xfrm>
            <a:prstGeom prst="roundRect">
              <a:avLst>
                <a:gd name="adj" fmla="val 8889"/>
              </a:avLst>
            </a:prstGeom>
            <a:solidFill>
              <a:srgbClr val="EAF4F6"/>
            </a:solidFill>
            <a:ln>
              <a:noFill/>
            </a:ln>
          </p:spPr>
        </p:sp>
        <p:grpSp>
          <p:nvGrpSpPr>
            <p:cNvPr id="17" name="Group 17"/>
            <p:cNvGrpSpPr/>
            <p:nvPr/>
          </p:nvGrpSpPr>
          <p:grpSpPr>
            <a:xfrm>
              <a:off x="914400" y="2514600"/>
              <a:ext cx="419100" cy="419100"/>
              <a:chOff x="914400" y="2514600"/>
              <a:chExt cx="419100" cy="419100"/>
            </a:xfrm>
          </p:grpSpPr>
          <p:sp>
            <p:nvSpPr>
              <p:cNvPr id="14" name="Ellipse 14"/>
              <p:cNvSpPr/>
              <p:nvPr/>
            </p:nvSpPr>
            <p:spPr>
              <a:xfrm>
                <a:off x="914400" y="2514600"/>
                <a:ext cx="419100" cy="419100"/>
              </a:xfrm>
              <a:prstGeom prst="ellipse">
                <a:avLst/>
              </a:prstGeom>
              <a:solidFill>
                <a:srgbClr val="FFFFFF"/>
              </a:solidFill>
              <a:ln>
                <a:noFill/>
              </a:ln>
            </p:spPr>
          </p:sp>
          <p:sp>
            <p:nvSpPr>
              <p:cNvPr id="15" name="Rectangle 15"/>
              <p:cNvSpPr/>
              <p:nvPr/>
            </p:nvSpPr>
            <p:spPr>
              <a:xfrm>
                <a:off x="1009650" y="2647950"/>
                <a:ext cx="228600" cy="152400"/>
              </a:xfrm>
              <a:prstGeom prst="roundRect">
                <a:avLst>
                  <a:gd name="adj" fmla="val 12500"/>
                </a:avLst>
              </a:prstGeom>
              <a:noFill/>
              <a:ln w="17145">
                <a:solidFill>
                  <a:srgbClr val="12355B"/>
                </a:solidFill>
              </a:ln>
            </p:spPr>
          </p:sp>
          <p:sp>
            <p:nvSpPr>
              <p:cNvPr id="16" name="Ellipse 16"/>
              <p:cNvSpPr/>
              <p:nvPr/>
            </p:nvSpPr>
            <p:spPr>
              <a:xfrm>
                <a:off x="1076325" y="2676525"/>
                <a:ext cx="95250" cy="95250"/>
              </a:xfrm>
              <a:prstGeom prst="ellipse">
                <a:avLst/>
              </a:prstGeom>
              <a:noFill/>
              <a:ln w="17145">
                <a:solidFill>
                  <a:srgbClr val="12355B"/>
                </a:solidFill>
              </a:ln>
            </p:spPr>
          </p:sp>
        </p:grpSp>
        <p:sp>
          <p:nvSpPr>
            <p:cNvPr id="18" name="TextBox 18"/>
            <p:cNvSpPr txBox="1"/>
            <p:nvPr/>
          </p:nvSpPr>
          <p:spPr>
            <a:xfrm>
              <a:off x="1420749" y="2535079"/>
              <a:ext cx="482504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Benzetme: fabrikanın periyodik bakım planı</a:t>
              </a:r>
            </a:p>
          </p:txBody>
        </p:sp>
        <p:sp>
          <p:nvSpPr>
            <p:cNvPr id="19" name="TextBox 19"/>
            <p:cNvSpPr txBox="1"/>
            <p:nvPr/>
          </p:nvSpPr>
          <p:spPr>
            <a:xfrm>
              <a:off x="1422654" y="2823210"/>
              <a:ext cx="895078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Fabrika yalnızca açılış gününde test edilmez; sensörleri izlenir, arızalar kaydedilir ve bakım kayıtları tutulur.</a:t>
              </a:r>
            </a:p>
          </p:txBody>
        </p:sp>
      </p:grpSp>
      <p:grpSp>
        <p:nvGrpSpPr>
          <p:cNvPr id="29" name="mlops-why"/>
          <p:cNvGrpSpPr/>
          <p:nvPr/>
        </p:nvGrpSpPr>
        <p:grpSpPr>
          <a:xfrm>
            <a:off x="601599" y="3487579"/>
            <a:ext cx="4214241" cy="1932527"/>
            <a:chOff x="601599" y="3487579"/>
            <a:chExt cx="4214241" cy="1932527"/>
          </a:xfrm>
        </p:grpSpPr>
        <p:sp>
          <p:nvSpPr>
            <p:cNvPr id="21" name="TextBox 21"/>
            <p:cNvSpPr txBox="1"/>
            <p:nvPr/>
          </p:nvSpPr>
          <p:spPr>
            <a:xfrm>
              <a:off x="601599" y="3487579"/>
              <a:ext cx="156494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Neden vardır?</a:t>
              </a:r>
            </a:p>
          </p:txBody>
        </p:sp>
        <p:sp>
          <p:nvSpPr>
            <p:cNvPr id="22" name="TextBox 22"/>
            <p:cNvSpPr txBox="1"/>
            <p:nvPr/>
          </p:nvSpPr>
          <p:spPr>
            <a:xfrm>
              <a:off x="603504" y="3832860"/>
              <a:ext cx="376518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Elle dağıtılan modellerde model dosyası, eğitim</a:t>
              </a:r>
            </a:p>
          </p:txBody>
        </p:sp>
        <p:sp>
          <p:nvSpPr>
            <p:cNvPr id="23" name="TextBox 23"/>
            <p:cNvSpPr txBox="1"/>
            <p:nvPr/>
          </p:nvSpPr>
          <p:spPr>
            <a:xfrm>
              <a:off x="603504" y="4042410"/>
              <a:ext cx="412045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verisi ve başarı raporu birbirinden kopabilir. Yanlış</a:t>
              </a:r>
            </a:p>
          </p:txBody>
        </p:sp>
        <p:sp>
          <p:nvSpPr>
            <p:cNvPr id="24" name="TextBox 24"/>
            <p:cNvSpPr txBox="1"/>
            <p:nvPr/>
          </p:nvSpPr>
          <p:spPr>
            <a:xfrm>
              <a:off x="603504" y="4251960"/>
              <a:ext cx="388117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tahmin oluştuğunda hangi sürümün sorumlu olduğu</a:t>
              </a:r>
            </a:p>
          </p:txBody>
        </p:sp>
        <p:sp>
          <p:nvSpPr>
            <p:cNvPr id="25" name="TextBox 25"/>
            <p:cNvSpPr txBox="1"/>
            <p:nvPr/>
          </p:nvSpPr>
          <p:spPr>
            <a:xfrm>
              <a:off x="603504" y="4461510"/>
              <a:ext cx="102184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saptanamaz.</a:t>
              </a:r>
            </a:p>
          </p:txBody>
        </p:sp>
        <p:sp>
          <p:nvSpPr>
            <p:cNvPr id="26" name="TextBox 26"/>
            <p:cNvSpPr txBox="1"/>
            <p:nvPr/>
          </p:nvSpPr>
          <p:spPr>
            <a:xfrm>
              <a:off x="603504" y="4766310"/>
              <a:ext cx="40346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dataclasses yapılandırılmış kayıtları az tekrarla</a:t>
              </a:r>
            </a:p>
          </p:txBody>
        </p:sp>
        <p:sp>
          <p:nvSpPr>
            <p:cNvPr id="27" name="TextBox 27"/>
            <p:cNvSpPr txBox="1"/>
            <p:nvPr/>
          </p:nvSpPr>
          <p:spPr>
            <a:xfrm>
              <a:off x="603504" y="4975860"/>
              <a:ext cx="421233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tanımlar; pathlib dosya yollarını işletim sisteminden</a:t>
              </a:r>
            </a:p>
          </p:txBody>
        </p:sp>
        <p:sp>
          <p:nvSpPr>
            <p:cNvPr id="28" name="TextBox 28"/>
            <p:cNvSpPr txBox="1"/>
            <p:nvPr/>
          </p:nvSpPr>
          <p:spPr>
            <a:xfrm>
              <a:off x="603504" y="5185410"/>
              <a:ext cx="147416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bağımsız yönetir.</a:t>
              </a:r>
            </a:p>
          </p:txBody>
        </p:sp>
      </p:grpSp>
      <p:grpSp>
        <p:nvGrpSpPr>
          <p:cNvPr id="48" name="mlops-pillars"/>
          <p:cNvGrpSpPr/>
          <p:nvPr/>
        </p:nvGrpSpPr>
        <p:grpSpPr>
          <a:xfrm>
            <a:off x="6316599" y="3487579"/>
            <a:ext cx="4596356" cy="1665827"/>
            <a:chOff x="6316599" y="3487579"/>
            <a:chExt cx="4596356" cy="1665827"/>
          </a:xfrm>
        </p:grpSpPr>
        <p:sp>
          <p:nvSpPr>
            <p:cNvPr id="30" name="TextBox 30"/>
            <p:cNvSpPr txBox="1"/>
            <p:nvPr/>
          </p:nvSpPr>
          <p:spPr>
            <a:xfrm>
              <a:off x="6316599" y="3487579"/>
              <a:ext cx="162037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Üç temel sütun</a:t>
              </a:r>
            </a:p>
          </p:txBody>
        </p:sp>
        <p:grpSp>
          <p:nvGrpSpPr>
            <p:cNvPr id="34" name="icon-settings"/>
            <p:cNvGrpSpPr/>
            <p:nvPr/>
          </p:nvGrpSpPr>
          <p:grpSpPr>
            <a:xfrm>
              <a:off x="6324600" y="3790950"/>
              <a:ext cx="342900" cy="342900"/>
              <a:chOff x="6324600" y="3790950"/>
              <a:chExt cx="342900" cy="342900"/>
            </a:xfrm>
          </p:grpSpPr>
          <p:sp>
            <p:nvSpPr>
              <p:cNvPr id="31" name="Ellipse 31"/>
              <p:cNvSpPr/>
              <p:nvPr/>
            </p:nvSpPr>
            <p:spPr>
              <a:xfrm>
                <a:off x="6324600" y="3790950"/>
                <a:ext cx="342900" cy="342900"/>
              </a:xfrm>
              <a:prstGeom prst="ellipse">
                <a:avLst/>
              </a:prstGeom>
              <a:solidFill>
                <a:srgbClr val="EAF4F6"/>
              </a:solidFill>
              <a:ln>
                <a:noFill/>
              </a:ln>
            </p:spPr>
          </p:sp>
          <p:sp>
            <p:nvSpPr>
              <p:cNvPr id="32" name="Ellipse 32"/>
              <p:cNvSpPr/>
              <p:nvPr/>
            </p:nvSpPr>
            <p:spPr>
              <a:xfrm>
                <a:off x="6448425" y="3914775"/>
                <a:ext cx="95250" cy="95250"/>
              </a:xfrm>
              <a:prstGeom prst="ellipse">
                <a:avLst/>
              </a:prstGeom>
              <a:noFill/>
              <a:ln w="15240">
                <a:solidFill>
                  <a:srgbClr val="12355B"/>
                </a:solidFill>
              </a:ln>
            </p:spPr>
          </p:sp>
          <p:sp>
            <p:nvSpPr>
              <p:cNvPr id="33" name="Freeform 33"/>
              <p:cNvSpPr/>
              <p:nvPr/>
            </p:nvSpPr>
            <p:spPr>
              <a:xfrm>
                <a:off x="6400800" y="3867150"/>
                <a:ext cx="190500" cy="190500"/>
              </a:xfrm>
              <a:custGeom>
                <a:avLst/>
                <a:gdLst/>
                <a:ahLst/>
                <a:cxnLst/>
                <a:rect l="l" t="t" r="r" b="b"/>
                <a:pathLst>
                  <a:path w="190500" h="190500">
                    <a:moveTo>
                      <a:pt x="95250" y="0"/>
                    </a:moveTo>
                    <a:lnTo>
                      <a:pt x="95250" y="28575"/>
                    </a:lnTo>
                    <a:moveTo>
                      <a:pt x="95250" y="161925"/>
                    </a:moveTo>
                    <a:lnTo>
                      <a:pt x="95250" y="190500"/>
                    </a:lnTo>
                    <a:moveTo>
                      <a:pt x="0" y="95250"/>
                    </a:moveTo>
                    <a:lnTo>
                      <a:pt x="28575" y="95250"/>
                    </a:lnTo>
                    <a:moveTo>
                      <a:pt x="161925" y="95250"/>
                    </a:moveTo>
                    <a:lnTo>
                      <a:pt x="190500" y="95250"/>
                    </a:lnTo>
                    <a:moveTo>
                      <a:pt x="28575" y="28575"/>
                    </a:moveTo>
                    <a:lnTo>
                      <a:pt x="47625" y="47625"/>
                    </a:lnTo>
                    <a:moveTo>
                      <a:pt x="161925" y="161925"/>
                    </a:moveTo>
                    <a:lnTo>
                      <a:pt x="142875" y="142875"/>
                    </a:lnTo>
                    <a:moveTo>
                      <a:pt x="161925" y="28575"/>
                    </a:moveTo>
                    <a:lnTo>
                      <a:pt x="142875" y="47625"/>
                    </a:lnTo>
                    <a:moveTo>
                      <a:pt x="28575" y="161925"/>
                    </a:moveTo>
                    <a:lnTo>
                      <a:pt x="47625" y="142875"/>
                    </a:lnTo>
                  </a:path>
                </a:pathLst>
              </a:custGeom>
              <a:solidFill>
                <a:srgbClr val="000000"/>
              </a:solidFill>
              <a:ln w="15240" cap="rnd">
                <a:solidFill>
                  <a:srgbClr val="12355B"/>
                </a:solidFill>
              </a:ln>
            </p:spPr>
          </p:sp>
        </p:grpSp>
        <p:sp>
          <p:nvSpPr>
            <p:cNvPr id="35" name="TextBox 35"/>
            <p:cNvSpPr txBox="1"/>
            <p:nvPr/>
          </p:nvSpPr>
          <p:spPr>
            <a:xfrm>
              <a:off x="6775704" y="3775710"/>
              <a:ext cx="882701" cy="234696"/>
            </a:xfrm>
            <a:prstGeom prst="rect">
              <a:avLst/>
            </a:prstGeom>
            <a:noFill/>
            <a:ln>
              <a:noFill/>
            </a:ln>
          </p:spPr>
          <p:txBody>
            <a:bodyPr wrap="none" lIns="0" tIns="0" rIns="0" bIns="0" anchor="t" anchorCtr="0">
              <a:spAutoFit/>
            </a:bodyPr>
            <a:lstStyle/>
            <a:p>
              <a:pPr algn="l"/>
              <a:r>
                <a:rPr lang="tr-TR" sz="1200" b="1" dirty="0">
                  <a:solidFill>
                    <a:srgbClr val="172B3A"/>
                  </a:solidFill>
                  <a:latin typeface="+mn-lt"/>
                  <a:ea typeface="+mn-ea"/>
                  <a:cs typeface="+mn-cs"/>
                </a:rPr>
                <a:t>Sürümleme</a:t>
              </a:r>
            </a:p>
          </p:txBody>
        </p:sp>
        <p:sp>
          <p:nvSpPr>
            <p:cNvPr id="36" name="TextBox 36"/>
            <p:cNvSpPr txBox="1"/>
            <p:nvPr/>
          </p:nvSpPr>
          <p:spPr>
            <a:xfrm>
              <a:off x="6775704" y="3966210"/>
              <a:ext cx="320815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Model, veri ve kod aynı etikette izlenir.</a:t>
              </a:r>
            </a:p>
          </p:txBody>
        </p:sp>
        <p:grpSp>
          <p:nvGrpSpPr>
            <p:cNvPr id="40" name="icon-clock2"/>
            <p:cNvGrpSpPr/>
            <p:nvPr/>
          </p:nvGrpSpPr>
          <p:grpSpPr>
            <a:xfrm>
              <a:off x="6324600" y="4267200"/>
              <a:ext cx="342900" cy="342900"/>
              <a:chOff x="6324600" y="4267200"/>
              <a:chExt cx="342900" cy="342900"/>
            </a:xfrm>
          </p:grpSpPr>
          <p:sp>
            <p:nvSpPr>
              <p:cNvPr id="37" name="Ellipse 37"/>
              <p:cNvSpPr/>
              <p:nvPr/>
            </p:nvSpPr>
            <p:spPr>
              <a:xfrm>
                <a:off x="6324600" y="4267200"/>
                <a:ext cx="342900" cy="342900"/>
              </a:xfrm>
              <a:prstGeom prst="ellipse">
                <a:avLst/>
              </a:prstGeom>
              <a:solidFill>
                <a:srgbClr val="EAF4F6"/>
              </a:solidFill>
              <a:ln>
                <a:noFill/>
              </a:ln>
            </p:spPr>
          </p:sp>
          <p:sp>
            <p:nvSpPr>
              <p:cNvPr id="38" name="Ellipse 38"/>
              <p:cNvSpPr/>
              <p:nvPr/>
            </p:nvSpPr>
            <p:spPr>
              <a:xfrm>
                <a:off x="6391275" y="4333875"/>
                <a:ext cx="209550" cy="209550"/>
              </a:xfrm>
              <a:prstGeom prst="ellipse">
                <a:avLst/>
              </a:prstGeom>
              <a:noFill/>
              <a:ln w="15240">
                <a:solidFill>
                  <a:srgbClr val="12355B"/>
                </a:solidFill>
              </a:ln>
            </p:spPr>
          </p:sp>
          <p:sp>
            <p:nvSpPr>
              <p:cNvPr id="39" name="Freeform 39"/>
              <p:cNvSpPr/>
              <p:nvPr/>
            </p:nvSpPr>
            <p:spPr>
              <a:xfrm>
                <a:off x="6496050" y="4381500"/>
                <a:ext cx="38100" cy="85725"/>
              </a:xfrm>
              <a:custGeom>
                <a:avLst/>
                <a:gdLst/>
                <a:ahLst/>
                <a:cxnLst/>
                <a:rect l="l" t="t" r="r" b="b"/>
                <a:pathLst>
                  <a:path w="38100" h="85725">
                    <a:moveTo>
                      <a:pt x="0" y="0"/>
                    </a:moveTo>
                    <a:lnTo>
                      <a:pt x="0" y="57150"/>
                    </a:lnTo>
                    <a:lnTo>
                      <a:pt x="38100" y="85725"/>
                    </a:lnTo>
                  </a:path>
                </a:pathLst>
              </a:custGeom>
              <a:noFill/>
              <a:ln w="15240" cap="rnd">
                <a:solidFill>
                  <a:srgbClr val="12355B"/>
                </a:solidFill>
              </a:ln>
            </p:spPr>
          </p:sp>
        </p:grpSp>
        <p:sp>
          <p:nvSpPr>
            <p:cNvPr id="41" name="TextBox 41"/>
            <p:cNvSpPr txBox="1"/>
            <p:nvPr/>
          </p:nvSpPr>
          <p:spPr>
            <a:xfrm>
              <a:off x="6775704" y="4251960"/>
              <a:ext cx="568662" cy="234696"/>
            </a:xfrm>
            <a:prstGeom prst="rect">
              <a:avLst/>
            </a:prstGeom>
            <a:noFill/>
            <a:ln>
              <a:noFill/>
            </a:ln>
          </p:spPr>
          <p:txBody>
            <a:bodyPr wrap="none" lIns="0" tIns="0" rIns="0" bIns="0" anchor="t" anchorCtr="0">
              <a:spAutoFit/>
            </a:bodyPr>
            <a:lstStyle/>
            <a:p>
              <a:pPr algn="l"/>
              <a:r>
                <a:rPr lang="tr-TR" sz="1200" b="1" dirty="0">
                  <a:solidFill>
                    <a:srgbClr val="172B3A"/>
                  </a:solidFill>
                  <a:latin typeface="+mn-lt"/>
                  <a:ea typeface="+mn-ea"/>
                  <a:cs typeface="+mn-cs"/>
                </a:rPr>
                <a:t>İzleme</a:t>
              </a:r>
            </a:p>
          </p:txBody>
        </p:sp>
        <p:sp>
          <p:nvSpPr>
            <p:cNvPr id="42" name="TextBox 42"/>
            <p:cNvSpPr txBox="1"/>
            <p:nvPr/>
          </p:nvSpPr>
          <p:spPr>
            <a:xfrm>
              <a:off x="6775704" y="4442460"/>
              <a:ext cx="413725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Her tahmin, sürüm ve zaman damgasıyla kayıtlanır.</a:t>
              </a:r>
            </a:p>
          </p:txBody>
        </p:sp>
        <p:grpSp>
          <p:nvGrpSpPr>
            <p:cNvPr id="45" name="icon-arrow"/>
            <p:cNvGrpSpPr/>
            <p:nvPr/>
          </p:nvGrpSpPr>
          <p:grpSpPr>
            <a:xfrm>
              <a:off x="6324600" y="4743450"/>
              <a:ext cx="342900" cy="342900"/>
              <a:chOff x="6324600" y="4743450"/>
              <a:chExt cx="342900" cy="342900"/>
            </a:xfrm>
          </p:grpSpPr>
          <p:sp>
            <p:nvSpPr>
              <p:cNvPr id="43" name="Ellipse 43"/>
              <p:cNvSpPr/>
              <p:nvPr/>
            </p:nvSpPr>
            <p:spPr>
              <a:xfrm>
                <a:off x="6324600" y="4743450"/>
                <a:ext cx="342900" cy="342900"/>
              </a:xfrm>
              <a:prstGeom prst="ellipse">
                <a:avLst/>
              </a:prstGeom>
              <a:solidFill>
                <a:srgbClr val="EAF4F6"/>
              </a:solidFill>
              <a:ln>
                <a:noFill/>
              </a:ln>
            </p:spPr>
          </p:sp>
          <p:sp>
            <p:nvSpPr>
              <p:cNvPr id="44" name="Freeform 44"/>
              <p:cNvSpPr/>
              <p:nvPr/>
            </p:nvSpPr>
            <p:spPr>
              <a:xfrm>
                <a:off x="6477000" y="4857750"/>
                <a:ext cx="76200" cy="114300"/>
              </a:xfrm>
              <a:custGeom>
                <a:avLst/>
                <a:gdLst/>
                <a:ahLst/>
                <a:cxnLst/>
                <a:rect l="l" t="t" r="r" b="b"/>
                <a:pathLst>
                  <a:path w="76200" h="114300">
                    <a:moveTo>
                      <a:pt x="76200" y="0"/>
                    </a:moveTo>
                    <a:lnTo>
                      <a:pt x="0" y="57150"/>
                    </a:lnTo>
                    <a:lnTo>
                      <a:pt x="76200" y="114300"/>
                    </a:lnTo>
                  </a:path>
                </a:pathLst>
              </a:custGeom>
              <a:noFill/>
              <a:ln w="17145" cap="rnd">
                <a:solidFill>
                  <a:srgbClr val="12355B"/>
                </a:solidFill>
                <a:round/>
              </a:ln>
            </p:spPr>
          </p:sp>
        </p:grpSp>
        <p:sp>
          <p:nvSpPr>
            <p:cNvPr id="46" name="TextBox 46"/>
            <p:cNvSpPr txBox="1"/>
            <p:nvPr/>
          </p:nvSpPr>
          <p:spPr>
            <a:xfrm>
              <a:off x="6775704" y="4728210"/>
              <a:ext cx="763806" cy="234696"/>
            </a:xfrm>
            <a:prstGeom prst="rect">
              <a:avLst/>
            </a:prstGeom>
            <a:noFill/>
            <a:ln>
              <a:noFill/>
            </a:ln>
          </p:spPr>
          <p:txBody>
            <a:bodyPr wrap="none" lIns="0" tIns="0" rIns="0" bIns="0" anchor="t" anchorCtr="0">
              <a:spAutoFit/>
            </a:bodyPr>
            <a:lstStyle/>
            <a:p>
              <a:pPr algn="l"/>
              <a:r>
                <a:rPr lang="tr-TR" sz="1200" b="1" dirty="0">
                  <a:solidFill>
                    <a:srgbClr val="172B3A"/>
                  </a:solidFill>
                  <a:latin typeface="+mn-lt"/>
                  <a:ea typeface="+mn-ea"/>
                  <a:cs typeface="+mn-cs"/>
                </a:rPr>
                <a:t>Geri alma</a:t>
              </a:r>
            </a:p>
          </p:txBody>
        </p:sp>
        <p:sp>
          <p:nvSpPr>
            <p:cNvPr id="47" name="TextBox 47"/>
            <p:cNvSpPr txBox="1"/>
            <p:nvPr/>
          </p:nvSpPr>
          <p:spPr>
            <a:xfrm>
              <a:off x="6775704" y="4918710"/>
              <a:ext cx="391849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Bozulma tespit edilince önceki sürüme dönülebilir.</a:t>
              </a:r>
            </a:p>
          </p:txBody>
        </p:sp>
      </p:grpSp>
      <p:sp>
        <p:nvSpPr>
          <p:cNvPr id="49" name="TextBox 4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 / 25</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6019036" cy="668845"/>
            <a:chOff x="609600" y="171450"/>
            <a:chExt cx="6019036"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47712" y="349277"/>
                <a:ext cx="295275" cy="196565"/>
              </a:xfrm>
              <a:custGeom>
                <a:avLst/>
                <a:gdLst/>
                <a:ahLst/>
                <a:cxnLst/>
                <a:rect l="l" t="t" r="r" b="b"/>
                <a:pathLst>
                  <a:path w="295275" h="196565">
                    <a:moveTo>
                      <a:pt x="68755" y="196506"/>
                    </a:moveTo>
                    <a:cubicBezTo>
                      <a:pt x="30782" y="196506"/>
                      <a:pt x="0" y="166875"/>
                      <a:pt x="0" y="130320"/>
                    </a:cubicBezTo>
                    <a:cubicBezTo>
                      <a:pt x="0" y="93779"/>
                      <a:pt x="30782" y="64148"/>
                      <a:pt x="68755" y="64148"/>
                    </a:cubicBezTo>
                    <a:cubicBezTo>
                      <a:pt x="74557" y="38135"/>
                      <a:pt x="95241" y="16904"/>
                      <a:pt x="123012" y="8445"/>
                    </a:cubicBezTo>
                    <a:cubicBezTo>
                      <a:pt x="150767" y="0"/>
                      <a:pt x="181417" y="5595"/>
                      <a:pt x="203385" y="23209"/>
                    </a:cubicBezTo>
                    <a:cubicBezTo>
                      <a:pt x="225354" y="40777"/>
                      <a:pt x="235305" y="67603"/>
                      <a:pt x="229517" y="93617"/>
                    </a:cubicBezTo>
                    <a:lnTo>
                      <a:pt x="244133" y="93617"/>
                    </a:lnTo>
                    <a:cubicBezTo>
                      <a:pt x="272376" y="93617"/>
                      <a:pt x="295275" y="116648"/>
                      <a:pt x="295275" y="145083"/>
                    </a:cubicBezTo>
                    <a:cubicBezTo>
                      <a:pt x="295275" y="173533"/>
                      <a:pt x="272376" y="196565"/>
                      <a:pt x="244119" y="196565"/>
                    </a:cubicBezTo>
                    <a:lnTo>
                      <a:pt x="68755" y="196565"/>
                    </a:lnTo>
                  </a:path>
                </a:pathLst>
              </a:custGeom>
              <a:noFill/>
              <a:ln w="24759" cap="rnd">
                <a:solidFill>
                  <a:srgbClr val="FFFFFF"/>
                </a:solidFill>
                <a:round/>
              </a:ln>
            </p:spPr>
          </p:sp>
        </p:grpSp>
        <p:sp>
          <p:nvSpPr>
            <p:cNvPr id="7" name="TextBox 7"/>
            <p:cNvSpPr txBox="1"/>
            <p:nvPr/>
          </p:nvSpPr>
          <p:spPr>
            <a:xfrm>
              <a:off x="1299972" y="282892"/>
              <a:ext cx="532866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MLOps: model izleme kaydı</a:t>
              </a:r>
            </a:p>
          </p:txBody>
        </p:sp>
      </p:grpSp>
      <p:grpSp>
        <p:nvGrpSpPr>
          <p:cNvPr id="25" name="code-panel"/>
          <p:cNvGrpSpPr/>
          <p:nvPr/>
        </p:nvGrpSpPr>
        <p:grpSpPr>
          <a:xfrm>
            <a:off x="609600" y="1219200"/>
            <a:ext cx="6286500" cy="4495800"/>
            <a:chOff x="609600" y="1219200"/>
            <a:chExt cx="6286500" cy="4495800"/>
          </a:xfrm>
        </p:grpSpPr>
        <p:sp>
          <p:nvSpPr>
            <p:cNvPr id="9" name="Rectangle 9"/>
            <p:cNvSpPr/>
            <p:nvPr/>
          </p:nvSpPr>
          <p:spPr>
            <a:xfrm>
              <a:off x="609600" y="1219200"/>
              <a:ext cx="6286500" cy="4495800"/>
            </a:xfrm>
            <a:prstGeom prst="roundRect">
              <a:avLst>
                <a:gd name="adj" fmla="val 2119"/>
              </a:avLst>
            </a:prstGeom>
            <a:solidFill>
              <a:srgbClr val="12355B"/>
            </a:solidFill>
            <a:ln>
              <a:noFill/>
            </a:ln>
          </p:spPr>
        </p:sp>
        <p:sp>
          <p:nvSpPr>
            <p:cNvPr id="10" name="TextBox 10"/>
            <p:cNvSpPr txBox="1"/>
            <p:nvPr/>
          </p:nvSpPr>
          <p:spPr>
            <a:xfrm>
              <a:off x="851154" y="1432560"/>
              <a:ext cx="3832708"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def tahmin_kaydi_ekle(musteri_no, olasilik,</a:t>
              </a:r>
            </a:p>
          </p:txBody>
        </p:sp>
        <p:sp>
          <p:nvSpPr>
            <p:cNvPr id="11" name="TextBox 11"/>
            <p:cNvSpPr txBox="1"/>
            <p:nvPr/>
          </p:nvSpPr>
          <p:spPr>
            <a:xfrm>
              <a:off x="1041654" y="1680210"/>
              <a:ext cx="1974251"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model_surumu) -&gt; None:</a:t>
              </a:r>
            </a:p>
          </p:txBody>
        </p:sp>
        <p:sp>
          <p:nvSpPr>
            <p:cNvPr id="12" name="TextBox 12"/>
            <p:cNvSpPr txBox="1"/>
            <p:nvPr/>
          </p:nvSpPr>
          <p:spPr>
            <a:xfrm>
              <a:off x="1041654" y="1985010"/>
              <a:ext cx="81183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kayit = {</a:t>
              </a:r>
            </a:p>
          </p:txBody>
        </p:sp>
        <p:sp>
          <p:nvSpPr>
            <p:cNvPr id="13" name="TextBox 13"/>
            <p:cNvSpPr txBox="1"/>
            <p:nvPr/>
          </p:nvSpPr>
          <p:spPr>
            <a:xfrm>
              <a:off x="1232154" y="2232660"/>
              <a:ext cx="223342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"musteri_no": musteri_no,</a:t>
              </a:r>
            </a:p>
          </p:txBody>
        </p:sp>
        <p:sp>
          <p:nvSpPr>
            <p:cNvPr id="14" name="TextBox 14"/>
            <p:cNvSpPr txBox="1"/>
            <p:nvPr/>
          </p:nvSpPr>
          <p:spPr>
            <a:xfrm>
              <a:off x="1232154" y="2480310"/>
              <a:ext cx="338846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"kayip_olasiligi": round(olasilik, 3),</a:t>
              </a:r>
            </a:p>
          </p:txBody>
        </p:sp>
        <p:sp>
          <p:nvSpPr>
            <p:cNvPr id="15" name="TextBox 15"/>
            <p:cNvSpPr txBox="1"/>
            <p:nvPr/>
          </p:nvSpPr>
          <p:spPr>
            <a:xfrm>
              <a:off x="1232154" y="2727960"/>
              <a:ext cx="258881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"model_surumu": model_surumu,</a:t>
              </a:r>
            </a:p>
          </p:txBody>
        </p:sp>
        <p:sp>
          <p:nvSpPr>
            <p:cNvPr id="16" name="TextBox 16"/>
            <p:cNvSpPr txBox="1"/>
            <p:nvPr/>
          </p:nvSpPr>
          <p:spPr>
            <a:xfrm>
              <a:off x="1232154" y="2975610"/>
              <a:ext cx="3121914"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"zaman": datetime.now(timezone.utc)</a:t>
              </a:r>
            </a:p>
          </p:txBody>
        </p:sp>
        <p:sp>
          <p:nvSpPr>
            <p:cNvPr id="17" name="TextBox 17"/>
            <p:cNvSpPr txBox="1"/>
            <p:nvPr/>
          </p:nvSpPr>
          <p:spPr>
            <a:xfrm>
              <a:off x="1041654" y="3223260"/>
              <a:ext cx="10104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a:t>
              </a:r>
            </a:p>
          </p:txBody>
        </p:sp>
        <p:sp>
          <p:nvSpPr>
            <p:cNvPr id="18" name="TextBox 18"/>
            <p:cNvSpPr txBox="1"/>
            <p:nvPr/>
          </p:nvSpPr>
          <p:spPr>
            <a:xfrm>
              <a:off x="1041654" y="3528060"/>
              <a:ext cx="375045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gunluk_yolu = Path("tahmin_gunlugu.jsonl")</a:t>
              </a:r>
            </a:p>
          </p:txBody>
        </p:sp>
        <p:sp>
          <p:nvSpPr>
            <p:cNvPr id="19" name="TextBox 19"/>
            <p:cNvSpPr txBox="1"/>
            <p:nvPr/>
          </p:nvSpPr>
          <p:spPr>
            <a:xfrm>
              <a:off x="1041654" y="3775710"/>
              <a:ext cx="3210763"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with gunluk_yolu.open("a") as dosya:</a:t>
              </a:r>
            </a:p>
          </p:txBody>
        </p:sp>
        <p:sp>
          <p:nvSpPr>
            <p:cNvPr id="20" name="TextBox 20"/>
            <p:cNvSpPr txBox="1"/>
            <p:nvPr/>
          </p:nvSpPr>
          <p:spPr>
            <a:xfrm>
              <a:off x="1232154" y="4023360"/>
              <a:ext cx="329961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dosya.write(json.dumps(kayit) + "\n")</a:t>
              </a:r>
            </a:p>
          </p:txBody>
        </p:sp>
        <p:sp>
          <p:nvSpPr>
            <p:cNvPr id="21" name="TextBox 21"/>
            <p:cNvSpPr txBox="1"/>
            <p:nvPr/>
          </p:nvSpPr>
          <p:spPr>
            <a:xfrm>
              <a:off x="851154" y="4366260"/>
              <a:ext cx="304375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tahmin_kaydi_ekle("M-1042", 0.782,</a:t>
              </a:r>
            </a:p>
          </p:txBody>
        </p:sp>
        <p:sp>
          <p:nvSpPr>
            <p:cNvPr id="22" name="TextBox 22"/>
            <p:cNvSpPr txBox="1"/>
            <p:nvPr/>
          </p:nvSpPr>
          <p:spPr>
            <a:xfrm>
              <a:off x="1041654" y="4613910"/>
              <a:ext cx="1611478"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"churn-xgb-1.2.0")</a:t>
              </a:r>
            </a:p>
          </p:txBody>
        </p:sp>
        <p:sp>
          <p:nvSpPr>
            <p:cNvPr id="23" name="Line 23"/>
            <p:cNvSpPr/>
            <p:nvPr/>
          </p:nvSpPr>
          <p:spPr>
            <a:xfrm>
              <a:off x="857250" y="4933950"/>
              <a:ext cx="5753100" cy="9525"/>
            </a:xfrm>
            <a:custGeom>
              <a:avLst/>
              <a:gdLst/>
              <a:ahLst/>
              <a:cxnLst/>
              <a:rect l="l" t="t" r="r" b="b"/>
              <a:pathLst>
                <a:path w="5753100" h="9525">
                  <a:moveTo>
                    <a:pt x="0" y="0"/>
                  </a:moveTo>
                  <a:lnTo>
                    <a:pt x="5753100" y="0"/>
                  </a:lnTo>
                </a:path>
              </a:pathLst>
            </a:custGeom>
            <a:noFill/>
            <a:ln w="9525">
              <a:solidFill>
                <a:srgbClr val="2E86AB"/>
              </a:solidFill>
            </a:ln>
          </p:spPr>
        </p:sp>
        <p:sp>
          <p:nvSpPr>
            <p:cNvPr id="24" name="TextBox 24"/>
            <p:cNvSpPr txBox="1"/>
            <p:nvPr/>
          </p:nvSpPr>
          <p:spPr>
            <a:xfrm>
              <a:off x="851154" y="5071110"/>
              <a:ext cx="3041614"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&gt;&gt;&gt; Kayıt eklendi: churn-xgb-1.2.0</a:t>
              </a:r>
            </a:p>
          </p:txBody>
        </p:sp>
      </p:grpSp>
      <p:grpSp>
        <p:nvGrpSpPr>
          <p:cNvPr id="34" name="code-explain"/>
          <p:cNvGrpSpPr/>
          <p:nvPr/>
        </p:nvGrpSpPr>
        <p:grpSpPr>
          <a:xfrm>
            <a:off x="7116699" y="1353979"/>
            <a:ext cx="3980002" cy="2046827"/>
            <a:chOff x="7116699" y="1353979"/>
            <a:chExt cx="3980002" cy="2046827"/>
          </a:xfrm>
        </p:grpSpPr>
        <p:sp>
          <p:nvSpPr>
            <p:cNvPr id="26" name="TextBox 26"/>
            <p:cNvSpPr txBox="1"/>
            <p:nvPr/>
          </p:nvSpPr>
          <p:spPr>
            <a:xfrm>
              <a:off x="7116699" y="1353979"/>
              <a:ext cx="250281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Bu çıktı ne anlatıyor?</a:t>
              </a:r>
            </a:p>
          </p:txBody>
        </p:sp>
        <p:sp>
          <p:nvSpPr>
            <p:cNvPr id="27" name="TextBox 27"/>
            <p:cNvSpPr txBox="1"/>
            <p:nvPr/>
          </p:nvSpPr>
          <p:spPr>
            <a:xfrm>
              <a:off x="7118604" y="1718310"/>
              <a:ext cx="281780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 xml:space="preserve">Sözlükteki </a:t>
              </a:r>
              <a:r>
                <a:rPr lang="tr-TR" sz="1200" b="1" dirty="0">
                  <a:solidFill>
                    <a:srgbClr val="172B3A"/>
                  </a:solidFill>
                  <a:latin typeface="+mn-lt"/>
                  <a:ea typeface="+mn-ea"/>
                  <a:cs typeface="+mn-cs"/>
                </a:rPr>
                <a:t>model_surumu</a:t>
              </a:r>
              <a:r>
                <a:rPr lang="tr-TR" sz="1200" dirty="0">
                  <a:solidFill>
                    <a:srgbClr val="172B3A"/>
                  </a:solidFill>
                  <a:latin typeface="+mn-lt"/>
                  <a:ea typeface="+mn-ea"/>
                  <a:cs typeface="+mn-cs"/>
                </a:rPr>
                <a:t>, tahminin</a:t>
              </a:r>
            </a:p>
          </p:txBody>
        </p:sp>
        <p:sp>
          <p:nvSpPr>
            <p:cNvPr id="28" name="TextBox 28"/>
            <p:cNvSpPr txBox="1"/>
            <p:nvPr/>
          </p:nvSpPr>
          <p:spPr>
            <a:xfrm>
              <a:off x="7118604" y="1927860"/>
              <a:ext cx="178917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izlenebilirliğini sağlar.</a:t>
              </a:r>
            </a:p>
          </p:txBody>
        </p:sp>
        <p:sp>
          <p:nvSpPr>
            <p:cNvPr id="29" name="TextBox 29"/>
            <p:cNvSpPr txBox="1"/>
            <p:nvPr/>
          </p:nvSpPr>
          <p:spPr>
            <a:xfrm>
              <a:off x="7118604" y="2232660"/>
              <a:ext cx="3120299" cy="234696"/>
            </a:xfrm>
            <a:prstGeom prst="rect">
              <a:avLst/>
            </a:prstGeom>
            <a:noFill/>
            <a:ln>
              <a:noFill/>
            </a:ln>
          </p:spPr>
          <p:txBody>
            <a:bodyPr wrap="none" lIns="0" tIns="0" rIns="0" bIns="0" anchor="t" anchorCtr="0">
              <a:spAutoFit/>
            </a:bodyPr>
            <a:lstStyle/>
            <a:p>
              <a:pPr algn="l"/>
              <a:r>
                <a:rPr lang="tr-TR" sz="1200" b="1" dirty="0">
                  <a:solidFill>
                    <a:srgbClr val="172B3A"/>
                  </a:solidFill>
                  <a:latin typeface="+mn-lt"/>
                  <a:ea typeface="+mn-ea"/>
                  <a:cs typeface="+mn-cs"/>
                </a:rPr>
                <a:t>.jsonl</a:t>
              </a:r>
              <a:r>
                <a:rPr lang="tr-TR" sz="1200" dirty="0">
                  <a:solidFill>
                    <a:srgbClr val="172B3A"/>
                  </a:solidFill>
                  <a:latin typeface="+mn-lt"/>
                  <a:ea typeface="+mn-ea"/>
                  <a:cs typeface="+mn-cs"/>
                </a:rPr>
                <a:t xml:space="preserve"> biçiminde her satır bağımsız bir</a:t>
              </a:r>
            </a:p>
          </p:txBody>
        </p:sp>
        <p:sp>
          <p:nvSpPr>
            <p:cNvPr id="30" name="TextBox 30"/>
            <p:cNvSpPr txBox="1"/>
            <p:nvPr/>
          </p:nvSpPr>
          <p:spPr>
            <a:xfrm>
              <a:off x="7118604" y="2442210"/>
              <a:ext cx="342595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JSON kaydıdır; büyük günlüklerin sonradan</a:t>
              </a:r>
            </a:p>
          </p:txBody>
        </p:sp>
        <p:sp>
          <p:nvSpPr>
            <p:cNvPr id="31" name="TextBox 31"/>
            <p:cNvSpPr txBox="1"/>
            <p:nvPr/>
          </p:nvSpPr>
          <p:spPr>
            <a:xfrm>
              <a:off x="7118604" y="2651760"/>
              <a:ext cx="207187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işlenmesini kolaylaştırır.</a:t>
              </a:r>
            </a:p>
          </p:txBody>
        </p:sp>
        <p:sp>
          <p:nvSpPr>
            <p:cNvPr id="32" name="TextBox 32"/>
            <p:cNvSpPr txBox="1"/>
            <p:nvPr/>
          </p:nvSpPr>
          <p:spPr>
            <a:xfrm>
              <a:off x="7118604" y="2956560"/>
              <a:ext cx="3085155" cy="234696"/>
            </a:xfrm>
            <a:prstGeom prst="rect">
              <a:avLst/>
            </a:prstGeom>
            <a:noFill/>
            <a:ln>
              <a:noFill/>
            </a:ln>
          </p:spPr>
          <p:txBody>
            <a:bodyPr wrap="none" lIns="0" tIns="0" rIns="0" bIns="0" anchor="t" anchorCtr="0">
              <a:spAutoFit/>
            </a:bodyPr>
            <a:lstStyle/>
            <a:p>
              <a:pPr algn="l"/>
              <a:r>
                <a:rPr lang="tr-TR" sz="1200" b="1" dirty="0">
                  <a:solidFill>
                    <a:srgbClr val="172B3A"/>
                  </a:solidFill>
                  <a:latin typeface="+mn-lt"/>
                  <a:ea typeface="+mn-ea"/>
                  <a:cs typeface="+mn-cs"/>
                </a:rPr>
                <a:t>UTC zaman damgası</a:t>
              </a:r>
              <a:r>
                <a:rPr lang="tr-TR" sz="1200" dirty="0">
                  <a:solidFill>
                    <a:srgbClr val="172B3A"/>
                  </a:solidFill>
                  <a:latin typeface="+mn-lt"/>
                  <a:ea typeface="+mn-ea"/>
                  <a:cs typeface="+mn-cs"/>
                </a:rPr>
                <a:t>, farklı bölgelerde</a:t>
              </a:r>
            </a:p>
          </p:txBody>
        </p:sp>
        <p:sp>
          <p:nvSpPr>
            <p:cNvPr id="33" name="TextBox 33"/>
            <p:cNvSpPr txBox="1"/>
            <p:nvPr/>
          </p:nvSpPr>
          <p:spPr>
            <a:xfrm>
              <a:off x="7118604" y="3166110"/>
              <a:ext cx="397809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çalışan sistemlerde zaman karışıklığını azaltır.</a:t>
              </a:r>
            </a:p>
          </p:txBody>
        </p:sp>
      </p:grpSp>
      <p:grpSp>
        <p:nvGrpSpPr>
          <p:cNvPr id="40" name="code-note"/>
          <p:cNvGrpSpPr/>
          <p:nvPr/>
        </p:nvGrpSpPr>
        <p:grpSpPr>
          <a:xfrm>
            <a:off x="7124700" y="4572000"/>
            <a:ext cx="4457700" cy="1143000"/>
            <a:chOff x="7124700" y="4572000"/>
            <a:chExt cx="4457700" cy="1143000"/>
          </a:xfrm>
        </p:grpSpPr>
        <p:sp>
          <p:nvSpPr>
            <p:cNvPr id="35" name="Rectangle 35"/>
            <p:cNvSpPr/>
            <p:nvPr/>
          </p:nvSpPr>
          <p:spPr>
            <a:xfrm>
              <a:off x="7124700" y="4572000"/>
              <a:ext cx="4457700" cy="1143000"/>
            </a:xfrm>
            <a:prstGeom prst="roundRect">
              <a:avLst>
                <a:gd name="adj" fmla="val 6667"/>
              </a:avLst>
            </a:prstGeom>
            <a:solidFill>
              <a:srgbClr val="EAF4F6"/>
            </a:solidFill>
            <a:ln>
              <a:noFill/>
            </a:ln>
          </p:spPr>
        </p:sp>
        <p:sp>
          <p:nvSpPr>
            <p:cNvPr id="36" name="TextBox 36"/>
            <p:cNvSpPr txBox="1"/>
            <p:nvPr/>
          </p:nvSpPr>
          <p:spPr>
            <a:xfrm>
              <a:off x="7347204" y="4747260"/>
              <a:ext cx="1094829"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Amaç ve girdi</a:t>
              </a:r>
            </a:p>
          </p:txBody>
        </p:sp>
        <p:sp>
          <p:nvSpPr>
            <p:cNvPr id="37" name="TextBox 37"/>
            <p:cNvSpPr txBox="1"/>
            <p:nvPr/>
          </p:nvSpPr>
          <p:spPr>
            <a:xfrm>
              <a:off x="7347204" y="4994910"/>
              <a:ext cx="308713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Tek bir müşteri tahminini (musteri_no,</a:t>
              </a:r>
            </a:p>
          </p:txBody>
        </p:sp>
        <p:sp>
          <p:nvSpPr>
            <p:cNvPr id="38" name="TextBox 38"/>
            <p:cNvSpPr txBox="1"/>
            <p:nvPr/>
          </p:nvSpPr>
          <p:spPr>
            <a:xfrm>
              <a:off x="7347204" y="5204460"/>
              <a:ext cx="315422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olasilik, model_surumu) sürüm ve zaman</a:t>
              </a:r>
            </a:p>
          </p:txBody>
        </p:sp>
        <p:sp>
          <p:nvSpPr>
            <p:cNvPr id="39" name="TextBox 39"/>
            <p:cNvSpPr txBox="1"/>
            <p:nvPr/>
          </p:nvSpPr>
          <p:spPr>
            <a:xfrm>
              <a:off x="7347204" y="5414010"/>
              <a:ext cx="249189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damgasıyla günlüğe kaydetmek.</a:t>
              </a:r>
            </a:p>
          </p:txBody>
        </p:sp>
      </p:gr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 / 25</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6622273" cy="668845"/>
            <a:chOff x="609600" y="171450"/>
            <a:chExt cx="6622273"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47712" y="349277"/>
                <a:ext cx="295275" cy="196565"/>
              </a:xfrm>
              <a:custGeom>
                <a:avLst/>
                <a:gdLst/>
                <a:ahLst/>
                <a:cxnLst/>
                <a:rect l="l" t="t" r="r" b="b"/>
                <a:pathLst>
                  <a:path w="295275" h="196565">
                    <a:moveTo>
                      <a:pt x="68755" y="196506"/>
                    </a:moveTo>
                    <a:cubicBezTo>
                      <a:pt x="30782" y="196506"/>
                      <a:pt x="0" y="166875"/>
                      <a:pt x="0" y="130320"/>
                    </a:cubicBezTo>
                    <a:cubicBezTo>
                      <a:pt x="0" y="93779"/>
                      <a:pt x="30782" y="64148"/>
                      <a:pt x="68755" y="64148"/>
                    </a:cubicBezTo>
                    <a:cubicBezTo>
                      <a:pt x="74557" y="38135"/>
                      <a:pt x="95241" y="16904"/>
                      <a:pt x="123012" y="8445"/>
                    </a:cubicBezTo>
                    <a:cubicBezTo>
                      <a:pt x="150767" y="0"/>
                      <a:pt x="181417" y="5595"/>
                      <a:pt x="203385" y="23209"/>
                    </a:cubicBezTo>
                    <a:cubicBezTo>
                      <a:pt x="225354" y="40777"/>
                      <a:pt x="235305" y="67603"/>
                      <a:pt x="229517" y="93617"/>
                    </a:cubicBezTo>
                    <a:lnTo>
                      <a:pt x="244133" y="93617"/>
                    </a:lnTo>
                    <a:cubicBezTo>
                      <a:pt x="272376" y="93617"/>
                      <a:pt x="295275" y="116648"/>
                      <a:pt x="295275" y="145083"/>
                    </a:cubicBezTo>
                    <a:cubicBezTo>
                      <a:pt x="295275" y="173533"/>
                      <a:pt x="272376" y="196565"/>
                      <a:pt x="244119" y="196565"/>
                    </a:cubicBezTo>
                    <a:lnTo>
                      <a:pt x="68755" y="196565"/>
                    </a:lnTo>
                  </a:path>
                </a:pathLst>
              </a:custGeom>
              <a:noFill/>
              <a:ln w="24759" cap="rnd">
                <a:solidFill>
                  <a:srgbClr val="FFFFFF"/>
                </a:solidFill>
                <a:round/>
              </a:ln>
            </p:spPr>
          </p:sp>
        </p:grpSp>
        <p:sp>
          <p:nvSpPr>
            <p:cNvPr id="7" name="TextBox 7"/>
            <p:cNvSpPr txBox="1"/>
            <p:nvPr/>
          </p:nvSpPr>
          <p:spPr>
            <a:xfrm>
              <a:off x="1299972" y="282892"/>
              <a:ext cx="593190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MLOps: seçenekler ve hatalar</a:t>
              </a:r>
            </a:p>
          </p:txBody>
        </p:sp>
      </p:grpSp>
      <p:grpSp>
        <p:nvGrpSpPr>
          <p:cNvPr id="32" name="option-table"/>
          <p:cNvGrpSpPr/>
          <p:nvPr/>
        </p:nvGrpSpPr>
        <p:grpSpPr>
          <a:xfrm>
            <a:off x="609600" y="1219200"/>
            <a:ext cx="10972800" cy="2505456"/>
            <a:chOff x="609600" y="1219200"/>
            <a:chExt cx="10972800" cy="2505456"/>
          </a:xfrm>
        </p:grpSpPr>
        <p:sp>
          <p:nvSpPr>
            <p:cNvPr id="9" name="Rectangle 9"/>
            <p:cNvSpPr/>
            <p:nvPr/>
          </p:nvSpPr>
          <p:spPr>
            <a:xfrm>
              <a:off x="609600" y="1219200"/>
              <a:ext cx="10972800" cy="381000"/>
            </a:xfrm>
            <a:prstGeom prst="rect">
              <a:avLst/>
            </a:prstGeom>
            <a:solidFill>
              <a:srgbClr val="12355B"/>
            </a:solidFill>
            <a:ln>
              <a:noFill/>
            </a:ln>
          </p:spPr>
        </p:sp>
        <p:sp>
          <p:nvSpPr>
            <p:cNvPr id="10" name="TextBox 10"/>
            <p:cNvSpPr txBox="1"/>
            <p:nvPr/>
          </p:nvSpPr>
          <p:spPr>
            <a:xfrm>
              <a:off x="832104" y="1337310"/>
              <a:ext cx="702198"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SEÇENEK</a:t>
              </a:r>
            </a:p>
          </p:txBody>
        </p:sp>
        <p:sp>
          <p:nvSpPr>
            <p:cNvPr id="11" name="TextBox 11"/>
            <p:cNvSpPr txBox="1"/>
            <p:nvPr/>
          </p:nvSpPr>
          <p:spPr>
            <a:xfrm>
              <a:off x="4375404" y="1337310"/>
              <a:ext cx="1392204"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İZLENEBİLİRLİK</a:t>
              </a:r>
            </a:p>
          </p:txBody>
        </p:sp>
        <p:sp>
          <p:nvSpPr>
            <p:cNvPr id="12" name="TextBox 12"/>
            <p:cNvSpPr txBox="1"/>
            <p:nvPr/>
          </p:nvSpPr>
          <p:spPr>
            <a:xfrm>
              <a:off x="7232904" y="1337310"/>
              <a:ext cx="406481"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RİSK</a:t>
              </a:r>
            </a:p>
          </p:txBody>
        </p:sp>
        <p:sp>
          <p:nvSpPr>
            <p:cNvPr id="13" name="TextBox 13"/>
            <p:cNvSpPr txBox="1"/>
            <p:nvPr/>
          </p:nvSpPr>
          <p:spPr>
            <a:xfrm>
              <a:off x="9137904" y="1337310"/>
              <a:ext cx="603626"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TERCİH</a:t>
              </a:r>
            </a:p>
          </p:txBody>
        </p:sp>
        <p:sp>
          <p:nvSpPr>
            <p:cNvPr id="14" name="TextBox 14"/>
            <p:cNvSpPr txBox="1"/>
            <p:nvPr/>
          </p:nvSpPr>
          <p:spPr>
            <a:xfrm>
              <a:off x="830199" y="1734979"/>
              <a:ext cx="249083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Dosyayı elle kopyalama</a:t>
              </a:r>
            </a:p>
          </p:txBody>
        </p:sp>
        <p:sp>
          <p:nvSpPr>
            <p:cNvPr id="15" name="TextBox 15"/>
            <p:cNvSpPr txBox="1"/>
            <p:nvPr/>
          </p:nvSpPr>
          <p:spPr>
            <a:xfrm>
              <a:off x="4375404" y="1775460"/>
              <a:ext cx="46146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Düşük</a:t>
              </a:r>
            </a:p>
          </p:txBody>
        </p:sp>
        <p:sp>
          <p:nvSpPr>
            <p:cNvPr id="16" name="TextBox 16"/>
            <p:cNvSpPr txBox="1"/>
            <p:nvPr/>
          </p:nvSpPr>
          <p:spPr>
            <a:xfrm>
              <a:off x="7232904" y="1775460"/>
              <a:ext cx="550316" cy="234696"/>
            </a:xfrm>
            <a:prstGeom prst="rect">
              <a:avLst/>
            </a:prstGeom>
            <a:noFill/>
            <a:ln>
              <a:noFill/>
            </a:ln>
          </p:spPr>
          <p:txBody>
            <a:bodyPr wrap="none" lIns="0" tIns="0" rIns="0" bIns="0" anchor="t" anchorCtr="0">
              <a:spAutoFit/>
            </a:bodyPr>
            <a:lstStyle/>
            <a:p>
              <a:pPr algn="l"/>
              <a:r>
                <a:rPr lang="tr-TR" sz="1200" dirty="0">
                  <a:solidFill>
                    <a:srgbClr val="C62828"/>
                  </a:solidFill>
                  <a:latin typeface="+mn-lt"/>
                  <a:ea typeface="+mn-ea"/>
                  <a:cs typeface="+mn-cs"/>
                </a:rPr>
                <a:t>Yüksek</a:t>
              </a:r>
            </a:p>
          </p:txBody>
        </p:sp>
        <p:sp>
          <p:nvSpPr>
            <p:cNvPr id="17" name="TextBox 17"/>
            <p:cNvSpPr txBox="1"/>
            <p:nvPr/>
          </p:nvSpPr>
          <p:spPr>
            <a:xfrm>
              <a:off x="9137904" y="1775460"/>
              <a:ext cx="58293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Deneme</a:t>
              </a:r>
            </a:p>
          </p:txBody>
        </p:sp>
        <p:sp>
          <p:nvSpPr>
            <p:cNvPr id="18" name="Line 18"/>
            <p:cNvSpPr/>
            <p:nvPr/>
          </p:nvSpPr>
          <p:spPr>
            <a:xfrm>
              <a:off x="609600" y="211455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19" name="Rectangle 19"/>
            <p:cNvSpPr/>
            <p:nvPr/>
          </p:nvSpPr>
          <p:spPr>
            <a:xfrm>
              <a:off x="609600" y="2190750"/>
              <a:ext cx="10972800" cy="552450"/>
            </a:xfrm>
            <a:prstGeom prst="rect">
              <a:avLst/>
            </a:prstGeom>
            <a:solidFill>
              <a:srgbClr val="EAF4F6"/>
            </a:solidFill>
            <a:ln>
              <a:noFill/>
            </a:ln>
          </p:spPr>
        </p:sp>
        <p:sp>
          <p:nvSpPr>
            <p:cNvPr id="20" name="TextBox 20"/>
            <p:cNvSpPr txBox="1"/>
            <p:nvPr/>
          </p:nvSpPr>
          <p:spPr>
            <a:xfrm>
              <a:off x="830199" y="2268379"/>
              <a:ext cx="242439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Sürüm ve günlük kaydı</a:t>
              </a:r>
            </a:p>
          </p:txBody>
        </p:sp>
        <p:sp>
          <p:nvSpPr>
            <p:cNvPr id="21" name="TextBox 21"/>
            <p:cNvSpPr txBox="1"/>
            <p:nvPr/>
          </p:nvSpPr>
          <p:spPr>
            <a:xfrm>
              <a:off x="4375404" y="2308860"/>
              <a:ext cx="40538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Orta</a:t>
              </a:r>
            </a:p>
          </p:txBody>
        </p:sp>
        <p:sp>
          <p:nvSpPr>
            <p:cNvPr id="22" name="TextBox 22"/>
            <p:cNvSpPr txBox="1"/>
            <p:nvPr/>
          </p:nvSpPr>
          <p:spPr>
            <a:xfrm>
              <a:off x="7232904" y="2308860"/>
              <a:ext cx="40538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Orta</a:t>
              </a:r>
            </a:p>
          </p:txBody>
        </p:sp>
        <p:sp>
          <p:nvSpPr>
            <p:cNvPr id="23" name="TextBox 23"/>
            <p:cNvSpPr txBox="1"/>
            <p:nvPr/>
          </p:nvSpPr>
          <p:spPr>
            <a:xfrm>
              <a:off x="9137904" y="2308860"/>
              <a:ext cx="109113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Eğitim projesi</a:t>
              </a:r>
            </a:p>
          </p:txBody>
        </p:sp>
        <p:sp>
          <p:nvSpPr>
            <p:cNvPr id="24" name="Line 24"/>
            <p:cNvSpPr/>
            <p:nvPr/>
          </p:nvSpPr>
          <p:spPr>
            <a:xfrm>
              <a:off x="609600" y="27432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25" name="TextBox 25"/>
            <p:cNvSpPr txBox="1"/>
            <p:nvPr/>
          </p:nvSpPr>
          <p:spPr>
            <a:xfrm>
              <a:off x="830199" y="2820829"/>
              <a:ext cx="191332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Tam MLOps hattı</a:t>
              </a:r>
            </a:p>
          </p:txBody>
        </p:sp>
        <p:sp>
          <p:nvSpPr>
            <p:cNvPr id="26" name="TextBox 26"/>
            <p:cNvSpPr txBox="1"/>
            <p:nvPr/>
          </p:nvSpPr>
          <p:spPr>
            <a:xfrm>
              <a:off x="4375404" y="2861310"/>
              <a:ext cx="55031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Yüksek</a:t>
              </a:r>
            </a:p>
          </p:txBody>
        </p:sp>
        <p:sp>
          <p:nvSpPr>
            <p:cNvPr id="27" name="TextBox 27"/>
            <p:cNvSpPr txBox="1"/>
            <p:nvPr/>
          </p:nvSpPr>
          <p:spPr>
            <a:xfrm>
              <a:off x="7232904" y="2861310"/>
              <a:ext cx="461467" cy="234696"/>
            </a:xfrm>
            <a:prstGeom prst="rect">
              <a:avLst/>
            </a:prstGeom>
            <a:noFill/>
            <a:ln>
              <a:noFill/>
            </a:ln>
          </p:spPr>
          <p:txBody>
            <a:bodyPr wrap="none" lIns="0" tIns="0" rIns="0" bIns="0" anchor="t" anchorCtr="0">
              <a:spAutoFit/>
            </a:bodyPr>
            <a:lstStyle/>
            <a:p>
              <a:pPr algn="l"/>
              <a:r>
                <a:rPr lang="tr-TR" sz="1200" dirty="0">
                  <a:solidFill>
                    <a:srgbClr val="2E7D32"/>
                  </a:solidFill>
                  <a:latin typeface="+mn-lt"/>
                  <a:ea typeface="+mn-ea"/>
                  <a:cs typeface="+mn-cs"/>
                </a:rPr>
                <a:t>Düşük</a:t>
              </a:r>
            </a:p>
          </p:txBody>
        </p:sp>
        <p:sp>
          <p:nvSpPr>
            <p:cNvPr id="28" name="TextBox 28"/>
            <p:cNvSpPr txBox="1"/>
            <p:nvPr/>
          </p:nvSpPr>
          <p:spPr>
            <a:xfrm>
              <a:off x="9137904" y="2861310"/>
              <a:ext cx="116414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Üretim sistemi</a:t>
              </a:r>
            </a:p>
          </p:txBody>
        </p:sp>
        <p:sp>
          <p:nvSpPr>
            <p:cNvPr id="29" name="Line 29"/>
            <p:cNvSpPr/>
            <p:nvPr/>
          </p:nvSpPr>
          <p:spPr>
            <a:xfrm>
              <a:off x="609600" y="32004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30" name="TextBox 30"/>
            <p:cNvSpPr txBox="1"/>
            <p:nvPr/>
          </p:nvSpPr>
          <p:spPr>
            <a:xfrm>
              <a:off x="832104" y="3299460"/>
              <a:ext cx="665679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Ders projesinde yalnızca model dosyası yeterli olabilir; müşteri kararını etkileyen,</a:t>
              </a:r>
            </a:p>
          </p:txBody>
        </p:sp>
        <p:sp>
          <p:nvSpPr>
            <p:cNvPr id="31" name="TextBox 31"/>
            <p:cNvSpPr txBox="1"/>
            <p:nvPr/>
          </p:nvSpPr>
          <p:spPr>
            <a:xfrm>
              <a:off x="832104" y="3489960"/>
              <a:ext cx="706255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düzenli güncellenen veya çok geliştiricili modellerde MLOps zorunlu bir kalite katmanıdır.</a:t>
              </a:r>
            </a:p>
          </p:txBody>
        </p:sp>
      </p:grpSp>
      <p:grpSp>
        <p:nvGrpSpPr>
          <p:cNvPr id="43" name="mistakes"/>
          <p:cNvGrpSpPr/>
          <p:nvPr/>
        </p:nvGrpSpPr>
        <p:grpSpPr>
          <a:xfrm>
            <a:off x="600456" y="3844290"/>
            <a:ext cx="6730029" cy="2270760"/>
            <a:chOff x="600456" y="3844290"/>
            <a:chExt cx="6730029" cy="2270760"/>
          </a:xfrm>
        </p:grpSpPr>
        <p:sp>
          <p:nvSpPr>
            <p:cNvPr id="33" name="TextBox 33"/>
            <p:cNvSpPr txBox="1"/>
            <p:nvPr/>
          </p:nvSpPr>
          <p:spPr>
            <a:xfrm>
              <a:off x="600456" y="3844290"/>
              <a:ext cx="185817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Yaygın hatalar</a:t>
              </a:r>
            </a:p>
          </p:txBody>
        </p:sp>
        <p:sp>
          <p:nvSpPr>
            <p:cNvPr id="34" name="Rectangle 34"/>
            <p:cNvSpPr/>
            <p:nvPr/>
          </p:nvSpPr>
          <p:spPr>
            <a:xfrm>
              <a:off x="609600" y="4191000"/>
              <a:ext cx="57150" cy="533400"/>
            </a:xfrm>
            <a:prstGeom prst="rect">
              <a:avLst/>
            </a:prstGeom>
            <a:solidFill>
              <a:srgbClr val="00A6A6"/>
            </a:solidFill>
            <a:ln>
              <a:noFill/>
            </a:ln>
          </p:spPr>
        </p:sp>
        <p:sp>
          <p:nvSpPr>
            <p:cNvPr id="35" name="TextBox 35"/>
            <p:cNvSpPr txBox="1"/>
            <p:nvPr/>
          </p:nvSpPr>
          <p:spPr>
            <a:xfrm>
              <a:off x="851154" y="4251960"/>
              <a:ext cx="3741073" cy="234696"/>
            </a:xfrm>
            <a:prstGeom prst="rect">
              <a:avLst/>
            </a:prstGeom>
            <a:noFill/>
            <a:ln>
              <a:noFill/>
            </a:ln>
          </p:spPr>
          <p:txBody>
            <a:bodyPr wrap="none" lIns="0" tIns="0" rIns="0" bIns="0" anchor="t" anchorCtr="0">
              <a:spAutoFit/>
            </a:bodyPr>
            <a:lstStyle/>
            <a:p>
              <a:pPr algn="l"/>
              <a:r>
                <a:rPr lang="tr-TR" sz="1200" b="1" dirty="0">
                  <a:solidFill>
                    <a:srgbClr val="172B3A"/>
                  </a:solidFill>
                  <a:latin typeface="+mn-lt"/>
                  <a:ea typeface="+mn-ea"/>
                  <a:cs typeface="+mn-cs"/>
                </a:rPr>
                <a:t>Model sürümünü yalnızca dosya adına yazmak</a:t>
              </a:r>
            </a:p>
          </p:txBody>
        </p:sp>
        <p:sp>
          <p:nvSpPr>
            <p:cNvPr id="36" name="TextBox 36"/>
            <p:cNvSpPr txBox="1"/>
            <p:nvPr/>
          </p:nvSpPr>
          <p:spPr>
            <a:xfrm>
              <a:off x="851154" y="4461510"/>
              <a:ext cx="388678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Doğrusu: sürüm, tahmin kaydına da eklenmelidir.</a:t>
              </a:r>
            </a:p>
          </p:txBody>
        </p:sp>
        <p:sp>
          <p:nvSpPr>
            <p:cNvPr id="37" name="Rectangle 37"/>
            <p:cNvSpPr/>
            <p:nvPr/>
          </p:nvSpPr>
          <p:spPr>
            <a:xfrm>
              <a:off x="609600" y="4838700"/>
              <a:ext cx="57150" cy="628650"/>
            </a:xfrm>
            <a:prstGeom prst="rect">
              <a:avLst/>
            </a:prstGeom>
            <a:solidFill>
              <a:srgbClr val="00A6A6"/>
            </a:solidFill>
            <a:ln>
              <a:noFill/>
            </a:ln>
          </p:spPr>
        </p:sp>
        <p:sp>
          <p:nvSpPr>
            <p:cNvPr id="38" name="TextBox 38"/>
            <p:cNvSpPr txBox="1"/>
            <p:nvPr/>
          </p:nvSpPr>
          <p:spPr>
            <a:xfrm>
              <a:off x="851154" y="4899660"/>
              <a:ext cx="2468357" cy="234696"/>
            </a:xfrm>
            <a:prstGeom prst="rect">
              <a:avLst/>
            </a:prstGeom>
            <a:noFill/>
            <a:ln>
              <a:noFill/>
            </a:ln>
          </p:spPr>
          <p:txBody>
            <a:bodyPr wrap="none" lIns="0" tIns="0" rIns="0" bIns="0" anchor="t" anchorCtr="0">
              <a:spAutoFit/>
            </a:bodyPr>
            <a:lstStyle/>
            <a:p>
              <a:pPr algn="l"/>
              <a:r>
                <a:rPr lang="tr-TR" sz="1200" b="1" dirty="0">
                  <a:solidFill>
                    <a:srgbClr val="172B3A"/>
                  </a:solidFill>
                  <a:latin typeface="+mn-lt"/>
                  <a:ea typeface="+mn-ea"/>
                  <a:cs typeface="+mn-cs"/>
                </a:rPr>
                <a:t>Günlükte kişisel veri saklamak</a:t>
              </a:r>
            </a:p>
          </p:txBody>
        </p:sp>
        <p:sp>
          <p:nvSpPr>
            <p:cNvPr id="39" name="TextBox 39"/>
            <p:cNvSpPr txBox="1"/>
            <p:nvPr/>
          </p:nvSpPr>
          <p:spPr>
            <a:xfrm>
              <a:off x="851154" y="5109210"/>
              <a:ext cx="647933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Doğrusu: müşteri numarası yerine takma ad veya güvenli anahtar kullanılmalıdır.</a:t>
              </a:r>
            </a:p>
          </p:txBody>
        </p:sp>
        <p:sp>
          <p:nvSpPr>
            <p:cNvPr id="40" name="Rectangle 40"/>
            <p:cNvSpPr/>
            <p:nvPr/>
          </p:nvSpPr>
          <p:spPr>
            <a:xfrm>
              <a:off x="609600" y="5581650"/>
              <a:ext cx="57150" cy="533400"/>
            </a:xfrm>
            <a:prstGeom prst="rect">
              <a:avLst/>
            </a:prstGeom>
            <a:solidFill>
              <a:srgbClr val="00A6A6"/>
            </a:solidFill>
            <a:ln>
              <a:noFill/>
            </a:ln>
          </p:spPr>
        </p:sp>
        <p:sp>
          <p:nvSpPr>
            <p:cNvPr id="41" name="TextBox 41"/>
            <p:cNvSpPr txBox="1"/>
            <p:nvPr/>
          </p:nvSpPr>
          <p:spPr>
            <a:xfrm>
              <a:off x="851154" y="5642610"/>
              <a:ext cx="4343362" cy="234696"/>
            </a:xfrm>
            <a:prstGeom prst="rect">
              <a:avLst/>
            </a:prstGeom>
            <a:noFill/>
            <a:ln>
              <a:noFill/>
            </a:ln>
          </p:spPr>
          <p:txBody>
            <a:bodyPr wrap="none" lIns="0" tIns="0" rIns="0" bIns="0" anchor="t" anchorCtr="0">
              <a:spAutoFit/>
            </a:bodyPr>
            <a:lstStyle/>
            <a:p>
              <a:pPr algn="l"/>
              <a:r>
                <a:rPr lang="tr-TR" sz="1200" b="1" dirty="0">
                  <a:solidFill>
                    <a:srgbClr val="172B3A"/>
                  </a:solidFill>
                  <a:latin typeface="+mn-lt"/>
                  <a:ea typeface="+mn-ea"/>
                  <a:cs typeface="+mn-cs"/>
                </a:rPr>
                <a:t>Eşik tanımlamadan "başarımı takip ediyoruz" demek</a:t>
              </a:r>
            </a:p>
          </p:txBody>
        </p:sp>
        <p:sp>
          <p:nvSpPr>
            <p:cNvPr id="42" name="TextBox 42"/>
            <p:cNvSpPr txBox="1"/>
            <p:nvPr/>
          </p:nvSpPr>
          <p:spPr>
            <a:xfrm>
              <a:off x="851154" y="5852160"/>
              <a:ext cx="468589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Doğrusu: izleme eşiği baştan sayısal olarak belirlenmelidir.</a:t>
              </a:r>
            </a:p>
          </p:txBody>
        </p:sp>
      </p:grpSp>
      <p:sp>
        <p:nvSpPr>
          <p:cNvPr id="44" name="TextBox 4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 / 25</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6509344" cy="557403"/>
            <a:chOff x="595122" y="282892"/>
            <a:chExt cx="6509344" cy="557403"/>
          </a:xfrm>
        </p:grpSpPr>
        <p:sp>
          <p:nvSpPr>
            <p:cNvPr id="4" name="TextBox 4"/>
            <p:cNvSpPr txBox="1"/>
            <p:nvPr/>
          </p:nvSpPr>
          <p:spPr>
            <a:xfrm>
              <a:off x="595122" y="282892"/>
              <a:ext cx="650934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kayması: tanım ve ölçüm</a:t>
              </a:r>
            </a:p>
          </p:txBody>
        </p:sp>
      </p:grpSp>
      <p:grpSp>
        <p:nvGrpSpPr>
          <p:cNvPr id="9" name="def-text"/>
          <p:cNvGrpSpPr/>
          <p:nvPr/>
        </p:nvGrpSpPr>
        <p:grpSpPr>
          <a:xfrm>
            <a:off x="600456" y="1253490"/>
            <a:ext cx="9638233" cy="923544"/>
            <a:chOff x="600456" y="1253490"/>
            <a:chExt cx="9638233" cy="923544"/>
          </a:xfrm>
        </p:grpSpPr>
        <p:sp>
          <p:nvSpPr>
            <p:cNvPr id="6" name="TextBox 6"/>
            <p:cNvSpPr txBox="1"/>
            <p:nvPr/>
          </p:nvSpPr>
          <p:spPr>
            <a:xfrm>
              <a:off x="600456" y="1253490"/>
              <a:ext cx="9185347"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Kavram kayması, girdi özellikleri ile hedef değişken arasındaki ilişkinin zaman</a:t>
              </a:r>
            </a:p>
          </p:txBody>
        </p:sp>
        <p:sp>
          <p:nvSpPr>
            <p:cNvPr id="7" name="TextBox 7"/>
            <p:cNvSpPr txBox="1"/>
            <p:nvPr/>
          </p:nvSpPr>
          <p:spPr>
            <a:xfrm>
              <a:off x="600456" y="1539240"/>
              <a:ext cx="9585611"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içinde değişmesidir. Ekonomik koşullar, kampanya yapısı veya müşteri davranışı</a:t>
              </a:r>
            </a:p>
          </p:txBody>
        </p:sp>
        <p:sp>
          <p:nvSpPr>
            <p:cNvPr id="8" name="TextBox 8"/>
            <p:cNvSpPr txBox="1"/>
            <p:nvPr/>
          </p:nvSpPr>
          <p:spPr>
            <a:xfrm>
              <a:off x="600456" y="1824990"/>
              <a:ext cx="9638233"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değiştiğinde geçen yıl eğitilen churn modeli güncel müşterileri temsil etmeyebilir.</a:t>
              </a:r>
            </a:p>
          </p:txBody>
        </p:sp>
      </p:grpSp>
      <p:grpSp>
        <p:nvGrpSpPr>
          <p:cNvPr id="13" name="formula-box"/>
          <p:cNvGrpSpPr/>
          <p:nvPr/>
        </p:nvGrpSpPr>
        <p:grpSpPr>
          <a:xfrm>
            <a:off x="609600" y="2324100"/>
            <a:ext cx="10972800" cy="1123950"/>
            <a:chOff x="609600" y="2324100"/>
            <a:chExt cx="10972800" cy="1123950"/>
          </a:xfrm>
        </p:grpSpPr>
        <p:sp>
          <p:nvSpPr>
            <p:cNvPr id="10" name="Rectangle 10"/>
            <p:cNvSpPr/>
            <p:nvPr/>
          </p:nvSpPr>
          <p:spPr>
            <a:xfrm>
              <a:off x="609600" y="2324100"/>
              <a:ext cx="10972800" cy="1123950"/>
            </a:xfrm>
            <a:prstGeom prst="roundRect">
              <a:avLst>
                <a:gd name="adj" fmla="val 6780"/>
              </a:avLst>
            </a:prstGeom>
            <a:solidFill>
              <a:srgbClr val="12355B"/>
            </a:solidFill>
            <a:ln>
              <a:noFill/>
            </a:ln>
          </p:spPr>
        </p:sp>
        <p:sp>
          <p:nvSpPr>
            <p:cNvPr id="11" name="TextBox 11"/>
            <p:cNvSpPr txBox="1"/>
            <p:nvPr/>
          </p:nvSpPr>
          <p:spPr>
            <a:xfrm>
              <a:off x="3709758" y="2538412"/>
              <a:ext cx="4772484" cy="440055"/>
            </a:xfrm>
            <a:prstGeom prst="rect">
              <a:avLst/>
            </a:prstGeom>
            <a:noFill/>
            <a:ln>
              <a:noFill/>
            </a:ln>
          </p:spPr>
          <p:txBody>
            <a:bodyPr wrap="none" lIns="0" tIns="0" rIns="0" bIns="0" anchor="t" anchorCtr="0">
              <a:spAutoFit/>
            </a:bodyPr>
            <a:lstStyle/>
            <a:p>
              <a:pPr algn="ctr"/>
              <a:r>
                <a:rPr lang="tr-TR" sz="2250" b="1" dirty="0">
                  <a:solidFill>
                    <a:srgbClr val="FFFFFF"/>
                  </a:solidFill>
                  <a:latin typeface="+mj-lt"/>
                  <a:ea typeface="+mj-ea"/>
                  <a:cs typeface="+mj-cs"/>
                </a:rPr>
                <a:t>fark = | X̄ güncel − X̄ referans |</a:t>
              </a:r>
            </a:p>
          </p:txBody>
        </p:sp>
        <p:sp>
          <p:nvSpPr>
            <p:cNvPr id="12" name="TextBox 12"/>
            <p:cNvSpPr txBox="1"/>
            <p:nvPr/>
          </p:nvSpPr>
          <p:spPr>
            <a:xfrm>
              <a:off x="2992596" y="3013710"/>
              <a:ext cx="6206809" cy="234696"/>
            </a:xfrm>
            <a:prstGeom prst="rect">
              <a:avLst/>
            </a:prstGeom>
            <a:noFill/>
            <a:ln>
              <a:noFill/>
            </a:ln>
          </p:spPr>
          <p:txBody>
            <a:bodyPr wrap="none" lIns="0" tIns="0" rIns="0" bIns="0" anchor="t" anchorCtr="0">
              <a:spAutoFit/>
            </a:bodyPr>
            <a:lstStyle/>
            <a:p>
              <a:pPr algn="ctr"/>
              <a:r>
                <a:rPr lang="tr-TR" sz="1200" dirty="0">
                  <a:solidFill>
                    <a:srgbClr val="EAF4F6"/>
                  </a:solidFill>
                  <a:latin typeface="+mn-lt"/>
                  <a:ea typeface="+mn-ea"/>
                  <a:cs typeface="+mn-cs"/>
                </a:rPr>
                <a:t>Fark önceden belirlenen bir eşiği (esik) aşarsa durum UYARI olarak işaretlenir.</a:t>
              </a:r>
            </a:p>
          </p:txBody>
        </p:sp>
      </p:grpSp>
      <p:grpSp>
        <p:nvGrpSpPr>
          <p:cNvPr id="21" name="analogy"/>
          <p:cNvGrpSpPr/>
          <p:nvPr/>
        </p:nvGrpSpPr>
        <p:grpSpPr>
          <a:xfrm>
            <a:off x="609600" y="3657600"/>
            <a:ext cx="10972800" cy="857250"/>
            <a:chOff x="609600" y="3657600"/>
            <a:chExt cx="10972800" cy="857250"/>
          </a:xfrm>
        </p:grpSpPr>
        <p:sp>
          <p:nvSpPr>
            <p:cNvPr id="14" name="Rectangle 14"/>
            <p:cNvSpPr/>
            <p:nvPr/>
          </p:nvSpPr>
          <p:spPr>
            <a:xfrm>
              <a:off x="609600" y="3657600"/>
              <a:ext cx="10972800" cy="857250"/>
            </a:xfrm>
            <a:prstGeom prst="roundRect">
              <a:avLst>
                <a:gd name="adj" fmla="val 8889"/>
              </a:avLst>
            </a:prstGeom>
            <a:solidFill>
              <a:srgbClr val="EAF4F6"/>
            </a:solidFill>
            <a:ln>
              <a:noFill/>
            </a:ln>
          </p:spPr>
        </p:sp>
        <p:grpSp>
          <p:nvGrpSpPr>
            <p:cNvPr id="18" name="Group 18"/>
            <p:cNvGrpSpPr/>
            <p:nvPr/>
          </p:nvGrpSpPr>
          <p:grpSpPr>
            <a:xfrm>
              <a:off x="914400" y="3848100"/>
              <a:ext cx="419100" cy="419100"/>
              <a:chOff x="914400" y="3848100"/>
              <a:chExt cx="419100" cy="419100"/>
            </a:xfrm>
          </p:grpSpPr>
          <p:sp>
            <p:nvSpPr>
              <p:cNvPr id="15" name="Ellipse 15"/>
              <p:cNvSpPr/>
              <p:nvPr/>
            </p:nvSpPr>
            <p:spPr>
              <a:xfrm>
                <a:off x="914400" y="3848100"/>
                <a:ext cx="419100" cy="419100"/>
              </a:xfrm>
              <a:prstGeom prst="ellipse">
                <a:avLst/>
              </a:prstGeom>
              <a:solidFill>
                <a:srgbClr val="FFFFFF"/>
              </a:solidFill>
              <a:ln>
                <a:noFill/>
              </a:ln>
            </p:spPr>
          </p:sp>
          <p:sp>
            <p:nvSpPr>
              <p:cNvPr id="16" name="Ellipse 16"/>
              <p:cNvSpPr/>
              <p:nvPr/>
            </p:nvSpPr>
            <p:spPr>
              <a:xfrm>
                <a:off x="1009650" y="3943350"/>
                <a:ext cx="228600" cy="228600"/>
              </a:xfrm>
              <a:prstGeom prst="ellipse">
                <a:avLst/>
              </a:prstGeom>
              <a:noFill/>
              <a:ln w="17145">
                <a:solidFill>
                  <a:srgbClr val="12355B"/>
                </a:solidFill>
              </a:ln>
            </p:spPr>
          </p:sp>
          <p:sp>
            <p:nvSpPr>
              <p:cNvPr id="17" name="Freeform 17"/>
              <p:cNvSpPr/>
              <p:nvPr/>
            </p:nvSpPr>
            <p:spPr>
              <a:xfrm>
                <a:off x="1123950" y="3981450"/>
                <a:ext cx="57150" cy="104775"/>
              </a:xfrm>
              <a:custGeom>
                <a:avLst/>
                <a:gdLst/>
                <a:ahLst/>
                <a:cxnLst/>
                <a:rect l="l" t="t" r="r" b="b"/>
                <a:pathLst>
                  <a:path w="57150" h="104775">
                    <a:moveTo>
                      <a:pt x="0" y="0"/>
                    </a:moveTo>
                    <a:lnTo>
                      <a:pt x="0" y="76200"/>
                    </a:lnTo>
                    <a:lnTo>
                      <a:pt x="57150" y="104775"/>
                    </a:lnTo>
                  </a:path>
                </a:pathLst>
              </a:custGeom>
              <a:noFill/>
              <a:ln w="17145" cap="rnd">
                <a:solidFill>
                  <a:srgbClr val="12355B"/>
                </a:solidFill>
              </a:ln>
            </p:spPr>
          </p:sp>
        </p:grpSp>
        <p:sp>
          <p:nvSpPr>
            <p:cNvPr id="19" name="TextBox 19"/>
            <p:cNvSpPr txBox="1"/>
            <p:nvPr/>
          </p:nvSpPr>
          <p:spPr>
            <a:xfrm>
              <a:off x="1420749" y="3868579"/>
              <a:ext cx="293801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Benzetme: mevsim değişimi</a:t>
              </a:r>
            </a:p>
          </p:txBody>
        </p:sp>
        <p:sp>
          <p:nvSpPr>
            <p:cNvPr id="20" name="TextBox 20"/>
            <p:cNvSpPr txBox="1"/>
            <p:nvPr/>
          </p:nvSpPr>
          <p:spPr>
            <a:xfrm>
              <a:off x="1422654" y="4156710"/>
              <a:ext cx="83772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Yaz tatilinde çalışmış bir trafik modeli, okul dönemi başladığında aynı yollar için yanlış süre öngörebilir.</a:t>
              </a:r>
            </a:p>
          </p:txBody>
        </p:sp>
      </p:grpSp>
      <p:grpSp>
        <p:nvGrpSpPr>
          <p:cNvPr id="26" name="why"/>
          <p:cNvGrpSpPr/>
          <p:nvPr/>
        </p:nvGrpSpPr>
        <p:grpSpPr>
          <a:xfrm>
            <a:off x="601599" y="4763929"/>
            <a:ext cx="9461386" cy="1094327"/>
            <a:chOff x="601599" y="4763929"/>
            <a:chExt cx="9461386" cy="1094327"/>
          </a:xfrm>
        </p:grpSpPr>
        <p:sp>
          <p:nvSpPr>
            <p:cNvPr id="22" name="TextBox 22"/>
            <p:cNvSpPr txBox="1"/>
            <p:nvPr/>
          </p:nvSpPr>
          <p:spPr>
            <a:xfrm>
              <a:off x="601599" y="4763929"/>
              <a:ext cx="156494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Neden vardır?</a:t>
              </a:r>
            </a:p>
          </p:txBody>
        </p:sp>
        <p:sp>
          <p:nvSpPr>
            <p:cNvPr id="23" name="TextBox 23"/>
            <p:cNvSpPr txBox="1"/>
            <p:nvPr/>
          </p:nvSpPr>
          <p:spPr>
            <a:xfrm>
              <a:off x="603504" y="5109210"/>
              <a:ext cx="905272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Modeller eğitim verisinin geleceği temsil ettiğini varsayar; bu varsayım sabit değildir. Yeni tarife paketleri, rakip</a:t>
              </a:r>
            </a:p>
          </p:txBody>
        </p:sp>
        <p:sp>
          <p:nvSpPr>
            <p:cNvPr id="24" name="TextBox 24"/>
            <p:cNvSpPr txBox="1"/>
            <p:nvPr/>
          </p:nvSpPr>
          <p:spPr>
            <a:xfrm>
              <a:off x="603504" y="5318760"/>
              <a:ext cx="624779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kampanyaları veya düzenleyici değişiklikler müşteri davranışını değiştirebilir.</a:t>
              </a:r>
            </a:p>
          </p:txBody>
        </p:sp>
        <p:sp>
          <p:nvSpPr>
            <p:cNvPr id="25" name="TextBox 25"/>
            <p:cNvSpPr txBox="1"/>
            <p:nvPr/>
          </p:nvSpPr>
          <p:spPr>
            <a:xfrm>
              <a:off x="603504" y="5623560"/>
              <a:ext cx="945948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İzlenmezse başarım sessizce düşebilir; genel başarı kabul edilebilir görünürken belirli gruplardaki hata oranı artabilir.</a:t>
              </a:r>
            </a:p>
          </p:txBody>
        </p:sp>
      </p:grpSp>
      <p:sp>
        <p:nvSpPr>
          <p:cNvPr id="27" name="TextBox 2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 / 25</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367281" cy="668845"/>
            <a:chOff x="609600" y="171450"/>
            <a:chExt cx="8367281"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767690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kayması: izleme kodu ve grafik</a:t>
              </a:r>
            </a:p>
          </p:txBody>
        </p:sp>
      </p:grpSp>
      <p:grpSp>
        <p:nvGrpSpPr>
          <p:cNvPr id="25" name="code-panel"/>
          <p:cNvGrpSpPr/>
          <p:nvPr/>
        </p:nvGrpSpPr>
        <p:grpSpPr>
          <a:xfrm>
            <a:off x="609600" y="1219200"/>
            <a:ext cx="5334000" cy="3051334"/>
            <a:chOff x="609600" y="1219200"/>
            <a:chExt cx="5334000" cy="3051334"/>
          </a:xfrm>
        </p:grpSpPr>
        <p:sp>
          <p:nvSpPr>
            <p:cNvPr id="12" name="Rectangle 12"/>
            <p:cNvSpPr/>
            <p:nvPr/>
          </p:nvSpPr>
          <p:spPr>
            <a:xfrm>
              <a:off x="609600" y="1219200"/>
              <a:ext cx="5334000" cy="3048000"/>
            </a:xfrm>
            <a:prstGeom prst="roundRect">
              <a:avLst>
                <a:gd name="adj" fmla="val 3125"/>
              </a:avLst>
            </a:prstGeom>
            <a:solidFill>
              <a:srgbClr val="12355B"/>
            </a:solidFill>
            <a:ln>
              <a:noFill/>
            </a:ln>
          </p:spPr>
        </p:sp>
        <p:sp>
          <p:nvSpPr>
            <p:cNvPr id="13" name="TextBox 13"/>
            <p:cNvSpPr txBox="1"/>
            <p:nvPr/>
          </p:nvSpPr>
          <p:spPr>
            <a:xfrm>
              <a:off x="832485" y="1402556"/>
              <a:ext cx="3328467"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def ortalama_farki_hesapla(ref, guncel):</a:t>
              </a:r>
            </a:p>
          </p:txBody>
        </p:sp>
        <p:sp>
          <p:nvSpPr>
            <p:cNvPr id="14" name="TextBox 14"/>
            <p:cNvSpPr txBox="1"/>
            <p:nvPr/>
          </p:nvSpPr>
          <p:spPr>
            <a:xfrm>
              <a:off x="1022985" y="1631156"/>
              <a:ext cx="2830911"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return abs(mean(ref)-mean(guncel))</a:t>
              </a:r>
            </a:p>
          </p:txBody>
        </p:sp>
        <p:sp>
          <p:nvSpPr>
            <p:cNvPr id="15" name="TextBox 15"/>
            <p:cNvSpPr txBox="1"/>
            <p:nvPr/>
          </p:nvSpPr>
          <p:spPr>
            <a:xfrm>
              <a:off x="832485" y="1916906"/>
              <a:ext cx="3411393"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def kayma_raporu_uret(ref, guncel, esik):</a:t>
              </a:r>
            </a:p>
          </p:txBody>
        </p:sp>
        <p:sp>
          <p:nvSpPr>
            <p:cNvPr id="16" name="TextBox 16"/>
            <p:cNvSpPr txBox="1"/>
            <p:nvPr/>
          </p:nvSpPr>
          <p:spPr>
            <a:xfrm>
              <a:off x="1022985" y="2145506"/>
              <a:ext cx="3494319"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fark = ortalama_farki_hesapla(ref, guncel)</a:t>
              </a:r>
            </a:p>
          </p:txBody>
        </p:sp>
        <p:sp>
          <p:nvSpPr>
            <p:cNvPr id="17" name="TextBox 17"/>
            <p:cNvSpPr txBox="1"/>
            <p:nvPr/>
          </p:nvSpPr>
          <p:spPr>
            <a:xfrm>
              <a:off x="1022985" y="2374106"/>
              <a:ext cx="3566605"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durum = "UYARI" if fark&gt;esik else "NORMAL"</a:t>
              </a:r>
            </a:p>
          </p:txBody>
        </p:sp>
        <p:sp>
          <p:nvSpPr>
            <p:cNvPr id="18" name="TextBox 18"/>
            <p:cNvSpPr txBox="1"/>
            <p:nvPr/>
          </p:nvSpPr>
          <p:spPr>
            <a:xfrm>
              <a:off x="832485" y="2697956"/>
              <a:ext cx="2582134"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referans = [45, 51, 54, 62, 67]</a:t>
              </a:r>
            </a:p>
          </p:txBody>
        </p:sp>
        <p:sp>
          <p:nvSpPr>
            <p:cNvPr id="19" name="TextBox 19"/>
            <p:cNvSpPr txBox="1"/>
            <p:nvPr/>
          </p:nvSpPr>
          <p:spPr>
            <a:xfrm>
              <a:off x="832485" y="2926556"/>
              <a:ext cx="2416282"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guncel = [58, 64, 71, 76, 82]</a:t>
              </a:r>
            </a:p>
          </p:txBody>
        </p:sp>
        <p:sp>
          <p:nvSpPr>
            <p:cNvPr id="20" name="TextBox 20"/>
            <p:cNvSpPr txBox="1"/>
            <p:nvPr/>
          </p:nvSpPr>
          <p:spPr>
            <a:xfrm>
              <a:off x="832485" y="3155156"/>
              <a:ext cx="3743096"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kayma_raporu_uret(referans, guncel, esik=8.0)</a:t>
              </a:r>
            </a:p>
          </p:txBody>
        </p:sp>
        <p:sp>
          <p:nvSpPr>
            <p:cNvPr id="21" name="Line 21"/>
            <p:cNvSpPr/>
            <p:nvPr/>
          </p:nvSpPr>
          <p:spPr>
            <a:xfrm>
              <a:off x="838200" y="3467100"/>
              <a:ext cx="4876800" cy="9525"/>
            </a:xfrm>
            <a:custGeom>
              <a:avLst/>
              <a:gdLst/>
              <a:ahLst/>
              <a:cxnLst/>
              <a:rect l="l" t="t" r="r" b="b"/>
              <a:pathLst>
                <a:path w="4876800" h="9525">
                  <a:moveTo>
                    <a:pt x="0" y="0"/>
                  </a:moveTo>
                  <a:lnTo>
                    <a:pt x="4876800" y="0"/>
                  </a:lnTo>
                </a:path>
              </a:pathLst>
            </a:custGeom>
            <a:noFill/>
            <a:ln w="9525">
              <a:solidFill>
                <a:srgbClr val="2E86AB"/>
              </a:solidFill>
            </a:ln>
          </p:spPr>
        </p:sp>
        <p:sp>
          <p:nvSpPr>
            <p:cNvPr id="22" name="TextBox 22"/>
            <p:cNvSpPr txBox="1"/>
            <p:nvPr/>
          </p:nvSpPr>
          <p:spPr>
            <a:xfrm>
              <a:off x="832485" y="3593306"/>
              <a:ext cx="2341570"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&gt;&gt;&gt; Referans ortalama: 55.80</a:t>
              </a:r>
            </a:p>
          </p:txBody>
        </p:sp>
        <p:sp>
          <p:nvSpPr>
            <p:cNvPr id="23" name="TextBox 23"/>
            <p:cNvSpPr txBox="1"/>
            <p:nvPr/>
          </p:nvSpPr>
          <p:spPr>
            <a:xfrm>
              <a:off x="832485" y="3821906"/>
              <a:ext cx="2176221"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&gt;&gt;&gt; Güncel ortalama: 70.20</a:t>
              </a:r>
            </a:p>
          </p:txBody>
        </p:sp>
        <p:sp>
          <p:nvSpPr>
            <p:cNvPr id="24" name="TextBox 24"/>
            <p:cNvSpPr txBox="1"/>
            <p:nvPr/>
          </p:nvSpPr>
          <p:spPr>
            <a:xfrm>
              <a:off x="832485" y="4050506"/>
              <a:ext cx="3140475"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&gt;&gt;&gt; Kayma farkı: 14.40 | Durum: UYARI</a:t>
              </a:r>
            </a:p>
          </p:txBody>
        </p:sp>
      </p:grpSp>
      <p:grpSp>
        <p:nvGrpSpPr>
          <p:cNvPr id="51" name="chart-panel"/>
          <p:cNvGrpSpPr/>
          <p:nvPr/>
        </p:nvGrpSpPr>
        <p:grpSpPr>
          <a:xfrm>
            <a:off x="6324600" y="1219200"/>
            <a:ext cx="5257800" cy="3048000"/>
            <a:chOff x="6324600" y="1219200"/>
            <a:chExt cx="5257800" cy="3048000"/>
          </a:xfrm>
        </p:grpSpPr>
        <p:sp>
          <p:nvSpPr>
            <p:cNvPr id="26" name="Rectangle 26"/>
            <p:cNvSpPr/>
            <p:nvPr/>
          </p:nvSpPr>
          <p:spPr>
            <a:xfrm>
              <a:off x="6324600" y="1219200"/>
              <a:ext cx="5257800" cy="3048000"/>
            </a:xfrm>
            <a:prstGeom prst="roundRect">
              <a:avLst>
                <a:gd name="adj" fmla="val 3125"/>
              </a:avLst>
            </a:prstGeom>
            <a:solidFill>
              <a:srgbClr val="FFFFFF"/>
            </a:solidFill>
            <a:ln w="14288">
              <a:solidFill>
                <a:srgbClr val="B8CBD3"/>
              </a:solidFill>
            </a:ln>
          </p:spPr>
        </p:sp>
        <p:sp>
          <p:nvSpPr>
            <p:cNvPr id="27" name="TextBox 27"/>
            <p:cNvSpPr txBox="1"/>
            <p:nvPr/>
          </p:nvSpPr>
          <p:spPr>
            <a:xfrm>
              <a:off x="6547104" y="1375410"/>
              <a:ext cx="348510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Şekil 14.2: Veri kayması karşılaştırması</a:t>
              </a:r>
            </a:p>
          </p:txBody>
        </p:sp>
        <p:sp>
          <p:nvSpPr>
            <p:cNvPr id="28" name="Line 28"/>
            <p:cNvSpPr/>
            <p:nvPr/>
          </p:nvSpPr>
          <p:spPr>
            <a:xfrm>
              <a:off x="6667500" y="3905250"/>
              <a:ext cx="4572000" cy="9525"/>
            </a:xfrm>
            <a:custGeom>
              <a:avLst/>
              <a:gdLst/>
              <a:ahLst/>
              <a:cxnLst/>
              <a:rect l="l" t="t" r="r" b="b"/>
              <a:pathLst>
                <a:path w="4572000" h="9525">
                  <a:moveTo>
                    <a:pt x="0" y="0"/>
                  </a:moveTo>
                  <a:lnTo>
                    <a:pt x="4572000" y="0"/>
                  </a:lnTo>
                </a:path>
              </a:pathLst>
            </a:custGeom>
            <a:noFill/>
            <a:ln w="14288">
              <a:solidFill>
                <a:srgbClr val="52616B"/>
              </a:solidFill>
            </a:ln>
          </p:spPr>
        </p:sp>
        <p:sp>
          <p:nvSpPr>
            <p:cNvPr id="29" name="TextBox 29"/>
            <p:cNvSpPr txBox="1"/>
            <p:nvPr/>
          </p:nvSpPr>
          <p:spPr>
            <a:xfrm>
              <a:off x="6662166" y="3982402"/>
              <a:ext cx="166154"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40</a:t>
              </a:r>
            </a:p>
          </p:txBody>
        </p:sp>
        <p:sp>
          <p:nvSpPr>
            <p:cNvPr id="30" name="TextBox 30"/>
            <p:cNvSpPr txBox="1"/>
            <p:nvPr/>
          </p:nvSpPr>
          <p:spPr>
            <a:xfrm>
              <a:off x="7576566" y="3982402"/>
              <a:ext cx="166154"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50</a:t>
              </a:r>
            </a:p>
          </p:txBody>
        </p:sp>
        <p:sp>
          <p:nvSpPr>
            <p:cNvPr id="31" name="TextBox 31"/>
            <p:cNvSpPr txBox="1"/>
            <p:nvPr/>
          </p:nvSpPr>
          <p:spPr>
            <a:xfrm>
              <a:off x="8490966" y="3982402"/>
              <a:ext cx="166154"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60</a:t>
              </a:r>
            </a:p>
          </p:txBody>
        </p:sp>
        <p:sp>
          <p:nvSpPr>
            <p:cNvPr id="32" name="TextBox 32"/>
            <p:cNvSpPr txBox="1"/>
            <p:nvPr/>
          </p:nvSpPr>
          <p:spPr>
            <a:xfrm>
              <a:off x="9405366" y="3982402"/>
              <a:ext cx="166154"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70</a:t>
              </a:r>
            </a:p>
          </p:txBody>
        </p:sp>
        <p:sp>
          <p:nvSpPr>
            <p:cNvPr id="33" name="TextBox 33"/>
            <p:cNvSpPr txBox="1"/>
            <p:nvPr/>
          </p:nvSpPr>
          <p:spPr>
            <a:xfrm>
              <a:off x="10319766" y="3982402"/>
              <a:ext cx="166154"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80</a:t>
              </a:r>
            </a:p>
          </p:txBody>
        </p:sp>
        <p:sp>
          <p:nvSpPr>
            <p:cNvPr id="34" name="TextBox 34"/>
            <p:cNvSpPr txBox="1"/>
            <p:nvPr/>
          </p:nvSpPr>
          <p:spPr>
            <a:xfrm>
              <a:off x="11138916" y="3982402"/>
              <a:ext cx="166154"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90</a:t>
              </a:r>
            </a:p>
          </p:txBody>
        </p:sp>
        <p:sp>
          <p:nvSpPr>
            <p:cNvPr id="35" name="TextBox 35"/>
            <p:cNvSpPr txBox="1"/>
            <p:nvPr/>
          </p:nvSpPr>
          <p:spPr>
            <a:xfrm>
              <a:off x="6547866" y="2134552"/>
              <a:ext cx="637013" cy="205359"/>
            </a:xfrm>
            <a:prstGeom prst="rect">
              <a:avLst/>
            </a:prstGeom>
            <a:noFill/>
            <a:ln>
              <a:noFill/>
            </a:ln>
          </p:spPr>
          <p:txBody>
            <a:bodyPr wrap="none" lIns="0" tIns="0" rIns="0" bIns="0" anchor="t" anchorCtr="0">
              <a:spAutoFit/>
            </a:bodyPr>
            <a:lstStyle/>
            <a:p>
              <a:pPr algn="l"/>
              <a:r>
                <a:rPr lang="tr-TR" sz="1050" dirty="0">
                  <a:solidFill>
                    <a:srgbClr val="2E86AB"/>
                  </a:solidFill>
                  <a:latin typeface="+mn-lt"/>
                  <a:ea typeface="+mn-ea"/>
                  <a:cs typeface="+mn-cs"/>
                </a:rPr>
                <a:t>Referans</a:t>
              </a:r>
            </a:p>
          </p:txBody>
        </p:sp>
        <p:sp>
          <p:nvSpPr>
            <p:cNvPr id="36" name="Ellipse 36"/>
            <p:cNvSpPr/>
            <p:nvPr/>
          </p:nvSpPr>
          <p:spPr>
            <a:xfrm>
              <a:off x="7315200" y="2181225"/>
              <a:ext cx="133350" cy="133350"/>
            </a:xfrm>
            <a:prstGeom prst="ellipse">
              <a:avLst/>
            </a:prstGeom>
            <a:solidFill>
              <a:srgbClr val="2E86AB"/>
            </a:solidFill>
            <a:ln>
              <a:noFill/>
            </a:ln>
          </p:spPr>
        </p:sp>
        <p:sp>
          <p:nvSpPr>
            <p:cNvPr id="37" name="Ellipse 37"/>
            <p:cNvSpPr/>
            <p:nvPr/>
          </p:nvSpPr>
          <p:spPr>
            <a:xfrm>
              <a:off x="8229600" y="2181225"/>
              <a:ext cx="133350" cy="133350"/>
            </a:xfrm>
            <a:prstGeom prst="ellipse">
              <a:avLst/>
            </a:prstGeom>
            <a:solidFill>
              <a:srgbClr val="2E86AB"/>
            </a:solidFill>
            <a:ln>
              <a:noFill/>
            </a:ln>
          </p:spPr>
        </p:sp>
        <p:sp>
          <p:nvSpPr>
            <p:cNvPr id="38" name="Ellipse 38"/>
            <p:cNvSpPr/>
            <p:nvPr/>
          </p:nvSpPr>
          <p:spPr>
            <a:xfrm>
              <a:off x="8505825" y="2181225"/>
              <a:ext cx="133350" cy="133350"/>
            </a:xfrm>
            <a:prstGeom prst="ellipse">
              <a:avLst/>
            </a:prstGeom>
            <a:solidFill>
              <a:srgbClr val="2E86AB"/>
            </a:solidFill>
            <a:ln>
              <a:noFill/>
            </a:ln>
          </p:spPr>
        </p:sp>
        <p:sp>
          <p:nvSpPr>
            <p:cNvPr id="39" name="Ellipse 39"/>
            <p:cNvSpPr/>
            <p:nvPr/>
          </p:nvSpPr>
          <p:spPr>
            <a:xfrm>
              <a:off x="9420225" y="2181225"/>
              <a:ext cx="133350" cy="133350"/>
            </a:xfrm>
            <a:prstGeom prst="ellipse">
              <a:avLst/>
            </a:prstGeom>
            <a:solidFill>
              <a:srgbClr val="2E86AB"/>
            </a:solidFill>
            <a:ln>
              <a:noFill/>
            </a:ln>
          </p:spPr>
        </p:sp>
        <p:sp>
          <p:nvSpPr>
            <p:cNvPr id="40" name="Ellipse 40"/>
            <p:cNvSpPr/>
            <p:nvPr/>
          </p:nvSpPr>
          <p:spPr>
            <a:xfrm>
              <a:off x="9972675" y="2181225"/>
              <a:ext cx="133350" cy="133350"/>
            </a:xfrm>
            <a:prstGeom prst="ellipse">
              <a:avLst/>
            </a:prstGeom>
            <a:solidFill>
              <a:srgbClr val="2E86AB"/>
            </a:solidFill>
            <a:ln>
              <a:noFill/>
            </a:ln>
          </p:spPr>
        </p:sp>
        <p:sp>
          <p:nvSpPr>
            <p:cNvPr id="41" name="Line 41"/>
            <p:cNvSpPr/>
            <p:nvPr/>
          </p:nvSpPr>
          <p:spPr>
            <a:xfrm>
              <a:off x="9439275" y="2095500"/>
              <a:ext cx="476250" cy="9525"/>
            </a:xfrm>
            <a:custGeom>
              <a:avLst/>
              <a:gdLst/>
              <a:ahLst/>
              <a:cxnLst/>
              <a:rect l="l" t="t" r="r" b="b"/>
              <a:pathLst>
                <a:path w="476250" h="9525">
                  <a:moveTo>
                    <a:pt x="0" y="0"/>
                  </a:moveTo>
                  <a:lnTo>
                    <a:pt x="476250" y="0"/>
                  </a:lnTo>
                </a:path>
              </a:pathLst>
            </a:custGeom>
            <a:noFill/>
            <a:ln w="28575">
              <a:solidFill>
                <a:srgbClr val="2E86AB"/>
              </a:solidFill>
            </a:ln>
          </p:spPr>
        </p:sp>
        <p:sp>
          <p:nvSpPr>
            <p:cNvPr id="42" name="TextBox 42"/>
            <p:cNvSpPr txBox="1"/>
            <p:nvPr/>
          </p:nvSpPr>
          <p:spPr>
            <a:xfrm>
              <a:off x="6547866" y="2991802"/>
              <a:ext cx="445856" cy="205359"/>
            </a:xfrm>
            <a:prstGeom prst="rect">
              <a:avLst/>
            </a:prstGeom>
            <a:noFill/>
            <a:ln>
              <a:noFill/>
            </a:ln>
          </p:spPr>
          <p:txBody>
            <a:bodyPr wrap="none" lIns="0" tIns="0" rIns="0" bIns="0" anchor="t" anchorCtr="0">
              <a:spAutoFit/>
            </a:bodyPr>
            <a:lstStyle/>
            <a:p>
              <a:pPr algn="l"/>
              <a:r>
                <a:rPr lang="tr-TR" sz="1050" dirty="0">
                  <a:solidFill>
                    <a:srgbClr val="C62828"/>
                  </a:solidFill>
                  <a:latin typeface="+mn-lt"/>
                  <a:ea typeface="+mn-ea"/>
                  <a:cs typeface="+mn-cs"/>
                </a:rPr>
                <a:t>Güncel</a:t>
              </a:r>
            </a:p>
          </p:txBody>
        </p:sp>
        <p:sp>
          <p:nvSpPr>
            <p:cNvPr id="43" name="Ellipse 43"/>
            <p:cNvSpPr/>
            <p:nvPr/>
          </p:nvSpPr>
          <p:spPr>
            <a:xfrm>
              <a:off x="9144000" y="3038475"/>
              <a:ext cx="133350" cy="133350"/>
            </a:xfrm>
            <a:prstGeom prst="ellipse">
              <a:avLst/>
            </a:prstGeom>
            <a:solidFill>
              <a:srgbClr val="C62828"/>
            </a:solidFill>
            <a:ln>
              <a:noFill/>
            </a:ln>
          </p:spPr>
        </p:sp>
        <p:sp>
          <p:nvSpPr>
            <p:cNvPr id="44" name="Ellipse 44"/>
            <p:cNvSpPr/>
            <p:nvPr/>
          </p:nvSpPr>
          <p:spPr>
            <a:xfrm>
              <a:off x="9696450" y="3038475"/>
              <a:ext cx="133350" cy="133350"/>
            </a:xfrm>
            <a:prstGeom prst="ellipse">
              <a:avLst/>
            </a:prstGeom>
            <a:solidFill>
              <a:srgbClr val="C62828"/>
            </a:solidFill>
            <a:ln>
              <a:noFill/>
            </a:ln>
          </p:spPr>
        </p:sp>
        <p:sp>
          <p:nvSpPr>
            <p:cNvPr id="45" name="Ellipse 45"/>
            <p:cNvSpPr/>
            <p:nvPr/>
          </p:nvSpPr>
          <p:spPr>
            <a:xfrm>
              <a:off x="10344150" y="3038475"/>
              <a:ext cx="133350" cy="133350"/>
            </a:xfrm>
            <a:prstGeom prst="ellipse">
              <a:avLst/>
            </a:prstGeom>
            <a:solidFill>
              <a:srgbClr val="C62828"/>
            </a:solidFill>
            <a:ln>
              <a:noFill/>
            </a:ln>
          </p:spPr>
        </p:sp>
        <p:sp>
          <p:nvSpPr>
            <p:cNvPr id="46" name="Ellipse 46"/>
            <p:cNvSpPr/>
            <p:nvPr/>
          </p:nvSpPr>
          <p:spPr>
            <a:xfrm>
              <a:off x="10620375" y="3038475"/>
              <a:ext cx="133350" cy="133350"/>
            </a:xfrm>
            <a:prstGeom prst="ellipse">
              <a:avLst/>
            </a:prstGeom>
            <a:solidFill>
              <a:srgbClr val="C62828"/>
            </a:solidFill>
            <a:ln>
              <a:noFill/>
            </a:ln>
          </p:spPr>
        </p:sp>
        <p:sp>
          <p:nvSpPr>
            <p:cNvPr id="47" name="Ellipse 47"/>
            <p:cNvSpPr/>
            <p:nvPr/>
          </p:nvSpPr>
          <p:spPr>
            <a:xfrm>
              <a:off x="11077575" y="3038475"/>
              <a:ext cx="133350" cy="133350"/>
            </a:xfrm>
            <a:prstGeom prst="ellipse">
              <a:avLst/>
            </a:prstGeom>
            <a:solidFill>
              <a:srgbClr val="C62828"/>
            </a:solidFill>
            <a:ln>
              <a:noFill/>
            </a:ln>
          </p:spPr>
        </p:sp>
        <p:sp>
          <p:nvSpPr>
            <p:cNvPr id="48" name="Line 48"/>
            <p:cNvSpPr/>
            <p:nvPr/>
          </p:nvSpPr>
          <p:spPr>
            <a:xfrm>
              <a:off x="10029825" y="2952750"/>
              <a:ext cx="476250" cy="9525"/>
            </a:xfrm>
            <a:custGeom>
              <a:avLst/>
              <a:gdLst/>
              <a:ahLst/>
              <a:cxnLst/>
              <a:rect l="l" t="t" r="r" b="b"/>
              <a:pathLst>
                <a:path w="476250" h="9525">
                  <a:moveTo>
                    <a:pt x="0" y="0"/>
                  </a:moveTo>
                  <a:lnTo>
                    <a:pt x="476250" y="0"/>
                  </a:lnTo>
                </a:path>
              </a:pathLst>
            </a:custGeom>
            <a:noFill/>
            <a:ln w="28575">
              <a:solidFill>
                <a:srgbClr val="C62828"/>
              </a:solidFill>
            </a:ln>
          </p:spPr>
        </p:sp>
        <p:sp>
          <p:nvSpPr>
            <p:cNvPr id="49" name="Freeform 49"/>
            <p:cNvSpPr/>
            <p:nvPr/>
          </p:nvSpPr>
          <p:spPr>
            <a:xfrm>
              <a:off x="9677400" y="2095500"/>
              <a:ext cx="590550" cy="857250"/>
            </a:xfrm>
            <a:custGeom>
              <a:avLst/>
              <a:gdLst/>
              <a:ahLst/>
              <a:cxnLst/>
              <a:rect l="l" t="t" r="r" b="b"/>
              <a:pathLst>
                <a:path w="590550" h="857250">
                  <a:moveTo>
                    <a:pt x="0" y="0"/>
                  </a:moveTo>
                  <a:lnTo>
                    <a:pt x="590550" y="857250"/>
                  </a:lnTo>
                </a:path>
              </a:pathLst>
            </a:custGeom>
            <a:solidFill>
              <a:srgbClr val="000000"/>
            </a:solidFill>
            <a:ln w="11430">
              <a:solidFill>
                <a:srgbClr val="52616B"/>
              </a:solidFill>
              <a:custDash>
                <a:ds d="250000" sp="250000"/>
              </a:custDash>
            </a:ln>
          </p:spPr>
        </p:sp>
        <p:sp>
          <p:nvSpPr>
            <p:cNvPr id="50" name="TextBox 50"/>
            <p:cNvSpPr txBox="1"/>
            <p:nvPr/>
          </p:nvSpPr>
          <p:spPr>
            <a:xfrm>
              <a:off x="9805797" y="2466499"/>
              <a:ext cx="702526"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14.40 fark</a:t>
              </a:r>
            </a:p>
          </p:txBody>
        </p:sp>
      </p:grpSp>
      <p:grpSp>
        <p:nvGrpSpPr>
          <p:cNvPr id="57" name="chart-explain"/>
          <p:cNvGrpSpPr/>
          <p:nvPr/>
        </p:nvGrpSpPr>
        <p:grpSpPr>
          <a:xfrm>
            <a:off x="609600" y="4457700"/>
            <a:ext cx="10972800" cy="1257300"/>
            <a:chOff x="609600" y="4457700"/>
            <a:chExt cx="10972800" cy="1257300"/>
          </a:xfrm>
        </p:grpSpPr>
        <p:sp>
          <p:nvSpPr>
            <p:cNvPr id="52" name="Rectangle 52"/>
            <p:cNvSpPr/>
            <p:nvPr/>
          </p:nvSpPr>
          <p:spPr>
            <a:xfrm>
              <a:off x="609600" y="4457700"/>
              <a:ext cx="10972800" cy="1257300"/>
            </a:xfrm>
            <a:prstGeom prst="roundRect">
              <a:avLst>
                <a:gd name="adj" fmla="val 6061"/>
              </a:avLst>
            </a:prstGeom>
            <a:solidFill>
              <a:srgbClr val="EAF4F6"/>
            </a:solidFill>
            <a:ln>
              <a:noFill/>
            </a:ln>
          </p:spPr>
        </p:sp>
        <p:sp>
          <p:nvSpPr>
            <p:cNvPr id="53" name="TextBox 53"/>
            <p:cNvSpPr txBox="1"/>
            <p:nvPr/>
          </p:nvSpPr>
          <p:spPr>
            <a:xfrm>
              <a:off x="908304" y="4632960"/>
              <a:ext cx="190090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Bu çıktı ne anlatıyor?</a:t>
              </a:r>
            </a:p>
          </p:txBody>
        </p:sp>
        <p:sp>
          <p:nvSpPr>
            <p:cNvPr id="54" name="TextBox 54"/>
            <p:cNvSpPr txBox="1"/>
            <p:nvPr/>
          </p:nvSpPr>
          <p:spPr>
            <a:xfrm>
              <a:off x="908304" y="4880610"/>
              <a:ext cx="871419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mean, iki dönemin ortalama aylık ücretini hesaplar. Mutlak fark, yönü değil büyüklüğü ölçer. Bu basit test tek</a:t>
              </a:r>
            </a:p>
          </p:txBody>
        </p:sp>
        <p:sp>
          <p:nvSpPr>
            <p:cNvPr id="55" name="TextBox 55"/>
            <p:cNvSpPr txBox="1"/>
            <p:nvPr/>
          </p:nvSpPr>
          <p:spPr>
            <a:xfrm>
              <a:off x="908304" y="5090160"/>
              <a:ext cx="900736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başına modelin bozulduğunu kanıtlamaz; ancak yeniden eğitim veya veri incelemesi için uyarı üretir. Mavi noktalar</a:t>
              </a:r>
            </a:p>
          </p:txBody>
        </p:sp>
        <p:sp>
          <p:nvSpPr>
            <p:cNvPr id="56" name="TextBox 56"/>
            <p:cNvSpPr txBox="1"/>
            <p:nvPr/>
          </p:nvSpPr>
          <p:spPr>
            <a:xfrm>
              <a:off x="908304" y="5299710"/>
              <a:ext cx="932520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45-67 aralığında, kırmızı noktalar 58-82 aralığında toplanır; iki çizgi arasındaki mesafe 14.40'lık farkı gösterir.</a:t>
              </a:r>
            </a:p>
          </p:txBody>
        </p:sp>
      </p:grpSp>
      <p:sp>
        <p:nvSpPr>
          <p:cNvPr id="58" name="TextBox 5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 / 25</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347102" cy="668845"/>
            <a:chOff x="609600" y="171450"/>
            <a:chExt cx="8347102"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65673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kayması: yöntemler ve hatalar</a:t>
              </a:r>
            </a:p>
          </p:txBody>
        </p:sp>
      </p:grpSp>
      <p:grpSp>
        <p:nvGrpSpPr>
          <p:cNvPr id="33" name="method-table"/>
          <p:cNvGrpSpPr/>
          <p:nvPr/>
        </p:nvGrpSpPr>
        <p:grpSpPr>
          <a:xfrm>
            <a:off x="609600" y="1219200"/>
            <a:ext cx="10972800" cy="2271618"/>
            <a:chOff x="609600" y="1219200"/>
            <a:chExt cx="10972800" cy="2271618"/>
          </a:xfrm>
        </p:grpSpPr>
        <p:sp>
          <p:nvSpPr>
            <p:cNvPr id="12" name="Rectangle 12"/>
            <p:cNvSpPr/>
            <p:nvPr/>
          </p:nvSpPr>
          <p:spPr>
            <a:xfrm>
              <a:off x="609600" y="1219200"/>
              <a:ext cx="10972800" cy="381000"/>
            </a:xfrm>
            <a:prstGeom prst="rect">
              <a:avLst/>
            </a:prstGeom>
            <a:solidFill>
              <a:srgbClr val="12355B"/>
            </a:solidFill>
            <a:ln>
              <a:noFill/>
            </a:ln>
          </p:spPr>
        </p:sp>
        <p:sp>
          <p:nvSpPr>
            <p:cNvPr id="13" name="TextBox 13"/>
            <p:cNvSpPr txBox="1"/>
            <p:nvPr/>
          </p:nvSpPr>
          <p:spPr>
            <a:xfrm>
              <a:off x="832104" y="1337310"/>
              <a:ext cx="639470"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YÖNTEM</a:t>
              </a:r>
            </a:p>
          </p:txBody>
        </p:sp>
        <p:sp>
          <p:nvSpPr>
            <p:cNvPr id="14" name="TextBox 14"/>
            <p:cNvSpPr txBox="1"/>
            <p:nvPr/>
          </p:nvSpPr>
          <p:spPr>
            <a:xfrm>
              <a:off x="3499104" y="1337310"/>
              <a:ext cx="854537"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GÜÇLÜ YÖN</a:t>
              </a:r>
            </a:p>
          </p:txBody>
        </p:sp>
        <p:sp>
          <p:nvSpPr>
            <p:cNvPr id="15" name="TextBox 15"/>
            <p:cNvSpPr txBox="1"/>
            <p:nvPr/>
          </p:nvSpPr>
          <p:spPr>
            <a:xfrm>
              <a:off x="7232904" y="1337310"/>
              <a:ext cx="818693"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SINIRLILIK</a:t>
              </a:r>
            </a:p>
          </p:txBody>
        </p:sp>
        <p:sp>
          <p:nvSpPr>
            <p:cNvPr id="16" name="TextBox 16"/>
            <p:cNvSpPr txBox="1"/>
            <p:nvPr/>
          </p:nvSpPr>
          <p:spPr>
            <a:xfrm>
              <a:off x="830199" y="1734979"/>
              <a:ext cx="172073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Ortalama farkı</a:t>
              </a:r>
            </a:p>
          </p:txBody>
        </p:sp>
        <p:sp>
          <p:nvSpPr>
            <p:cNvPr id="17" name="TextBox 17"/>
            <p:cNvSpPr txBox="1"/>
            <p:nvPr/>
          </p:nvSpPr>
          <p:spPr>
            <a:xfrm>
              <a:off x="3499104" y="1775460"/>
              <a:ext cx="134995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Kolay yorumlanır</a:t>
              </a:r>
            </a:p>
          </p:txBody>
        </p:sp>
        <p:sp>
          <p:nvSpPr>
            <p:cNvPr id="18" name="TextBox 18"/>
            <p:cNvSpPr txBox="1"/>
            <p:nvPr/>
          </p:nvSpPr>
          <p:spPr>
            <a:xfrm>
              <a:off x="7232904" y="1775460"/>
              <a:ext cx="216540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Dağılım biçimini kaçırabilir</a:t>
              </a:r>
            </a:p>
          </p:txBody>
        </p:sp>
        <p:sp>
          <p:nvSpPr>
            <p:cNvPr id="19" name="Line 19"/>
            <p:cNvSpPr/>
            <p:nvPr/>
          </p:nvSpPr>
          <p:spPr>
            <a:xfrm>
              <a:off x="609600" y="211455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20" name="Rectangle 20"/>
            <p:cNvSpPr/>
            <p:nvPr/>
          </p:nvSpPr>
          <p:spPr>
            <a:xfrm>
              <a:off x="609600" y="2190750"/>
              <a:ext cx="10972800" cy="438150"/>
            </a:xfrm>
            <a:prstGeom prst="rect">
              <a:avLst/>
            </a:prstGeom>
            <a:solidFill>
              <a:srgbClr val="EAF4F6"/>
            </a:solidFill>
            <a:ln>
              <a:noFill/>
            </a:ln>
          </p:spPr>
        </p:sp>
        <p:sp>
          <p:nvSpPr>
            <p:cNvPr id="21" name="TextBox 21"/>
            <p:cNvSpPr txBox="1"/>
            <p:nvPr/>
          </p:nvSpPr>
          <p:spPr>
            <a:xfrm>
              <a:off x="830199" y="2268379"/>
              <a:ext cx="34636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PSI</a:t>
              </a:r>
            </a:p>
          </p:txBody>
        </p:sp>
        <p:sp>
          <p:nvSpPr>
            <p:cNvPr id="22" name="TextBox 22"/>
            <p:cNvSpPr txBox="1"/>
            <p:nvPr/>
          </p:nvSpPr>
          <p:spPr>
            <a:xfrm>
              <a:off x="3499104" y="2308860"/>
              <a:ext cx="185043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Dağılım değişimini izler</a:t>
              </a:r>
            </a:p>
          </p:txBody>
        </p:sp>
        <p:sp>
          <p:nvSpPr>
            <p:cNvPr id="23" name="TextBox 23"/>
            <p:cNvSpPr txBox="1"/>
            <p:nvPr/>
          </p:nvSpPr>
          <p:spPr>
            <a:xfrm>
              <a:off x="7232904" y="2308860"/>
              <a:ext cx="214150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Bölümleme seçimine duyarlı</a:t>
              </a:r>
            </a:p>
          </p:txBody>
        </p:sp>
        <p:sp>
          <p:nvSpPr>
            <p:cNvPr id="24" name="Line 24"/>
            <p:cNvSpPr/>
            <p:nvPr/>
          </p:nvSpPr>
          <p:spPr>
            <a:xfrm>
              <a:off x="609600" y="26289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25" name="TextBox 25"/>
            <p:cNvSpPr txBox="1"/>
            <p:nvPr/>
          </p:nvSpPr>
          <p:spPr>
            <a:xfrm>
              <a:off x="830199" y="2706529"/>
              <a:ext cx="90109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KS testi</a:t>
              </a:r>
            </a:p>
          </p:txBody>
        </p:sp>
        <p:sp>
          <p:nvSpPr>
            <p:cNvPr id="26" name="TextBox 26"/>
            <p:cNvSpPr txBox="1"/>
            <p:nvPr/>
          </p:nvSpPr>
          <p:spPr>
            <a:xfrm>
              <a:off x="3499104" y="2747010"/>
              <a:ext cx="213321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Sürekli değişkenlerde güçlü</a:t>
              </a:r>
            </a:p>
          </p:txBody>
        </p:sp>
        <p:sp>
          <p:nvSpPr>
            <p:cNvPr id="27" name="TextBox 27"/>
            <p:cNvSpPr txBox="1"/>
            <p:nvPr/>
          </p:nvSpPr>
          <p:spPr>
            <a:xfrm>
              <a:off x="7232904" y="2747010"/>
              <a:ext cx="248090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İş etkisini tek başına anlatmaz</a:t>
              </a:r>
            </a:p>
          </p:txBody>
        </p:sp>
        <p:sp>
          <p:nvSpPr>
            <p:cNvPr id="28" name="Line 28"/>
            <p:cNvSpPr/>
            <p:nvPr/>
          </p:nvSpPr>
          <p:spPr>
            <a:xfrm>
              <a:off x="609600" y="306705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29" name="Rectangle 29"/>
            <p:cNvSpPr/>
            <p:nvPr/>
          </p:nvSpPr>
          <p:spPr>
            <a:xfrm>
              <a:off x="609600" y="3143250"/>
              <a:ext cx="10972800" cy="285750"/>
            </a:xfrm>
            <a:prstGeom prst="rect">
              <a:avLst/>
            </a:prstGeom>
            <a:solidFill>
              <a:srgbClr val="EAF4F6"/>
            </a:solidFill>
            <a:ln>
              <a:noFill/>
            </a:ln>
          </p:spPr>
        </p:sp>
        <p:sp>
          <p:nvSpPr>
            <p:cNvPr id="30" name="TextBox 30"/>
            <p:cNvSpPr txBox="1"/>
            <p:nvPr/>
          </p:nvSpPr>
          <p:spPr>
            <a:xfrm>
              <a:off x="830199" y="3182779"/>
              <a:ext cx="166465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Başarım izleme</a:t>
              </a:r>
            </a:p>
          </p:txBody>
        </p:sp>
        <p:sp>
          <p:nvSpPr>
            <p:cNvPr id="31" name="TextBox 31"/>
            <p:cNvSpPr txBox="1"/>
            <p:nvPr/>
          </p:nvSpPr>
          <p:spPr>
            <a:xfrm>
              <a:off x="3499104" y="3223260"/>
              <a:ext cx="171345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Doğrudan model etkisi</a:t>
              </a:r>
            </a:p>
          </p:txBody>
        </p:sp>
        <p:sp>
          <p:nvSpPr>
            <p:cNvPr id="32" name="TextBox 32"/>
            <p:cNvSpPr txBox="1"/>
            <p:nvPr/>
          </p:nvSpPr>
          <p:spPr>
            <a:xfrm>
              <a:off x="7232904" y="3223260"/>
              <a:ext cx="194761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Gerçek etiket gerektirir</a:t>
              </a:r>
            </a:p>
          </p:txBody>
        </p:sp>
      </p:grpSp>
      <p:grpSp>
        <p:nvGrpSpPr>
          <p:cNvPr id="36" name="when"/>
          <p:cNvGrpSpPr/>
          <p:nvPr/>
        </p:nvGrpSpPr>
        <p:grpSpPr>
          <a:xfrm>
            <a:off x="603504" y="3699510"/>
            <a:ext cx="8955791" cy="444246"/>
            <a:chOff x="603504" y="3699510"/>
            <a:chExt cx="8955791" cy="444246"/>
          </a:xfrm>
        </p:grpSpPr>
        <p:sp>
          <p:nvSpPr>
            <p:cNvPr id="34" name="TextBox 34"/>
            <p:cNvSpPr txBox="1"/>
            <p:nvPr/>
          </p:nvSpPr>
          <p:spPr>
            <a:xfrm>
              <a:off x="603504" y="3699510"/>
              <a:ext cx="895579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Ortalama karşılaştırması başlangıç seviyesi izleme için uygundur. Başarım etiketi gecikmeli geliyorsa önce girdi</a:t>
              </a:r>
            </a:p>
          </p:txBody>
        </p:sp>
        <p:sp>
          <p:nvSpPr>
            <p:cNvPr id="35" name="TextBox 35"/>
            <p:cNvSpPr txBox="1"/>
            <p:nvPr/>
          </p:nvSpPr>
          <p:spPr>
            <a:xfrm>
              <a:off x="603504" y="3909060"/>
              <a:ext cx="542391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kayması, etiket geldiğinde hata ve kalibrasyon kayması izlenmelidir.</a:t>
              </a:r>
            </a:p>
          </p:txBody>
        </p:sp>
      </p:grpSp>
      <p:grpSp>
        <p:nvGrpSpPr>
          <p:cNvPr id="47" name="mistakes"/>
          <p:cNvGrpSpPr/>
          <p:nvPr/>
        </p:nvGrpSpPr>
        <p:grpSpPr>
          <a:xfrm>
            <a:off x="600456" y="4339590"/>
            <a:ext cx="7093275" cy="1918716"/>
            <a:chOff x="600456" y="4339590"/>
            <a:chExt cx="7093275" cy="1918716"/>
          </a:xfrm>
        </p:grpSpPr>
        <p:sp>
          <p:nvSpPr>
            <p:cNvPr id="37" name="TextBox 37"/>
            <p:cNvSpPr txBox="1"/>
            <p:nvPr/>
          </p:nvSpPr>
          <p:spPr>
            <a:xfrm>
              <a:off x="600456" y="4339590"/>
              <a:ext cx="185817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Yaygın hatalar</a:t>
              </a:r>
            </a:p>
          </p:txBody>
        </p:sp>
        <p:sp>
          <p:nvSpPr>
            <p:cNvPr id="38" name="Rectangle 38"/>
            <p:cNvSpPr/>
            <p:nvPr/>
          </p:nvSpPr>
          <p:spPr>
            <a:xfrm>
              <a:off x="609600" y="4686300"/>
              <a:ext cx="57150" cy="438150"/>
            </a:xfrm>
            <a:prstGeom prst="rect">
              <a:avLst/>
            </a:prstGeom>
            <a:solidFill>
              <a:srgbClr val="00A6A6"/>
            </a:solidFill>
            <a:ln>
              <a:noFill/>
            </a:ln>
          </p:spPr>
        </p:sp>
        <p:sp>
          <p:nvSpPr>
            <p:cNvPr id="39" name="TextBox 39"/>
            <p:cNvSpPr txBox="1"/>
            <p:nvPr/>
          </p:nvSpPr>
          <p:spPr>
            <a:xfrm>
              <a:off x="851154" y="4747260"/>
              <a:ext cx="2646636" cy="234696"/>
            </a:xfrm>
            <a:prstGeom prst="rect">
              <a:avLst/>
            </a:prstGeom>
            <a:noFill/>
            <a:ln>
              <a:noFill/>
            </a:ln>
          </p:spPr>
          <p:txBody>
            <a:bodyPr wrap="none" lIns="0" tIns="0" rIns="0" bIns="0" anchor="t" anchorCtr="0">
              <a:spAutoFit/>
            </a:bodyPr>
            <a:lstStyle/>
            <a:p>
              <a:pPr algn="l"/>
              <a:r>
                <a:rPr lang="tr-TR" sz="1200" b="1" dirty="0">
                  <a:solidFill>
                    <a:srgbClr val="172B3A"/>
                  </a:solidFill>
                  <a:latin typeface="+mn-lt"/>
                  <a:ea typeface="+mn-ea"/>
                  <a:cs typeface="+mn-cs"/>
                </a:rPr>
                <a:t>Eşik değerini gerekçesiz seçmek</a:t>
              </a:r>
            </a:p>
          </p:txBody>
        </p:sp>
        <p:sp>
          <p:nvSpPr>
            <p:cNvPr id="40" name="TextBox 40"/>
            <p:cNvSpPr txBox="1"/>
            <p:nvPr/>
          </p:nvSpPr>
          <p:spPr>
            <a:xfrm>
              <a:off x="851154" y="4956810"/>
              <a:ext cx="684257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Doğrusu: eşik, tarihsel dalgalanma, iş riski ve yanlış alarm maliyetiyle belirlenmelidir.</a:t>
              </a:r>
            </a:p>
          </p:txBody>
        </p:sp>
        <p:sp>
          <p:nvSpPr>
            <p:cNvPr id="41" name="Rectangle 41"/>
            <p:cNvSpPr/>
            <p:nvPr/>
          </p:nvSpPr>
          <p:spPr>
            <a:xfrm>
              <a:off x="609600" y="5219700"/>
              <a:ext cx="57150" cy="438150"/>
            </a:xfrm>
            <a:prstGeom prst="rect">
              <a:avLst/>
            </a:prstGeom>
            <a:solidFill>
              <a:srgbClr val="00A6A6"/>
            </a:solidFill>
            <a:ln>
              <a:noFill/>
            </a:ln>
          </p:spPr>
        </p:sp>
        <p:sp>
          <p:nvSpPr>
            <p:cNvPr id="42" name="TextBox 42"/>
            <p:cNvSpPr txBox="1"/>
            <p:nvPr/>
          </p:nvSpPr>
          <p:spPr>
            <a:xfrm>
              <a:off x="851154" y="5280660"/>
              <a:ext cx="2824720" cy="234696"/>
            </a:xfrm>
            <a:prstGeom prst="rect">
              <a:avLst/>
            </a:prstGeom>
            <a:noFill/>
            <a:ln>
              <a:noFill/>
            </a:ln>
          </p:spPr>
          <p:txBody>
            <a:bodyPr wrap="none" lIns="0" tIns="0" rIns="0" bIns="0" anchor="t" anchorCtr="0">
              <a:spAutoFit/>
            </a:bodyPr>
            <a:lstStyle/>
            <a:p>
              <a:pPr algn="l"/>
              <a:r>
                <a:rPr lang="tr-TR" sz="1200" b="1" dirty="0">
                  <a:solidFill>
                    <a:srgbClr val="172B3A"/>
                  </a:solidFill>
                  <a:latin typeface="+mn-lt"/>
                  <a:ea typeface="+mn-ea"/>
                  <a:cs typeface="+mn-cs"/>
                </a:rPr>
                <a:t>Yalnızca genel ortalamayı izlemek</a:t>
              </a:r>
            </a:p>
          </p:txBody>
        </p:sp>
        <p:sp>
          <p:nvSpPr>
            <p:cNvPr id="43" name="TextBox 43"/>
            <p:cNvSpPr txBox="1"/>
            <p:nvPr/>
          </p:nvSpPr>
          <p:spPr>
            <a:xfrm>
              <a:off x="851154" y="5490210"/>
              <a:ext cx="438722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Doğrusu: müşteri segmentleri ayrı ayrı incelenmelidir.</a:t>
              </a:r>
            </a:p>
          </p:txBody>
        </p:sp>
        <p:sp>
          <p:nvSpPr>
            <p:cNvPr id="44" name="Rectangle 44"/>
            <p:cNvSpPr/>
            <p:nvPr/>
          </p:nvSpPr>
          <p:spPr>
            <a:xfrm>
              <a:off x="609600" y="5753100"/>
              <a:ext cx="57150" cy="438150"/>
            </a:xfrm>
            <a:prstGeom prst="rect">
              <a:avLst/>
            </a:prstGeom>
            <a:solidFill>
              <a:srgbClr val="00A6A6"/>
            </a:solidFill>
            <a:ln>
              <a:noFill/>
            </a:ln>
          </p:spPr>
        </p:sp>
        <p:sp>
          <p:nvSpPr>
            <p:cNvPr id="45" name="TextBox 45"/>
            <p:cNvSpPr txBox="1"/>
            <p:nvPr/>
          </p:nvSpPr>
          <p:spPr>
            <a:xfrm>
              <a:off x="851154" y="5814060"/>
              <a:ext cx="4707867" cy="234696"/>
            </a:xfrm>
            <a:prstGeom prst="rect">
              <a:avLst/>
            </a:prstGeom>
            <a:noFill/>
            <a:ln>
              <a:noFill/>
            </a:ln>
          </p:spPr>
          <p:txBody>
            <a:bodyPr wrap="none" lIns="0" tIns="0" rIns="0" bIns="0" anchor="t" anchorCtr="0">
              <a:spAutoFit/>
            </a:bodyPr>
            <a:lstStyle/>
            <a:p>
              <a:pPr algn="l"/>
              <a:r>
                <a:rPr lang="tr-TR" sz="1200" b="1" dirty="0">
                  <a:solidFill>
                    <a:srgbClr val="172B3A"/>
                  </a:solidFill>
                  <a:latin typeface="+mn-lt"/>
                  <a:ea typeface="+mn-ea"/>
                  <a:cs typeface="+mn-cs"/>
                </a:rPr>
                <a:t>Kayma uyarısını otomatik yeniden eğitim komutu saymak</a:t>
              </a:r>
            </a:p>
          </p:txBody>
        </p:sp>
        <p:sp>
          <p:nvSpPr>
            <p:cNvPr id="46" name="TextBox 46"/>
            <p:cNvSpPr txBox="1"/>
            <p:nvPr/>
          </p:nvSpPr>
          <p:spPr>
            <a:xfrm>
              <a:off x="851154" y="6023610"/>
              <a:ext cx="453226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Doğrusu: önce veri kalitesi ve adillik değerlendirilmelidir.</a:t>
              </a:r>
            </a:p>
          </p:txBody>
        </p:sp>
      </p:grpSp>
      <p:sp>
        <p:nvSpPr>
          <p:cNvPr id="48" name="TextBox 4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 / 25</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6230207" cy="668845"/>
            <a:chOff x="609600" y="171450"/>
            <a:chExt cx="6230207"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09562"/>
                <a:ext cx="206693" cy="280512"/>
                <a:chOff x="792004" y="309562"/>
                <a:chExt cx="206693" cy="280512"/>
              </a:xfrm>
            </p:grpSpPr>
            <p:sp>
              <p:nvSpPr>
                <p:cNvPr id="5" name="Freeform 5"/>
                <p:cNvSpPr/>
                <p:nvPr/>
              </p:nvSpPr>
              <p:spPr>
                <a:xfrm>
                  <a:off x="7920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805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8362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99972" y="282892"/>
              <a:ext cx="553983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Algoritmik önyargı ve adillik</a:t>
              </a:r>
            </a:p>
          </p:txBody>
        </p:sp>
      </p:grpSp>
      <p:grpSp>
        <p:nvGrpSpPr>
          <p:cNvPr id="15" name="def-text"/>
          <p:cNvGrpSpPr/>
          <p:nvPr/>
        </p:nvGrpSpPr>
        <p:grpSpPr>
          <a:xfrm>
            <a:off x="600456" y="1253490"/>
            <a:ext cx="9816125" cy="923544"/>
            <a:chOff x="600456" y="1253490"/>
            <a:chExt cx="9816125" cy="923544"/>
          </a:xfrm>
        </p:grpSpPr>
        <p:sp>
          <p:nvSpPr>
            <p:cNvPr id="12" name="TextBox 12"/>
            <p:cNvSpPr txBox="1"/>
            <p:nvPr/>
          </p:nvSpPr>
          <p:spPr>
            <a:xfrm>
              <a:off x="600456" y="1253490"/>
              <a:ext cx="9197697"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Algoritmik önyargı, modelin bazı gruplar için sistematik biçimde daha olumsuz</a:t>
              </a:r>
            </a:p>
          </p:txBody>
        </p:sp>
        <p:sp>
          <p:nvSpPr>
            <p:cNvPr id="13" name="TextBox 13"/>
            <p:cNvSpPr txBox="1"/>
            <p:nvPr/>
          </p:nvSpPr>
          <p:spPr>
            <a:xfrm>
              <a:off x="600456" y="1539240"/>
              <a:ext cx="9816125"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veya daha hatalı karar üretmesidir. Adillik "herkese aynı sonuç" anlamına gelmez;</a:t>
              </a:r>
            </a:p>
          </p:txBody>
        </p:sp>
        <p:sp>
          <p:nvSpPr>
            <p:cNvPr id="14" name="TextBox 14"/>
            <p:cNvSpPr txBox="1"/>
            <p:nvPr/>
          </p:nvSpPr>
          <p:spPr>
            <a:xfrm>
              <a:off x="600456" y="1824990"/>
              <a:ext cx="9492844"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gruplar arasındaki olumlu karar ve hata oranı farklarının değerlendirilmesidir.</a:t>
              </a:r>
            </a:p>
          </p:txBody>
        </p:sp>
      </p:grpSp>
      <p:grpSp>
        <p:nvGrpSpPr>
          <p:cNvPr id="20" name="formula-dp"/>
          <p:cNvGrpSpPr/>
          <p:nvPr/>
        </p:nvGrpSpPr>
        <p:grpSpPr>
          <a:xfrm>
            <a:off x="609600" y="2324100"/>
            <a:ext cx="5257800" cy="1123950"/>
            <a:chOff x="609600" y="2324100"/>
            <a:chExt cx="5257800" cy="1123950"/>
          </a:xfrm>
        </p:grpSpPr>
        <p:sp>
          <p:nvSpPr>
            <p:cNvPr id="16" name="Rectangle 16"/>
            <p:cNvSpPr/>
            <p:nvPr/>
          </p:nvSpPr>
          <p:spPr>
            <a:xfrm>
              <a:off x="609600" y="2324100"/>
              <a:ext cx="5257800" cy="1123950"/>
            </a:xfrm>
            <a:prstGeom prst="roundRect">
              <a:avLst>
                <a:gd name="adj" fmla="val 6780"/>
              </a:avLst>
            </a:prstGeom>
            <a:solidFill>
              <a:srgbClr val="12355B"/>
            </a:solidFill>
            <a:ln>
              <a:noFill/>
            </a:ln>
          </p:spPr>
        </p:sp>
        <p:sp>
          <p:nvSpPr>
            <p:cNvPr id="17" name="TextBox 17"/>
            <p:cNvSpPr txBox="1"/>
            <p:nvPr/>
          </p:nvSpPr>
          <p:spPr>
            <a:xfrm>
              <a:off x="1369924" y="2548890"/>
              <a:ext cx="3737153" cy="352044"/>
            </a:xfrm>
            <a:prstGeom prst="rect">
              <a:avLst/>
            </a:prstGeom>
            <a:noFill/>
            <a:ln>
              <a:noFill/>
            </a:ln>
          </p:spPr>
          <p:txBody>
            <a:bodyPr wrap="none" lIns="0" tIns="0" rIns="0" bIns="0" anchor="t" anchorCtr="0">
              <a:spAutoFit/>
            </a:bodyPr>
            <a:lstStyle/>
            <a:p>
              <a:pPr algn="ctr"/>
              <a:r>
                <a:rPr lang="el-GR" sz="1800" b="1" dirty="0">
                  <a:solidFill>
                    <a:srgbClr val="FFFFFF"/>
                  </a:solidFill>
                  <a:latin typeface="+mj-lt"/>
                  <a:ea typeface="+mj-ea"/>
                  <a:cs typeface="+mj-cs"/>
                </a:rPr>
                <a:t>Δ_DP = P(ŷ=1 | A) − P(ŷ=1 | B)</a:t>
              </a:r>
            </a:p>
          </p:txBody>
        </p:sp>
        <p:sp>
          <p:nvSpPr>
            <p:cNvPr id="18" name="TextBox 18"/>
            <p:cNvSpPr txBox="1"/>
            <p:nvPr/>
          </p:nvSpPr>
          <p:spPr>
            <a:xfrm>
              <a:off x="874466" y="2888456"/>
              <a:ext cx="4728069" cy="220028"/>
            </a:xfrm>
            <a:prstGeom prst="rect">
              <a:avLst/>
            </a:prstGeom>
            <a:noFill/>
            <a:ln>
              <a:noFill/>
            </a:ln>
          </p:spPr>
          <p:txBody>
            <a:bodyPr wrap="none" lIns="0" tIns="0" rIns="0" bIns="0" anchor="t" anchorCtr="0">
              <a:spAutoFit/>
            </a:bodyPr>
            <a:lstStyle/>
            <a:p>
              <a:pPr algn="ctr"/>
              <a:r>
                <a:rPr lang="tr-TR" sz="1120" dirty="0">
                  <a:solidFill>
                    <a:srgbClr val="EAF4F6"/>
                  </a:solidFill>
                  <a:latin typeface="+mn-lt"/>
                  <a:ea typeface="+mn-ea"/>
                  <a:cs typeface="+mn-cs"/>
                </a:rPr>
                <a:t>Demografik parite farkı: olumlu karar oranları arasındaki fark</a:t>
              </a:r>
            </a:p>
          </p:txBody>
        </p:sp>
        <p:sp>
          <p:nvSpPr>
            <p:cNvPr id="19" name="TextBox 19"/>
            <p:cNvSpPr txBox="1"/>
            <p:nvPr/>
          </p:nvSpPr>
          <p:spPr>
            <a:xfrm>
              <a:off x="1578036" y="3078956"/>
              <a:ext cx="3320928" cy="220028"/>
            </a:xfrm>
            <a:prstGeom prst="rect">
              <a:avLst/>
            </a:prstGeom>
            <a:noFill/>
            <a:ln>
              <a:noFill/>
            </a:ln>
          </p:spPr>
          <p:txBody>
            <a:bodyPr wrap="none" lIns="0" tIns="0" rIns="0" bIns="0" anchor="t" anchorCtr="0">
              <a:spAutoFit/>
            </a:bodyPr>
            <a:lstStyle/>
            <a:p>
              <a:pPr algn="ctr"/>
              <a:r>
                <a:rPr lang="tr-TR" sz="1120" dirty="0">
                  <a:solidFill>
                    <a:srgbClr val="EAF4F6"/>
                  </a:solidFill>
                  <a:latin typeface="+mn-lt"/>
                  <a:ea typeface="+mn-ea"/>
                  <a:cs typeface="+mn-cs"/>
                </a:rPr>
                <a:t>0'a yakınlık, dengeli davranışa işaret eder.</a:t>
              </a:r>
            </a:p>
          </p:txBody>
        </p:sp>
      </p:grpSp>
      <p:grpSp>
        <p:nvGrpSpPr>
          <p:cNvPr id="25" name="formula-eo"/>
          <p:cNvGrpSpPr/>
          <p:nvPr/>
        </p:nvGrpSpPr>
        <p:grpSpPr>
          <a:xfrm>
            <a:off x="6324600" y="2324100"/>
            <a:ext cx="5257800" cy="1123950"/>
            <a:chOff x="6324600" y="2324100"/>
            <a:chExt cx="5257800" cy="1123950"/>
          </a:xfrm>
        </p:grpSpPr>
        <p:sp>
          <p:nvSpPr>
            <p:cNvPr id="21" name="Rectangle 21"/>
            <p:cNvSpPr/>
            <p:nvPr/>
          </p:nvSpPr>
          <p:spPr>
            <a:xfrm>
              <a:off x="6324600" y="2324100"/>
              <a:ext cx="5257800" cy="1123950"/>
            </a:xfrm>
            <a:prstGeom prst="roundRect">
              <a:avLst>
                <a:gd name="adj" fmla="val 6780"/>
              </a:avLst>
            </a:prstGeom>
            <a:solidFill>
              <a:srgbClr val="12355B"/>
            </a:solidFill>
            <a:ln>
              <a:noFill/>
            </a:ln>
          </p:spPr>
        </p:sp>
        <p:sp>
          <p:nvSpPr>
            <p:cNvPr id="22" name="TextBox 22"/>
            <p:cNvSpPr txBox="1"/>
            <p:nvPr/>
          </p:nvSpPr>
          <p:spPr>
            <a:xfrm>
              <a:off x="6651066" y="2548890"/>
              <a:ext cx="4604869" cy="352044"/>
            </a:xfrm>
            <a:prstGeom prst="rect">
              <a:avLst/>
            </a:prstGeom>
            <a:noFill/>
            <a:ln>
              <a:noFill/>
            </a:ln>
          </p:spPr>
          <p:txBody>
            <a:bodyPr wrap="none" lIns="0" tIns="0" rIns="0" bIns="0" anchor="t" anchorCtr="0">
              <a:spAutoFit/>
            </a:bodyPr>
            <a:lstStyle/>
            <a:p>
              <a:pPr algn="ctr"/>
              <a:r>
                <a:rPr lang="el-GR" sz="1800" b="1" dirty="0">
                  <a:solidFill>
                    <a:srgbClr val="FFFFFF"/>
                  </a:solidFill>
                  <a:latin typeface="+mj-lt"/>
                  <a:ea typeface="+mj-ea"/>
                  <a:cs typeface="+mj-cs"/>
                </a:rPr>
                <a:t>Δ_EO = P(ŷ=1|y=1,A) − P(ŷ=1|y=1,B)</a:t>
              </a:r>
            </a:p>
          </p:txBody>
        </p:sp>
        <p:sp>
          <p:nvSpPr>
            <p:cNvPr id="23" name="TextBox 23"/>
            <p:cNvSpPr txBox="1"/>
            <p:nvPr/>
          </p:nvSpPr>
          <p:spPr>
            <a:xfrm>
              <a:off x="7316930" y="2888456"/>
              <a:ext cx="3273139" cy="220028"/>
            </a:xfrm>
            <a:prstGeom prst="rect">
              <a:avLst/>
            </a:prstGeom>
            <a:noFill/>
            <a:ln>
              <a:noFill/>
            </a:ln>
          </p:spPr>
          <p:txBody>
            <a:bodyPr wrap="none" lIns="0" tIns="0" rIns="0" bIns="0" anchor="t" anchorCtr="0">
              <a:spAutoFit/>
            </a:bodyPr>
            <a:lstStyle/>
            <a:p>
              <a:pPr algn="ctr"/>
              <a:r>
                <a:rPr lang="tr-TR" sz="1120" dirty="0">
                  <a:solidFill>
                    <a:srgbClr val="EAF4F6"/>
                  </a:solidFill>
                  <a:latin typeface="+mn-lt"/>
                  <a:ea typeface="+mn-ea"/>
                  <a:cs typeface="+mn-cs"/>
                </a:rPr>
                <a:t>Eşit fırsat farkı: yalnızca gerçekte olumlu</a:t>
              </a:r>
            </a:p>
          </p:txBody>
        </p:sp>
        <p:sp>
          <p:nvSpPr>
            <p:cNvPr id="24" name="TextBox 24"/>
            <p:cNvSpPr txBox="1"/>
            <p:nvPr/>
          </p:nvSpPr>
          <p:spPr>
            <a:xfrm>
              <a:off x="7081952" y="3078956"/>
              <a:ext cx="3743096" cy="220028"/>
            </a:xfrm>
            <a:prstGeom prst="rect">
              <a:avLst/>
            </a:prstGeom>
            <a:noFill/>
            <a:ln>
              <a:noFill/>
            </a:ln>
          </p:spPr>
          <p:txBody>
            <a:bodyPr wrap="none" lIns="0" tIns="0" rIns="0" bIns="0" anchor="t" anchorCtr="0">
              <a:spAutoFit/>
            </a:bodyPr>
            <a:lstStyle/>
            <a:p>
              <a:pPr algn="ctr"/>
              <a:r>
                <a:rPr lang="tr-TR" sz="1120" dirty="0">
                  <a:solidFill>
                    <a:srgbClr val="EAF4F6"/>
                  </a:solidFill>
                  <a:latin typeface="+mn-lt"/>
                  <a:ea typeface="+mn-ea"/>
                  <a:cs typeface="+mn-cs"/>
                </a:rPr>
                <a:t>olması gereken gözlemler üzerinde karşılaştırma.</a:t>
              </a:r>
            </a:p>
          </p:txBody>
        </p:sp>
      </p:grpSp>
      <p:grpSp>
        <p:nvGrpSpPr>
          <p:cNvPr id="33" name="analogy"/>
          <p:cNvGrpSpPr/>
          <p:nvPr/>
        </p:nvGrpSpPr>
        <p:grpSpPr>
          <a:xfrm>
            <a:off x="609600" y="3657600"/>
            <a:ext cx="11161070" cy="857250"/>
            <a:chOff x="609600" y="3657600"/>
            <a:chExt cx="11161070" cy="857250"/>
          </a:xfrm>
        </p:grpSpPr>
        <p:sp>
          <p:nvSpPr>
            <p:cNvPr id="26" name="Rectangle 26"/>
            <p:cNvSpPr/>
            <p:nvPr/>
          </p:nvSpPr>
          <p:spPr>
            <a:xfrm>
              <a:off x="609600" y="3657600"/>
              <a:ext cx="10972800" cy="857250"/>
            </a:xfrm>
            <a:prstGeom prst="roundRect">
              <a:avLst>
                <a:gd name="adj" fmla="val 8889"/>
              </a:avLst>
            </a:prstGeom>
            <a:solidFill>
              <a:srgbClr val="EAF4F6"/>
            </a:solidFill>
            <a:ln>
              <a:noFill/>
            </a:ln>
          </p:spPr>
        </p:sp>
        <p:grpSp>
          <p:nvGrpSpPr>
            <p:cNvPr id="30" name="icon-world"/>
            <p:cNvGrpSpPr/>
            <p:nvPr/>
          </p:nvGrpSpPr>
          <p:grpSpPr>
            <a:xfrm>
              <a:off x="914400" y="3848100"/>
              <a:ext cx="419100" cy="419100"/>
              <a:chOff x="914400" y="3848100"/>
              <a:chExt cx="419100" cy="419100"/>
            </a:xfrm>
          </p:grpSpPr>
          <p:sp>
            <p:nvSpPr>
              <p:cNvPr id="27" name="Ellipse 27"/>
              <p:cNvSpPr/>
              <p:nvPr/>
            </p:nvSpPr>
            <p:spPr>
              <a:xfrm>
                <a:off x="914400" y="3848100"/>
                <a:ext cx="419100" cy="419100"/>
              </a:xfrm>
              <a:prstGeom prst="ellipse">
                <a:avLst/>
              </a:prstGeom>
              <a:solidFill>
                <a:srgbClr val="FFFFFF"/>
              </a:solidFill>
              <a:ln>
                <a:noFill/>
              </a:ln>
            </p:spPr>
          </p:sp>
          <p:sp>
            <p:nvSpPr>
              <p:cNvPr id="28" name="Ellipse 28"/>
              <p:cNvSpPr/>
              <p:nvPr/>
            </p:nvSpPr>
            <p:spPr>
              <a:xfrm>
                <a:off x="990600" y="3924300"/>
                <a:ext cx="266700" cy="266700"/>
              </a:xfrm>
              <a:prstGeom prst="ellipse">
                <a:avLst/>
              </a:prstGeom>
              <a:noFill/>
              <a:ln w="15240">
                <a:solidFill>
                  <a:srgbClr val="12355B"/>
                </a:solidFill>
              </a:ln>
            </p:spPr>
          </p:sp>
          <p:sp>
            <p:nvSpPr>
              <p:cNvPr id="29" name="Freeform 29"/>
              <p:cNvSpPr/>
              <p:nvPr/>
            </p:nvSpPr>
            <p:spPr>
              <a:xfrm>
                <a:off x="990600" y="3924300"/>
                <a:ext cx="266700" cy="266700"/>
              </a:xfrm>
              <a:custGeom>
                <a:avLst/>
                <a:gdLst/>
                <a:ahLst/>
                <a:cxnLst/>
                <a:rect l="l" t="t" r="r" b="b"/>
                <a:pathLst>
                  <a:path w="266700" h="266700">
                    <a:moveTo>
                      <a:pt x="0" y="133350"/>
                    </a:moveTo>
                    <a:lnTo>
                      <a:pt x="266700" y="133350"/>
                    </a:lnTo>
                    <a:moveTo>
                      <a:pt x="133350" y="0"/>
                    </a:moveTo>
                    <a:cubicBezTo>
                      <a:pt x="180975" y="38100"/>
                      <a:pt x="209550" y="85725"/>
                      <a:pt x="209550" y="133350"/>
                    </a:cubicBezTo>
                    <a:cubicBezTo>
                      <a:pt x="209550" y="180975"/>
                      <a:pt x="180975" y="228600"/>
                      <a:pt x="133350" y="266700"/>
                    </a:cubicBezTo>
                    <a:cubicBezTo>
                      <a:pt x="85725" y="228600"/>
                      <a:pt x="57150" y="180975"/>
                      <a:pt x="57150" y="133350"/>
                    </a:cubicBezTo>
                    <a:cubicBezTo>
                      <a:pt x="57150" y="85725"/>
                      <a:pt x="85725" y="38100"/>
                      <a:pt x="133350" y="0"/>
                    </a:cubicBezTo>
                    <a:close/>
                  </a:path>
                </a:pathLst>
              </a:custGeom>
              <a:noFill/>
              <a:ln w="13335">
                <a:solidFill>
                  <a:srgbClr val="12355B"/>
                </a:solidFill>
              </a:ln>
            </p:spPr>
          </p:sp>
        </p:grpSp>
        <p:sp>
          <p:nvSpPr>
            <p:cNvPr id="31" name="TextBox 31"/>
            <p:cNvSpPr txBox="1"/>
            <p:nvPr/>
          </p:nvSpPr>
          <p:spPr>
            <a:xfrm>
              <a:off x="1420749" y="3868579"/>
              <a:ext cx="290443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Benzetme: teslimat süresi</a:t>
              </a:r>
            </a:p>
          </p:txBody>
        </p:sp>
        <p:sp>
          <p:nvSpPr>
            <p:cNvPr id="32" name="TextBox 32"/>
            <p:cNvSpPr txBox="1"/>
            <p:nvPr/>
          </p:nvSpPr>
          <p:spPr>
            <a:xfrm>
              <a:off x="1422654" y="4156710"/>
              <a:ext cx="1034801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Aynı mahallede farklı apartmanlara farklı teslimat süresi vermek gibi; harita doğru çalışsa da belirli sokaklar düzenli geciktirilir.</a:t>
              </a:r>
            </a:p>
          </p:txBody>
        </p:sp>
      </p:grpSp>
      <p:grpSp>
        <p:nvGrpSpPr>
          <p:cNvPr id="38" name="why"/>
          <p:cNvGrpSpPr/>
          <p:nvPr/>
        </p:nvGrpSpPr>
        <p:grpSpPr>
          <a:xfrm>
            <a:off x="601599" y="4763929"/>
            <a:ext cx="8796280" cy="999077"/>
            <a:chOff x="601599" y="4763929"/>
            <a:chExt cx="8796280" cy="999077"/>
          </a:xfrm>
        </p:grpSpPr>
        <p:sp>
          <p:nvSpPr>
            <p:cNvPr id="34" name="TextBox 34"/>
            <p:cNvSpPr txBox="1"/>
            <p:nvPr/>
          </p:nvSpPr>
          <p:spPr>
            <a:xfrm>
              <a:off x="601599" y="4763929"/>
              <a:ext cx="156494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Neden vardır?</a:t>
              </a:r>
            </a:p>
          </p:txBody>
        </p:sp>
        <p:sp>
          <p:nvSpPr>
            <p:cNvPr id="35" name="TextBox 35"/>
            <p:cNvSpPr txBox="1"/>
            <p:nvPr/>
          </p:nvSpPr>
          <p:spPr>
            <a:xfrm>
              <a:off x="603504" y="5109210"/>
              <a:ext cx="879437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Geçmiş kararlar her zaman adil değildir. Tarihsel veride belirli müşteri gruplarına daha az kampanya sunulmuşsa</a:t>
              </a:r>
            </a:p>
          </p:txBody>
        </p:sp>
        <p:sp>
          <p:nvSpPr>
            <p:cNvPr id="36" name="TextBox 36"/>
            <p:cNvSpPr txBox="1"/>
            <p:nvPr/>
          </p:nvSpPr>
          <p:spPr>
            <a:xfrm>
              <a:off x="603504" y="5318760"/>
              <a:ext cx="839329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model bu örüntüyü "başarılı karar" gibi öğrenebilir. Bir telekom şirketinin indirim teklifini yalnızca belirli</a:t>
              </a:r>
            </a:p>
          </p:txBody>
        </p:sp>
        <p:sp>
          <p:nvSpPr>
            <p:cNvPr id="37" name="TextBox 37"/>
            <p:cNvSpPr txBox="1"/>
            <p:nvPr/>
          </p:nvSpPr>
          <p:spPr>
            <a:xfrm>
              <a:off x="603504" y="5528310"/>
              <a:ext cx="609432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bölgelerdeki müşterilere daha az önermesi, incelenmesi gereken bir örnektir.</a:t>
              </a:r>
            </a:p>
          </p:txBody>
        </p:sp>
      </p:grpSp>
      <p:sp>
        <p:nvSpPr>
          <p:cNvPr id="39" name="TextBox 3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 / 25</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6472943" cy="668845"/>
            <a:chOff x="609600" y="171450"/>
            <a:chExt cx="647294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09562"/>
                <a:ext cx="206693" cy="280512"/>
                <a:chOff x="792004" y="309562"/>
                <a:chExt cx="206693" cy="280512"/>
              </a:xfrm>
            </p:grpSpPr>
            <p:sp>
              <p:nvSpPr>
                <p:cNvPr id="5" name="Freeform 5"/>
                <p:cNvSpPr/>
                <p:nvPr/>
              </p:nvSpPr>
              <p:spPr>
                <a:xfrm>
                  <a:off x="7920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805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8362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99972" y="282892"/>
              <a:ext cx="578257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Adillik: grup bazlı rapor kodu</a:t>
              </a:r>
            </a:p>
          </p:txBody>
        </p:sp>
      </p:grpSp>
      <p:grpSp>
        <p:nvGrpSpPr>
          <p:cNvPr id="29" name="code-panel"/>
          <p:cNvGrpSpPr/>
          <p:nvPr/>
        </p:nvGrpSpPr>
        <p:grpSpPr>
          <a:xfrm>
            <a:off x="609600" y="1219200"/>
            <a:ext cx="6286500" cy="4495800"/>
            <a:chOff x="609600" y="1219200"/>
            <a:chExt cx="6286500" cy="4495800"/>
          </a:xfrm>
        </p:grpSpPr>
        <p:sp>
          <p:nvSpPr>
            <p:cNvPr id="12" name="Rectangle 12"/>
            <p:cNvSpPr/>
            <p:nvPr/>
          </p:nvSpPr>
          <p:spPr>
            <a:xfrm>
              <a:off x="609600" y="1219200"/>
              <a:ext cx="6286500" cy="4495800"/>
            </a:xfrm>
            <a:prstGeom prst="roundRect">
              <a:avLst>
                <a:gd name="adj" fmla="val 2119"/>
              </a:avLst>
            </a:prstGeom>
            <a:solidFill>
              <a:srgbClr val="12355B"/>
            </a:solidFill>
            <a:ln>
              <a:noFill/>
            </a:ln>
          </p:spPr>
        </p:sp>
        <p:sp>
          <p:nvSpPr>
            <p:cNvPr id="13" name="TextBox 13"/>
            <p:cNvSpPr txBox="1"/>
            <p:nvPr/>
          </p:nvSpPr>
          <p:spPr>
            <a:xfrm>
              <a:off x="851535" y="1402556"/>
              <a:ext cx="3162615"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def guvenli_oran(pay, payda) -&gt; float:</a:t>
              </a:r>
            </a:p>
          </p:txBody>
        </p:sp>
        <p:sp>
          <p:nvSpPr>
            <p:cNvPr id="14" name="TextBox 14"/>
            <p:cNvSpPr txBox="1"/>
            <p:nvPr/>
          </p:nvSpPr>
          <p:spPr>
            <a:xfrm>
              <a:off x="1042035" y="1631156"/>
              <a:ext cx="2996763"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return pay / payda if payda else 0.0</a:t>
              </a:r>
            </a:p>
          </p:txBody>
        </p:sp>
        <p:sp>
          <p:nvSpPr>
            <p:cNvPr id="15" name="TextBox 15"/>
            <p:cNvSpPr txBox="1"/>
            <p:nvPr/>
          </p:nvSpPr>
          <p:spPr>
            <a:xfrm>
              <a:off x="851535" y="1935956"/>
              <a:ext cx="3500479"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def adillik_raporu_uret(kayitlar) -&gt; None:</a:t>
              </a:r>
            </a:p>
          </p:txBody>
        </p:sp>
        <p:sp>
          <p:nvSpPr>
            <p:cNvPr id="16" name="TextBox 16"/>
            <p:cNvSpPr txBox="1"/>
            <p:nvPr/>
          </p:nvSpPr>
          <p:spPr>
            <a:xfrm>
              <a:off x="1042035" y="2164556"/>
              <a:ext cx="2665059"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grup_ozetleri = defaultdict(...)</a:t>
              </a:r>
            </a:p>
          </p:txBody>
        </p:sp>
        <p:sp>
          <p:nvSpPr>
            <p:cNvPr id="17" name="TextBox 17"/>
            <p:cNvSpPr txBox="1"/>
            <p:nvPr/>
          </p:nvSpPr>
          <p:spPr>
            <a:xfrm>
              <a:off x="1042035" y="2393156"/>
              <a:ext cx="1835800"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for kayit in kayitlar:</a:t>
              </a:r>
            </a:p>
          </p:txBody>
        </p:sp>
        <p:sp>
          <p:nvSpPr>
            <p:cNvPr id="18" name="TextBox 18"/>
            <p:cNvSpPr txBox="1"/>
            <p:nvPr/>
          </p:nvSpPr>
          <p:spPr>
            <a:xfrm>
              <a:off x="1232535" y="2621756"/>
              <a:ext cx="2913837"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ozet = grup_ozetleri[kayit["grup"]]</a:t>
              </a:r>
            </a:p>
          </p:txBody>
        </p:sp>
        <p:sp>
          <p:nvSpPr>
            <p:cNvPr id="19" name="TextBox 19"/>
            <p:cNvSpPr txBox="1"/>
            <p:nvPr/>
          </p:nvSpPr>
          <p:spPr>
            <a:xfrm>
              <a:off x="1232535" y="2850356"/>
              <a:ext cx="1587022"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ozet["toplam"] += 1</a:t>
              </a:r>
            </a:p>
          </p:txBody>
        </p:sp>
        <p:sp>
          <p:nvSpPr>
            <p:cNvPr id="20" name="TextBox 20"/>
            <p:cNvSpPr txBox="1"/>
            <p:nvPr/>
          </p:nvSpPr>
          <p:spPr>
            <a:xfrm>
              <a:off x="1232535" y="3078956"/>
              <a:ext cx="2250430"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ozet["olumlu"] += tahmin==1</a:t>
              </a:r>
            </a:p>
          </p:txBody>
        </p:sp>
        <p:sp>
          <p:nvSpPr>
            <p:cNvPr id="21" name="TextBox 21"/>
            <p:cNvSpPr txBox="1"/>
            <p:nvPr/>
          </p:nvSpPr>
          <p:spPr>
            <a:xfrm>
              <a:off x="1232535" y="3307556"/>
              <a:ext cx="2499208"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ozet["hata"] += tahmin!=gercek</a:t>
              </a:r>
            </a:p>
          </p:txBody>
        </p:sp>
        <p:sp>
          <p:nvSpPr>
            <p:cNvPr id="22" name="TextBox 22"/>
            <p:cNvSpPr txBox="1"/>
            <p:nvPr/>
          </p:nvSpPr>
          <p:spPr>
            <a:xfrm>
              <a:off x="1042035" y="3612356"/>
              <a:ext cx="3328467"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for grup, ozet in grup_ozetleri.items():</a:t>
              </a:r>
            </a:p>
          </p:txBody>
        </p:sp>
        <p:sp>
          <p:nvSpPr>
            <p:cNvPr id="23" name="TextBox 23"/>
            <p:cNvSpPr txBox="1"/>
            <p:nvPr/>
          </p:nvSpPr>
          <p:spPr>
            <a:xfrm>
              <a:off x="1232535" y="3840956"/>
              <a:ext cx="3162615"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olumlu=guvenli_oran(ozet["olumlu"],..)</a:t>
              </a:r>
            </a:p>
          </p:txBody>
        </p:sp>
        <p:sp>
          <p:nvSpPr>
            <p:cNvPr id="24" name="TextBox 24"/>
            <p:cNvSpPr txBox="1"/>
            <p:nvPr/>
          </p:nvSpPr>
          <p:spPr>
            <a:xfrm>
              <a:off x="1232535" y="4069556"/>
              <a:ext cx="2830911"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hata=guvenli_oran(ozet["hata"],..)</a:t>
              </a:r>
            </a:p>
          </p:txBody>
        </p:sp>
        <p:sp>
          <p:nvSpPr>
            <p:cNvPr id="25" name="TextBox 25"/>
            <p:cNvSpPr txBox="1"/>
            <p:nvPr/>
          </p:nvSpPr>
          <p:spPr>
            <a:xfrm>
              <a:off x="1232535" y="4298156"/>
              <a:ext cx="3494319"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print(f"{grup}: olumlu={olumlu:.2f}, ...")</a:t>
              </a:r>
            </a:p>
          </p:txBody>
        </p:sp>
        <p:sp>
          <p:nvSpPr>
            <p:cNvPr id="26" name="Line 26"/>
            <p:cNvSpPr/>
            <p:nvPr/>
          </p:nvSpPr>
          <p:spPr>
            <a:xfrm>
              <a:off x="857250" y="4610100"/>
              <a:ext cx="5753100" cy="9525"/>
            </a:xfrm>
            <a:custGeom>
              <a:avLst/>
              <a:gdLst/>
              <a:ahLst/>
              <a:cxnLst/>
              <a:rect l="l" t="t" r="r" b="b"/>
              <a:pathLst>
                <a:path w="5753100" h="9525">
                  <a:moveTo>
                    <a:pt x="0" y="0"/>
                  </a:moveTo>
                  <a:lnTo>
                    <a:pt x="5753100" y="0"/>
                  </a:lnTo>
                </a:path>
              </a:pathLst>
            </a:custGeom>
            <a:noFill/>
            <a:ln w="9525">
              <a:solidFill>
                <a:srgbClr val="2E86AB"/>
              </a:solidFill>
            </a:ln>
          </p:spPr>
        </p:sp>
        <p:sp>
          <p:nvSpPr>
            <p:cNvPr id="27" name="TextBox 27"/>
            <p:cNvSpPr txBox="1"/>
            <p:nvPr/>
          </p:nvSpPr>
          <p:spPr>
            <a:xfrm>
              <a:off x="851535" y="4755356"/>
              <a:ext cx="2428657"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&gt;&gt;&gt; A: olumlu=0.67, hata=0.33</a:t>
              </a:r>
            </a:p>
          </p:txBody>
        </p:sp>
        <p:sp>
          <p:nvSpPr>
            <p:cNvPr id="28" name="TextBox 28"/>
            <p:cNvSpPr txBox="1"/>
            <p:nvPr/>
          </p:nvSpPr>
          <p:spPr>
            <a:xfrm>
              <a:off x="851535" y="4983956"/>
              <a:ext cx="2428657"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&gt;&gt;&gt; B: olumlu=0.33, hata=0.00</a:t>
              </a:r>
            </a:p>
          </p:txBody>
        </p:sp>
      </p:grpSp>
      <p:grpSp>
        <p:nvGrpSpPr>
          <p:cNvPr id="38" name="code-explain"/>
          <p:cNvGrpSpPr/>
          <p:nvPr/>
        </p:nvGrpSpPr>
        <p:grpSpPr>
          <a:xfrm>
            <a:off x="7116699" y="1353979"/>
            <a:ext cx="3850767" cy="2046827"/>
            <a:chOff x="7116699" y="1353979"/>
            <a:chExt cx="3850767" cy="2046827"/>
          </a:xfrm>
        </p:grpSpPr>
        <p:sp>
          <p:nvSpPr>
            <p:cNvPr id="30" name="TextBox 30"/>
            <p:cNvSpPr txBox="1"/>
            <p:nvPr/>
          </p:nvSpPr>
          <p:spPr>
            <a:xfrm>
              <a:off x="7116699" y="1353979"/>
              <a:ext cx="250281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Bu çıktı ne anlatıyor?</a:t>
              </a:r>
            </a:p>
          </p:txBody>
        </p:sp>
        <p:sp>
          <p:nvSpPr>
            <p:cNvPr id="31" name="TextBox 31"/>
            <p:cNvSpPr txBox="1"/>
            <p:nvPr/>
          </p:nvSpPr>
          <p:spPr>
            <a:xfrm>
              <a:off x="7118604" y="1718310"/>
              <a:ext cx="331370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Olumlu karar oranı, modelin bir gruba "1"</a:t>
              </a:r>
            </a:p>
          </p:txBody>
        </p:sp>
        <p:sp>
          <p:nvSpPr>
            <p:cNvPr id="32" name="TextBox 32"/>
            <p:cNvSpPr txBox="1"/>
            <p:nvPr/>
          </p:nvSpPr>
          <p:spPr>
            <a:xfrm>
              <a:off x="7118604" y="1927860"/>
              <a:ext cx="365500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kararını ne kadar sıklıkla verdiğini gösterir.</a:t>
              </a:r>
            </a:p>
          </p:txBody>
        </p:sp>
        <p:sp>
          <p:nvSpPr>
            <p:cNvPr id="33" name="TextBox 33"/>
            <p:cNvSpPr txBox="1"/>
            <p:nvPr/>
          </p:nvSpPr>
          <p:spPr>
            <a:xfrm>
              <a:off x="7118604" y="2232660"/>
              <a:ext cx="305459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Hata oranı, tahminin gerçek etiketten</a:t>
              </a:r>
            </a:p>
          </p:txBody>
        </p:sp>
        <p:sp>
          <p:nvSpPr>
            <p:cNvPr id="34" name="TextBox 34"/>
            <p:cNvSpPr txBox="1"/>
            <p:nvPr/>
          </p:nvSpPr>
          <p:spPr>
            <a:xfrm>
              <a:off x="7118604" y="2442210"/>
              <a:ext cx="251612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ayrıldığı kayıtların oranıdır.</a:t>
              </a:r>
            </a:p>
          </p:txBody>
        </p:sp>
        <p:sp>
          <p:nvSpPr>
            <p:cNvPr id="35" name="TextBox 35"/>
            <p:cNvSpPr txBox="1"/>
            <p:nvPr/>
          </p:nvSpPr>
          <p:spPr>
            <a:xfrm>
              <a:off x="7118604" y="2747010"/>
              <a:ext cx="306268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Bu iki metrik tek başına etik bir hüküm</a:t>
              </a:r>
            </a:p>
          </p:txBody>
        </p:sp>
        <p:sp>
          <p:nvSpPr>
            <p:cNvPr id="36" name="TextBox 36"/>
            <p:cNvSpPr txBox="1"/>
            <p:nvPr/>
          </p:nvSpPr>
          <p:spPr>
            <a:xfrm>
              <a:off x="7118604" y="2956560"/>
              <a:ext cx="333192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vermek için yeterli değildir; bağlam, yasal</a:t>
              </a:r>
            </a:p>
          </p:txBody>
        </p:sp>
        <p:sp>
          <p:nvSpPr>
            <p:cNvPr id="37" name="TextBox 37"/>
            <p:cNvSpPr txBox="1"/>
            <p:nvPr/>
          </p:nvSpPr>
          <p:spPr>
            <a:xfrm>
              <a:off x="7118604" y="3166110"/>
              <a:ext cx="384886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dayanak ve iş kararının etkisi birlikte incelenir.</a:t>
              </a:r>
            </a:p>
          </p:txBody>
        </p:sp>
      </p:grpSp>
      <p:grpSp>
        <p:nvGrpSpPr>
          <p:cNvPr id="45" name="code-note"/>
          <p:cNvGrpSpPr/>
          <p:nvPr/>
        </p:nvGrpSpPr>
        <p:grpSpPr>
          <a:xfrm>
            <a:off x="7124700" y="4305300"/>
            <a:ext cx="4457700" cy="1409700"/>
            <a:chOff x="7124700" y="4305300"/>
            <a:chExt cx="4457700" cy="1409700"/>
          </a:xfrm>
        </p:grpSpPr>
        <p:sp>
          <p:nvSpPr>
            <p:cNvPr id="39" name="Rectangle 39"/>
            <p:cNvSpPr/>
            <p:nvPr/>
          </p:nvSpPr>
          <p:spPr>
            <a:xfrm>
              <a:off x="7124700" y="4305300"/>
              <a:ext cx="4457700" cy="1409700"/>
            </a:xfrm>
            <a:prstGeom prst="roundRect">
              <a:avLst>
                <a:gd name="adj" fmla="val 5405"/>
              </a:avLst>
            </a:prstGeom>
            <a:solidFill>
              <a:srgbClr val="EAF4F6"/>
            </a:solidFill>
            <a:ln>
              <a:noFill/>
            </a:ln>
          </p:spPr>
        </p:sp>
        <p:sp>
          <p:nvSpPr>
            <p:cNvPr id="40" name="TextBox 40"/>
            <p:cNvSpPr txBox="1"/>
            <p:nvPr/>
          </p:nvSpPr>
          <p:spPr>
            <a:xfrm>
              <a:off x="7347204" y="4480560"/>
              <a:ext cx="1094829"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Amaç ve girdi</a:t>
              </a:r>
            </a:p>
          </p:txBody>
        </p:sp>
        <p:sp>
          <p:nvSpPr>
            <p:cNvPr id="41" name="TextBox 41"/>
            <p:cNvSpPr txBox="1"/>
            <p:nvPr/>
          </p:nvSpPr>
          <p:spPr>
            <a:xfrm>
              <a:off x="7347204" y="4728210"/>
              <a:ext cx="292547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Grup, tahmin ve gerçek etiket içeren</a:t>
              </a:r>
            </a:p>
          </p:txBody>
        </p:sp>
        <p:sp>
          <p:nvSpPr>
            <p:cNvPr id="42" name="TextBox 42"/>
            <p:cNvSpPr txBox="1"/>
            <p:nvPr/>
          </p:nvSpPr>
          <p:spPr>
            <a:xfrm>
              <a:off x="7347204" y="4937760"/>
              <a:ext cx="301691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örnek kayıtlardan her grup için olumlu</a:t>
              </a:r>
            </a:p>
          </p:txBody>
        </p:sp>
        <p:sp>
          <p:nvSpPr>
            <p:cNvPr id="43" name="TextBox 43"/>
            <p:cNvSpPr txBox="1"/>
            <p:nvPr/>
          </p:nvSpPr>
          <p:spPr>
            <a:xfrm>
              <a:off x="7347204" y="5147310"/>
              <a:ext cx="277459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karar ve hata oranını hesaplamak.</a:t>
              </a:r>
            </a:p>
          </p:txBody>
        </p:sp>
        <p:sp>
          <p:nvSpPr>
            <p:cNvPr id="44" name="TextBox 44"/>
            <p:cNvSpPr txBox="1"/>
            <p:nvPr/>
          </p:nvSpPr>
          <p:spPr>
            <a:xfrm>
              <a:off x="7347204" y="5356860"/>
              <a:ext cx="285282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Beklenen çıktı: grup bazlı iki oran.</a:t>
              </a:r>
            </a:p>
          </p:txBody>
        </p:sp>
      </p:grpSp>
      <p:sp>
        <p:nvSpPr>
          <p:cNvPr id="46" name="TextBox 4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 / 25</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130729" cy="668845"/>
            <a:chOff x="609600" y="171450"/>
            <a:chExt cx="7130729"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09562"/>
                <a:ext cx="206693" cy="280512"/>
                <a:chOff x="792004" y="309562"/>
                <a:chExt cx="206693" cy="280512"/>
              </a:xfrm>
            </p:grpSpPr>
            <p:sp>
              <p:nvSpPr>
                <p:cNvPr id="5" name="Freeform 5"/>
                <p:cNvSpPr/>
                <p:nvPr/>
              </p:nvSpPr>
              <p:spPr>
                <a:xfrm>
                  <a:off x="7920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805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8362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99972" y="282892"/>
              <a:ext cx="644035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Etik, KVKK ve veri minimizasyonu</a:t>
              </a:r>
            </a:p>
          </p:txBody>
        </p:sp>
      </p:grpSp>
      <p:grpSp>
        <p:nvGrpSpPr>
          <p:cNvPr id="15" name="def-text"/>
          <p:cNvGrpSpPr/>
          <p:nvPr/>
        </p:nvGrpSpPr>
        <p:grpSpPr>
          <a:xfrm>
            <a:off x="600456" y="1253490"/>
            <a:ext cx="9645592" cy="923544"/>
            <a:chOff x="600456" y="1253490"/>
            <a:chExt cx="9645592" cy="923544"/>
          </a:xfrm>
        </p:grpSpPr>
        <p:sp>
          <p:nvSpPr>
            <p:cNvPr id="12" name="TextBox 12"/>
            <p:cNvSpPr txBox="1"/>
            <p:nvPr/>
          </p:nvSpPr>
          <p:spPr>
            <a:xfrm>
              <a:off x="600456" y="1253490"/>
              <a:ext cx="9645592"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Etik, teknik olarak yapılabilen ile toplumsal olarak kabul edilebilir olan arasındaki</a:t>
              </a:r>
            </a:p>
          </p:txBody>
        </p:sp>
        <p:sp>
          <p:nvSpPr>
            <p:cNvPr id="13" name="TextBox 13"/>
            <p:cNvSpPr txBox="1"/>
            <p:nvPr/>
          </p:nvSpPr>
          <p:spPr>
            <a:xfrm>
              <a:off x="600456" y="1539240"/>
              <a:ext cx="9378980"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sorumluluk alanıdır. KVKK, kişisel verilerin hukuka uygun işlenmesi, korunması</a:t>
              </a:r>
            </a:p>
          </p:txBody>
        </p:sp>
        <p:sp>
          <p:nvSpPr>
            <p:cNvPr id="14" name="TextBox 14"/>
            <p:cNvSpPr txBox="1"/>
            <p:nvPr/>
          </p:nvSpPr>
          <p:spPr>
            <a:xfrm>
              <a:off x="600456" y="1824990"/>
              <a:ext cx="8676388"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ve ilgili kişinin haklarının gözetilmesi için Türkiye'deki temel çerçevedir.</a:t>
              </a:r>
            </a:p>
          </p:txBody>
        </p:sp>
      </p:grpSp>
      <p:grpSp>
        <p:nvGrpSpPr>
          <p:cNvPr id="20" name="warning"/>
          <p:cNvGrpSpPr/>
          <p:nvPr/>
        </p:nvGrpSpPr>
        <p:grpSpPr>
          <a:xfrm>
            <a:off x="609600" y="2324100"/>
            <a:ext cx="10972800" cy="723900"/>
            <a:chOff x="609600" y="2324100"/>
            <a:chExt cx="10972800" cy="723900"/>
          </a:xfrm>
        </p:grpSpPr>
        <p:sp>
          <p:nvSpPr>
            <p:cNvPr id="16" name="Rectangle 16"/>
            <p:cNvSpPr/>
            <p:nvPr/>
          </p:nvSpPr>
          <p:spPr>
            <a:xfrm>
              <a:off x="609600" y="2324100"/>
              <a:ext cx="10972800" cy="723900"/>
            </a:xfrm>
            <a:prstGeom prst="roundRect">
              <a:avLst>
                <a:gd name="adj" fmla="val 10526"/>
              </a:avLst>
            </a:prstGeom>
            <a:solidFill>
              <a:srgbClr val="FBEAEA"/>
            </a:solidFill>
            <a:ln>
              <a:noFill/>
            </a:ln>
          </p:spPr>
        </p:sp>
        <p:sp>
          <p:nvSpPr>
            <p:cNvPr id="17" name="Rectangle 17"/>
            <p:cNvSpPr/>
            <p:nvPr/>
          </p:nvSpPr>
          <p:spPr>
            <a:xfrm>
              <a:off x="609600" y="2324100"/>
              <a:ext cx="57150" cy="723900"/>
            </a:xfrm>
            <a:prstGeom prst="rect">
              <a:avLst/>
            </a:prstGeom>
            <a:solidFill>
              <a:srgbClr val="C62828"/>
            </a:solidFill>
            <a:ln>
              <a:noFill/>
            </a:ln>
          </p:spPr>
        </p:sp>
        <p:sp>
          <p:nvSpPr>
            <p:cNvPr id="18" name="TextBox 18"/>
            <p:cNvSpPr txBox="1"/>
            <p:nvPr/>
          </p:nvSpPr>
          <p:spPr>
            <a:xfrm>
              <a:off x="906399" y="2458879"/>
              <a:ext cx="703599" cy="308039"/>
            </a:xfrm>
            <a:prstGeom prst="rect">
              <a:avLst/>
            </a:prstGeom>
            <a:noFill/>
            <a:ln>
              <a:noFill/>
            </a:ln>
          </p:spPr>
          <p:txBody>
            <a:bodyPr wrap="none" lIns="0" tIns="0" rIns="0" bIns="0" anchor="t" anchorCtr="0">
              <a:spAutoFit/>
            </a:bodyPr>
            <a:lstStyle/>
            <a:p>
              <a:pPr algn="l"/>
              <a:r>
                <a:rPr lang="tr-TR" sz="1580" b="1" dirty="0">
                  <a:solidFill>
                    <a:srgbClr val="C62828"/>
                  </a:solidFill>
                  <a:latin typeface="+mn-lt"/>
                  <a:ea typeface="+mn-ea"/>
                  <a:cs typeface="+mn-cs"/>
                </a:rPr>
                <a:t>Dikkat</a:t>
              </a:r>
            </a:p>
          </p:txBody>
        </p:sp>
        <p:sp>
          <p:nvSpPr>
            <p:cNvPr id="19" name="TextBox 19"/>
            <p:cNvSpPr txBox="1"/>
            <p:nvPr/>
          </p:nvSpPr>
          <p:spPr>
            <a:xfrm>
              <a:off x="908304" y="2747010"/>
              <a:ext cx="958090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Bir verinin model başarımını artırması, o verinin işlenmesinin gerekli, ölçülü veya hukuka uygun olduğu anlamına gelmez.</a:t>
              </a:r>
            </a:p>
          </p:txBody>
        </p:sp>
      </p:grpSp>
      <p:grpSp>
        <p:nvGrpSpPr>
          <p:cNvPr id="28" name="minimization"/>
          <p:cNvGrpSpPr/>
          <p:nvPr/>
        </p:nvGrpSpPr>
        <p:grpSpPr>
          <a:xfrm>
            <a:off x="601599" y="3335179"/>
            <a:ext cx="4696198" cy="1703927"/>
            <a:chOff x="601599" y="3335179"/>
            <a:chExt cx="4696198" cy="1703927"/>
          </a:xfrm>
        </p:grpSpPr>
        <p:sp>
          <p:nvSpPr>
            <p:cNvPr id="21" name="TextBox 21"/>
            <p:cNvSpPr txBox="1"/>
            <p:nvPr/>
          </p:nvSpPr>
          <p:spPr>
            <a:xfrm>
              <a:off x="601599" y="3335179"/>
              <a:ext cx="204391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Veri minimizasyonu</a:t>
              </a:r>
            </a:p>
          </p:txBody>
        </p:sp>
        <p:sp>
          <p:nvSpPr>
            <p:cNvPr id="22" name="TextBox 22"/>
            <p:cNvSpPr txBox="1"/>
            <p:nvPr/>
          </p:nvSpPr>
          <p:spPr>
            <a:xfrm>
              <a:off x="603504" y="3661410"/>
              <a:ext cx="331247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Belirli bir amaç için gerekli olmayan kişisel</a:t>
              </a:r>
            </a:p>
          </p:txBody>
        </p:sp>
        <p:sp>
          <p:nvSpPr>
            <p:cNvPr id="23" name="TextBox 23"/>
            <p:cNvSpPr txBox="1"/>
            <p:nvPr/>
          </p:nvSpPr>
          <p:spPr>
            <a:xfrm>
              <a:off x="603504" y="3870960"/>
              <a:ext cx="365500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alanların toplanmaması veya işleme hattından</a:t>
              </a:r>
            </a:p>
          </p:txBody>
        </p:sp>
        <p:sp>
          <p:nvSpPr>
            <p:cNvPr id="24" name="TextBox 24"/>
            <p:cNvSpPr txBox="1"/>
            <p:nvPr/>
          </p:nvSpPr>
          <p:spPr>
            <a:xfrm>
              <a:off x="603504" y="4080510"/>
              <a:ext cx="389969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çıkarılmasıdır. Telco Churn tahmini için müşteri</a:t>
              </a:r>
            </a:p>
          </p:txBody>
        </p:sp>
        <p:sp>
          <p:nvSpPr>
            <p:cNvPr id="25" name="TextBox 25"/>
            <p:cNvSpPr txBox="1"/>
            <p:nvPr/>
          </p:nvSpPr>
          <p:spPr>
            <a:xfrm>
              <a:off x="603504" y="4290060"/>
              <a:ext cx="361462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adı veya açık telefon numarası çoğu durumda</a:t>
              </a:r>
            </a:p>
          </p:txBody>
        </p:sp>
        <p:sp>
          <p:nvSpPr>
            <p:cNvPr id="26" name="TextBox 26"/>
            <p:cNvSpPr txBox="1"/>
            <p:nvPr/>
          </p:nvSpPr>
          <p:spPr>
            <a:xfrm>
              <a:off x="603504" y="4499610"/>
              <a:ext cx="128031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gerekli değildir.</a:t>
              </a:r>
            </a:p>
          </p:txBody>
        </p:sp>
        <p:sp>
          <p:nvSpPr>
            <p:cNvPr id="27" name="TextBox 27"/>
            <p:cNvSpPr txBox="1"/>
            <p:nvPr/>
          </p:nvSpPr>
          <p:spPr>
            <a:xfrm>
              <a:off x="603504" y="4804410"/>
              <a:ext cx="469429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Daha az hassas veri, daha düşük ihlal yüzeyi anlamına gelir.</a:t>
              </a:r>
            </a:p>
          </p:txBody>
        </p:sp>
      </p:grpSp>
      <p:grpSp>
        <p:nvGrpSpPr>
          <p:cNvPr id="40" name="analogy"/>
          <p:cNvGrpSpPr/>
          <p:nvPr/>
        </p:nvGrpSpPr>
        <p:grpSpPr>
          <a:xfrm>
            <a:off x="6324600" y="3276600"/>
            <a:ext cx="5257800" cy="2000250"/>
            <a:chOff x="6324600" y="3276600"/>
            <a:chExt cx="5257800" cy="2000250"/>
          </a:xfrm>
        </p:grpSpPr>
        <p:sp>
          <p:nvSpPr>
            <p:cNvPr id="29" name="Rectangle 29"/>
            <p:cNvSpPr/>
            <p:nvPr/>
          </p:nvSpPr>
          <p:spPr>
            <a:xfrm>
              <a:off x="6324600" y="3276600"/>
              <a:ext cx="5257800" cy="2000250"/>
            </a:xfrm>
            <a:prstGeom prst="roundRect">
              <a:avLst>
                <a:gd name="adj" fmla="val 4762"/>
              </a:avLst>
            </a:prstGeom>
            <a:solidFill>
              <a:srgbClr val="EAF4F6"/>
            </a:solidFill>
            <a:ln>
              <a:noFill/>
            </a:ln>
          </p:spPr>
        </p:sp>
        <p:grpSp>
          <p:nvGrpSpPr>
            <p:cNvPr id="33" name="icon-lock"/>
            <p:cNvGrpSpPr/>
            <p:nvPr/>
          </p:nvGrpSpPr>
          <p:grpSpPr>
            <a:xfrm>
              <a:off x="6629400" y="3505200"/>
              <a:ext cx="381000" cy="381000"/>
              <a:chOff x="6629400" y="3505200"/>
              <a:chExt cx="381000" cy="381000"/>
            </a:xfrm>
          </p:grpSpPr>
          <p:sp>
            <p:nvSpPr>
              <p:cNvPr id="30" name="Ellipse 30"/>
              <p:cNvSpPr/>
              <p:nvPr/>
            </p:nvSpPr>
            <p:spPr>
              <a:xfrm>
                <a:off x="6629400" y="3505200"/>
                <a:ext cx="381000" cy="381000"/>
              </a:xfrm>
              <a:prstGeom prst="ellipse">
                <a:avLst/>
              </a:prstGeom>
              <a:solidFill>
                <a:srgbClr val="FFFFFF"/>
              </a:solidFill>
              <a:ln>
                <a:noFill/>
              </a:ln>
            </p:spPr>
          </p:sp>
          <p:sp>
            <p:nvSpPr>
              <p:cNvPr id="31" name="Rectangle 31"/>
              <p:cNvSpPr/>
              <p:nvPr/>
            </p:nvSpPr>
            <p:spPr>
              <a:xfrm>
                <a:off x="6734175" y="3676650"/>
                <a:ext cx="171450" cy="133350"/>
              </a:xfrm>
              <a:prstGeom prst="roundRect">
                <a:avLst>
                  <a:gd name="adj" fmla="val 14286"/>
                </a:avLst>
              </a:prstGeom>
              <a:noFill/>
              <a:ln w="17145">
                <a:solidFill>
                  <a:srgbClr val="12355B"/>
                </a:solidFill>
              </a:ln>
            </p:spPr>
          </p:sp>
          <p:sp>
            <p:nvSpPr>
              <p:cNvPr id="32" name="Freeform 32"/>
              <p:cNvSpPr/>
              <p:nvPr/>
            </p:nvSpPr>
            <p:spPr>
              <a:xfrm>
                <a:off x="6762750" y="3581400"/>
                <a:ext cx="114300" cy="95250"/>
              </a:xfrm>
              <a:custGeom>
                <a:avLst/>
                <a:gdLst/>
                <a:ahLst/>
                <a:cxnLst/>
                <a:rect l="l" t="t" r="r" b="b"/>
                <a:pathLst>
                  <a:path w="114300" h="95250">
                    <a:moveTo>
                      <a:pt x="0" y="95250"/>
                    </a:moveTo>
                    <a:lnTo>
                      <a:pt x="0" y="57150"/>
                    </a:lnTo>
                    <a:cubicBezTo>
                      <a:pt x="0" y="25587"/>
                      <a:pt x="25587" y="0"/>
                      <a:pt x="57150" y="0"/>
                    </a:cubicBezTo>
                    <a:cubicBezTo>
                      <a:pt x="88713" y="0"/>
                      <a:pt x="114300" y="25587"/>
                      <a:pt x="114300" y="57150"/>
                    </a:cubicBezTo>
                    <a:lnTo>
                      <a:pt x="114300" y="95250"/>
                    </a:lnTo>
                  </a:path>
                </a:pathLst>
              </a:custGeom>
              <a:noFill/>
              <a:ln w="17145">
                <a:solidFill>
                  <a:srgbClr val="12355B"/>
                </a:solidFill>
              </a:ln>
            </p:spPr>
          </p:sp>
        </p:grpSp>
        <p:sp>
          <p:nvSpPr>
            <p:cNvPr id="34" name="TextBox 34"/>
            <p:cNvSpPr txBox="1"/>
            <p:nvPr/>
          </p:nvSpPr>
          <p:spPr>
            <a:xfrm>
              <a:off x="7135749" y="3563779"/>
              <a:ext cx="328437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Benzetme: sınav evrak dolabı</a:t>
              </a:r>
            </a:p>
          </p:txBody>
        </p:sp>
        <p:sp>
          <p:nvSpPr>
            <p:cNvPr id="35" name="TextBox 35"/>
            <p:cNvSpPr txBox="1"/>
            <p:nvPr/>
          </p:nvSpPr>
          <p:spPr>
            <a:xfrm>
              <a:off x="6623304" y="3947160"/>
              <a:ext cx="367647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Sınava giderken bütün evrak dolabını taşımak</a:t>
              </a:r>
            </a:p>
          </p:txBody>
        </p:sp>
        <p:sp>
          <p:nvSpPr>
            <p:cNvPr id="36" name="TextBox 36"/>
            <p:cNvSpPr txBox="1"/>
            <p:nvPr/>
          </p:nvSpPr>
          <p:spPr>
            <a:xfrm>
              <a:off x="6623304" y="4156710"/>
              <a:ext cx="343692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yerine yalnızca gerekli kimlik ve sınav giriş</a:t>
              </a:r>
            </a:p>
          </p:txBody>
        </p:sp>
        <p:sp>
          <p:nvSpPr>
            <p:cNvPr id="37" name="TextBox 37"/>
            <p:cNvSpPr txBox="1"/>
            <p:nvPr/>
          </p:nvSpPr>
          <p:spPr>
            <a:xfrm>
              <a:off x="6623304" y="4366260"/>
              <a:ext cx="181340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belgesini almak gibidir.</a:t>
              </a:r>
            </a:p>
          </p:txBody>
        </p:sp>
        <p:sp>
          <p:nvSpPr>
            <p:cNvPr id="38" name="TextBox 38"/>
            <p:cNvSpPr txBox="1"/>
            <p:nvPr/>
          </p:nvSpPr>
          <p:spPr>
            <a:xfrm>
              <a:off x="6623304" y="4671060"/>
              <a:ext cx="360426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Amaç: ad-soyad içermeyen, telefon numarası</a:t>
              </a:r>
            </a:p>
          </p:txBody>
        </p:sp>
        <p:sp>
          <p:nvSpPr>
            <p:cNvPr id="39" name="TextBox 39"/>
            <p:cNvSpPr txBox="1"/>
            <p:nvPr/>
          </p:nvSpPr>
          <p:spPr>
            <a:xfrm>
              <a:off x="6623304" y="4880610"/>
              <a:ext cx="312191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maskelenmiş güvenli bir kayıt üretmek.</a:t>
              </a:r>
            </a:p>
          </p:txBody>
        </p:sp>
      </p:gr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 / 25</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6674536" cy="668845"/>
            <a:chOff x="609600" y="171450"/>
            <a:chExt cx="6674536"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09562"/>
                <a:ext cx="206693" cy="280512"/>
                <a:chOff x="792004" y="309562"/>
                <a:chExt cx="206693" cy="280512"/>
              </a:xfrm>
            </p:grpSpPr>
            <p:sp>
              <p:nvSpPr>
                <p:cNvPr id="5" name="Freeform 5"/>
                <p:cNvSpPr/>
                <p:nvPr/>
              </p:nvSpPr>
              <p:spPr>
                <a:xfrm>
                  <a:off x="7920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805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8362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99972" y="282892"/>
              <a:ext cx="598416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KVKK: güvenli kayıt oluşturma</a:t>
              </a:r>
            </a:p>
          </p:txBody>
        </p:sp>
      </p:grpSp>
      <p:grpSp>
        <p:nvGrpSpPr>
          <p:cNvPr id="29" name="code-panel"/>
          <p:cNvGrpSpPr/>
          <p:nvPr/>
        </p:nvGrpSpPr>
        <p:grpSpPr>
          <a:xfrm>
            <a:off x="609600" y="1219200"/>
            <a:ext cx="6286500" cy="4495800"/>
            <a:chOff x="609600" y="1219200"/>
            <a:chExt cx="6286500" cy="4495800"/>
          </a:xfrm>
        </p:grpSpPr>
        <p:sp>
          <p:nvSpPr>
            <p:cNvPr id="12" name="Rectangle 12"/>
            <p:cNvSpPr/>
            <p:nvPr/>
          </p:nvSpPr>
          <p:spPr>
            <a:xfrm>
              <a:off x="609600" y="1219200"/>
              <a:ext cx="6286500" cy="4495800"/>
            </a:xfrm>
            <a:prstGeom prst="roundRect">
              <a:avLst>
                <a:gd name="adj" fmla="val 2119"/>
              </a:avLst>
            </a:prstGeom>
            <a:solidFill>
              <a:srgbClr val="12355B"/>
            </a:solidFill>
            <a:ln>
              <a:noFill/>
            </a:ln>
          </p:spPr>
        </p:sp>
        <p:sp>
          <p:nvSpPr>
            <p:cNvPr id="13" name="TextBox 13"/>
            <p:cNvSpPr txBox="1"/>
            <p:nvPr/>
          </p:nvSpPr>
          <p:spPr>
            <a:xfrm>
              <a:off x="851535" y="1402556"/>
              <a:ext cx="840689"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@dataclass</a:t>
              </a:r>
            </a:p>
          </p:txBody>
        </p:sp>
        <p:sp>
          <p:nvSpPr>
            <p:cNvPr id="14" name="TextBox 14"/>
            <p:cNvSpPr txBox="1"/>
            <p:nvPr/>
          </p:nvSpPr>
          <p:spPr>
            <a:xfrm>
              <a:off x="851535" y="1631156"/>
              <a:ext cx="2182759"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class GuvenliMusteriKaydi:</a:t>
              </a:r>
            </a:p>
          </p:txBody>
        </p:sp>
        <p:sp>
          <p:nvSpPr>
            <p:cNvPr id="15" name="TextBox 15"/>
            <p:cNvSpPr txBox="1"/>
            <p:nvPr/>
          </p:nvSpPr>
          <p:spPr>
            <a:xfrm>
              <a:off x="1042035" y="1859756"/>
              <a:ext cx="1421171"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musteri_kodu: str</a:t>
              </a:r>
            </a:p>
          </p:txBody>
        </p:sp>
        <p:sp>
          <p:nvSpPr>
            <p:cNvPr id="16" name="TextBox 16"/>
            <p:cNvSpPr txBox="1"/>
            <p:nvPr/>
          </p:nvSpPr>
          <p:spPr>
            <a:xfrm>
              <a:off x="1042035" y="2088356"/>
              <a:ext cx="1504097"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aylik_ucret: float</a:t>
              </a:r>
            </a:p>
          </p:txBody>
        </p:sp>
        <p:sp>
          <p:nvSpPr>
            <p:cNvPr id="17" name="TextBox 17"/>
            <p:cNvSpPr txBox="1"/>
            <p:nvPr/>
          </p:nvSpPr>
          <p:spPr>
            <a:xfrm>
              <a:off x="1042035" y="2316956"/>
              <a:ext cx="1669948"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sozlesme_suresi: int</a:t>
              </a:r>
            </a:p>
          </p:txBody>
        </p:sp>
        <p:sp>
          <p:nvSpPr>
            <p:cNvPr id="18" name="TextBox 18"/>
            <p:cNvSpPr txBox="1"/>
            <p:nvPr/>
          </p:nvSpPr>
          <p:spPr>
            <a:xfrm>
              <a:off x="1042035" y="2545556"/>
              <a:ext cx="1669948"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maskeli_telefon: str</a:t>
              </a:r>
            </a:p>
          </p:txBody>
        </p:sp>
        <p:sp>
          <p:nvSpPr>
            <p:cNvPr id="19" name="TextBox 19"/>
            <p:cNvSpPr txBox="1"/>
            <p:nvPr/>
          </p:nvSpPr>
          <p:spPr>
            <a:xfrm>
              <a:off x="851535" y="2850356"/>
              <a:ext cx="2747985"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def telefonu_maskele(telefon_no):</a:t>
              </a:r>
            </a:p>
          </p:txBody>
        </p:sp>
        <p:sp>
          <p:nvSpPr>
            <p:cNvPr id="20" name="TextBox 20"/>
            <p:cNvSpPr txBox="1"/>
            <p:nvPr/>
          </p:nvSpPr>
          <p:spPr>
            <a:xfrm>
              <a:off x="1042035" y="3078956"/>
              <a:ext cx="3991874"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return "*"*(len(telefon_no)-4) + telefon_no[-4:]</a:t>
              </a:r>
            </a:p>
          </p:txBody>
        </p:sp>
        <p:sp>
          <p:nvSpPr>
            <p:cNvPr id="21" name="TextBox 21"/>
            <p:cNvSpPr txBox="1"/>
            <p:nvPr/>
          </p:nvSpPr>
          <p:spPr>
            <a:xfrm>
              <a:off x="851535" y="3383756"/>
              <a:ext cx="3162615"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def modeli_icin_sadeleştir(ham_kayit):</a:t>
              </a:r>
            </a:p>
          </p:txBody>
        </p:sp>
        <p:sp>
          <p:nvSpPr>
            <p:cNvPr id="22" name="TextBox 22"/>
            <p:cNvSpPr txBox="1"/>
            <p:nvPr/>
          </p:nvSpPr>
          <p:spPr>
            <a:xfrm>
              <a:off x="1042035" y="3612356"/>
              <a:ext cx="2846356"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return asdict(GuvenliMusteriKaydi(</a:t>
              </a:r>
            </a:p>
          </p:txBody>
        </p:sp>
        <p:sp>
          <p:nvSpPr>
            <p:cNvPr id="23" name="TextBox 23"/>
            <p:cNvSpPr txBox="1"/>
            <p:nvPr/>
          </p:nvSpPr>
          <p:spPr>
            <a:xfrm>
              <a:off x="1232535" y="3840956"/>
              <a:ext cx="3245541"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musteri_kodu=ham_kayit["musteri_kodu"],</a:t>
              </a:r>
            </a:p>
          </p:txBody>
        </p:sp>
        <p:sp>
          <p:nvSpPr>
            <p:cNvPr id="24" name="TextBox 24"/>
            <p:cNvSpPr txBox="1"/>
            <p:nvPr/>
          </p:nvSpPr>
          <p:spPr>
            <a:xfrm>
              <a:off x="1232535" y="4069556"/>
              <a:ext cx="3162615"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maskeli_telefon=telefonu_maskele(...),</a:t>
              </a:r>
            </a:p>
          </p:txBody>
        </p:sp>
        <p:sp>
          <p:nvSpPr>
            <p:cNvPr id="25" name="TextBox 25"/>
            <p:cNvSpPr txBox="1"/>
            <p:nvPr/>
          </p:nvSpPr>
          <p:spPr>
            <a:xfrm>
              <a:off x="1042035" y="4298156"/>
              <a:ext cx="177282"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a:t>
              </a:r>
            </a:p>
          </p:txBody>
        </p:sp>
        <p:sp>
          <p:nvSpPr>
            <p:cNvPr id="26" name="Line 26"/>
            <p:cNvSpPr/>
            <p:nvPr/>
          </p:nvSpPr>
          <p:spPr>
            <a:xfrm>
              <a:off x="857250" y="4610100"/>
              <a:ext cx="5753100" cy="9525"/>
            </a:xfrm>
            <a:custGeom>
              <a:avLst/>
              <a:gdLst/>
              <a:ahLst/>
              <a:cxnLst/>
              <a:rect l="l" t="t" r="r" b="b"/>
              <a:pathLst>
                <a:path w="5753100" h="9525">
                  <a:moveTo>
                    <a:pt x="0" y="0"/>
                  </a:moveTo>
                  <a:lnTo>
                    <a:pt x="5753100" y="0"/>
                  </a:lnTo>
                </a:path>
              </a:pathLst>
            </a:custGeom>
            <a:noFill/>
            <a:ln w="9525">
              <a:solidFill>
                <a:srgbClr val="2E86AB"/>
              </a:solidFill>
            </a:ln>
          </p:spPr>
        </p:sp>
        <p:sp>
          <p:nvSpPr>
            <p:cNvPr id="27" name="TextBox 27"/>
            <p:cNvSpPr txBox="1"/>
            <p:nvPr/>
          </p:nvSpPr>
          <p:spPr>
            <a:xfrm>
              <a:off x="851535" y="4755356"/>
              <a:ext cx="2510942"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&gt;&gt;&gt; {'musteri_kodu': 'M-1042',</a:t>
              </a:r>
            </a:p>
          </p:txBody>
        </p:sp>
        <p:sp>
          <p:nvSpPr>
            <p:cNvPr id="28" name="TextBox 28"/>
            <p:cNvSpPr txBox="1"/>
            <p:nvPr/>
          </p:nvSpPr>
          <p:spPr>
            <a:xfrm>
              <a:off x="851535" y="4983956"/>
              <a:ext cx="3162615"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'maskeli_telefon': '*******4567', ...}</a:t>
              </a:r>
            </a:p>
          </p:txBody>
        </p:sp>
      </p:grpSp>
      <p:grpSp>
        <p:nvGrpSpPr>
          <p:cNvPr id="38" name="code-explain"/>
          <p:cNvGrpSpPr/>
          <p:nvPr/>
        </p:nvGrpSpPr>
        <p:grpSpPr>
          <a:xfrm>
            <a:off x="7116699" y="1353979"/>
            <a:ext cx="3511525" cy="2046827"/>
            <a:chOff x="7116699" y="1353979"/>
            <a:chExt cx="3511525" cy="2046827"/>
          </a:xfrm>
        </p:grpSpPr>
        <p:sp>
          <p:nvSpPr>
            <p:cNvPr id="30" name="TextBox 30"/>
            <p:cNvSpPr txBox="1"/>
            <p:nvPr/>
          </p:nvSpPr>
          <p:spPr>
            <a:xfrm>
              <a:off x="7116699" y="1353979"/>
              <a:ext cx="250281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Bu çıktı ne anlatıyor?</a:t>
              </a:r>
            </a:p>
          </p:txBody>
        </p:sp>
        <p:sp>
          <p:nvSpPr>
            <p:cNvPr id="31" name="TextBox 31"/>
            <p:cNvSpPr txBox="1"/>
            <p:nvPr/>
          </p:nvSpPr>
          <p:spPr>
            <a:xfrm>
              <a:off x="7118604" y="1718310"/>
              <a:ext cx="3044867" cy="234696"/>
            </a:xfrm>
            <a:prstGeom prst="rect">
              <a:avLst/>
            </a:prstGeom>
            <a:noFill/>
            <a:ln>
              <a:noFill/>
            </a:ln>
          </p:spPr>
          <p:txBody>
            <a:bodyPr wrap="none" lIns="0" tIns="0" rIns="0" bIns="0" anchor="t" anchorCtr="0">
              <a:spAutoFit/>
            </a:bodyPr>
            <a:lstStyle/>
            <a:p>
              <a:pPr algn="l"/>
              <a:r>
                <a:rPr lang="tr-TR" sz="1200" b="1" dirty="0">
                  <a:solidFill>
                    <a:srgbClr val="172B3A"/>
                  </a:solidFill>
                  <a:latin typeface="+mn-lt"/>
                  <a:ea typeface="+mn-ea"/>
                  <a:cs typeface="+mn-cs"/>
                </a:rPr>
                <a:t>GuvenliMusteriKaydi</a:t>
              </a:r>
              <a:r>
                <a:rPr lang="tr-TR" sz="1200" dirty="0">
                  <a:solidFill>
                    <a:srgbClr val="172B3A"/>
                  </a:solidFill>
                  <a:latin typeface="+mn-lt"/>
                  <a:ea typeface="+mn-ea"/>
                  <a:cs typeface="+mn-cs"/>
                </a:rPr>
                <a:t>, yalnızca amaçla</a:t>
              </a:r>
            </a:p>
          </p:txBody>
        </p:sp>
        <p:sp>
          <p:nvSpPr>
            <p:cNvPr id="32" name="TextBox 32"/>
            <p:cNvSpPr txBox="1"/>
            <p:nvPr/>
          </p:nvSpPr>
          <p:spPr>
            <a:xfrm>
              <a:off x="7118604" y="1927860"/>
              <a:ext cx="350962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ilişkili alanları tanımlar; ad-soyad alınmaz.</a:t>
              </a:r>
            </a:p>
          </p:txBody>
        </p:sp>
        <p:sp>
          <p:nvSpPr>
            <p:cNvPr id="33" name="TextBox 33"/>
            <p:cNvSpPr txBox="1"/>
            <p:nvPr/>
          </p:nvSpPr>
          <p:spPr>
            <a:xfrm>
              <a:off x="7118604" y="2232660"/>
              <a:ext cx="3396943" cy="234696"/>
            </a:xfrm>
            <a:prstGeom prst="rect">
              <a:avLst/>
            </a:prstGeom>
            <a:noFill/>
            <a:ln>
              <a:noFill/>
            </a:ln>
          </p:spPr>
          <p:txBody>
            <a:bodyPr wrap="none" lIns="0" tIns="0" rIns="0" bIns="0" anchor="t" anchorCtr="0">
              <a:spAutoFit/>
            </a:bodyPr>
            <a:lstStyle/>
            <a:p>
              <a:pPr algn="l"/>
              <a:r>
                <a:rPr lang="tr-TR" sz="1200" b="1" dirty="0">
                  <a:solidFill>
                    <a:srgbClr val="172B3A"/>
                  </a:solidFill>
                  <a:latin typeface="+mn-lt"/>
                  <a:ea typeface="+mn-ea"/>
                  <a:cs typeface="+mn-cs"/>
                </a:rPr>
                <a:t>asdict</a:t>
              </a:r>
              <a:r>
                <a:rPr lang="tr-TR" sz="1200" dirty="0">
                  <a:solidFill>
                    <a:srgbClr val="172B3A"/>
                  </a:solidFill>
                  <a:latin typeface="+mn-lt"/>
                  <a:ea typeface="+mn-ea"/>
                  <a:cs typeface="+mn-cs"/>
                </a:rPr>
                <a:t>, veri sınıfını sözlüğe dönüştürür.</a:t>
              </a:r>
            </a:p>
          </p:txBody>
        </p:sp>
        <p:sp>
          <p:nvSpPr>
            <p:cNvPr id="34" name="TextBox 34"/>
            <p:cNvSpPr txBox="1"/>
            <p:nvPr/>
          </p:nvSpPr>
          <p:spPr>
            <a:xfrm>
              <a:off x="7118604" y="2537460"/>
              <a:ext cx="293356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Maskeleme, açık telefon numarasını</a:t>
              </a:r>
            </a:p>
          </p:txBody>
        </p:sp>
        <p:sp>
          <p:nvSpPr>
            <p:cNvPr id="35" name="TextBox 35"/>
            <p:cNvSpPr txBox="1"/>
            <p:nvPr/>
          </p:nvSpPr>
          <p:spPr>
            <a:xfrm>
              <a:off x="7118604" y="2747010"/>
              <a:ext cx="337230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yetkisiz kullanıcılara göstermeyi azaltır;</a:t>
              </a:r>
            </a:p>
          </p:txBody>
        </p:sp>
        <p:sp>
          <p:nvSpPr>
            <p:cNvPr id="36" name="TextBox 36"/>
            <p:cNvSpPr txBox="1"/>
            <p:nvPr/>
          </p:nvSpPr>
          <p:spPr>
            <a:xfrm>
              <a:off x="7118604" y="2956560"/>
              <a:ext cx="264535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ancak güçlü şifreleme veya erişim</a:t>
              </a:r>
            </a:p>
          </p:txBody>
        </p:sp>
        <p:sp>
          <p:nvSpPr>
            <p:cNvPr id="37" name="TextBox 37"/>
            <p:cNvSpPr txBox="1"/>
            <p:nvPr/>
          </p:nvSpPr>
          <p:spPr>
            <a:xfrm>
              <a:off x="7118604" y="3166110"/>
              <a:ext cx="219303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kontrolünün yerine geçmez.</a:t>
              </a:r>
            </a:p>
          </p:txBody>
        </p:sp>
      </p:grpSp>
      <p:grpSp>
        <p:nvGrpSpPr>
          <p:cNvPr id="45" name="code-note"/>
          <p:cNvGrpSpPr/>
          <p:nvPr/>
        </p:nvGrpSpPr>
        <p:grpSpPr>
          <a:xfrm>
            <a:off x="7124700" y="4305300"/>
            <a:ext cx="4457700" cy="1409700"/>
            <a:chOff x="7124700" y="4305300"/>
            <a:chExt cx="4457700" cy="1409700"/>
          </a:xfrm>
        </p:grpSpPr>
        <p:sp>
          <p:nvSpPr>
            <p:cNvPr id="39" name="Rectangle 39"/>
            <p:cNvSpPr/>
            <p:nvPr/>
          </p:nvSpPr>
          <p:spPr>
            <a:xfrm>
              <a:off x="7124700" y="4305300"/>
              <a:ext cx="4457700" cy="1409700"/>
            </a:xfrm>
            <a:prstGeom prst="roundRect">
              <a:avLst>
                <a:gd name="adj" fmla="val 5405"/>
              </a:avLst>
            </a:prstGeom>
            <a:solidFill>
              <a:srgbClr val="EAF4F6"/>
            </a:solidFill>
            <a:ln>
              <a:noFill/>
            </a:ln>
          </p:spPr>
        </p:sp>
        <p:sp>
          <p:nvSpPr>
            <p:cNvPr id="40" name="TextBox 40"/>
            <p:cNvSpPr txBox="1"/>
            <p:nvPr/>
          </p:nvSpPr>
          <p:spPr>
            <a:xfrm>
              <a:off x="7347204" y="4480560"/>
              <a:ext cx="1094829"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Amaç ve girdi</a:t>
              </a:r>
            </a:p>
          </p:txBody>
        </p:sp>
        <p:sp>
          <p:nvSpPr>
            <p:cNvPr id="41" name="TextBox 41"/>
            <p:cNvSpPr txBox="1"/>
            <p:nvPr/>
          </p:nvSpPr>
          <p:spPr>
            <a:xfrm>
              <a:off x="7347204" y="4728210"/>
              <a:ext cx="332126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Ad-soyad ve açık telefon numarası içeren</a:t>
              </a:r>
            </a:p>
          </p:txBody>
        </p:sp>
        <p:sp>
          <p:nvSpPr>
            <p:cNvPr id="42" name="TextBox 42"/>
            <p:cNvSpPr txBox="1"/>
            <p:nvPr/>
          </p:nvSpPr>
          <p:spPr>
            <a:xfrm>
              <a:off x="7347204" y="4937760"/>
              <a:ext cx="258074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ham kayıttan, telefon numarası</a:t>
              </a:r>
            </a:p>
          </p:txBody>
        </p:sp>
        <p:sp>
          <p:nvSpPr>
            <p:cNvPr id="43" name="TextBox 43"/>
            <p:cNvSpPr txBox="1"/>
            <p:nvPr/>
          </p:nvSpPr>
          <p:spPr>
            <a:xfrm>
              <a:off x="7347204" y="5147310"/>
              <a:ext cx="312191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maskelenmiş güvenli bir kayıt üretmek.</a:t>
              </a:r>
            </a:p>
          </p:txBody>
        </p:sp>
        <p:sp>
          <p:nvSpPr>
            <p:cNvPr id="44" name="TextBox 44"/>
            <p:cNvSpPr txBox="1"/>
            <p:nvPr/>
          </p:nvSpPr>
          <p:spPr>
            <a:xfrm>
              <a:off x="7347204" y="5356860"/>
              <a:ext cx="381428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dataclasses, Python 3.7 ile standartlaşmıştır.</a:t>
              </a:r>
            </a:p>
          </p:txBody>
        </p:sp>
      </p:grpSp>
      <p:sp>
        <p:nvSpPr>
          <p:cNvPr id="46" name="TextBox 4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 / 25</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10271942" cy="668845"/>
            <a:chOff x="609600" y="171450"/>
            <a:chExt cx="10271942"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09562"/>
                <a:ext cx="206693" cy="280512"/>
                <a:chOff x="792004" y="309562"/>
                <a:chExt cx="206693" cy="280512"/>
              </a:xfrm>
            </p:grpSpPr>
            <p:sp>
              <p:nvSpPr>
                <p:cNvPr id="5" name="Freeform 5"/>
                <p:cNvSpPr/>
                <p:nvPr/>
              </p:nvSpPr>
              <p:spPr>
                <a:xfrm>
                  <a:off x="7920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805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8362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99972" y="282892"/>
              <a:ext cx="958157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Tahmin kararında etik ve KVKK kontrol noktaları</a:t>
              </a:r>
            </a:p>
          </p:txBody>
        </p:sp>
      </p:grpSp>
      <p:grpSp>
        <p:nvGrpSpPr>
          <p:cNvPr id="14" name="lead"/>
          <p:cNvGrpSpPr/>
          <p:nvPr/>
        </p:nvGrpSpPr>
        <p:grpSpPr>
          <a:xfrm>
            <a:off x="601599" y="1277779"/>
            <a:ext cx="8541412" cy="536639"/>
            <a:chOff x="601599" y="1277779"/>
            <a:chExt cx="8541412" cy="536639"/>
          </a:xfrm>
        </p:grpSpPr>
        <p:sp>
          <p:nvSpPr>
            <p:cNvPr id="12" name="TextBox 12"/>
            <p:cNvSpPr txBox="1"/>
            <p:nvPr/>
          </p:nvSpPr>
          <p:spPr>
            <a:xfrm>
              <a:off x="601599" y="1277779"/>
              <a:ext cx="854141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Sıralama, tahminin yalnızca model hizmeti tarafından verilmediğini gösterir; etik</a:t>
              </a:r>
            </a:p>
          </p:txBody>
        </p:sp>
        <p:sp>
          <p:nvSpPr>
            <p:cNvPr id="13" name="TextBox 13"/>
            <p:cNvSpPr txBox="1"/>
            <p:nvPr/>
          </p:nvSpPr>
          <p:spPr>
            <a:xfrm>
              <a:off x="601599" y="1506379"/>
              <a:ext cx="788588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inceleme ve kayıt deposu, hesap verebilirlik için teknik sürecin parçasıdır.</a:t>
              </a:r>
            </a:p>
          </p:txBody>
        </p:sp>
      </p:grpSp>
      <p:grpSp>
        <p:nvGrpSpPr>
          <p:cNvPr id="20" name="step1"/>
          <p:cNvGrpSpPr/>
          <p:nvPr/>
        </p:nvGrpSpPr>
        <p:grpSpPr>
          <a:xfrm>
            <a:off x="609600" y="2286000"/>
            <a:ext cx="2381250" cy="1524000"/>
            <a:chOff x="609600" y="2286000"/>
            <a:chExt cx="2381250" cy="1524000"/>
          </a:xfrm>
        </p:grpSpPr>
        <p:sp>
          <p:nvSpPr>
            <p:cNvPr id="15" name="Rectangle 15"/>
            <p:cNvSpPr/>
            <p:nvPr/>
          </p:nvSpPr>
          <p:spPr>
            <a:xfrm>
              <a:off x="609600" y="2286000"/>
              <a:ext cx="2381250" cy="1524000"/>
            </a:xfrm>
            <a:prstGeom prst="roundRect">
              <a:avLst>
                <a:gd name="adj" fmla="val 6250"/>
              </a:avLst>
            </a:prstGeom>
            <a:solidFill>
              <a:srgbClr val="FFFFFF"/>
            </a:solidFill>
            <a:ln w="14288">
              <a:solidFill>
                <a:srgbClr val="2E86AB"/>
              </a:solidFill>
            </a:ln>
          </p:spPr>
        </p:sp>
        <p:sp>
          <p:nvSpPr>
            <p:cNvPr id="16" name="TextBox 16"/>
            <p:cNvSpPr txBox="1"/>
            <p:nvPr/>
          </p:nvSpPr>
          <p:spPr>
            <a:xfrm>
              <a:off x="1695789" y="2461260"/>
              <a:ext cx="208872" cy="234696"/>
            </a:xfrm>
            <a:prstGeom prst="rect">
              <a:avLst/>
            </a:prstGeom>
            <a:noFill/>
            <a:ln>
              <a:noFill/>
            </a:ln>
          </p:spPr>
          <p:txBody>
            <a:bodyPr wrap="none" lIns="0" tIns="0" rIns="0" bIns="0" anchor="t" anchorCtr="0">
              <a:spAutoFit/>
            </a:bodyPr>
            <a:lstStyle/>
            <a:p>
              <a:pPr algn="ctr"/>
              <a:r>
                <a:rPr lang="tr-TR" sz="1200" b="1" spc="75" dirty="0">
                  <a:solidFill>
                    <a:srgbClr val="2E86AB"/>
                  </a:solidFill>
                  <a:latin typeface="+mn-lt"/>
                  <a:ea typeface="+mn-ea"/>
                  <a:cs typeface="+mn-cs"/>
                </a:rPr>
                <a:t>01</a:t>
              </a:r>
            </a:p>
          </p:txBody>
        </p:sp>
        <p:sp>
          <p:nvSpPr>
            <p:cNvPr id="17" name="TextBox 17"/>
            <p:cNvSpPr txBox="1"/>
            <p:nvPr/>
          </p:nvSpPr>
          <p:spPr>
            <a:xfrm>
              <a:off x="1015010" y="2725579"/>
              <a:ext cx="1570430"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Müşteri Verisi</a:t>
              </a:r>
            </a:p>
          </p:txBody>
        </p:sp>
        <p:sp>
          <p:nvSpPr>
            <p:cNvPr id="18" name="TextBox 18"/>
            <p:cNvSpPr txBox="1"/>
            <p:nvPr/>
          </p:nvSpPr>
          <p:spPr>
            <a:xfrm>
              <a:off x="1173891" y="3032760"/>
              <a:ext cx="1252667"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Minimize edilmiş</a:t>
              </a:r>
            </a:p>
          </p:txBody>
        </p:sp>
        <p:sp>
          <p:nvSpPr>
            <p:cNvPr id="19" name="TextBox 19"/>
            <p:cNvSpPr txBox="1"/>
            <p:nvPr/>
          </p:nvSpPr>
          <p:spPr>
            <a:xfrm>
              <a:off x="958139" y="3223260"/>
              <a:ext cx="1684172"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alanlarla talep başlar</a:t>
              </a:r>
            </a:p>
          </p:txBody>
        </p:sp>
      </p:grpSp>
      <p:grpSp>
        <p:nvGrpSpPr>
          <p:cNvPr id="26" name="step2"/>
          <p:cNvGrpSpPr/>
          <p:nvPr/>
        </p:nvGrpSpPr>
        <p:grpSpPr>
          <a:xfrm>
            <a:off x="3286125" y="2286000"/>
            <a:ext cx="2381250" cy="1524000"/>
            <a:chOff x="3286125" y="2286000"/>
            <a:chExt cx="2381250" cy="1524000"/>
          </a:xfrm>
        </p:grpSpPr>
        <p:sp>
          <p:nvSpPr>
            <p:cNvPr id="21" name="Rectangle 21"/>
            <p:cNvSpPr/>
            <p:nvPr/>
          </p:nvSpPr>
          <p:spPr>
            <a:xfrm>
              <a:off x="3286125" y="2286000"/>
              <a:ext cx="2381250" cy="1524000"/>
            </a:xfrm>
            <a:prstGeom prst="roundRect">
              <a:avLst>
                <a:gd name="adj" fmla="val 6250"/>
              </a:avLst>
            </a:prstGeom>
            <a:solidFill>
              <a:srgbClr val="FFFFFF"/>
            </a:solidFill>
            <a:ln w="14288">
              <a:solidFill>
                <a:srgbClr val="2E86AB"/>
              </a:solidFill>
            </a:ln>
          </p:spPr>
        </p:sp>
        <p:sp>
          <p:nvSpPr>
            <p:cNvPr id="22" name="TextBox 22"/>
            <p:cNvSpPr txBox="1"/>
            <p:nvPr/>
          </p:nvSpPr>
          <p:spPr>
            <a:xfrm>
              <a:off x="4372314" y="2461260"/>
              <a:ext cx="208872" cy="234696"/>
            </a:xfrm>
            <a:prstGeom prst="rect">
              <a:avLst/>
            </a:prstGeom>
            <a:noFill/>
            <a:ln>
              <a:noFill/>
            </a:ln>
          </p:spPr>
          <p:txBody>
            <a:bodyPr wrap="none" lIns="0" tIns="0" rIns="0" bIns="0" anchor="t" anchorCtr="0">
              <a:spAutoFit/>
            </a:bodyPr>
            <a:lstStyle/>
            <a:p>
              <a:pPr algn="ctr"/>
              <a:r>
                <a:rPr lang="tr-TR" sz="1200" b="1" spc="75" dirty="0">
                  <a:solidFill>
                    <a:srgbClr val="2E86AB"/>
                  </a:solidFill>
                  <a:latin typeface="+mn-lt"/>
                  <a:ea typeface="+mn-ea"/>
                  <a:cs typeface="+mn-cs"/>
                </a:rPr>
                <a:t>02</a:t>
              </a:r>
            </a:p>
          </p:txBody>
        </p:sp>
        <p:sp>
          <p:nvSpPr>
            <p:cNvPr id="23" name="TextBox 23"/>
            <p:cNvSpPr txBox="1"/>
            <p:nvPr/>
          </p:nvSpPr>
          <p:spPr>
            <a:xfrm>
              <a:off x="3730428" y="2725579"/>
              <a:ext cx="1492644"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Model Hizmeti</a:t>
              </a:r>
            </a:p>
          </p:txBody>
        </p:sp>
        <p:sp>
          <p:nvSpPr>
            <p:cNvPr id="24" name="TextBox 24"/>
            <p:cNvSpPr txBox="1"/>
            <p:nvPr/>
          </p:nvSpPr>
          <p:spPr>
            <a:xfrm>
              <a:off x="3753293" y="3032760"/>
              <a:ext cx="1446914"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Tahmin ve olasılık</a:t>
              </a:r>
            </a:p>
          </p:txBody>
        </p:sp>
        <p:sp>
          <p:nvSpPr>
            <p:cNvPr id="25" name="TextBox 25"/>
            <p:cNvSpPr txBox="1"/>
            <p:nvPr/>
          </p:nvSpPr>
          <p:spPr>
            <a:xfrm>
              <a:off x="3844671" y="3223260"/>
              <a:ext cx="1264158"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sürümle üretilir</a:t>
              </a:r>
            </a:p>
          </p:txBody>
        </p:sp>
      </p:grpSp>
      <p:grpSp>
        <p:nvGrpSpPr>
          <p:cNvPr id="32" name="step3"/>
          <p:cNvGrpSpPr/>
          <p:nvPr/>
        </p:nvGrpSpPr>
        <p:grpSpPr>
          <a:xfrm>
            <a:off x="5962650" y="2286000"/>
            <a:ext cx="2381250" cy="1524000"/>
            <a:chOff x="5962650" y="2286000"/>
            <a:chExt cx="2381250" cy="1524000"/>
          </a:xfrm>
        </p:grpSpPr>
        <p:sp>
          <p:nvSpPr>
            <p:cNvPr id="27" name="Rectangle 27"/>
            <p:cNvSpPr/>
            <p:nvPr/>
          </p:nvSpPr>
          <p:spPr>
            <a:xfrm>
              <a:off x="5962650" y="2286000"/>
              <a:ext cx="2381250" cy="1524000"/>
            </a:xfrm>
            <a:prstGeom prst="roundRect">
              <a:avLst>
                <a:gd name="adj" fmla="val 6250"/>
              </a:avLst>
            </a:prstGeom>
            <a:solidFill>
              <a:srgbClr val="12355B"/>
            </a:solidFill>
            <a:ln>
              <a:noFill/>
            </a:ln>
          </p:spPr>
        </p:sp>
        <p:sp>
          <p:nvSpPr>
            <p:cNvPr id="28" name="TextBox 28"/>
            <p:cNvSpPr txBox="1"/>
            <p:nvPr/>
          </p:nvSpPr>
          <p:spPr>
            <a:xfrm>
              <a:off x="7048839" y="2461260"/>
              <a:ext cx="208872" cy="234696"/>
            </a:xfrm>
            <a:prstGeom prst="rect">
              <a:avLst/>
            </a:prstGeom>
            <a:noFill/>
            <a:ln>
              <a:noFill/>
            </a:ln>
          </p:spPr>
          <p:txBody>
            <a:bodyPr wrap="none" lIns="0" tIns="0" rIns="0" bIns="0" anchor="t" anchorCtr="0">
              <a:spAutoFit/>
            </a:bodyPr>
            <a:lstStyle/>
            <a:p>
              <a:pPr algn="ctr"/>
              <a:r>
                <a:rPr lang="tr-TR" sz="1200" b="1" spc="75" dirty="0">
                  <a:solidFill>
                    <a:srgbClr val="00A6A6"/>
                  </a:solidFill>
                  <a:latin typeface="+mn-lt"/>
                  <a:ea typeface="+mn-ea"/>
                  <a:cs typeface="+mn-cs"/>
                </a:rPr>
                <a:t>03</a:t>
              </a:r>
            </a:p>
          </p:txBody>
        </p:sp>
        <p:sp>
          <p:nvSpPr>
            <p:cNvPr id="29" name="TextBox 29"/>
            <p:cNvSpPr txBox="1"/>
            <p:nvPr/>
          </p:nvSpPr>
          <p:spPr>
            <a:xfrm>
              <a:off x="6401317" y="2725579"/>
              <a:ext cx="150391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Etik İnceleme</a:t>
              </a:r>
            </a:p>
          </p:txBody>
        </p:sp>
        <p:sp>
          <p:nvSpPr>
            <p:cNvPr id="30" name="TextBox 30"/>
            <p:cNvSpPr txBox="1"/>
            <p:nvPr/>
          </p:nvSpPr>
          <p:spPr>
            <a:xfrm>
              <a:off x="6538940" y="3032760"/>
              <a:ext cx="1228671" cy="234696"/>
            </a:xfrm>
            <a:prstGeom prst="rect">
              <a:avLst/>
            </a:prstGeom>
            <a:noFill/>
            <a:ln>
              <a:noFill/>
            </a:ln>
          </p:spPr>
          <p:txBody>
            <a:bodyPr wrap="none" lIns="0" tIns="0" rIns="0" bIns="0" anchor="t" anchorCtr="0">
              <a:spAutoFit/>
            </a:bodyPr>
            <a:lstStyle/>
            <a:p>
              <a:pPr algn="ctr"/>
              <a:r>
                <a:rPr lang="tr-TR" sz="1200" dirty="0">
                  <a:solidFill>
                    <a:srgbClr val="EAF4F6"/>
                  </a:solidFill>
                  <a:latin typeface="+mn-lt"/>
                  <a:ea typeface="+mn-ea"/>
                  <a:cs typeface="+mn-cs"/>
                </a:rPr>
                <a:t>Kayma ve adillik</a:t>
              </a:r>
            </a:p>
          </p:txBody>
        </p:sp>
        <p:sp>
          <p:nvSpPr>
            <p:cNvPr id="31" name="TextBox 31"/>
            <p:cNvSpPr txBox="1"/>
            <p:nvPr/>
          </p:nvSpPr>
          <p:spPr>
            <a:xfrm>
              <a:off x="6194069" y="3223260"/>
              <a:ext cx="1918411" cy="234696"/>
            </a:xfrm>
            <a:prstGeom prst="rect">
              <a:avLst/>
            </a:prstGeom>
            <a:noFill/>
            <a:ln>
              <a:noFill/>
            </a:ln>
          </p:spPr>
          <p:txBody>
            <a:bodyPr wrap="none" lIns="0" tIns="0" rIns="0" bIns="0" anchor="t" anchorCtr="0">
              <a:spAutoFit/>
            </a:bodyPr>
            <a:lstStyle/>
            <a:p>
              <a:pPr algn="ctr"/>
              <a:r>
                <a:rPr lang="tr-TR" sz="1200" dirty="0">
                  <a:solidFill>
                    <a:srgbClr val="EAF4F6"/>
                  </a:solidFill>
                  <a:latin typeface="+mn-lt"/>
                  <a:ea typeface="+mn-ea"/>
                  <a:cs typeface="+mn-cs"/>
                </a:rPr>
                <a:t>sinyalleri değerlendirilir</a:t>
              </a:r>
            </a:p>
          </p:txBody>
        </p:sp>
      </p:grpSp>
      <p:grpSp>
        <p:nvGrpSpPr>
          <p:cNvPr id="38" name="step4"/>
          <p:cNvGrpSpPr/>
          <p:nvPr/>
        </p:nvGrpSpPr>
        <p:grpSpPr>
          <a:xfrm>
            <a:off x="8639175" y="2286000"/>
            <a:ext cx="2381250" cy="1524000"/>
            <a:chOff x="8639175" y="2286000"/>
            <a:chExt cx="2381250" cy="1524000"/>
          </a:xfrm>
        </p:grpSpPr>
        <p:sp>
          <p:nvSpPr>
            <p:cNvPr id="33" name="Rectangle 33"/>
            <p:cNvSpPr/>
            <p:nvPr/>
          </p:nvSpPr>
          <p:spPr>
            <a:xfrm>
              <a:off x="8639175" y="2286000"/>
              <a:ext cx="2381250" cy="1524000"/>
            </a:xfrm>
            <a:prstGeom prst="roundRect">
              <a:avLst>
                <a:gd name="adj" fmla="val 6250"/>
              </a:avLst>
            </a:prstGeom>
            <a:solidFill>
              <a:srgbClr val="FFFFFF"/>
            </a:solidFill>
            <a:ln w="14288">
              <a:solidFill>
                <a:srgbClr val="2E86AB"/>
              </a:solidFill>
            </a:ln>
          </p:spPr>
        </p:sp>
        <p:sp>
          <p:nvSpPr>
            <p:cNvPr id="34" name="TextBox 34"/>
            <p:cNvSpPr txBox="1"/>
            <p:nvPr/>
          </p:nvSpPr>
          <p:spPr>
            <a:xfrm>
              <a:off x="9725364" y="2461260"/>
              <a:ext cx="208872" cy="234696"/>
            </a:xfrm>
            <a:prstGeom prst="rect">
              <a:avLst/>
            </a:prstGeom>
            <a:noFill/>
            <a:ln>
              <a:noFill/>
            </a:ln>
          </p:spPr>
          <p:txBody>
            <a:bodyPr wrap="none" lIns="0" tIns="0" rIns="0" bIns="0" anchor="t" anchorCtr="0">
              <a:spAutoFit/>
            </a:bodyPr>
            <a:lstStyle/>
            <a:p>
              <a:pPr algn="ctr"/>
              <a:r>
                <a:rPr lang="tr-TR" sz="1200" b="1" spc="75" dirty="0">
                  <a:solidFill>
                    <a:srgbClr val="2E86AB"/>
                  </a:solidFill>
                  <a:latin typeface="+mn-lt"/>
                  <a:ea typeface="+mn-ea"/>
                  <a:cs typeface="+mn-cs"/>
                </a:rPr>
                <a:t>04</a:t>
              </a:r>
            </a:p>
          </p:txBody>
        </p:sp>
        <p:sp>
          <p:nvSpPr>
            <p:cNvPr id="35" name="TextBox 35"/>
            <p:cNvSpPr txBox="1"/>
            <p:nvPr/>
          </p:nvSpPr>
          <p:spPr>
            <a:xfrm>
              <a:off x="9105414" y="2725579"/>
              <a:ext cx="1448772"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Kayıt Deposu</a:t>
              </a:r>
            </a:p>
          </p:txBody>
        </p:sp>
        <p:sp>
          <p:nvSpPr>
            <p:cNvPr id="36" name="TextBox 36"/>
            <p:cNvSpPr txBox="1"/>
            <p:nvPr/>
          </p:nvSpPr>
          <p:spPr>
            <a:xfrm>
              <a:off x="8916045" y="3032760"/>
              <a:ext cx="1827509"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Sürüm, zaman ve karar</a:t>
              </a:r>
            </a:p>
          </p:txBody>
        </p:sp>
        <p:sp>
          <p:nvSpPr>
            <p:cNvPr id="37" name="TextBox 37"/>
            <p:cNvSpPr txBox="1"/>
            <p:nvPr/>
          </p:nvSpPr>
          <p:spPr>
            <a:xfrm>
              <a:off x="9169451" y="3223260"/>
              <a:ext cx="1320698"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birlikte saklanır</a:t>
              </a:r>
            </a:p>
          </p:txBody>
        </p:sp>
      </p:grpSp>
      <p:sp>
        <p:nvSpPr>
          <p:cNvPr id="39" name="Line 39"/>
          <p:cNvSpPr/>
          <p:nvPr/>
        </p:nvSpPr>
        <p:spPr>
          <a:xfrm>
            <a:off x="2990850" y="3048000"/>
            <a:ext cx="295275" cy="1"/>
          </a:xfrm>
          <a:prstGeom prst="line">
            <a:avLst/>
          </a:prstGeom>
          <a:noFill/>
          <a:ln w="22860">
            <a:solidFill>
              <a:srgbClr val="00A6A6"/>
            </a:solidFill>
            <a:tailEnd type="arrow" w="lg" len="lg"/>
          </a:ln>
        </p:spPr>
      </p:sp>
      <p:sp>
        <p:nvSpPr>
          <p:cNvPr id="40" name="Line 40"/>
          <p:cNvSpPr/>
          <p:nvPr/>
        </p:nvSpPr>
        <p:spPr>
          <a:xfrm>
            <a:off x="5667375" y="3048000"/>
            <a:ext cx="295275" cy="1"/>
          </a:xfrm>
          <a:prstGeom prst="line">
            <a:avLst/>
          </a:prstGeom>
          <a:noFill/>
          <a:ln w="22860">
            <a:solidFill>
              <a:srgbClr val="00A6A6"/>
            </a:solidFill>
            <a:tailEnd type="arrow" w="lg" len="lg"/>
          </a:ln>
        </p:spPr>
      </p:sp>
      <p:sp>
        <p:nvSpPr>
          <p:cNvPr id="41" name="Line 41"/>
          <p:cNvSpPr/>
          <p:nvPr/>
        </p:nvSpPr>
        <p:spPr>
          <a:xfrm>
            <a:off x="8343900" y="3048000"/>
            <a:ext cx="295275" cy="1"/>
          </a:xfrm>
          <a:prstGeom prst="line">
            <a:avLst/>
          </a:prstGeom>
          <a:noFill/>
          <a:ln w="22860">
            <a:solidFill>
              <a:srgbClr val="00A6A6"/>
            </a:solidFill>
            <a:tailEnd type="arrow" w="lg" len="lg"/>
          </a:ln>
        </p:spPr>
      </p:sp>
      <p:grpSp>
        <p:nvGrpSpPr>
          <p:cNvPr id="48" name="capstone-note"/>
          <p:cNvGrpSpPr/>
          <p:nvPr/>
        </p:nvGrpSpPr>
        <p:grpSpPr>
          <a:xfrm>
            <a:off x="609600" y="4267200"/>
            <a:ext cx="10972800" cy="1428750"/>
            <a:chOff x="609600" y="4267200"/>
            <a:chExt cx="10972800" cy="1428750"/>
          </a:xfrm>
        </p:grpSpPr>
        <p:sp>
          <p:nvSpPr>
            <p:cNvPr id="42" name="Rectangle 42"/>
            <p:cNvSpPr/>
            <p:nvPr/>
          </p:nvSpPr>
          <p:spPr>
            <a:xfrm>
              <a:off x="609600" y="4267200"/>
              <a:ext cx="10972800" cy="1428750"/>
            </a:xfrm>
            <a:prstGeom prst="roundRect">
              <a:avLst>
                <a:gd name="adj" fmla="val 5333"/>
              </a:avLst>
            </a:prstGeom>
            <a:solidFill>
              <a:srgbClr val="EAF4F6"/>
            </a:solidFill>
            <a:ln>
              <a:noFill/>
            </a:ln>
          </p:spPr>
        </p:sp>
        <p:sp>
          <p:nvSpPr>
            <p:cNvPr id="43" name="TextBox 43"/>
            <p:cNvSpPr txBox="1"/>
            <p:nvPr/>
          </p:nvSpPr>
          <p:spPr>
            <a:xfrm>
              <a:off x="906399" y="4401979"/>
              <a:ext cx="344498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Capstone katkısı — Telco Churn</a:t>
              </a:r>
            </a:p>
          </p:txBody>
        </p:sp>
        <p:sp>
          <p:nvSpPr>
            <p:cNvPr id="44" name="TextBox 44"/>
            <p:cNvSpPr txBox="1"/>
            <p:nvPr/>
          </p:nvSpPr>
          <p:spPr>
            <a:xfrm>
              <a:off x="908304" y="4728210"/>
              <a:ext cx="660867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Bu bölümde kurduğunuz model sürüm kaydı, kayma izleme ve adillik raporu, capstone</a:t>
              </a:r>
            </a:p>
          </p:txBody>
        </p:sp>
        <p:sp>
          <p:nvSpPr>
            <p:cNvPr id="45" name="TextBox 45"/>
            <p:cNvSpPr txBox="1"/>
            <p:nvPr/>
          </p:nvSpPr>
          <p:spPr>
            <a:xfrm>
              <a:off x="908304" y="4937760"/>
              <a:ext cx="689923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projenizin model kartı (model card) bölümünün temelini oluşturur. Modelin hangi veriyle</a:t>
              </a:r>
            </a:p>
          </p:txBody>
        </p:sp>
        <p:sp>
          <p:nvSpPr>
            <p:cNvPr id="46" name="TextBox 46"/>
            <p:cNvSpPr txBox="1"/>
            <p:nvPr/>
          </p:nvSpPr>
          <p:spPr>
            <a:xfrm>
              <a:off x="908304" y="5147310"/>
              <a:ext cx="665165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eğitildiğini, izlenen adillik metriklerini, kayma eşiğinin belirlenişini ve minimize edilen</a:t>
              </a:r>
            </a:p>
          </p:txBody>
        </p:sp>
        <p:sp>
          <p:nvSpPr>
            <p:cNvPr id="47" name="TextBox 47"/>
            <p:cNvSpPr txBox="1"/>
            <p:nvPr/>
          </p:nvSpPr>
          <p:spPr>
            <a:xfrm>
              <a:off x="908304" y="5356860"/>
              <a:ext cx="531083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kişisel veri alanlarını tek bir model kartında özetlemeniz beklenir.</a:t>
              </a:r>
            </a:p>
          </p:txBody>
        </p:sp>
      </p:grpSp>
      <p:sp>
        <p:nvSpPr>
          <p:cNvPr id="49" name="TextBox 4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 / 25</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6807331" cy="557403"/>
            <a:chOff x="595122" y="282892"/>
            <a:chExt cx="6807331" cy="557403"/>
          </a:xfrm>
        </p:grpSpPr>
        <p:sp>
          <p:nvSpPr>
            <p:cNvPr id="4" name="TextBox 4"/>
            <p:cNvSpPr txBox="1"/>
            <p:nvPr/>
          </p:nvSpPr>
          <p:spPr>
            <a:xfrm>
              <a:off x="595122" y="282892"/>
              <a:ext cx="680733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Mini uygulama: ChurnIzlemeSistemi</a:t>
              </a:r>
            </a:p>
          </p:txBody>
        </p:sp>
      </p:grpSp>
      <p:grpSp>
        <p:nvGrpSpPr>
          <p:cNvPr id="8" name="goal"/>
          <p:cNvGrpSpPr/>
          <p:nvPr/>
        </p:nvGrpSpPr>
        <p:grpSpPr>
          <a:xfrm>
            <a:off x="601599" y="1277779"/>
            <a:ext cx="9126604" cy="536639"/>
            <a:chOff x="601599" y="1277779"/>
            <a:chExt cx="9126604" cy="536639"/>
          </a:xfrm>
        </p:grpSpPr>
        <p:sp>
          <p:nvSpPr>
            <p:cNvPr id="6" name="TextBox 6"/>
            <p:cNvSpPr txBox="1"/>
            <p:nvPr/>
          </p:nvSpPr>
          <p:spPr>
            <a:xfrm>
              <a:off x="601599" y="1277779"/>
              <a:ext cx="912660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Veri minimizasyonu, sürümlü tahmin kaydı, kayma uyarısı ve grup bazlı adillik raporunu</a:t>
              </a:r>
            </a:p>
          </p:txBody>
        </p:sp>
        <p:sp>
          <p:nvSpPr>
            <p:cNvPr id="7" name="TextBox 7"/>
            <p:cNvSpPr txBox="1"/>
            <p:nvPr/>
          </p:nvSpPr>
          <p:spPr>
            <a:xfrm>
              <a:off x="601599" y="1506379"/>
              <a:ext cx="699254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tek bir izleme sınıfında birleştirip insan incelemesi kararı üretir.</a:t>
              </a:r>
            </a:p>
          </p:txBody>
        </p:sp>
      </p:grpSp>
      <p:grpSp>
        <p:nvGrpSpPr>
          <p:cNvPr id="24" name="class-box"/>
          <p:cNvGrpSpPr/>
          <p:nvPr/>
        </p:nvGrpSpPr>
        <p:grpSpPr>
          <a:xfrm>
            <a:off x="609600" y="1981200"/>
            <a:ext cx="5257800" cy="3543300"/>
            <a:chOff x="609600" y="1981200"/>
            <a:chExt cx="5257800" cy="3543300"/>
          </a:xfrm>
        </p:grpSpPr>
        <p:sp>
          <p:nvSpPr>
            <p:cNvPr id="9" name="Rectangle 9"/>
            <p:cNvSpPr/>
            <p:nvPr/>
          </p:nvSpPr>
          <p:spPr>
            <a:xfrm>
              <a:off x="609600" y="1981200"/>
              <a:ext cx="5257800" cy="3543300"/>
            </a:xfrm>
            <a:prstGeom prst="roundRect">
              <a:avLst>
                <a:gd name="adj" fmla="val 2688"/>
              </a:avLst>
            </a:prstGeom>
            <a:solidFill>
              <a:srgbClr val="12355B"/>
            </a:solidFill>
            <a:ln>
              <a:noFill/>
            </a:ln>
          </p:spPr>
        </p:sp>
        <p:sp>
          <p:nvSpPr>
            <p:cNvPr id="10" name="TextBox 10"/>
            <p:cNvSpPr txBox="1"/>
            <p:nvPr/>
          </p:nvSpPr>
          <p:spPr>
            <a:xfrm>
              <a:off x="907923" y="2167414"/>
              <a:ext cx="2304287" cy="249364"/>
            </a:xfrm>
            <a:prstGeom prst="rect">
              <a:avLst/>
            </a:prstGeom>
            <a:noFill/>
            <a:ln>
              <a:noFill/>
            </a:ln>
          </p:spPr>
          <p:txBody>
            <a:bodyPr wrap="none" lIns="0" tIns="0" rIns="0" bIns="0" anchor="t" anchorCtr="0">
              <a:spAutoFit/>
            </a:bodyPr>
            <a:lstStyle/>
            <a:p>
              <a:pPr algn="l"/>
              <a:r>
                <a:rPr lang="tr-TR" sz="1280" b="1" dirty="0">
                  <a:solidFill>
                    <a:srgbClr val="FFFFFF"/>
                  </a:solidFill>
                  <a:latin typeface="Consolas"/>
                  <a:ea typeface="Consolas"/>
                  <a:cs typeface="Consolas"/>
                </a:rPr>
                <a:t>class ChurnIzlemeSistemi</a:t>
              </a:r>
            </a:p>
          </p:txBody>
        </p:sp>
        <p:sp>
          <p:nvSpPr>
            <p:cNvPr id="11" name="Line 11"/>
            <p:cNvSpPr/>
            <p:nvPr/>
          </p:nvSpPr>
          <p:spPr>
            <a:xfrm>
              <a:off x="914400" y="2438400"/>
              <a:ext cx="4648200" cy="9525"/>
            </a:xfrm>
            <a:custGeom>
              <a:avLst/>
              <a:gdLst/>
              <a:ahLst/>
              <a:cxnLst/>
              <a:rect l="l" t="t" r="r" b="b"/>
              <a:pathLst>
                <a:path w="4648200" h="9525">
                  <a:moveTo>
                    <a:pt x="0" y="0"/>
                  </a:moveTo>
                  <a:lnTo>
                    <a:pt x="4648200" y="0"/>
                  </a:lnTo>
                </a:path>
              </a:pathLst>
            </a:custGeom>
            <a:noFill/>
            <a:ln w="9525">
              <a:solidFill>
                <a:srgbClr val="2E86AB"/>
              </a:solidFill>
            </a:ln>
          </p:spPr>
        </p:sp>
        <p:sp>
          <p:nvSpPr>
            <p:cNvPr id="12" name="TextBox 12"/>
            <p:cNvSpPr txBox="1"/>
            <p:nvPr/>
          </p:nvSpPr>
          <p:spPr>
            <a:xfrm>
              <a:off x="908685" y="2621756"/>
              <a:ext cx="3162615"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tahmin_ekle(musteri, olasilik, gercek)</a:t>
              </a:r>
            </a:p>
          </p:txBody>
        </p:sp>
        <p:sp>
          <p:nvSpPr>
            <p:cNvPr id="13" name="TextBox 13"/>
            <p:cNvSpPr txBox="1"/>
            <p:nvPr/>
          </p:nvSpPr>
          <p:spPr>
            <a:xfrm>
              <a:off x="1099566" y="2858452"/>
              <a:ext cx="2970130"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Sürüm ve zaman damgasıyla kayıt tutar.</a:t>
              </a:r>
            </a:p>
          </p:txBody>
        </p:sp>
        <p:sp>
          <p:nvSpPr>
            <p:cNvPr id="14" name="TextBox 14"/>
            <p:cNvSpPr txBox="1"/>
            <p:nvPr/>
          </p:nvSpPr>
          <p:spPr>
            <a:xfrm>
              <a:off x="908685" y="3193256"/>
              <a:ext cx="2665059"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kayma_kontrolu(referans, guncel)</a:t>
              </a:r>
            </a:p>
          </p:txBody>
        </p:sp>
        <p:sp>
          <p:nvSpPr>
            <p:cNvPr id="15" name="TextBox 15"/>
            <p:cNvSpPr txBox="1"/>
            <p:nvPr/>
          </p:nvSpPr>
          <p:spPr>
            <a:xfrm>
              <a:off x="1099566" y="3429952"/>
              <a:ext cx="3747364"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Ortalama farkını hesaplar, eşikle karşılaştırır.</a:t>
              </a:r>
            </a:p>
          </p:txBody>
        </p:sp>
        <p:sp>
          <p:nvSpPr>
            <p:cNvPr id="16" name="TextBox 16"/>
            <p:cNvSpPr txBox="1"/>
            <p:nvPr/>
          </p:nvSpPr>
          <p:spPr>
            <a:xfrm>
              <a:off x="908685" y="3764756"/>
              <a:ext cx="1504097"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adillik_kontrolu()</a:t>
              </a:r>
            </a:p>
          </p:txBody>
        </p:sp>
        <p:sp>
          <p:nvSpPr>
            <p:cNvPr id="17" name="TextBox 17"/>
            <p:cNvSpPr txBox="1"/>
            <p:nvPr/>
          </p:nvSpPr>
          <p:spPr>
            <a:xfrm>
              <a:off x="1099566" y="4001452"/>
              <a:ext cx="3825337"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Grup bazında olumlu karar ve hata oranı raporlar.</a:t>
              </a:r>
            </a:p>
          </p:txBody>
        </p:sp>
        <p:sp>
          <p:nvSpPr>
            <p:cNvPr id="18" name="Line 18"/>
            <p:cNvSpPr/>
            <p:nvPr/>
          </p:nvSpPr>
          <p:spPr>
            <a:xfrm>
              <a:off x="914400" y="4305300"/>
              <a:ext cx="4648200" cy="9525"/>
            </a:xfrm>
            <a:custGeom>
              <a:avLst/>
              <a:gdLst/>
              <a:ahLst/>
              <a:cxnLst/>
              <a:rect l="l" t="t" r="r" b="b"/>
              <a:pathLst>
                <a:path w="4648200" h="9525">
                  <a:moveTo>
                    <a:pt x="0" y="0"/>
                  </a:moveTo>
                  <a:lnTo>
                    <a:pt x="4648200" y="0"/>
                  </a:lnTo>
                </a:path>
              </a:pathLst>
            </a:custGeom>
            <a:noFill/>
            <a:ln w="9525">
              <a:solidFill>
                <a:srgbClr val="2E86AB"/>
              </a:solidFill>
            </a:ln>
          </p:spPr>
        </p:sp>
        <p:sp>
          <p:nvSpPr>
            <p:cNvPr id="19" name="TextBox 19"/>
            <p:cNvSpPr txBox="1"/>
            <p:nvPr/>
          </p:nvSpPr>
          <p:spPr>
            <a:xfrm>
              <a:off x="909066" y="4458652"/>
              <a:ext cx="3996604"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sistem = ChurnIzlemeSistemi("churn-xgb-1.2.0", 8.0)</a:t>
              </a:r>
            </a:p>
          </p:txBody>
        </p:sp>
        <p:sp>
          <p:nvSpPr>
            <p:cNvPr id="20" name="TextBox 20"/>
            <p:cNvSpPr txBox="1"/>
            <p:nvPr/>
          </p:nvSpPr>
          <p:spPr>
            <a:xfrm>
              <a:off x="909066" y="4668202"/>
              <a:ext cx="4159037"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sistem.tahmin_ekle(Musteri("M-1042",79.9,"A"),0.78,1)</a:t>
              </a:r>
            </a:p>
          </p:txBody>
        </p:sp>
        <p:sp>
          <p:nvSpPr>
            <p:cNvPr id="21" name="TextBox 21"/>
            <p:cNvSpPr txBox="1"/>
            <p:nvPr/>
          </p:nvSpPr>
          <p:spPr>
            <a:xfrm>
              <a:off x="909066" y="4877752"/>
              <a:ext cx="4364279"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kayma_var = sistem.kayma_kontrolu([45,51,54],[65,71,78])</a:t>
              </a:r>
            </a:p>
          </p:txBody>
        </p:sp>
        <p:sp>
          <p:nvSpPr>
            <p:cNvPr id="22" name="TextBox 22"/>
            <p:cNvSpPr txBox="1"/>
            <p:nvPr/>
          </p:nvSpPr>
          <p:spPr>
            <a:xfrm>
              <a:off x="909066" y="5087302"/>
              <a:ext cx="1954244"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sistem.adillik_kontrolu()</a:t>
              </a:r>
            </a:p>
          </p:txBody>
        </p:sp>
        <p:sp>
          <p:nvSpPr>
            <p:cNvPr id="23" name="TextBox 23"/>
            <p:cNvSpPr txBox="1"/>
            <p:nvPr/>
          </p:nvSpPr>
          <p:spPr>
            <a:xfrm>
              <a:off x="909066" y="5296852"/>
              <a:ext cx="4065676"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 Kayma farkı: 21.33 → İnsan incelemesine gönderildi</a:t>
              </a:r>
            </a:p>
          </p:txBody>
        </p:sp>
      </p:grpSp>
      <p:grpSp>
        <p:nvGrpSpPr>
          <p:cNvPr id="42" name="outputs"/>
          <p:cNvGrpSpPr/>
          <p:nvPr/>
        </p:nvGrpSpPr>
        <p:grpSpPr>
          <a:xfrm>
            <a:off x="6316599" y="2058829"/>
            <a:ext cx="5265801" cy="3469005"/>
            <a:chOff x="6316599" y="2058829"/>
            <a:chExt cx="5265801" cy="3469005"/>
          </a:xfrm>
        </p:grpSpPr>
        <p:sp>
          <p:nvSpPr>
            <p:cNvPr id="25" name="TextBox 25"/>
            <p:cNvSpPr txBox="1"/>
            <p:nvPr/>
          </p:nvSpPr>
          <p:spPr>
            <a:xfrm>
              <a:off x="6316599" y="2058829"/>
              <a:ext cx="278199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Neden bu tasarım önemli?</a:t>
              </a:r>
            </a:p>
          </p:txBody>
        </p:sp>
        <p:sp>
          <p:nvSpPr>
            <p:cNvPr id="26" name="Rectangle 26"/>
            <p:cNvSpPr/>
            <p:nvPr/>
          </p:nvSpPr>
          <p:spPr>
            <a:xfrm>
              <a:off x="6324600" y="2400300"/>
              <a:ext cx="57150" cy="571500"/>
            </a:xfrm>
            <a:prstGeom prst="rect">
              <a:avLst/>
            </a:prstGeom>
            <a:solidFill>
              <a:srgbClr val="00A6A6"/>
            </a:solidFill>
            <a:ln>
              <a:noFill/>
            </a:ln>
          </p:spPr>
        </p:sp>
        <p:sp>
          <p:nvSpPr>
            <p:cNvPr id="27" name="TextBox 27"/>
            <p:cNvSpPr txBox="1"/>
            <p:nvPr/>
          </p:nvSpPr>
          <p:spPr>
            <a:xfrm>
              <a:off x="6566154" y="2461260"/>
              <a:ext cx="337759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Musteri veri sınıfı yalnızca üç alan taşır</a:t>
              </a:r>
            </a:p>
          </p:txBody>
        </p:sp>
        <p:sp>
          <p:nvSpPr>
            <p:cNvPr id="28" name="TextBox 28"/>
            <p:cNvSpPr txBox="1"/>
            <p:nvPr/>
          </p:nvSpPr>
          <p:spPr>
            <a:xfrm>
              <a:off x="6566154" y="2670810"/>
              <a:ext cx="371155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(musteri_kodu, aylik_ucret, grup); bu, izleme</a:t>
              </a:r>
            </a:p>
          </p:txBody>
        </p:sp>
        <p:sp>
          <p:nvSpPr>
            <p:cNvPr id="29" name="TextBox 29"/>
            <p:cNvSpPr txBox="1"/>
            <p:nvPr/>
          </p:nvSpPr>
          <p:spPr>
            <a:xfrm>
              <a:off x="6566154" y="2880360"/>
              <a:ext cx="404271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sisteminin kendisi bir veri minimizasyonu örneğidir.</a:t>
              </a:r>
            </a:p>
          </p:txBody>
        </p:sp>
        <p:sp>
          <p:nvSpPr>
            <p:cNvPr id="30" name="Rectangle 30"/>
            <p:cNvSpPr/>
            <p:nvPr/>
          </p:nvSpPr>
          <p:spPr>
            <a:xfrm>
              <a:off x="6324600" y="3124200"/>
              <a:ext cx="57150" cy="571500"/>
            </a:xfrm>
            <a:prstGeom prst="rect">
              <a:avLst/>
            </a:prstGeom>
            <a:solidFill>
              <a:srgbClr val="00A6A6"/>
            </a:solidFill>
            <a:ln>
              <a:noFill/>
            </a:ln>
          </p:spPr>
        </p:sp>
        <p:sp>
          <p:nvSpPr>
            <p:cNvPr id="31" name="TextBox 31"/>
            <p:cNvSpPr txBox="1"/>
            <p:nvPr/>
          </p:nvSpPr>
          <p:spPr>
            <a:xfrm>
              <a:off x="6566154" y="3185160"/>
              <a:ext cx="350154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kayma_kontrolu() ve adillik_kontrolu() ayrı</a:t>
              </a:r>
            </a:p>
          </p:txBody>
        </p:sp>
        <p:sp>
          <p:nvSpPr>
            <p:cNvPr id="32" name="TextBox 32"/>
            <p:cNvSpPr txBox="1"/>
            <p:nvPr/>
          </p:nvSpPr>
          <p:spPr>
            <a:xfrm>
              <a:off x="6566154" y="3394710"/>
              <a:ext cx="372770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tutulur; zamansal bozulma ve grup adaletsizliği</a:t>
              </a:r>
            </a:p>
          </p:txBody>
        </p:sp>
        <p:sp>
          <p:nvSpPr>
            <p:cNvPr id="33" name="TextBox 33"/>
            <p:cNvSpPr txBox="1"/>
            <p:nvPr/>
          </p:nvSpPr>
          <p:spPr>
            <a:xfrm>
              <a:off x="6566154" y="3604260"/>
              <a:ext cx="257266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birbirinden bağımsız izlenebilir.</a:t>
              </a:r>
            </a:p>
          </p:txBody>
        </p:sp>
        <p:sp>
          <p:nvSpPr>
            <p:cNvPr id="34" name="Rectangle 34"/>
            <p:cNvSpPr/>
            <p:nvPr/>
          </p:nvSpPr>
          <p:spPr>
            <a:xfrm>
              <a:off x="6324600" y="3848100"/>
              <a:ext cx="57150" cy="571500"/>
            </a:xfrm>
            <a:prstGeom prst="rect">
              <a:avLst/>
            </a:prstGeom>
            <a:solidFill>
              <a:srgbClr val="00A6A6"/>
            </a:solidFill>
            <a:ln>
              <a:noFill/>
            </a:ln>
          </p:spPr>
        </p:sp>
        <p:sp>
          <p:nvSpPr>
            <p:cNvPr id="35" name="TextBox 35"/>
            <p:cNvSpPr txBox="1"/>
            <p:nvPr/>
          </p:nvSpPr>
          <p:spPr>
            <a:xfrm>
              <a:off x="6566154" y="3909060"/>
              <a:ext cx="358763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"Model insan incelemesine gönderildi" mesajı,</a:t>
              </a:r>
            </a:p>
          </p:txBody>
        </p:sp>
        <p:sp>
          <p:nvSpPr>
            <p:cNvPr id="36" name="TextBox 36"/>
            <p:cNvSpPr txBox="1"/>
            <p:nvPr/>
          </p:nvSpPr>
          <p:spPr>
            <a:xfrm>
              <a:off x="6566154" y="4118610"/>
              <a:ext cx="380847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otomatik kararın nihai olmadığını, yalnızca bir</a:t>
              </a:r>
            </a:p>
          </p:txBody>
        </p:sp>
        <p:sp>
          <p:nvSpPr>
            <p:cNvPr id="37" name="TextBox 37"/>
            <p:cNvSpPr txBox="1"/>
            <p:nvPr/>
          </p:nvSpPr>
          <p:spPr>
            <a:xfrm>
              <a:off x="6566154" y="4328160"/>
              <a:ext cx="307345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insan denetimini tetiklediğini vurgular.</a:t>
              </a:r>
            </a:p>
          </p:txBody>
        </p:sp>
        <p:sp>
          <p:nvSpPr>
            <p:cNvPr id="38" name="Rectangle 38"/>
            <p:cNvSpPr/>
            <p:nvPr/>
          </p:nvSpPr>
          <p:spPr>
            <a:xfrm>
              <a:off x="6324600" y="4762500"/>
              <a:ext cx="5257800" cy="762000"/>
            </a:xfrm>
            <a:prstGeom prst="roundRect">
              <a:avLst>
                <a:gd name="adj" fmla="val 10000"/>
              </a:avLst>
            </a:prstGeom>
            <a:solidFill>
              <a:srgbClr val="EAF4F6"/>
            </a:solidFill>
            <a:ln>
              <a:noFill/>
            </a:ln>
          </p:spPr>
        </p:sp>
        <p:sp>
          <p:nvSpPr>
            <p:cNvPr id="39" name="TextBox 39"/>
            <p:cNvSpPr txBox="1"/>
            <p:nvPr/>
          </p:nvSpPr>
          <p:spPr>
            <a:xfrm>
              <a:off x="6547104" y="4899660"/>
              <a:ext cx="1662419"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Genişletme önerileri</a:t>
              </a:r>
            </a:p>
          </p:txBody>
        </p:sp>
        <p:sp>
          <p:nvSpPr>
            <p:cNvPr id="40" name="TextBox 40"/>
            <p:cNvSpPr txBox="1"/>
            <p:nvPr/>
          </p:nvSpPr>
          <p:spPr>
            <a:xfrm>
              <a:off x="6547485" y="5136356"/>
              <a:ext cx="316529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JSON Lines günlüğü, otomatik grup listesi,</a:t>
              </a:r>
            </a:p>
          </p:txBody>
        </p:sp>
        <p:sp>
          <p:nvSpPr>
            <p:cNvPr id="41" name="TextBox 41"/>
            <p:cNvSpPr txBox="1"/>
            <p:nvPr/>
          </p:nvSpPr>
          <p:spPr>
            <a:xfrm>
              <a:off x="6547485" y="5307806"/>
              <a:ext cx="349128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KVKK saklama süresi dolan kayıtları arşivleme.</a:t>
              </a:r>
            </a:p>
          </p:txBody>
        </p:sp>
      </p:grpSp>
      <p:sp>
        <p:nvSpPr>
          <p:cNvPr id="43" name="TextBox 4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 / 25</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6613748" cy="668845"/>
            <a:chOff x="609600" y="171450"/>
            <a:chExt cx="6613748"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592337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İzleme ve yönetişim çerçevesi</a:t>
              </a:r>
            </a:p>
          </p:txBody>
        </p:sp>
      </p:grpSp>
      <p:grpSp>
        <p:nvGrpSpPr>
          <p:cNvPr id="15" name="psi-note"/>
          <p:cNvGrpSpPr/>
          <p:nvPr/>
        </p:nvGrpSpPr>
        <p:grpSpPr>
          <a:xfrm>
            <a:off x="603504" y="1261110"/>
            <a:ext cx="8750607" cy="444246"/>
            <a:chOff x="603504" y="1261110"/>
            <a:chExt cx="8750607" cy="444246"/>
          </a:xfrm>
        </p:grpSpPr>
        <p:sp>
          <p:nvSpPr>
            <p:cNvPr id="13" name="TextBox 13"/>
            <p:cNvSpPr txBox="1"/>
            <p:nvPr/>
          </p:nvSpPr>
          <p:spPr>
            <a:xfrm>
              <a:off x="603504" y="1261110"/>
              <a:ext cx="8750607" cy="234696"/>
            </a:xfrm>
            <a:prstGeom prst="rect">
              <a:avLst/>
            </a:prstGeom>
            <a:noFill/>
            <a:ln>
              <a:noFill/>
            </a:ln>
          </p:spPr>
          <p:txBody>
            <a:bodyPr wrap="none" lIns="0" tIns="0" rIns="0" bIns="0" anchor="t" anchorCtr="0">
              <a:spAutoFit/>
            </a:bodyPr>
            <a:lstStyle/>
            <a:p>
              <a:pPr algn="l"/>
              <a:r>
                <a:rPr lang="el-GR" sz="1200" dirty="0">
                  <a:solidFill>
                    <a:srgbClr val="172B3A"/>
                  </a:solidFill>
                  <a:latin typeface="+mn-lt"/>
                  <a:ea typeface="+mn-ea"/>
                  <a:cs typeface="+mn-cs"/>
                </a:rPr>
                <a:t>Veri kayması, üretimdeki girdi dağılımının eğitim döneminden farklılaşmasıdır: PSI = Σᵢ (qᵢ − pᵢ) ln(qᵢ / pᵢ)</a:t>
              </a:r>
            </a:p>
          </p:txBody>
        </p:sp>
        <p:sp>
          <p:nvSpPr>
            <p:cNvPr id="14" name="TextBox 14"/>
            <p:cNvSpPr txBox="1"/>
            <p:nvPr/>
          </p:nvSpPr>
          <p:spPr>
            <a:xfrm>
              <a:off x="603504" y="1470660"/>
              <a:ext cx="702309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PSI bir inceleme sinyalidir; eşik aşımı otomatik olarak kavram kayması kanıtı sayılmaz.</a:t>
              </a:r>
            </a:p>
          </p:txBody>
        </p:sp>
      </p:grpSp>
      <p:grpSp>
        <p:nvGrpSpPr>
          <p:cNvPr id="53" name="gov-table"/>
          <p:cNvGrpSpPr/>
          <p:nvPr/>
        </p:nvGrpSpPr>
        <p:grpSpPr>
          <a:xfrm>
            <a:off x="609600" y="1828800"/>
            <a:ext cx="10972800" cy="3524250"/>
            <a:chOff x="609600" y="1828800"/>
            <a:chExt cx="10972800" cy="3524250"/>
          </a:xfrm>
        </p:grpSpPr>
        <p:sp>
          <p:nvSpPr>
            <p:cNvPr id="16" name="Rectangle 16"/>
            <p:cNvSpPr/>
            <p:nvPr/>
          </p:nvSpPr>
          <p:spPr>
            <a:xfrm>
              <a:off x="609600" y="1828800"/>
              <a:ext cx="10972800" cy="381000"/>
            </a:xfrm>
            <a:prstGeom prst="rect">
              <a:avLst/>
            </a:prstGeom>
            <a:solidFill>
              <a:srgbClr val="12355B"/>
            </a:solidFill>
            <a:ln>
              <a:noFill/>
            </a:ln>
          </p:spPr>
        </p:sp>
        <p:sp>
          <p:nvSpPr>
            <p:cNvPr id="17" name="TextBox 17"/>
            <p:cNvSpPr txBox="1"/>
            <p:nvPr/>
          </p:nvSpPr>
          <p:spPr>
            <a:xfrm>
              <a:off x="756285" y="1955006"/>
              <a:ext cx="1107076" cy="220028"/>
            </a:xfrm>
            <a:prstGeom prst="rect">
              <a:avLst/>
            </a:prstGeom>
            <a:noFill/>
            <a:ln>
              <a:noFill/>
            </a:ln>
          </p:spPr>
          <p:txBody>
            <a:bodyPr wrap="none" lIns="0" tIns="0" rIns="0" bIns="0" anchor="t" anchorCtr="0">
              <a:spAutoFit/>
            </a:bodyPr>
            <a:lstStyle/>
            <a:p>
              <a:pPr algn="l"/>
              <a:r>
                <a:rPr lang="tr-TR" sz="1120" b="1" dirty="0">
                  <a:solidFill>
                    <a:srgbClr val="FFFFFF"/>
                  </a:solidFill>
                  <a:latin typeface="+mn-lt"/>
                  <a:ea typeface="+mn-ea"/>
                  <a:cs typeface="+mn-cs"/>
                </a:rPr>
                <a:t>İZLENEN OLGU</a:t>
              </a:r>
            </a:p>
          </p:txBody>
        </p:sp>
        <p:sp>
          <p:nvSpPr>
            <p:cNvPr id="18" name="TextBox 18"/>
            <p:cNvSpPr txBox="1"/>
            <p:nvPr/>
          </p:nvSpPr>
          <p:spPr>
            <a:xfrm>
              <a:off x="2756535" y="1955006"/>
              <a:ext cx="1767810" cy="220028"/>
            </a:xfrm>
            <a:prstGeom prst="rect">
              <a:avLst/>
            </a:prstGeom>
            <a:noFill/>
            <a:ln>
              <a:noFill/>
            </a:ln>
          </p:spPr>
          <p:txBody>
            <a:bodyPr wrap="none" lIns="0" tIns="0" rIns="0" bIns="0" anchor="t" anchorCtr="0">
              <a:spAutoFit/>
            </a:bodyPr>
            <a:lstStyle/>
            <a:p>
              <a:pPr algn="l"/>
              <a:r>
                <a:rPr lang="tr-TR" sz="1120" b="1" dirty="0">
                  <a:solidFill>
                    <a:srgbClr val="FFFFFF"/>
                  </a:solidFill>
                  <a:latin typeface="+mn-lt"/>
                  <a:ea typeface="+mn-ea"/>
                  <a:cs typeface="+mn-cs"/>
                </a:rPr>
                <a:t>GÖZLENEBİLECEK KANIT</a:t>
              </a:r>
            </a:p>
          </p:txBody>
        </p:sp>
        <p:sp>
          <p:nvSpPr>
            <p:cNvPr id="19" name="TextBox 19"/>
            <p:cNvSpPr txBox="1"/>
            <p:nvPr/>
          </p:nvSpPr>
          <p:spPr>
            <a:xfrm>
              <a:off x="5899785" y="1955006"/>
              <a:ext cx="1107076" cy="220028"/>
            </a:xfrm>
            <a:prstGeom prst="rect">
              <a:avLst/>
            </a:prstGeom>
            <a:noFill/>
            <a:ln>
              <a:noFill/>
            </a:ln>
          </p:spPr>
          <p:txBody>
            <a:bodyPr wrap="none" lIns="0" tIns="0" rIns="0" bIns="0" anchor="t" anchorCtr="0">
              <a:spAutoFit/>
            </a:bodyPr>
            <a:lstStyle/>
            <a:p>
              <a:pPr algn="l"/>
              <a:r>
                <a:rPr lang="tr-TR" sz="1120" b="1" dirty="0">
                  <a:solidFill>
                    <a:srgbClr val="FFFFFF"/>
                  </a:solidFill>
                  <a:latin typeface="+mn-lt"/>
                  <a:ea typeface="+mn-ea"/>
                  <a:cs typeface="+mn-cs"/>
                </a:rPr>
                <a:t>İLK İNCELEME</a:t>
              </a:r>
            </a:p>
          </p:txBody>
        </p:sp>
        <p:sp>
          <p:nvSpPr>
            <p:cNvPr id="20" name="TextBox 20"/>
            <p:cNvSpPr txBox="1"/>
            <p:nvPr/>
          </p:nvSpPr>
          <p:spPr>
            <a:xfrm>
              <a:off x="8566785" y="1955006"/>
              <a:ext cx="1868174" cy="220028"/>
            </a:xfrm>
            <a:prstGeom prst="rect">
              <a:avLst/>
            </a:prstGeom>
            <a:noFill/>
            <a:ln>
              <a:noFill/>
            </a:ln>
          </p:spPr>
          <p:txBody>
            <a:bodyPr wrap="none" lIns="0" tIns="0" rIns="0" bIns="0" anchor="t" anchorCtr="0">
              <a:spAutoFit/>
            </a:bodyPr>
            <a:lstStyle/>
            <a:p>
              <a:pPr algn="l"/>
              <a:r>
                <a:rPr lang="tr-TR" sz="1120" b="1" dirty="0">
                  <a:solidFill>
                    <a:srgbClr val="FFFFFF"/>
                  </a:solidFill>
                  <a:latin typeface="+mn-lt"/>
                  <a:ea typeface="+mn-ea"/>
                  <a:cs typeface="+mn-cs"/>
                </a:rPr>
                <a:t>OTOMATİK KARAR RİSKİ</a:t>
              </a:r>
            </a:p>
          </p:txBody>
        </p:sp>
        <p:sp>
          <p:nvSpPr>
            <p:cNvPr id="21" name="TextBox 21"/>
            <p:cNvSpPr txBox="1"/>
            <p:nvPr/>
          </p:nvSpPr>
          <p:spPr>
            <a:xfrm>
              <a:off x="755142" y="2292668"/>
              <a:ext cx="122209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Veri kayması</a:t>
              </a:r>
            </a:p>
          </p:txBody>
        </p:sp>
        <p:sp>
          <p:nvSpPr>
            <p:cNvPr id="22" name="TextBox 22"/>
            <p:cNvSpPr txBox="1"/>
            <p:nvPr/>
          </p:nvSpPr>
          <p:spPr>
            <a:xfrm>
              <a:off x="2756916" y="2267902"/>
              <a:ext cx="2015313"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Özellik dağılımı, eksik değer</a:t>
              </a:r>
            </a:p>
          </p:txBody>
        </p:sp>
        <p:sp>
          <p:nvSpPr>
            <p:cNvPr id="23" name="TextBox 23"/>
            <p:cNvSpPr txBox="1"/>
            <p:nvPr/>
          </p:nvSpPr>
          <p:spPr>
            <a:xfrm>
              <a:off x="2756916" y="2458402"/>
              <a:ext cx="2088528"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veya kategori sıklığı değişimi</a:t>
              </a:r>
            </a:p>
          </p:txBody>
        </p:sp>
        <p:sp>
          <p:nvSpPr>
            <p:cNvPr id="24" name="TextBox 24"/>
            <p:cNvSpPr txBox="1"/>
            <p:nvPr/>
          </p:nvSpPr>
          <p:spPr>
            <a:xfrm>
              <a:off x="5900166" y="2267902"/>
              <a:ext cx="2036962"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Veri toplama, şema ve kaynak</a:t>
              </a:r>
            </a:p>
          </p:txBody>
        </p:sp>
        <p:sp>
          <p:nvSpPr>
            <p:cNvPr id="25" name="TextBox 25"/>
            <p:cNvSpPr txBox="1"/>
            <p:nvPr/>
          </p:nvSpPr>
          <p:spPr>
            <a:xfrm>
              <a:off x="5900166" y="2458402"/>
              <a:ext cx="1742218"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değişikliklerini denetleme</a:t>
              </a:r>
            </a:p>
          </p:txBody>
        </p:sp>
        <p:sp>
          <p:nvSpPr>
            <p:cNvPr id="26" name="TextBox 26"/>
            <p:cNvSpPr txBox="1"/>
            <p:nvPr/>
          </p:nvSpPr>
          <p:spPr>
            <a:xfrm>
              <a:off x="8567166" y="2363152"/>
              <a:ext cx="2757443" cy="205359"/>
            </a:xfrm>
            <a:prstGeom prst="rect">
              <a:avLst/>
            </a:prstGeom>
            <a:noFill/>
            <a:ln>
              <a:noFill/>
            </a:ln>
          </p:spPr>
          <p:txBody>
            <a:bodyPr wrap="none" lIns="0" tIns="0" rIns="0" bIns="0" anchor="t" anchorCtr="0">
              <a:spAutoFit/>
            </a:bodyPr>
            <a:lstStyle/>
            <a:p>
              <a:pPr algn="l"/>
              <a:r>
                <a:rPr lang="tr-TR" sz="1050" dirty="0">
                  <a:solidFill>
                    <a:srgbClr val="C62828"/>
                  </a:solidFill>
                  <a:latin typeface="+mn-lt"/>
                  <a:ea typeface="+mn-ea"/>
                  <a:cs typeface="+mn-cs"/>
                </a:rPr>
                <a:t>Mevsimsel değişimi model hatası sanmak</a:t>
              </a:r>
            </a:p>
          </p:txBody>
        </p:sp>
        <p:sp>
          <p:nvSpPr>
            <p:cNvPr id="27" name="Line 27"/>
            <p:cNvSpPr/>
            <p:nvPr/>
          </p:nvSpPr>
          <p:spPr>
            <a:xfrm>
              <a:off x="609600" y="272415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28" name="Rectangle 28"/>
            <p:cNvSpPr/>
            <p:nvPr/>
          </p:nvSpPr>
          <p:spPr>
            <a:xfrm>
              <a:off x="609600" y="2800350"/>
              <a:ext cx="10972800" cy="895350"/>
            </a:xfrm>
            <a:prstGeom prst="rect">
              <a:avLst/>
            </a:prstGeom>
            <a:solidFill>
              <a:srgbClr val="EAF4F6"/>
            </a:solidFill>
            <a:ln>
              <a:noFill/>
            </a:ln>
          </p:spPr>
        </p:sp>
        <p:sp>
          <p:nvSpPr>
            <p:cNvPr id="29" name="TextBox 29"/>
            <p:cNvSpPr txBox="1"/>
            <p:nvPr/>
          </p:nvSpPr>
          <p:spPr>
            <a:xfrm>
              <a:off x="755142" y="2997518"/>
              <a:ext cx="1518206"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Kavram kayması</a:t>
              </a:r>
            </a:p>
          </p:txBody>
        </p:sp>
        <p:sp>
          <p:nvSpPr>
            <p:cNvPr id="30" name="TextBox 30"/>
            <p:cNvSpPr txBox="1"/>
            <p:nvPr/>
          </p:nvSpPr>
          <p:spPr>
            <a:xfrm>
              <a:off x="2756916" y="2972752"/>
              <a:ext cx="211397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Etiket geldikten sonra ilişki ve</a:t>
              </a:r>
            </a:p>
          </p:txBody>
        </p:sp>
        <p:sp>
          <p:nvSpPr>
            <p:cNvPr id="31" name="TextBox 31"/>
            <p:cNvSpPr txBox="1"/>
            <p:nvPr/>
          </p:nvSpPr>
          <p:spPr>
            <a:xfrm>
              <a:off x="2756916" y="3163252"/>
              <a:ext cx="1169746"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başarım değişimi</a:t>
              </a:r>
            </a:p>
          </p:txBody>
        </p:sp>
        <p:sp>
          <p:nvSpPr>
            <p:cNvPr id="32" name="TextBox 32"/>
            <p:cNvSpPr txBox="1"/>
            <p:nvPr/>
          </p:nvSpPr>
          <p:spPr>
            <a:xfrm>
              <a:off x="5900166" y="2972752"/>
              <a:ext cx="1859649"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Güncel, temsilî etiketlerle</a:t>
              </a:r>
            </a:p>
          </p:txBody>
        </p:sp>
        <p:sp>
          <p:nvSpPr>
            <p:cNvPr id="33" name="TextBox 33"/>
            <p:cNvSpPr txBox="1"/>
            <p:nvPr/>
          </p:nvSpPr>
          <p:spPr>
            <a:xfrm>
              <a:off x="5900166" y="3163252"/>
              <a:ext cx="1883569"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geriye dönük değerlendirme</a:t>
              </a:r>
            </a:p>
          </p:txBody>
        </p:sp>
        <p:sp>
          <p:nvSpPr>
            <p:cNvPr id="34" name="TextBox 34"/>
            <p:cNvSpPr txBox="1"/>
            <p:nvPr/>
          </p:nvSpPr>
          <p:spPr>
            <a:xfrm>
              <a:off x="8567166" y="2972752"/>
              <a:ext cx="2404007" cy="205359"/>
            </a:xfrm>
            <a:prstGeom prst="rect">
              <a:avLst/>
            </a:prstGeom>
            <a:noFill/>
            <a:ln>
              <a:noFill/>
            </a:ln>
          </p:spPr>
          <p:txBody>
            <a:bodyPr wrap="none" lIns="0" tIns="0" rIns="0" bIns="0" anchor="t" anchorCtr="0">
              <a:spAutoFit/>
            </a:bodyPr>
            <a:lstStyle/>
            <a:p>
              <a:pPr algn="l"/>
              <a:r>
                <a:rPr lang="tr-TR" sz="1050" dirty="0">
                  <a:solidFill>
                    <a:srgbClr val="C62828"/>
                  </a:solidFill>
                  <a:latin typeface="+mn-lt"/>
                  <a:ea typeface="+mn-ea"/>
                  <a:cs typeface="+mn-cs"/>
                </a:rPr>
                <a:t>Etiket gecikmesini göz ardı ederek</a:t>
              </a:r>
            </a:p>
          </p:txBody>
        </p:sp>
        <p:sp>
          <p:nvSpPr>
            <p:cNvPr id="35" name="TextBox 35"/>
            <p:cNvSpPr txBox="1"/>
            <p:nvPr/>
          </p:nvSpPr>
          <p:spPr>
            <a:xfrm>
              <a:off x="8567166" y="3163252"/>
              <a:ext cx="1954244" cy="205359"/>
            </a:xfrm>
            <a:prstGeom prst="rect">
              <a:avLst/>
            </a:prstGeom>
            <a:noFill/>
            <a:ln>
              <a:noFill/>
            </a:ln>
          </p:spPr>
          <p:txBody>
            <a:bodyPr wrap="none" lIns="0" tIns="0" rIns="0" bIns="0" anchor="t" anchorCtr="0">
              <a:spAutoFit/>
            </a:bodyPr>
            <a:lstStyle/>
            <a:p>
              <a:pPr algn="l"/>
              <a:r>
                <a:rPr lang="tr-TR" sz="1050" dirty="0">
                  <a:solidFill>
                    <a:srgbClr val="C62828"/>
                  </a:solidFill>
                  <a:latin typeface="+mn-lt"/>
                  <a:ea typeface="+mn-ea"/>
                  <a:cs typeface="+mn-cs"/>
                </a:rPr>
                <a:t>erken yeniden eğitim yapmak</a:t>
              </a:r>
            </a:p>
          </p:txBody>
        </p:sp>
        <p:sp>
          <p:nvSpPr>
            <p:cNvPr id="36" name="Line 36"/>
            <p:cNvSpPr/>
            <p:nvPr/>
          </p:nvSpPr>
          <p:spPr>
            <a:xfrm>
              <a:off x="609600" y="36957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37" name="TextBox 37"/>
            <p:cNvSpPr txBox="1"/>
            <p:nvPr/>
          </p:nvSpPr>
          <p:spPr>
            <a:xfrm>
              <a:off x="755142" y="3892868"/>
              <a:ext cx="1785081"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Başarım bozulması</a:t>
              </a:r>
            </a:p>
          </p:txBody>
        </p:sp>
        <p:sp>
          <p:nvSpPr>
            <p:cNvPr id="38" name="TextBox 38"/>
            <p:cNvSpPr txBox="1"/>
            <p:nvPr/>
          </p:nvSpPr>
          <p:spPr>
            <a:xfrm>
              <a:off x="2756916" y="3868102"/>
              <a:ext cx="199962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PR-AUC, kalibrasyon veya alt</a:t>
              </a:r>
            </a:p>
          </p:txBody>
        </p:sp>
        <p:sp>
          <p:nvSpPr>
            <p:cNvPr id="39" name="TextBox 39"/>
            <p:cNvSpPr txBox="1"/>
            <p:nvPr/>
          </p:nvSpPr>
          <p:spPr>
            <a:xfrm>
              <a:off x="2756916" y="4058602"/>
              <a:ext cx="1657407"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grup hata ölçütü düşüşü</a:t>
              </a:r>
            </a:p>
          </p:txBody>
        </p:sp>
        <p:sp>
          <p:nvSpPr>
            <p:cNvPr id="40" name="TextBox 40"/>
            <p:cNvSpPr txBox="1"/>
            <p:nvPr/>
          </p:nvSpPr>
          <p:spPr>
            <a:xfrm>
              <a:off x="5900166" y="3868102"/>
              <a:ext cx="1591427"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Hata örnekleri, eşik ve</a:t>
              </a:r>
            </a:p>
          </p:txBody>
        </p:sp>
        <p:sp>
          <p:nvSpPr>
            <p:cNvPr id="41" name="TextBox 41"/>
            <p:cNvSpPr txBox="1"/>
            <p:nvPr/>
          </p:nvSpPr>
          <p:spPr>
            <a:xfrm>
              <a:off x="5900166" y="4058602"/>
              <a:ext cx="1947177"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kullanım bağlamını inceleme</a:t>
              </a:r>
            </a:p>
          </p:txBody>
        </p:sp>
        <p:sp>
          <p:nvSpPr>
            <p:cNvPr id="42" name="TextBox 42"/>
            <p:cNvSpPr txBox="1"/>
            <p:nvPr/>
          </p:nvSpPr>
          <p:spPr>
            <a:xfrm>
              <a:off x="8567166" y="3963352"/>
              <a:ext cx="2651527" cy="205359"/>
            </a:xfrm>
            <a:prstGeom prst="rect">
              <a:avLst/>
            </a:prstGeom>
            <a:noFill/>
            <a:ln>
              <a:noFill/>
            </a:ln>
          </p:spPr>
          <p:txBody>
            <a:bodyPr wrap="none" lIns="0" tIns="0" rIns="0" bIns="0" anchor="t" anchorCtr="0">
              <a:spAutoFit/>
            </a:bodyPr>
            <a:lstStyle/>
            <a:p>
              <a:pPr algn="l"/>
              <a:r>
                <a:rPr lang="tr-TR" sz="1050" dirty="0">
                  <a:solidFill>
                    <a:srgbClr val="C62828"/>
                  </a:solidFill>
                  <a:latin typeface="+mn-lt"/>
                  <a:ea typeface="+mn-ea"/>
                  <a:cs typeface="+mn-cs"/>
                </a:rPr>
                <a:t>Tek metrikten tüm sistemin başarısız</a:t>
              </a:r>
            </a:p>
          </p:txBody>
        </p:sp>
        <p:sp>
          <p:nvSpPr>
            <p:cNvPr id="43" name="TextBox 43"/>
            <p:cNvSpPr txBox="1"/>
            <p:nvPr/>
          </p:nvSpPr>
          <p:spPr>
            <a:xfrm>
              <a:off x="8567166" y="4153852"/>
              <a:ext cx="1798758" cy="205359"/>
            </a:xfrm>
            <a:prstGeom prst="rect">
              <a:avLst/>
            </a:prstGeom>
            <a:noFill/>
            <a:ln>
              <a:noFill/>
            </a:ln>
          </p:spPr>
          <p:txBody>
            <a:bodyPr wrap="none" lIns="0" tIns="0" rIns="0" bIns="0" anchor="t" anchorCtr="0">
              <a:spAutoFit/>
            </a:bodyPr>
            <a:lstStyle/>
            <a:p>
              <a:pPr algn="l"/>
              <a:r>
                <a:rPr lang="tr-TR" sz="1050" dirty="0">
                  <a:solidFill>
                    <a:srgbClr val="C62828"/>
                  </a:solidFill>
                  <a:latin typeface="+mn-lt"/>
                  <a:ea typeface="+mn-ea"/>
                  <a:cs typeface="+mn-cs"/>
                </a:rPr>
                <a:t>olduğu sonucunu çıkarmak</a:t>
              </a:r>
            </a:p>
          </p:txBody>
        </p:sp>
        <p:sp>
          <p:nvSpPr>
            <p:cNvPr id="44" name="Line 44"/>
            <p:cNvSpPr/>
            <p:nvPr/>
          </p:nvSpPr>
          <p:spPr>
            <a:xfrm>
              <a:off x="609600" y="43815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45" name="Rectangle 45"/>
            <p:cNvSpPr/>
            <p:nvPr/>
          </p:nvSpPr>
          <p:spPr>
            <a:xfrm>
              <a:off x="609600" y="4457700"/>
              <a:ext cx="10972800" cy="895350"/>
            </a:xfrm>
            <a:prstGeom prst="rect">
              <a:avLst/>
            </a:prstGeom>
            <a:solidFill>
              <a:srgbClr val="EAF4F6"/>
            </a:solidFill>
            <a:ln>
              <a:noFill/>
            </a:ln>
          </p:spPr>
        </p:sp>
        <p:sp>
          <p:nvSpPr>
            <p:cNvPr id="46" name="TextBox 46"/>
            <p:cNvSpPr txBox="1"/>
            <p:nvPr/>
          </p:nvSpPr>
          <p:spPr>
            <a:xfrm>
              <a:off x="755142" y="4654868"/>
              <a:ext cx="1785081"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Operasyonel kayma</a:t>
              </a:r>
            </a:p>
          </p:txBody>
        </p:sp>
        <p:sp>
          <p:nvSpPr>
            <p:cNvPr id="47" name="TextBox 47"/>
            <p:cNvSpPr txBox="1"/>
            <p:nvPr/>
          </p:nvSpPr>
          <p:spPr>
            <a:xfrm>
              <a:off x="2756916" y="4630102"/>
              <a:ext cx="2305539"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Gecikme, başarısız istek, sürüm</a:t>
              </a:r>
            </a:p>
          </p:txBody>
        </p:sp>
        <p:sp>
          <p:nvSpPr>
            <p:cNvPr id="48" name="TextBox 48"/>
            <p:cNvSpPr txBox="1"/>
            <p:nvPr/>
          </p:nvSpPr>
          <p:spPr>
            <a:xfrm>
              <a:off x="2756916" y="4820602"/>
              <a:ext cx="176342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veya veri şeması değişimi</a:t>
              </a:r>
            </a:p>
          </p:txBody>
        </p:sp>
        <p:sp>
          <p:nvSpPr>
            <p:cNvPr id="49" name="TextBox 49"/>
            <p:cNvSpPr txBox="1"/>
            <p:nvPr/>
          </p:nvSpPr>
          <p:spPr>
            <a:xfrm>
              <a:off x="5900166" y="4630102"/>
              <a:ext cx="1958828"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Dağıtım günlükleri ve sürüm</a:t>
              </a:r>
            </a:p>
          </p:txBody>
        </p:sp>
        <p:sp>
          <p:nvSpPr>
            <p:cNvPr id="50" name="TextBox 50"/>
            <p:cNvSpPr txBox="1"/>
            <p:nvPr/>
          </p:nvSpPr>
          <p:spPr>
            <a:xfrm>
              <a:off x="5900166" y="4820602"/>
              <a:ext cx="1268692"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izlerini eşleştirme</a:t>
              </a:r>
            </a:p>
          </p:txBody>
        </p:sp>
        <p:sp>
          <p:nvSpPr>
            <p:cNvPr id="51" name="TextBox 51"/>
            <p:cNvSpPr txBox="1"/>
            <p:nvPr/>
          </p:nvSpPr>
          <p:spPr>
            <a:xfrm>
              <a:off x="8567166" y="4725352"/>
              <a:ext cx="2410942" cy="205359"/>
            </a:xfrm>
            <a:prstGeom prst="rect">
              <a:avLst/>
            </a:prstGeom>
            <a:noFill/>
            <a:ln>
              <a:noFill/>
            </a:ln>
          </p:spPr>
          <p:txBody>
            <a:bodyPr wrap="none" lIns="0" tIns="0" rIns="0" bIns="0" anchor="t" anchorCtr="0">
              <a:spAutoFit/>
            </a:bodyPr>
            <a:lstStyle/>
            <a:p>
              <a:pPr algn="l"/>
              <a:r>
                <a:rPr lang="tr-TR" sz="1050" dirty="0">
                  <a:solidFill>
                    <a:srgbClr val="C62828"/>
                  </a:solidFill>
                  <a:latin typeface="+mn-lt"/>
                  <a:ea typeface="+mn-ea"/>
                  <a:cs typeface="+mn-cs"/>
                </a:rPr>
                <a:t>Teknik aksaklığı veri davranışıyla</a:t>
              </a:r>
            </a:p>
          </p:txBody>
        </p:sp>
        <p:sp>
          <p:nvSpPr>
            <p:cNvPr id="52" name="TextBox 52"/>
            <p:cNvSpPr txBox="1"/>
            <p:nvPr/>
          </p:nvSpPr>
          <p:spPr>
            <a:xfrm>
              <a:off x="8567166" y="4915852"/>
              <a:ext cx="894112" cy="205359"/>
            </a:xfrm>
            <a:prstGeom prst="rect">
              <a:avLst/>
            </a:prstGeom>
            <a:noFill/>
            <a:ln>
              <a:noFill/>
            </a:ln>
          </p:spPr>
          <p:txBody>
            <a:bodyPr wrap="none" lIns="0" tIns="0" rIns="0" bIns="0" anchor="t" anchorCtr="0">
              <a:spAutoFit/>
            </a:bodyPr>
            <a:lstStyle/>
            <a:p>
              <a:pPr algn="l"/>
              <a:r>
                <a:rPr lang="tr-TR" sz="1050" dirty="0">
                  <a:solidFill>
                    <a:srgbClr val="C62828"/>
                  </a:solidFill>
                  <a:latin typeface="+mn-lt"/>
                  <a:ea typeface="+mn-ea"/>
                  <a:cs typeface="+mn-cs"/>
                </a:rPr>
                <a:t>karıştırmak</a:t>
              </a:r>
            </a:p>
          </p:txBody>
        </p:sp>
      </p:grpSp>
      <p:grpSp>
        <p:nvGrpSpPr>
          <p:cNvPr id="56" name="gov-note"/>
          <p:cNvGrpSpPr/>
          <p:nvPr/>
        </p:nvGrpSpPr>
        <p:grpSpPr>
          <a:xfrm>
            <a:off x="603504" y="5833110"/>
            <a:ext cx="7601617" cy="444246"/>
            <a:chOff x="603504" y="5833110"/>
            <a:chExt cx="7601617" cy="444246"/>
          </a:xfrm>
        </p:grpSpPr>
        <p:sp>
          <p:nvSpPr>
            <p:cNvPr id="54" name="TextBox 54"/>
            <p:cNvSpPr txBox="1"/>
            <p:nvPr/>
          </p:nvSpPr>
          <p:spPr>
            <a:xfrm>
              <a:off x="603504" y="5833110"/>
              <a:ext cx="760161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Yeniden eğitim tetikleyicileri; istatistiksel sinyal, veri kalitesi kontrolü, etik etki incelemesi ve</a:t>
              </a:r>
            </a:p>
          </p:txBody>
        </p:sp>
        <p:sp>
          <p:nvSpPr>
            <p:cNvPr id="55" name="TextBox 55"/>
            <p:cNvSpPr txBox="1"/>
            <p:nvPr/>
          </p:nvSpPr>
          <p:spPr>
            <a:xfrm>
              <a:off x="603504" y="6042660"/>
              <a:ext cx="376001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sorumlu kişi onayıyla birlikte tanımlanmalıdır.</a:t>
              </a:r>
            </a:p>
          </p:txBody>
        </p:sp>
      </p:grpSp>
      <p:sp>
        <p:nvSpPr>
          <p:cNvPr id="57" name="TextBox 5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 / 25</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4498520" cy="668845"/>
            <a:chOff x="609600" y="171450"/>
            <a:chExt cx="4498520"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380814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yanılgıları</a:t>
              </a:r>
            </a:p>
          </p:txBody>
        </p:sp>
      </p:grpSp>
      <p:grpSp>
        <p:nvGrpSpPr>
          <p:cNvPr id="16" name="fallacy-header"/>
          <p:cNvGrpSpPr/>
          <p:nvPr/>
        </p:nvGrpSpPr>
        <p:grpSpPr>
          <a:xfrm>
            <a:off x="609600" y="1333500"/>
            <a:ext cx="10972800" cy="381000"/>
            <a:chOff x="609600" y="1333500"/>
            <a:chExt cx="10972800" cy="381000"/>
          </a:xfrm>
        </p:grpSpPr>
        <p:sp>
          <p:nvSpPr>
            <p:cNvPr id="12" name="Rectangle 12"/>
            <p:cNvSpPr/>
            <p:nvPr/>
          </p:nvSpPr>
          <p:spPr>
            <a:xfrm>
              <a:off x="609600" y="1333500"/>
              <a:ext cx="10972800" cy="381000"/>
            </a:xfrm>
            <a:prstGeom prst="rect">
              <a:avLst/>
            </a:prstGeom>
            <a:solidFill>
              <a:srgbClr val="12355B"/>
            </a:solidFill>
            <a:ln>
              <a:noFill/>
            </a:ln>
          </p:spPr>
        </p:sp>
        <p:sp>
          <p:nvSpPr>
            <p:cNvPr id="13" name="TextBox 13"/>
            <p:cNvSpPr txBox="1"/>
            <p:nvPr/>
          </p:nvSpPr>
          <p:spPr>
            <a:xfrm>
              <a:off x="755904" y="1451610"/>
              <a:ext cx="67659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YANILGI</a:t>
              </a:r>
            </a:p>
          </p:txBody>
        </p:sp>
        <p:sp>
          <p:nvSpPr>
            <p:cNvPr id="14" name="TextBox 14"/>
            <p:cNvSpPr txBox="1"/>
            <p:nvPr/>
          </p:nvSpPr>
          <p:spPr>
            <a:xfrm>
              <a:off x="4375404" y="1451610"/>
              <a:ext cx="137684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TEKNİK GERÇEK</a:t>
              </a:r>
            </a:p>
          </p:txBody>
        </p:sp>
        <p:sp>
          <p:nvSpPr>
            <p:cNvPr id="15" name="TextBox 15"/>
            <p:cNvSpPr txBox="1"/>
            <p:nvPr/>
          </p:nvSpPr>
          <p:spPr>
            <a:xfrm>
              <a:off x="8185404" y="1451610"/>
              <a:ext cx="151296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DOĞRU YAKLAŞIM</a:t>
              </a:r>
            </a:p>
          </p:txBody>
        </p:sp>
      </p:grpSp>
      <p:grpSp>
        <p:nvGrpSpPr>
          <p:cNvPr id="21" name="fallacy-proxy"/>
          <p:cNvGrpSpPr/>
          <p:nvPr/>
        </p:nvGrpSpPr>
        <p:grpSpPr>
          <a:xfrm>
            <a:off x="609600" y="1849279"/>
            <a:ext cx="10972800" cy="1313021"/>
            <a:chOff x="609600" y="1849279"/>
            <a:chExt cx="10972800" cy="1313021"/>
          </a:xfrm>
        </p:grpSpPr>
        <p:sp>
          <p:nvSpPr>
            <p:cNvPr id="17" name="TextBox 17"/>
            <p:cNvSpPr txBox="1"/>
            <p:nvPr/>
          </p:nvSpPr>
          <p:spPr>
            <a:xfrm>
              <a:off x="753999" y="1849279"/>
              <a:ext cx="2965704"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"Korunan özelliği veri</a:t>
              </a:r>
              <a:br/>
              <a:r>
                <a:rPr lang="tr-TR" sz="1580" b="1" dirty="0">
                  <a:solidFill>
                    <a:srgbClr val="12355B"/>
                  </a:solidFill>
                  <a:latin typeface="+mn-lt"/>
                  <a:ea typeface="+mn-ea"/>
                  <a:cs typeface="+mn-cs"/>
                </a:rPr>
                <a:t>setinden çıkarmak</a:t>
              </a:r>
              <a:br/>
              <a:r>
                <a:rPr lang="tr-TR" sz="1580" b="1" dirty="0">
                  <a:solidFill>
                    <a:srgbClr val="12355B"/>
                  </a:solidFill>
                  <a:latin typeface="+mn-lt"/>
                  <a:ea typeface="+mn-ea"/>
                  <a:cs typeface="+mn-cs"/>
                </a:rPr>
                <a:t>önyargıyı tamamen bitirir."</a:t>
              </a:r>
            </a:p>
          </p:txBody>
        </p:sp>
        <p:sp>
          <p:nvSpPr>
            <p:cNvPr id="18" name="TextBox 18"/>
            <p:cNvSpPr txBox="1"/>
            <p:nvPr/>
          </p:nvSpPr>
          <p:spPr>
            <a:xfrm>
              <a:off x="4375404" y="1889760"/>
              <a:ext cx="35250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Posta kodu, cihaz modeli veya kullanım saati</a:t>
              </a:r>
              <a:br/>
              <a:r>
                <a:rPr lang="tr-TR" sz="1200" dirty="0">
                  <a:solidFill>
                    <a:srgbClr val="172B3A"/>
                  </a:solidFill>
                  <a:latin typeface="+mn-lt"/>
                  <a:ea typeface="+mn-ea"/>
                  <a:cs typeface="+mn-cs"/>
                </a:rPr>
                <a:t>gibi vekil (proxy) değişkenler korunan özelliği</a:t>
              </a:r>
              <a:br/>
              <a:r>
                <a:rPr lang="tr-TR" sz="1200" dirty="0">
                  <a:solidFill>
                    <a:srgbClr val="172B3A"/>
                  </a:solidFill>
                  <a:latin typeface="+mn-lt"/>
                  <a:ea typeface="+mn-ea"/>
                  <a:cs typeface="+mn-cs"/>
                </a:rPr>
                <a:t>dolaylı temsil eder; model bu vekiller üzerinden</a:t>
              </a:r>
              <a:br/>
              <a:r>
                <a:rPr lang="tr-TR" sz="1200" dirty="0">
                  <a:solidFill>
                    <a:srgbClr val="172B3A"/>
                  </a:solidFill>
                  <a:latin typeface="+mn-lt"/>
                  <a:ea typeface="+mn-ea"/>
                  <a:cs typeface="+mn-cs"/>
                </a:rPr>
                <a:t>aynı önyargıyı öğrenmeye devam edebilir.</a:t>
              </a:r>
            </a:p>
          </p:txBody>
        </p:sp>
        <p:sp>
          <p:nvSpPr>
            <p:cNvPr id="19" name="TextBox 19"/>
            <p:cNvSpPr txBox="1"/>
            <p:nvPr/>
          </p:nvSpPr>
          <p:spPr>
            <a:xfrm>
              <a:off x="8185404" y="1889760"/>
              <a:ext cx="305257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Adillik denetimi tek bir sütunu silmekle</a:t>
              </a:r>
              <a:br/>
              <a:r>
                <a:rPr lang="tr-TR" sz="1200" dirty="0">
                  <a:solidFill>
                    <a:srgbClr val="172B3A"/>
                  </a:solidFill>
                  <a:latin typeface="+mn-lt"/>
                  <a:ea typeface="+mn-ea"/>
                  <a:cs typeface="+mn-cs"/>
                </a:rPr>
                <a:t>değil, grup bazlı çıktı metrikleriyle</a:t>
              </a:r>
              <a:br/>
              <a:r>
                <a:rPr lang="tr-TR" sz="1200" dirty="0">
                  <a:solidFill>
                    <a:srgbClr val="172B3A"/>
                  </a:solidFill>
                  <a:latin typeface="+mn-lt"/>
                  <a:ea typeface="+mn-ea"/>
                  <a:cs typeface="+mn-cs"/>
                </a:rPr>
                <a:t>(demografik parite, eşit fırsat) sürekli</a:t>
              </a:r>
              <a:br/>
              <a:r>
                <a:rPr lang="tr-TR" sz="1200" dirty="0">
                  <a:solidFill>
                    <a:srgbClr val="172B3A"/>
                  </a:solidFill>
                  <a:latin typeface="+mn-lt"/>
                  <a:ea typeface="+mn-ea"/>
                  <a:cs typeface="+mn-cs"/>
                </a:rPr>
                <a:t>izlenmelidir.</a:t>
              </a:r>
            </a:p>
          </p:txBody>
        </p:sp>
        <p:sp>
          <p:nvSpPr>
            <p:cNvPr id="20" name="Line 20"/>
            <p:cNvSpPr/>
            <p:nvPr/>
          </p:nvSpPr>
          <p:spPr>
            <a:xfrm>
              <a:off x="609600" y="31527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fallacy-accuracy"/>
          <p:cNvGrpSpPr/>
          <p:nvPr/>
        </p:nvGrpSpPr>
        <p:grpSpPr>
          <a:xfrm>
            <a:off x="609600" y="3162300"/>
            <a:ext cx="10972800" cy="1447800"/>
            <a:chOff x="609600" y="3162300"/>
            <a:chExt cx="10972800" cy="1447800"/>
          </a:xfrm>
        </p:grpSpPr>
        <p:sp>
          <p:nvSpPr>
            <p:cNvPr id="22" name="Rectangle 22"/>
            <p:cNvSpPr/>
            <p:nvPr/>
          </p:nvSpPr>
          <p:spPr>
            <a:xfrm>
              <a:off x="609600" y="3162300"/>
              <a:ext cx="10972800" cy="1447800"/>
            </a:xfrm>
            <a:prstGeom prst="rect">
              <a:avLst/>
            </a:prstGeom>
            <a:solidFill>
              <a:srgbClr val="EAF4F6"/>
            </a:solidFill>
            <a:ln>
              <a:noFill/>
            </a:ln>
          </p:spPr>
        </p:sp>
        <p:sp>
          <p:nvSpPr>
            <p:cNvPr id="23" name="TextBox 23"/>
            <p:cNvSpPr txBox="1"/>
            <p:nvPr/>
          </p:nvSpPr>
          <p:spPr>
            <a:xfrm>
              <a:off x="753999" y="3297079"/>
              <a:ext cx="2691803"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"Yüksek doğruluk, modelin</a:t>
              </a:r>
              <a:br/>
              <a:r>
                <a:rPr lang="tr-TR" sz="1580" b="1" dirty="0">
                  <a:solidFill>
                    <a:srgbClr val="12355B"/>
                  </a:solidFill>
                  <a:latin typeface="+mn-lt"/>
                  <a:ea typeface="+mn-ea"/>
                  <a:cs typeface="+mn-cs"/>
                </a:rPr>
                <a:t>adil ve güvenilir olduğunu</a:t>
              </a:r>
              <a:br/>
              <a:r>
                <a:rPr lang="tr-TR" sz="1580" b="1" dirty="0">
                  <a:solidFill>
                    <a:srgbClr val="12355B"/>
                  </a:solidFill>
                  <a:latin typeface="+mn-lt"/>
                  <a:ea typeface="+mn-ea"/>
                  <a:cs typeface="+mn-cs"/>
                </a:rPr>
                <a:t>kanıtlar."</a:t>
              </a:r>
            </a:p>
          </p:txBody>
        </p:sp>
        <p:sp>
          <p:nvSpPr>
            <p:cNvPr id="24" name="TextBox 24"/>
            <p:cNvSpPr txBox="1"/>
            <p:nvPr/>
          </p:nvSpPr>
          <p:spPr>
            <a:xfrm>
              <a:off x="4375404" y="3337560"/>
              <a:ext cx="32887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Doğruluk ve adillik farklı boyutlardır. Genel</a:t>
              </a:r>
              <a:br/>
              <a:r>
                <a:rPr lang="tr-TR" sz="1200" dirty="0">
                  <a:solidFill>
                    <a:srgbClr val="172B3A"/>
                  </a:solidFill>
                  <a:latin typeface="+mn-lt"/>
                  <a:ea typeface="+mn-ea"/>
                  <a:cs typeface="+mn-cs"/>
                </a:rPr>
                <a:t>başarı kabul edilebilir görünürken belirli</a:t>
              </a:r>
              <a:br/>
              <a:r>
                <a:rPr lang="tr-TR" sz="1200" dirty="0">
                  <a:solidFill>
                    <a:srgbClr val="172B3A"/>
                  </a:solidFill>
                  <a:latin typeface="+mn-lt"/>
                  <a:ea typeface="+mn-ea"/>
                  <a:cs typeface="+mn-cs"/>
                </a:rPr>
                <a:t>müşteri gruplarındaki hata oranı çok daha</a:t>
              </a:r>
              <a:br/>
              <a:r>
                <a:rPr lang="tr-TR" sz="1200" dirty="0">
                  <a:solidFill>
                    <a:srgbClr val="172B3A"/>
                  </a:solidFill>
                  <a:latin typeface="+mn-lt"/>
                  <a:ea typeface="+mn-ea"/>
                  <a:cs typeface="+mn-cs"/>
                </a:rPr>
                <a:t>yüksek olabilir; genel ortalama bunu gizler.</a:t>
              </a:r>
            </a:p>
          </p:txBody>
        </p:sp>
        <p:sp>
          <p:nvSpPr>
            <p:cNvPr id="25" name="TextBox 25"/>
            <p:cNvSpPr txBox="1"/>
            <p:nvPr/>
          </p:nvSpPr>
          <p:spPr>
            <a:xfrm>
              <a:off x="8185404" y="3337560"/>
              <a:ext cx="32583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Adillik raporu her zaman grup bazında</a:t>
              </a:r>
              <a:br/>
              <a:r>
                <a:rPr lang="tr-TR" sz="1200" dirty="0">
                  <a:solidFill>
                    <a:srgbClr val="172B3A"/>
                  </a:solidFill>
                  <a:latin typeface="+mn-lt"/>
                  <a:ea typeface="+mn-ea"/>
                  <a:cs typeface="+mn-cs"/>
                </a:rPr>
                <a:t>ayrıştırılarak incelenmeli; KVKK açısından</a:t>
              </a:r>
              <a:br/>
              <a:r>
                <a:rPr lang="tr-TR" sz="1200" dirty="0">
                  <a:solidFill>
                    <a:srgbClr val="172B3A"/>
                  </a:solidFill>
                  <a:latin typeface="+mn-lt"/>
                  <a:ea typeface="+mn-ea"/>
                  <a:cs typeface="+mn-cs"/>
                </a:rPr>
                <a:t>da veri işlemenin hukuka uygunluğu ayrıca</a:t>
              </a:r>
              <a:br/>
              <a:r>
                <a:rPr lang="tr-TR" sz="1200" dirty="0">
                  <a:solidFill>
                    <a:srgbClr val="172B3A"/>
                  </a:solidFill>
                  <a:latin typeface="+mn-lt"/>
                  <a:ea typeface="+mn-ea"/>
                  <a:cs typeface="+mn-cs"/>
                </a:rPr>
                <a:t>değerlendirilmelidir.</a:t>
              </a:r>
            </a:p>
          </p:txBody>
        </p:sp>
        <p:sp>
          <p:nvSpPr>
            <p:cNvPr id="26" name="Line 26"/>
            <p:cNvSpPr/>
            <p:nvPr/>
          </p:nvSpPr>
          <p:spPr>
            <a:xfrm>
              <a:off x="609600" y="46005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fallacy-drift"/>
          <p:cNvGrpSpPr/>
          <p:nvPr/>
        </p:nvGrpSpPr>
        <p:grpSpPr>
          <a:xfrm>
            <a:off x="753999" y="4744879"/>
            <a:ext cx="10491597" cy="903827"/>
            <a:chOff x="753999" y="4744879"/>
            <a:chExt cx="10491597" cy="903827"/>
          </a:xfrm>
        </p:grpSpPr>
        <p:sp>
          <p:nvSpPr>
            <p:cNvPr id="28" name="TextBox 28"/>
            <p:cNvSpPr txBox="1"/>
            <p:nvPr/>
          </p:nvSpPr>
          <p:spPr>
            <a:xfrm>
              <a:off x="753999" y="4744879"/>
              <a:ext cx="2691803"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"Kayma uyarısı geldiğinde</a:t>
              </a:r>
              <a:br/>
              <a:r>
                <a:rPr lang="tr-TR" sz="1580" b="1" dirty="0">
                  <a:solidFill>
                    <a:srgbClr val="12355B"/>
                  </a:solidFill>
                  <a:latin typeface="+mn-lt"/>
                  <a:ea typeface="+mn-ea"/>
                  <a:cs typeface="+mn-cs"/>
                </a:rPr>
                <a:t>model otomatik olarak</a:t>
              </a:r>
              <a:br/>
              <a:r>
                <a:rPr lang="tr-TR" sz="1580" b="1" dirty="0">
                  <a:solidFill>
                    <a:srgbClr val="12355B"/>
                  </a:solidFill>
                  <a:latin typeface="+mn-lt"/>
                  <a:ea typeface="+mn-ea"/>
                  <a:cs typeface="+mn-cs"/>
                </a:rPr>
                <a:t>yeniden eğitilmelidir."</a:t>
              </a:r>
            </a:p>
          </p:txBody>
        </p:sp>
        <p:sp>
          <p:nvSpPr>
            <p:cNvPr id="29" name="TextBox 29"/>
            <p:cNvSpPr txBox="1"/>
            <p:nvPr/>
          </p:nvSpPr>
          <p:spPr>
            <a:xfrm>
              <a:off x="4375404" y="4785360"/>
              <a:ext cx="34488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Uyarı, veri kalitesinde geçici bir bozulmayı da</a:t>
              </a:r>
              <a:br/>
              <a:r>
                <a:rPr lang="tr-TR" sz="1200" dirty="0">
                  <a:solidFill>
                    <a:srgbClr val="172B3A"/>
                  </a:solidFill>
                  <a:latin typeface="+mn-lt"/>
                  <a:ea typeface="+mn-ea"/>
                  <a:cs typeface="+mn-cs"/>
                </a:rPr>
                <a:t>işaret edebilir; kaynağı incelenmeden yapılan</a:t>
              </a:r>
              <a:br/>
              <a:r>
                <a:rPr lang="tr-TR" sz="1200" dirty="0">
                  <a:solidFill>
                    <a:srgbClr val="172B3A"/>
                  </a:solidFill>
                  <a:latin typeface="+mn-lt"/>
                  <a:ea typeface="+mn-ea"/>
                  <a:cs typeface="+mn-cs"/>
                </a:rPr>
                <a:t>otomatik yeniden eğitim, hatalı veriyi modele</a:t>
              </a:r>
              <a:br/>
              <a:r>
                <a:rPr lang="tr-TR" sz="1200" dirty="0">
                  <a:solidFill>
                    <a:srgbClr val="172B3A"/>
                  </a:solidFill>
                  <a:latin typeface="+mn-lt"/>
                  <a:ea typeface="+mn-ea"/>
                  <a:cs typeface="+mn-cs"/>
                </a:rPr>
                <a:t>kalıcı olarak öğretebilir.</a:t>
              </a:r>
            </a:p>
          </p:txBody>
        </p:sp>
        <p:sp>
          <p:nvSpPr>
            <p:cNvPr id="30" name="TextBox 30"/>
            <p:cNvSpPr txBox="1"/>
            <p:nvPr/>
          </p:nvSpPr>
          <p:spPr>
            <a:xfrm>
              <a:off x="8185404" y="4785360"/>
              <a:ext cx="30601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Uyarı, insan incelemesini tetikleyen bir</a:t>
              </a:r>
              <a:br/>
              <a:r>
                <a:rPr lang="tr-TR" sz="1200" dirty="0">
                  <a:solidFill>
                    <a:srgbClr val="172B3A"/>
                  </a:solidFill>
                  <a:latin typeface="+mn-lt"/>
                  <a:ea typeface="+mn-ea"/>
                  <a:cs typeface="+mn-cs"/>
                </a:rPr>
                <a:t>sinyal olarak ele alınmalı; yeniden eğitim</a:t>
              </a:r>
              <a:br/>
              <a:r>
                <a:rPr lang="tr-TR" sz="1200" dirty="0">
                  <a:solidFill>
                    <a:srgbClr val="172B3A"/>
                  </a:solidFill>
                  <a:latin typeface="+mn-lt"/>
                  <a:ea typeface="+mn-ea"/>
                  <a:cs typeface="+mn-cs"/>
                </a:rPr>
                <a:t>kararı veri kalitesi, etik etki incelemesi</a:t>
              </a:r>
              <a:br/>
              <a:r>
                <a:rPr lang="tr-TR" sz="1200" dirty="0">
                  <a:solidFill>
                    <a:srgbClr val="172B3A"/>
                  </a:solidFill>
                  <a:latin typeface="+mn-lt"/>
                  <a:ea typeface="+mn-ea"/>
                  <a:cs typeface="+mn-cs"/>
                </a:rPr>
                <a:t>ve sorumlu kişi onayıyla verilmelidir.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 / 25</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5304620" cy="668845"/>
            <a:chOff x="609600" y="171450"/>
            <a:chExt cx="5304620"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461424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Gerçek dünya tuzakları</a:t>
              </a:r>
            </a:p>
          </p:txBody>
        </p:sp>
      </p:grpSp>
      <p:grpSp>
        <p:nvGrpSpPr>
          <p:cNvPr id="13" name="tip"/>
          <p:cNvGrpSpPr/>
          <p:nvPr/>
        </p:nvGrpSpPr>
        <p:grpSpPr>
          <a:xfrm>
            <a:off x="603504" y="1203960"/>
            <a:ext cx="7744116" cy="234696"/>
            <a:chOff x="603504" y="1203960"/>
            <a:chExt cx="7744116" cy="234696"/>
          </a:xfrm>
        </p:grpSpPr>
        <p:sp>
          <p:nvSpPr>
            <p:cNvPr id="12" name="TextBox 12"/>
            <p:cNvSpPr txBox="1"/>
            <p:nvPr/>
          </p:nvSpPr>
          <p:spPr>
            <a:xfrm>
              <a:off x="603504" y="1203960"/>
              <a:ext cx="774411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İzleme metriği, adillik metriği ve KVKK denetimi aynı raporda yer alsa da birbirinin yerine geçmez.</a:t>
              </a:r>
            </a:p>
          </p:txBody>
        </p:sp>
      </p:grpSp>
      <p:grpSp>
        <p:nvGrpSpPr>
          <p:cNvPr id="32" name="col-left"/>
          <p:cNvGrpSpPr/>
          <p:nvPr/>
        </p:nvGrpSpPr>
        <p:grpSpPr>
          <a:xfrm>
            <a:off x="609600" y="1638300"/>
            <a:ext cx="5257800" cy="4286250"/>
            <a:chOff x="609600" y="1638300"/>
            <a:chExt cx="5257800" cy="4286250"/>
          </a:xfrm>
        </p:grpSpPr>
        <p:sp>
          <p:nvSpPr>
            <p:cNvPr id="14" name="Rectangle 14"/>
            <p:cNvSpPr/>
            <p:nvPr/>
          </p:nvSpPr>
          <p:spPr>
            <a:xfrm>
              <a:off x="609600" y="1638300"/>
              <a:ext cx="5257800" cy="1047750"/>
            </a:xfrm>
            <a:prstGeom prst="roundRect">
              <a:avLst>
                <a:gd name="adj" fmla="val 7273"/>
              </a:avLst>
            </a:prstGeom>
            <a:solidFill>
              <a:srgbClr val="FFFFFF"/>
            </a:solidFill>
            <a:ln w="11430">
              <a:solidFill>
                <a:srgbClr val="B8CBD3"/>
              </a:solidFill>
            </a:ln>
          </p:spPr>
        </p:sp>
        <p:sp>
          <p:nvSpPr>
            <p:cNvPr id="15" name="TextBox 15"/>
            <p:cNvSpPr txBox="1"/>
            <p:nvPr/>
          </p:nvSpPr>
          <p:spPr>
            <a:xfrm>
              <a:off x="832104" y="1775460"/>
              <a:ext cx="304605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1. Dosya adını sürümle karıştırmak</a:t>
              </a:r>
            </a:p>
          </p:txBody>
        </p:sp>
        <p:sp>
          <p:nvSpPr>
            <p:cNvPr id="16" name="TextBox 16"/>
            <p:cNvSpPr txBox="1"/>
            <p:nvPr/>
          </p:nvSpPr>
          <p:spPr>
            <a:xfrm>
              <a:off x="832485" y="2012156"/>
              <a:ext cx="393910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"v2" eklemek, tahmin kaydına sürüm yazmanın yerine</a:t>
              </a:r>
            </a:p>
          </p:txBody>
        </p:sp>
        <p:sp>
          <p:nvSpPr>
            <p:cNvPr id="17" name="TextBox 17"/>
            <p:cNvSpPr txBox="1"/>
            <p:nvPr/>
          </p:nvSpPr>
          <p:spPr>
            <a:xfrm>
              <a:off x="832485" y="2202656"/>
              <a:ext cx="356970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geçmez; dosya taşınırsa izlenebilirlik kaybolur.</a:t>
              </a:r>
            </a:p>
          </p:txBody>
        </p:sp>
        <p:sp>
          <p:nvSpPr>
            <p:cNvPr id="18" name="TextBox 18"/>
            <p:cNvSpPr txBox="1"/>
            <p:nvPr/>
          </p:nvSpPr>
          <p:spPr>
            <a:xfrm>
              <a:off x="832485" y="2393156"/>
              <a:ext cx="366508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Sürüm her zaman tahminle birlikte saklanmalıdır.</a:t>
              </a:r>
            </a:p>
          </p:txBody>
        </p:sp>
        <p:sp>
          <p:nvSpPr>
            <p:cNvPr id="19" name="Rectangle 19"/>
            <p:cNvSpPr/>
            <p:nvPr/>
          </p:nvSpPr>
          <p:spPr>
            <a:xfrm>
              <a:off x="609600" y="2781300"/>
              <a:ext cx="5257800" cy="1047750"/>
            </a:xfrm>
            <a:prstGeom prst="roundRect">
              <a:avLst>
                <a:gd name="adj" fmla="val 7273"/>
              </a:avLst>
            </a:prstGeom>
            <a:solidFill>
              <a:srgbClr val="FFFFFF"/>
            </a:solidFill>
            <a:ln w="11430">
              <a:solidFill>
                <a:srgbClr val="B8CBD3"/>
              </a:solidFill>
            </a:ln>
          </p:spPr>
        </p:sp>
        <p:sp>
          <p:nvSpPr>
            <p:cNvPr id="20" name="TextBox 20"/>
            <p:cNvSpPr txBox="1"/>
            <p:nvPr/>
          </p:nvSpPr>
          <p:spPr>
            <a:xfrm>
              <a:off x="832104" y="2918460"/>
              <a:ext cx="363963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2. Kayma uyarısını otomatik eğitim saymak</a:t>
              </a:r>
            </a:p>
          </p:txBody>
        </p:sp>
        <p:sp>
          <p:nvSpPr>
            <p:cNvPr id="21" name="TextBox 21"/>
            <p:cNvSpPr txBox="1"/>
            <p:nvPr/>
          </p:nvSpPr>
          <p:spPr>
            <a:xfrm>
              <a:off x="832485" y="3155156"/>
              <a:ext cx="358205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Uyarı geçici veri bozulmasını da işaret edebilir;</a:t>
              </a:r>
            </a:p>
          </p:txBody>
        </p:sp>
        <p:sp>
          <p:nvSpPr>
            <p:cNvPr id="22" name="TextBox 22"/>
            <p:cNvSpPr txBox="1"/>
            <p:nvPr/>
          </p:nvSpPr>
          <p:spPr>
            <a:xfrm>
              <a:off x="832485" y="3345656"/>
              <a:ext cx="380340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incelenmeden yeniden eğitim hatayı kalıcılaştırır.</a:t>
              </a:r>
            </a:p>
          </p:txBody>
        </p:sp>
        <p:sp>
          <p:nvSpPr>
            <p:cNvPr id="23" name="TextBox 23"/>
            <p:cNvSpPr txBox="1"/>
            <p:nvPr/>
          </p:nvSpPr>
          <p:spPr>
            <a:xfrm>
              <a:off x="832485" y="3536156"/>
              <a:ext cx="367241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Uyarı, insan incelemesini tetikleyen bir sinyaldir.</a:t>
              </a:r>
            </a:p>
          </p:txBody>
        </p:sp>
        <p:sp>
          <p:nvSpPr>
            <p:cNvPr id="24" name="Rectangle 24"/>
            <p:cNvSpPr/>
            <p:nvPr/>
          </p:nvSpPr>
          <p:spPr>
            <a:xfrm>
              <a:off x="609600" y="3924300"/>
              <a:ext cx="5257800" cy="1047750"/>
            </a:xfrm>
            <a:prstGeom prst="roundRect">
              <a:avLst>
                <a:gd name="adj" fmla="val 7273"/>
              </a:avLst>
            </a:prstGeom>
            <a:solidFill>
              <a:srgbClr val="FFFFFF"/>
            </a:solidFill>
            <a:ln w="11430">
              <a:solidFill>
                <a:srgbClr val="B8CBD3"/>
              </a:solidFill>
            </a:ln>
          </p:spPr>
        </p:sp>
        <p:sp>
          <p:nvSpPr>
            <p:cNvPr id="25" name="TextBox 25"/>
            <p:cNvSpPr txBox="1"/>
            <p:nvPr/>
          </p:nvSpPr>
          <p:spPr>
            <a:xfrm>
              <a:off x="832104" y="4061460"/>
              <a:ext cx="373243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3. Adilliği yalnızca genel ortalamadan okumak</a:t>
              </a:r>
            </a:p>
          </p:txBody>
        </p:sp>
        <p:sp>
          <p:nvSpPr>
            <p:cNvPr id="26" name="TextBox 26"/>
            <p:cNvSpPr txBox="1"/>
            <p:nvPr/>
          </p:nvSpPr>
          <p:spPr>
            <a:xfrm>
              <a:off x="832485" y="4298156"/>
              <a:ext cx="371805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Toplam hata düşük görünse de küçük bir segmentte</a:t>
              </a:r>
            </a:p>
          </p:txBody>
        </p:sp>
        <p:sp>
          <p:nvSpPr>
            <p:cNvPr id="27" name="TextBox 27"/>
            <p:cNvSpPr txBox="1"/>
            <p:nvPr/>
          </p:nvSpPr>
          <p:spPr>
            <a:xfrm>
              <a:off x="832485" y="4488656"/>
              <a:ext cx="421049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çok daha yüksek olabilir; rapor grup bazlı incelenmelidir.</a:t>
              </a:r>
            </a:p>
          </p:txBody>
        </p:sp>
        <p:sp>
          <p:nvSpPr>
            <p:cNvPr id="28" name="Rectangle 28"/>
            <p:cNvSpPr/>
            <p:nvPr/>
          </p:nvSpPr>
          <p:spPr>
            <a:xfrm>
              <a:off x="609600" y="5067300"/>
              <a:ext cx="5257800" cy="857250"/>
            </a:xfrm>
            <a:prstGeom prst="roundRect">
              <a:avLst>
                <a:gd name="adj" fmla="val 8889"/>
              </a:avLst>
            </a:prstGeom>
            <a:solidFill>
              <a:srgbClr val="FFFFFF"/>
            </a:solidFill>
            <a:ln w="11430">
              <a:solidFill>
                <a:srgbClr val="B8CBD3"/>
              </a:solidFill>
            </a:ln>
          </p:spPr>
        </p:sp>
        <p:sp>
          <p:nvSpPr>
            <p:cNvPr id="29" name="TextBox 29"/>
            <p:cNvSpPr txBox="1"/>
            <p:nvPr/>
          </p:nvSpPr>
          <p:spPr>
            <a:xfrm>
              <a:off x="832104" y="5204460"/>
              <a:ext cx="391079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4. Minimizasyonu maskelemeyle eşdeğer saymak</a:t>
              </a:r>
            </a:p>
          </p:txBody>
        </p:sp>
        <p:sp>
          <p:nvSpPr>
            <p:cNvPr id="30" name="TextBox 30"/>
            <p:cNvSpPr txBox="1"/>
            <p:nvPr/>
          </p:nvSpPr>
          <p:spPr>
            <a:xfrm>
              <a:off x="832485" y="5441156"/>
              <a:ext cx="382374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Son dört haneyi göstermek, dosyada tam numaranın</a:t>
              </a:r>
            </a:p>
          </p:txBody>
        </p:sp>
        <p:sp>
          <p:nvSpPr>
            <p:cNvPr id="31" name="TextBox 31"/>
            <p:cNvSpPr txBox="1"/>
            <p:nvPr/>
          </p:nvSpPr>
          <p:spPr>
            <a:xfrm>
              <a:off x="832485" y="5631656"/>
              <a:ext cx="248413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hâlâ tutulduğu anlamına gelebilir.</a:t>
              </a:r>
            </a:p>
          </p:txBody>
        </p:sp>
      </p:grpSp>
      <p:grpSp>
        <p:nvGrpSpPr>
          <p:cNvPr id="48" name="col-right"/>
          <p:cNvGrpSpPr/>
          <p:nvPr/>
        </p:nvGrpSpPr>
        <p:grpSpPr>
          <a:xfrm>
            <a:off x="6324600" y="1638300"/>
            <a:ext cx="5257800" cy="3333750"/>
            <a:chOff x="6324600" y="1638300"/>
            <a:chExt cx="5257800" cy="3333750"/>
          </a:xfrm>
        </p:grpSpPr>
        <p:sp>
          <p:nvSpPr>
            <p:cNvPr id="33" name="Rectangle 33"/>
            <p:cNvSpPr/>
            <p:nvPr/>
          </p:nvSpPr>
          <p:spPr>
            <a:xfrm>
              <a:off x="6324600" y="1638300"/>
              <a:ext cx="5257800" cy="1047750"/>
            </a:xfrm>
            <a:prstGeom prst="roundRect">
              <a:avLst>
                <a:gd name="adj" fmla="val 7273"/>
              </a:avLst>
            </a:prstGeom>
            <a:solidFill>
              <a:srgbClr val="FFFFFF"/>
            </a:solidFill>
            <a:ln w="11430">
              <a:solidFill>
                <a:srgbClr val="B8CBD3"/>
              </a:solidFill>
            </a:ln>
          </p:spPr>
        </p:sp>
        <p:sp>
          <p:nvSpPr>
            <p:cNvPr id="34" name="TextBox 34"/>
            <p:cNvSpPr txBox="1"/>
            <p:nvPr/>
          </p:nvSpPr>
          <p:spPr>
            <a:xfrm>
              <a:off x="6547104" y="1775460"/>
              <a:ext cx="3300355"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5. Büyük veri altyapısını erken kurmak</a:t>
              </a:r>
            </a:p>
          </p:txBody>
        </p:sp>
        <p:sp>
          <p:nvSpPr>
            <p:cNvPr id="35" name="TextBox 35"/>
            <p:cNvSpPr txBox="1"/>
            <p:nvPr/>
          </p:nvSpPr>
          <p:spPr>
            <a:xfrm>
              <a:off x="6547485" y="2012156"/>
              <a:ext cx="365731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Veri tek makinede rahatça işlenebiliyorsa dağıtık</a:t>
              </a:r>
            </a:p>
          </p:txBody>
        </p:sp>
        <p:sp>
          <p:nvSpPr>
            <p:cNvPr id="36" name="TextBox 36"/>
            <p:cNvSpPr txBox="1"/>
            <p:nvPr/>
          </p:nvSpPr>
          <p:spPr>
            <a:xfrm>
              <a:off x="6547485" y="2202656"/>
              <a:ext cx="386371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küme kurmak yalnızca karmaşıklık ve maliyet ekler.</a:t>
              </a:r>
            </a:p>
          </p:txBody>
        </p:sp>
        <p:sp>
          <p:nvSpPr>
            <p:cNvPr id="37" name="TextBox 37"/>
            <p:cNvSpPr txBox="1"/>
            <p:nvPr/>
          </p:nvSpPr>
          <p:spPr>
            <a:xfrm>
              <a:off x="6547485" y="2393156"/>
              <a:ext cx="364256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Geçiş kararı ölçülen hacim ve hıza dayanmalıdır.</a:t>
              </a:r>
            </a:p>
          </p:txBody>
        </p:sp>
        <p:sp>
          <p:nvSpPr>
            <p:cNvPr id="38" name="Rectangle 38"/>
            <p:cNvSpPr/>
            <p:nvPr/>
          </p:nvSpPr>
          <p:spPr>
            <a:xfrm>
              <a:off x="6324600" y="2781300"/>
              <a:ext cx="5257800" cy="1047750"/>
            </a:xfrm>
            <a:prstGeom prst="roundRect">
              <a:avLst>
                <a:gd name="adj" fmla="val 7273"/>
              </a:avLst>
            </a:prstGeom>
            <a:solidFill>
              <a:srgbClr val="FFFFFF"/>
            </a:solidFill>
            <a:ln w="11430">
              <a:solidFill>
                <a:srgbClr val="B8CBD3"/>
              </a:solidFill>
            </a:ln>
          </p:spPr>
        </p:sp>
        <p:sp>
          <p:nvSpPr>
            <p:cNvPr id="39" name="TextBox 39"/>
            <p:cNvSpPr txBox="1"/>
            <p:nvPr/>
          </p:nvSpPr>
          <p:spPr>
            <a:xfrm>
              <a:off x="6547104" y="2918460"/>
              <a:ext cx="3495216"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6. Günlüğü yalnızca hata anında incelemek</a:t>
              </a:r>
            </a:p>
          </p:txBody>
        </p:sp>
        <p:sp>
          <p:nvSpPr>
            <p:cNvPr id="40" name="TextBox 40"/>
            <p:cNvSpPr txBox="1"/>
            <p:nvPr/>
          </p:nvSpPr>
          <p:spPr>
            <a:xfrm>
              <a:off x="6547485" y="3155156"/>
              <a:ext cx="334071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Düzenli örneklem incelemesi yapılmazsa yavaş</a:t>
              </a:r>
            </a:p>
          </p:txBody>
        </p:sp>
        <p:sp>
          <p:nvSpPr>
            <p:cNvPr id="41" name="TextBox 41"/>
            <p:cNvSpPr txBox="1"/>
            <p:nvPr/>
          </p:nvSpPr>
          <p:spPr>
            <a:xfrm>
              <a:off x="6547485" y="3345656"/>
              <a:ext cx="386371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ilerleyen bir kayma fark edilmeden aylarca sürebilir.</a:t>
              </a:r>
            </a:p>
          </p:txBody>
        </p:sp>
        <p:sp>
          <p:nvSpPr>
            <p:cNvPr id="42" name="TextBox 42"/>
            <p:cNvSpPr txBox="1"/>
            <p:nvPr/>
          </p:nvSpPr>
          <p:spPr>
            <a:xfrm>
              <a:off x="6547485" y="3536156"/>
              <a:ext cx="389875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Düzenli inceleme erken uyarı kültürünün parçasıdır.</a:t>
              </a:r>
            </a:p>
          </p:txBody>
        </p:sp>
        <p:sp>
          <p:nvSpPr>
            <p:cNvPr id="43" name="Rectangle 43"/>
            <p:cNvSpPr/>
            <p:nvPr/>
          </p:nvSpPr>
          <p:spPr>
            <a:xfrm>
              <a:off x="6324600" y="3924300"/>
              <a:ext cx="5257800" cy="1047750"/>
            </a:xfrm>
            <a:prstGeom prst="roundRect">
              <a:avLst>
                <a:gd name="adj" fmla="val 7273"/>
              </a:avLst>
            </a:prstGeom>
            <a:solidFill>
              <a:srgbClr val="FFFFFF"/>
            </a:solidFill>
            <a:ln w="13335">
              <a:solidFill>
                <a:srgbClr val="00A6A6"/>
              </a:solidFill>
            </a:ln>
          </p:spPr>
        </p:sp>
        <p:sp>
          <p:nvSpPr>
            <p:cNvPr id="44" name="TextBox 44"/>
            <p:cNvSpPr txBox="1"/>
            <p:nvPr/>
          </p:nvSpPr>
          <p:spPr>
            <a:xfrm>
              <a:off x="6547104" y="4061460"/>
              <a:ext cx="334264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7. Tüm tuzakları eşit ciddiyette görmek</a:t>
              </a:r>
            </a:p>
          </p:txBody>
        </p:sp>
        <p:sp>
          <p:nvSpPr>
            <p:cNvPr id="45" name="TextBox 45"/>
            <p:cNvSpPr txBox="1"/>
            <p:nvPr/>
          </p:nvSpPr>
          <p:spPr>
            <a:xfrm>
              <a:off x="6547485" y="4298156"/>
              <a:ext cx="412487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Kişisel veri sızıntısı ile küçük bir başarım düşüşü aynı</a:t>
              </a:r>
            </a:p>
          </p:txBody>
        </p:sp>
        <p:sp>
          <p:nvSpPr>
            <p:cNvPr id="46" name="TextBox 46"/>
            <p:cNvSpPr txBox="1"/>
            <p:nvPr/>
          </p:nvSpPr>
          <p:spPr>
            <a:xfrm>
              <a:off x="6547485" y="4488656"/>
              <a:ext cx="341139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önceliğe sahip değildir; müdahale sırası riskin</a:t>
              </a:r>
            </a:p>
          </p:txBody>
        </p:sp>
        <p:sp>
          <p:nvSpPr>
            <p:cNvPr id="47" name="TextBox 47"/>
            <p:cNvSpPr txBox="1"/>
            <p:nvPr/>
          </p:nvSpPr>
          <p:spPr>
            <a:xfrm>
              <a:off x="6547485" y="4679156"/>
              <a:ext cx="243889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büyüklüğüne göre belirlenmelidir.</a:t>
              </a:r>
            </a:p>
          </p:txBody>
        </p:sp>
      </p:grpSp>
      <p:sp>
        <p:nvSpPr>
          <p:cNvPr id="49" name="TextBox 4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 / 25</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4841323" cy="668845"/>
            <a:chOff x="609600" y="171450"/>
            <a:chExt cx="484132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41509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Hata ayıklama örneği</a:t>
              </a:r>
            </a:p>
          </p:txBody>
        </p:sp>
      </p:grpSp>
      <p:grpSp>
        <p:nvGrpSpPr>
          <p:cNvPr id="23" name="before"/>
          <p:cNvGrpSpPr/>
          <p:nvPr/>
        </p:nvGrpSpPr>
        <p:grpSpPr>
          <a:xfrm>
            <a:off x="609600" y="1219200"/>
            <a:ext cx="5257800" cy="3048000"/>
            <a:chOff x="609600" y="1219200"/>
            <a:chExt cx="5257800" cy="3048000"/>
          </a:xfrm>
        </p:grpSpPr>
        <p:sp>
          <p:nvSpPr>
            <p:cNvPr id="12" name="Rectangle 12"/>
            <p:cNvSpPr/>
            <p:nvPr/>
          </p:nvSpPr>
          <p:spPr>
            <a:xfrm>
              <a:off x="609600" y="1219200"/>
              <a:ext cx="5257800" cy="3048000"/>
            </a:xfrm>
            <a:prstGeom prst="roundRect">
              <a:avLst>
                <a:gd name="adj" fmla="val 3125"/>
              </a:avLst>
            </a:prstGeom>
            <a:solidFill>
              <a:srgbClr val="12355B"/>
            </a:solidFill>
            <a:ln>
              <a:noFill/>
            </a:ln>
          </p:spPr>
        </p:sp>
        <p:sp>
          <p:nvSpPr>
            <p:cNvPr id="13" name="TextBox 13"/>
            <p:cNvSpPr txBox="1"/>
            <p:nvPr/>
          </p:nvSpPr>
          <p:spPr>
            <a:xfrm>
              <a:off x="851154" y="1375410"/>
              <a:ext cx="2457738" cy="234696"/>
            </a:xfrm>
            <a:prstGeom prst="rect">
              <a:avLst/>
            </a:prstGeom>
            <a:noFill/>
            <a:ln>
              <a:noFill/>
            </a:ln>
          </p:spPr>
          <p:txBody>
            <a:bodyPr wrap="none" lIns="0" tIns="0" rIns="0" bIns="0" anchor="t" anchorCtr="0">
              <a:spAutoFit/>
            </a:bodyPr>
            <a:lstStyle/>
            <a:p>
              <a:pPr algn="l"/>
              <a:r>
                <a:rPr lang="tr-TR" sz="1200" b="1" dirty="0">
                  <a:solidFill>
                    <a:srgbClr val="EAF4F6"/>
                  </a:solidFill>
                  <a:latin typeface="+mn-lt"/>
                  <a:ea typeface="+mn-ea"/>
                  <a:cs typeface="+mn-cs"/>
                </a:rPr>
                <a:t>HataAyiklama.python — hatalı</a:t>
              </a:r>
            </a:p>
          </p:txBody>
        </p:sp>
        <p:sp>
          <p:nvSpPr>
            <p:cNvPr id="14" name="TextBox 14"/>
            <p:cNvSpPr txBox="1"/>
            <p:nvPr/>
          </p:nvSpPr>
          <p:spPr>
            <a:xfrm>
              <a:off x="851916" y="1677352"/>
              <a:ext cx="3042647"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def risk_orani_hesapla(olumlu, toplam):</a:t>
              </a:r>
            </a:p>
          </p:txBody>
        </p:sp>
        <p:sp>
          <p:nvSpPr>
            <p:cNvPr id="15" name="TextBox 15"/>
            <p:cNvSpPr txBox="1"/>
            <p:nvPr/>
          </p:nvSpPr>
          <p:spPr>
            <a:xfrm>
              <a:off x="1042416" y="1886902"/>
              <a:ext cx="1721015"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return olumlu / toplam</a:t>
              </a:r>
            </a:p>
          </p:txBody>
        </p:sp>
        <p:sp>
          <p:nvSpPr>
            <p:cNvPr id="16" name="TextBox 16"/>
            <p:cNvSpPr txBox="1"/>
            <p:nvPr/>
          </p:nvSpPr>
          <p:spPr>
            <a:xfrm>
              <a:off x="851916" y="2172652"/>
              <a:ext cx="2498446"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musteri_telefonu = "05321234567"</a:t>
              </a:r>
            </a:p>
          </p:txBody>
        </p:sp>
        <p:sp>
          <p:nvSpPr>
            <p:cNvPr id="17" name="TextBox 17"/>
            <p:cNvSpPr txBox="1"/>
            <p:nvPr/>
          </p:nvSpPr>
          <p:spPr>
            <a:xfrm>
              <a:off x="851916" y="2382202"/>
              <a:ext cx="1565529"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kayma_farki = "12.5"</a:t>
              </a:r>
            </a:p>
          </p:txBody>
        </p:sp>
        <p:sp>
          <p:nvSpPr>
            <p:cNvPr id="18" name="TextBox 18"/>
            <p:cNvSpPr txBox="1"/>
            <p:nvPr/>
          </p:nvSpPr>
          <p:spPr>
            <a:xfrm>
              <a:off x="851916" y="2591752"/>
              <a:ext cx="1565529" cy="205359"/>
            </a:xfrm>
            <a:prstGeom prst="rect">
              <a:avLst/>
            </a:prstGeom>
            <a:noFill/>
            <a:ln>
              <a:noFill/>
            </a:ln>
          </p:spPr>
          <p:txBody>
            <a:bodyPr wrap="none" lIns="0" tIns="0" rIns="0" bIns="0" anchor="t" anchorCtr="0">
              <a:spAutoFit/>
            </a:bodyPr>
            <a:lstStyle/>
            <a:p>
              <a:pPr algn="l"/>
              <a:r>
                <a:rPr lang="tr-TR" sz="1050" dirty="0">
                  <a:solidFill>
                    <a:srgbClr val="C62828"/>
                  </a:solidFill>
                  <a:latin typeface="Consolas"/>
                  <a:ea typeface="Consolas"/>
                  <a:cs typeface="Consolas"/>
                </a:rPr>
                <a:t>if kayma_farki &gt; 10:</a:t>
              </a:r>
            </a:p>
          </p:txBody>
        </p:sp>
        <p:sp>
          <p:nvSpPr>
            <p:cNvPr id="19" name="TextBox 19"/>
            <p:cNvSpPr txBox="1"/>
            <p:nvPr/>
          </p:nvSpPr>
          <p:spPr>
            <a:xfrm>
              <a:off x="1042416" y="2801302"/>
              <a:ext cx="2605232" cy="205359"/>
            </a:xfrm>
            <a:prstGeom prst="rect">
              <a:avLst/>
            </a:prstGeom>
            <a:noFill/>
            <a:ln>
              <a:noFill/>
            </a:ln>
          </p:spPr>
          <p:txBody>
            <a:bodyPr wrap="none" lIns="0" tIns="0" rIns="0" bIns="0" anchor="t" anchorCtr="0">
              <a:spAutoFit/>
            </a:bodyPr>
            <a:lstStyle/>
            <a:p>
              <a:pPr algn="l"/>
              <a:r>
                <a:rPr lang="tr-TR" sz="1050" dirty="0">
                  <a:solidFill>
                    <a:srgbClr val="C62828"/>
                  </a:solidFill>
                  <a:latin typeface="Consolas"/>
                  <a:ea typeface="Consolas"/>
                  <a:cs typeface="Consolas"/>
                </a:rPr>
                <a:t>print("UYARI:", musteri_telefonu)</a:t>
              </a:r>
            </a:p>
          </p:txBody>
        </p:sp>
        <p:sp>
          <p:nvSpPr>
            <p:cNvPr id="20" name="TextBox 20"/>
            <p:cNvSpPr txBox="1"/>
            <p:nvPr/>
          </p:nvSpPr>
          <p:spPr>
            <a:xfrm>
              <a:off x="851916" y="3087052"/>
              <a:ext cx="2420703" cy="205359"/>
            </a:xfrm>
            <a:prstGeom prst="rect">
              <a:avLst/>
            </a:prstGeom>
            <a:noFill/>
            <a:ln>
              <a:noFill/>
            </a:ln>
          </p:spPr>
          <p:txBody>
            <a:bodyPr wrap="none" lIns="0" tIns="0" rIns="0" bIns="0" anchor="t" anchorCtr="0">
              <a:spAutoFit/>
            </a:bodyPr>
            <a:lstStyle/>
            <a:p>
              <a:pPr algn="l"/>
              <a:r>
                <a:rPr lang="tr-TR" sz="1050" dirty="0">
                  <a:solidFill>
                    <a:srgbClr val="C62828"/>
                  </a:solidFill>
                  <a:latin typeface="Consolas"/>
                  <a:ea typeface="Consolas"/>
                  <a:cs typeface="Consolas"/>
                </a:rPr>
                <a:t>print(risk_orani_hesapla(3, 0))</a:t>
              </a:r>
            </a:p>
          </p:txBody>
        </p:sp>
        <p:sp>
          <p:nvSpPr>
            <p:cNvPr id="21" name="TextBox 21"/>
            <p:cNvSpPr txBox="1"/>
            <p:nvPr/>
          </p:nvSpPr>
          <p:spPr>
            <a:xfrm>
              <a:off x="852297" y="3361849"/>
              <a:ext cx="2283757" cy="190690"/>
            </a:xfrm>
            <a:prstGeom prst="rect">
              <a:avLst/>
            </a:prstGeom>
            <a:noFill/>
            <a:ln>
              <a:noFill/>
            </a:ln>
          </p:spPr>
          <p:txBody>
            <a:bodyPr wrap="none" lIns="0" tIns="0" rIns="0" bIns="0" anchor="t" anchorCtr="0">
              <a:spAutoFit/>
            </a:bodyPr>
            <a:lstStyle/>
            <a:p>
              <a:pPr algn="l"/>
              <a:r>
                <a:rPr lang="tr-TR" sz="980" dirty="0">
                  <a:solidFill>
                    <a:srgbClr val="F0B0B0"/>
                  </a:solidFill>
                  <a:latin typeface="Consolas"/>
                  <a:ea typeface="Consolas"/>
                  <a:cs typeface="Consolas"/>
                </a:rPr>
                <a:t># TypeError + ZeroDivisionError</a:t>
              </a:r>
            </a:p>
          </p:txBody>
        </p:sp>
        <p:sp>
          <p:nvSpPr>
            <p:cNvPr id="22" name="TextBox 22"/>
            <p:cNvSpPr txBox="1"/>
            <p:nvPr/>
          </p:nvSpPr>
          <p:spPr>
            <a:xfrm>
              <a:off x="852297" y="3571399"/>
              <a:ext cx="2767193" cy="190690"/>
            </a:xfrm>
            <a:prstGeom prst="rect">
              <a:avLst/>
            </a:prstGeom>
            <a:noFill/>
            <a:ln>
              <a:noFill/>
            </a:ln>
          </p:spPr>
          <p:txBody>
            <a:bodyPr wrap="none" lIns="0" tIns="0" rIns="0" bIns="0" anchor="t" anchorCtr="0">
              <a:spAutoFit/>
            </a:bodyPr>
            <a:lstStyle/>
            <a:p>
              <a:pPr algn="l"/>
              <a:r>
                <a:rPr lang="tr-TR" sz="980" dirty="0">
                  <a:solidFill>
                    <a:srgbClr val="F0B0B0"/>
                  </a:solidFill>
                  <a:latin typeface="Consolas"/>
                  <a:ea typeface="Consolas"/>
                  <a:cs typeface="Consolas"/>
                </a:rPr>
                <a:t># + açık telefon numarası yazdırılıyor</a:t>
              </a:r>
            </a:p>
          </p:txBody>
        </p:sp>
      </p:grpSp>
      <p:grpSp>
        <p:nvGrpSpPr>
          <p:cNvPr id="35" name="after"/>
          <p:cNvGrpSpPr/>
          <p:nvPr/>
        </p:nvGrpSpPr>
        <p:grpSpPr>
          <a:xfrm>
            <a:off x="6324600" y="1219200"/>
            <a:ext cx="5257800" cy="3048000"/>
            <a:chOff x="6324600" y="1219200"/>
            <a:chExt cx="5257800" cy="3048000"/>
          </a:xfrm>
        </p:grpSpPr>
        <p:sp>
          <p:nvSpPr>
            <p:cNvPr id="24" name="Rectangle 24"/>
            <p:cNvSpPr/>
            <p:nvPr/>
          </p:nvSpPr>
          <p:spPr>
            <a:xfrm>
              <a:off x="6324600" y="1219200"/>
              <a:ext cx="5257800" cy="3048000"/>
            </a:xfrm>
            <a:prstGeom prst="roundRect">
              <a:avLst>
                <a:gd name="adj" fmla="val 3125"/>
              </a:avLst>
            </a:prstGeom>
            <a:solidFill>
              <a:srgbClr val="12355B"/>
            </a:solidFill>
            <a:ln>
              <a:noFill/>
            </a:ln>
          </p:spPr>
        </p:sp>
        <p:sp>
          <p:nvSpPr>
            <p:cNvPr id="25" name="TextBox 25"/>
            <p:cNvSpPr txBox="1"/>
            <p:nvPr/>
          </p:nvSpPr>
          <p:spPr>
            <a:xfrm>
              <a:off x="6566154" y="1375410"/>
              <a:ext cx="2830381" cy="234696"/>
            </a:xfrm>
            <a:prstGeom prst="rect">
              <a:avLst/>
            </a:prstGeom>
            <a:noFill/>
            <a:ln>
              <a:noFill/>
            </a:ln>
          </p:spPr>
          <p:txBody>
            <a:bodyPr wrap="none" lIns="0" tIns="0" rIns="0" bIns="0" anchor="t" anchorCtr="0">
              <a:spAutoFit/>
            </a:bodyPr>
            <a:lstStyle/>
            <a:p>
              <a:pPr algn="l"/>
              <a:r>
                <a:rPr lang="tr-TR" sz="1200" b="1" dirty="0">
                  <a:solidFill>
                    <a:srgbClr val="EAF4F6"/>
                  </a:solidFill>
                  <a:latin typeface="+mn-lt"/>
                  <a:ea typeface="+mn-ea"/>
                  <a:cs typeface="+mn-cs"/>
                </a:rPr>
                <a:t>HataAyiklama.python — düzeltilmiş</a:t>
              </a:r>
            </a:p>
          </p:txBody>
        </p:sp>
        <p:sp>
          <p:nvSpPr>
            <p:cNvPr id="26" name="TextBox 26"/>
            <p:cNvSpPr txBox="1"/>
            <p:nvPr/>
          </p:nvSpPr>
          <p:spPr>
            <a:xfrm>
              <a:off x="6566916" y="1677352"/>
              <a:ext cx="3664591"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def risk_orani_hesapla(olumlu:int, toplam:int):</a:t>
              </a:r>
            </a:p>
          </p:txBody>
        </p:sp>
        <p:sp>
          <p:nvSpPr>
            <p:cNvPr id="27" name="TextBox 27"/>
            <p:cNvSpPr txBox="1"/>
            <p:nvPr/>
          </p:nvSpPr>
          <p:spPr>
            <a:xfrm>
              <a:off x="6757416" y="1886902"/>
              <a:ext cx="2031987" cy="205359"/>
            </a:xfrm>
            <a:prstGeom prst="rect">
              <a:avLst/>
            </a:prstGeom>
            <a:noFill/>
            <a:ln>
              <a:noFill/>
            </a:ln>
          </p:spPr>
          <p:txBody>
            <a:bodyPr wrap="none" lIns="0" tIns="0" rIns="0" bIns="0" anchor="t" anchorCtr="0">
              <a:spAutoFit/>
            </a:bodyPr>
            <a:lstStyle/>
            <a:p>
              <a:pPr algn="l"/>
              <a:r>
                <a:rPr lang="tr-TR" sz="1050" dirty="0">
                  <a:solidFill>
                    <a:srgbClr val="2E7D32"/>
                  </a:solidFill>
                  <a:latin typeface="Consolas"/>
                  <a:ea typeface="Consolas"/>
                  <a:cs typeface="Consolas"/>
                </a:rPr>
                <a:t>if toplam == 0: return 0.0</a:t>
              </a:r>
            </a:p>
          </p:txBody>
        </p:sp>
        <p:sp>
          <p:nvSpPr>
            <p:cNvPr id="28" name="TextBox 28"/>
            <p:cNvSpPr txBox="1"/>
            <p:nvPr/>
          </p:nvSpPr>
          <p:spPr>
            <a:xfrm>
              <a:off x="6757416" y="2096452"/>
              <a:ext cx="1721015"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return olumlu / toplam</a:t>
              </a:r>
            </a:p>
          </p:txBody>
        </p:sp>
        <p:sp>
          <p:nvSpPr>
            <p:cNvPr id="29" name="TextBox 29"/>
            <p:cNvSpPr txBox="1"/>
            <p:nvPr/>
          </p:nvSpPr>
          <p:spPr>
            <a:xfrm>
              <a:off x="6566916" y="2382202"/>
              <a:ext cx="1807193" cy="205359"/>
            </a:xfrm>
            <a:prstGeom prst="rect">
              <a:avLst/>
            </a:prstGeom>
            <a:noFill/>
            <a:ln>
              <a:noFill/>
            </a:ln>
          </p:spPr>
          <p:txBody>
            <a:bodyPr wrap="none" lIns="0" tIns="0" rIns="0" bIns="0" anchor="t" anchorCtr="0">
              <a:spAutoFit/>
            </a:bodyPr>
            <a:lstStyle/>
            <a:p>
              <a:pPr algn="l"/>
              <a:r>
                <a:rPr lang="tr-TR" sz="1050" dirty="0">
                  <a:solidFill>
                    <a:srgbClr val="2E7D32"/>
                  </a:solidFill>
                  <a:latin typeface="Consolas"/>
                  <a:ea typeface="Consolas"/>
                  <a:cs typeface="Consolas"/>
                </a:rPr>
                <a:t>musteri_kodu = "M-1042"</a:t>
              </a:r>
            </a:p>
          </p:txBody>
        </p:sp>
        <p:sp>
          <p:nvSpPr>
            <p:cNvPr id="30" name="TextBox 30"/>
            <p:cNvSpPr txBox="1"/>
            <p:nvPr/>
          </p:nvSpPr>
          <p:spPr>
            <a:xfrm>
              <a:off x="6566916" y="2591752"/>
              <a:ext cx="2109730" cy="205359"/>
            </a:xfrm>
            <a:prstGeom prst="rect">
              <a:avLst/>
            </a:prstGeom>
            <a:noFill/>
            <a:ln>
              <a:noFill/>
            </a:ln>
          </p:spPr>
          <p:txBody>
            <a:bodyPr wrap="none" lIns="0" tIns="0" rIns="0" bIns="0" anchor="t" anchorCtr="0">
              <a:spAutoFit/>
            </a:bodyPr>
            <a:lstStyle/>
            <a:p>
              <a:pPr algn="l"/>
              <a:r>
                <a:rPr lang="tr-TR" sz="1050" dirty="0">
                  <a:solidFill>
                    <a:srgbClr val="2E7D32"/>
                  </a:solidFill>
                  <a:latin typeface="Consolas"/>
                  <a:ea typeface="Consolas"/>
                  <a:cs typeface="Consolas"/>
                </a:rPr>
                <a:t>kayma_farki = float("12.5")</a:t>
              </a:r>
            </a:p>
          </p:txBody>
        </p:sp>
        <p:sp>
          <p:nvSpPr>
            <p:cNvPr id="31" name="TextBox 31"/>
            <p:cNvSpPr txBox="1"/>
            <p:nvPr/>
          </p:nvSpPr>
          <p:spPr>
            <a:xfrm>
              <a:off x="6566916" y="2801302"/>
              <a:ext cx="1565529"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if kayma_farki &gt; 10:</a:t>
              </a:r>
            </a:p>
          </p:txBody>
        </p:sp>
        <p:sp>
          <p:nvSpPr>
            <p:cNvPr id="32" name="TextBox 32"/>
            <p:cNvSpPr txBox="1"/>
            <p:nvPr/>
          </p:nvSpPr>
          <p:spPr>
            <a:xfrm>
              <a:off x="6757416" y="3010852"/>
              <a:ext cx="3382289"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print(f"UYARI: {musteri_kodu} incelenmeli")</a:t>
              </a:r>
            </a:p>
          </p:txBody>
        </p:sp>
        <p:sp>
          <p:nvSpPr>
            <p:cNvPr id="33" name="TextBox 33"/>
            <p:cNvSpPr txBox="1"/>
            <p:nvPr/>
          </p:nvSpPr>
          <p:spPr>
            <a:xfrm>
              <a:off x="6566916" y="3296602"/>
              <a:ext cx="3703371"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&gt;&gt;&gt; UYARI: M-1042 segmentinde inceleme gerekli.</a:t>
              </a:r>
            </a:p>
          </p:txBody>
        </p:sp>
        <p:sp>
          <p:nvSpPr>
            <p:cNvPr id="34" name="TextBox 34"/>
            <p:cNvSpPr txBox="1"/>
            <p:nvPr/>
          </p:nvSpPr>
          <p:spPr>
            <a:xfrm>
              <a:off x="6566916" y="3506152"/>
              <a:ext cx="1575308"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&gt;&gt;&gt; Risk oranı: 0.00</a:t>
              </a:r>
            </a:p>
          </p:txBody>
        </p:sp>
      </p:grpSp>
      <p:grpSp>
        <p:nvGrpSpPr>
          <p:cNvPr id="41" name="error-list"/>
          <p:cNvGrpSpPr/>
          <p:nvPr/>
        </p:nvGrpSpPr>
        <p:grpSpPr>
          <a:xfrm>
            <a:off x="601599" y="4535329"/>
            <a:ext cx="10980801" cy="1179671"/>
            <a:chOff x="601599" y="4535329"/>
            <a:chExt cx="10980801" cy="1179671"/>
          </a:xfrm>
        </p:grpSpPr>
        <p:sp>
          <p:nvSpPr>
            <p:cNvPr id="36" name="TextBox 36"/>
            <p:cNvSpPr txBox="1"/>
            <p:nvPr/>
          </p:nvSpPr>
          <p:spPr>
            <a:xfrm>
              <a:off x="601599" y="4535329"/>
              <a:ext cx="132923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Hata türleri</a:t>
              </a:r>
            </a:p>
          </p:txBody>
        </p:sp>
        <p:sp>
          <p:nvSpPr>
            <p:cNvPr id="37" name="TextBox 37"/>
            <p:cNvSpPr txBox="1"/>
            <p:nvPr/>
          </p:nvSpPr>
          <p:spPr>
            <a:xfrm>
              <a:off x="603504" y="4842510"/>
              <a:ext cx="949559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1. kayma_farki metindir; karşılaştırmada tür hatası üretir. 2. toplam_sayi sıfır olduğunda ZeroDivisionError oluşur.</a:t>
              </a:r>
            </a:p>
          </p:txBody>
        </p:sp>
        <p:sp>
          <p:nvSpPr>
            <p:cNvPr id="38" name="TextBox 38"/>
            <p:cNvSpPr txBox="1"/>
            <p:nvPr/>
          </p:nvSpPr>
          <p:spPr>
            <a:xfrm>
              <a:off x="603504" y="5071110"/>
              <a:ext cx="1002286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3. Telefon numarası kişisel veri olarak doğrudan yazdırılmaktadır. 4. Kayma eşiğinin gerekçesi ve kayıt mekanizması yoktur.</a:t>
              </a:r>
            </a:p>
          </p:txBody>
        </p:sp>
        <p:sp>
          <p:nvSpPr>
            <p:cNvPr id="39" name="Rectangle 39"/>
            <p:cNvSpPr/>
            <p:nvPr/>
          </p:nvSpPr>
          <p:spPr>
            <a:xfrm>
              <a:off x="609600" y="5391150"/>
              <a:ext cx="10972800" cy="323850"/>
            </a:xfrm>
            <a:prstGeom prst="roundRect">
              <a:avLst>
                <a:gd name="adj" fmla="val 17647"/>
              </a:avLst>
            </a:prstGeom>
            <a:solidFill>
              <a:srgbClr val="EAF4F6"/>
            </a:solidFill>
            <a:ln>
              <a:noFill/>
            </a:ln>
          </p:spPr>
        </p:sp>
        <p:sp>
          <p:nvSpPr>
            <p:cNvPr id="40" name="TextBox 40"/>
            <p:cNvSpPr txBox="1"/>
            <p:nvPr/>
          </p:nvSpPr>
          <p:spPr>
            <a:xfrm>
              <a:off x="832104" y="5471160"/>
              <a:ext cx="923696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Beklenen çıktı: tür ve sıfıra bölme hatası vermeden uyarı üretir; açık telefon numarası günlükte görünmez.</a:t>
              </a:r>
            </a:p>
          </p:txBody>
        </p:sp>
      </p:grpSp>
      <p:sp>
        <p:nvSpPr>
          <p:cNvPr id="42" name="TextBox 4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 / 25</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257174" cy="557403"/>
            <a:chOff x="595122" y="282892"/>
            <a:chExt cx="2257174" cy="557403"/>
          </a:xfrm>
        </p:grpSpPr>
        <p:sp>
          <p:nvSpPr>
            <p:cNvPr id="4" name="TextBox 4"/>
            <p:cNvSpPr txBox="1"/>
            <p:nvPr/>
          </p:nvSpPr>
          <p:spPr>
            <a:xfrm>
              <a:off x="595122" y="282892"/>
              <a:ext cx="22571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özeti</a:t>
              </a:r>
            </a:p>
          </p:txBody>
        </p:sp>
      </p:grpSp>
      <p:grpSp>
        <p:nvGrpSpPr>
          <p:cNvPr id="9" name="summary-bigdata"/>
          <p:cNvGrpSpPr/>
          <p:nvPr/>
        </p:nvGrpSpPr>
        <p:grpSpPr>
          <a:xfrm>
            <a:off x="609600" y="1333500"/>
            <a:ext cx="3505200" cy="1524000"/>
            <a:chOff x="609600" y="1333500"/>
            <a:chExt cx="3505200" cy="1524000"/>
          </a:xfrm>
        </p:grpSpPr>
        <p:sp>
          <p:nvSpPr>
            <p:cNvPr id="6" name="Rectangle 6"/>
            <p:cNvSpPr/>
            <p:nvPr/>
          </p:nvSpPr>
          <p:spPr>
            <a:xfrm>
              <a:off x="609600" y="1333500"/>
              <a:ext cx="3505200" cy="1524000"/>
            </a:xfrm>
            <a:prstGeom prst="roundRect">
              <a:avLst>
                <a:gd name="adj" fmla="val 6250"/>
              </a:avLst>
            </a:prstGeom>
            <a:solidFill>
              <a:srgbClr val="FFFFFF"/>
            </a:solidFill>
            <a:ln w="14288">
              <a:solidFill>
                <a:srgbClr val="B8CBD3"/>
              </a:solidFill>
            </a:ln>
          </p:spPr>
        </p:sp>
        <p:sp>
          <p:nvSpPr>
            <p:cNvPr id="7" name="TextBox 7"/>
            <p:cNvSpPr txBox="1"/>
            <p:nvPr/>
          </p:nvSpPr>
          <p:spPr>
            <a:xfrm>
              <a:off x="829056" y="1520190"/>
              <a:ext cx="129844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Büyük veri</a:t>
              </a:r>
            </a:p>
          </p:txBody>
        </p:sp>
        <p:sp>
          <p:nvSpPr>
            <p:cNvPr id="8" name="TextBox 8"/>
            <p:cNvSpPr txBox="1"/>
            <p:nvPr/>
          </p:nvSpPr>
          <p:spPr>
            <a:xfrm>
              <a:off x="832104" y="1908810"/>
              <a:ext cx="19171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Belleğe sığmayan veriyi</a:t>
              </a:r>
              <a:br/>
              <a:r>
                <a:rPr lang="tr-TR" sz="1200" dirty="0">
                  <a:solidFill>
                    <a:srgbClr val="172B3A"/>
                  </a:solidFill>
                  <a:latin typeface="+mn-lt"/>
                  <a:ea typeface="+mn-ea"/>
                  <a:cs typeface="+mn-cs"/>
                </a:rPr>
                <a:t>generator ile parça parça</a:t>
              </a:r>
              <a:br/>
              <a:r>
                <a:rPr lang="tr-TR" sz="1200" dirty="0">
                  <a:solidFill>
                    <a:srgbClr val="172B3A"/>
                  </a:solidFill>
                  <a:latin typeface="+mn-lt"/>
                  <a:ea typeface="+mn-ea"/>
                  <a:cs typeface="+mn-cs"/>
                </a:rPr>
                <a:t>(chunk) işlemek.</a:t>
              </a:r>
            </a:p>
          </p:txBody>
        </p:sp>
      </p:grpSp>
      <p:grpSp>
        <p:nvGrpSpPr>
          <p:cNvPr id="13" name="summary-mlops"/>
          <p:cNvGrpSpPr/>
          <p:nvPr/>
        </p:nvGrpSpPr>
        <p:grpSpPr>
          <a:xfrm>
            <a:off x="4343400" y="1333500"/>
            <a:ext cx="3505200" cy="1524000"/>
            <a:chOff x="4343400" y="1333500"/>
            <a:chExt cx="3505200" cy="1524000"/>
          </a:xfrm>
        </p:grpSpPr>
        <p:sp>
          <p:nvSpPr>
            <p:cNvPr id="10" name="Rectangle 10"/>
            <p:cNvSpPr/>
            <p:nvPr/>
          </p:nvSpPr>
          <p:spPr>
            <a:xfrm>
              <a:off x="4343400" y="1333500"/>
              <a:ext cx="3505200" cy="1524000"/>
            </a:xfrm>
            <a:prstGeom prst="roundRect">
              <a:avLst>
                <a:gd name="adj" fmla="val 6250"/>
              </a:avLst>
            </a:prstGeom>
            <a:solidFill>
              <a:srgbClr val="FFFFFF"/>
            </a:solidFill>
            <a:ln w="14288">
              <a:solidFill>
                <a:srgbClr val="B8CBD3"/>
              </a:solidFill>
            </a:ln>
          </p:spPr>
        </p:sp>
        <p:sp>
          <p:nvSpPr>
            <p:cNvPr id="11" name="TextBox 11"/>
            <p:cNvSpPr txBox="1"/>
            <p:nvPr/>
          </p:nvSpPr>
          <p:spPr>
            <a:xfrm>
              <a:off x="4562856" y="1520190"/>
              <a:ext cx="84696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MLOps</a:t>
              </a:r>
            </a:p>
          </p:txBody>
        </p:sp>
        <p:sp>
          <p:nvSpPr>
            <p:cNvPr id="12" name="TextBox 12"/>
            <p:cNvSpPr txBox="1"/>
            <p:nvPr/>
          </p:nvSpPr>
          <p:spPr>
            <a:xfrm>
              <a:off x="4565904" y="1908810"/>
              <a:ext cx="24353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Model, veri ve kodu sürümlemek;</a:t>
              </a:r>
              <a:br/>
              <a:r>
                <a:rPr lang="tr-TR" sz="1200" dirty="0">
                  <a:solidFill>
                    <a:srgbClr val="172B3A"/>
                  </a:solidFill>
                  <a:latin typeface="+mn-lt"/>
                  <a:ea typeface="+mn-ea"/>
                  <a:cs typeface="+mn-cs"/>
                </a:rPr>
                <a:t>her tahmini sürüm ve zaman</a:t>
              </a:r>
              <a:br/>
              <a:r>
                <a:rPr lang="tr-TR" sz="1200" dirty="0">
                  <a:solidFill>
                    <a:srgbClr val="172B3A"/>
                  </a:solidFill>
                  <a:latin typeface="+mn-lt"/>
                  <a:ea typeface="+mn-ea"/>
                  <a:cs typeface="+mn-cs"/>
                </a:rPr>
                <a:t>damgasıyla kaydetmek.</a:t>
              </a:r>
            </a:p>
          </p:txBody>
        </p:sp>
      </p:grpSp>
      <p:grpSp>
        <p:nvGrpSpPr>
          <p:cNvPr id="17" name="summary-drift"/>
          <p:cNvGrpSpPr/>
          <p:nvPr/>
        </p:nvGrpSpPr>
        <p:grpSpPr>
          <a:xfrm>
            <a:off x="8077200" y="1333500"/>
            <a:ext cx="3505200" cy="1524000"/>
            <a:chOff x="8077200" y="1333500"/>
            <a:chExt cx="3505200" cy="1524000"/>
          </a:xfrm>
        </p:grpSpPr>
        <p:sp>
          <p:nvSpPr>
            <p:cNvPr id="14" name="Rectangle 14"/>
            <p:cNvSpPr/>
            <p:nvPr/>
          </p:nvSpPr>
          <p:spPr>
            <a:xfrm>
              <a:off x="8077200" y="1333500"/>
              <a:ext cx="3505200" cy="1524000"/>
            </a:xfrm>
            <a:prstGeom prst="roundRect">
              <a:avLst>
                <a:gd name="adj" fmla="val 6250"/>
              </a:avLst>
            </a:prstGeom>
            <a:solidFill>
              <a:srgbClr val="FFFFFF"/>
            </a:solidFill>
            <a:ln w="14288">
              <a:solidFill>
                <a:srgbClr val="B8CBD3"/>
              </a:solidFill>
            </a:ln>
          </p:spPr>
        </p:sp>
        <p:sp>
          <p:nvSpPr>
            <p:cNvPr id="15" name="TextBox 15"/>
            <p:cNvSpPr txBox="1"/>
            <p:nvPr/>
          </p:nvSpPr>
          <p:spPr>
            <a:xfrm>
              <a:off x="8296656" y="1520190"/>
              <a:ext cx="202427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Kavram kayması</a:t>
              </a:r>
            </a:p>
          </p:txBody>
        </p:sp>
        <p:sp>
          <p:nvSpPr>
            <p:cNvPr id="16" name="TextBox 16"/>
            <p:cNvSpPr txBox="1"/>
            <p:nvPr/>
          </p:nvSpPr>
          <p:spPr>
            <a:xfrm>
              <a:off x="8299704" y="1908810"/>
              <a:ext cx="22067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Referans ve güncel ortalama</a:t>
              </a:r>
              <a:br/>
              <a:r>
                <a:rPr lang="tr-TR" sz="1200" dirty="0">
                  <a:solidFill>
                    <a:srgbClr val="172B3A"/>
                  </a:solidFill>
                  <a:latin typeface="+mn-lt"/>
                  <a:ea typeface="+mn-ea"/>
                  <a:cs typeface="+mn-cs"/>
                </a:rPr>
                <a:t>farkını izleyip eşik aşımında</a:t>
              </a:r>
              <a:br/>
              <a:r>
                <a:rPr lang="tr-TR" sz="1200" dirty="0">
                  <a:solidFill>
                    <a:srgbClr val="172B3A"/>
                  </a:solidFill>
                  <a:latin typeface="+mn-lt"/>
                  <a:ea typeface="+mn-ea"/>
                  <a:cs typeface="+mn-cs"/>
                </a:rPr>
                <a:t>insan incelemesi tetiklemek.</a:t>
              </a:r>
            </a:p>
          </p:txBody>
        </p:sp>
      </p:grpSp>
      <p:grpSp>
        <p:nvGrpSpPr>
          <p:cNvPr id="21" name="summary-fairness"/>
          <p:cNvGrpSpPr/>
          <p:nvPr/>
        </p:nvGrpSpPr>
        <p:grpSpPr>
          <a:xfrm>
            <a:off x="609600" y="3143250"/>
            <a:ext cx="3505200" cy="1524000"/>
            <a:chOff x="609600" y="3143250"/>
            <a:chExt cx="3505200" cy="1524000"/>
          </a:xfrm>
        </p:grpSpPr>
        <p:sp>
          <p:nvSpPr>
            <p:cNvPr id="18" name="Rectangle 18"/>
            <p:cNvSpPr/>
            <p:nvPr/>
          </p:nvSpPr>
          <p:spPr>
            <a:xfrm>
              <a:off x="609600" y="3143250"/>
              <a:ext cx="3505200" cy="1524000"/>
            </a:xfrm>
            <a:prstGeom prst="roundRect">
              <a:avLst>
                <a:gd name="adj" fmla="val 6250"/>
              </a:avLst>
            </a:prstGeom>
            <a:solidFill>
              <a:srgbClr val="FFFFFF"/>
            </a:solidFill>
            <a:ln w="14288">
              <a:solidFill>
                <a:srgbClr val="B8CBD3"/>
              </a:solidFill>
            </a:ln>
          </p:spPr>
        </p:sp>
        <p:sp>
          <p:nvSpPr>
            <p:cNvPr id="19" name="TextBox 19"/>
            <p:cNvSpPr txBox="1"/>
            <p:nvPr/>
          </p:nvSpPr>
          <p:spPr>
            <a:xfrm>
              <a:off x="829056" y="3329940"/>
              <a:ext cx="74928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Adillik</a:t>
              </a:r>
            </a:p>
          </p:txBody>
        </p:sp>
        <p:sp>
          <p:nvSpPr>
            <p:cNvPr id="20" name="TextBox 20"/>
            <p:cNvSpPr txBox="1"/>
            <p:nvPr/>
          </p:nvSpPr>
          <p:spPr>
            <a:xfrm>
              <a:off x="832104" y="3718560"/>
              <a:ext cx="24201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Grup bazlı demografik parite ve</a:t>
              </a:r>
              <a:br/>
              <a:r>
                <a:rPr lang="tr-TR" sz="1200" dirty="0">
                  <a:solidFill>
                    <a:srgbClr val="172B3A"/>
                  </a:solidFill>
                  <a:latin typeface="+mn-lt"/>
                  <a:ea typeface="+mn-ea"/>
                  <a:cs typeface="+mn-cs"/>
                </a:rPr>
                <a:t>eşit fırsat farklarını ölçmek;</a:t>
              </a:r>
              <a:br/>
              <a:r>
                <a:rPr lang="tr-TR" sz="1200" dirty="0">
                  <a:solidFill>
                    <a:srgbClr val="172B3A"/>
                  </a:solidFill>
                  <a:latin typeface="+mn-lt"/>
                  <a:ea typeface="+mn-ea"/>
                  <a:cs typeface="+mn-cs"/>
                </a:rPr>
                <a:t>vekil değişkenlere dikkat etmek.</a:t>
              </a:r>
            </a:p>
          </p:txBody>
        </p:sp>
      </p:grpSp>
      <p:grpSp>
        <p:nvGrpSpPr>
          <p:cNvPr id="25" name="summary-kvkk"/>
          <p:cNvGrpSpPr/>
          <p:nvPr/>
        </p:nvGrpSpPr>
        <p:grpSpPr>
          <a:xfrm>
            <a:off x="4343400" y="3143250"/>
            <a:ext cx="3505200" cy="1524000"/>
            <a:chOff x="4343400" y="3143250"/>
            <a:chExt cx="3505200" cy="1524000"/>
          </a:xfrm>
        </p:grpSpPr>
        <p:sp>
          <p:nvSpPr>
            <p:cNvPr id="22" name="Rectangle 22"/>
            <p:cNvSpPr/>
            <p:nvPr/>
          </p:nvSpPr>
          <p:spPr>
            <a:xfrm>
              <a:off x="4343400" y="3143250"/>
              <a:ext cx="3505200" cy="1524000"/>
            </a:xfrm>
            <a:prstGeom prst="roundRect">
              <a:avLst>
                <a:gd name="adj" fmla="val 6250"/>
              </a:avLst>
            </a:prstGeom>
            <a:solidFill>
              <a:srgbClr val="FFFFFF"/>
            </a:solidFill>
            <a:ln w="14288">
              <a:solidFill>
                <a:srgbClr val="B8CBD3"/>
              </a:solidFill>
            </a:ln>
          </p:spPr>
        </p:sp>
        <p:sp>
          <p:nvSpPr>
            <p:cNvPr id="23" name="TextBox 23"/>
            <p:cNvSpPr txBox="1"/>
            <p:nvPr/>
          </p:nvSpPr>
          <p:spPr>
            <a:xfrm>
              <a:off x="4562856" y="3329940"/>
              <a:ext cx="263325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KVKK ve minimizasyon</a:t>
              </a:r>
            </a:p>
          </p:txBody>
        </p:sp>
        <p:sp>
          <p:nvSpPr>
            <p:cNvPr id="24" name="TextBox 24"/>
            <p:cNvSpPr txBox="1"/>
            <p:nvPr/>
          </p:nvSpPr>
          <p:spPr>
            <a:xfrm>
              <a:off x="4565904" y="3718560"/>
              <a:ext cx="23134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Yalnızca amaçla ilişkili alanları</a:t>
              </a:r>
              <a:br/>
              <a:r>
                <a:rPr lang="tr-TR" sz="1200" dirty="0">
                  <a:solidFill>
                    <a:srgbClr val="172B3A"/>
                  </a:solidFill>
                  <a:latin typeface="+mn-lt"/>
                  <a:ea typeface="+mn-ea"/>
                  <a:cs typeface="+mn-cs"/>
                </a:rPr>
                <a:t>saklamak; kişisel verileri</a:t>
              </a:r>
              <a:br/>
              <a:r>
                <a:rPr lang="tr-TR" sz="1200" dirty="0">
                  <a:solidFill>
                    <a:srgbClr val="172B3A"/>
                  </a:solidFill>
                  <a:latin typeface="+mn-lt"/>
                  <a:ea typeface="+mn-ea"/>
                  <a:cs typeface="+mn-cs"/>
                </a:rPr>
                <a:t>maskelemek.</a:t>
              </a:r>
            </a:p>
          </p:txBody>
        </p:sp>
      </p:grpSp>
      <p:grpSp>
        <p:nvGrpSpPr>
          <p:cNvPr id="29" name="summary-trace"/>
          <p:cNvGrpSpPr/>
          <p:nvPr/>
        </p:nvGrpSpPr>
        <p:grpSpPr>
          <a:xfrm>
            <a:off x="8077200" y="3143250"/>
            <a:ext cx="3505200" cy="1524000"/>
            <a:chOff x="8077200" y="3143250"/>
            <a:chExt cx="3505200" cy="1524000"/>
          </a:xfrm>
        </p:grpSpPr>
        <p:sp>
          <p:nvSpPr>
            <p:cNvPr id="26" name="Rectangle 26"/>
            <p:cNvSpPr/>
            <p:nvPr/>
          </p:nvSpPr>
          <p:spPr>
            <a:xfrm>
              <a:off x="8077200" y="3143250"/>
              <a:ext cx="3505200" cy="1524000"/>
            </a:xfrm>
            <a:prstGeom prst="roundRect">
              <a:avLst>
                <a:gd name="adj" fmla="val 6250"/>
              </a:avLst>
            </a:prstGeom>
            <a:solidFill>
              <a:srgbClr val="FFFFFF"/>
            </a:solidFill>
            <a:ln w="14288">
              <a:solidFill>
                <a:srgbClr val="00A6A6"/>
              </a:solidFill>
            </a:ln>
          </p:spPr>
        </p:sp>
        <p:sp>
          <p:nvSpPr>
            <p:cNvPr id="27" name="TextBox 27"/>
            <p:cNvSpPr txBox="1"/>
            <p:nvPr/>
          </p:nvSpPr>
          <p:spPr>
            <a:xfrm>
              <a:off x="8296656" y="3329940"/>
              <a:ext cx="160214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İzlenebilirlik</a:t>
              </a:r>
            </a:p>
          </p:txBody>
        </p:sp>
        <p:sp>
          <p:nvSpPr>
            <p:cNvPr id="28" name="TextBox 28"/>
            <p:cNvSpPr txBox="1"/>
            <p:nvPr/>
          </p:nvSpPr>
          <p:spPr>
            <a:xfrm>
              <a:off x="8299704" y="3718560"/>
              <a:ext cx="22905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Etik inceleme ve kayıt deposu,</a:t>
              </a:r>
              <a:br/>
              <a:r>
                <a:rPr lang="tr-TR" sz="1200" dirty="0">
                  <a:solidFill>
                    <a:srgbClr val="172B3A"/>
                  </a:solidFill>
                  <a:latin typeface="+mn-lt"/>
                  <a:ea typeface="+mn-ea"/>
                  <a:cs typeface="+mn-cs"/>
                </a:rPr>
                <a:t>tahminin hesap verebilirliğini</a:t>
              </a:r>
              <a:br/>
              <a:r>
                <a:rPr lang="tr-TR" sz="1200" dirty="0">
                  <a:solidFill>
                    <a:srgbClr val="172B3A"/>
                  </a:solidFill>
                  <a:latin typeface="+mn-lt"/>
                  <a:ea typeface="+mn-ea"/>
                  <a:cs typeface="+mn-cs"/>
                </a:rPr>
                <a:t>güvence altına alır.</a:t>
              </a:r>
            </a:p>
          </p:txBody>
        </p:sp>
      </p:grpSp>
      <p:grpSp>
        <p:nvGrpSpPr>
          <p:cNvPr id="33" name="exam-note"/>
          <p:cNvGrpSpPr/>
          <p:nvPr/>
        </p:nvGrpSpPr>
        <p:grpSpPr>
          <a:xfrm>
            <a:off x="609600" y="5048250"/>
            <a:ext cx="10972800" cy="952500"/>
            <a:chOff x="609600" y="5048250"/>
            <a:chExt cx="10972800" cy="952500"/>
          </a:xfrm>
        </p:grpSpPr>
        <p:sp>
          <p:nvSpPr>
            <p:cNvPr id="30" name="Rectangle 30"/>
            <p:cNvSpPr/>
            <p:nvPr/>
          </p:nvSpPr>
          <p:spPr>
            <a:xfrm>
              <a:off x="609600" y="5048250"/>
              <a:ext cx="10972800" cy="952500"/>
            </a:xfrm>
            <a:prstGeom prst="roundRect">
              <a:avLst>
                <a:gd name="adj" fmla="val 8000"/>
              </a:avLst>
            </a:prstGeom>
            <a:solidFill>
              <a:srgbClr val="EAF4F6"/>
            </a:solidFill>
            <a:ln>
              <a:noFill/>
            </a:ln>
          </p:spPr>
        </p:sp>
        <p:sp>
          <p:nvSpPr>
            <p:cNvPr id="31" name="TextBox 31"/>
            <p:cNvSpPr txBox="1"/>
            <p:nvPr/>
          </p:nvSpPr>
          <p:spPr>
            <a:xfrm>
              <a:off x="906018" y="5174932"/>
              <a:ext cx="6276546" cy="589407"/>
            </a:xfrm>
            <a:prstGeom prst="rect">
              <a:avLst/>
            </a:prstGeom>
            <a:noFill/>
            <a:ln>
              <a:noFill/>
            </a:ln>
          </p:spPr>
          <p:txBody>
            <a:bodyPr wrap="none" lIns="0" tIns="0" rIns="0" bIns="0" anchor="t" anchorCtr="0">
              <a:spAutoFit/>
            </a:bodyPr>
            <a:lstStyle/>
            <a:p>
              <a:pPr algn="l">
                <a:lnSpc>
                  <a:spcPts val="2100"/>
                </a:lnSpc>
              </a:pPr>
              <a:r>
                <a:rPr lang="tr-TR" sz="1650" b="1" dirty="0">
                  <a:solidFill>
                    <a:srgbClr val="12355B"/>
                  </a:solidFill>
                  <a:latin typeface="+mn-lt"/>
                  <a:ea typeface="+mn-ea"/>
                  <a:cs typeface="+mn-cs"/>
                </a:rPr>
                <a:t>Bir modelin "çalışıyor olması", güvenilir biçimde üretimde</a:t>
              </a:r>
              <a:br/>
              <a:r>
                <a:rPr lang="tr-TR" sz="1650" b="1" dirty="0">
                  <a:solidFill>
                    <a:srgbClr val="12355B"/>
                  </a:solidFill>
                  <a:latin typeface="+mn-lt"/>
                  <a:ea typeface="+mn-ea"/>
                  <a:cs typeface="+mn-cs"/>
                </a:rPr>
                <a:t>yaşadığı anlamına gelmez.</a:t>
              </a:r>
            </a:p>
          </p:txBody>
        </p:sp>
        <p:sp>
          <p:nvSpPr>
            <p:cNvPr id="32" name="TextBox 32"/>
            <p:cNvSpPr txBox="1"/>
            <p:nvPr/>
          </p:nvSpPr>
          <p:spPr>
            <a:xfrm>
              <a:off x="6089142" y="5207318"/>
              <a:ext cx="3965638" cy="492633"/>
            </a:xfrm>
            <a:prstGeom prst="rect">
              <a:avLst/>
            </a:prstGeom>
            <a:noFill/>
            <a:ln>
              <a:noFill/>
            </a:ln>
          </p:spPr>
          <p:txBody>
            <a:bodyPr wrap="none" lIns="0" tIns="0" rIns="0" bIns="0" anchor="t" anchorCtr="0">
              <a:spAutoFit/>
            </a:bodyPr>
            <a:lstStyle/>
            <a:p>
              <a:pPr algn="l">
                <a:lnSpc>
                  <a:spcPts val="1800"/>
                </a:lnSpc>
              </a:pPr>
              <a:r>
                <a:rPr lang="tr-TR" sz="1350" dirty="0">
                  <a:solidFill>
                    <a:srgbClr val="52616B"/>
                  </a:solidFill>
                  <a:latin typeface="+mn-lt"/>
                  <a:ea typeface="+mn-ea"/>
                  <a:cs typeface="+mn-cs"/>
                </a:rPr>
                <a:t>İzleme, adillik ve KVKK denetimi tek bir raporda</a:t>
              </a:r>
              <a:br/>
              <a:r>
                <a:rPr lang="tr-TR" sz="1350" dirty="0">
                  <a:solidFill>
                    <a:srgbClr val="52616B"/>
                  </a:solidFill>
                  <a:latin typeface="+mn-lt"/>
                  <a:ea typeface="+mn-ea"/>
                  <a:cs typeface="+mn-cs"/>
                </a:rPr>
                <a:t>buluşur ama birbirinin yerine geçmez.</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24 / 25</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sp>
        <p:nvSpPr>
          <p:cNvPr id="4" name="Line 4"/>
          <p:cNvSpPr/>
          <p:nvPr/>
        </p:nvSpPr>
        <p:spPr>
          <a:xfrm>
            <a:off x="4476750" y="3810000"/>
            <a:ext cx="2190750" cy="1"/>
          </a:xfrm>
          <a:prstGeom prst="line">
            <a:avLst/>
          </a:prstGeom>
          <a:noFill/>
          <a:ln w="28575">
            <a:solidFill>
              <a:srgbClr val="00A6A6"/>
            </a:solidFill>
            <a:tailEnd type="arrow" w="lg" len="lg"/>
          </a:ln>
        </p:spPr>
      </p:sp>
      <p:grpSp>
        <p:nvGrpSpPr>
          <p:cNvPr id="6" name="page-title"/>
          <p:cNvGrpSpPr/>
          <p:nvPr/>
        </p:nvGrpSpPr>
        <p:grpSpPr>
          <a:xfrm>
            <a:off x="595122" y="282892"/>
            <a:ext cx="4150951" cy="557403"/>
            <a:chOff x="595122" y="282892"/>
            <a:chExt cx="4150951" cy="557403"/>
          </a:xfrm>
        </p:grpSpPr>
        <p:sp>
          <p:nvSpPr>
            <p:cNvPr id="5" name="TextBox 5"/>
            <p:cNvSpPr txBox="1"/>
            <p:nvPr/>
          </p:nvSpPr>
          <p:spPr>
            <a:xfrm>
              <a:off x="595122" y="282892"/>
              <a:ext cx="41509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Sonraki bölüme köprü</a:t>
              </a:r>
            </a:p>
          </p:txBody>
        </p:sp>
      </p:grpSp>
      <p:grpSp>
        <p:nvGrpSpPr>
          <p:cNvPr id="8" name="bridge-claim"/>
          <p:cNvGrpSpPr/>
          <p:nvPr/>
        </p:nvGrpSpPr>
        <p:grpSpPr>
          <a:xfrm>
            <a:off x="599694" y="1484948"/>
            <a:ext cx="8848535" cy="724281"/>
            <a:chOff x="599694" y="1484948"/>
            <a:chExt cx="8848535" cy="724281"/>
          </a:xfrm>
        </p:grpSpPr>
        <p:sp>
          <p:nvSpPr>
            <p:cNvPr id="7" name="TextBox 7"/>
            <p:cNvSpPr txBox="1"/>
            <p:nvPr/>
          </p:nvSpPr>
          <p:spPr>
            <a:xfrm>
              <a:off x="599694" y="1484948"/>
              <a:ext cx="8848535" cy="724281"/>
            </a:xfrm>
            <a:prstGeom prst="rect">
              <a:avLst/>
            </a:prstGeom>
            <a:noFill/>
            <a:ln>
              <a:noFill/>
            </a:ln>
          </p:spPr>
          <p:txBody>
            <a:bodyPr wrap="none" lIns="0" tIns="0" rIns="0" bIns="0" anchor="t" anchorCtr="0">
              <a:spAutoFit/>
            </a:bodyPr>
            <a:lstStyle/>
            <a:p>
              <a:pPr algn="l">
                <a:lnSpc>
                  <a:spcPts val="2700"/>
                </a:lnSpc>
              </a:pPr>
              <a:r>
                <a:rPr lang="tr-TR" sz="1950" dirty="0">
                  <a:solidFill>
                    <a:srgbClr val="172B3A"/>
                  </a:solidFill>
                  <a:latin typeface="+mn-lt"/>
                  <a:ea typeface="+mn-ea"/>
                  <a:cs typeface="+mn-cs"/>
                </a:rPr>
                <a:t>Açıklama araçları "neden bu tahmin?" sorusuna, bu bölümdeki araçlar ise</a:t>
              </a:r>
              <a:br/>
              <a:r>
                <a:rPr lang="tr-TR" sz="1950" dirty="0">
                  <a:solidFill>
                    <a:srgbClr val="172B3A"/>
                  </a:solidFill>
                  <a:latin typeface="+mn-lt"/>
                  <a:ea typeface="+mn-ea"/>
                  <a:cs typeface="+mn-cs"/>
                </a:rPr>
                <a:t>"bu tahmin hâlâ güvenilir ve adil mi?" sorusuna yanıt verir.</a:t>
              </a:r>
            </a:p>
          </p:txBody>
        </p:sp>
      </p:grpSp>
      <p:grpSp>
        <p:nvGrpSpPr>
          <p:cNvPr id="16" name="bridge-now"/>
          <p:cNvGrpSpPr/>
          <p:nvPr/>
        </p:nvGrpSpPr>
        <p:grpSpPr>
          <a:xfrm>
            <a:off x="599694" y="2761298"/>
            <a:ext cx="2646140" cy="2297525"/>
            <a:chOff x="599694" y="2761298"/>
            <a:chExt cx="2646140" cy="2297525"/>
          </a:xfrm>
        </p:grpSpPr>
        <p:sp>
          <p:nvSpPr>
            <p:cNvPr id="9" name="TextBox 9"/>
            <p:cNvSpPr txBox="1"/>
            <p:nvPr/>
          </p:nvSpPr>
          <p:spPr>
            <a:xfrm>
              <a:off x="599694" y="2761298"/>
              <a:ext cx="264614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Artık yapabilirsiniz</a:t>
              </a:r>
            </a:p>
          </p:txBody>
        </p:sp>
        <p:sp>
          <p:nvSpPr>
            <p:cNvPr id="10" name="Rectangle 10"/>
            <p:cNvSpPr/>
            <p:nvPr/>
          </p:nvSpPr>
          <p:spPr>
            <a:xfrm>
              <a:off x="609600" y="3238500"/>
              <a:ext cx="57150" cy="285750"/>
            </a:xfrm>
            <a:prstGeom prst="rect">
              <a:avLst/>
            </a:prstGeom>
            <a:solidFill>
              <a:srgbClr val="00A6A6"/>
            </a:solidFill>
            <a:ln>
              <a:noFill/>
            </a:ln>
          </p:spPr>
        </p:sp>
        <p:sp>
          <p:nvSpPr>
            <p:cNvPr id="11" name="TextBox 11"/>
            <p:cNvSpPr txBox="1"/>
            <p:nvPr/>
          </p:nvSpPr>
          <p:spPr>
            <a:xfrm>
              <a:off x="850011" y="3294221"/>
              <a:ext cx="2331847" cy="507302"/>
            </a:xfrm>
            <a:prstGeom prst="rect">
              <a:avLst/>
            </a:prstGeom>
            <a:noFill/>
            <a:ln>
              <a:noFill/>
            </a:ln>
          </p:spPr>
          <p:txBody>
            <a:bodyPr wrap="none" lIns="0" tIns="0" rIns="0" bIns="0" anchor="t" anchorCtr="0">
              <a:spAutoFit/>
            </a:bodyPr>
            <a:lstStyle/>
            <a:p>
              <a:pPr algn="l">
                <a:lnSpc>
                  <a:spcPts val="1800"/>
                </a:lnSpc>
              </a:pPr>
              <a:r>
                <a:rPr lang="tr-TR" sz="1420" dirty="0">
                  <a:solidFill>
                    <a:srgbClr val="172B3A"/>
                  </a:solidFill>
                  <a:latin typeface="+mn-lt"/>
                  <a:ea typeface="+mn-ea"/>
                  <a:cs typeface="+mn-cs"/>
                </a:rPr>
                <a:t>Kavram kaymasını sayısal</a:t>
              </a:r>
              <a:br/>
              <a:r>
                <a:rPr lang="tr-TR" sz="1420" dirty="0">
                  <a:solidFill>
                    <a:srgbClr val="172B3A"/>
                  </a:solidFill>
                  <a:latin typeface="+mn-lt"/>
                  <a:ea typeface="+mn-ea"/>
                  <a:cs typeface="+mn-cs"/>
                </a:rPr>
                <a:t>olarak izlemek</a:t>
              </a:r>
            </a:p>
          </p:txBody>
        </p:sp>
        <p:sp>
          <p:nvSpPr>
            <p:cNvPr id="12" name="Rectangle 12"/>
            <p:cNvSpPr/>
            <p:nvPr/>
          </p:nvSpPr>
          <p:spPr>
            <a:xfrm>
              <a:off x="609600" y="3867150"/>
              <a:ext cx="57150" cy="285750"/>
            </a:xfrm>
            <a:prstGeom prst="rect">
              <a:avLst/>
            </a:prstGeom>
            <a:solidFill>
              <a:srgbClr val="00A6A6"/>
            </a:solidFill>
            <a:ln>
              <a:noFill/>
            </a:ln>
          </p:spPr>
        </p:sp>
        <p:sp>
          <p:nvSpPr>
            <p:cNvPr id="13" name="TextBox 13"/>
            <p:cNvSpPr txBox="1"/>
            <p:nvPr/>
          </p:nvSpPr>
          <p:spPr>
            <a:xfrm>
              <a:off x="850011" y="3922871"/>
              <a:ext cx="2133473" cy="507302"/>
            </a:xfrm>
            <a:prstGeom prst="rect">
              <a:avLst/>
            </a:prstGeom>
            <a:noFill/>
            <a:ln>
              <a:noFill/>
            </a:ln>
          </p:spPr>
          <p:txBody>
            <a:bodyPr wrap="none" lIns="0" tIns="0" rIns="0" bIns="0" anchor="t" anchorCtr="0">
              <a:spAutoFit/>
            </a:bodyPr>
            <a:lstStyle/>
            <a:p>
              <a:pPr algn="l">
                <a:lnSpc>
                  <a:spcPts val="1800"/>
                </a:lnSpc>
              </a:pPr>
              <a:r>
                <a:rPr lang="tr-TR" sz="1420" dirty="0">
                  <a:solidFill>
                    <a:srgbClr val="172B3A"/>
                  </a:solidFill>
                  <a:latin typeface="+mn-lt"/>
                  <a:ea typeface="+mn-ea"/>
                  <a:cs typeface="+mn-cs"/>
                </a:rPr>
                <a:t>Grup bazlı adillik raporu</a:t>
              </a:r>
              <a:br/>
              <a:r>
                <a:rPr lang="tr-TR" sz="1420" dirty="0">
                  <a:solidFill>
                    <a:srgbClr val="172B3A"/>
                  </a:solidFill>
                  <a:latin typeface="+mn-lt"/>
                  <a:ea typeface="+mn-ea"/>
                  <a:cs typeface="+mn-cs"/>
                </a:rPr>
                <a:t>üretmek</a:t>
              </a:r>
            </a:p>
          </p:txBody>
        </p:sp>
        <p:sp>
          <p:nvSpPr>
            <p:cNvPr id="14" name="Rectangle 14"/>
            <p:cNvSpPr/>
            <p:nvPr/>
          </p:nvSpPr>
          <p:spPr>
            <a:xfrm>
              <a:off x="609600" y="4495800"/>
              <a:ext cx="57150" cy="285750"/>
            </a:xfrm>
            <a:prstGeom prst="rect">
              <a:avLst/>
            </a:prstGeom>
            <a:solidFill>
              <a:srgbClr val="00A6A6"/>
            </a:solidFill>
            <a:ln>
              <a:noFill/>
            </a:ln>
          </p:spPr>
        </p:sp>
        <p:sp>
          <p:nvSpPr>
            <p:cNvPr id="15" name="TextBox 15"/>
            <p:cNvSpPr txBox="1"/>
            <p:nvPr/>
          </p:nvSpPr>
          <p:spPr>
            <a:xfrm>
              <a:off x="850011" y="4551521"/>
              <a:ext cx="2178558" cy="507302"/>
            </a:xfrm>
            <a:prstGeom prst="rect">
              <a:avLst/>
            </a:prstGeom>
            <a:noFill/>
            <a:ln>
              <a:noFill/>
            </a:ln>
          </p:spPr>
          <p:txBody>
            <a:bodyPr wrap="none" lIns="0" tIns="0" rIns="0" bIns="0" anchor="t" anchorCtr="0">
              <a:spAutoFit/>
            </a:bodyPr>
            <a:lstStyle/>
            <a:p>
              <a:pPr algn="l">
                <a:lnSpc>
                  <a:spcPts val="1800"/>
                </a:lnSpc>
              </a:pPr>
              <a:r>
                <a:rPr lang="tr-TR" sz="1420" dirty="0">
                  <a:solidFill>
                    <a:srgbClr val="172B3A"/>
                  </a:solidFill>
                  <a:latin typeface="+mn-lt"/>
                  <a:ea typeface="+mn-ea"/>
                  <a:cs typeface="+mn-cs"/>
                </a:rPr>
                <a:t>KVKK'ya uygun veri</a:t>
              </a:r>
              <a:br/>
              <a:r>
                <a:rPr lang="tr-TR" sz="1420" dirty="0">
                  <a:solidFill>
                    <a:srgbClr val="172B3A"/>
                  </a:solidFill>
                  <a:latin typeface="+mn-lt"/>
                  <a:ea typeface="+mn-ea"/>
                  <a:cs typeface="+mn-cs"/>
                </a:rPr>
                <a:t>minimizasyonu uygulamak</a:t>
              </a:r>
            </a:p>
          </p:txBody>
        </p:sp>
      </p:grpSp>
      <p:grpSp>
        <p:nvGrpSpPr>
          <p:cNvPr id="23" name="bridge-next"/>
          <p:cNvGrpSpPr/>
          <p:nvPr/>
        </p:nvGrpSpPr>
        <p:grpSpPr>
          <a:xfrm>
            <a:off x="7010400" y="2667000"/>
            <a:ext cx="4572000" cy="2476500"/>
            <a:chOff x="7010400" y="2667000"/>
            <a:chExt cx="4572000" cy="2476500"/>
          </a:xfrm>
        </p:grpSpPr>
        <p:sp>
          <p:nvSpPr>
            <p:cNvPr id="17" name="Rectangle 17"/>
            <p:cNvSpPr/>
            <p:nvPr/>
          </p:nvSpPr>
          <p:spPr>
            <a:xfrm>
              <a:off x="7010400" y="2667000"/>
              <a:ext cx="4572000" cy="2476500"/>
            </a:xfrm>
            <a:prstGeom prst="roundRect">
              <a:avLst>
                <a:gd name="adj" fmla="val 3846"/>
              </a:avLst>
            </a:prstGeom>
            <a:solidFill>
              <a:srgbClr val="12355B"/>
            </a:solidFill>
            <a:ln>
              <a:noFill/>
            </a:ln>
          </p:spPr>
        </p:sp>
        <p:sp>
          <p:nvSpPr>
            <p:cNvPr id="18" name="TextBox 18"/>
            <p:cNvSpPr txBox="1"/>
            <p:nvPr/>
          </p:nvSpPr>
          <p:spPr>
            <a:xfrm>
              <a:off x="7309104" y="2975610"/>
              <a:ext cx="1704564" cy="234696"/>
            </a:xfrm>
            <a:prstGeom prst="rect">
              <a:avLst/>
            </a:prstGeom>
            <a:noFill/>
            <a:ln>
              <a:noFill/>
            </a:ln>
          </p:spPr>
          <p:txBody>
            <a:bodyPr wrap="none" lIns="0" tIns="0" rIns="0" bIns="0" anchor="t" anchorCtr="0">
              <a:spAutoFit/>
            </a:bodyPr>
            <a:lstStyle/>
            <a:p>
              <a:pPr algn="l"/>
              <a:r>
                <a:rPr lang="tr-TR" sz="1200" b="1" spc="225" dirty="0">
                  <a:solidFill>
                    <a:srgbClr val="00A6A6"/>
                  </a:solidFill>
                  <a:latin typeface="+mn-lt"/>
                  <a:ea typeface="+mn-ea"/>
                  <a:cs typeface="+mn-cs"/>
                </a:rPr>
                <a:t>SONRAKİ BÖLÜM</a:t>
              </a:r>
            </a:p>
          </p:txBody>
        </p:sp>
        <p:sp>
          <p:nvSpPr>
            <p:cNvPr id="19" name="TextBox 19"/>
            <p:cNvSpPr txBox="1"/>
            <p:nvPr/>
          </p:nvSpPr>
          <p:spPr>
            <a:xfrm>
              <a:off x="7303770" y="3319462"/>
              <a:ext cx="2528173" cy="802005"/>
            </a:xfrm>
            <a:prstGeom prst="rect">
              <a:avLst/>
            </a:prstGeom>
            <a:noFill/>
            <a:ln>
              <a:noFill/>
            </a:ln>
          </p:spPr>
          <p:txBody>
            <a:bodyPr wrap="none" lIns="0" tIns="0" rIns="0" bIns="0" anchor="t" anchorCtr="0">
              <a:spAutoFit/>
            </a:bodyPr>
            <a:lstStyle/>
            <a:p>
              <a:pPr algn="l">
                <a:lnSpc>
                  <a:spcPts val="2850"/>
                </a:lnSpc>
              </a:pPr>
              <a:r>
                <a:rPr lang="tr-TR" sz="2250" b="1" dirty="0">
                  <a:solidFill>
                    <a:srgbClr val="FFFFFF"/>
                  </a:solidFill>
                  <a:latin typeface="+mn-lt"/>
                  <a:ea typeface="+mn-ea"/>
                  <a:cs typeface="+mn-cs"/>
                </a:rPr>
                <a:t>Ek A: Telco Churn</a:t>
              </a:r>
              <a:br/>
              <a:r>
                <a:rPr lang="tr-TR" sz="2250" b="1" dirty="0">
                  <a:solidFill>
                    <a:srgbClr val="FFFFFF"/>
                  </a:solidFill>
                  <a:latin typeface="+mn-lt"/>
                  <a:ea typeface="+mn-ea"/>
                  <a:cs typeface="+mn-cs"/>
                </a:rPr>
                <a:t>capstone projesi</a:t>
              </a:r>
            </a:p>
          </p:txBody>
        </p:sp>
        <p:sp>
          <p:nvSpPr>
            <p:cNvPr id="20" name="TextBox 20"/>
            <p:cNvSpPr txBox="1"/>
            <p:nvPr/>
          </p:nvSpPr>
          <p:spPr>
            <a:xfrm>
              <a:off x="7308342" y="4159568"/>
              <a:ext cx="3185316"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MLOps ve etik kontrol noktalarını,</a:t>
              </a:r>
            </a:p>
          </p:txBody>
        </p:sp>
        <p:sp>
          <p:nvSpPr>
            <p:cNvPr id="21" name="TextBox 21"/>
            <p:cNvSpPr txBox="1"/>
            <p:nvPr/>
          </p:nvSpPr>
          <p:spPr>
            <a:xfrm>
              <a:off x="7308342" y="4407218"/>
              <a:ext cx="3221374"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modelleme ve açıklama bileşenleriyle</a:t>
              </a:r>
            </a:p>
          </p:txBody>
        </p:sp>
        <p:sp>
          <p:nvSpPr>
            <p:cNvPr id="22" name="TextBox 22"/>
            <p:cNvSpPr txBox="1"/>
            <p:nvPr/>
          </p:nvSpPr>
          <p:spPr>
            <a:xfrm>
              <a:off x="7308342" y="4654868"/>
              <a:ext cx="3693890"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mn-lt"/>
                  <a:ea typeface="+mn-ea"/>
                  <a:cs typeface="+mn-cs"/>
                </a:rPr>
                <a:t>tek bir savunulabilir sisteme dönüştürün.</a:t>
              </a:r>
            </a:p>
          </p:txBody>
        </p:sp>
      </p:grpSp>
      <p:grpSp>
        <p:nvGrpSpPr>
          <p:cNvPr id="27" name="bridge-closing"/>
          <p:cNvGrpSpPr/>
          <p:nvPr/>
        </p:nvGrpSpPr>
        <p:grpSpPr>
          <a:xfrm>
            <a:off x="609600" y="5505450"/>
            <a:ext cx="10972800" cy="628650"/>
            <a:chOff x="609600" y="5505450"/>
            <a:chExt cx="10972800" cy="628650"/>
          </a:xfrm>
        </p:grpSpPr>
        <p:sp>
          <p:nvSpPr>
            <p:cNvPr id="24" name="Rectangle 24"/>
            <p:cNvSpPr/>
            <p:nvPr/>
          </p:nvSpPr>
          <p:spPr>
            <a:xfrm>
              <a:off x="609600" y="5505450"/>
              <a:ext cx="10972800" cy="628650"/>
            </a:xfrm>
            <a:prstGeom prst="roundRect">
              <a:avLst>
                <a:gd name="adj" fmla="val 12121"/>
              </a:avLst>
            </a:prstGeom>
            <a:solidFill>
              <a:srgbClr val="EAF4F6"/>
            </a:solidFill>
            <a:ln>
              <a:noFill/>
            </a:ln>
          </p:spPr>
        </p:sp>
        <p:sp>
          <p:nvSpPr>
            <p:cNvPr id="25" name="TextBox 25"/>
            <p:cNvSpPr txBox="1"/>
            <p:nvPr/>
          </p:nvSpPr>
          <p:spPr>
            <a:xfrm>
              <a:off x="905256" y="5577840"/>
              <a:ext cx="1057313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"Yüksek doğruluk" ile "adil, izlenebilir ve hukuka uygun sistem" aynı kavram değildir.</a:t>
              </a:r>
            </a:p>
          </p:txBody>
        </p:sp>
        <p:sp>
          <p:nvSpPr>
            <p:cNvPr id="26" name="TextBox 26"/>
            <p:cNvSpPr txBox="1"/>
            <p:nvPr/>
          </p:nvSpPr>
          <p:spPr>
            <a:xfrm>
              <a:off x="908304" y="5871210"/>
              <a:ext cx="737572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Bu bölümde kurduğunuz izleme ve minimizasyon alışkanlıkları capstone'un temelini oluşturur.</a:t>
              </a:r>
            </a:p>
          </p:txBody>
        </p:sp>
      </p:grpSp>
      <p:sp>
        <p:nvSpPr>
          <p:cNvPr id="28" name="TextBox 2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25 / 25</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ch14_buyuk_veri_mlops_etik-20260916">
  <a:themeElements>
    <a:clrScheme name="ch14_buyuk_veri_mlops_etik-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h14_buyuk_veri_mlops_etik-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14_buyuk_veri_mlops_etik-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h14_buyuk_veri_mlops_etik-20260916">
  <a:themeElements>
    <a:clrScheme name="ch14_buyuk_veri_mlops_etik-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h14_buyuk_veri_mlops_etik-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14_buyuk_veri_mlops_etik-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2026-09-19T21:21:47Z</dcterms:created>
  <dcterms:modified xsi:type="dcterms:W3CDTF">2026-09-19T21:21:47Z</dcterms:modified>
  <cp:category/>
  <cp:contentStatus/>
</cp:coreProperties>
</file>